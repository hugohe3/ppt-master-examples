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pt169_attention_is_all_you_need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pt169_attention_is_all_you_need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f452d95371836a0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f452d95371836a0.jpg"/>
  <Relationship Id="rId3" Type="http://schemas.openxmlformats.org/officeDocument/2006/relationships/hyperlink" Target="https://arxiv.org/abs/1706.03762" TargetMode="Externa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rcRect l="370" t="0" r="371" b="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7239000" cy="6858000"/>
          </a:xfrm>
          <a:prstGeom prst="rect">
            <a:avLst/>
          </a:prstGeom>
          <a:gradFill>
            <a:gsLst>
              <a:gs pos="0">
                <a:srgbClr val="0B1F3A">
                  <a:alpha val="92000"/>
                </a:srgbClr>
              </a:gs>
              <a:gs pos="50000">
                <a:srgbClr val="0B1F3A">
                  <a:alpha val="55000"/>
                </a:srgbClr>
              </a:gs>
              <a:gs pos="100000">
                <a:srgbClr val="0B1F3A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742950" y="1897856"/>
            <a:ext cx="4927854" cy="3060478"/>
            <a:chOff x="742950" y="1897856"/>
            <a:chExt cx="4927854" cy="3060478"/>
          </a:xfrm>
        </p:grpSpPr>
        <p:sp>
          <p:nvSpPr>
            <p:cNvPr id="4" name="TextBox 4"/>
            <p:cNvSpPr txBox="1"/>
            <p:nvPr/>
          </p:nvSpPr>
          <p:spPr>
            <a:xfrm>
              <a:off x="775335" y="1897856"/>
              <a:ext cx="33677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ARXIV 1706.03762 · NEURIPS 2017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2950" y="2246948"/>
              <a:ext cx="3899583" cy="1647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5400"/>
                </a:lnSpc>
              </a:pPr>
              <a:r>
                <a:rPr lang="en-US" sz="49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Attention Is</a:t>
              </a:r>
              <a:br/>
              <a:r>
                <a:rPr lang="en-US" sz="49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All You Need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81050" y="37338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28575">
              <a:solidFill>
                <a:srgbClr val="F5A623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1906" y="3958590"/>
              <a:ext cx="4898898" cy="9997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en-US" sz="180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The Transformer, explained:</a:t>
              </a:r>
              <a:br/>
              <a:r>
                <a:rPr lang="en-US" sz="180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one paper, no recurrence, no convolutions,</a:t>
              </a:r>
              <a:br/>
              <a:r>
                <a:rPr lang="en-US" sz="180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and a training run measured in days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75716" y="5239702"/>
            <a:ext cx="6299073" cy="453009"/>
            <a:chOff x="775716" y="5239702"/>
            <a:chExt cx="6299073" cy="453009"/>
          </a:xfrm>
        </p:grpSpPr>
        <p:sp>
          <p:nvSpPr>
            <p:cNvPr id="9" name="TextBox 9"/>
            <p:cNvSpPr txBox="1"/>
            <p:nvPr/>
          </p:nvSpPr>
          <p:spPr>
            <a:xfrm>
              <a:off x="775716" y="5239702"/>
              <a:ext cx="6299073" cy="4530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05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VASWANI · SHAZEER · PARMAR · USZKOREIT · JONES · GOMEZ · KAISER · POLOSUKHIN</a:t>
              </a:r>
              <a:br/>
              <a:r>
                <a:rPr lang="en-US" sz="105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GOOGLE BRAIN · GOOGLE RESEARCH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11" name="Rectangle 11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01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5803303" cy="801243"/>
            <a:chOff x="747522" y="439102"/>
            <a:chExt cx="5803303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13345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DRAWING INDEX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580330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What this drawing set covers</a:t>
              </a:r>
            </a:p>
          </p:txBody>
        </p:sp>
      </p:grpSp>
      <p:sp>
        <p:nvSpPr>
          <p:cNvPr id="6" name="Freeform 6"/>
          <p:cNvSpPr/>
          <p:nvPr/>
        </p:nvSpPr>
        <p:spPr>
          <a:xfrm>
            <a:off x="762000" y="1333500"/>
            <a:ext cx="10668000" cy="4572000"/>
          </a:xfrm>
          <a:prstGeom prst="cornerTabs">
            <a:avLst/>
          </a:prstGeom>
          <a:solidFill>
            <a:srgbClr val="9CC3E6"/>
          </a:solidFill>
          <a:ln>
            <a:noFill/>
          </a:ln>
        </p:spPr>
      </p:sp>
      <p:grpSp>
        <p:nvGrpSpPr>
          <p:cNvPr id="12" name="Group 12"/>
          <p:cNvGrpSpPr/>
          <p:nvPr/>
        </p:nvGrpSpPr>
        <p:grpSpPr>
          <a:xfrm>
            <a:off x="1512570" y="1776412"/>
            <a:ext cx="9160764" cy="671513"/>
            <a:chOff x="1512570" y="1776412"/>
            <a:chExt cx="9160764" cy="671513"/>
          </a:xfrm>
        </p:grpSpPr>
        <p:sp>
          <p:nvSpPr>
            <p:cNvPr id="7" name="TextBox 7"/>
            <p:cNvSpPr txBox="1"/>
            <p:nvPr/>
          </p:nvSpPr>
          <p:spPr>
            <a:xfrm>
              <a:off x="1512570" y="1776412"/>
              <a:ext cx="35604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276856" y="1805940"/>
              <a:ext cx="1858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The bottleneck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79142" y="2140268"/>
              <a:ext cx="62260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Why recurrent and convolutional models paid for word order with time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76943" y="1886902"/>
              <a:ext cx="9963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SHEETS 03–04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524000" y="2438400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1512570" y="2614612"/>
            <a:ext cx="9160764" cy="671513"/>
            <a:chOff x="1512570" y="2614612"/>
            <a:chExt cx="9160764" cy="671513"/>
          </a:xfrm>
        </p:grpSpPr>
        <p:sp>
          <p:nvSpPr>
            <p:cNvPr id="13" name="TextBox 13"/>
            <p:cNvSpPr txBox="1"/>
            <p:nvPr/>
          </p:nvSpPr>
          <p:spPr>
            <a:xfrm>
              <a:off x="1512570" y="2614612"/>
              <a:ext cx="35604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276856" y="2644140"/>
              <a:ext cx="213804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The architecture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79142" y="2978468"/>
              <a:ext cx="59899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Encoder, decoder, and the six identical layers stacked on each side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005517" y="2725102"/>
              <a:ext cx="6678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05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1524000" y="3276600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1512570" y="3452812"/>
            <a:ext cx="9160764" cy="671513"/>
            <a:chOff x="1512570" y="3452812"/>
            <a:chExt cx="9160764" cy="671513"/>
          </a:xfrm>
        </p:grpSpPr>
        <p:sp>
          <p:nvSpPr>
            <p:cNvPr id="19" name="TextBox 19"/>
            <p:cNvSpPr txBox="1"/>
            <p:nvPr/>
          </p:nvSpPr>
          <p:spPr>
            <a:xfrm>
              <a:off x="1512570" y="3452812"/>
              <a:ext cx="35604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76856" y="3482340"/>
              <a:ext cx="299124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Attention, step by step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79142" y="3816668"/>
              <a:ext cx="74984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Scaled dot-product, multi-head, the three places it is used, and positional encoding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76943" y="3563302"/>
              <a:ext cx="9963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SHEETS 06–10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524000" y="4114800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1512570" y="4291012"/>
            <a:ext cx="9160764" cy="671513"/>
            <a:chOff x="1512570" y="4291012"/>
            <a:chExt cx="9160764" cy="671513"/>
          </a:xfrm>
        </p:grpSpPr>
        <p:sp>
          <p:nvSpPr>
            <p:cNvPr id="25" name="TextBox 25"/>
            <p:cNvSpPr txBox="1"/>
            <p:nvPr/>
          </p:nvSpPr>
          <p:spPr>
            <a:xfrm>
              <a:off x="1512570" y="4291012"/>
              <a:ext cx="35604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276856" y="4320540"/>
              <a:ext cx="25067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Training and results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279142" y="4654868"/>
              <a:ext cx="69963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The recipe, the BLEU numbers against the field, and what the ablations taught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76943" y="4401502"/>
              <a:ext cx="9963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SHEETS 11–13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1524000" y="4953000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1512570" y="5129212"/>
            <a:ext cx="9160764" cy="627889"/>
            <a:chOff x="1512570" y="5129212"/>
            <a:chExt cx="9160764" cy="627889"/>
          </a:xfrm>
        </p:grpSpPr>
        <p:sp>
          <p:nvSpPr>
            <p:cNvPr id="31" name="TextBox 31"/>
            <p:cNvSpPr txBox="1"/>
            <p:nvPr/>
          </p:nvSpPr>
          <p:spPr>
            <a:xfrm>
              <a:off x="1512570" y="5129212"/>
              <a:ext cx="35604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276856" y="5158740"/>
              <a:ext cx="8658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Legacy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279142" y="5493068"/>
              <a:ext cx="49722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What was built on top of it, and why the title still holds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76943" y="5239702"/>
              <a:ext cx="9963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SHEETS 14–15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36" name="Rectangle 36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02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45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10015179" cy="801243"/>
            <a:chOff x="747522" y="439102"/>
            <a:chExt cx="10015179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21624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01 · THE BOTTLENECK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1001517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Before 2017, models paid for word order with time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62000" y="1428750"/>
            <a:ext cx="5363558" cy="3619500"/>
            <a:chOff x="762000" y="1428750"/>
            <a:chExt cx="5363558" cy="3619500"/>
          </a:xfrm>
        </p:grpSpPr>
        <p:sp>
          <p:nvSpPr>
            <p:cNvPr id="6" name="Rectangle 6"/>
            <p:cNvSpPr/>
            <p:nvPr/>
          </p:nvSpPr>
          <p:spPr>
            <a:xfrm>
              <a:off x="762000" y="1428750"/>
              <a:ext cx="5334000" cy="36195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7166" y="1601152"/>
              <a:ext cx="26798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9CC3E6"/>
                  </a:solidFill>
                  <a:latin typeface="Consolas"/>
                  <a:ea typeface="Consolas"/>
                  <a:cs typeface="Consolas"/>
                </a:rPr>
                <a:t>A · RECURRENT (LSTM / GRU)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6023" y="2034064"/>
              <a:ext cx="51795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h</a:t>
              </a:r>
              <a:r>
                <a:rPr lang="en-US" sz="900" baseline="-250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t</a:t>
              </a:r>
              <a:r>
                <a:rPr lang="en-US" sz="128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 xml:space="preserve"> = f(h</a:t>
              </a:r>
              <a:r>
                <a:rPr lang="en-US" sz="900" baseline="-250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t−1</a:t>
              </a:r>
              <a:r>
                <a:rPr lang="en-US" sz="128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, x</a:t>
              </a:r>
              <a:r>
                <a:rPr lang="en-US" sz="900" baseline="-250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t</a:t>
              </a:r>
              <a:r>
                <a:rPr lang="en-US" sz="128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) — every step waits for the previous one</a:t>
              </a:r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1162050" y="2876550"/>
              <a:ext cx="4629150" cy="342900"/>
              <a:chOff x="1162050" y="2876550"/>
              <a:chExt cx="4629150" cy="342900"/>
            </a:xfrm>
          </p:grpSpPr>
          <p:sp>
            <p:nvSpPr>
              <p:cNvPr id="9" name="Ellipse 9"/>
              <p:cNvSpPr/>
              <p:nvPr/>
            </p:nvSpPr>
            <p:spPr>
              <a:xfrm>
                <a:off x="1162050" y="2876550"/>
                <a:ext cx="342900" cy="3429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0" name="Ellipse 10"/>
              <p:cNvSpPr/>
              <p:nvPr/>
            </p:nvSpPr>
            <p:spPr>
              <a:xfrm>
                <a:off x="2019300" y="2876550"/>
                <a:ext cx="342900" cy="3429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1" name="Ellipse 11"/>
              <p:cNvSpPr/>
              <p:nvPr/>
            </p:nvSpPr>
            <p:spPr>
              <a:xfrm>
                <a:off x="2876550" y="2876550"/>
                <a:ext cx="342900" cy="3429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2" name="Ellipse 12"/>
              <p:cNvSpPr/>
              <p:nvPr/>
            </p:nvSpPr>
            <p:spPr>
              <a:xfrm>
                <a:off x="3733800" y="2876550"/>
                <a:ext cx="342900" cy="3429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4591050" y="2876550"/>
                <a:ext cx="342900" cy="3429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4" name="Ellipse 14"/>
              <p:cNvSpPr/>
              <p:nvPr/>
            </p:nvSpPr>
            <p:spPr>
              <a:xfrm>
                <a:off x="5448300" y="2876550"/>
                <a:ext cx="342900" cy="342900"/>
              </a:xfrm>
              <a:prstGeom prst="ellipse">
                <a:avLst/>
              </a:prstGeom>
              <a:solidFill>
                <a:srgbClr val="10284A"/>
              </a:solidFill>
              <a:ln w="19050">
                <a:solidFill>
                  <a:srgbClr val="F5A623"/>
                </a:solidFill>
              </a:ln>
            </p:spPr>
          </p:sp>
          <p:sp>
            <p:nvSpPr>
              <p:cNvPr id="15" name="Line 15"/>
              <p:cNvSpPr/>
              <p:nvPr/>
            </p:nvSpPr>
            <p:spPr>
              <a:xfrm>
                <a:off x="1504950" y="3048000"/>
                <a:ext cx="49530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2362200" y="3048000"/>
                <a:ext cx="49530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3219450" y="3048000"/>
                <a:ext cx="49530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4076700" y="3048000"/>
                <a:ext cx="49530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933950" y="3048000"/>
                <a:ext cx="49530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1289294" y="2991802"/>
                <a:ext cx="884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Consolas"/>
                    <a:ea typeface="Consolas"/>
                    <a:cs typeface="Consolas"/>
                  </a:rPr>
                  <a:t>1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2146544" y="2991802"/>
                <a:ext cx="884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Consolas"/>
                    <a:ea typeface="Consolas"/>
                    <a:cs typeface="Consolas"/>
                  </a:rPr>
                  <a:t>2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003794" y="2991802"/>
                <a:ext cx="884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Consolas"/>
                    <a:ea typeface="Consolas"/>
                    <a:cs typeface="Consolas"/>
                  </a:rPr>
                  <a:t>3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3861044" y="2991802"/>
                <a:ext cx="884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Consolas"/>
                    <a:ea typeface="Consolas"/>
                    <a:cs typeface="Consolas"/>
                  </a:rPr>
                  <a:t>4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718294" y="2991802"/>
                <a:ext cx="884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Consolas"/>
                    <a:ea typeface="Consolas"/>
                    <a:cs typeface="Consolas"/>
                  </a:rPr>
                  <a:t>5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5575544" y="2991802"/>
                <a:ext cx="884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n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33500" y="3543300"/>
              <a:ext cx="4295775" cy="434911"/>
              <a:chOff x="1333500" y="3543300"/>
              <a:chExt cx="4295775" cy="434911"/>
            </a:xfrm>
          </p:grpSpPr>
          <p:sp>
            <p:nvSpPr>
              <p:cNvPr id="27" name="Line 27"/>
              <p:cNvSpPr/>
              <p:nvPr/>
            </p:nvSpPr>
            <p:spPr>
              <a:xfrm>
                <a:off x="1333500" y="3619500"/>
                <a:ext cx="4286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286250" h="9525">
                    <a:moveTo>
                      <a:pt x="0" y="0"/>
                    </a:moveTo>
                    <a:lnTo>
                      <a:pt x="428625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  <a:prstDash val="lgDashDot"/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1333500" y="3543300"/>
                <a:ext cx="9525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2400">
                    <a:moveTo>
                      <a:pt x="0" y="0"/>
                    </a:moveTo>
                    <a:lnTo>
                      <a:pt x="0" y="15240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619750" y="3543300"/>
                <a:ext cx="9525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2400">
                    <a:moveTo>
                      <a:pt x="0" y="0"/>
                    </a:moveTo>
                    <a:lnTo>
                      <a:pt x="0" y="15240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1957449" y="3772852"/>
                <a:ext cx="303835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9CC3E6"/>
                    </a:solidFill>
                    <a:latin typeface="Consolas"/>
                    <a:ea typeface="Consolas"/>
                    <a:cs typeface="Consolas"/>
                  </a:rPr>
                  <a:t>n SEQUENTIAL STEPS · PATH LENGTH O(n)</a:t>
                </a:r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945261" y="4208621"/>
              <a:ext cx="4387723" cy="8121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Position 1 reaches position n only through n hops.</a:t>
              </a:r>
              <a:br/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Inside one example nothing can run in parallel,</a:t>
              </a:r>
              <a:br/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so longer sentences mean longer wall-clock time.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286500" y="1428750"/>
            <a:ext cx="5143500" cy="3619500"/>
            <a:chOff x="6286500" y="1428750"/>
            <a:chExt cx="5143500" cy="3619500"/>
          </a:xfrm>
        </p:grpSpPr>
        <p:sp>
          <p:nvSpPr>
            <p:cNvPr id="34" name="Rectangle 34"/>
            <p:cNvSpPr/>
            <p:nvPr/>
          </p:nvSpPr>
          <p:spPr>
            <a:xfrm>
              <a:off x="6286500" y="1428750"/>
              <a:ext cx="5143500" cy="36195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71666" y="1601152"/>
              <a:ext cx="37576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9CC3E6"/>
                  </a:solidFill>
                  <a:latin typeface="Consolas"/>
                  <a:ea typeface="Consolas"/>
                  <a:cs typeface="Consolas"/>
                </a:rPr>
                <a:t>B · CONVOLUTIONAL (ByteNet / ConvS2S)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781800" y="2038350"/>
              <a:ext cx="4152900" cy="1847850"/>
              <a:chOff x="6781800" y="2038350"/>
              <a:chExt cx="4152900" cy="1847850"/>
            </a:xfrm>
          </p:grpSpPr>
          <p:sp>
            <p:nvSpPr>
              <p:cNvPr id="36" name="Line 36"/>
              <p:cNvSpPr/>
              <p:nvPr/>
            </p:nvSpPr>
            <p:spPr>
              <a:xfrm>
                <a:off x="6858000" y="3200400"/>
                <a:ext cx="2857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533400">
                    <a:moveTo>
                      <a:pt x="0" y="533400"/>
                    </a:moveTo>
                    <a:lnTo>
                      <a:pt x="28575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7143750" y="3200400"/>
                <a:ext cx="2857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533400">
                    <a:moveTo>
                      <a:pt x="285750" y="5334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8001000" y="3200400"/>
                <a:ext cx="2857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533400">
                    <a:moveTo>
                      <a:pt x="0" y="533400"/>
                    </a:moveTo>
                    <a:lnTo>
                      <a:pt x="28575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8286750" y="3200400"/>
                <a:ext cx="2857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533400">
                    <a:moveTo>
                      <a:pt x="285750" y="5334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9144000" y="3200400"/>
                <a:ext cx="2857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533400">
                    <a:moveTo>
                      <a:pt x="0" y="533400"/>
                    </a:moveTo>
                    <a:lnTo>
                      <a:pt x="28575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9429750" y="3200400"/>
                <a:ext cx="2857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533400">
                    <a:moveTo>
                      <a:pt x="285750" y="5334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42" name="Line 42"/>
              <p:cNvSpPr/>
              <p:nvPr/>
            </p:nvSpPr>
            <p:spPr>
              <a:xfrm>
                <a:off x="10287000" y="3200400"/>
                <a:ext cx="2857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533400">
                    <a:moveTo>
                      <a:pt x="0" y="533400"/>
                    </a:moveTo>
                    <a:lnTo>
                      <a:pt x="28575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43" name="Line 43"/>
              <p:cNvSpPr/>
              <p:nvPr/>
            </p:nvSpPr>
            <p:spPr>
              <a:xfrm>
                <a:off x="10572750" y="3200400"/>
                <a:ext cx="2857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533400">
                    <a:moveTo>
                      <a:pt x="285750" y="5334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7143750" y="2667000"/>
                <a:ext cx="5715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533400">
                    <a:moveTo>
                      <a:pt x="0" y="533400"/>
                    </a:moveTo>
                    <a:lnTo>
                      <a:pt x="57150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45" name="Line 45"/>
              <p:cNvSpPr/>
              <p:nvPr/>
            </p:nvSpPr>
            <p:spPr>
              <a:xfrm>
                <a:off x="7715250" y="2667000"/>
                <a:ext cx="5715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533400">
                    <a:moveTo>
                      <a:pt x="571500" y="5334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46" name="Line 46"/>
              <p:cNvSpPr/>
              <p:nvPr/>
            </p:nvSpPr>
            <p:spPr>
              <a:xfrm>
                <a:off x="9429750" y="2667000"/>
                <a:ext cx="5715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533400">
                    <a:moveTo>
                      <a:pt x="0" y="533400"/>
                    </a:moveTo>
                    <a:lnTo>
                      <a:pt x="57150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47" name="Line 47"/>
              <p:cNvSpPr/>
              <p:nvPr/>
            </p:nvSpPr>
            <p:spPr>
              <a:xfrm>
                <a:off x="10001250" y="2667000"/>
                <a:ext cx="5715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533400">
                    <a:moveTo>
                      <a:pt x="571500" y="5334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48" name="Line 48"/>
              <p:cNvSpPr/>
              <p:nvPr/>
            </p:nvSpPr>
            <p:spPr>
              <a:xfrm>
                <a:off x="7715250" y="2133600"/>
                <a:ext cx="11430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533400">
                    <a:moveTo>
                      <a:pt x="0" y="533400"/>
                    </a:moveTo>
                    <a:lnTo>
                      <a:pt x="1143000" y="0"/>
                    </a:ln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  <p:sp>
            <p:nvSpPr>
              <p:cNvPr id="49" name="Line 49"/>
              <p:cNvSpPr/>
              <p:nvPr/>
            </p:nvSpPr>
            <p:spPr>
              <a:xfrm>
                <a:off x="8858250" y="2133600"/>
                <a:ext cx="11430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533400">
                    <a:moveTo>
                      <a:pt x="1143000" y="5334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50" name="Ellipse 50"/>
              <p:cNvSpPr/>
              <p:nvPr/>
            </p:nvSpPr>
            <p:spPr>
              <a:xfrm>
                <a:off x="6781800" y="37338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F5A623"/>
                </a:solidFill>
              </a:ln>
            </p:spPr>
          </p:sp>
          <p:sp>
            <p:nvSpPr>
              <p:cNvPr id="51" name="Ellipse 51"/>
              <p:cNvSpPr/>
              <p:nvPr/>
            </p:nvSpPr>
            <p:spPr>
              <a:xfrm>
                <a:off x="7353300" y="37338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52" name="Ellipse 52"/>
              <p:cNvSpPr/>
              <p:nvPr/>
            </p:nvSpPr>
            <p:spPr>
              <a:xfrm>
                <a:off x="7924800" y="37338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53" name="Ellipse 53"/>
              <p:cNvSpPr/>
              <p:nvPr/>
            </p:nvSpPr>
            <p:spPr>
              <a:xfrm>
                <a:off x="8496300" y="37338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54" name="Ellipse 54"/>
              <p:cNvSpPr/>
              <p:nvPr/>
            </p:nvSpPr>
            <p:spPr>
              <a:xfrm>
                <a:off x="9067800" y="37338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55" name="Ellipse 55"/>
              <p:cNvSpPr/>
              <p:nvPr/>
            </p:nvSpPr>
            <p:spPr>
              <a:xfrm>
                <a:off x="9639300" y="37338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56" name="Ellipse 56"/>
              <p:cNvSpPr/>
              <p:nvPr/>
            </p:nvSpPr>
            <p:spPr>
              <a:xfrm>
                <a:off x="10210800" y="37338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57" name="Ellipse 57"/>
              <p:cNvSpPr/>
              <p:nvPr/>
            </p:nvSpPr>
            <p:spPr>
              <a:xfrm>
                <a:off x="10782300" y="37338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58" name="Ellipse 58"/>
              <p:cNvSpPr/>
              <p:nvPr/>
            </p:nvSpPr>
            <p:spPr>
              <a:xfrm>
                <a:off x="7067550" y="31242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59" name="Ellipse 59"/>
              <p:cNvSpPr/>
              <p:nvPr/>
            </p:nvSpPr>
            <p:spPr>
              <a:xfrm>
                <a:off x="8210550" y="31242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60" name="Ellipse 60"/>
              <p:cNvSpPr/>
              <p:nvPr/>
            </p:nvSpPr>
            <p:spPr>
              <a:xfrm>
                <a:off x="9353550" y="31242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61" name="Ellipse 61"/>
              <p:cNvSpPr/>
              <p:nvPr/>
            </p:nvSpPr>
            <p:spPr>
              <a:xfrm>
                <a:off x="10496550" y="31242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62" name="Ellipse 62"/>
              <p:cNvSpPr/>
              <p:nvPr/>
            </p:nvSpPr>
            <p:spPr>
              <a:xfrm>
                <a:off x="7639050" y="25908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63" name="Ellipse 63"/>
              <p:cNvSpPr/>
              <p:nvPr/>
            </p:nvSpPr>
            <p:spPr>
              <a:xfrm>
                <a:off x="9925050" y="2590800"/>
                <a:ext cx="152400" cy="15240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64" name="Ellipse 64"/>
              <p:cNvSpPr/>
              <p:nvPr/>
            </p:nvSpPr>
            <p:spPr>
              <a:xfrm>
                <a:off x="8763000" y="2038350"/>
                <a:ext cx="190500" cy="190500"/>
              </a:xfrm>
              <a:prstGeom prst="ellipse">
                <a:avLst/>
              </a:prstGeom>
              <a:solidFill>
                <a:srgbClr val="10284A"/>
              </a:solidFill>
              <a:ln w="19050">
                <a:solidFill>
                  <a:srgbClr val="F5A623"/>
                </a:solidFill>
              </a:ln>
            </p:spPr>
          </p:sp>
        </p:grpSp>
        <p:grpSp>
          <p:nvGrpSpPr>
            <p:cNvPr id="70" name="Group 70"/>
            <p:cNvGrpSpPr/>
            <p:nvPr/>
          </p:nvGrpSpPr>
          <p:grpSpPr>
            <a:xfrm>
              <a:off x="10402901" y="2133600"/>
              <a:ext cx="817549" cy="1685925"/>
              <a:chOff x="10402901" y="2133600"/>
              <a:chExt cx="817549" cy="1685925"/>
            </a:xfrm>
          </p:grpSpPr>
          <p:sp>
            <p:nvSpPr>
              <p:cNvPr id="66" name="Line 66"/>
              <p:cNvSpPr/>
              <p:nvPr/>
            </p:nvSpPr>
            <p:spPr>
              <a:xfrm>
                <a:off x="11144250" y="2133600"/>
                <a:ext cx="9525" cy="1676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76400">
                    <a:moveTo>
                      <a:pt x="0" y="0"/>
                    </a:moveTo>
                    <a:lnTo>
                      <a:pt x="0" y="167640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  <a:prstDash val="lgDashDot"/>
              </a:ln>
            </p:spPr>
          </p:sp>
          <p:sp>
            <p:nvSpPr>
              <p:cNvPr id="67" name="Line 67"/>
              <p:cNvSpPr/>
              <p:nvPr/>
            </p:nvSpPr>
            <p:spPr>
              <a:xfrm>
                <a:off x="11068050" y="2133600"/>
                <a:ext cx="152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952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68" name="Line 68"/>
              <p:cNvSpPr/>
              <p:nvPr/>
            </p:nvSpPr>
            <p:spPr>
              <a:xfrm>
                <a:off x="11068050" y="3810000"/>
                <a:ext cx="152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952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9525">
                <a:solidFill>
                  <a:srgbClr val="9CC3E6"/>
                </a:solidFill>
              </a:ln>
            </p:spPr>
          </p:sp>
          <p:sp>
            <p:nvSpPr>
              <p:cNvPr id="69" name="TextBox 69"/>
              <p:cNvSpPr txBox="1"/>
              <p:nvPr/>
            </p:nvSpPr>
            <p:spPr>
              <a:xfrm>
                <a:off x="10402901" y="2923699"/>
                <a:ext cx="651052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980" dirty="0">
                    <a:solidFill>
                      <a:srgbClr val="9CC3E6"/>
                    </a:solidFill>
                    <a:latin typeface="Consolas"/>
                    <a:ea typeface="Consolas"/>
                    <a:cs typeface="Consolas"/>
                  </a:rPr>
                  <a:t>O(log</a:t>
                </a:r>
                <a:r>
                  <a:rPr lang="en-US" sz="750" baseline="-25000" dirty="0">
                    <a:solidFill>
                      <a:srgbClr val="9CC3E6"/>
                    </a:solidFill>
                    <a:latin typeface="Consolas"/>
                    <a:ea typeface="Consolas"/>
                    <a:cs typeface="Consolas"/>
                  </a:rPr>
                  <a:t>k</a:t>
                </a:r>
                <a:r>
                  <a:rPr lang="en-US" sz="980" dirty="0">
                    <a:solidFill>
                      <a:srgbClr val="9CC3E6"/>
                    </a:solidFill>
                    <a:latin typeface="Consolas"/>
                    <a:ea typeface="Consolas"/>
                    <a:cs typeface="Consolas"/>
                  </a:rPr>
                  <a:t xml:space="preserve"> n)</a:t>
                </a:r>
              </a:p>
            </p:txBody>
          </p:sp>
        </p:grpSp>
        <p:sp>
          <p:nvSpPr>
            <p:cNvPr id="71" name="TextBox 71"/>
            <p:cNvSpPr txBox="1"/>
            <p:nvPr/>
          </p:nvSpPr>
          <p:spPr>
            <a:xfrm>
              <a:off x="6469761" y="4208621"/>
              <a:ext cx="4324604" cy="8121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Parallel inside a layer, but two distant positions</a:t>
              </a:r>
              <a:br/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only meet after a stack of kernel-k layers —</a:t>
              </a:r>
              <a:br/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the path shrinks to O(log n), it does not vanish.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762000" y="5219700"/>
            <a:ext cx="8828532" cy="963739"/>
            <a:chOff x="762000" y="5219700"/>
            <a:chExt cx="8828532" cy="963739"/>
          </a:xfrm>
        </p:grpSpPr>
        <p:sp>
          <p:nvSpPr>
            <p:cNvPr id="73" name="Line 73"/>
            <p:cNvSpPr/>
            <p:nvPr/>
          </p:nvSpPr>
          <p:spPr>
            <a:xfrm>
              <a:off x="762000" y="5219700"/>
              <a:ext cx="9525" cy="876300"/>
            </a:xfrm>
            <a:custGeom>
              <a:avLst/>
              <a:gdLst/>
              <a:ahLst/>
              <a:cxnLst/>
              <a:rect l="l" t="t" r="r" b="b"/>
              <a:pathLst>
                <a:path w="9525" h="876300">
                  <a:moveTo>
                    <a:pt x="0" y="0"/>
                  </a:moveTo>
                  <a:lnTo>
                    <a:pt x="0" y="876300"/>
                  </a:lnTo>
                </a:path>
              </a:pathLst>
            </a:custGeom>
            <a:noFill/>
            <a:ln w="28575">
              <a:solidFill>
                <a:srgbClr val="F5A623"/>
              </a:solidFill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982218" y="5289232"/>
              <a:ext cx="8608314" cy="8942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6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 xml:space="preserve">Both architectures charge a </a:t>
              </a:r>
              <a:r>
                <a:rPr lang="en-US" sz="1650" b="1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distance tax</a:t>
              </a:r>
              <a:r>
                <a:rPr lang="en-US" sz="16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: the farther apart two positions are,</a:t>
              </a:r>
              <a:br/>
              <a:r>
                <a:rPr lang="en-US" sz="16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the longer the path a signal must travel — and recurrence cannot run in parallel</a:t>
              </a:r>
              <a:br/>
              <a:r>
                <a:rPr lang="en-US" sz="16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within one training example. The paper's question: what if every path had length 1?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76" name="Rectangle 76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77" name="Line 77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03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xmlns:p="http://schemas.openxmlformats.org/presentationml/2006/main" id="13" presetID="2" presetClass="entr" presetSubtype="1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7313682" cy="801243"/>
            <a:chOff x="747522" y="439102"/>
            <a:chExt cx="7313682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19554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01 · THE PROPOSAL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731368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Keep attention, drop everything else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62000" y="1571625"/>
            <a:ext cx="8679053" cy="1599914"/>
            <a:chOff x="762000" y="1571625"/>
            <a:chExt cx="8679053" cy="1599914"/>
          </a:xfrm>
        </p:grpSpPr>
        <p:grpSp>
          <p:nvGrpSpPr>
            <p:cNvPr id="8" name="Group 8"/>
            <p:cNvGrpSpPr/>
            <p:nvPr/>
          </p:nvGrpSpPr>
          <p:grpSpPr>
            <a:xfrm>
              <a:off x="871538" y="1571625"/>
              <a:ext cx="200025" cy="171450"/>
              <a:chOff x="871538" y="1571625"/>
              <a:chExt cx="200025" cy="17145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871538" y="1571625"/>
                <a:ext cx="7143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71450">
                    <a:moveTo>
                      <a:pt x="71438" y="71438"/>
                    </a:moveTo>
                    <a:lnTo>
                      <a:pt x="14288" y="71438"/>
                    </a:lnTo>
                    <a:cubicBezTo>
                      <a:pt x="6397" y="71438"/>
                      <a:pt x="0" y="65041"/>
                      <a:pt x="0" y="57150"/>
                    </a:cubicBez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lnTo>
                      <a:pt x="57150" y="0"/>
                    </a:lnTo>
                    <a:cubicBezTo>
                      <a:pt x="65041" y="0"/>
                      <a:pt x="71438" y="6397"/>
                      <a:pt x="71438" y="14288"/>
                    </a:cubicBezTo>
                    <a:lnTo>
                      <a:pt x="71438" y="100012"/>
                    </a:lnTo>
                    <a:cubicBezTo>
                      <a:pt x="71438" y="138117"/>
                      <a:pt x="52392" y="161920"/>
                      <a:pt x="14288" y="171450"/>
                    </a:cubicBezTo>
                  </a:path>
                </a:pathLst>
              </a:custGeom>
              <a:noFill/>
              <a:ln w="28575">
                <a:solidFill>
                  <a:srgbClr val="F5A623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00125" y="1571625"/>
                <a:ext cx="7143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71450">
                    <a:moveTo>
                      <a:pt x="71438" y="71438"/>
                    </a:moveTo>
                    <a:lnTo>
                      <a:pt x="14288" y="71438"/>
                    </a:lnTo>
                    <a:cubicBezTo>
                      <a:pt x="6397" y="71438"/>
                      <a:pt x="0" y="65041"/>
                      <a:pt x="0" y="57150"/>
                    </a:cubicBez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lnTo>
                      <a:pt x="57150" y="0"/>
                    </a:lnTo>
                    <a:cubicBezTo>
                      <a:pt x="65041" y="0"/>
                      <a:pt x="71438" y="6397"/>
                      <a:pt x="71438" y="14288"/>
                    </a:cubicBezTo>
                    <a:lnTo>
                      <a:pt x="71438" y="100012"/>
                    </a:lnTo>
                    <a:cubicBezTo>
                      <a:pt x="71438" y="138117"/>
                      <a:pt x="52392" y="161920"/>
                      <a:pt x="14288" y="171450"/>
                    </a:cubicBezTo>
                  </a:path>
                </a:pathLst>
              </a:custGeom>
              <a:noFill/>
              <a:ln w="28575">
                <a:solidFill>
                  <a:srgbClr val="F5A623"/>
                </a:solidFill>
              </a:ln>
            </p:spPr>
          </p:sp>
        </p:grpSp>
        <p:sp>
          <p:nvSpPr>
            <p:cNvPr id="9" name="Line 9"/>
            <p:cNvSpPr/>
            <p:nvPr/>
          </p:nvSpPr>
          <p:spPr>
            <a:xfrm>
              <a:off x="762000" y="1943100"/>
              <a:ext cx="9525" cy="1200150"/>
            </a:xfrm>
            <a:custGeom>
              <a:avLst/>
              <a:gdLst/>
              <a:ahLst/>
              <a:cxnLst/>
              <a:rect l="l" t="t" r="r" b="b"/>
              <a:pathLst>
                <a:path w="9525" h="1200150">
                  <a:moveTo>
                    <a:pt x="0" y="0"/>
                  </a:moveTo>
                  <a:lnTo>
                    <a:pt x="0" y="1200150"/>
                  </a:lnTo>
                </a:path>
              </a:pathLst>
            </a:custGeom>
            <a:noFill/>
            <a:ln w="28575">
              <a:solidFill>
                <a:srgbClr val="F5A623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80313" y="1991201"/>
              <a:ext cx="8460740" cy="10818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02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“We propose a new simple network architecture, the Transformer,</a:t>
              </a:r>
              <a:br/>
              <a:r>
                <a:rPr lang="en-US" sz="202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 xml:space="preserve">based solely on attention mechanisms, </a:t>
              </a:r>
              <a:r>
                <a:rPr lang="en-US" sz="2020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dispensing with recurrence</a:t>
              </a:r>
              <a:br/>
              <a:r>
                <a:rPr lang="en-US" sz="2020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and convolutions entirely</a:t>
              </a:r>
              <a:r>
                <a:rPr lang="en-US" sz="202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.”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5647" y="2980849"/>
              <a:ext cx="27066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— ABSTRACT, VASWANI ET AL. 2017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43000" y="3247549"/>
            <a:ext cx="9915525" cy="429101"/>
            <a:chOff x="1143000" y="3247549"/>
            <a:chExt cx="9915525" cy="429101"/>
          </a:xfrm>
        </p:grpSpPr>
        <p:sp>
          <p:nvSpPr>
            <p:cNvPr id="13" name="Line 13"/>
            <p:cNvSpPr/>
            <p:nvPr/>
          </p:nvSpPr>
          <p:spPr>
            <a:xfrm>
              <a:off x="1143000" y="3581400"/>
              <a:ext cx="9906000" cy="9525"/>
            </a:xfrm>
            <a:custGeom>
              <a:avLst/>
              <a:gdLst/>
              <a:ahLst/>
              <a:cxnLst/>
              <a:rect l="l" t="t" r="r" b="b"/>
              <a:pathLst>
                <a:path w="9906000" h="9525">
                  <a:moveTo>
                    <a:pt x="0" y="0"/>
                  </a:moveTo>
                  <a:lnTo>
                    <a:pt x="9906000" y="0"/>
                  </a:lnTo>
                </a:path>
              </a:pathLst>
            </a:custGeom>
            <a:noFill/>
            <a:ln w="14288">
              <a:solidFill>
                <a:srgbClr val="9CC3E6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143000" y="34861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>
              <a:solidFill>
                <a:srgbClr val="9CC3E6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11049000" y="34861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>
              <a:solidFill>
                <a:srgbClr val="9CC3E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2800350" y="3524250"/>
              <a:ext cx="114300" cy="114300"/>
            </a:xfrm>
            <a:prstGeom prst="ellipse">
              <a:avLst/>
            </a:prstGeom>
            <a:solidFill>
              <a:srgbClr val="F5A623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6038850" y="3524250"/>
              <a:ext cx="114300" cy="114300"/>
            </a:xfrm>
            <a:prstGeom prst="ellipse">
              <a:avLst/>
            </a:prstGeom>
            <a:solidFill>
              <a:srgbClr val="F5A623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9277350" y="3524250"/>
              <a:ext cx="114300" cy="114300"/>
            </a:xfrm>
            <a:prstGeom prst="ellipse">
              <a:avLst/>
            </a:prstGeom>
            <a:solidFill>
              <a:srgbClr val="F5A62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994643" y="3247549"/>
              <a:ext cx="42027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spc="150" dirty="0">
                  <a:solidFill>
                    <a:srgbClr val="9CC3E6"/>
                  </a:solidFill>
                  <a:latin typeface="Consolas"/>
                  <a:ea typeface="Consolas"/>
                  <a:cs typeface="Consolas"/>
                </a:rPr>
                <a:t>THREE CLAIMS THE PAPER MAKES — AND MEASURES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60692" y="3790950"/>
            <a:ext cx="2793616" cy="2207228"/>
            <a:chOff x="1460692" y="3790950"/>
            <a:chExt cx="2793616" cy="2207228"/>
          </a:xfrm>
        </p:grpSpPr>
        <p:sp>
          <p:nvSpPr>
            <p:cNvPr id="21" name="Line 21"/>
            <p:cNvSpPr/>
            <p:nvPr/>
          </p:nvSpPr>
          <p:spPr>
            <a:xfrm>
              <a:off x="2857500" y="3790950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9525">
              <a:solidFill>
                <a:srgbClr val="9CC3E6"/>
              </a:solidFill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2748305" y="4267200"/>
              <a:ext cx="218364" cy="227203"/>
              <a:chOff x="2748305" y="4267200"/>
              <a:chExt cx="218364" cy="227203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2781300" y="42672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76200"/>
                    </a:moveTo>
                    <a:cubicBezTo>
                      <a:pt x="0" y="118284"/>
                      <a:pt x="34116" y="152400"/>
                      <a:pt x="76200" y="152400"/>
                    </a:cubicBezTo>
                    <a:cubicBezTo>
                      <a:pt x="118284" y="152400"/>
                      <a:pt x="152400" y="118284"/>
                      <a:pt x="152400" y="76200"/>
                    </a:cubicBezTo>
                    <a:cubicBezTo>
                      <a:pt x="152400" y="34116"/>
                      <a:pt x="118284" y="0"/>
                      <a:pt x="76200" y="0"/>
                    </a:cubicBezTo>
                    <a:cubicBezTo>
                      <a:pt x="34116" y="0"/>
                      <a:pt x="0" y="34116"/>
                      <a:pt x="0" y="76200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857500" y="4381500"/>
                <a:ext cx="109169" cy="112903"/>
              </a:xfrm>
              <a:custGeom>
                <a:avLst/>
                <a:gdLst/>
                <a:ahLst/>
                <a:cxnLst/>
                <a:rect l="l" t="t" r="r" b="b"/>
                <a:pathLst>
                  <a:path w="109169" h="112903">
                    <a:moveTo>
                      <a:pt x="0" y="38100"/>
                    </a:moveTo>
                    <a:lnTo>
                      <a:pt x="43180" y="112903"/>
                    </a:lnTo>
                    <a:lnTo>
                      <a:pt x="63474" y="71844"/>
                    </a:lnTo>
                    <a:lnTo>
                      <a:pt x="109169" y="74790"/>
                    </a:lnTo>
                    <a:lnTo>
                      <a:pt x="65989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2748305" y="4381500"/>
                <a:ext cx="109169" cy="112890"/>
              </a:xfrm>
              <a:custGeom>
                <a:avLst/>
                <a:gdLst/>
                <a:ahLst/>
                <a:cxnLst/>
                <a:rect l="l" t="t" r="r" b="b"/>
                <a:pathLst>
                  <a:path w="109169" h="112890">
                    <a:moveTo>
                      <a:pt x="43180" y="0"/>
                    </a:moveTo>
                    <a:lnTo>
                      <a:pt x="0" y="74803"/>
                    </a:lnTo>
                    <a:lnTo>
                      <a:pt x="45694" y="71844"/>
                    </a:lnTo>
                    <a:lnTo>
                      <a:pt x="65989" y="112890"/>
                    </a:lnTo>
                    <a:lnTo>
                      <a:pt x="109169" y="3810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629103" y="4713922"/>
              <a:ext cx="245679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450" b="1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28.4 BLEU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183086" y="5237321"/>
              <a:ext cx="13488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Better quality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460692" y="5520214"/>
              <a:ext cx="2793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WMT14 EN–DE, over 2 BLEU above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804218" y="574881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the best prior ensembles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4909175" y="3790950"/>
            <a:ext cx="2373650" cy="2207228"/>
            <a:chOff x="4909175" y="3790950"/>
            <a:chExt cx="2373650" cy="2207228"/>
          </a:xfrm>
        </p:grpSpPr>
        <p:sp>
          <p:nvSpPr>
            <p:cNvPr id="31" name="Line 31"/>
            <p:cNvSpPr/>
            <p:nvPr/>
          </p:nvSpPr>
          <p:spPr>
            <a:xfrm>
              <a:off x="6096000" y="3790950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9525">
              <a:solidFill>
                <a:srgbClr val="9CC3E6"/>
              </a:solidFill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5981700" y="4279900"/>
              <a:ext cx="228599" cy="203200"/>
              <a:chOff x="5981700" y="4279900"/>
              <a:chExt cx="228599" cy="2032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5981700" y="4381500"/>
                <a:ext cx="228599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28599" h="63500">
                    <a:moveTo>
                      <a:pt x="228599" y="63500"/>
                    </a:moveTo>
                    <a:lnTo>
                      <a:pt x="160058" y="63500"/>
                    </a:lnTo>
                    <a:cubicBezTo>
                      <a:pt x="139337" y="63498"/>
                      <a:pt x="119920" y="53387"/>
                      <a:pt x="108039" y="36411"/>
                    </a:cubicBezTo>
                    <a:lnTo>
                      <a:pt x="101511" y="27089"/>
                    </a:lnTo>
                    <a:cubicBezTo>
                      <a:pt x="89629" y="10113"/>
                      <a:pt x="70213" y="2"/>
                      <a:pt x="49492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981700" y="4317999"/>
                <a:ext cx="228599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228599" h="63501">
                    <a:moveTo>
                      <a:pt x="228599" y="1"/>
                    </a:moveTo>
                    <a:lnTo>
                      <a:pt x="160083" y="1"/>
                    </a:lnTo>
                    <a:cubicBezTo>
                      <a:pt x="139349" y="0"/>
                      <a:pt x="119920" y="10122"/>
                      <a:pt x="108039" y="27115"/>
                    </a:cubicBezTo>
                    <a:lnTo>
                      <a:pt x="101562" y="36386"/>
                    </a:lnTo>
                    <a:cubicBezTo>
                      <a:pt x="89683" y="53376"/>
                      <a:pt x="70260" y="63498"/>
                      <a:pt x="49530" y="63501"/>
                    </a:cubicBezTo>
                    <a:lnTo>
                      <a:pt x="0" y="63501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172199" y="4279900"/>
                <a:ext cx="381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76200">
                    <a:moveTo>
                      <a:pt x="0" y="76200"/>
                    </a:moveTo>
                    <a:lnTo>
                      <a:pt x="38100" y="38100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172199" y="4406900"/>
                <a:ext cx="381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76200">
                    <a:moveTo>
                      <a:pt x="0" y="76200"/>
                    </a:moveTo>
                    <a:lnTo>
                      <a:pt x="38100" y="38100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5460157" y="4713922"/>
              <a:ext cx="127168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450" b="1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O(1)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211452" y="5237321"/>
              <a:ext cx="17690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More parallelizable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008255" y="5520214"/>
              <a:ext cx="21754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sequential ops per layer —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909175" y="5748814"/>
              <a:ext cx="2373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all positions handled at once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8190453" y="3790950"/>
            <a:ext cx="2288094" cy="2207228"/>
            <a:chOff x="8190453" y="3790950"/>
            <a:chExt cx="2288094" cy="2207228"/>
          </a:xfrm>
        </p:grpSpPr>
        <p:sp>
          <p:nvSpPr>
            <p:cNvPr id="42" name="Line 42"/>
            <p:cNvSpPr/>
            <p:nvPr/>
          </p:nvSpPr>
          <p:spPr>
            <a:xfrm>
              <a:off x="9334500" y="3790950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9525">
              <a:solidFill>
                <a:srgbClr val="9CC3E6"/>
              </a:solidFill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9220200" y="4267200"/>
              <a:ext cx="228599" cy="228599"/>
              <a:chOff x="9220200" y="4267200"/>
              <a:chExt cx="228599" cy="228599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9220200" y="4267200"/>
                <a:ext cx="228599" cy="228599"/>
              </a:xfrm>
              <a:custGeom>
                <a:avLst/>
                <a:gdLst/>
                <a:ahLst/>
                <a:cxnLst/>
                <a:rect l="l" t="t" r="r" b="b"/>
                <a:pathLst>
                  <a:path w="228599" h="228599">
                    <a:moveTo>
                      <a:pt x="0" y="114300"/>
                    </a:moveTo>
                    <a:cubicBezTo>
                      <a:pt x="0" y="177426"/>
                      <a:pt x="51174" y="228599"/>
                      <a:pt x="114300" y="228599"/>
                    </a:cubicBezTo>
                    <a:cubicBezTo>
                      <a:pt x="177426" y="228599"/>
                      <a:pt x="228599" y="177426"/>
                      <a:pt x="228599" y="114300"/>
                    </a:cubicBezTo>
                    <a:cubicBezTo>
                      <a:pt x="228599" y="51174"/>
                      <a:pt x="177426" y="0"/>
                      <a:pt x="114300" y="0"/>
                    </a:cubicBezTo>
                    <a:cubicBezTo>
                      <a:pt x="51174" y="0"/>
                      <a:pt x="0" y="51174"/>
                      <a:pt x="0" y="114300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9334500" y="4318000"/>
                <a:ext cx="381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01600">
                    <a:moveTo>
                      <a:pt x="0" y="0"/>
                    </a:moveTo>
                    <a:lnTo>
                      <a:pt x="0" y="63500"/>
                    </a:lnTo>
                    <a:lnTo>
                      <a:pt x="38100" y="10160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8305078" y="4713922"/>
              <a:ext cx="205884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450" b="1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3.5 days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15886" y="5237321"/>
              <a:ext cx="20372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Far less training time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258603" y="5520214"/>
              <a:ext cx="21517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8 × P100 GPUs, big model;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190453" y="5748814"/>
              <a:ext cx="22880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41.8 BLEU on WMT14 EN–FR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51" name="Rectangle 51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52" name="Line 52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04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2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00"/>
                            </p:stCondLst>
                            <p:childTnLst>
                              <p:par>
                                <p:cTn xmlns:p="http://schemas.openxmlformats.org/presentationml/2006/main" id="13" presetID="2" presetClass="entr" presetSubtype="1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450"/>
                            </p:stCondLst>
                            <p:childTnLst>
                              <p:par>
                                <p:cTn xmlns:p="http://schemas.openxmlformats.org/presentationml/2006/main" id="18" presetID="2" presetClass="entr" presetSubtype="1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200"/>
                            </p:stCondLst>
                            <p:childTnLst>
                              <p:par>
                                <p:cTn xmlns:p="http://schemas.openxmlformats.org/presentationml/2006/main" id="23" presetID="2" presetClass="entr" presetSubtype="1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6245393" cy="801243"/>
            <a:chOff x="747522" y="439102"/>
            <a:chExt cx="6245393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23693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02 · THE ARCHITECTURE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624539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Six identical layers on each side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971465" y="2009299"/>
            <a:ext cx="2743410" cy="3905440"/>
            <a:chOff x="1971465" y="2009299"/>
            <a:chExt cx="2743410" cy="3905440"/>
          </a:xfrm>
        </p:grpSpPr>
        <p:sp>
          <p:nvSpPr>
            <p:cNvPr id="6" name="TextBox 6"/>
            <p:cNvSpPr txBox="1"/>
            <p:nvPr/>
          </p:nvSpPr>
          <p:spPr>
            <a:xfrm>
              <a:off x="2652065" y="2009299"/>
              <a:ext cx="14586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spc="150" dirty="0">
                  <a:solidFill>
                    <a:srgbClr val="9CC3E6"/>
                  </a:solidFill>
                  <a:latin typeface="Consolas"/>
                  <a:ea typeface="Consolas"/>
                  <a:cs typeface="Consolas"/>
                </a:rPr>
                <a:t>ENCODER · N = 6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2286000" y="2209800"/>
              <a:ext cx="2286000" cy="2552700"/>
            </a:xfrm>
            <a:prstGeom prst="rect">
              <a:avLst/>
            </a:prstGeom>
            <a:noFill/>
            <a:ln w="9525">
              <a:solidFill>
                <a:srgbClr val="9CC3E6"/>
              </a:solidFill>
              <a:prstDash val="dash"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2428875" y="2743200"/>
              <a:ext cx="1905000" cy="1790700"/>
              <a:chOff x="2428875" y="2743200"/>
              <a:chExt cx="1905000" cy="1790700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2428875" y="41910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F5A623"/>
                </a:solidFill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2648350" y="4296728"/>
                <a:ext cx="146605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Multi-Head Attention</a:t>
                </a:r>
              </a:p>
            </p:txBody>
          </p:sp>
          <p:sp>
            <p:nvSpPr>
              <p:cNvPr id="10" name="Rectangle 10"/>
              <p:cNvSpPr/>
              <p:nvPr/>
            </p:nvSpPr>
            <p:spPr>
              <a:xfrm>
                <a:off x="2428875" y="3790950"/>
                <a:ext cx="1905000" cy="228600"/>
              </a:xfrm>
              <a:prstGeom prst="roundRect">
                <a:avLst>
                  <a:gd name="adj" fmla="val 12500"/>
                </a:avLst>
              </a:prstGeom>
              <a:solidFill>
                <a:srgbClr val="10284A"/>
              </a:solidFill>
              <a:ln w="9525">
                <a:solidFill>
                  <a:srgbClr val="9CC3E6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3027863" y="3847624"/>
                <a:ext cx="70702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Add &amp; Norm</a:t>
                </a:r>
              </a:p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2428875" y="314325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2908352" y="3248978"/>
                <a:ext cx="94604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Feed Forward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2428875" y="2743200"/>
                <a:ext cx="1905000" cy="228600"/>
              </a:xfrm>
              <a:prstGeom prst="roundRect">
                <a:avLst>
                  <a:gd name="adj" fmla="val 12500"/>
                </a:avLst>
              </a:prstGeom>
              <a:solidFill>
                <a:srgbClr val="10284A"/>
              </a:solidFill>
              <a:ln w="9525">
                <a:solidFill>
                  <a:srgbClr val="9CC3E6"/>
                </a:solidFill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3027863" y="2799874"/>
                <a:ext cx="70702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Add &amp; Norm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2247900" y="2457450"/>
              <a:ext cx="2466975" cy="3181350"/>
              <a:chOff x="2247900" y="2457450"/>
              <a:chExt cx="2466975" cy="3181350"/>
            </a:xfrm>
          </p:grpSpPr>
          <p:sp>
            <p:nvSpPr>
              <p:cNvPr id="17" name="Line 17"/>
              <p:cNvSpPr/>
              <p:nvPr/>
            </p:nvSpPr>
            <p:spPr>
              <a:xfrm flipV="1">
                <a:off x="3381375" y="5486400"/>
                <a:ext cx="1" cy="15240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18" name="Line 18"/>
              <p:cNvSpPr/>
              <p:nvPr/>
            </p:nvSpPr>
            <p:spPr>
              <a:xfrm flipV="1">
                <a:off x="3381375" y="4972050"/>
                <a:ext cx="1" cy="1714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19" name="Line 19"/>
              <p:cNvSpPr/>
              <p:nvPr/>
            </p:nvSpPr>
            <p:spPr>
              <a:xfrm flipV="1">
                <a:off x="3381375" y="4552950"/>
                <a:ext cx="1" cy="200025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0" name="Line 20"/>
              <p:cNvSpPr/>
              <p:nvPr/>
            </p:nvSpPr>
            <p:spPr>
              <a:xfrm flipV="1">
                <a:off x="3381375" y="4038600"/>
                <a:ext cx="1" cy="15240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1" name="Line 21"/>
              <p:cNvSpPr/>
              <p:nvPr/>
            </p:nvSpPr>
            <p:spPr>
              <a:xfrm flipV="1">
                <a:off x="3381375" y="3505200"/>
                <a:ext cx="1" cy="2857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2" name="Line 22"/>
              <p:cNvSpPr/>
              <p:nvPr/>
            </p:nvSpPr>
            <p:spPr>
              <a:xfrm flipV="1">
                <a:off x="3381375" y="2990850"/>
                <a:ext cx="1" cy="15240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3" name="Polyline 23"/>
              <p:cNvSpPr/>
              <p:nvPr/>
            </p:nvSpPr>
            <p:spPr>
              <a:xfrm>
                <a:off x="3381375" y="2457450"/>
                <a:ext cx="13335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1333500" y="0"/>
                    </a:lnTo>
                  </a:path>
                </a:pathLst>
              </a:custGeom>
              <a:noFill/>
              <a:ln w="14288">
                <a:solidFill>
                  <a:srgbClr val="9CC3E6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3381375" y="3905250"/>
                <a:ext cx="10953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1095375" h="762000">
                    <a:moveTo>
                      <a:pt x="0" y="762000"/>
                    </a:moveTo>
                    <a:lnTo>
                      <a:pt x="1095375" y="762000"/>
                    </a:lnTo>
                    <a:lnTo>
                      <a:pt x="1095375" y="0"/>
                    </a:lnTo>
                    <a:lnTo>
                      <a:pt x="971550" y="0"/>
                    </a:lnTo>
                  </a:path>
                </a:pathLst>
              </a:cu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3381375" y="2857500"/>
                <a:ext cx="1095375" cy="781050"/>
              </a:xfrm>
              <a:custGeom>
                <a:avLst/>
                <a:gdLst/>
                <a:ahLst/>
                <a:cxnLst/>
                <a:rect l="l" t="t" r="r" b="b"/>
                <a:pathLst>
                  <a:path w="1095375" h="781050">
                    <a:moveTo>
                      <a:pt x="0" y="781050"/>
                    </a:moveTo>
                    <a:lnTo>
                      <a:pt x="1095375" y="781050"/>
                    </a:lnTo>
                    <a:lnTo>
                      <a:pt x="1095375" y="0"/>
                    </a:lnTo>
                    <a:lnTo>
                      <a:pt x="971550" y="0"/>
                    </a:lnTo>
                  </a:path>
                </a:pathLst>
              </a:cu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247900" y="4857750"/>
                <a:ext cx="100965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</p:grpSp>
        <p:sp>
          <p:nvSpPr>
            <p:cNvPr id="28" name="Ellipse 28"/>
            <p:cNvSpPr/>
            <p:nvPr/>
          </p:nvSpPr>
          <p:spPr>
            <a:xfrm>
              <a:off x="3276600" y="4752975"/>
              <a:ext cx="209550" cy="209550"/>
            </a:xfrm>
            <a:prstGeom prst="ellipse">
              <a:avLst/>
            </a:prstGeom>
            <a:solidFill>
              <a:srgbClr val="10284A"/>
            </a:solidFill>
            <a:ln w="14288">
              <a:solidFill>
                <a:srgbClr val="9CC3E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330854" y="47853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+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1971465" y="4667250"/>
              <a:ext cx="171660" cy="152400"/>
            </a:xfrm>
            <a:custGeom>
              <a:avLst/>
              <a:gdLst/>
              <a:ahLst/>
              <a:cxnLst/>
              <a:rect l="l" t="t" r="r" b="b"/>
              <a:pathLst>
                <a:path w="171660" h="152400">
                  <a:moveTo>
                    <a:pt x="171660" y="76200"/>
                  </a:moveTo>
                  <a:lnTo>
                    <a:pt x="152610" y="76200"/>
                  </a:lnTo>
                  <a:cubicBezTo>
                    <a:pt x="144094" y="76200"/>
                    <a:pt x="136779" y="68037"/>
                    <a:pt x="135836" y="57150"/>
                  </a:cubicBezTo>
                  <a:cubicBezTo>
                    <a:pt x="133017" y="24289"/>
                    <a:pt x="128702" y="0"/>
                    <a:pt x="109652" y="0"/>
                  </a:cubicBezTo>
                  <a:cubicBezTo>
                    <a:pt x="90602" y="0"/>
                    <a:pt x="85839" y="34119"/>
                    <a:pt x="85839" y="76200"/>
                  </a:cubicBezTo>
                  <a:cubicBezTo>
                    <a:pt x="85839" y="118281"/>
                    <a:pt x="81077" y="152400"/>
                    <a:pt x="62027" y="152400"/>
                  </a:cubicBezTo>
                  <a:cubicBezTo>
                    <a:pt x="42977" y="152400"/>
                    <a:pt x="38672" y="128140"/>
                    <a:pt x="35843" y="95250"/>
                  </a:cubicBezTo>
                  <a:cubicBezTo>
                    <a:pt x="34890" y="84325"/>
                    <a:pt x="27584" y="76200"/>
                    <a:pt x="19050" y="76200"/>
                  </a:cubicBezTo>
                  <a:lnTo>
                    <a:pt x="0" y="76200"/>
                  </a:lnTo>
                </a:path>
              </a:pathLst>
            </a:custGeom>
            <a:noFill/>
            <a:ln w="19050">
              <a:solidFill>
                <a:srgbClr val="9CC3E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2052048" y="5016341"/>
              <a:ext cx="142040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POSITIONAL ENCODING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428875" y="5143500"/>
              <a:ext cx="1905000" cy="323850"/>
            </a:xfrm>
            <a:prstGeom prst="roundRect">
              <a:avLst>
                <a:gd name="adj" fmla="val 8824"/>
              </a:avLst>
            </a:prstGeom>
            <a:solidFill>
              <a:srgbClr val="10284A"/>
            </a:solidFill>
            <a:ln w="14288">
              <a:solidFill>
                <a:srgbClr val="9CC3E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827439" y="5239702"/>
              <a:ext cx="11078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Input Embedding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146420" y="5724049"/>
              <a:ext cx="4699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INPUTS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4714875" y="1352074"/>
            <a:ext cx="3095625" cy="4562665"/>
            <a:chOff x="4714875" y="1352074"/>
            <a:chExt cx="3095625" cy="4562665"/>
          </a:xfrm>
        </p:grpSpPr>
        <p:sp>
          <p:nvSpPr>
            <p:cNvPr id="36" name="Freeform 36"/>
            <p:cNvSpPr/>
            <p:nvPr/>
          </p:nvSpPr>
          <p:spPr>
            <a:xfrm>
              <a:off x="4714875" y="2457450"/>
              <a:ext cx="838200" cy="1104900"/>
            </a:xfrm>
            <a:custGeom>
              <a:avLst/>
              <a:gdLst/>
              <a:ahLst/>
              <a:cxnLst/>
              <a:rect l="l" t="t" r="r" b="b"/>
              <a:pathLst>
                <a:path w="838200" h="1104900">
                  <a:moveTo>
                    <a:pt x="0" y="0"/>
                  </a:moveTo>
                  <a:lnTo>
                    <a:pt x="238125" y="0"/>
                  </a:lnTo>
                  <a:lnTo>
                    <a:pt x="238125" y="1104900"/>
                  </a:lnTo>
                  <a:lnTo>
                    <a:pt x="838200" y="1104900"/>
                  </a:lnTo>
                </a:path>
              </a:pathLst>
            </a:custGeom>
            <a:noFill/>
            <a:ln w="14288">
              <a:solidFill>
                <a:srgbClr val="9CC3E6"/>
              </a:solidFill>
              <a:tailEnd type="triangle" w="lg" len="lg"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795315" y="1352074"/>
              <a:ext cx="14586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spc="150" dirty="0">
                  <a:solidFill>
                    <a:srgbClr val="9CC3E6"/>
                  </a:solidFill>
                  <a:latin typeface="Consolas"/>
                  <a:ea typeface="Consolas"/>
                  <a:cs typeface="Consolas"/>
                </a:rPr>
                <a:t>DECODER · N = 6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429250" y="1504950"/>
              <a:ext cx="2286000" cy="3257550"/>
            </a:xfrm>
            <a:prstGeom prst="rect">
              <a:avLst/>
            </a:prstGeom>
            <a:noFill/>
            <a:ln w="9525">
              <a:solidFill>
                <a:srgbClr val="9CC3E6"/>
              </a:solidFill>
              <a:prstDash val="dash"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5572125" y="2095500"/>
              <a:ext cx="1905000" cy="2580990"/>
              <a:chOff x="5572125" y="2095500"/>
              <a:chExt cx="1905000" cy="258099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572125" y="43053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F5A623"/>
                </a:solidFill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5959602" y="4342924"/>
                <a:ext cx="1130046" cy="3335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1125"/>
                  </a:lnSpc>
                </a:pPr>
                <a:r>
                  <a:rPr lang="en-US" sz="98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Masked Multi-Head</a:t>
                </a:r>
                <a:br/>
                <a:r>
                  <a:rPr lang="en-US" sz="98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Attention</a:t>
                </a: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5572125" y="3924300"/>
                <a:ext cx="1905000" cy="228600"/>
              </a:xfrm>
              <a:prstGeom prst="roundRect">
                <a:avLst>
                  <a:gd name="adj" fmla="val 12500"/>
                </a:avLst>
              </a:prstGeom>
              <a:solidFill>
                <a:srgbClr val="10284A"/>
              </a:solidFill>
              <a:ln w="9525">
                <a:solidFill>
                  <a:srgbClr val="9CC3E6"/>
                </a:solidFill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6171113" y="3980974"/>
                <a:ext cx="70702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Add &amp; Norm</a:t>
                </a:r>
              </a:p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5572125" y="33909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F5A623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5791600" y="3496628"/>
                <a:ext cx="146605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Multi-Head Attention</a:t>
                </a:r>
              </a:p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5572125" y="3009900"/>
                <a:ext cx="1905000" cy="228600"/>
              </a:xfrm>
              <a:prstGeom prst="roundRect">
                <a:avLst>
                  <a:gd name="adj" fmla="val 12500"/>
                </a:avLst>
              </a:prstGeom>
              <a:solidFill>
                <a:srgbClr val="10284A"/>
              </a:solidFill>
              <a:ln w="9525">
                <a:solidFill>
                  <a:srgbClr val="9CC3E6"/>
                </a:solidFill>
              </a:ln>
            </p:spPr>
          </p:sp>
          <p:sp>
            <p:nvSpPr>
              <p:cNvPr id="46" name="TextBox 46"/>
              <p:cNvSpPr txBox="1"/>
              <p:nvPr/>
            </p:nvSpPr>
            <p:spPr>
              <a:xfrm>
                <a:off x="6171113" y="3066574"/>
                <a:ext cx="70702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Add &amp; Norm</a:t>
                </a:r>
              </a:p>
            </p:txBody>
          </p:sp>
          <p:sp>
            <p:nvSpPr>
              <p:cNvPr id="47" name="Rectangle 47"/>
              <p:cNvSpPr/>
              <p:nvPr/>
            </p:nvSpPr>
            <p:spPr>
              <a:xfrm>
                <a:off x="5572125" y="24765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6051602" y="2582228"/>
                <a:ext cx="94604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Feed Forward</a:t>
                </a:r>
              </a:p>
            </p:txBody>
          </p:sp>
          <p:sp>
            <p:nvSpPr>
              <p:cNvPr id="49" name="Rectangle 49"/>
              <p:cNvSpPr/>
              <p:nvPr/>
            </p:nvSpPr>
            <p:spPr>
              <a:xfrm>
                <a:off x="5572125" y="2095500"/>
                <a:ext cx="1905000" cy="228600"/>
              </a:xfrm>
              <a:prstGeom prst="roundRect">
                <a:avLst>
                  <a:gd name="adj" fmla="val 12500"/>
                </a:avLst>
              </a:prstGeom>
              <a:solidFill>
                <a:srgbClr val="10284A"/>
              </a:solidFill>
              <a:ln w="9525">
                <a:solidFill>
                  <a:srgbClr val="9CC3E6"/>
                </a:solidFill>
              </a:ln>
            </p:spPr>
          </p:sp>
          <p:sp>
            <p:nvSpPr>
              <p:cNvPr id="50" name="TextBox 50"/>
              <p:cNvSpPr txBox="1"/>
              <p:nvPr/>
            </p:nvSpPr>
            <p:spPr>
              <a:xfrm>
                <a:off x="6171113" y="2152174"/>
                <a:ext cx="70702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Add &amp; Norm</a:t>
                </a: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6524625" y="1809750"/>
              <a:ext cx="1285875" cy="3829050"/>
              <a:chOff x="6524625" y="1809750"/>
              <a:chExt cx="1285875" cy="3829050"/>
            </a:xfrm>
          </p:grpSpPr>
          <p:sp>
            <p:nvSpPr>
              <p:cNvPr id="52" name="Line 52"/>
              <p:cNvSpPr/>
              <p:nvPr/>
            </p:nvSpPr>
            <p:spPr>
              <a:xfrm flipV="1">
                <a:off x="6524625" y="5486400"/>
                <a:ext cx="1" cy="15240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53" name="Line 53"/>
              <p:cNvSpPr/>
              <p:nvPr/>
            </p:nvSpPr>
            <p:spPr>
              <a:xfrm flipV="1">
                <a:off x="6524625" y="4972050"/>
                <a:ext cx="1" cy="1714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54" name="Line 54"/>
              <p:cNvSpPr/>
              <p:nvPr/>
            </p:nvSpPr>
            <p:spPr>
              <a:xfrm flipV="1">
                <a:off x="6524625" y="4667250"/>
                <a:ext cx="1" cy="85725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55" name="Line 55"/>
              <p:cNvSpPr/>
              <p:nvPr/>
            </p:nvSpPr>
            <p:spPr>
              <a:xfrm flipV="1">
                <a:off x="6524625" y="4171950"/>
                <a:ext cx="1" cy="1333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56" name="Line 56"/>
              <p:cNvSpPr/>
              <p:nvPr/>
            </p:nvSpPr>
            <p:spPr>
              <a:xfrm flipV="1">
                <a:off x="6524625" y="3752850"/>
                <a:ext cx="1" cy="1714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57" name="Line 57"/>
              <p:cNvSpPr/>
              <p:nvPr/>
            </p:nvSpPr>
            <p:spPr>
              <a:xfrm flipV="1">
                <a:off x="6524625" y="3257550"/>
                <a:ext cx="1" cy="1333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58" name="Line 58"/>
              <p:cNvSpPr/>
              <p:nvPr/>
            </p:nvSpPr>
            <p:spPr>
              <a:xfrm flipV="1">
                <a:off x="6524625" y="2838450"/>
                <a:ext cx="1" cy="1714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59" name="Line 59"/>
              <p:cNvSpPr/>
              <p:nvPr/>
            </p:nvSpPr>
            <p:spPr>
              <a:xfrm flipV="1">
                <a:off x="6524625" y="2343150"/>
                <a:ext cx="1" cy="1333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60" name="Polyline 60"/>
              <p:cNvSpPr/>
              <p:nvPr/>
            </p:nvSpPr>
            <p:spPr>
              <a:xfrm>
                <a:off x="6524625" y="1809750"/>
                <a:ext cx="1285875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285875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1285875" y="0"/>
                    </a:lnTo>
                  </a:path>
                </a:pathLst>
              </a:custGeom>
              <a:noFill/>
              <a:ln w="14288">
                <a:solidFill>
                  <a:srgbClr val="9CC3E6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524625" y="4038600"/>
                <a:ext cx="1095375" cy="657225"/>
              </a:xfrm>
              <a:custGeom>
                <a:avLst/>
                <a:gdLst/>
                <a:ahLst/>
                <a:cxnLst/>
                <a:rect l="l" t="t" r="r" b="b"/>
                <a:pathLst>
                  <a:path w="1095375" h="657225">
                    <a:moveTo>
                      <a:pt x="0" y="657225"/>
                    </a:moveTo>
                    <a:lnTo>
                      <a:pt x="1095375" y="657225"/>
                    </a:lnTo>
                    <a:lnTo>
                      <a:pt x="1095375" y="0"/>
                    </a:lnTo>
                    <a:lnTo>
                      <a:pt x="971550" y="0"/>
                    </a:lnTo>
                  </a:path>
                </a:pathLst>
              </a:cu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524625" y="3124200"/>
                <a:ext cx="1095375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w="1095375" h="685800">
                    <a:moveTo>
                      <a:pt x="0" y="685800"/>
                    </a:moveTo>
                    <a:lnTo>
                      <a:pt x="1095375" y="685800"/>
                    </a:lnTo>
                    <a:lnTo>
                      <a:pt x="1095375" y="0"/>
                    </a:lnTo>
                    <a:lnTo>
                      <a:pt x="971550" y="0"/>
                    </a:lnTo>
                  </a:path>
                </a:pathLst>
              </a:cu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524625" y="2209800"/>
                <a:ext cx="1095375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w="1095375" h="685800">
                    <a:moveTo>
                      <a:pt x="0" y="685800"/>
                    </a:moveTo>
                    <a:lnTo>
                      <a:pt x="1095375" y="685800"/>
                    </a:lnTo>
                    <a:lnTo>
                      <a:pt x="1095375" y="0"/>
                    </a:lnTo>
                    <a:lnTo>
                      <a:pt x="971550" y="0"/>
                    </a:lnTo>
                  </a:path>
                </a:pathLst>
              </a:cu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64" name="Line 64"/>
              <p:cNvSpPr/>
              <p:nvPr/>
            </p:nvSpPr>
            <p:spPr>
              <a:xfrm flipH="1">
                <a:off x="6648450" y="4857750"/>
                <a:ext cx="97155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</p:grpSp>
        <p:sp>
          <p:nvSpPr>
            <p:cNvPr id="66" name="Ellipse 66"/>
            <p:cNvSpPr/>
            <p:nvPr/>
          </p:nvSpPr>
          <p:spPr>
            <a:xfrm>
              <a:off x="6419850" y="4752975"/>
              <a:ext cx="209550" cy="209550"/>
            </a:xfrm>
            <a:prstGeom prst="ellipse">
              <a:avLst/>
            </a:prstGeom>
            <a:solidFill>
              <a:srgbClr val="10284A"/>
            </a:solidFill>
            <a:ln w="14288">
              <a:solidFill>
                <a:srgbClr val="9CC3E6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474104" y="47853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+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677053" y="5016341"/>
              <a:ext cx="97149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POS. ENCODING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572125" y="5143500"/>
              <a:ext cx="1905000" cy="323850"/>
            </a:xfrm>
            <a:prstGeom prst="roundRect">
              <a:avLst>
                <a:gd name="adj" fmla="val 8824"/>
              </a:avLst>
            </a:prstGeom>
            <a:solidFill>
              <a:srgbClr val="10284A"/>
            </a:solidFill>
            <a:ln w="14288">
              <a:solidFill>
                <a:srgbClr val="9CC3E6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899774" y="5239702"/>
              <a:ext cx="12497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Output Embedding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637997" y="5724049"/>
              <a:ext cx="17732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OUTPUTS (SHIFTED RIGHT)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7810500" y="1638300"/>
            <a:ext cx="3359214" cy="342900"/>
            <a:chOff x="7810500" y="1638300"/>
            <a:chExt cx="3359214" cy="342900"/>
          </a:xfrm>
        </p:grpSpPr>
        <p:sp>
          <p:nvSpPr>
            <p:cNvPr id="73" name="Line 73"/>
            <p:cNvSpPr/>
            <p:nvPr/>
          </p:nvSpPr>
          <p:spPr>
            <a:xfrm>
              <a:off x="7810500" y="1809750"/>
              <a:ext cx="171450" cy="1"/>
            </a:xfrm>
            <a:prstGeom prst="line">
              <a:avLst/>
            </a:prstGeom>
            <a:noFill/>
            <a:ln w="14288">
              <a:solidFill>
                <a:srgbClr val="9CC3E6"/>
              </a:solidFill>
              <a:tailEnd type="triangle" w="lg" len="lg"/>
            </a:ln>
          </p:spPr>
        </p:sp>
        <p:sp>
          <p:nvSpPr>
            <p:cNvPr id="74" name="Rectangle 74"/>
            <p:cNvSpPr/>
            <p:nvPr/>
          </p:nvSpPr>
          <p:spPr>
            <a:xfrm>
              <a:off x="8001000" y="1638300"/>
              <a:ext cx="857250" cy="342900"/>
            </a:xfrm>
            <a:prstGeom prst="roundRect">
              <a:avLst>
                <a:gd name="adj" fmla="val 8333"/>
              </a:avLst>
            </a:prstGeom>
            <a:solidFill>
              <a:srgbClr val="10284A"/>
            </a:solidFill>
            <a:ln w="14288">
              <a:solidFill>
                <a:srgbClr val="9CC3E6"/>
              </a:solidFill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8206697" y="1744028"/>
              <a:ext cx="4458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Linear</a:t>
              </a:r>
            </a:p>
          </p:txBody>
        </p:sp>
        <p:sp>
          <p:nvSpPr>
            <p:cNvPr id="76" name="Line 76"/>
            <p:cNvSpPr/>
            <p:nvPr/>
          </p:nvSpPr>
          <p:spPr>
            <a:xfrm>
              <a:off x="8858250" y="1809750"/>
              <a:ext cx="171450" cy="1"/>
            </a:xfrm>
            <a:prstGeom prst="line">
              <a:avLst/>
            </a:prstGeom>
            <a:noFill/>
            <a:ln w="14288">
              <a:solidFill>
                <a:srgbClr val="9CC3E6"/>
              </a:solidFill>
              <a:tailEnd type="triangle" w="lg" len="lg"/>
            </a:ln>
          </p:spPr>
        </p:sp>
        <p:sp>
          <p:nvSpPr>
            <p:cNvPr id="77" name="Rectangle 77"/>
            <p:cNvSpPr/>
            <p:nvPr/>
          </p:nvSpPr>
          <p:spPr>
            <a:xfrm>
              <a:off x="9048750" y="1638300"/>
              <a:ext cx="857250" cy="342900"/>
            </a:xfrm>
            <a:prstGeom prst="roundRect">
              <a:avLst>
                <a:gd name="adj" fmla="val 8333"/>
              </a:avLst>
            </a:prstGeom>
            <a:solidFill>
              <a:srgbClr val="10284A"/>
            </a:solidFill>
            <a:ln w="14288">
              <a:solidFill>
                <a:srgbClr val="F5A623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9183491" y="1744028"/>
              <a:ext cx="5877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Softmax</a:t>
              </a:r>
            </a:p>
          </p:txBody>
        </p:sp>
        <p:sp>
          <p:nvSpPr>
            <p:cNvPr id="79" name="Line 79"/>
            <p:cNvSpPr/>
            <p:nvPr/>
          </p:nvSpPr>
          <p:spPr>
            <a:xfrm>
              <a:off x="9906000" y="1809750"/>
              <a:ext cx="342900" cy="1"/>
            </a:xfrm>
            <a:prstGeom prst="line">
              <a:avLst/>
            </a:prstGeom>
            <a:noFill/>
            <a:ln w="14288">
              <a:solidFill>
                <a:srgbClr val="9CC3E6"/>
              </a:solidFill>
              <a:tailEnd type="triangle" w="lg" len="lg"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10301288" y="1682591"/>
              <a:ext cx="868426" cy="2952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050"/>
                </a:lnSpc>
              </a:pPr>
              <a:r>
                <a:rPr lang="en-US" sz="82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OUTPUT</a:t>
              </a:r>
              <a:br/>
              <a:r>
                <a:rPr lang="en-US" sz="82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PROBABILITIES</a:t>
              </a:r>
            </a:p>
          </p:txBody>
        </p:sp>
      </p:grpSp>
      <p:grpSp>
        <p:nvGrpSpPr>
          <p:cNvPr id="103" name="Group 103"/>
          <p:cNvGrpSpPr/>
          <p:nvPr/>
        </p:nvGrpSpPr>
        <p:grpSpPr>
          <a:xfrm>
            <a:off x="7877175" y="2247900"/>
            <a:ext cx="3230331" cy="3619500"/>
            <a:chOff x="7877175" y="2247900"/>
            <a:chExt cx="3230331" cy="3619500"/>
          </a:xfrm>
        </p:grpSpPr>
        <p:sp>
          <p:nvSpPr>
            <p:cNvPr id="82" name="Line 82"/>
            <p:cNvSpPr/>
            <p:nvPr/>
          </p:nvSpPr>
          <p:spPr>
            <a:xfrm>
              <a:off x="7905750" y="2247900"/>
              <a:ext cx="9525" cy="3619500"/>
            </a:xfrm>
            <a:custGeom>
              <a:avLst/>
              <a:gdLst/>
              <a:ahLst/>
              <a:cxnLst/>
              <a:rect l="l" t="t" r="r" b="b"/>
              <a:pathLst>
                <a:path w="9525" h="3619500">
                  <a:moveTo>
                    <a:pt x="0" y="0"/>
                  </a:moveTo>
                  <a:lnTo>
                    <a:pt x="0" y="36195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7877175" y="2382202"/>
              <a:ext cx="3230331" cy="447104"/>
              <a:chOff x="7877175" y="2382202"/>
              <a:chExt cx="3230331" cy="447104"/>
            </a:xfrm>
          </p:grpSpPr>
          <p:sp>
            <p:nvSpPr>
              <p:cNvPr id="83" name="Ellipse 83"/>
              <p:cNvSpPr/>
              <p:nvPr/>
            </p:nvSpPr>
            <p:spPr>
              <a:xfrm>
                <a:off x="7877175" y="2409825"/>
                <a:ext cx="57150" cy="57150"/>
              </a:xfrm>
              <a:prstGeom prst="ellipse">
                <a:avLst/>
              </a:prstGeom>
              <a:solidFill>
                <a:srgbClr val="F5A623"/>
              </a:solidFill>
              <a:ln>
                <a:noFill/>
              </a:ln>
            </p:spPr>
          </p:sp>
          <p:sp>
            <p:nvSpPr>
              <p:cNvPr id="84" name="TextBox 84"/>
              <p:cNvSpPr txBox="1"/>
              <p:nvPr/>
            </p:nvSpPr>
            <p:spPr>
              <a:xfrm>
                <a:off x="8109966" y="2382202"/>
                <a:ext cx="102132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d_model = 512</a:t>
                </a: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8109204" y="2594610"/>
                <a:ext cx="2998302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9DBEA"/>
                    </a:solidFill>
                    <a:latin typeface="Segoe UI"/>
                    <a:ea typeface="Segoe UI"/>
                    <a:cs typeface="Segoe UI"/>
                  </a:rPr>
                  <a:t>One width for every sub-layer output</a:t>
                </a:r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7877175" y="3068002"/>
              <a:ext cx="2877388" cy="447104"/>
              <a:chOff x="7877175" y="3068002"/>
              <a:chExt cx="2877388" cy="447104"/>
            </a:xfrm>
          </p:grpSpPr>
          <p:sp>
            <p:nvSpPr>
              <p:cNvPr id="87" name="Ellipse 87"/>
              <p:cNvSpPr/>
              <p:nvPr/>
            </p:nvSpPr>
            <p:spPr>
              <a:xfrm>
                <a:off x="7877175" y="3095625"/>
                <a:ext cx="57150" cy="57150"/>
              </a:xfrm>
              <a:prstGeom prst="ellipse">
                <a:avLst/>
              </a:prstGeom>
              <a:solidFill>
                <a:srgbClr val="F5A623"/>
              </a:solidFill>
              <a:ln>
                <a:noFill/>
              </a:ln>
            </p:spPr>
          </p:sp>
          <p:sp>
            <p:nvSpPr>
              <p:cNvPr id="88" name="TextBox 88"/>
              <p:cNvSpPr txBox="1"/>
              <p:nvPr/>
            </p:nvSpPr>
            <p:spPr>
              <a:xfrm>
                <a:off x="8109966" y="3068002"/>
                <a:ext cx="1721015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h = 8 · d_k = d_v = 64</a:t>
                </a:r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8109204" y="3280410"/>
                <a:ext cx="264535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9DBEA"/>
                    </a:solidFill>
                    <a:latin typeface="Segoe UI"/>
                    <a:ea typeface="Segoe UI"/>
                    <a:cs typeface="Segoe UI"/>
                  </a:rPr>
                  <a:t>8 heads, each a 64-wide subspace</a:t>
                </a:r>
              </a:p>
            </p:txBody>
          </p:sp>
        </p:grpSp>
        <p:grpSp>
          <p:nvGrpSpPr>
            <p:cNvPr id="94" name="Group 94"/>
            <p:cNvGrpSpPr/>
            <p:nvPr/>
          </p:nvGrpSpPr>
          <p:grpSpPr>
            <a:xfrm>
              <a:off x="7877175" y="3753802"/>
              <a:ext cx="2964294" cy="480175"/>
              <a:chOff x="7877175" y="3753802"/>
              <a:chExt cx="2964294" cy="480175"/>
            </a:xfrm>
          </p:grpSpPr>
          <p:sp>
            <p:nvSpPr>
              <p:cNvPr id="91" name="Ellipse 91"/>
              <p:cNvSpPr/>
              <p:nvPr/>
            </p:nvSpPr>
            <p:spPr>
              <a:xfrm>
                <a:off x="7877175" y="3781425"/>
                <a:ext cx="57150" cy="57150"/>
              </a:xfrm>
              <a:prstGeom prst="ellipse">
                <a:avLst/>
              </a:prstGeom>
              <a:solidFill>
                <a:srgbClr val="F5A623"/>
              </a:solidFill>
              <a:ln>
                <a:noFill/>
              </a:ln>
            </p:spPr>
          </p:sp>
          <p:sp>
            <p:nvSpPr>
              <p:cNvPr id="92" name="TextBox 92"/>
              <p:cNvSpPr txBox="1"/>
              <p:nvPr/>
            </p:nvSpPr>
            <p:spPr>
              <a:xfrm>
                <a:off x="8109966" y="3753802"/>
                <a:ext cx="210973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d_ff = 2048 · position-wise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3" name="TextBox 93"/>
                  <p:cNvSpPr txBox="1"/>
                  <p:nvPr/>
                </p:nvSpPr>
                <p:spPr>
                  <a:xfrm>
                    <a:off x="8109204" y="3958590"/>
                    <a:ext cx="2732265" cy="27538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14:m>
                      <m:oMath xmlns:a="http://schemas.openxmlformats.org/drawingml/2006/main" xmlns:m="http://schemas.openxmlformats.org/officeDocument/2006/math">
                        <m:r>
                          <m:rPr>
                            <m:sty m:val="p"/>
                          </m:rPr>
                          <a:rPr lang="en-US" sz="1200" dirty="0">
                            <a:solidFill>
                              <a:srgbClr val="C9DBEA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FFN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1200" dirty="0">
                            <a:solidFill>
                              <a:srgbClr val="C9DBEA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en-US" sz="1200" dirty="0">
                                    <a:solidFill>
                                      <a:srgbClr val="C9DBEA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en-US" sz="1200" dirty="0">
                                    <a:solidFill>
                                      <a:srgbClr val="C9DBEA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200" dirty="0">
                                    <a:solidFill>
                                      <a:srgbClr val="C9DBEA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en-US" sz="1200" dirty="0">
                                    <a:solidFill>
                                      <a:srgbClr val="C9DBEA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r>
                                  <a:rPr lang="en-US" sz="1200" dirty="0">
                                    <a:solidFill>
                                      <a:srgbClr val="C9DBEA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sSub>
                                  <m:e>
                                    <m:r>
                                      <a:rPr lang="en-US" sz="1200" dirty="0">
                                        <a:solidFill>
                                          <a:srgbClr val="C9DBEA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W</m:t>
                                    </m:r>
                                  </m:e>
                                  <m:sub>
                                    <m:r>
                                      <a:rPr lang="en-US" sz="1200" dirty="0">
                                        <a:solidFill>
                                          <a:srgbClr val="C9DBEA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1200" dirty="0">
                                    <a:solidFill>
                                      <a:srgbClr val="C9DBEA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e>
                                    <m:r>
                                      <a:rPr lang="en-US" sz="1200" dirty="0">
                                        <a:solidFill>
                                          <a:srgbClr val="C9DBEA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1200" dirty="0">
                                        <a:solidFill>
                                          <a:srgbClr val="C9DBEA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sSub>
                          <m:e>
                            <m: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W</m:t>
                            </m:r>
                          </m:e>
                          <m:sub>
                            <m: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1200" dirty="0">
                            <a:solidFill>
                              <a:srgbClr val="C9DBEA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  <m:sub>
                            <m: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</m:oMath>
                    </a14:m>
                  </a:p>
                </p:txBody>
              </p:sp>
            </mc:Choice>
          </mc:AlternateContent>
        </p:grpSp>
        <p:grpSp>
          <p:nvGrpSpPr>
            <p:cNvPr id="98" name="Group 98"/>
            <p:cNvGrpSpPr/>
            <p:nvPr/>
          </p:nvGrpSpPr>
          <p:grpSpPr>
            <a:xfrm>
              <a:off x="7877175" y="4439602"/>
              <a:ext cx="2742502" cy="462344"/>
              <a:chOff x="7877175" y="4439602"/>
              <a:chExt cx="2742502" cy="462344"/>
            </a:xfrm>
          </p:grpSpPr>
          <p:sp>
            <p:nvSpPr>
              <p:cNvPr id="95" name="Ellipse 95"/>
              <p:cNvSpPr/>
              <p:nvPr/>
            </p:nvSpPr>
            <p:spPr>
              <a:xfrm>
                <a:off x="7877175" y="4467225"/>
                <a:ext cx="57150" cy="57150"/>
              </a:xfrm>
              <a:prstGeom prst="ellipse">
                <a:avLst/>
              </a:prstGeom>
              <a:solidFill>
                <a:srgbClr val="F5A623"/>
              </a:solidFill>
              <a:ln>
                <a:noFill/>
              </a:ln>
            </p:spPr>
          </p:sp>
          <p:sp>
            <p:nvSpPr>
              <p:cNvPr id="96" name="TextBox 96"/>
              <p:cNvSpPr txBox="1"/>
              <p:nvPr/>
            </p:nvSpPr>
            <p:spPr>
              <a:xfrm>
                <a:off x="8109966" y="4439602"/>
                <a:ext cx="25097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Add &amp; Norm around each sub-layer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7" name="TextBox 97"/>
                  <p:cNvSpPr txBox="1"/>
                  <p:nvPr/>
                </p:nvSpPr>
                <p:spPr>
                  <a:xfrm>
                    <a:off x="8109204" y="4636770"/>
                    <a:ext cx="2253274" cy="26517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14:m>
                      <m:oMath xmlns:a="http://schemas.openxmlformats.org/drawingml/2006/main" xmlns:m="http://schemas.openxmlformats.org/officeDocument/2006/math">
                        <m:r>
                          <m:rPr>
                            <m:sty m:val="p"/>
                          </m:rPr>
                          <a:rPr lang="en-US" sz="1200" dirty="0">
                            <a:solidFill>
                              <a:srgbClr val="C9DBEA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LayerNorm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1200" dirty="0">
                                <a:solidFill>
                                  <a:srgbClr val="C9DBEA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Sublayer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en-US" sz="1200" dirty="0">
                                    <a:solidFill>
                                      <a:srgbClr val="C9DBEA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en-US" sz="1200" dirty="0">
                                    <a:solidFill>
                                      <a:srgbClr val="C9DBEA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</m:d>
                      </m:oMath>
                    </a14:m>
                  </a:p>
                </p:txBody>
              </p:sp>
            </mc:Choice>
          </mc:AlternateContent>
        </p:grpSp>
        <p:grpSp>
          <p:nvGrpSpPr>
            <p:cNvPr id="102" name="Group 102"/>
            <p:cNvGrpSpPr/>
            <p:nvPr/>
          </p:nvGrpSpPr>
          <p:grpSpPr>
            <a:xfrm>
              <a:off x="7877175" y="5125402"/>
              <a:ext cx="1912696" cy="447104"/>
              <a:chOff x="7877175" y="5125402"/>
              <a:chExt cx="1912696" cy="447104"/>
            </a:xfrm>
          </p:grpSpPr>
          <p:sp>
            <p:nvSpPr>
              <p:cNvPr id="99" name="Ellipse 99"/>
              <p:cNvSpPr/>
              <p:nvPr/>
            </p:nvSpPr>
            <p:spPr>
              <a:xfrm>
                <a:off x="7877175" y="5153025"/>
                <a:ext cx="57150" cy="57150"/>
              </a:xfrm>
              <a:prstGeom prst="ellipse">
                <a:avLst/>
              </a:prstGeom>
              <a:solidFill>
                <a:srgbClr val="F5A623"/>
              </a:solidFill>
              <a:ln>
                <a:noFill/>
              </a:ln>
            </p:spPr>
          </p:sp>
          <p:sp>
            <p:nvSpPr>
              <p:cNvPr id="100" name="TextBox 100"/>
              <p:cNvSpPr txBox="1"/>
              <p:nvPr/>
            </p:nvSpPr>
            <p:spPr>
              <a:xfrm>
                <a:off x="8109966" y="5125402"/>
                <a:ext cx="83210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PARAMETERS</a:t>
                </a:r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8109204" y="5337810"/>
                <a:ext cx="168066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9DBEA"/>
                    </a:solidFill>
                    <a:latin typeface="Segoe UI"/>
                    <a:ea typeface="Segoe UI"/>
                    <a:cs typeface="Segoe UI"/>
                  </a:rPr>
                  <a:t>base 65 M · big 213 M</a:t>
                </a:r>
              </a:p>
            </p:txBody>
          </p:sp>
        </p:grpSp>
      </p:grpSp>
      <p:grpSp>
        <p:nvGrpSpPr>
          <p:cNvPr id="108" name="Group 108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104" name="Rectangle 104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05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9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1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9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100"/>
                            </p:stCondLst>
                            <p:childTnLst>
                              <p:par>
                                <p:cTn xmlns:p="http://schemas.openxmlformats.org/presentationml/2006/main" id="13" presetID="22" presetClass="entr" presetSubtype="2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90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5843135" cy="801243"/>
            <a:chOff x="747522" y="439102"/>
            <a:chExt cx="5843135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2472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03 · ATTENTION, STEP 1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584313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Scaled dot-product attention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attention-formula"/>
              <p:cNvSpPr txBox="1">
                <a:spLocks noGrp="1"/>
              </p:cNvSpPr>
              <p:nvPr/>
            </p:nvSpPr>
            <p:spPr>
              <a:xfrm>
                <a:off x="762000" y="1428750"/>
                <a:ext cx="5715000" cy="95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80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Attention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en-US" sz="18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en-US" sz="18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sz="18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en-US" sz="18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18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en-US" sz="18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80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softmax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en-US" sz="18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bar"/>
                              <m:ctrlPr>
                                <a:rPr lang="en-US" sz="18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en-US" sz="18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  <m:sSup>
                                <m:e>
                                  <m:r>
                                    <a:rPr lang="en-US" sz="180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e>
                                <m:sup>
                                  <m:r>
                                    <a:rPr lang="en-US" sz="180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80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e>
                                      <m:r>
                                        <a:rPr lang="en-US" sz="1800" dirty="0">
                                          <a:solidFill>
                                            <a:srgbClr val="E8F1FA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a:rPr lang="en-US" sz="1800" dirty="0">
                                          <a:solidFill>
                                            <a:srgbClr val="E8F1FA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180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9" name="Group 19"/>
          <p:cNvGrpSpPr/>
          <p:nvPr/>
        </p:nvGrpSpPr>
        <p:grpSpPr>
          <a:xfrm>
            <a:off x="800100" y="2705100"/>
            <a:ext cx="4444975" cy="1185101"/>
            <a:chOff x="800100" y="2705100"/>
            <a:chExt cx="4444975" cy="1185101"/>
          </a:xfrm>
        </p:grpSpPr>
        <p:grpSp>
          <p:nvGrpSpPr>
            <p:cNvPr id="10" name="Group 10"/>
            <p:cNvGrpSpPr/>
            <p:nvPr/>
          </p:nvGrpSpPr>
          <p:grpSpPr>
            <a:xfrm>
              <a:off x="800100" y="2705100"/>
              <a:ext cx="3972458" cy="308801"/>
              <a:chOff x="800100" y="2705100"/>
              <a:chExt cx="3972458" cy="308801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800100" y="2705100"/>
                <a:ext cx="323850" cy="266700"/>
              </a:xfrm>
              <a:prstGeom prst="roundRect">
                <a:avLst>
                  <a:gd name="adj" fmla="val 10714"/>
                </a:avLst>
              </a:prstGeom>
              <a:noFill/>
              <a:ln w="14288">
                <a:solidFill>
                  <a:srgbClr val="F5A623"/>
                </a:solidFill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908990" y="2766060"/>
                <a:ext cx="10607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Q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269492" y="2749868"/>
                <a:ext cx="350306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query: what this position is looking for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800100" y="3143250"/>
              <a:ext cx="4444975" cy="308801"/>
              <a:chOff x="800100" y="3143250"/>
              <a:chExt cx="4444975" cy="308801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800100" y="3143250"/>
                <a:ext cx="323850" cy="266700"/>
              </a:xfrm>
              <a:prstGeom prst="roundRect">
                <a:avLst>
                  <a:gd name="adj" fmla="val 10714"/>
                </a:avLst>
              </a:prstGeom>
              <a:noFill/>
              <a:ln w="14288">
                <a:solidFill>
                  <a:srgbClr val="9CC3E6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908990" y="3204210"/>
                <a:ext cx="10607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CC3E6"/>
                    </a:solidFill>
                    <a:latin typeface="Consolas"/>
                    <a:ea typeface="Consolas"/>
                    <a:cs typeface="Consolas"/>
                  </a:rPr>
                  <a:t>K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269492" y="3188018"/>
                <a:ext cx="3975583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key: what each position offers for matching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800100" y="3581400"/>
              <a:ext cx="4145109" cy="308801"/>
              <a:chOff x="800100" y="3581400"/>
              <a:chExt cx="4145109" cy="308801"/>
            </a:xfrm>
          </p:grpSpPr>
          <p:sp>
            <p:nvSpPr>
              <p:cNvPr id="15" name="Rectangle 15"/>
              <p:cNvSpPr/>
              <p:nvPr/>
            </p:nvSpPr>
            <p:spPr>
              <a:xfrm>
                <a:off x="800100" y="3581400"/>
                <a:ext cx="323850" cy="266700"/>
              </a:xfrm>
              <a:prstGeom prst="roundRect">
                <a:avLst>
                  <a:gd name="adj" fmla="val 10714"/>
                </a:avLst>
              </a:prstGeom>
              <a:noFill/>
              <a:ln w="14288">
                <a:solidFill>
                  <a:srgbClr val="9CC3E6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908990" y="3642360"/>
                <a:ext cx="10607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CC3E6"/>
                    </a:solidFill>
                    <a:latin typeface="Consolas"/>
                    <a:ea typeface="Consolas"/>
                    <a:cs typeface="Consolas"/>
                  </a:rPr>
                  <a:t>V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269492" y="3626168"/>
                <a:ext cx="3675717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value: what is passed along once matched</a:t>
                </a:r>
              </a:p>
            </p:txBody>
          </p:sp>
        </p:grpSp>
      </p:grpSp>
      <p:grpSp>
        <p:nvGrpSpPr>
          <p:cNvPr id="24" name="Group 24"/>
          <p:cNvGrpSpPr/>
          <p:nvPr/>
        </p:nvGrpSpPr>
        <p:grpSpPr>
          <a:xfrm>
            <a:off x="762000" y="4248150"/>
            <a:ext cx="4170236" cy="1619250"/>
            <a:chOff x="762000" y="4248150"/>
            <a:chExt cx="4170236" cy="1619250"/>
          </a:xfrm>
        </p:grpSpPr>
        <p:sp>
          <p:nvSpPr>
            <p:cNvPr id="20" name="Line 20"/>
            <p:cNvSpPr/>
            <p:nvPr/>
          </p:nvSpPr>
          <p:spPr>
            <a:xfrm>
              <a:off x="762000" y="4248150"/>
              <a:ext cx="9525" cy="1619250"/>
            </a:xfrm>
            <a:custGeom>
              <a:avLst/>
              <a:gdLst/>
              <a:ahLst/>
              <a:cxnLst/>
              <a:rect l="l" t="t" r="r" b="b"/>
              <a:pathLst>
                <a:path w="9525" h="1619250">
                  <a:moveTo>
                    <a:pt x="0" y="0"/>
                  </a:moveTo>
                  <a:lnTo>
                    <a:pt x="0" y="1619250"/>
                  </a:lnTo>
                </a:path>
              </a:pathLst>
            </a:custGeom>
            <a:noFill/>
            <a:ln w="28575">
              <a:solidFill>
                <a:srgbClr val="F5A623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82980" y="4314825"/>
              <a:ext cx="20169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Why divide by √d_k?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4635818"/>
              <a:ext cx="3948494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35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With large d_k the dot products grow large and</a:t>
              </a:r>
              <a:br/>
              <a:r>
                <a:rPr lang="en-US" sz="135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push softmax into regions with tiny gradients;</a:t>
              </a:r>
              <a:br/>
              <a:r>
                <a:rPr lang="en-US" sz="135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the 1/√d_k factor keeps the scores tame.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5266" y="5658802"/>
              <a:ext cx="26539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d_k = 64 → divide every score by 8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020878" y="2352199"/>
            <a:ext cx="3706786" cy="3881152"/>
            <a:chOff x="7020878" y="2352199"/>
            <a:chExt cx="3706786" cy="3881152"/>
          </a:xfrm>
        </p:grpSpPr>
        <p:sp>
          <p:nvSpPr>
            <p:cNvPr id="25" name="TextBox 25"/>
            <p:cNvSpPr txBox="1"/>
            <p:nvPr/>
          </p:nvSpPr>
          <p:spPr>
            <a:xfrm>
              <a:off x="7886685" y="2352199"/>
              <a:ext cx="17526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ATTENTION(Q, K, V)</a:t>
              </a:r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7810500" y="3048000"/>
              <a:ext cx="1905000" cy="2628900"/>
              <a:chOff x="7810500" y="3048000"/>
              <a:chExt cx="1905000" cy="26289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7810500" y="53340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8234020" y="5431631"/>
                <a:ext cx="105796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MatMul Q · Kᵀ</a:t>
                </a:r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7810500" y="45720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8312704" y="4669631"/>
                <a:ext cx="90059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Scale ÷ √d_k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7810500" y="38100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F5A623"/>
                </a:solidFill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8449498" y="3907631"/>
                <a:ext cx="62700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Softmax</a:t>
                </a: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7810500" y="30480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8359623" y="3145631"/>
                <a:ext cx="80675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MatMul · V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8286750" y="2571750"/>
              <a:ext cx="2381250" cy="3390900"/>
              <a:chOff x="8286750" y="2571750"/>
              <a:chExt cx="2381250" cy="3390900"/>
            </a:xfrm>
          </p:grpSpPr>
          <p:sp>
            <p:nvSpPr>
              <p:cNvPr id="35" name="Line 35"/>
              <p:cNvSpPr/>
              <p:nvPr/>
            </p:nvSpPr>
            <p:spPr>
              <a:xfrm flipV="1">
                <a:off x="8286750" y="5695950"/>
                <a:ext cx="1" cy="26670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36" name="Line 36"/>
              <p:cNvSpPr/>
              <p:nvPr/>
            </p:nvSpPr>
            <p:spPr>
              <a:xfrm flipV="1">
                <a:off x="9239250" y="5695950"/>
                <a:ext cx="1" cy="26670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9734550" y="3219450"/>
                <a:ext cx="933450" cy="2743200"/>
              </a:xfrm>
              <a:custGeom>
                <a:avLst/>
                <a:gdLst/>
                <a:ahLst/>
                <a:cxnLst/>
                <a:rect l="l" t="t" r="r" b="b"/>
                <a:pathLst>
                  <a:path w="933450" h="2743200">
                    <a:moveTo>
                      <a:pt x="933450" y="2743200"/>
                    </a:moveTo>
                    <a:lnTo>
                      <a:pt x="933450" y="0"/>
                    </a:lnTo>
                    <a:lnTo>
                      <a:pt x="0" y="0"/>
                    </a:lnTo>
                  </a:path>
                </a:pathLst>
              </a:cu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38" name="Line 38"/>
              <p:cNvSpPr/>
              <p:nvPr/>
            </p:nvSpPr>
            <p:spPr>
              <a:xfrm flipV="1">
                <a:off x="8763000" y="4933950"/>
                <a:ext cx="1" cy="4000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39" name="Line 39"/>
              <p:cNvSpPr/>
              <p:nvPr/>
            </p:nvSpPr>
            <p:spPr>
              <a:xfrm flipV="1">
                <a:off x="8763000" y="4171950"/>
                <a:ext cx="1" cy="4000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40" name="Line 40"/>
              <p:cNvSpPr/>
              <p:nvPr/>
            </p:nvSpPr>
            <p:spPr>
              <a:xfrm flipV="1">
                <a:off x="8763000" y="3409950"/>
                <a:ext cx="1" cy="4000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41" name="Line 41"/>
              <p:cNvSpPr/>
              <p:nvPr/>
            </p:nvSpPr>
            <p:spPr>
              <a:xfrm flipV="1">
                <a:off x="8763000" y="2571750"/>
                <a:ext cx="1" cy="476250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>
              <a:off x="8227085" y="5969318"/>
              <a:ext cx="2500579" cy="264033"/>
              <a:chOff x="8227085" y="5969318"/>
              <a:chExt cx="2500579" cy="264033"/>
            </a:xfrm>
          </p:grpSpPr>
          <p:sp>
            <p:nvSpPr>
              <p:cNvPr id="43" name="TextBox 43"/>
              <p:cNvSpPr txBox="1"/>
              <p:nvPr/>
            </p:nvSpPr>
            <p:spPr>
              <a:xfrm>
                <a:off x="8227085" y="5969318"/>
                <a:ext cx="11932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Q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9179585" y="5969318"/>
                <a:ext cx="11932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Consolas"/>
                    <a:ea typeface="Consolas"/>
                    <a:cs typeface="Consolas"/>
                  </a:rPr>
                  <a:t>K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608335" y="5969318"/>
                <a:ext cx="11932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Consolas"/>
                    <a:ea typeface="Consolas"/>
                    <a:cs typeface="Consolas"/>
                  </a:rPr>
                  <a:t>V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7020878" y="3160395"/>
              <a:ext cx="680085" cy="2462212"/>
              <a:chOff x="7020878" y="3160395"/>
              <a:chExt cx="680085" cy="2462212"/>
            </a:xfrm>
          </p:grpSpPr>
          <p:sp>
            <p:nvSpPr>
              <p:cNvPr id="47" name="TextBox 47"/>
              <p:cNvSpPr txBox="1"/>
              <p:nvPr/>
            </p:nvSpPr>
            <p:spPr>
              <a:xfrm>
                <a:off x="7291616" y="5446395"/>
                <a:ext cx="409346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rgbClr val="9CB4CC"/>
                    </a:solidFill>
                    <a:latin typeface="Consolas"/>
                    <a:ea typeface="Consolas"/>
                    <a:cs typeface="Consolas"/>
                  </a:rPr>
                  <a:t>scores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291616" y="4684395"/>
                <a:ext cx="409346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rgbClr val="9CB4CC"/>
                    </a:solidFill>
                    <a:latin typeface="Consolas"/>
                    <a:ea typeface="Consolas"/>
                    <a:cs typeface="Consolas"/>
                  </a:rPr>
                  <a:t>scaled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7224979" y="3922395"/>
                <a:ext cx="475983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weights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7020878" y="3160395"/>
                <a:ext cx="680085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rgbClr val="9CB4CC"/>
                    </a:solidFill>
                    <a:latin typeface="Consolas"/>
                    <a:ea typeface="Consolas"/>
                    <a:cs typeface="Consolas"/>
                  </a:rPr>
                  <a:t>weighted V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53" name="Rectangle 53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54" name="Line 54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06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1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8280961" cy="801243"/>
            <a:chOff x="747522" y="439102"/>
            <a:chExt cx="8280961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2472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03 · ATTENTION, STEP 2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82809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Multi-head attention: eight views at once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multihead-formula"/>
              <p:cNvSpPr txBox="1">
                <a:spLocks noGrp="1"/>
              </p:cNvSpPr>
              <p:nvPr/>
            </p:nvSpPr>
            <p:spPr>
              <a:xfrm>
                <a:off x="762000" y="1428750"/>
                <a:ext cx="10668000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5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MultiHead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65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5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Concat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head</m:t>
                              </m:r>
                            </m:e>
                            <m:sub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,…,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head</m:t>
                              </m:r>
                            </m:e>
                            <m:sub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sSup>
                        <m:e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O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head-formula"/>
              <p:cNvSpPr txBox="1">
                <a:spLocks noGrp="1"/>
              </p:cNvSpPr>
              <p:nvPr/>
            </p:nvSpPr>
            <p:spPr>
              <a:xfrm>
                <a:off x="762000" y="1943100"/>
                <a:ext cx="10668000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head</m:t>
                          </m:r>
                        </m:e>
                        <m:sub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5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5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Attention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  <m:sSubSup>
                            <m:e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sSubSup>
                            <m:e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en-US" sz="165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  <m:sSubSup>
                            <m:e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en-US" sz="165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7" name="Group 47"/>
          <p:cNvGrpSpPr/>
          <p:nvPr/>
        </p:nvGrpSpPr>
        <p:grpSpPr>
          <a:xfrm>
            <a:off x="1083335" y="3009900"/>
            <a:ext cx="9819171" cy="2180939"/>
            <a:chOff x="1083335" y="3009900"/>
            <a:chExt cx="9819171" cy="2180939"/>
          </a:xfrm>
        </p:grpSpPr>
        <p:grpSp>
          <p:nvGrpSpPr>
            <p:cNvPr id="11" name="Group 11"/>
            <p:cNvGrpSpPr/>
            <p:nvPr/>
          </p:nvGrpSpPr>
          <p:grpSpPr>
            <a:xfrm>
              <a:off x="1083335" y="3664268"/>
              <a:ext cx="119329" cy="1026033"/>
              <a:chOff x="1083335" y="3664268"/>
              <a:chExt cx="119329" cy="1026033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1083335" y="3664268"/>
                <a:ext cx="11932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Q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083335" y="4045268"/>
                <a:ext cx="11932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Consolas"/>
                    <a:ea typeface="Consolas"/>
                    <a:cs typeface="Consolas"/>
                  </a:rPr>
                  <a:t>K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083335" y="4426268"/>
                <a:ext cx="11932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Consolas"/>
                    <a:ea typeface="Consolas"/>
                    <a:cs typeface="Consolas"/>
                  </a:rPr>
                  <a:t>V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905000" y="3619500"/>
              <a:ext cx="1047750" cy="1034987"/>
              <a:chOff x="1905000" y="3619500"/>
              <a:chExt cx="1047750" cy="1034987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905000" y="3619500"/>
                <a:ext cx="104775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2089080" y="3687128"/>
                <a:ext cx="67959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Linear W</a:t>
                </a:r>
                <a:r>
                  <a:rPr lang="en-US" sz="750" baseline="3000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Q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1905000" y="4000500"/>
                <a:ext cx="104775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2099748" y="4068128"/>
                <a:ext cx="65825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Linear W</a:t>
                </a:r>
                <a:r>
                  <a:rPr lang="en-US" sz="750" baseline="3000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K</a:t>
                </a: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1905000" y="4381500"/>
                <a:ext cx="104775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2099748" y="4449128"/>
                <a:ext cx="65825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Linear W</a:t>
                </a:r>
                <a:r>
                  <a:rPr lang="en-US" sz="750" baseline="3000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V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14450" y="3752850"/>
              <a:ext cx="2647950" cy="762001"/>
              <a:chOff x="1314450" y="3752850"/>
              <a:chExt cx="2647950" cy="762001"/>
            </a:xfrm>
          </p:grpSpPr>
          <p:sp>
            <p:nvSpPr>
              <p:cNvPr id="19" name="Line 19"/>
              <p:cNvSpPr/>
              <p:nvPr/>
            </p:nvSpPr>
            <p:spPr>
              <a:xfrm>
                <a:off x="1314450" y="3752850"/>
                <a:ext cx="57150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1314450" y="4133850"/>
                <a:ext cx="57150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1314450" y="4514850"/>
                <a:ext cx="57150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2952750" y="3752850"/>
                <a:ext cx="100965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2952750" y="4133850"/>
                <a:ext cx="100965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2952750" y="4514850"/>
                <a:ext cx="100965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>
              <a:off x="4000500" y="3009900"/>
              <a:ext cx="2371725" cy="1809750"/>
              <a:chOff x="4000500" y="3009900"/>
              <a:chExt cx="2371725" cy="18097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4000500" y="447675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1430">
                <a:solidFill>
                  <a:srgbClr val="9CC3E6"/>
                </a:solidFill>
              </a:ln>
            </p:spPr>
          </p:sp>
          <p:sp>
            <p:nvSpPr>
              <p:cNvPr id="27" name="Rectangle 27"/>
              <p:cNvSpPr/>
              <p:nvPr/>
            </p:nvSpPr>
            <p:spPr>
              <a:xfrm>
                <a:off x="4067175" y="42672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1430">
                <a:solidFill>
                  <a:srgbClr val="9CC3E6"/>
                </a:solidFill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4133850" y="405765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1430">
                <a:solidFill>
                  <a:srgbClr val="9CC3E6"/>
                </a:solidFill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4200525" y="38481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1430">
                <a:solidFill>
                  <a:srgbClr val="9CC3E6"/>
                </a:solidFill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4267200" y="363855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1430">
                <a:solidFill>
                  <a:srgbClr val="9CC3E6"/>
                </a:solidFill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4333875" y="34290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1430">
                <a:solidFill>
                  <a:srgbClr val="9CC3E6"/>
                </a:solidFill>
              </a:ln>
            </p:spPr>
          </p:sp>
          <p:sp>
            <p:nvSpPr>
              <p:cNvPr id="32" name="Rectangle 32"/>
              <p:cNvSpPr/>
              <p:nvPr/>
            </p:nvSpPr>
            <p:spPr>
              <a:xfrm>
                <a:off x="4400550" y="321945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1430">
                <a:solidFill>
                  <a:srgbClr val="9CC3E6"/>
                </a:solidFill>
              </a:ln>
            </p:spPr>
          </p:sp>
          <p:sp>
            <p:nvSpPr>
              <p:cNvPr id="33" name="Rectangle 33"/>
              <p:cNvSpPr/>
              <p:nvPr/>
            </p:nvSpPr>
            <p:spPr>
              <a:xfrm>
                <a:off x="4467225" y="3009900"/>
                <a:ext cx="1905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F5A623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620916" y="3123724"/>
              <a:ext cx="15976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Scaled Dot-Product Attn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747055" y="5000149"/>
              <a:ext cx="27928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× h = 8 HEADS · d_k = 64 EACH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6972300" y="4095750"/>
              <a:ext cx="3276600" cy="1"/>
              <a:chOff x="6972300" y="4095750"/>
              <a:chExt cx="3276600" cy="1"/>
            </a:xfrm>
          </p:grpSpPr>
          <p:sp>
            <p:nvSpPr>
              <p:cNvPr id="37" name="Line 37"/>
              <p:cNvSpPr/>
              <p:nvPr/>
            </p:nvSpPr>
            <p:spPr>
              <a:xfrm>
                <a:off x="6972300" y="4095750"/>
                <a:ext cx="24765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8382000" y="4095750"/>
                <a:ext cx="26670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9906000" y="4095750"/>
                <a:ext cx="342900" cy="1"/>
              </a:xfrm>
              <a:prstGeom prst="line">
                <a:avLst/>
              </a:prstGeom>
              <a:noFill/>
              <a:ln w="14288">
                <a:solidFill>
                  <a:srgbClr val="9CC3E6"/>
                </a:solidFill>
                <a:tailEnd type="triangle" w="lg" len="lg"/>
              </a:ln>
            </p:spPr>
          </p:sp>
        </p:grpSp>
        <p:grpSp>
          <p:nvGrpSpPr>
            <p:cNvPr id="45" name="Group 45"/>
            <p:cNvGrpSpPr/>
            <p:nvPr/>
          </p:nvGrpSpPr>
          <p:grpSpPr>
            <a:xfrm>
              <a:off x="7239000" y="3924300"/>
              <a:ext cx="2667000" cy="342900"/>
              <a:chOff x="7239000" y="3924300"/>
              <a:chExt cx="2667000" cy="3429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7239000" y="3924300"/>
                <a:ext cx="114300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7569737" y="4030028"/>
                <a:ext cx="48152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Concat</a:t>
                </a:r>
              </a:p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8667750" y="3924300"/>
                <a:ext cx="1238250" cy="342900"/>
              </a:xfrm>
              <a:prstGeom prst="roundRect">
                <a:avLst>
                  <a:gd name="adj" fmla="val 8333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8947080" y="4030028"/>
                <a:ext cx="67959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Linear W</a:t>
                </a:r>
                <a:r>
                  <a:rPr lang="en-US" sz="750" baseline="3000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</a:t>
                </a:r>
              </a:p>
            </p:txBody>
          </p:sp>
        </p:grpSp>
        <p:sp>
          <p:nvSpPr>
            <p:cNvPr id="46" name="TextBox 46"/>
            <p:cNvSpPr txBox="1"/>
            <p:nvPr/>
          </p:nvSpPr>
          <p:spPr>
            <a:xfrm>
              <a:off x="10301288" y="3968591"/>
              <a:ext cx="601218" cy="2952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050"/>
                </a:lnSpc>
              </a:pPr>
              <a:r>
                <a:rPr lang="en-US" sz="82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MULTIHEAD</a:t>
              </a:r>
              <a:br/>
              <a:r>
                <a:rPr lang="en-US" sz="82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(Q, K, V)</a:t>
              </a:r>
            </a:p>
          </p:txBody>
        </p:sp>
      </p:grpSp>
      <p:sp>
        <p:nvSpPr>
          <p:cNvPr id="48" name="Freeform 48"/>
          <p:cNvSpPr/>
          <p:nvPr/>
        </p:nvSpPr>
        <p:spPr>
          <a:xfrm>
            <a:off x="6667500" y="2857500"/>
            <a:ext cx="285750" cy="2476500"/>
          </a:xfrm>
          <a:prstGeom prst="rightBrace">
            <a:avLst/>
          </a:prstGeom>
          <a:noFill/>
          <a:ln w="19050">
            <a:solidFill>
              <a:srgbClr val="9CC3E6"/>
            </a:solidFill>
          </a:ln>
        </p:spPr>
      </p:sp>
      <p:grpSp>
        <p:nvGrpSpPr>
          <p:cNvPr id="50" name="Group 50"/>
          <p:cNvGrpSpPr/>
          <p:nvPr/>
        </p:nvGrpSpPr>
        <p:grpSpPr>
          <a:xfrm>
            <a:off x="755142" y="5702618"/>
            <a:ext cx="7497508" cy="511683"/>
            <a:chOff x="755142" y="5702618"/>
            <a:chExt cx="7497508" cy="511683"/>
          </a:xfrm>
        </p:grpSpPr>
        <p:sp>
          <p:nvSpPr>
            <p:cNvPr id="49" name="TextBox 49"/>
            <p:cNvSpPr txBox="1"/>
            <p:nvPr/>
          </p:nvSpPr>
          <p:spPr>
            <a:xfrm>
              <a:off x="755142" y="5702618"/>
              <a:ext cx="7497508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lnSpc>
                  <a:spcPts val="1950"/>
                </a:lnSpc>
                <a:buClr>
                  <a:srgbClr val="C9DBEA"/>
                </a:buClr>
                <a:buSzTx/>
                <a:buFontTx/>
                <a:buChar char="●"/>
              </a:pPr>
              <a:r>
                <a:rPr lang="en-US" sz="135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d_k = d_v = 512 / 8 = 64 — eight reduced heads cost about as much as one full-width head</a:t>
              </a:r>
              <a:br/>
              <a:r>
                <a:rPr lang="en-US" sz="135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● Ablation (Table 3): a single attention head is 0.9 BLEU worse than the best setting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51" name="Rectangle 51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52" name="Line 52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07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xmlns:p="http://schemas.openxmlformats.org/presentationml/2006/main" id="13" presetID="22" presetClass="entr" presetSubtype="2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7434758" cy="801243"/>
            <a:chOff x="747522" y="439102"/>
            <a:chExt cx="7434758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2472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03 · ATTENTION, STEP 3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743475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The same block is used in three places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762000" y="1428750"/>
            <a:ext cx="3429000" cy="4476750"/>
            <a:chOff x="762000" y="1428750"/>
            <a:chExt cx="3429000" cy="4476750"/>
          </a:xfrm>
        </p:grpSpPr>
        <p:sp>
          <p:nvSpPr>
            <p:cNvPr id="6" name="Rectangle 6"/>
            <p:cNvSpPr/>
            <p:nvPr/>
          </p:nvSpPr>
          <p:spPr>
            <a:xfrm>
              <a:off x="762000" y="1428750"/>
              <a:ext cx="3429000" cy="447675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7547" y="1609249"/>
              <a:ext cx="25366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A · ENCODER SELF-ATTENTION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7738" y="1845945"/>
              <a:ext cx="21576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Q, K, V ← previous encoder layer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1143000" y="1939925"/>
              <a:ext cx="2667000" cy="831850"/>
              <a:chOff x="1143000" y="1939925"/>
              <a:chExt cx="2667000" cy="8318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43000" y="260667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0" y="165100"/>
                    </a:moveTo>
                    <a:cubicBezTo>
                      <a:pt x="222250" y="0"/>
                      <a:pt x="444500" y="0"/>
                      <a:pt x="666750" y="16510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43000" y="2384425"/>
                <a:ext cx="1333500" cy="387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387350">
                    <a:moveTo>
                      <a:pt x="0" y="387350"/>
                    </a:moveTo>
                    <a:cubicBezTo>
                      <a:pt x="444500" y="0"/>
                      <a:pt x="889000" y="0"/>
                      <a:pt x="1333500" y="38735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43000" y="1939925"/>
                <a:ext cx="2667000" cy="831850"/>
              </a:xfrm>
              <a:custGeom>
                <a:avLst/>
                <a:gdLst/>
                <a:ahLst/>
                <a:cxnLst/>
                <a:rect l="l" t="t" r="r" b="b"/>
                <a:pathLst>
                  <a:path w="2667000" h="831850">
                    <a:moveTo>
                      <a:pt x="0" y="831850"/>
                    </a:moveTo>
                    <a:cubicBezTo>
                      <a:pt x="889000" y="0"/>
                      <a:pt x="1778000" y="0"/>
                      <a:pt x="2667000" y="83185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809750" y="260667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0" y="165100"/>
                    </a:moveTo>
                    <a:cubicBezTo>
                      <a:pt x="222250" y="0"/>
                      <a:pt x="444500" y="0"/>
                      <a:pt x="666750" y="16510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809750" y="2162175"/>
                <a:ext cx="200025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2000250" h="609600">
                    <a:moveTo>
                      <a:pt x="0" y="609600"/>
                    </a:moveTo>
                    <a:cubicBezTo>
                      <a:pt x="666750" y="0"/>
                      <a:pt x="1333500" y="0"/>
                      <a:pt x="2000250" y="60960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2476500" y="2384425"/>
                <a:ext cx="1333500" cy="387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387350">
                    <a:moveTo>
                      <a:pt x="0" y="387350"/>
                    </a:moveTo>
                    <a:cubicBezTo>
                      <a:pt x="444500" y="0"/>
                      <a:pt x="889000" y="0"/>
                      <a:pt x="1333500" y="38735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143250" y="260667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0" y="165100"/>
                    </a:moveTo>
                    <a:cubicBezTo>
                      <a:pt x="222250" y="0"/>
                      <a:pt x="444500" y="0"/>
                      <a:pt x="666750" y="16510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</p:grpSp>
        <p:grpSp>
          <p:nvGrpSpPr>
            <p:cNvPr id="20" name="Group 20"/>
            <p:cNvGrpSpPr/>
            <p:nvPr/>
          </p:nvGrpSpPr>
          <p:grpSpPr>
            <a:xfrm>
              <a:off x="1143000" y="2162175"/>
              <a:ext cx="2000250" cy="609600"/>
              <a:chOff x="1143000" y="2162175"/>
              <a:chExt cx="2000250" cy="6096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1143000" y="2162175"/>
                <a:ext cx="200025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2000250" h="609600">
                    <a:moveTo>
                      <a:pt x="0" y="609600"/>
                    </a:moveTo>
                    <a:cubicBezTo>
                      <a:pt x="666750" y="0"/>
                      <a:pt x="1333500" y="0"/>
                      <a:pt x="2000250" y="609600"/>
                    </a:cubicBez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1809750" y="2384425"/>
                <a:ext cx="1333500" cy="387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387350">
                    <a:moveTo>
                      <a:pt x="0" y="387350"/>
                    </a:moveTo>
                    <a:cubicBezTo>
                      <a:pt x="444500" y="0"/>
                      <a:pt x="889000" y="0"/>
                      <a:pt x="1333500" y="387350"/>
                    </a:cubicBez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2476500" y="260667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0" y="165100"/>
                    </a:moveTo>
                    <a:cubicBezTo>
                      <a:pt x="222250" y="0"/>
                      <a:pt x="444500" y="0"/>
                      <a:pt x="666750" y="165100"/>
                    </a:cubicBez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1057275" y="2771775"/>
              <a:ext cx="2838450" cy="171450"/>
              <a:chOff x="1057275" y="2771775"/>
              <a:chExt cx="2838450" cy="171450"/>
            </a:xfrm>
          </p:grpSpPr>
          <p:sp>
            <p:nvSpPr>
              <p:cNvPr id="21" name="Ellipse 21"/>
              <p:cNvSpPr/>
              <p:nvPr/>
            </p:nvSpPr>
            <p:spPr>
              <a:xfrm>
                <a:off x="1057275" y="2771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22" name="Ellipse 22"/>
              <p:cNvSpPr/>
              <p:nvPr/>
            </p:nvSpPr>
            <p:spPr>
              <a:xfrm>
                <a:off x="1724025" y="2771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23" name="Ellipse 23"/>
              <p:cNvSpPr/>
              <p:nvPr/>
            </p:nvSpPr>
            <p:spPr>
              <a:xfrm>
                <a:off x="2390775" y="2771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24" name="Ellipse 24"/>
              <p:cNvSpPr/>
              <p:nvPr/>
            </p:nvSpPr>
            <p:spPr>
              <a:xfrm>
                <a:off x="3057525" y="2771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9050">
                <a:solidFill>
                  <a:srgbClr val="F5A623"/>
                </a:solidFill>
              </a:ln>
            </p:spPr>
          </p:sp>
          <p:sp>
            <p:nvSpPr>
              <p:cNvPr id="25" name="Ellipse 25"/>
              <p:cNvSpPr/>
              <p:nvPr/>
            </p:nvSpPr>
            <p:spPr>
              <a:xfrm>
                <a:off x="3724275" y="2771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772050" y="3141345"/>
              <a:ext cx="14089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input positions 1 … n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6023" y="3862864"/>
              <a:ext cx="2776474" cy="744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Every position looks at every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other position, in both directions,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in one step — the O(1) path.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023" y="4910614"/>
              <a:ext cx="3069082" cy="4970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Six of these, stacked, build the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encoder's contextual representation.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4381500" y="1428750"/>
            <a:ext cx="3429000" cy="4476750"/>
            <a:chOff x="4381500" y="1428750"/>
            <a:chExt cx="3429000" cy="4476750"/>
          </a:xfrm>
        </p:grpSpPr>
        <p:sp>
          <p:nvSpPr>
            <p:cNvPr id="31" name="Rectangle 31"/>
            <p:cNvSpPr/>
            <p:nvPr/>
          </p:nvSpPr>
          <p:spPr>
            <a:xfrm>
              <a:off x="4381500" y="1428750"/>
              <a:ext cx="3429000" cy="447675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567047" y="1609249"/>
              <a:ext cx="27326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B · MASKED DECODER SELF-ATTN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67238" y="1845945"/>
              <a:ext cx="21576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Q, K, V ← previous decoder layer</a:t>
              </a:r>
            </a:p>
          </p:txBody>
        </p:sp>
        <p:grpSp>
          <p:nvGrpSpPr>
            <p:cNvPr id="44" name="Group 44"/>
            <p:cNvGrpSpPr/>
            <p:nvPr/>
          </p:nvGrpSpPr>
          <p:grpSpPr>
            <a:xfrm>
              <a:off x="4762500" y="1939925"/>
              <a:ext cx="2667000" cy="831850"/>
              <a:chOff x="4762500" y="1939925"/>
              <a:chExt cx="2667000" cy="83185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4762500" y="260667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666750" y="165100"/>
                    </a:moveTo>
                    <a:cubicBezTo>
                      <a:pt x="444500" y="0"/>
                      <a:pt x="222250" y="0"/>
                      <a:pt x="0" y="16510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22000"/>
                  </a:srgbClr>
                </a:solidFill>
                <a:prstDash val="sysDot"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4762500" y="2384425"/>
                <a:ext cx="1333500" cy="387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387350">
                    <a:moveTo>
                      <a:pt x="1333500" y="387350"/>
                    </a:moveTo>
                    <a:cubicBezTo>
                      <a:pt x="889000" y="0"/>
                      <a:pt x="444500" y="0"/>
                      <a:pt x="0" y="38735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22000"/>
                  </a:srgbClr>
                </a:solidFill>
                <a:prstDash val="sysDot"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4762500" y="2162175"/>
                <a:ext cx="200025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2000250" h="609600">
                    <a:moveTo>
                      <a:pt x="2000250" y="609600"/>
                    </a:moveTo>
                    <a:cubicBezTo>
                      <a:pt x="1333500" y="0"/>
                      <a:pt x="666750" y="0"/>
                      <a:pt x="0" y="60960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22000"/>
                  </a:srgbClr>
                </a:solidFill>
                <a:prstDash val="sysDot"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4762500" y="1939925"/>
                <a:ext cx="2667000" cy="831850"/>
              </a:xfrm>
              <a:custGeom>
                <a:avLst/>
                <a:gdLst/>
                <a:ahLst/>
                <a:cxnLst/>
                <a:rect l="l" t="t" r="r" b="b"/>
                <a:pathLst>
                  <a:path w="2667000" h="831850">
                    <a:moveTo>
                      <a:pt x="2667000" y="831850"/>
                    </a:moveTo>
                    <a:cubicBezTo>
                      <a:pt x="1778000" y="0"/>
                      <a:pt x="889000" y="0"/>
                      <a:pt x="0" y="83185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22000"/>
                  </a:srgbClr>
                </a:solidFill>
                <a:prstDash val="sysDot"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5429250" y="260667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666750" y="165100"/>
                    </a:moveTo>
                    <a:cubicBezTo>
                      <a:pt x="444500" y="0"/>
                      <a:pt x="222250" y="0"/>
                      <a:pt x="0" y="16510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22000"/>
                  </a:srgbClr>
                </a:solidFill>
                <a:prstDash val="sysDot"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5429250" y="2384425"/>
                <a:ext cx="1333500" cy="387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387350">
                    <a:moveTo>
                      <a:pt x="1333500" y="387350"/>
                    </a:moveTo>
                    <a:cubicBezTo>
                      <a:pt x="889000" y="0"/>
                      <a:pt x="444500" y="0"/>
                      <a:pt x="0" y="38735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22000"/>
                  </a:srgbClr>
                </a:solidFill>
                <a:prstDash val="sysDot"/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5429250" y="2162175"/>
                <a:ext cx="200025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2000250" h="609600">
                    <a:moveTo>
                      <a:pt x="2000250" y="609600"/>
                    </a:moveTo>
                    <a:cubicBezTo>
                      <a:pt x="1333500" y="0"/>
                      <a:pt x="666750" y="0"/>
                      <a:pt x="0" y="60960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22000"/>
                  </a:srgbClr>
                </a:solidFill>
                <a:prstDash val="sysDot"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096000" y="260667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666750" y="165100"/>
                    </a:moveTo>
                    <a:cubicBezTo>
                      <a:pt x="444500" y="0"/>
                      <a:pt x="222250" y="0"/>
                      <a:pt x="0" y="16510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22000"/>
                  </a:srgbClr>
                </a:solidFill>
                <a:prstDash val="sysDot"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096000" y="2384425"/>
                <a:ext cx="1333500" cy="387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387350">
                    <a:moveTo>
                      <a:pt x="1333500" y="387350"/>
                    </a:moveTo>
                    <a:cubicBezTo>
                      <a:pt x="889000" y="0"/>
                      <a:pt x="444500" y="0"/>
                      <a:pt x="0" y="38735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22000"/>
                  </a:srgbClr>
                </a:solidFill>
                <a:prstDash val="sysDot"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762750" y="260667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666750" y="165100"/>
                    </a:moveTo>
                    <a:cubicBezTo>
                      <a:pt x="444500" y="0"/>
                      <a:pt x="222250" y="0"/>
                      <a:pt x="0" y="16510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22000"/>
                  </a:srgbClr>
                </a:solidFill>
                <a:prstDash val="sysDot"/>
              </a:ln>
            </p:spPr>
          </p:sp>
        </p:grpSp>
        <p:grpSp>
          <p:nvGrpSpPr>
            <p:cNvPr id="52" name="Group 52"/>
            <p:cNvGrpSpPr/>
            <p:nvPr/>
          </p:nvGrpSpPr>
          <p:grpSpPr>
            <a:xfrm>
              <a:off x="4762500" y="2943225"/>
              <a:ext cx="2667000" cy="831850"/>
              <a:chOff x="4762500" y="2943225"/>
              <a:chExt cx="2667000" cy="83185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4762500" y="294322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0" y="0"/>
                    </a:moveTo>
                    <a:cubicBezTo>
                      <a:pt x="222250" y="165100"/>
                      <a:pt x="444500" y="165100"/>
                      <a:pt x="666750" y="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4762500" y="2943225"/>
                <a:ext cx="1333500" cy="387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387350">
                    <a:moveTo>
                      <a:pt x="0" y="0"/>
                    </a:moveTo>
                    <a:cubicBezTo>
                      <a:pt x="444500" y="387350"/>
                      <a:pt x="889000" y="387350"/>
                      <a:pt x="1333500" y="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4762500" y="2943225"/>
                <a:ext cx="2667000" cy="831850"/>
              </a:xfrm>
              <a:custGeom>
                <a:avLst/>
                <a:gdLst/>
                <a:ahLst/>
                <a:cxnLst/>
                <a:rect l="l" t="t" r="r" b="b"/>
                <a:pathLst>
                  <a:path w="2667000" h="831850">
                    <a:moveTo>
                      <a:pt x="0" y="0"/>
                    </a:moveTo>
                    <a:cubicBezTo>
                      <a:pt x="889000" y="831850"/>
                      <a:pt x="1778000" y="831850"/>
                      <a:pt x="2667000" y="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5429250" y="294322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0" y="0"/>
                    </a:moveTo>
                    <a:cubicBezTo>
                      <a:pt x="222250" y="165100"/>
                      <a:pt x="444500" y="165100"/>
                      <a:pt x="666750" y="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5429250" y="2943225"/>
                <a:ext cx="200025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2000250" h="609600">
                    <a:moveTo>
                      <a:pt x="0" y="0"/>
                    </a:moveTo>
                    <a:cubicBezTo>
                      <a:pt x="666750" y="609600"/>
                      <a:pt x="1333500" y="609600"/>
                      <a:pt x="2000250" y="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096000" y="2943225"/>
                <a:ext cx="1333500" cy="387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387350">
                    <a:moveTo>
                      <a:pt x="0" y="0"/>
                    </a:moveTo>
                    <a:cubicBezTo>
                      <a:pt x="444500" y="387350"/>
                      <a:pt x="889000" y="387350"/>
                      <a:pt x="1333500" y="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762750" y="294322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0" y="0"/>
                    </a:moveTo>
                    <a:cubicBezTo>
                      <a:pt x="222250" y="165100"/>
                      <a:pt x="444500" y="165100"/>
                      <a:pt x="666750" y="0"/>
                    </a:cubicBezTo>
                  </a:path>
                </a:pathLst>
              </a:custGeom>
              <a:noFill/>
              <a:ln w="9525">
                <a:solidFill>
                  <a:srgbClr val="9CC3E6">
                    <a:alpha val="55000"/>
                  </a:srgbClr>
                </a:solidFill>
              </a:ln>
            </p:spPr>
          </p:sp>
        </p:grpSp>
        <p:grpSp>
          <p:nvGrpSpPr>
            <p:cNvPr id="56" name="Group 56"/>
            <p:cNvGrpSpPr/>
            <p:nvPr/>
          </p:nvGrpSpPr>
          <p:grpSpPr>
            <a:xfrm>
              <a:off x="4762500" y="2943225"/>
              <a:ext cx="2000250" cy="609600"/>
              <a:chOff x="4762500" y="2943225"/>
              <a:chExt cx="2000250" cy="60960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4762500" y="2943225"/>
                <a:ext cx="200025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2000250" h="609600">
                    <a:moveTo>
                      <a:pt x="0" y="0"/>
                    </a:moveTo>
                    <a:cubicBezTo>
                      <a:pt x="666750" y="609600"/>
                      <a:pt x="1333500" y="609600"/>
                      <a:pt x="2000250" y="0"/>
                    </a:cubicBez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5429250" y="2943225"/>
                <a:ext cx="1333500" cy="387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387350">
                    <a:moveTo>
                      <a:pt x="0" y="0"/>
                    </a:moveTo>
                    <a:cubicBezTo>
                      <a:pt x="444500" y="387350"/>
                      <a:pt x="889000" y="387350"/>
                      <a:pt x="1333500" y="0"/>
                    </a:cubicBez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096000" y="2943225"/>
                <a:ext cx="66675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165100">
                    <a:moveTo>
                      <a:pt x="0" y="0"/>
                    </a:moveTo>
                    <a:cubicBezTo>
                      <a:pt x="222250" y="165100"/>
                      <a:pt x="444500" y="165100"/>
                      <a:pt x="666750" y="0"/>
                    </a:cubicBez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</p:grpSp>
        <p:grpSp>
          <p:nvGrpSpPr>
            <p:cNvPr id="62" name="Group 62"/>
            <p:cNvGrpSpPr/>
            <p:nvPr/>
          </p:nvGrpSpPr>
          <p:grpSpPr>
            <a:xfrm>
              <a:off x="4676775" y="2771775"/>
              <a:ext cx="2838450" cy="171450"/>
              <a:chOff x="4676775" y="2771775"/>
              <a:chExt cx="2838450" cy="171450"/>
            </a:xfrm>
          </p:grpSpPr>
          <p:sp>
            <p:nvSpPr>
              <p:cNvPr id="57" name="Ellipse 57"/>
              <p:cNvSpPr/>
              <p:nvPr/>
            </p:nvSpPr>
            <p:spPr>
              <a:xfrm>
                <a:off x="4676775" y="2771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58" name="Ellipse 58"/>
              <p:cNvSpPr/>
              <p:nvPr/>
            </p:nvSpPr>
            <p:spPr>
              <a:xfrm>
                <a:off x="5343525" y="2771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59" name="Ellipse 59"/>
              <p:cNvSpPr/>
              <p:nvPr/>
            </p:nvSpPr>
            <p:spPr>
              <a:xfrm>
                <a:off x="6010275" y="2771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60" name="Ellipse 60"/>
              <p:cNvSpPr/>
              <p:nvPr/>
            </p:nvSpPr>
            <p:spPr>
              <a:xfrm>
                <a:off x="6677025" y="2771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9050">
                <a:solidFill>
                  <a:srgbClr val="F5A623"/>
                </a:solidFill>
              </a:ln>
            </p:spPr>
          </p:sp>
          <p:sp>
            <p:nvSpPr>
              <p:cNvPr id="61" name="Ellipse 61"/>
              <p:cNvSpPr/>
              <p:nvPr/>
            </p:nvSpPr>
            <p:spPr>
              <a:xfrm>
                <a:off x="7343775" y="2771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4846608" y="2158841"/>
              <a:ext cx="249878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rightward flow masked (−∞ before softmax)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4565523" y="3862864"/>
              <a:ext cx="2394458" cy="9923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Same block, but position i may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only attend to positions ≤ i.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The mask keeps generation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auto-regressive.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4565523" y="5158264"/>
              <a:ext cx="2622042" cy="4970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Outputs are shifted right by one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position for the same reason.</a:t>
              </a:r>
            </a:p>
          </p:txBody>
        </p:sp>
      </p:grpSp>
      <p:grpSp>
        <p:nvGrpSpPr>
          <p:cNvPr id="107" name="Group 107"/>
          <p:cNvGrpSpPr/>
          <p:nvPr/>
        </p:nvGrpSpPr>
        <p:grpSpPr>
          <a:xfrm>
            <a:off x="8001000" y="1428750"/>
            <a:ext cx="3429000" cy="4476750"/>
            <a:chOff x="8001000" y="1428750"/>
            <a:chExt cx="3429000" cy="4476750"/>
          </a:xfrm>
        </p:grpSpPr>
        <p:sp>
          <p:nvSpPr>
            <p:cNvPr id="67" name="Rectangle 67"/>
            <p:cNvSpPr/>
            <p:nvPr/>
          </p:nvSpPr>
          <p:spPr>
            <a:xfrm>
              <a:off x="8001000" y="1428750"/>
              <a:ext cx="3429000" cy="447675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186547" y="1609249"/>
              <a:ext cx="28306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C · ENCODER–DECODER ATTENTION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186738" y="1845945"/>
              <a:ext cx="23590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Q ← decoder · K, V ← encoder output</a:t>
              </a:r>
            </a:p>
          </p:txBody>
        </p:sp>
        <p:grpSp>
          <p:nvGrpSpPr>
            <p:cNvPr id="85" name="Group 85"/>
            <p:cNvGrpSpPr/>
            <p:nvPr/>
          </p:nvGrpSpPr>
          <p:grpSpPr>
            <a:xfrm>
              <a:off x="8382000" y="2466975"/>
              <a:ext cx="2667000" cy="1066800"/>
              <a:chOff x="8382000" y="2466975"/>
              <a:chExt cx="2667000" cy="1066800"/>
            </a:xfrm>
          </p:grpSpPr>
          <p:sp>
            <p:nvSpPr>
              <p:cNvPr id="70" name="Line 70"/>
              <p:cNvSpPr/>
              <p:nvPr/>
            </p:nvSpPr>
            <p:spPr>
              <a:xfrm>
                <a:off x="8382000" y="2466975"/>
                <a:ext cx="3333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066800">
                    <a:moveTo>
                      <a:pt x="333375" y="10668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8715375" y="2466975"/>
                <a:ext cx="3333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066800">
                    <a:moveTo>
                      <a:pt x="0" y="1066800"/>
                    </a:moveTo>
                    <a:lnTo>
                      <a:pt x="333375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72" name="Line 72"/>
              <p:cNvSpPr/>
              <p:nvPr/>
            </p:nvSpPr>
            <p:spPr>
              <a:xfrm>
                <a:off x="8715375" y="2466975"/>
                <a:ext cx="100012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1000125" h="1066800">
                    <a:moveTo>
                      <a:pt x="0" y="1066800"/>
                    </a:moveTo>
                    <a:lnTo>
                      <a:pt x="1000125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73" name="Line 73"/>
              <p:cNvSpPr/>
              <p:nvPr/>
            </p:nvSpPr>
            <p:spPr>
              <a:xfrm>
                <a:off x="8715375" y="2466975"/>
                <a:ext cx="16668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1666875" h="1066800">
                    <a:moveTo>
                      <a:pt x="0" y="1066800"/>
                    </a:moveTo>
                    <a:lnTo>
                      <a:pt x="1666875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74" name="Line 74"/>
              <p:cNvSpPr/>
              <p:nvPr/>
            </p:nvSpPr>
            <p:spPr>
              <a:xfrm>
                <a:off x="8715375" y="2466975"/>
                <a:ext cx="233362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2333625" h="1066800">
                    <a:moveTo>
                      <a:pt x="0" y="1066800"/>
                    </a:moveTo>
                    <a:lnTo>
                      <a:pt x="2333625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75" name="Line 75"/>
              <p:cNvSpPr/>
              <p:nvPr/>
            </p:nvSpPr>
            <p:spPr>
              <a:xfrm>
                <a:off x="8382000" y="2466975"/>
                <a:ext cx="16668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1666875" h="1066800">
                    <a:moveTo>
                      <a:pt x="1666875" y="10668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76" name="Line 76"/>
              <p:cNvSpPr/>
              <p:nvPr/>
            </p:nvSpPr>
            <p:spPr>
              <a:xfrm>
                <a:off x="9048750" y="2466975"/>
                <a:ext cx="100012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1000125" h="1066800">
                    <a:moveTo>
                      <a:pt x="1000125" y="10668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77" name="Line 77"/>
              <p:cNvSpPr/>
              <p:nvPr/>
            </p:nvSpPr>
            <p:spPr>
              <a:xfrm>
                <a:off x="9715500" y="2466975"/>
                <a:ext cx="3333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066800">
                    <a:moveTo>
                      <a:pt x="333375" y="10668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78" name="Line 78"/>
              <p:cNvSpPr/>
              <p:nvPr/>
            </p:nvSpPr>
            <p:spPr>
              <a:xfrm>
                <a:off x="10048875" y="2466975"/>
                <a:ext cx="3333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066800">
                    <a:moveTo>
                      <a:pt x="0" y="1066800"/>
                    </a:moveTo>
                    <a:lnTo>
                      <a:pt x="333375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79" name="Line 79"/>
              <p:cNvSpPr/>
              <p:nvPr/>
            </p:nvSpPr>
            <p:spPr>
              <a:xfrm>
                <a:off x="10048875" y="2466975"/>
                <a:ext cx="100012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1000125" h="1066800">
                    <a:moveTo>
                      <a:pt x="0" y="1066800"/>
                    </a:moveTo>
                    <a:lnTo>
                      <a:pt x="1000125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80" name="Line 80"/>
              <p:cNvSpPr/>
              <p:nvPr/>
            </p:nvSpPr>
            <p:spPr>
              <a:xfrm>
                <a:off x="8382000" y="2466975"/>
                <a:ext cx="233362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2333625" h="1066800">
                    <a:moveTo>
                      <a:pt x="2333625" y="10668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81" name="Line 81"/>
              <p:cNvSpPr/>
              <p:nvPr/>
            </p:nvSpPr>
            <p:spPr>
              <a:xfrm>
                <a:off x="9048750" y="2466975"/>
                <a:ext cx="16668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1666875" h="1066800">
                    <a:moveTo>
                      <a:pt x="1666875" y="10668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82" name="Line 82"/>
              <p:cNvSpPr/>
              <p:nvPr/>
            </p:nvSpPr>
            <p:spPr>
              <a:xfrm>
                <a:off x="9715500" y="2466975"/>
                <a:ext cx="100012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1000125" h="1066800">
                    <a:moveTo>
                      <a:pt x="1000125" y="10668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83" name="Line 83"/>
              <p:cNvSpPr/>
              <p:nvPr/>
            </p:nvSpPr>
            <p:spPr>
              <a:xfrm>
                <a:off x="10382250" y="2466975"/>
                <a:ext cx="3333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066800">
                    <a:moveTo>
                      <a:pt x="333375" y="1066800"/>
                    </a:move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  <p:sp>
            <p:nvSpPr>
              <p:cNvPr id="84" name="Line 84"/>
              <p:cNvSpPr/>
              <p:nvPr/>
            </p:nvSpPr>
            <p:spPr>
              <a:xfrm>
                <a:off x="10715625" y="2466975"/>
                <a:ext cx="3333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066800">
                    <a:moveTo>
                      <a:pt x="0" y="1066800"/>
                    </a:moveTo>
                    <a:lnTo>
                      <a:pt x="333375" y="0"/>
                    </a:lnTo>
                  </a:path>
                </a:pathLst>
              </a:custGeom>
              <a:noFill/>
              <a:ln w="9525">
                <a:solidFill>
                  <a:srgbClr val="9CC3E6">
                    <a:alpha val="25000"/>
                  </a:srgbClr>
                </a:solidFill>
              </a:ln>
            </p:spPr>
          </p:sp>
        </p:grpSp>
        <p:grpSp>
          <p:nvGrpSpPr>
            <p:cNvPr id="91" name="Group 91"/>
            <p:cNvGrpSpPr/>
            <p:nvPr/>
          </p:nvGrpSpPr>
          <p:grpSpPr>
            <a:xfrm>
              <a:off x="8382000" y="2466975"/>
              <a:ext cx="2667000" cy="1066800"/>
              <a:chOff x="8382000" y="2466975"/>
              <a:chExt cx="2667000" cy="1066800"/>
            </a:xfrm>
          </p:grpSpPr>
          <p:sp>
            <p:nvSpPr>
              <p:cNvPr id="86" name="Line 86"/>
              <p:cNvSpPr/>
              <p:nvPr/>
            </p:nvSpPr>
            <p:spPr>
              <a:xfrm>
                <a:off x="8382000" y="2466975"/>
                <a:ext cx="100012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1000125" h="1066800">
                    <a:moveTo>
                      <a:pt x="1000125" y="1066800"/>
                    </a:moveTo>
                    <a:lnTo>
                      <a:pt x="0" y="0"/>
                    </a:ln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  <p:sp>
            <p:nvSpPr>
              <p:cNvPr id="87" name="Line 87"/>
              <p:cNvSpPr/>
              <p:nvPr/>
            </p:nvSpPr>
            <p:spPr>
              <a:xfrm>
                <a:off x="9048750" y="2466975"/>
                <a:ext cx="3333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066800">
                    <a:moveTo>
                      <a:pt x="333375" y="1066800"/>
                    </a:moveTo>
                    <a:lnTo>
                      <a:pt x="0" y="0"/>
                    </a:ln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  <p:sp>
            <p:nvSpPr>
              <p:cNvPr id="88" name="Line 88"/>
              <p:cNvSpPr/>
              <p:nvPr/>
            </p:nvSpPr>
            <p:spPr>
              <a:xfrm>
                <a:off x="9382125" y="2466975"/>
                <a:ext cx="3333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066800">
                    <a:moveTo>
                      <a:pt x="0" y="1066800"/>
                    </a:moveTo>
                    <a:lnTo>
                      <a:pt x="333375" y="0"/>
                    </a:ln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  <p:sp>
            <p:nvSpPr>
              <p:cNvPr id="89" name="Line 89"/>
              <p:cNvSpPr/>
              <p:nvPr/>
            </p:nvSpPr>
            <p:spPr>
              <a:xfrm>
                <a:off x="9382125" y="2466975"/>
                <a:ext cx="100012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1000125" h="1066800">
                    <a:moveTo>
                      <a:pt x="0" y="1066800"/>
                    </a:moveTo>
                    <a:lnTo>
                      <a:pt x="1000125" y="0"/>
                    </a:ln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  <p:sp>
            <p:nvSpPr>
              <p:cNvPr id="90" name="Line 90"/>
              <p:cNvSpPr/>
              <p:nvPr/>
            </p:nvSpPr>
            <p:spPr>
              <a:xfrm>
                <a:off x="9382125" y="2466975"/>
                <a:ext cx="1666875" cy="1066800"/>
              </a:xfrm>
              <a:custGeom>
                <a:avLst/>
                <a:gdLst/>
                <a:ahLst/>
                <a:cxnLst/>
                <a:rect l="l" t="t" r="r" b="b"/>
                <a:pathLst>
                  <a:path w="1666875" h="1066800">
                    <a:moveTo>
                      <a:pt x="0" y="1066800"/>
                    </a:moveTo>
                    <a:lnTo>
                      <a:pt x="1666875" y="0"/>
                    </a:lnTo>
                  </a:path>
                </a:pathLst>
              </a:custGeom>
              <a:noFill/>
              <a:ln w="14288">
                <a:solidFill>
                  <a:srgbClr val="F5A623"/>
                </a:solidFill>
              </a:ln>
            </p:spPr>
          </p:sp>
        </p:grpSp>
        <p:grpSp>
          <p:nvGrpSpPr>
            <p:cNvPr id="97" name="Group 97"/>
            <p:cNvGrpSpPr/>
            <p:nvPr/>
          </p:nvGrpSpPr>
          <p:grpSpPr>
            <a:xfrm>
              <a:off x="8296275" y="2295525"/>
              <a:ext cx="2838450" cy="171450"/>
              <a:chOff x="8296275" y="2295525"/>
              <a:chExt cx="2838450" cy="171450"/>
            </a:xfrm>
          </p:grpSpPr>
          <p:sp>
            <p:nvSpPr>
              <p:cNvPr id="92" name="Ellipse 92"/>
              <p:cNvSpPr/>
              <p:nvPr/>
            </p:nvSpPr>
            <p:spPr>
              <a:xfrm>
                <a:off x="8296275" y="229552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93" name="Ellipse 93"/>
              <p:cNvSpPr/>
              <p:nvPr/>
            </p:nvSpPr>
            <p:spPr>
              <a:xfrm>
                <a:off x="8963025" y="229552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94" name="Ellipse 94"/>
              <p:cNvSpPr/>
              <p:nvPr/>
            </p:nvSpPr>
            <p:spPr>
              <a:xfrm>
                <a:off x="9629775" y="229552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95" name="Ellipse 95"/>
              <p:cNvSpPr/>
              <p:nvPr/>
            </p:nvSpPr>
            <p:spPr>
              <a:xfrm>
                <a:off x="10296525" y="229552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96" name="Ellipse 96"/>
              <p:cNvSpPr/>
              <p:nvPr/>
            </p:nvSpPr>
            <p:spPr>
              <a:xfrm>
                <a:off x="10963275" y="229552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</p:grpSp>
        <p:grpSp>
          <p:nvGrpSpPr>
            <p:cNvPr id="102" name="Group 102"/>
            <p:cNvGrpSpPr/>
            <p:nvPr/>
          </p:nvGrpSpPr>
          <p:grpSpPr>
            <a:xfrm>
              <a:off x="8629650" y="3533775"/>
              <a:ext cx="2171700" cy="171450"/>
              <a:chOff x="8629650" y="3533775"/>
              <a:chExt cx="2171700" cy="171450"/>
            </a:xfrm>
          </p:grpSpPr>
          <p:sp>
            <p:nvSpPr>
              <p:cNvPr id="98" name="Ellipse 98"/>
              <p:cNvSpPr/>
              <p:nvPr/>
            </p:nvSpPr>
            <p:spPr>
              <a:xfrm>
                <a:off x="8629650" y="3533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99" name="Ellipse 99"/>
              <p:cNvSpPr/>
              <p:nvPr/>
            </p:nvSpPr>
            <p:spPr>
              <a:xfrm>
                <a:off x="9296400" y="3533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9050">
                <a:solidFill>
                  <a:srgbClr val="F5A623"/>
                </a:solidFill>
              </a:ln>
            </p:spPr>
          </p:sp>
          <p:sp>
            <p:nvSpPr>
              <p:cNvPr id="100" name="Ellipse 100"/>
              <p:cNvSpPr/>
              <p:nvPr/>
            </p:nvSpPr>
            <p:spPr>
              <a:xfrm>
                <a:off x="9963150" y="3533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01" name="Ellipse 101"/>
              <p:cNvSpPr/>
              <p:nvPr/>
            </p:nvSpPr>
            <p:spPr>
              <a:xfrm>
                <a:off x="10629900" y="3533775"/>
                <a:ext cx="171450" cy="171450"/>
              </a:xfrm>
              <a:prstGeom prst="ellipse">
                <a:avLst/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</p:grpSp>
        <p:sp>
          <p:nvSpPr>
            <p:cNvPr id="103" name="TextBox 103"/>
            <p:cNvSpPr txBox="1"/>
            <p:nvPr/>
          </p:nvSpPr>
          <p:spPr>
            <a:xfrm>
              <a:off x="8205788" y="2120741"/>
              <a:ext cx="135668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ENCODER OUTPUT (K, V)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8205788" y="3816191"/>
              <a:ext cx="135668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DECODER POSITIONS (Q)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8185023" y="4148614"/>
              <a:ext cx="2719578" cy="9923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Queries come from the decoder;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keys and values from the encoder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output. Every output position can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read the whole input sentence.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8185023" y="5405914"/>
              <a:ext cx="2638298" cy="4970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This replaces the classic seq2seq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encoder–decoder attention.</a:t>
              </a:r>
            </a:p>
          </p:txBody>
        </p:sp>
      </p:grpSp>
      <p:grpSp>
        <p:nvGrpSpPr>
          <p:cNvPr id="112" name="Group 112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108" name="Rectangle 108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08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60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6950455" cy="801243"/>
            <a:chOff x="747522" y="439102"/>
            <a:chExt cx="6950455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2472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03 · ATTENTION, STEP 4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695045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Injecting order without recurrence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pe-sin-formula"/>
              <p:cNvSpPr txBox="1">
                <a:spLocks noGrp="1"/>
              </p:cNvSpPr>
              <p:nvPr/>
            </p:nvSpPr>
            <p:spPr>
              <a:xfrm>
                <a:off x="762000" y="1428750"/>
                <a:ext cx="5524500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0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sSub>
                        <m:e>
                          <m:r>
                            <a:rPr lang="en-US" sz="15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pos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a:rPr lang="en-US" sz="150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en-US" sz="15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pos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1000</m:t>
                              </m:r>
                              <m:sSup>
                                <m:e>
                                  <m:r>
                                    <a:rPr lang="en-US" sz="150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sup>
                                  <m:r>
                                    <a:rPr lang="en-US" sz="150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2i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50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sSub>
                                    <m:e>
                                      <m:r>
                                        <a:rPr lang="en-US" sz="1500" dirty="0">
                                          <a:solidFill>
                                            <a:srgbClr val="E8F1FA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500" dirty="0">
                                          <a:solidFill>
                                            <a:srgbClr val="E8F1FA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model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pe-cos-formula"/>
              <p:cNvSpPr txBox="1">
                <a:spLocks noGrp="1"/>
              </p:cNvSpPr>
              <p:nvPr/>
            </p:nvSpPr>
            <p:spPr>
              <a:xfrm>
                <a:off x="762000" y="2057400"/>
                <a:ext cx="5524500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0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sSub>
                        <m:e>
                          <m:r>
                            <a:rPr lang="en-US" sz="15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pos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2i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a:rPr lang="en-US" sz="150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en-US" sz="150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pos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en-US" sz="150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1000</m:t>
                              </m:r>
                              <m:sSup>
                                <m:e>
                                  <m:r>
                                    <a:rPr lang="en-US" sz="150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sup>
                                  <m:r>
                                    <a:rPr lang="en-US" sz="150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2i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50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sSub>
                                    <m:e>
                                      <m:r>
                                        <a:rPr lang="en-US" sz="1500" dirty="0">
                                          <a:solidFill>
                                            <a:srgbClr val="E8F1FA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500" dirty="0">
                                          <a:solidFill>
                                            <a:srgbClr val="E8F1FA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model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</a:p>
            </p:txBody>
          </p:sp>
        </mc:Choice>
      </mc:AlternateContent>
      <p:grpSp>
        <p:nvGrpSpPr>
          <p:cNvPr id="20" name="Group 20"/>
          <p:cNvGrpSpPr/>
          <p:nvPr/>
        </p:nvGrpSpPr>
        <p:grpSpPr>
          <a:xfrm>
            <a:off x="762000" y="2952750"/>
            <a:ext cx="5587994" cy="2657189"/>
            <a:chOff x="762000" y="2952750"/>
            <a:chExt cx="5587994" cy="2657189"/>
          </a:xfrm>
        </p:grpSpPr>
        <p:sp>
          <p:nvSpPr>
            <p:cNvPr id="8" name="Line 8"/>
            <p:cNvSpPr/>
            <p:nvPr/>
          </p:nvSpPr>
          <p:spPr>
            <a:xfrm>
              <a:off x="762000" y="2952750"/>
              <a:ext cx="9525" cy="1524000"/>
            </a:xfrm>
            <a:custGeom>
              <a:avLst/>
              <a:gdLst/>
              <a:ahLst/>
              <a:cxnLst/>
              <a:rect l="l" t="t" r="r" b="b"/>
              <a:pathLst>
                <a:path w="9525" h="1524000">
                  <a:moveTo>
                    <a:pt x="0" y="0"/>
                  </a:moveTo>
                  <a:lnTo>
                    <a:pt x="0" y="1524000"/>
                  </a:lnTo>
                </a:path>
              </a:pathLst>
            </a:custGeom>
            <a:noFill/>
            <a:ln w="28575">
              <a:solidFill>
                <a:srgbClr val="F5A623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3019425"/>
              <a:ext cx="39024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Why sinusoids, not learned positions?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3742" y="3340418"/>
              <a:ext cx="4034218" cy="10641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35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Learned positional embeddings performed nearly</a:t>
              </a:r>
              <a:br/>
              <a:r>
                <a:rPr lang="en-US" sz="135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identically in the ablation (Table 3).</a:t>
              </a:r>
              <a:br/>
              <a:r>
                <a:rPr lang="en-US" sz="135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The sinusoidal version was kept because it may</a:t>
              </a:r>
              <a:br/>
              <a:r>
                <a:rPr lang="en-US" sz="135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extrapolate to lengths never seen in training.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985647" y="4857750"/>
              <a:ext cx="5364347" cy="752189"/>
              <a:chOff x="985647" y="4857750"/>
              <a:chExt cx="5364347" cy="752189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990600" y="4857750"/>
                <a:ext cx="1619250" cy="381000"/>
              </a:xfrm>
              <a:prstGeom prst="roundRect">
                <a:avLst>
                  <a:gd name="adj" fmla="val 7500"/>
                </a:avLst>
              </a:prstGeom>
              <a:solidFill>
                <a:srgbClr val="10284A"/>
              </a:solidFill>
              <a:ln w="14288">
                <a:solidFill>
                  <a:srgbClr val="9CC3E6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246289" y="4982528"/>
                <a:ext cx="11078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Input Embedding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807084" y="4927282"/>
                <a:ext cx="13893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650" dirty="0">
                    <a:solidFill>
                      <a:srgbClr val="9CC3E6"/>
                    </a:solidFill>
                    <a:latin typeface="Segoe UI"/>
                    <a:ea typeface="Segoe UI"/>
                    <a:cs typeface="Segoe UI"/>
                  </a:rPr>
                  <a:t>+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3143250" y="4857750"/>
                <a:ext cx="1619250" cy="381000"/>
              </a:xfrm>
              <a:prstGeom prst="roundRect">
                <a:avLst>
                  <a:gd name="adj" fmla="val 7500"/>
                </a:avLst>
              </a:prstGeom>
              <a:solidFill>
                <a:srgbClr val="10284A"/>
              </a:solidFill>
              <a:ln w="14288">
                <a:solidFill>
                  <a:srgbClr val="F5A623"/>
                </a:solidFill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3293237" y="4982528"/>
                <a:ext cx="131927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Positional Encoding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978784" y="4927282"/>
                <a:ext cx="13893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650" dirty="0">
                    <a:solidFill>
                      <a:srgbClr val="9CC3E6"/>
                    </a:solidFill>
                    <a:latin typeface="Segoe UI"/>
                    <a:ea typeface="Segoe UI"/>
                    <a:cs typeface="Segoe UI"/>
                  </a:rPr>
                  <a:t>=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5328666" y="4982528"/>
                <a:ext cx="102132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d_model = 512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85647" y="5419249"/>
                <a:ext cx="414583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dirty="0">
                    <a:solidFill>
                      <a:srgbClr val="9CB4CC"/>
                    </a:solidFill>
                    <a:latin typeface="Consolas"/>
                    <a:ea typeface="Consolas"/>
                    <a:cs typeface="Consolas"/>
                  </a:rPr>
                  <a:t>added, not concatenated — same width, no extra parameters</a:t>
                </a:r>
              </a:p>
            </p:txBody>
          </p:sp>
        </p:grpSp>
      </p:grpSp>
      <p:grpSp>
        <p:nvGrpSpPr>
          <p:cNvPr id="35" name="Group 35"/>
          <p:cNvGrpSpPr/>
          <p:nvPr/>
        </p:nvGrpSpPr>
        <p:grpSpPr>
          <a:xfrm>
            <a:off x="6681597" y="1571149"/>
            <a:ext cx="4771606" cy="2622708"/>
            <a:chOff x="6681597" y="1571149"/>
            <a:chExt cx="4771606" cy="2622708"/>
          </a:xfrm>
        </p:grpSpPr>
        <p:sp>
          <p:nvSpPr>
            <p:cNvPr id="21" name="TextBox 21"/>
            <p:cNvSpPr txBox="1"/>
            <p:nvPr/>
          </p:nvSpPr>
          <p:spPr>
            <a:xfrm>
              <a:off x="6681597" y="1571149"/>
              <a:ext cx="25366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150" dirty="0">
                  <a:solidFill>
                    <a:srgbClr val="9CC3E6"/>
                  </a:solidFill>
                  <a:latin typeface="Consolas"/>
                  <a:ea typeface="Consolas"/>
                  <a:cs typeface="Consolas"/>
                </a:rPr>
                <a:t>ONE SINUSOID PER DIMENSION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6858000" y="2762250"/>
              <a:ext cx="4381500" cy="9525"/>
            </a:xfrm>
            <a:custGeom>
              <a:avLst/>
              <a:gdLst/>
              <a:ahLst/>
              <a:cxnLst/>
              <a:rect l="l" t="t" r="r" b="b"/>
              <a:pathLst>
                <a:path w="4381500" h="9525">
                  <a:moveTo>
                    <a:pt x="0" y="0"/>
                  </a:moveTo>
                  <a:lnTo>
                    <a:pt x="438150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6858000" y="2190750"/>
              <a:ext cx="9525" cy="1143000"/>
            </a:xfrm>
            <a:custGeom>
              <a:avLst/>
              <a:gdLst/>
              <a:ahLst/>
              <a:cxnLst/>
              <a:rect l="l" t="t" r="r" b="b"/>
              <a:pathLst>
                <a:path w="9525" h="1143000">
                  <a:moveTo>
                    <a:pt x="0" y="0"/>
                  </a:moveTo>
                  <a:lnTo>
                    <a:pt x="0" y="11430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858000" y="2286000"/>
              <a:ext cx="4381500" cy="952500"/>
              <a:chOff x="6858000" y="2286000"/>
              <a:chExt cx="4381500" cy="9525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6858000" y="2286000"/>
                <a:ext cx="4381500" cy="952500"/>
              </a:xfrm>
              <a:custGeom>
                <a:avLst/>
                <a:gdLst/>
                <a:ahLst/>
                <a:cxnLst/>
                <a:rect l="l" t="t" r="r" b="b"/>
                <a:pathLst>
                  <a:path w="4381500" h="952500">
                    <a:moveTo>
                      <a:pt x="0" y="476250"/>
                    </a:moveTo>
                    <a:lnTo>
                      <a:pt x="43815" y="247650"/>
                    </a:lnTo>
                    <a:lnTo>
                      <a:pt x="87630" y="75248"/>
                    </a:lnTo>
                    <a:lnTo>
                      <a:pt x="131445" y="952"/>
                    </a:lnTo>
                    <a:lnTo>
                      <a:pt x="175260" y="42862"/>
                    </a:lnTo>
                    <a:lnTo>
                      <a:pt x="219075" y="191453"/>
                    </a:lnTo>
                    <a:lnTo>
                      <a:pt x="262890" y="408622"/>
                    </a:lnTo>
                    <a:lnTo>
                      <a:pt x="306705" y="642938"/>
                    </a:lnTo>
                    <a:lnTo>
                      <a:pt x="350520" y="836295"/>
                    </a:lnTo>
                    <a:lnTo>
                      <a:pt x="394335" y="942022"/>
                    </a:lnTo>
                    <a:lnTo>
                      <a:pt x="438150" y="932497"/>
                    </a:lnTo>
                    <a:lnTo>
                      <a:pt x="481965" y="812483"/>
                    </a:lnTo>
                    <a:lnTo>
                      <a:pt x="525780" y="609600"/>
                    </a:lnTo>
                    <a:lnTo>
                      <a:pt x="569595" y="373380"/>
                    </a:lnTo>
                    <a:lnTo>
                      <a:pt x="613410" y="163830"/>
                    </a:lnTo>
                    <a:lnTo>
                      <a:pt x="657225" y="29527"/>
                    </a:lnTo>
                    <a:lnTo>
                      <a:pt x="701040" y="4762"/>
                    </a:lnTo>
                    <a:lnTo>
                      <a:pt x="744855" y="96202"/>
                    </a:lnTo>
                    <a:lnTo>
                      <a:pt x="788670" y="280035"/>
                    </a:lnTo>
                    <a:lnTo>
                      <a:pt x="832485" y="512445"/>
                    </a:lnTo>
                    <a:lnTo>
                      <a:pt x="876300" y="735330"/>
                    </a:lnTo>
                    <a:lnTo>
                      <a:pt x="920115" y="895350"/>
                    </a:lnTo>
                    <a:lnTo>
                      <a:pt x="963930" y="952500"/>
                    </a:lnTo>
                    <a:lnTo>
                      <a:pt x="1007745" y="893445"/>
                    </a:lnTo>
                    <a:lnTo>
                      <a:pt x="1051560" y="731520"/>
                    </a:lnTo>
                    <a:lnTo>
                      <a:pt x="1095375" y="507683"/>
                    </a:lnTo>
                    <a:lnTo>
                      <a:pt x="1139190" y="276225"/>
                    </a:lnTo>
                    <a:lnTo>
                      <a:pt x="1183005" y="93345"/>
                    </a:lnTo>
                    <a:lnTo>
                      <a:pt x="1226820" y="4762"/>
                    </a:lnTo>
                    <a:lnTo>
                      <a:pt x="1270635" y="31433"/>
                    </a:lnTo>
                    <a:lnTo>
                      <a:pt x="1314450" y="166688"/>
                    </a:lnTo>
                    <a:lnTo>
                      <a:pt x="1358265" y="378142"/>
                    </a:lnTo>
                    <a:lnTo>
                      <a:pt x="1402080" y="613410"/>
                    </a:lnTo>
                    <a:lnTo>
                      <a:pt x="1445895" y="815340"/>
                    </a:lnTo>
                    <a:lnTo>
                      <a:pt x="1489710" y="934403"/>
                    </a:lnTo>
                    <a:lnTo>
                      <a:pt x="1533525" y="941070"/>
                    </a:lnTo>
                    <a:lnTo>
                      <a:pt x="1577340" y="833438"/>
                    </a:lnTo>
                    <a:lnTo>
                      <a:pt x="1621155" y="639128"/>
                    </a:lnTo>
                    <a:lnTo>
                      <a:pt x="1664970" y="404812"/>
                    </a:lnTo>
                    <a:lnTo>
                      <a:pt x="1708785" y="187642"/>
                    </a:lnTo>
                    <a:lnTo>
                      <a:pt x="1752600" y="41910"/>
                    </a:lnTo>
                    <a:lnTo>
                      <a:pt x="1796415" y="1905"/>
                    </a:lnTo>
                    <a:lnTo>
                      <a:pt x="1840230" y="78105"/>
                    </a:lnTo>
                    <a:lnTo>
                      <a:pt x="1884045" y="251460"/>
                    </a:lnTo>
                    <a:lnTo>
                      <a:pt x="1927860" y="480060"/>
                    </a:lnTo>
                    <a:lnTo>
                      <a:pt x="1971675" y="708660"/>
                    </a:lnTo>
                    <a:lnTo>
                      <a:pt x="2015490" y="879158"/>
                    </a:lnTo>
                    <a:lnTo>
                      <a:pt x="2059305" y="951547"/>
                    </a:lnTo>
                    <a:lnTo>
                      <a:pt x="2103120" y="907733"/>
                    </a:lnTo>
                    <a:lnTo>
                      <a:pt x="2146935" y="758190"/>
                    </a:lnTo>
                    <a:lnTo>
                      <a:pt x="2190750" y="539115"/>
                    </a:lnTo>
                    <a:lnTo>
                      <a:pt x="2234565" y="304800"/>
                    </a:lnTo>
                    <a:lnTo>
                      <a:pt x="2278380" y="113348"/>
                    </a:lnTo>
                    <a:lnTo>
                      <a:pt x="2322195" y="9525"/>
                    </a:lnTo>
                    <a:lnTo>
                      <a:pt x="2366010" y="20955"/>
                    </a:lnTo>
                    <a:lnTo>
                      <a:pt x="2409825" y="142875"/>
                    </a:lnTo>
                    <a:lnTo>
                      <a:pt x="2453640" y="347662"/>
                    </a:lnTo>
                    <a:lnTo>
                      <a:pt x="2497455" y="582930"/>
                    </a:lnTo>
                    <a:lnTo>
                      <a:pt x="2541270" y="792480"/>
                    </a:lnTo>
                    <a:lnTo>
                      <a:pt x="2585085" y="924878"/>
                    </a:lnTo>
                    <a:lnTo>
                      <a:pt x="2628900" y="946785"/>
                    </a:lnTo>
                    <a:lnTo>
                      <a:pt x="2672715" y="854392"/>
                    </a:lnTo>
                    <a:lnTo>
                      <a:pt x="2716530" y="668655"/>
                    </a:lnTo>
                    <a:lnTo>
                      <a:pt x="2760345" y="436245"/>
                    </a:lnTo>
                    <a:lnTo>
                      <a:pt x="2804160" y="213360"/>
                    </a:lnTo>
                    <a:lnTo>
                      <a:pt x="2847975" y="55245"/>
                    </a:lnTo>
                    <a:lnTo>
                      <a:pt x="2891790" y="0"/>
                    </a:lnTo>
                    <a:lnTo>
                      <a:pt x="2935605" y="60960"/>
                    </a:lnTo>
                    <a:lnTo>
                      <a:pt x="2979420" y="223838"/>
                    </a:lnTo>
                    <a:lnTo>
                      <a:pt x="3023235" y="448628"/>
                    </a:lnTo>
                    <a:lnTo>
                      <a:pt x="3067050" y="680085"/>
                    </a:lnTo>
                    <a:lnTo>
                      <a:pt x="3110865" y="862012"/>
                    </a:lnTo>
                    <a:lnTo>
                      <a:pt x="3154680" y="948690"/>
                    </a:lnTo>
                    <a:lnTo>
                      <a:pt x="3198495" y="920115"/>
                    </a:lnTo>
                    <a:lnTo>
                      <a:pt x="3242310" y="782955"/>
                    </a:lnTo>
                    <a:lnTo>
                      <a:pt x="3286125" y="570547"/>
                    </a:lnTo>
                    <a:lnTo>
                      <a:pt x="3329940" y="335280"/>
                    </a:lnTo>
                    <a:lnTo>
                      <a:pt x="3373755" y="134302"/>
                    </a:lnTo>
                    <a:lnTo>
                      <a:pt x="3417570" y="17145"/>
                    </a:lnTo>
                    <a:lnTo>
                      <a:pt x="3461385" y="12383"/>
                    </a:lnTo>
                    <a:lnTo>
                      <a:pt x="3505200" y="120967"/>
                    </a:lnTo>
                    <a:lnTo>
                      <a:pt x="3549015" y="317183"/>
                    </a:lnTo>
                    <a:lnTo>
                      <a:pt x="3592830" y="551497"/>
                    </a:lnTo>
                    <a:lnTo>
                      <a:pt x="3636645" y="767715"/>
                    </a:lnTo>
                    <a:lnTo>
                      <a:pt x="3680460" y="912495"/>
                    </a:lnTo>
                    <a:lnTo>
                      <a:pt x="3724275" y="950595"/>
                    </a:lnTo>
                    <a:lnTo>
                      <a:pt x="3768090" y="872490"/>
                    </a:lnTo>
                    <a:lnTo>
                      <a:pt x="3811905" y="697230"/>
                    </a:lnTo>
                    <a:lnTo>
                      <a:pt x="3855720" y="467678"/>
                    </a:lnTo>
                    <a:lnTo>
                      <a:pt x="3899535" y="240983"/>
                    </a:lnTo>
                    <a:lnTo>
                      <a:pt x="3943350" y="71438"/>
                    </a:lnTo>
                    <a:lnTo>
                      <a:pt x="3987165" y="952"/>
                    </a:lnTo>
                    <a:lnTo>
                      <a:pt x="4030980" y="46673"/>
                    </a:lnTo>
                    <a:lnTo>
                      <a:pt x="4074795" y="198120"/>
                    </a:lnTo>
                    <a:lnTo>
                      <a:pt x="4118610" y="417195"/>
                    </a:lnTo>
                    <a:lnTo>
                      <a:pt x="4162425" y="651510"/>
                    </a:lnTo>
                    <a:lnTo>
                      <a:pt x="4206240" y="842010"/>
                    </a:lnTo>
                    <a:lnTo>
                      <a:pt x="4250055" y="943928"/>
                    </a:lnTo>
                    <a:lnTo>
                      <a:pt x="4293870" y="930592"/>
                    </a:lnTo>
                    <a:lnTo>
                      <a:pt x="4337685" y="805815"/>
                    </a:lnTo>
                    <a:lnTo>
                      <a:pt x="4381500" y="601028"/>
                    </a:lnTo>
                  </a:path>
                </a:pathLst>
              </a:custGeom>
              <a:noFill/>
              <a:ln w="14288">
                <a:solidFill>
                  <a:srgbClr val="3C5A80"/>
                </a:solidFill>
                <a:round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858000" y="2286000"/>
                <a:ext cx="4381500" cy="952500"/>
              </a:xfrm>
              <a:custGeom>
                <a:avLst/>
                <a:gdLst/>
                <a:ahLst/>
                <a:cxnLst/>
                <a:rect l="l" t="t" r="r" b="b"/>
                <a:pathLst>
                  <a:path w="4381500" h="952500">
                    <a:moveTo>
                      <a:pt x="0" y="476250"/>
                    </a:moveTo>
                    <a:lnTo>
                      <a:pt x="43815" y="401003"/>
                    </a:lnTo>
                    <a:lnTo>
                      <a:pt x="87630" y="328612"/>
                    </a:lnTo>
                    <a:lnTo>
                      <a:pt x="131445" y="259080"/>
                    </a:lnTo>
                    <a:lnTo>
                      <a:pt x="175260" y="194310"/>
                    </a:lnTo>
                    <a:lnTo>
                      <a:pt x="219075" y="138112"/>
                    </a:lnTo>
                    <a:lnTo>
                      <a:pt x="262890" y="89535"/>
                    </a:lnTo>
                    <a:lnTo>
                      <a:pt x="306705" y="50483"/>
                    </a:lnTo>
                    <a:lnTo>
                      <a:pt x="350520" y="21908"/>
                    </a:lnTo>
                    <a:lnTo>
                      <a:pt x="394335" y="4762"/>
                    </a:lnTo>
                    <a:lnTo>
                      <a:pt x="438150" y="0"/>
                    </a:lnTo>
                    <a:lnTo>
                      <a:pt x="481965" y="6667"/>
                    </a:lnTo>
                    <a:lnTo>
                      <a:pt x="525780" y="24765"/>
                    </a:lnTo>
                    <a:lnTo>
                      <a:pt x="569595" y="55245"/>
                    </a:lnTo>
                    <a:lnTo>
                      <a:pt x="613410" y="95250"/>
                    </a:lnTo>
                    <a:lnTo>
                      <a:pt x="657225" y="144780"/>
                    </a:lnTo>
                    <a:lnTo>
                      <a:pt x="701040" y="202883"/>
                    </a:lnTo>
                    <a:lnTo>
                      <a:pt x="744855" y="267653"/>
                    </a:lnTo>
                    <a:lnTo>
                      <a:pt x="788670" y="337185"/>
                    </a:lnTo>
                    <a:lnTo>
                      <a:pt x="832485" y="411480"/>
                    </a:lnTo>
                    <a:lnTo>
                      <a:pt x="876300" y="485775"/>
                    </a:lnTo>
                    <a:lnTo>
                      <a:pt x="920115" y="561022"/>
                    </a:lnTo>
                    <a:lnTo>
                      <a:pt x="963930" y="633412"/>
                    </a:lnTo>
                    <a:lnTo>
                      <a:pt x="1007745" y="702945"/>
                    </a:lnTo>
                    <a:lnTo>
                      <a:pt x="1051560" y="765810"/>
                    </a:lnTo>
                    <a:lnTo>
                      <a:pt x="1095375" y="822008"/>
                    </a:lnTo>
                    <a:lnTo>
                      <a:pt x="1139190" y="868680"/>
                    </a:lnTo>
                    <a:lnTo>
                      <a:pt x="1183005" y="906780"/>
                    </a:lnTo>
                    <a:lnTo>
                      <a:pt x="1226820" y="933450"/>
                    </a:lnTo>
                    <a:lnTo>
                      <a:pt x="1270635" y="948690"/>
                    </a:lnTo>
                    <a:lnTo>
                      <a:pt x="1314450" y="952500"/>
                    </a:lnTo>
                    <a:lnTo>
                      <a:pt x="1358265" y="943928"/>
                    </a:lnTo>
                    <a:lnTo>
                      <a:pt x="1402080" y="923925"/>
                    </a:lnTo>
                    <a:lnTo>
                      <a:pt x="1445895" y="892492"/>
                    </a:lnTo>
                    <a:lnTo>
                      <a:pt x="1489710" y="851535"/>
                    </a:lnTo>
                    <a:lnTo>
                      <a:pt x="1533525" y="801053"/>
                    </a:lnTo>
                    <a:lnTo>
                      <a:pt x="1577340" y="741997"/>
                    </a:lnTo>
                    <a:lnTo>
                      <a:pt x="1621155" y="676275"/>
                    </a:lnTo>
                    <a:lnTo>
                      <a:pt x="1664970" y="605790"/>
                    </a:lnTo>
                    <a:lnTo>
                      <a:pt x="1708785" y="531495"/>
                    </a:lnTo>
                    <a:lnTo>
                      <a:pt x="1752600" y="456247"/>
                    </a:lnTo>
                    <a:lnTo>
                      <a:pt x="1796415" y="381953"/>
                    </a:lnTo>
                    <a:lnTo>
                      <a:pt x="1840230" y="309562"/>
                    </a:lnTo>
                    <a:lnTo>
                      <a:pt x="1884045" y="240983"/>
                    </a:lnTo>
                    <a:lnTo>
                      <a:pt x="1927860" y="179070"/>
                    </a:lnTo>
                    <a:lnTo>
                      <a:pt x="1971675" y="123825"/>
                    </a:lnTo>
                    <a:lnTo>
                      <a:pt x="2015490" y="78105"/>
                    </a:lnTo>
                    <a:lnTo>
                      <a:pt x="2059305" y="41910"/>
                    </a:lnTo>
                    <a:lnTo>
                      <a:pt x="2103120" y="16192"/>
                    </a:lnTo>
                    <a:lnTo>
                      <a:pt x="2146935" y="2858"/>
                    </a:lnTo>
                    <a:lnTo>
                      <a:pt x="2190750" y="952"/>
                    </a:lnTo>
                    <a:lnTo>
                      <a:pt x="2234565" y="10477"/>
                    </a:lnTo>
                    <a:lnTo>
                      <a:pt x="2278380" y="31433"/>
                    </a:lnTo>
                    <a:lnTo>
                      <a:pt x="2322195" y="64770"/>
                    </a:lnTo>
                    <a:lnTo>
                      <a:pt x="2366010" y="107633"/>
                    </a:lnTo>
                    <a:lnTo>
                      <a:pt x="2409825" y="159067"/>
                    </a:lnTo>
                    <a:lnTo>
                      <a:pt x="2453640" y="219075"/>
                    </a:lnTo>
                    <a:lnTo>
                      <a:pt x="2497455" y="285750"/>
                    </a:lnTo>
                    <a:lnTo>
                      <a:pt x="2541270" y="356235"/>
                    </a:lnTo>
                    <a:lnTo>
                      <a:pt x="2585085" y="430530"/>
                    </a:lnTo>
                    <a:lnTo>
                      <a:pt x="2628900" y="505778"/>
                    </a:lnTo>
                    <a:lnTo>
                      <a:pt x="2672715" y="580072"/>
                    </a:lnTo>
                    <a:lnTo>
                      <a:pt x="2716530" y="652462"/>
                    </a:lnTo>
                    <a:lnTo>
                      <a:pt x="2760345" y="720090"/>
                    </a:lnTo>
                    <a:lnTo>
                      <a:pt x="2804160" y="781050"/>
                    </a:lnTo>
                    <a:lnTo>
                      <a:pt x="2847975" y="835342"/>
                    </a:lnTo>
                    <a:lnTo>
                      <a:pt x="2891790" y="880110"/>
                    </a:lnTo>
                    <a:lnTo>
                      <a:pt x="2935605" y="914400"/>
                    </a:lnTo>
                    <a:lnTo>
                      <a:pt x="2979420" y="938212"/>
                    </a:lnTo>
                    <a:lnTo>
                      <a:pt x="3023235" y="950595"/>
                    </a:lnTo>
                    <a:lnTo>
                      <a:pt x="3067050" y="951547"/>
                    </a:lnTo>
                    <a:lnTo>
                      <a:pt x="3110865" y="940117"/>
                    </a:lnTo>
                    <a:lnTo>
                      <a:pt x="3154680" y="917258"/>
                    </a:lnTo>
                    <a:lnTo>
                      <a:pt x="3198495" y="882967"/>
                    </a:lnTo>
                    <a:lnTo>
                      <a:pt x="3242310" y="839153"/>
                    </a:lnTo>
                    <a:lnTo>
                      <a:pt x="3286125" y="785812"/>
                    </a:lnTo>
                    <a:lnTo>
                      <a:pt x="3329940" y="724853"/>
                    </a:lnTo>
                    <a:lnTo>
                      <a:pt x="3373755" y="658178"/>
                    </a:lnTo>
                    <a:lnTo>
                      <a:pt x="3417570" y="586740"/>
                    </a:lnTo>
                    <a:lnTo>
                      <a:pt x="3461385" y="512445"/>
                    </a:lnTo>
                    <a:lnTo>
                      <a:pt x="3505200" y="437197"/>
                    </a:lnTo>
                    <a:lnTo>
                      <a:pt x="3549015" y="362903"/>
                    </a:lnTo>
                    <a:lnTo>
                      <a:pt x="3592830" y="291465"/>
                    </a:lnTo>
                    <a:lnTo>
                      <a:pt x="3636645" y="224790"/>
                    </a:lnTo>
                    <a:lnTo>
                      <a:pt x="3680460" y="163830"/>
                    </a:lnTo>
                    <a:lnTo>
                      <a:pt x="3724275" y="111442"/>
                    </a:lnTo>
                    <a:lnTo>
                      <a:pt x="3768090" y="67627"/>
                    </a:lnTo>
                    <a:lnTo>
                      <a:pt x="3811905" y="34290"/>
                    </a:lnTo>
                    <a:lnTo>
                      <a:pt x="3855720" y="11430"/>
                    </a:lnTo>
                    <a:lnTo>
                      <a:pt x="3899535" y="952"/>
                    </a:lnTo>
                    <a:lnTo>
                      <a:pt x="3943350" y="1905"/>
                    </a:lnTo>
                    <a:lnTo>
                      <a:pt x="3987165" y="15240"/>
                    </a:lnTo>
                    <a:lnTo>
                      <a:pt x="4030980" y="39052"/>
                    </a:lnTo>
                    <a:lnTo>
                      <a:pt x="4074795" y="74295"/>
                    </a:lnTo>
                    <a:lnTo>
                      <a:pt x="4118610" y="120015"/>
                    </a:lnTo>
                    <a:lnTo>
                      <a:pt x="4162425" y="174308"/>
                    </a:lnTo>
                    <a:lnTo>
                      <a:pt x="4206240" y="236220"/>
                    </a:lnTo>
                    <a:lnTo>
                      <a:pt x="4250055" y="303847"/>
                    </a:lnTo>
                    <a:lnTo>
                      <a:pt x="4293870" y="375285"/>
                    </a:lnTo>
                    <a:lnTo>
                      <a:pt x="4337685" y="450533"/>
                    </a:lnTo>
                    <a:lnTo>
                      <a:pt x="4381500" y="525780"/>
                    </a:lnTo>
                  </a:path>
                </a:pathLst>
              </a:custGeom>
              <a:noFill/>
              <a:ln w="14288">
                <a:solidFill>
                  <a:srgbClr val="9CC3E6"/>
                </a:solidFill>
                <a:round/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858000" y="2286000"/>
                <a:ext cx="4381500" cy="952500"/>
              </a:xfrm>
              <a:custGeom>
                <a:avLst/>
                <a:gdLst/>
                <a:ahLst/>
                <a:cxnLst/>
                <a:rect l="l" t="t" r="r" b="b"/>
                <a:pathLst>
                  <a:path w="4381500" h="952500">
                    <a:moveTo>
                      <a:pt x="0" y="476250"/>
                    </a:moveTo>
                    <a:lnTo>
                      <a:pt x="43815" y="452438"/>
                    </a:lnTo>
                    <a:lnTo>
                      <a:pt x="87630" y="428625"/>
                    </a:lnTo>
                    <a:lnTo>
                      <a:pt x="131445" y="404812"/>
                    </a:lnTo>
                    <a:lnTo>
                      <a:pt x="175260" y="381953"/>
                    </a:lnTo>
                    <a:lnTo>
                      <a:pt x="219075" y="358140"/>
                    </a:lnTo>
                    <a:lnTo>
                      <a:pt x="262890" y="335280"/>
                    </a:lnTo>
                    <a:lnTo>
                      <a:pt x="306705" y="313372"/>
                    </a:lnTo>
                    <a:lnTo>
                      <a:pt x="350520" y="290512"/>
                    </a:lnTo>
                    <a:lnTo>
                      <a:pt x="394335" y="269558"/>
                    </a:lnTo>
                    <a:lnTo>
                      <a:pt x="438150" y="247650"/>
                    </a:lnTo>
                    <a:lnTo>
                      <a:pt x="481965" y="227647"/>
                    </a:lnTo>
                    <a:lnTo>
                      <a:pt x="525780" y="207645"/>
                    </a:lnTo>
                    <a:lnTo>
                      <a:pt x="569595" y="187642"/>
                    </a:lnTo>
                    <a:lnTo>
                      <a:pt x="613410" y="169545"/>
                    </a:lnTo>
                    <a:lnTo>
                      <a:pt x="657225" y="151448"/>
                    </a:lnTo>
                    <a:lnTo>
                      <a:pt x="701040" y="134302"/>
                    </a:lnTo>
                    <a:lnTo>
                      <a:pt x="744855" y="118110"/>
                    </a:lnTo>
                    <a:lnTo>
                      <a:pt x="788670" y="102870"/>
                    </a:lnTo>
                    <a:lnTo>
                      <a:pt x="832485" y="88583"/>
                    </a:lnTo>
                    <a:lnTo>
                      <a:pt x="876300" y="75248"/>
                    </a:lnTo>
                    <a:lnTo>
                      <a:pt x="920115" y="62865"/>
                    </a:lnTo>
                    <a:lnTo>
                      <a:pt x="963930" y="51435"/>
                    </a:lnTo>
                    <a:lnTo>
                      <a:pt x="1007745" y="41910"/>
                    </a:lnTo>
                    <a:lnTo>
                      <a:pt x="1051560" y="32385"/>
                    </a:lnTo>
                    <a:lnTo>
                      <a:pt x="1095375" y="24765"/>
                    </a:lnTo>
                    <a:lnTo>
                      <a:pt x="1139190" y="17145"/>
                    </a:lnTo>
                    <a:lnTo>
                      <a:pt x="1183005" y="11430"/>
                    </a:lnTo>
                    <a:lnTo>
                      <a:pt x="1226820" y="6667"/>
                    </a:lnTo>
                    <a:lnTo>
                      <a:pt x="1270635" y="3810"/>
                    </a:lnTo>
                    <a:lnTo>
                      <a:pt x="1314450" y="952"/>
                    </a:lnTo>
                    <a:lnTo>
                      <a:pt x="1358265" y="0"/>
                    </a:lnTo>
                    <a:lnTo>
                      <a:pt x="1402080" y="0"/>
                    </a:lnTo>
                    <a:lnTo>
                      <a:pt x="1445895" y="1905"/>
                    </a:lnTo>
                    <a:lnTo>
                      <a:pt x="1489710" y="3810"/>
                    </a:lnTo>
                    <a:lnTo>
                      <a:pt x="1533525" y="7620"/>
                    </a:lnTo>
                    <a:lnTo>
                      <a:pt x="1577340" y="12383"/>
                    </a:lnTo>
                    <a:lnTo>
                      <a:pt x="1621155" y="18098"/>
                    </a:lnTo>
                    <a:lnTo>
                      <a:pt x="1664970" y="25717"/>
                    </a:lnTo>
                    <a:lnTo>
                      <a:pt x="1708785" y="34290"/>
                    </a:lnTo>
                    <a:lnTo>
                      <a:pt x="1752600" y="42862"/>
                    </a:lnTo>
                    <a:lnTo>
                      <a:pt x="1796415" y="53340"/>
                    </a:lnTo>
                    <a:lnTo>
                      <a:pt x="1840230" y="64770"/>
                    </a:lnTo>
                    <a:lnTo>
                      <a:pt x="1884045" y="78105"/>
                    </a:lnTo>
                    <a:lnTo>
                      <a:pt x="1927860" y="91440"/>
                    </a:lnTo>
                    <a:lnTo>
                      <a:pt x="1971675" y="105727"/>
                    </a:lnTo>
                    <a:lnTo>
                      <a:pt x="2015490" y="120967"/>
                    </a:lnTo>
                    <a:lnTo>
                      <a:pt x="2059305" y="137160"/>
                    </a:lnTo>
                    <a:lnTo>
                      <a:pt x="2103120" y="154305"/>
                    </a:lnTo>
                    <a:lnTo>
                      <a:pt x="2146935" y="172403"/>
                    </a:lnTo>
                    <a:lnTo>
                      <a:pt x="2190750" y="191453"/>
                    </a:lnTo>
                    <a:lnTo>
                      <a:pt x="2234565" y="210503"/>
                    </a:lnTo>
                    <a:lnTo>
                      <a:pt x="2278380" y="230505"/>
                    </a:lnTo>
                    <a:lnTo>
                      <a:pt x="2322195" y="251460"/>
                    </a:lnTo>
                    <a:lnTo>
                      <a:pt x="2366010" y="272415"/>
                    </a:lnTo>
                    <a:lnTo>
                      <a:pt x="2409825" y="294322"/>
                    </a:lnTo>
                    <a:lnTo>
                      <a:pt x="2453640" y="317183"/>
                    </a:lnTo>
                    <a:lnTo>
                      <a:pt x="2497455" y="339090"/>
                    </a:lnTo>
                    <a:lnTo>
                      <a:pt x="2541270" y="361950"/>
                    </a:lnTo>
                    <a:lnTo>
                      <a:pt x="2585085" y="385762"/>
                    </a:lnTo>
                    <a:lnTo>
                      <a:pt x="2628900" y="408622"/>
                    </a:lnTo>
                    <a:lnTo>
                      <a:pt x="2672715" y="432435"/>
                    </a:lnTo>
                    <a:lnTo>
                      <a:pt x="2716530" y="456247"/>
                    </a:lnTo>
                    <a:lnTo>
                      <a:pt x="2760345" y="480060"/>
                    </a:lnTo>
                    <a:lnTo>
                      <a:pt x="2804160" y="503872"/>
                    </a:lnTo>
                    <a:lnTo>
                      <a:pt x="2847975" y="527685"/>
                    </a:lnTo>
                    <a:lnTo>
                      <a:pt x="2891790" y="551497"/>
                    </a:lnTo>
                    <a:lnTo>
                      <a:pt x="2935605" y="574358"/>
                    </a:lnTo>
                    <a:lnTo>
                      <a:pt x="2979420" y="598170"/>
                    </a:lnTo>
                    <a:lnTo>
                      <a:pt x="3023235" y="621030"/>
                    </a:lnTo>
                    <a:lnTo>
                      <a:pt x="3067050" y="642938"/>
                    </a:lnTo>
                    <a:lnTo>
                      <a:pt x="3110865" y="665797"/>
                    </a:lnTo>
                    <a:lnTo>
                      <a:pt x="3154680" y="686753"/>
                    </a:lnTo>
                    <a:lnTo>
                      <a:pt x="3198495" y="707708"/>
                    </a:lnTo>
                    <a:lnTo>
                      <a:pt x="3242310" y="728662"/>
                    </a:lnTo>
                    <a:lnTo>
                      <a:pt x="3286125" y="748665"/>
                    </a:lnTo>
                    <a:lnTo>
                      <a:pt x="3329940" y="767715"/>
                    </a:lnTo>
                    <a:lnTo>
                      <a:pt x="3373755" y="785812"/>
                    </a:lnTo>
                    <a:lnTo>
                      <a:pt x="3417570" y="803910"/>
                    </a:lnTo>
                    <a:lnTo>
                      <a:pt x="3461385" y="821055"/>
                    </a:lnTo>
                    <a:lnTo>
                      <a:pt x="3505200" y="836295"/>
                    </a:lnTo>
                    <a:lnTo>
                      <a:pt x="3549015" y="851535"/>
                    </a:lnTo>
                    <a:lnTo>
                      <a:pt x="3592830" y="865822"/>
                    </a:lnTo>
                    <a:lnTo>
                      <a:pt x="3636645" y="879158"/>
                    </a:lnTo>
                    <a:lnTo>
                      <a:pt x="3680460" y="891540"/>
                    </a:lnTo>
                    <a:lnTo>
                      <a:pt x="3724275" y="902017"/>
                    </a:lnTo>
                    <a:lnTo>
                      <a:pt x="3768090" y="912495"/>
                    </a:lnTo>
                    <a:lnTo>
                      <a:pt x="3811905" y="922020"/>
                    </a:lnTo>
                    <a:lnTo>
                      <a:pt x="3855720" y="929640"/>
                    </a:lnTo>
                    <a:lnTo>
                      <a:pt x="3899535" y="936308"/>
                    </a:lnTo>
                    <a:lnTo>
                      <a:pt x="3943350" y="942022"/>
                    </a:lnTo>
                    <a:lnTo>
                      <a:pt x="3987165" y="945833"/>
                    </a:lnTo>
                    <a:lnTo>
                      <a:pt x="4030980" y="949642"/>
                    </a:lnTo>
                    <a:lnTo>
                      <a:pt x="4074795" y="951547"/>
                    </a:lnTo>
                    <a:lnTo>
                      <a:pt x="4118610" y="952500"/>
                    </a:lnTo>
                    <a:lnTo>
                      <a:pt x="4162425" y="952500"/>
                    </a:lnTo>
                    <a:lnTo>
                      <a:pt x="4206240" y="950595"/>
                    </a:lnTo>
                    <a:lnTo>
                      <a:pt x="4250055" y="947738"/>
                    </a:lnTo>
                    <a:lnTo>
                      <a:pt x="4293870" y="943928"/>
                    </a:lnTo>
                    <a:lnTo>
                      <a:pt x="4337685" y="939165"/>
                    </a:lnTo>
                    <a:lnTo>
                      <a:pt x="4381500" y="932497"/>
                    </a:lnTo>
                  </a:path>
                </a:pathLst>
              </a:custGeom>
              <a:noFill/>
              <a:ln w="14288">
                <a:solidFill>
                  <a:srgbClr val="F5A623"/>
                </a:solidFill>
                <a:round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>
              <a:off x="6853238" y="3465195"/>
              <a:ext cx="4599965" cy="728662"/>
              <a:chOff x="6853238" y="3465195"/>
              <a:chExt cx="4599965" cy="728662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6853238" y="3465195"/>
                <a:ext cx="475983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9CB4CC"/>
                    </a:solidFill>
                    <a:latin typeface="Consolas"/>
                    <a:ea typeface="Consolas"/>
                    <a:cs typeface="Consolas"/>
                  </a:rPr>
                  <a:t>pos = 0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0701642" y="3465195"/>
                <a:ext cx="542620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rgbClr val="9CB4CC"/>
                    </a:solidFill>
                    <a:latin typeface="Consolas"/>
                    <a:ea typeface="Consolas"/>
                    <a:cs typeface="Consolas"/>
                  </a:rPr>
                  <a:t>pos = 50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853238" y="3750945"/>
                <a:ext cx="1208989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3C5A80"/>
                    </a:solidFill>
                    <a:latin typeface="Consolas"/>
                    <a:ea typeface="Consolas"/>
                    <a:cs typeface="Consolas"/>
                  </a:rPr>
                  <a:t>— dim 0 (2i/d = 0)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8567738" y="3750945"/>
                <a:ext cx="1542174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9CC3E6"/>
                    </a:solidFill>
                    <a:latin typeface="Consolas"/>
                    <a:ea typeface="Consolas"/>
                    <a:cs typeface="Consolas"/>
                  </a:rPr>
                  <a:t>— dim 64 (2i/d = 0.125)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0377488" y="3750945"/>
                <a:ext cx="1075715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— dim 128 (0.25)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853238" y="4017645"/>
                <a:ext cx="2341817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l-GR" sz="900" dirty="0">
                    <a:solidFill>
                      <a:srgbClr val="9CB4CC"/>
                    </a:solidFill>
                    <a:latin typeface="Consolas"/>
                    <a:ea typeface="Consolas"/>
                    <a:cs typeface="Consolas"/>
                  </a:rPr>
                  <a:t>wavelengths run from 2π to 10000·2π</a:t>
                </a:r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6667500" y="4533900"/>
            <a:ext cx="4071493" cy="1181100"/>
            <a:chOff x="6667500" y="4533900"/>
            <a:chExt cx="4071493" cy="1181100"/>
          </a:xfrm>
        </p:grpSpPr>
        <p:sp>
          <p:nvSpPr>
            <p:cNvPr id="36" name="Line 36"/>
            <p:cNvSpPr/>
            <p:nvPr/>
          </p:nvSpPr>
          <p:spPr>
            <a:xfrm>
              <a:off x="6667500" y="4533900"/>
              <a:ext cx="9525" cy="1181100"/>
            </a:xfrm>
            <a:custGeom>
              <a:avLst/>
              <a:gdLst/>
              <a:ahLst/>
              <a:cxnLst/>
              <a:rect l="l" t="t" r="r" b="b"/>
              <a:pathLst>
                <a:path w="9525" h="1181100">
                  <a:moveTo>
                    <a:pt x="0" y="0"/>
                  </a:moveTo>
                  <a:lnTo>
                    <a:pt x="0" y="1181100"/>
                  </a:lnTo>
                </a:path>
              </a:pathLst>
            </a:custGeom>
            <a:noFill/>
            <a:ln w="28575">
              <a:solidFill>
                <a:srgbClr val="F5A623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89623" y="4624864"/>
              <a:ext cx="3849370" cy="9923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Each dimension is a sinusoid with its own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wavelength, so a position gets a unique code.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For any fixed offset k, PE(pos+k) is a linear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function of PE(pos): relative offsets are easy.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39" name="Rectangle 39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40" name="Line 40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09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xmlns:p="http://schemas.openxmlformats.org/presentationml/2006/main" id="13" presetID="22" presetClass="entr" presetSubtype="2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1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7894983" cy="801243"/>
            <a:chOff x="747522" y="439102"/>
            <a:chExt cx="7894983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25763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03 · WHY SELF-ATTENTION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789498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Three costs, four layer types (Table 1)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62000" y="1524000"/>
            <a:ext cx="10677525" cy="2771775"/>
            <a:chOff x="762000" y="1524000"/>
            <a:chExt cx="10677525" cy="2771775"/>
          </a:xfrm>
        </p:grpSpPr>
        <p:sp>
          <p:nvSpPr>
            <p:cNvPr id="6" name="Rectangle 6"/>
            <p:cNvSpPr/>
            <p:nvPr/>
          </p:nvSpPr>
          <p:spPr>
            <a:xfrm>
              <a:off x="762000" y="1524000"/>
              <a:ext cx="10668000" cy="476250"/>
            </a:xfrm>
            <a:prstGeom prst="rect">
              <a:avLst/>
            </a:prstGeom>
            <a:solidFill>
              <a:srgbClr val="10284A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762000" y="2000250"/>
              <a:ext cx="10668000" cy="571500"/>
            </a:xfrm>
            <a:prstGeom prst="rect">
              <a:avLst/>
            </a:prstGeom>
            <a:solidFill>
              <a:srgbClr val="15325A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62000" y="1524000"/>
              <a:ext cx="10677525" cy="2771775"/>
              <a:chOff x="762000" y="1524000"/>
              <a:chExt cx="10677525" cy="2771775"/>
            </a:xfrm>
          </p:grpSpPr>
          <p:sp>
            <p:nvSpPr>
              <p:cNvPr id="8" name="Line 8"/>
              <p:cNvSpPr/>
              <p:nvPr/>
            </p:nvSpPr>
            <p:spPr>
              <a:xfrm>
                <a:off x="762000" y="1524000"/>
                <a:ext cx="10668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668000" h="9525">
                    <a:moveTo>
                      <a:pt x="0" y="0"/>
                    </a:moveTo>
                    <a:lnTo>
                      <a:pt x="10668000" y="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762000" y="4286250"/>
                <a:ext cx="10668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668000" h="9525">
                    <a:moveTo>
                      <a:pt x="0" y="0"/>
                    </a:moveTo>
                    <a:lnTo>
                      <a:pt x="10668000" y="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762000" y="1524000"/>
                <a:ext cx="9525" cy="2762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62250">
                    <a:moveTo>
                      <a:pt x="0" y="0"/>
                    </a:moveTo>
                    <a:lnTo>
                      <a:pt x="0" y="276225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1430000" y="1524000"/>
                <a:ext cx="9525" cy="2762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62250">
                    <a:moveTo>
                      <a:pt x="0" y="0"/>
                    </a:moveTo>
                    <a:lnTo>
                      <a:pt x="0" y="276225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762000" y="2000250"/>
                <a:ext cx="10668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668000" h="9525">
                    <a:moveTo>
                      <a:pt x="0" y="0"/>
                    </a:moveTo>
                    <a:lnTo>
                      <a:pt x="10668000" y="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762000" y="2571750"/>
                <a:ext cx="10668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668000" h="9525">
                    <a:moveTo>
                      <a:pt x="0" y="0"/>
                    </a:moveTo>
                    <a:lnTo>
                      <a:pt x="10668000" y="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762000" y="3143250"/>
                <a:ext cx="10668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668000" h="9525">
                    <a:moveTo>
                      <a:pt x="0" y="0"/>
                    </a:moveTo>
                    <a:lnTo>
                      <a:pt x="10668000" y="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15" name="Line 15"/>
              <p:cNvSpPr/>
              <p:nvPr/>
            </p:nvSpPr>
            <p:spPr>
              <a:xfrm>
                <a:off x="762000" y="3714750"/>
                <a:ext cx="10668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668000" h="9525">
                    <a:moveTo>
                      <a:pt x="0" y="0"/>
                    </a:moveTo>
                    <a:lnTo>
                      <a:pt x="10668000" y="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3619500" y="1524000"/>
                <a:ext cx="9525" cy="2762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62250">
                    <a:moveTo>
                      <a:pt x="0" y="0"/>
                    </a:moveTo>
                    <a:lnTo>
                      <a:pt x="0" y="276225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6286500" y="1524000"/>
                <a:ext cx="9525" cy="2762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62250">
                    <a:moveTo>
                      <a:pt x="0" y="0"/>
                    </a:moveTo>
                    <a:lnTo>
                      <a:pt x="0" y="276225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8763000" y="1524000"/>
                <a:ext cx="9525" cy="2762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62250">
                    <a:moveTo>
                      <a:pt x="0" y="0"/>
                    </a:moveTo>
                    <a:lnTo>
                      <a:pt x="0" y="276225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909066" y="1696402"/>
              <a:ext cx="9941055" cy="205359"/>
              <a:chOff x="909066" y="1696402"/>
              <a:chExt cx="9941055" cy="205359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909066" y="1696402"/>
                <a:ext cx="79476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9CC3E6"/>
                    </a:solidFill>
                    <a:latin typeface="Segoe UI"/>
                    <a:ea typeface="Segoe UI"/>
                    <a:cs typeface="Segoe UI"/>
                  </a:rPr>
                  <a:t>Layer type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4206962" y="1696402"/>
                <a:ext cx="149207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9CC3E6"/>
                    </a:solidFill>
                    <a:latin typeface="Segoe UI"/>
                    <a:ea typeface="Segoe UI"/>
                    <a:cs typeface="Segoe UI"/>
                  </a:rPr>
                  <a:t>Complexity per layer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734292" y="1696402"/>
                <a:ext cx="1580915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9CC3E6"/>
                    </a:solidFill>
                    <a:latin typeface="Segoe UI"/>
                    <a:ea typeface="Segoe UI"/>
                    <a:cs typeface="Segoe UI"/>
                  </a:rPr>
                  <a:t>Sequential operations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9342880" y="1696402"/>
                <a:ext cx="150724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9CC3E6"/>
                    </a:solidFill>
                    <a:latin typeface="Segoe UI"/>
                    <a:ea typeface="Segoe UI"/>
                    <a:cs typeface="Segoe UI"/>
                  </a:rPr>
                  <a:t>Maximum path length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907542" y="2197418"/>
              <a:ext cx="9672790" cy="1978533"/>
              <a:chOff x="907542" y="2197418"/>
              <a:chExt cx="9672790" cy="1978533"/>
            </a:xfrm>
          </p:grpSpPr>
          <p:sp>
            <p:nvSpPr>
              <p:cNvPr id="25" name="TextBox 25"/>
              <p:cNvSpPr txBox="1"/>
              <p:nvPr/>
            </p:nvSpPr>
            <p:spPr>
              <a:xfrm>
                <a:off x="907542" y="2197418"/>
                <a:ext cx="1399612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F5A623"/>
                    </a:solidFill>
                    <a:latin typeface="Segoe UI"/>
                    <a:ea typeface="Segoe UI"/>
                    <a:cs typeface="Segoe UI"/>
                  </a:rPr>
                  <a:t>Self-Attention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515631" y="2197418"/>
                <a:ext cx="874738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F5A623"/>
                    </a:solidFill>
                    <a:latin typeface="Segoe UI"/>
                    <a:ea typeface="Segoe UI"/>
                    <a:cs typeface="Segoe UI"/>
                  </a:rPr>
                  <a:t>O(n² · d)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7287463" y="2197418"/>
                <a:ext cx="47457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F5A623"/>
                    </a:solidFill>
                    <a:latin typeface="Segoe UI"/>
                    <a:ea typeface="Segoe UI"/>
                    <a:cs typeface="Segoe UI"/>
                  </a:rPr>
                  <a:t>O(1)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9847692" y="2197418"/>
                <a:ext cx="49761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b="1" dirty="0">
                    <a:solidFill>
                      <a:srgbClr val="F5A623"/>
                    </a:solidFill>
                    <a:latin typeface="Segoe UI"/>
                    <a:ea typeface="Segoe UI"/>
                    <a:cs typeface="Segoe UI"/>
                  </a:rPr>
                  <a:t>O(1)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907542" y="2768918"/>
                <a:ext cx="918972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Recurrent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15631" y="2768918"/>
                <a:ext cx="874738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O(n · d²)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293635" y="2768918"/>
                <a:ext cx="46222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O(n)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9865385" y="2768918"/>
                <a:ext cx="46222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O(n)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907542" y="3340418"/>
                <a:ext cx="1181897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Convolutional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360962" y="3340418"/>
                <a:ext cx="1184077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O(k · n · d²)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287463" y="3340418"/>
                <a:ext cx="47457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O(1)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612668" y="3340418"/>
                <a:ext cx="96766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O(log_k n)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07542" y="3911918"/>
                <a:ext cx="2543163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Self-Attention (restricted)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4411647" y="3911918"/>
                <a:ext cx="1082707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O(r · n · d)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87463" y="3911918"/>
                <a:ext cx="47457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O(1)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710052" y="3911918"/>
                <a:ext cx="772897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O(n / r)</a:t>
                </a:r>
              </a:p>
            </p:txBody>
          </p:sp>
        </p:grpSp>
      </p:grpSp>
      <p:grpSp>
        <p:nvGrpSpPr>
          <p:cNvPr id="44" name="Group 44"/>
          <p:cNvGrpSpPr/>
          <p:nvPr/>
        </p:nvGrpSpPr>
        <p:grpSpPr>
          <a:xfrm>
            <a:off x="757047" y="4485799"/>
            <a:ext cx="6830563" cy="190690"/>
            <a:chOff x="757047" y="4485799"/>
            <a:chExt cx="6830563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757047" y="4485799"/>
              <a:ext cx="68305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n = sequence length · d = representation dimension · k = kernel width · r = neighbourhood size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762000" y="4914900"/>
            <a:ext cx="7440422" cy="1134523"/>
            <a:chOff x="762000" y="4914900"/>
            <a:chExt cx="7440422" cy="1134523"/>
          </a:xfrm>
        </p:grpSpPr>
        <p:sp>
          <p:nvSpPr>
            <p:cNvPr id="45" name="Line 45"/>
            <p:cNvSpPr/>
            <p:nvPr/>
          </p:nvSpPr>
          <p:spPr>
            <a:xfrm>
              <a:off x="762000" y="4914900"/>
              <a:ext cx="9525" cy="1047750"/>
            </a:xfrm>
            <a:custGeom>
              <a:avLst/>
              <a:gdLst/>
              <a:ahLst/>
              <a:cxnLst/>
              <a:rect l="l" t="t" r="r" b="b"/>
              <a:pathLst>
                <a:path w="9525" h="1047750">
                  <a:moveTo>
                    <a:pt x="0" y="0"/>
                  </a:moveTo>
                  <a:lnTo>
                    <a:pt x="0" y="1047750"/>
                  </a:lnTo>
                </a:path>
              </a:pathLst>
            </a:custGeom>
            <a:noFill/>
            <a:ln w="28575">
              <a:solidFill>
                <a:srgbClr val="F5A623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82980" y="5000625"/>
              <a:ext cx="43688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Any two positions are one operation apart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83361" y="5275421"/>
              <a:ext cx="7219061" cy="7740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Per-layer cost O(n²·d) beats recurrence whenever n &lt; d — the usual case for</a:t>
              </a:r>
              <a:br/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word-piece or BPE sentences. For very long inputs the restricted variant keeps a</a:t>
              </a:r>
              <a:br/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window r; the path grows to O(n/r), still shorter than O(n).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49" name="Rectangle 49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50" name="Line 50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10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8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xmlns:p="http://schemas.openxmlformats.org/presentationml/2006/main" id="13" presetID="2" presetClass="entr" presetSubtype="1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8382709" cy="801243"/>
            <a:chOff x="747522" y="439102"/>
            <a:chExt cx="8382709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22658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04 · TRAINING RECIPE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838270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The spec sheet: data, hardware, schedule</a:t>
              </a:r>
            </a:p>
          </p:txBody>
        </p:sp>
      </p:grpSp>
      <p:sp>
        <p:nvSpPr>
          <p:cNvPr id="6" name="Freeform 6"/>
          <p:cNvSpPr/>
          <p:nvPr/>
        </p:nvSpPr>
        <p:spPr>
          <a:xfrm>
            <a:off x="762000" y="1333500"/>
            <a:ext cx="10668000" cy="4667250"/>
          </a:xfrm>
          <a:prstGeom prst="foldedCorner">
            <a:avLst/>
          </a:prstGeom>
          <a:solidFill>
            <a:srgbClr val="10284A"/>
          </a:solidFill>
          <a:ln w="14288">
            <a:solidFill>
              <a:srgbClr val="9CC3E6"/>
            </a:solidFill>
          </a:ln>
        </p:spPr>
      </p:sp>
      <p:grpSp>
        <p:nvGrpSpPr>
          <p:cNvPr id="41" name="Group 41"/>
          <p:cNvGrpSpPr/>
          <p:nvPr/>
        </p:nvGrpSpPr>
        <p:grpSpPr>
          <a:xfrm>
            <a:off x="1040892" y="1704499"/>
            <a:ext cx="4674108" cy="3911917"/>
            <a:chOff x="1040892" y="1704499"/>
            <a:chExt cx="4674108" cy="3911917"/>
          </a:xfrm>
        </p:grpSpPr>
        <p:grpSp>
          <p:nvGrpSpPr>
            <p:cNvPr id="9" name="Group 9"/>
            <p:cNvGrpSpPr/>
            <p:nvPr/>
          </p:nvGrpSpPr>
          <p:grpSpPr>
            <a:xfrm>
              <a:off x="1040892" y="1704499"/>
              <a:ext cx="4633134" cy="452152"/>
              <a:chOff x="1040892" y="1704499"/>
              <a:chExt cx="4633134" cy="452152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1042797" y="1704499"/>
                <a:ext cx="1164610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DATA · EN–DE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040892" y="1892618"/>
                <a:ext cx="463313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4.5 M sentence pairs · shared BPE vocabulary ≈ 37 k</a:t>
                </a:r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1040892" y="2314099"/>
              <a:ext cx="3983058" cy="452152"/>
              <a:chOff x="1040892" y="2314099"/>
              <a:chExt cx="3983058" cy="452152"/>
            </a:xfrm>
          </p:grpSpPr>
          <p:sp>
            <p:nvSpPr>
              <p:cNvPr id="10" name="TextBox 10"/>
              <p:cNvSpPr txBox="1"/>
              <p:nvPr/>
            </p:nvSpPr>
            <p:spPr>
              <a:xfrm>
                <a:off x="1042797" y="2314099"/>
                <a:ext cx="1164610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DATA · EN–FR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040892" y="2502218"/>
                <a:ext cx="3983058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36 M sentences · 32 k word-piece vocabulary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1040892" y="2923699"/>
              <a:ext cx="3957409" cy="452152"/>
              <a:chOff x="1040892" y="2923699"/>
              <a:chExt cx="3957409" cy="452152"/>
            </a:xfrm>
          </p:grpSpPr>
          <p:sp>
            <p:nvSpPr>
              <p:cNvPr id="13" name="TextBox 13"/>
              <p:cNvSpPr txBox="1"/>
              <p:nvPr/>
            </p:nvSpPr>
            <p:spPr>
              <a:xfrm>
                <a:off x="1042797" y="2923699"/>
                <a:ext cx="772597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BATCHING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040892" y="3111818"/>
                <a:ext cx="395740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≈ 25 k source + 25 k target tokens per batch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1040892" y="3533299"/>
              <a:ext cx="4543139" cy="452152"/>
              <a:chOff x="1040892" y="3533299"/>
              <a:chExt cx="4543139" cy="452152"/>
            </a:xfrm>
          </p:grpSpPr>
          <p:grpSp>
            <p:nvGrpSpPr>
              <p:cNvPr id="26" name="Group 26"/>
              <p:cNvGrpSpPr/>
              <p:nvPr/>
            </p:nvGrpSpPr>
            <p:grpSpPr>
              <a:xfrm>
                <a:off x="5369719" y="3617119"/>
                <a:ext cx="214312" cy="214312"/>
                <a:chOff x="5369719" y="3617119"/>
                <a:chExt cx="214312" cy="214312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5393531" y="3640931"/>
                  <a:ext cx="166688" cy="1666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88" h="166688">
                      <a:moveTo>
                        <a:pt x="0" y="11906"/>
                      </a:moveTo>
                      <a:cubicBezTo>
                        <a:pt x="0" y="5331"/>
                        <a:pt x="5331" y="0"/>
                        <a:pt x="11906" y="0"/>
                      </a:cubicBezTo>
                      <a:lnTo>
                        <a:pt x="154781" y="0"/>
                      </a:lnTo>
                      <a:cubicBezTo>
                        <a:pt x="161357" y="0"/>
                        <a:pt x="166688" y="5331"/>
                        <a:pt x="166688" y="11906"/>
                      </a:cubicBezTo>
                      <a:lnTo>
                        <a:pt x="166688" y="154781"/>
                      </a:lnTo>
                      <a:cubicBezTo>
                        <a:pt x="166688" y="161357"/>
                        <a:pt x="161357" y="166688"/>
                        <a:pt x="154781" y="166688"/>
                      </a:cubicBezTo>
                      <a:lnTo>
                        <a:pt x="11906" y="166688"/>
                      </a:lnTo>
                      <a:cubicBezTo>
                        <a:pt x="5331" y="166688"/>
                        <a:pt x="0" y="161357"/>
                        <a:pt x="0" y="154781"/>
                      </a:cubicBezTo>
                      <a:lnTo>
                        <a:pt x="0" y="11906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5441156" y="3688556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0"/>
                      </a:moveTo>
                      <a:lnTo>
                        <a:pt x="71438" y="0"/>
                      </a:lnTo>
                      <a:lnTo>
                        <a:pt x="71438" y="71438"/>
                      </a:lnTo>
                      <a:lnTo>
                        <a:pt x="0" y="71438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5369719" y="3700462"/>
                  <a:ext cx="23812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" h="9525">
                      <a:moveTo>
                        <a:pt x="0" y="0"/>
                      </a:moveTo>
                      <a:lnTo>
                        <a:pt x="23812" y="0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5369719" y="3748088"/>
                  <a:ext cx="23812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" h="9525">
                      <a:moveTo>
                        <a:pt x="0" y="0"/>
                      </a:moveTo>
                      <a:lnTo>
                        <a:pt x="23812" y="0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5453062" y="3617119"/>
                  <a:ext cx="9525" cy="23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3812">
                      <a:moveTo>
                        <a:pt x="0" y="0"/>
                      </a:moveTo>
                      <a:lnTo>
                        <a:pt x="0" y="23812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  <p:sp>
              <p:nvSpPr>
                <p:cNvPr id="21" name="Freeform 21"/>
                <p:cNvSpPr/>
                <p:nvPr/>
              </p:nvSpPr>
              <p:spPr>
                <a:xfrm>
                  <a:off x="5500688" y="3617119"/>
                  <a:ext cx="9525" cy="23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3812">
                      <a:moveTo>
                        <a:pt x="0" y="0"/>
                      </a:moveTo>
                      <a:lnTo>
                        <a:pt x="0" y="23812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  <p:sp>
              <p:nvSpPr>
                <p:cNvPr id="22" name="Freeform 22"/>
                <p:cNvSpPr/>
                <p:nvPr/>
              </p:nvSpPr>
              <p:spPr>
                <a:xfrm>
                  <a:off x="5560219" y="3700462"/>
                  <a:ext cx="23812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" h="9525">
                      <a:moveTo>
                        <a:pt x="23812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5560219" y="3748088"/>
                  <a:ext cx="23812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" h="9525">
                      <a:moveTo>
                        <a:pt x="23812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5500688" y="3807619"/>
                  <a:ext cx="9525" cy="23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3812">
                      <a:moveTo>
                        <a:pt x="0" y="23812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5453062" y="3807619"/>
                  <a:ext cx="9525" cy="23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3812">
                      <a:moveTo>
                        <a:pt x="0" y="23812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042797" y="3533299"/>
                <a:ext cx="772597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HARDWARE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040892" y="3721418"/>
                <a:ext cx="3119998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One machine · 8 × NVIDIA P100 GPUs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1040892" y="4142899"/>
              <a:ext cx="3612109" cy="452152"/>
              <a:chOff x="1040892" y="4142899"/>
              <a:chExt cx="3612109" cy="452152"/>
            </a:xfrm>
          </p:grpSpPr>
          <p:sp>
            <p:nvSpPr>
              <p:cNvPr id="30" name="TextBox 30"/>
              <p:cNvSpPr txBox="1"/>
              <p:nvPr/>
            </p:nvSpPr>
            <p:spPr>
              <a:xfrm>
                <a:off x="1042797" y="4142899"/>
                <a:ext cx="204664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SCHEDULE · BASE MODEL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040892" y="4331018"/>
                <a:ext cx="361210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100 k steps · 0.4 s per step · ≈ 12 hours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1040892" y="4752499"/>
              <a:ext cx="4543139" cy="452152"/>
              <a:chOff x="1040892" y="4752499"/>
              <a:chExt cx="4543139" cy="452152"/>
            </a:xfrm>
          </p:grpSpPr>
          <p:grpSp>
            <p:nvGrpSpPr>
              <p:cNvPr id="35" name="Group 35"/>
              <p:cNvGrpSpPr/>
              <p:nvPr/>
            </p:nvGrpSpPr>
            <p:grpSpPr>
              <a:xfrm>
                <a:off x="5369719" y="4836319"/>
                <a:ext cx="214312" cy="214312"/>
                <a:chOff x="5369719" y="4836319"/>
                <a:chExt cx="214312" cy="214312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5369719" y="4836319"/>
                  <a:ext cx="214312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214312">
                      <a:moveTo>
                        <a:pt x="0" y="107156"/>
                      </a:moveTo>
                      <a:cubicBezTo>
                        <a:pt x="0" y="166337"/>
                        <a:pt x="47975" y="214312"/>
                        <a:pt x="107156" y="214312"/>
                      </a:cubicBezTo>
                      <a:cubicBezTo>
                        <a:pt x="166337" y="214312"/>
                        <a:pt x="214312" y="166337"/>
                        <a:pt x="214312" y="107156"/>
                      </a:cubicBezTo>
                      <a:cubicBezTo>
                        <a:pt x="214312" y="47975"/>
                        <a:pt x="166337" y="0"/>
                        <a:pt x="107156" y="0"/>
                      </a:cubicBezTo>
                      <a:cubicBezTo>
                        <a:pt x="47975" y="0"/>
                        <a:pt x="0" y="47975"/>
                        <a:pt x="0" y="107156"/>
                      </a:cubicBez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  <p:sp>
              <p:nvSpPr>
                <p:cNvPr id="34" name="Freeform 34"/>
                <p:cNvSpPr/>
                <p:nvPr/>
              </p:nvSpPr>
              <p:spPr>
                <a:xfrm>
                  <a:off x="5476875" y="4883944"/>
                  <a:ext cx="35719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19" h="95250">
                      <a:moveTo>
                        <a:pt x="0" y="0"/>
                      </a:moveTo>
                      <a:lnTo>
                        <a:pt x="0" y="59531"/>
                      </a:lnTo>
                      <a:lnTo>
                        <a:pt x="35719" y="95250"/>
                      </a:lnTo>
                    </a:path>
                  </a:pathLst>
                </a:custGeom>
                <a:noFill/>
                <a:ln w="23812">
                  <a:solidFill>
                    <a:srgbClr val="9CC3E6"/>
                  </a:solidFill>
                </a:ln>
              </p:spPr>
            </p:sp>
          </p:grpSp>
          <p:sp>
            <p:nvSpPr>
              <p:cNvPr id="36" name="TextBox 36"/>
              <p:cNvSpPr txBox="1"/>
              <p:nvPr/>
            </p:nvSpPr>
            <p:spPr>
              <a:xfrm>
                <a:off x="1042797" y="4752499"/>
                <a:ext cx="1948637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SCHEDULE · BIG MODEL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040892" y="4940618"/>
                <a:ext cx="3457632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300 k steps · 1.0 s per step · 3.5 days</a:t>
                </a:r>
              </a:p>
            </p:txBody>
          </p:sp>
        </p:grpSp>
        <p:sp>
          <p:nvSpPr>
            <p:cNvPr id="39" name="Line 39"/>
            <p:cNvSpPr/>
            <p:nvPr/>
          </p:nvSpPr>
          <p:spPr>
            <a:xfrm>
              <a:off x="1047750" y="5334000"/>
              <a:ext cx="4667250" cy="9525"/>
            </a:xfrm>
            <a:custGeom>
              <a:avLst/>
              <a:gdLst/>
              <a:ahLst/>
              <a:cxnLst/>
              <a:rect l="l" t="t" r="r" b="b"/>
              <a:pathLst>
                <a:path w="4667250" h="9525">
                  <a:moveTo>
                    <a:pt x="0" y="0"/>
                  </a:moveTo>
                  <a:lnTo>
                    <a:pt x="466725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42988" y="5454491"/>
              <a:ext cx="359013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REV 1 · 2017-06-12 · ARXIV 1706.03762 · WMT 2014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6096000" y="1619250"/>
            <a:ext cx="9525" cy="3905250"/>
          </a:xfrm>
          <a:custGeom>
            <a:avLst/>
            <a:gdLst/>
            <a:ahLst/>
            <a:cxnLst/>
            <a:rect l="l" t="t" r="r" b="b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3C5A80"/>
            </a:solidFill>
            <a:prstDash val="dash"/>
          </a:ln>
        </p:spPr>
      </p:sp>
      <p:grpSp>
        <p:nvGrpSpPr>
          <p:cNvPr id="47" name="Group 47"/>
          <p:cNvGrpSpPr/>
          <p:nvPr/>
        </p:nvGrpSpPr>
        <p:grpSpPr>
          <a:xfrm>
            <a:off x="6374892" y="1704499"/>
            <a:ext cx="3428748" cy="800290"/>
            <a:chOff x="6374892" y="1704499"/>
            <a:chExt cx="3428748" cy="800290"/>
          </a:xfrm>
        </p:grpSpPr>
        <p:grpSp>
          <p:nvGrpSpPr>
            <p:cNvPr id="45" name="Group 45"/>
            <p:cNvGrpSpPr/>
            <p:nvPr/>
          </p:nvGrpSpPr>
          <p:grpSpPr>
            <a:xfrm>
              <a:off x="6374892" y="1704499"/>
              <a:ext cx="3329755" cy="452152"/>
              <a:chOff x="6374892" y="1704499"/>
              <a:chExt cx="3329755" cy="452152"/>
            </a:xfrm>
          </p:grpSpPr>
          <p:sp>
            <p:nvSpPr>
              <p:cNvPr id="43" name="TextBox 43"/>
              <p:cNvSpPr txBox="1"/>
              <p:nvPr/>
            </p:nvSpPr>
            <p:spPr>
              <a:xfrm>
                <a:off x="6376797" y="1704499"/>
                <a:ext cx="870600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OPTIMIZER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374892" y="1892618"/>
                <a:ext cx="332975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l-GR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Adam · β₁ = 0.9 · β₂ = 0.98 · ε = 10⁻⁹</a:t>
                </a:r>
              </a:p>
            </p:txBody>
          </p:sp>
        </p:grpSp>
        <p:sp>
          <p:nvSpPr>
            <p:cNvPr id="46" name="TextBox 46"/>
            <p:cNvSpPr txBox="1"/>
            <p:nvPr/>
          </p:nvSpPr>
          <p:spPr>
            <a:xfrm>
              <a:off x="6376797" y="2314099"/>
              <a:ext cx="34268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LEARNING RATE · warmup_steps = 4 000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lrate-formula"/>
              <p:cNvSpPr txBox="1">
                <a:spLocks noGrp="1"/>
              </p:cNvSpPr>
              <p:nvPr/>
            </p:nvSpPr>
            <p:spPr>
              <a:xfrm>
                <a:off x="6381750" y="2552700"/>
                <a:ext cx="49530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12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lrate</m:t>
                      </m:r>
                      <m:r>
                        <m:rPr>
                          <m:sty m:val="p"/>
                        </m:rPr>
                        <a:rPr lang="en-US" sz="112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en-US" sz="112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12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model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12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en-US" sz="112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0.5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en-US" sz="1120" dirty="0">
                          <a:solidFill>
                            <a:srgbClr val="E8F1F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en-US" sz="1120" dirty="0">
                              <a:solidFill>
                                <a:srgbClr val="E8F1F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en-US" sz="112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en-US" sz="112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ste</m:t>
                              </m:r>
                              <m:sSup>
                                <m:e>
                                  <m:r>
                                    <a:rPr lang="en-US" sz="112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12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en-US" sz="112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0.5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112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en-US" sz="112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 </m:t>
                              </m:r>
                              <m:r>
                                <a:rPr lang="en-US" sz="112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step</m:t>
                              </m:r>
                              <m:r>
                                <m:rPr>
                                  <m:sty m:val="p"/>
                                </m:rPr>
                                <a:rPr lang="en-US" sz="112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⋅</m:t>
                              </m:r>
                              <m:r>
                                <a:rPr lang="en-US" sz="1120" dirty="0">
                                  <a:solidFill>
                                    <a:srgbClr val="E8F1F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warmup_step</m:t>
                              </m:r>
                              <m:sSup>
                                <m:e>
                                  <m:r>
                                    <a:rPr lang="en-US" sz="112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12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en-US" sz="1120" dirty="0">
                                      <a:solidFill>
                                        <a:srgbClr val="E8F1F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1.5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</a:p>
            </p:txBody>
          </p:sp>
        </mc:Choice>
      </mc:AlternateContent>
      <p:grpSp>
        <p:nvGrpSpPr>
          <p:cNvPr id="60" name="Group 60"/>
          <p:cNvGrpSpPr/>
          <p:nvPr/>
        </p:nvGrpSpPr>
        <p:grpSpPr>
          <a:xfrm>
            <a:off x="6374892" y="3285649"/>
            <a:ext cx="4501713" cy="2330767"/>
            <a:chOff x="6374892" y="3285649"/>
            <a:chExt cx="4501713" cy="2330767"/>
          </a:xfrm>
        </p:grpSpPr>
        <p:grpSp>
          <p:nvGrpSpPr>
            <p:cNvPr id="51" name="Group 51"/>
            <p:cNvGrpSpPr/>
            <p:nvPr/>
          </p:nvGrpSpPr>
          <p:grpSpPr>
            <a:xfrm>
              <a:off x="6374892" y="3285649"/>
              <a:ext cx="4501713" cy="452152"/>
              <a:chOff x="6374892" y="3285649"/>
              <a:chExt cx="4501713" cy="452152"/>
            </a:xfrm>
          </p:grpSpPr>
          <p:sp>
            <p:nvSpPr>
              <p:cNvPr id="49" name="TextBox 49"/>
              <p:cNvSpPr txBox="1"/>
              <p:nvPr/>
            </p:nvSpPr>
            <p:spPr>
              <a:xfrm>
                <a:off x="6376797" y="3285649"/>
                <a:ext cx="576590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WARMUP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374892" y="3473768"/>
                <a:ext cx="4501713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Linear ramp for 4 000 steps, then decay ∝ 1/√step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6374892" y="3895249"/>
              <a:ext cx="4068508" cy="699802"/>
              <a:chOff x="6374892" y="3895249"/>
              <a:chExt cx="4068508" cy="699802"/>
            </a:xfrm>
          </p:grpSpPr>
          <p:sp>
            <p:nvSpPr>
              <p:cNvPr id="52" name="TextBox 52"/>
              <p:cNvSpPr txBox="1"/>
              <p:nvPr/>
            </p:nvSpPr>
            <p:spPr>
              <a:xfrm>
                <a:off x="6376797" y="3895249"/>
                <a:ext cx="1360617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REGULARIZATION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6374892" y="4083368"/>
                <a:ext cx="4068508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Residual dropout 0.1 (0.3 for the big EN–FR run)</a:t>
                </a:r>
                <a:br/>
                <a:r>
                  <a:rPr lang="el-GR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Label smoothing ε = 0.1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6374892" y="4752499"/>
              <a:ext cx="4079777" cy="452152"/>
              <a:chOff x="6374892" y="4752499"/>
              <a:chExt cx="4079777" cy="452152"/>
            </a:xfrm>
          </p:grpSpPr>
          <p:sp>
            <p:nvSpPr>
              <p:cNvPr id="55" name="TextBox 55"/>
              <p:cNvSpPr txBox="1"/>
              <p:nvPr/>
            </p:nvSpPr>
            <p:spPr>
              <a:xfrm>
                <a:off x="6376797" y="4752499"/>
                <a:ext cx="96860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8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MODEL SIZE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374892" y="4940618"/>
                <a:ext cx="4079777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Base 65 M parameters · Big 213 M parameters</a:t>
                </a:r>
              </a:p>
            </p:txBody>
          </p:sp>
        </p:grpSp>
        <p:sp>
          <p:nvSpPr>
            <p:cNvPr id="58" name="Line 58"/>
            <p:cNvSpPr/>
            <p:nvPr/>
          </p:nvSpPr>
          <p:spPr>
            <a:xfrm>
              <a:off x="6381750" y="5334000"/>
              <a:ext cx="4095750" cy="9525"/>
            </a:xfrm>
            <a:custGeom>
              <a:avLst/>
              <a:gdLst/>
              <a:ahLst/>
              <a:cxnLst/>
              <a:rect l="l" t="t" r="r" b="b"/>
              <a:pathLst>
                <a:path w="4095750" h="9525">
                  <a:moveTo>
                    <a:pt x="0" y="0"/>
                  </a:moveTo>
                  <a:lnTo>
                    <a:pt x="409575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376988" y="5454491"/>
              <a:ext cx="396422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spc="75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ALL VALUES FROM §5 OF THE PAPER · 8 × P100 · 3.5 DAYS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61" name="Rectangle 61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62" name="Line 62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11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8092593" cy="801243"/>
            <a:chOff x="747522" y="439102"/>
            <a:chExt cx="8092593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2472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04 · RESULTS (TABLE 2)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809259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State of the art on both WMT 2014 tasks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55904" y="1546860"/>
            <a:ext cx="5159040" cy="4082129"/>
            <a:chOff x="755904" y="1546860"/>
            <a:chExt cx="5159040" cy="4082129"/>
          </a:xfrm>
        </p:grpSpPr>
        <p:sp>
          <p:nvSpPr>
            <p:cNvPr id="6" name="TextBox 6"/>
            <p:cNvSpPr txBox="1"/>
            <p:nvPr/>
          </p:nvSpPr>
          <p:spPr>
            <a:xfrm>
              <a:off x="755904" y="1546860"/>
              <a:ext cx="31610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English→German · BLEU on newstest2014</a:t>
              </a:r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1378405" y="1905000"/>
              <a:ext cx="4536539" cy="3723989"/>
              <a:chOff x="1378405" y="1905000"/>
              <a:chExt cx="4536539" cy="3723989"/>
            </a:xfrm>
          </p:grpSpPr>
          <p:grpSp>
            <p:nvGrpSpPr>
              <p:cNvPr id="10" name="Group 10"/>
              <p:cNvGrpSpPr/>
              <p:nvPr/>
            </p:nvGrpSpPr>
            <p:grpSpPr>
              <a:xfrm>
                <a:off x="3810000" y="1905000"/>
                <a:ext cx="1914525" cy="3429000"/>
                <a:chOff x="3810000" y="1905000"/>
                <a:chExt cx="1914525" cy="3429000"/>
              </a:xfrm>
            </p:grpSpPr>
            <p:sp>
              <p:nvSpPr>
                <p:cNvPr id="7" name="Line 7"/>
                <p:cNvSpPr/>
                <p:nvPr/>
              </p:nvSpPr>
              <p:spPr>
                <a:xfrm>
                  <a:off x="3810000" y="19050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rgbClr val="3C5A80"/>
                  </a:solidFill>
                  <a:prstDash val="dash"/>
                </a:ln>
              </p:spPr>
            </p:sp>
            <p:sp>
              <p:nvSpPr>
                <p:cNvPr id="8" name="Line 8"/>
                <p:cNvSpPr/>
                <p:nvPr/>
              </p:nvSpPr>
              <p:spPr>
                <a:xfrm>
                  <a:off x="4762500" y="19050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rgbClr val="3C5A80"/>
                  </a:solidFill>
                  <a:prstDash val="dash"/>
                </a:ln>
              </p:spPr>
            </p:sp>
            <p:sp>
              <p:nvSpPr>
                <p:cNvPr id="9" name="Line 9"/>
                <p:cNvSpPr/>
                <p:nvPr/>
              </p:nvSpPr>
              <p:spPr>
                <a:xfrm>
                  <a:off x="5715000" y="19050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rgbClr val="3C5A80"/>
                  </a:solidFill>
                  <a:prstDash val="dash"/>
                </a:ln>
              </p:spPr>
            </p:sp>
          </p:grpSp>
          <p:sp>
            <p:nvSpPr>
              <p:cNvPr id="11" name="Line 11"/>
              <p:cNvSpPr/>
              <p:nvPr/>
            </p:nvSpPr>
            <p:spPr>
              <a:xfrm>
                <a:off x="2857500" y="1905000"/>
                <a:ext cx="9525" cy="34290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29000">
                    <a:moveTo>
                      <a:pt x="0" y="0"/>
                    </a:moveTo>
                    <a:lnTo>
                      <a:pt x="0" y="342900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2857500" y="5334000"/>
                <a:ext cx="2857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00" h="9525">
                    <a:moveTo>
                      <a:pt x="0" y="0"/>
                    </a:moveTo>
                    <a:lnTo>
                      <a:pt x="2857500" y="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grpSp>
            <p:nvGrpSpPr>
              <p:cNvPr id="17" name="Group 17"/>
              <p:cNvGrpSpPr/>
              <p:nvPr/>
            </p:nvGrpSpPr>
            <p:grpSpPr>
              <a:xfrm>
                <a:off x="2816267" y="5438299"/>
                <a:ext cx="2976246" cy="190690"/>
                <a:chOff x="2816267" y="5438299"/>
                <a:chExt cx="2976246" cy="190690"/>
              </a:xfrm>
            </p:grpSpPr>
            <p:sp>
              <p:nvSpPr>
                <p:cNvPr id="13" name="TextBox 13"/>
                <p:cNvSpPr txBox="1"/>
                <p:nvPr/>
              </p:nvSpPr>
              <p:spPr>
                <a:xfrm>
                  <a:off x="2816267" y="5438299"/>
                  <a:ext cx="82466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98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0</a:t>
                  </a:r>
                </a:p>
              </p:txBody>
            </p:sp>
            <p:sp>
              <p:nvSpPr>
                <p:cNvPr id="14" name="TextBox 14"/>
                <p:cNvSpPr txBox="1"/>
                <p:nvPr/>
              </p:nvSpPr>
              <p:spPr>
                <a:xfrm>
                  <a:off x="3732487" y="5438299"/>
                  <a:ext cx="155026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98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10</a:t>
                  </a:r>
                </a:p>
              </p:txBody>
            </p:sp>
            <p:sp>
              <p:nvSpPr>
                <p:cNvPr id="15" name="TextBox 15"/>
                <p:cNvSpPr txBox="1"/>
                <p:nvPr/>
              </p:nvSpPr>
              <p:spPr>
                <a:xfrm>
                  <a:off x="4684987" y="5438299"/>
                  <a:ext cx="155026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98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20</a:t>
                  </a:r>
                </a:p>
              </p:txBody>
            </p:sp>
            <p:sp>
              <p:nvSpPr>
                <p:cNvPr id="16" name="TextBox 16"/>
                <p:cNvSpPr txBox="1"/>
                <p:nvPr/>
              </p:nvSpPr>
              <p:spPr>
                <a:xfrm>
                  <a:off x="5637487" y="5438299"/>
                  <a:ext cx="155026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98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30</a:t>
                  </a:r>
                </a:p>
              </p:txBody>
            </p:sp>
          </p:grpSp>
          <p:grpSp>
            <p:nvGrpSpPr>
              <p:cNvPr id="26" name="Group 26"/>
              <p:cNvGrpSpPr/>
              <p:nvPr/>
            </p:nvGrpSpPr>
            <p:grpSpPr>
              <a:xfrm>
                <a:off x="1378405" y="2048828"/>
                <a:ext cx="1408229" cy="3205733"/>
                <a:chOff x="1378405" y="2048828"/>
                <a:chExt cx="1408229" cy="3205733"/>
              </a:xfrm>
            </p:grpSpPr>
            <p:sp>
              <p:nvSpPr>
                <p:cNvPr id="18" name="TextBox 18"/>
                <p:cNvSpPr txBox="1"/>
                <p:nvPr/>
              </p:nvSpPr>
              <p:spPr>
                <a:xfrm>
                  <a:off x="2222964" y="2048828"/>
                  <a:ext cx="563670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ByteNet</a:t>
                  </a:r>
                </a:p>
              </p:txBody>
            </p:sp>
            <p:sp>
              <p:nvSpPr>
                <p:cNvPr id="19" name="TextBox 19"/>
                <p:cNvSpPr txBox="1"/>
                <p:nvPr/>
              </p:nvSpPr>
              <p:spPr>
                <a:xfrm>
                  <a:off x="2081479" y="2477452"/>
                  <a:ext cx="705155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GNMT + RL</a:t>
                  </a:r>
                </a:p>
              </p:txBody>
            </p:sp>
            <p:sp>
              <p:nvSpPr>
                <p:cNvPr id="20" name="TextBox 20"/>
                <p:cNvSpPr txBox="1"/>
                <p:nvPr/>
              </p:nvSpPr>
              <p:spPr>
                <a:xfrm>
                  <a:off x="2216363" y="2906078"/>
                  <a:ext cx="570271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ConvS2S</a:t>
                  </a:r>
                </a:p>
              </p:txBody>
            </p:sp>
            <p:sp>
              <p:nvSpPr>
                <p:cNvPr id="21" name="TextBox 21"/>
                <p:cNvSpPr txBox="1"/>
                <p:nvPr/>
              </p:nvSpPr>
              <p:spPr>
                <a:xfrm>
                  <a:off x="2504599" y="3334702"/>
                  <a:ext cx="282035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MoE</a:t>
                  </a:r>
                </a:p>
              </p:txBody>
            </p:sp>
            <p:sp>
              <p:nvSpPr>
                <p:cNvPr id="22" name="TextBox 22"/>
                <p:cNvSpPr txBox="1"/>
                <p:nvPr/>
              </p:nvSpPr>
              <p:spPr>
                <a:xfrm>
                  <a:off x="1424197" y="3763328"/>
                  <a:ext cx="1362437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GNMT + RL Ensemble</a:t>
                  </a:r>
                </a:p>
              </p:txBody>
            </p:sp>
            <p:sp>
              <p:nvSpPr>
                <p:cNvPr id="23" name="TextBox 23"/>
                <p:cNvSpPr txBox="1"/>
                <p:nvPr/>
              </p:nvSpPr>
              <p:spPr>
                <a:xfrm>
                  <a:off x="1555052" y="4191952"/>
                  <a:ext cx="1231582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ConvS2S Ensemble</a:t>
                  </a:r>
                </a:p>
              </p:txBody>
            </p:sp>
            <p:sp>
              <p:nvSpPr>
                <p:cNvPr id="24" name="TextBox 24"/>
                <p:cNvSpPr txBox="1"/>
                <p:nvPr/>
              </p:nvSpPr>
              <p:spPr>
                <a:xfrm>
                  <a:off x="1378405" y="4620578"/>
                  <a:ext cx="1408229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F5A623"/>
                      </a:solidFill>
                      <a:latin typeface="Segoe UI"/>
                      <a:ea typeface="Segoe UI"/>
                      <a:cs typeface="Segoe UI"/>
                    </a:rPr>
                    <a:t>Transformer (base)</a:t>
                  </a:r>
                </a:p>
              </p:txBody>
            </p:sp>
            <p:sp>
              <p:nvSpPr>
                <p:cNvPr id="25" name="TextBox 25"/>
                <p:cNvSpPr txBox="1"/>
                <p:nvPr/>
              </p:nvSpPr>
              <p:spPr>
                <a:xfrm>
                  <a:off x="1491567" y="5049202"/>
                  <a:ext cx="1295067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F5A623"/>
                      </a:solidFill>
                      <a:latin typeface="Segoe UI"/>
                      <a:ea typeface="Segoe UI"/>
                      <a:cs typeface="Segoe UI"/>
                    </a:rPr>
                    <a:t>Transformer (big)</a:t>
                  </a:r>
                </a:p>
              </p:txBody>
            </p:sp>
          </p:grpSp>
          <p:grpSp>
            <p:nvGrpSpPr>
              <p:cNvPr id="35" name="Group 35"/>
              <p:cNvGrpSpPr/>
              <p:nvPr/>
            </p:nvGrpSpPr>
            <p:grpSpPr>
              <a:xfrm>
                <a:off x="2857500" y="1995488"/>
                <a:ext cx="2705100" cy="3248024"/>
                <a:chOff x="2857500" y="1995488"/>
                <a:chExt cx="2705100" cy="3248024"/>
              </a:xfrm>
            </p:grpSpPr>
            <p:sp>
              <p:nvSpPr>
                <p:cNvPr id="27" name="Rectangle 27"/>
                <p:cNvSpPr/>
                <p:nvPr/>
              </p:nvSpPr>
              <p:spPr>
                <a:xfrm>
                  <a:off x="2857500" y="1995488"/>
                  <a:ext cx="2262188" cy="24765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28" name="Rectangle 28"/>
                <p:cNvSpPr/>
                <p:nvPr/>
              </p:nvSpPr>
              <p:spPr>
                <a:xfrm>
                  <a:off x="2857500" y="2424112"/>
                  <a:ext cx="2343150" cy="24765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29" name="Rectangle 29"/>
                <p:cNvSpPr/>
                <p:nvPr/>
              </p:nvSpPr>
              <p:spPr>
                <a:xfrm>
                  <a:off x="2857500" y="2852738"/>
                  <a:ext cx="2396490" cy="24765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30" name="Rectangle 30"/>
                <p:cNvSpPr/>
                <p:nvPr/>
              </p:nvSpPr>
              <p:spPr>
                <a:xfrm>
                  <a:off x="2857500" y="3281362"/>
                  <a:ext cx="2479358" cy="24765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31" name="Rectangle 31"/>
                <p:cNvSpPr/>
                <p:nvPr/>
              </p:nvSpPr>
              <p:spPr>
                <a:xfrm>
                  <a:off x="2857500" y="3709988"/>
                  <a:ext cx="2505075" cy="24765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32" name="Rectangle 32"/>
                <p:cNvSpPr/>
                <p:nvPr/>
              </p:nvSpPr>
              <p:spPr>
                <a:xfrm>
                  <a:off x="2857500" y="4138612"/>
                  <a:ext cx="2510790" cy="24765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33" name="Rectangle 33"/>
                <p:cNvSpPr/>
                <p:nvPr/>
              </p:nvSpPr>
              <p:spPr>
                <a:xfrm>
                  <a:off x="2857500" y="4567238"/>
                  <a:ext cx="2600325" cy="247650"/>
                </a:xfrm>
                <a:prstGeom prst="rect">
                  <a:avLst/>
                </a:prstGeom>
                <a:solidFill>
                  <a:srgbClr val="F5A623"/>
                </a:solidFill>
                <a:ln>
                  <a:noFill/>
                </a:ln>
              </p:spPr>
            </p:sp>
            <p:sp>
              <p:nvSpPr>
                <p:cNvPr id="34" name="Rectangle 34"/>
                <p:cNvSpPr/>
                <p:nvPr/>
              </p:nvSpPr>
              <p:spPr>
                <a:xfrm>
                  <a:off x="2857500" y="4995862"/>
                  <a:ext cx="2705100" cy="247650"/>
                </a:xfrm>
                <a:prstGeom prst="rect">
                  <a:avLst/>
                </a:prstGeom>
                <a:solidFill>
                  <a:srgbClr val="F5A623"/>
                </a:solidFill>
                <a:ln>
                  <a:noFill/>
                </a:ln>
              </p:spPr>
            </p:sp>
          </p:grpSp>
          <p:grpSp>
            <p:nvGrpSpPr>
              <p:cNvPr id="44" name="Group 44"/>
              <p:cNvGrpSpPr/>
              <p:nvPr/>
            </p:nvGrpSpPr>
            <p:grpSpPr>
              <a:xfrm>
                <a:off x="5167122" y="2056924"/>
                <a:ext cx="747822" cy="3191065"/>
                <a:chOff x="5167122" y="2056924"/>
                <a:chExt cx="747822" cy="3191065"/>
              </a:xfrm>
            </p:grpSpPr>
            <p:sp>
              <p:nvSpPr>
                <p:cNvPr id="36" name="TextBox 36"/>
                <p:cNvSpPr txBox="1"/>
                <p:nvPr/>
              </p:nvSpPr>
              <p:spPr>
                <a:xfrm>
                  <a:off x="5167122" y="2056924"/>
                  <a:ext cx="37270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23.75</a:t>
                  </a:r>
                </a:p>
              </p:txBody>
            </p:sp>
            <p:sp>
              <p:nvSpPr>
                <p:cNvPr id="37" name="TextBox 37"/>
                <p:cNvSpPr txBox="1"/>
                <p:nvPr/>
              </p:nvSpPr>
              <p:spPr>
                <a:xfrm>
                  <a:off x="5252847" y="2485549"/>
                  <a:ext cx="30014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24.6</a:t>
                  </a:r>
                </a:p>
              </p:txBody>
            </p:sp>
            <p:sp>
              <p:nvSpPr>
                <p:cNvPr id="38" name="TextBox 38"/>
                <p:cNvSpPr txBox="1"/>
                <p:nvPr/>
              </p:nvSpPr>
              <p:spPr>
                <a:xfrm>
                  <a:off x="5300472" y="2914174"/>
                  <a:ext cx="37270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25.16</a:t>
                  </a:r>
                </a:p>
              </p:txBody>
            </p:sp>
            <p:sp>
              <p:nvSpPr>
                <p:cNvPr id="39" name="TextBox 39"/>
                <p:cNvSpPr txBox="1"/>
                <p:nvPr/>
              </p:nvSpPr>
              <p:spPr>
                <a:xfrm>
                  <a:off x="5386197" y="3342799"/>
                  <a:ext cx="37270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26.03</a:t>
                  </a:r>
                </a:p>
              </p:txBody>
            </p:sp>
            <p:sp>
              <p:nvSpPr>
                <p:cNvPr id="40" name="TextBox 40"/>
                <p:cNvSpPr txBox="1"/>
                <p:nvPr/>
              </p:nvSpPr>
              <p:spPr>
                <a:xfrm>
                  <a:off x="5414772" y="3771424"/>
                  <a:ext cx="30014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26.3</a:t>
                  </a:r>
                </a:p>
              </p:txBody>
            </p:sp>
            <p:sp>
              <p:nvSpPr>
                <p:cNvPr id="41" name="TextBox 41"/>
                <p:cNvSpPr txBox="1"/>
                <p:nvPr/>
              </p:nvSpPr>
              <p:spPr>
                <a:xfrm>
                  <a:off x="5414772" y="4200049"/>
                  <a:ext cx="37270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26.36</a:t>
                  </a:r>
                </a:p>
              </p:txBody>
            </p:sp>
            <p:sp>
              <p:nvSpPr>
                <p:cNvPr id="42" name="TextBox 42"/>
                <p:cNvSpPr txBox="1"/>
                <p:nvPr/>
              </p:nvSpPr>
              <p:spPr>
                <a:xfrm>
                  <a:off x="5510022" y="4628674"/>
                  <a:ext cx="30014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27.3</a:t>
                  </a:r>
                </a:p>
              </p:txBody>
            </p:sp>
            <p:sp>
              <p:nvSpPr>
                <p:cNvPr id="43" name="TextBox 43"/>
                <p:cNvSpPr txBox="1"/>
                <p:nvPr/>
              </p:nvSpPr>
              <p:spPr>
                <a:xfrm>
                  <a:off x="5614797" y="5057299"/>
                  <a:ext cx="30014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28.4</a:t>
                  </a:r>
                </a:p>
              </p:txBody>
            </p:sp>
          </p:grpSp>
        </p:grpSp>
      </p:grpSp>
      <p:grpSp>
        <p:nvGrpSpPr>
          <p:cNvPr id="90" name="Group 90"/>
          <p:cNvGrpSpPr/>
          <p:nvPr/>
        </p:nvGrpSpPr>
        <p:grpSpPr>
          <a:xfrm>
            <a:off x="6280404" y="1546860"/>
            <a:ext cx="5145875" cy="4082129"/>
            <a:chOff x="6280404" y="1546860"/>
            <a:chExt cx="5145875" cy="4082129"/>
          </a:xfrm>
        </p:grpSpPr>
        <p:sp>
          <p:nvSpPr>
            <p:cNvPr id="47" name="TextBox 47"/>
            <p:cNvSpPr txBox="1"/>
            <p:nvPr/>
          </p:nvSpPr>
          <p:spPr>
            <a:xfrm>
              <a:off x="6280404" y="1546860"/>
              <a:ext cx="31283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English→French · BLEU on newstest2014</a:t>
              </a:r>
            </a:p>
          </p:txBody>
        </p:sp>
        <p:grpSp>
          <p:nvGrpSpPr>
            <p:cNvPr id="89" name="Group 89"/>
            <p:cNvGrpSpPr/>
            <p:nvPr/>
          </p:nvGrpSpPr>
          <p:grpSpPr>
            <a:xfrm>
              <a:off x="6667754" y="1905000"/>
              <a:ext cx="4758525" cy="3723989"/>
              <a:chOff x="6667754" y="1905000"/>
              <a:chExt cx="4758525" cy="3723989"/>
            </a:xfrm>
          </p:grpSpPr>
          <p:grpSp>
            <p:nvGrpSpPr>
              <p:cNvPr id="51" name="Group 51"/>
              <p:cNvGrpSpPr/>
              <p:nvPr/>
            </p:nvGrpSpPr>
            <p:grpSpPr>
              <a:xfrm>
                <a:off x="9334500" y="1905000"/>
                <a:ext cx="1914525" cy="3429000"/>
                <a:chOff x="9334500" y="1905000"/>
                <a:chExt cx="1914525" cy="3429000"/>
              </a:xfrm>
            </p:grpSpPr>
            <p:sp>
              <p:nvSpPr>
                <p:cNvPr id="48" name="Line 48"/>
                <p:cNvSpPr/>
                <p:nvPr/>
              </p:nvSpPr>
              <p:spPr>
                <a:xfrm>
                  <a:off x="9334500" y="19050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rgbClr val="3C5A80"/>
                  </a:solidFill>
                  <a:prstDash val="dash"/>
                </a:ln>
              </p:spPr>
            </p:sp>
            <p:sp>
              <p:nvSpPr>
                <p:cNvPr id="49" name="Line 49"/>
                <p:cNvSpPr/>
                <p:nvPr/>
              </p:nvSpPr>
              <p:spPr>
                <a:xfrm>
                  <a:off x="10287000" y="19050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rgbClr val="3C5A80"/>
                  </a:solidFill>
                  <a:prstDash val="dash"/>
                </a:ln>
              </p:spPr>
            </p:sp>
            <p:sp>
              <p:nvSpPr>
                <p:cNvPr id="50" name="Line 50"/>
                <p:cNvSpPr/>
                <p:nvPr/>
              </p:nvSpPr>
              <p:spPr>
                <a:xfrm>
                  <a:off x="11239500" y="19050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rgbClr val="3C5A80"/>
                  </a:solidFill>
                  <a:prstDash val="dash"/>
                </a:ln>
              </p:spPr>
            </p:sp>
          </p:grpSp>
          <p:sp>
            <p:nvSpPr>
              <p:cNvPr id="52" name="Line 52"/>
              <p:cNvSpPr/>
              <p:nvPr/>
            </p:nvSpPr>
            <p:spPr>
              <a:xfrm>
                <a:off x="8382000" y="1905000"/>
                <a:ext cx="9525" cy="34290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29000">
                    <a:moveTo>
                      <a:pt x="0" y="0"/>
                    </a:moveTo>
                    <a:lnTo>
                      <a:pt x="0" y="342900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sp>
            <p:nvSpPr>
              <p:cNvPr id="53" name="Line 53"/>
              <p:cNvSpPr/>
              <p:nvPr/>
            </p:nvSpPr>
            <p:spPr>
              <a:xfrm>
                <a:off x="8382000" y="5334000"/>
                <a:ext cx="2857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00" h="9525">
                    <a:moveTo>
                      <a:pt x="0" y="0"/>
                    </a:moveTo>
                    <a:lnTo>
                      <a:pt x="2857500" y="0"/>
                    </a:lnTo>
                  </a:path>
                </a:pathLst>
              </a:custGeom>
              <a:noFill/>
              <a:ln w="9525">
                <a:solidFill>
                  <a:srgbClr val="3C5A80"/>
                </a:solidFill>
              </a:ln>
            </p:spPr>
          </p:sp>
          <p:grpSp>
            <p:nvGrpSpPr>
              <p:cNvPr id="58" name="Group 58"/>
              <p:cNvGrpSpPr/>
              <p:nvPr/>
            </p:nvGrpSpPr>
            <p:grpSpPr>
              <a:xfrm>
                <a:off x="8340767" y="5438299"/>
                <a:ext cx="2976246" cy="190690"/>
                <a:chOff x="8340767" y="5438299"/>
                <a:chExt cx="2976246" cy="190690"/>
              </a:xfrm>
            </p:grpSpPr>
            <p:sp>
              <p:nvSpPr>
                <p:cNvPr id="54" name="TextBox 54"/>
                <p:cNvSpPr txBox="1"/>
                <p:nvPr/>
              </p:nvSpPr>
              <p:spPr>
                <a:xfrm>
                  <a:off x="8340767" y="5438299"/>
                  <a:ext cx="82466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98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0</a:t>
                  </a:r>
                </a:p>
              </p:txBody>
            </p:sp>
            <p:sp>
              <p:nvSpPr>
                <p:cNvPr id="55" name="TextBox 55"/>
                <p:cNvSpPr txBox="1"/>
                <p:nvPr/>
              </p:nvSpPr>
              <p:spPr>
                <a:xfrm>
                  <a:off x="9256987" y="5438299"/>
                  <a:ext cx="155026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98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15</a:t>
                  </a:r>
                </a:p>
              </p:txBody>
            </p:sp>
            <p:sp>
              <p:nvSpPr>
                <p:cNvPr id="56" name="TextBox 56"/>
                <p:cNvSpPr txBox="1"/>
                <p:nvPr/>
              </p:nvSpPr>
              <p:spPr>
                <a:xfrm>
                  <a:off x="10209487" y="5438299"/>
                  <a:ext cx="155026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98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30</a:t>
                  </a:r>
                </a:p>
              </p:txBody>
            </p:sp>
            <p:sp>
              <p:nvSpPr>
                <p:cNvPr id="57" name="TextBox 57"/>
                <p:cNvSpPr txBox="1"/>
                <p:nvPr/>
              </p:nvSpPr>
              <p:spPr>
                <a:xfrm>
                  <a:off x="11161987" y="5438299"/>
                  <a:ext cx="155026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98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45</a:t>
                  </a:r>
                </a:p>
              </p:txBody>
            </p:sp>
          </p:grpSp>
          <p:grpSp>
            <p:nvGrpSpPr>
              <p:cNvPr id="68" name="Group 68"/>
              <p:cNvGrpSpPr/>
              <p:nvPr/>
            </p:nvGrpSpPr>
            <p:grpSpPr>
              <a:xfrm>
                <a:off x="6667754" y="2029778"/>
                <a:ext cx="1643380" cy="3253359"/>
                <a:chOff x="6667754" y="2029778"/>
                <a:chExt cx="1643380" cy="3253359"/>
              </a:xfrm>
            </p:grpSpPr>
            <p:sp>
              <p:nvSpPr>
                <p:cNvPr id="59" name="TextBox 59"/>
                <p:cNvSpPr txBox="1"/>
                <p:nvPr/>
              </p:nvSpPr>
              <p:spPr>
                <a:xfrm>
                  <a:off x="7027722" y="2029778"/>
                  <a:ext cx="1283412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Deep-Att + PosUnk</a:t>
                  </a:r>
                </a:p>
              </p:txBody>
            </p:sp>
            <p:sp>
              <p:nvSpPr>
                <p:cNvPr id="60" name="TextBox 60"/>
                <p:cNvSpPr txBox="1"/>
                <p:nvPr/>
              </p:nvSpPr>
              <p:spPr>
                <a:xfrm>
                  <a:off x="7605979" y="2410778"/>
                  <a:ext cx="705155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GNMT + RL</a:t>
                  </a:r>
                </a:p>
              </p:txBody>
            </p:sp>
            <p:sp>
              <p:nvSpPr>
                <p:cNvPr id="61" name="TextBox 61"/>
                <p:cNvSpPr txBox="1"/>
                <p:nvPr/>
              </p:nvSpPr>
              <p:spPr>
                <a:xfrm>
                  <a:off x="7740863" y="2791778"/>
                  <a:ext cx="570271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ConvS2S</a:t>
                  </a:r>
                </a:p>
              </p:txBody>
            </p:sp>
            <p:sp>
              <p:nvSpPr>
                <p:cNvPr id="62" name="TextBox 62"/>
                <p:cNvSpPr txBox="1"/>
                <p:nvPr/>
              </p:nvSpPr>
              <p:spPr>
                <a:xfrm>
                  <a:off x="8029099" y="3172778"/>
                  <a:ext cx="282035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MoE</a:t>
                  </a:r>
                </a:p>
              </p:txBody>
            </p:sp>
            <p:sp>
              <p:nvSpPr>
                <p:cNvPr id="63" name="TextBox 63"/>
                <p:cNvSpPr txBox="1"/>
                <p:nvPr/>
              </p:nvSpPr>
              <p:spPr>
                <a:xfrm>
                  <a:off x="6667754" y="3553778"/>
                  <a:ext cx="1643380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Deep-Att + PosUnk Ens.</a:t>
                  </a:r>
                </a:p>
              </p:txBody>
            </p:sp>
            <p:sp>
              <p:nvSpPr>
                <p:cNvPr id="64" name="TextBox 64"/>
                <p:cNvSpPr txBox="1"/>
                <p:nvPr/>
              </p:nvSpPr>
              <p:spPr>
                <a:xfrm>
                  <a:off x="6948697" y="3934778"/>
                  <a:ext cx="1362437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GNMT + RL Ensemble</a:t>
                  </a:r>
                </a:p>
              </p:txBody>
            </p:sp>
            <p:sp>
              <p:nvSpPr>
                <p:cNvPr id="65" name="TextBox 65"/>
                <p:cNvSpPr txBox="1"/>
                <p:nvPr/>
              </p:nvSpPr>
              <p:spPr>
                <a:xfrm>
                  <a:off x="7079552" y="4315778"/>
                  <a:ext cx="1231582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C9DBEA"/>
                      </a:solidFill>
                      <a:latin typeface="Segoe UI"/>
                      <a:ea typeface="Segoe UI"/>
                      <a:cs typeface="Segoe UI"/>
                    </a:rPr>
                    <a:t>ConvS2S Ensemble</a:t>
                  </a:r>
                </a:p>
              </p:txBody>
            </p:sp>
            <p:sp>
              <p:nvSpPr>
                <p:cNvPr id="66" name="TextBox 66"/>
                <p:cNvSpPr txBox="1"/>
                <p:nvPr/>
              </p:nvSpPr>
              <p:spPr>
                <a:xfrm>
                  <a:off x="6902905" y="4696778"/>
                  <a:ext cx="1408229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F5A623"/>
                      </a:solidFill>
                      <a:latin typeface="Segoe UI"/>
                      <a:ea typeface="Segoe UI"/>
                      <a:cs typeface="Segoe UI"/>
                    </a:rPr>
                    <a:t>Transformer (base)</a:t>
                  </a:r>
                </a:p>
              </p:txBody>
            </p:sp>
            <p:sp>
              <p:nvSpPr>
                <p:cNvPr id="67" name="TextBox 67"/>
                <p:cNvSpPr txBox="1"/>
                <p:nvPr/>
              </p:nvSpPr>
              <p:spPr>
                <a:xfrm>
                  <a:off x="7016067" y="5077778"/>
                  <a:ext cx="1295067" cy="2053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en-US" sz="1050" dirty="0">
                      <a:solidFill>
                        <a:srgbClr val="F5A623"/>
                      </a:solidFill>
                      <a:latin typeface="Segoe UI"/>
                      <a:ea typeface="Segoe UI"/>
                      <a:cs typeface="Segoe UI"/>
                    </a:rPr>
                    <a:t>Transformer (big)</a:t>
                  </a:r>
                </a:p>
              </p:txBody>
            </p:sp>
          </p:grpSp>
          <p:grpSp>
            <p:nvGrpSpPr>
              <p:cNvPr id="78" name="Group 78"/>
              <p:cNvGrpSpPr/>
              <p:nvPr/>
            </p:nvGrpSpPr>
            <p:grpSpPr>
              <a:xfrm>
                <a:off x="8382000" y="1981200"/>
                <a:ext cx="2654618" cy="3276600"/>
                <a:chOff x="8382000" y="1981200"/>
                <a:chExt cx="2654618" cy="3276600"/>
              </a:xfrm>
            </p:grpSpPr>
            <p:sp>
              <p:nvSpPr>
                <p:cNvPr id="69" name="Rectangle 69"/>
                <p:cNvSpPr/>
                <p:nvPr/>
              </p:nvSpPr>
              <p:spPr>
                <a:xfrm>
                  <a:off x="8382000" y="1981200"/>
                  <a:ext cx="2488882" cy="22860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70" name="Rectangle 70"/>
                <p:cNvSpPr/>
                <p:nvPr/>
              </p:nvSpPr>
              <p:spPr>
                <a:xfrm>
                  <a:off x="8382000" y="2362200"/>
                  <a:ext cx="2534602" cy="22860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71" name="Rectangle 71"/>
                <p:cNvSpPr/>
                <p:nvPr/>
              </p:nvSpPr>
              <p:spPr>
                <a:xfrm>
                  <a:off x="8382000" y="2743200"/>
                  <a:ext cx="2568892" cy="22860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72" name="Rectangle 72"/>
                <p:cNvSpPr/>
                <p:nvPr/>
              </p:nvSpPr>
              <p:spPr>
                <a:xfrm>
                  <a:off x="8382000" y="3124200"/>
                  <a:ext cx="2575560" cy="22860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73" name="Rectangle 73"/>
                <p:cNvSpPr/>
                <p:nvPr/>
              </p:nvSpPr>
              <p:spPr>
                <a:xfrm>
                  <a:off x="8382000" y="3505200"/>
                  <a:ext cx="2565082" cy="22860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74" name="Rectangle 74"/>
                <p:cNvSpPr/>
                <p:nvPr/>
              </p:nvSpPr>
              <p:spPr>
                <a:xfrm>
                  <a:off x="8382000" y="3886200"/>
                  <a:ext cx="2613660" cy="22860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75" name="Rectangle 75"/>
                <p:cNvSpPr/>
                <p:nvPr/>
              </p:nvSpPr>
              <p:spPr>
                <a:xfrm>
                  <a:off x="8382000" y="4267200"/>
                  <a:ext cx="2622232" cy="228600"/>
                </a:xfrm>
                <a:prstGeom prst="rect">
                  <a:avLst/>
                </a:prstGeom>
                <a:solidFill>
                  <a:srgbClr val="9CC3E6"/>
                </a:solidFill>
                <a:ln>
                  <a:noFill/>
                </a:ln>
              </p:spPr>
            </p:sp>
            <p:sp>
              <p:nvSpPr>
                <p:cNvPr id="76" name="Rectangle 76"/>
                <p:cNvSpPr/>
                <p:nvPr/>
              </p:nvSpPr>
              <p:spPr>
                <a:xfrm>
                  <a:off x="8382000" y="4648200"/>
                  <a:ext cx="2419350" cy="228600"/>
                </a:xfrm>
                <a:prstGeom prst="rect">
                  <a:avLst/>
                </a:prstGeom>
                <a:solidFill>
                  <a:srgbClr val="F5A623"/>
                </a:solidFill>
                <a:ln>
                  <a:noFill/>
                </a:ln>
              </p:spPr>
            </p:sp>
            <p:sp>
              <p:nvSpPr>
                <p:cNvPr id="77" name="Rectangle 77"/>
                <p:cNvSpPr/>
                <p:nvPr/>
              </p:nvSpPr>
              <p:spPr>
                <a:xfrm>
                  <a:off x="8382000" y="5029200"/>
                  <a:ext cx="2654618" cy="228600"/>
                </a:xfrm>
                <a:prstGeom prst="rect">
                  <a:avLst/>
                </a:prstGeom>
                <a:solidFill>
                  <a:srgbClr val="F5A623"/>
                </a:solidFill>
                <a:ln>
                  <a:noFill/>
                </a:ln>
              </p:spPr>
            </p:sp>
          </p:grpSp>
          <p:grpSp>
            <p:nvGrpSpPr>
              <p:cNvPr id="88" name="Group 88"/>
              <p:cNvGrpSpPr/>
              <p:nvPr/>
            </p:nvGrpSpPr>
            <p:grpSpPr>
              <a:xfrm>
                <a:off x="10853547" y="2037874"/>
                <a:ext cx="572732" cy="3238690"/>
                <a:chOff x="10853547" y="2037874"/>
                <a:chExt cx="572732" cy="3238690"/>
              </a:xfrm>
            </p:grpSpPr>
            <p:sp>
              <p:nvSpPr>
                <p:cNvPr id="79" name="TextBox 79"/>
                <p:cNvSpPr txBox="1"/>
                <p:nvPr/>
              </p:nvSpPr>
              <p:spPr>
                <a:xfrm>
                  <a:off x="10920222" y="2037874"/>
                  <a:ext cx="30014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39.2</a:t>
                  </a:r>
                </a:p>
              </p:txBody>
            </p:sp>
            <p:sp>
              <p:nvSpPr>
                <p:cNvPr id="80" name="TextBox 80"/>
                <p:cNvSpPr txBox="1"/>
                <p:nvPr/>
              </p:nvSpPr>
              <p:spPr>
                <a:xfrm>
                  <a:off x="10967847" y="2418874"/>
                  <a:ext cx="37270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39.92</a:t>
                  </a:r>
                </a:p>
              </p:txBody>
            </p:sp>
            <p:sp>
              <p:nvSpPr>
                <p:cNvPr id="81" name="TextBox 81"/>
                <p:cNvSpPr txBox="1"/>
                <p:nvPr/>
              </p:nvSpPr>
              <p:spPr>
                <a:xfrm>
                  <a:off x="11005947" y="2799874"/>
                  <a:ext cx="37270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40.46</a:t>
                  </a:r>
                </a:p>
              </p:txBody>
            </p:sp>
            <p:sp>
              <p:nvSpPr>
                <p:cNvPr id="82" name="TextBox 82"/>
                <p:cNvSpPr txBox="1"/>
                <p:nvPr/>
              </p:nvSpPr>
              <p:spPr>
                <a:xfrm>
                  <a:off x="11005947" y="3180874"/>
                  <a:ext cx="37270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40.56</a:t>
                  </a:r>
                </a:p>
              </p:txBody>
            </p:sp>
            <p:sp>
              <p:nvSpPr>
                <p:cNvPr id="83" name="TextBox 83"/>
                <p:cNvSpPr txBox="1"/>
                <p:nvPr/>
              </p:nvSpPr>
              <p:spPr>
                <a:xfrm>
                  <a:off x="10996422" y="3561874"/>
                  <a:ext cx="30014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40.4</a:t>
                  </a:r>
                </a:p>
              </p:txBody>
            </p:sp>
            <p:sp>
              <p:nvSpPr>
                <p:cNvPr id="84" name="TextBox 84"/>
                <p:cNvSpPr txBox="1"/>
                <p:nvPr/>
              </p:nvSpPr>
              <p:spPr>
                <a:xfrm>
                  <a:off x="11044047" y="3942874"/>
                  <a:ext cx="37270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41.16</a:t>
                  </a:r>
                </a:p>
              </p:txBody>
            </p:sp>
            <p:sp>
              <p:nvSpPr>
                <p:cNvPr id="85" name="TextBox 85"/>
                <p:cNvSpPr txBox="1"/>
                <p:nvPr/>
              </p:nvSpPr>
              <p:spPr>
                <a:xfrm>
                  <a:off x="11053572" y="4323874"/>
                  <a:ext cx="37270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41.29</a:t>
                  </a:r>
                </a:p>
              </p:txBody>
            </p:sp>
            <p:sp>
              <p:nvSpPr>
                <p:cNvPr id="86" name="TextBox 86"/>
                <p:cNvSpPr txBox="1"/>
                <p:nvPr/>
              </p:nvSpPr>
              <p:spPr>
                <a:xfrm>
                  <a:off x="10853547" y="4704874"/>
                  <a:ext cx="30014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38.1</a:t>
                  </a:r>
                </a:p>
              </p:txBody>
            </p:sp>
            <p:sp>
              <p:nvSpPr>
                <p:cNvPr id="87" name="TextBox 87"/>
                <p:cNvSpPr txBox="1"/>
                <p:nvPr/>
              </p:nvSpPr>
              <p:spPr>
                <a:xfrm>
                  <a:off x="11082147" y="5085874"/>
                  <a:ext cx="300147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980" dirty="0">
                      <a:solidFill>
                        <a:srgbClr val="E8F1FA"/>
                      </a:solidFill>
                      <a:latin typeface="Segoe UI"/>
                      <a:ea typeface="Segoe UI"/>
                      <a:cs typeface="Segoe UI"/>
                    </a:rPr>
                    <a:t>41.8</a:t>
                  </a:r>
                </a:p>
              </p:txBody>
            </p:sp>
          </p:grpSp>
        </p:grpSp>
      </p:grpSp>
      <p:grpSp>
        <p:nvGrpSpPr>
          <p:cNvPr id="94" name="Group 94"/>
          <p:cNvGrpSpPr/>
          <p:nvPr/>
        </p:nvGrpSpPr>
        <p:grpSpPr>
          <a:xfrm>
            <a:off x="762000" y="5729764"/>
            <a:ext cx="8265541" cy="616743"/>
            <a:chOff x="762000" y="5729764"/>
            <a:chExt cx="8265541" cy="616743"/>
          </a:xfrm>
        </p:grpSpPr>
        <p:sp>
          <p:nvSpPr>
            <p:cNvPr id="91" name="Line 91"/>
            <p:cNvSpPr/>
            <p:nvPr/>
          </p:nvSpPr>
          <p:spPr>
            <a:xfrm>
              <a:off x="762000" y="5734050"/>
              <a:ext cx="9525" cy="457200"/>
            </a:xfrm>
            <a:custGeom>
              <a:avLst/>
              <a:gdLst/>
              <a:ahLst/>
              <a:cxnLst/>
              <a:rect l="l" t="t" r="r" b="b"/>
              <a:pathLst>
                <a:path w="9525" h="457200">
                  <a:moveTo>
                    <a:pt x="0" y="0"/>
                  </a:moveTo>
                  <a:lnTo>
                    <a:pt x="0" y="457200"/>
                  </a:lnTo>
                </a:path>
              </a:pathLst>
            </a:custGeom>
            <a:noFill/>
            <a:ln w="28575">
              <a:solidFill>
                <a:srgbClr val="F5A623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984123" y="5729764"/>
              <a:ext cx="8043418" cy="4779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28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Training cost: Transformer base used 3.3·10¹⁸ FLOPs against 1.8·10²⁰ for the GNMT + RL ensemble —</a:t>
              </a:r>
              <a:br/>
              <a:r>
                <a:rPr lang="en-US" sz="128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 xml:space="preserve">about </a:t>
              </a:r>
              <a:r>
                <a:rPr lang="en-US" sz="1280" b="1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55× less compute</a:t>
              </a:r>
              <a:r>
                <a:rPr lang="en-US" sz="128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 xml:space="preserve"> for a better EN→DE score.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985838" y="6170295"/>
              <a:ext cx="76276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Source: Vaswani et al. 2017, Table 2 (newstest2014). Single models and ensembles listed together, as in the paper.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95" name="Rectangle 95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96" name="Line 96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12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2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30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7088169" cy="801243"/>
            <a:chOff x="747522" y="439102"/>
            <a:chExt cx="7088169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34041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04 · ABLATIONS &amp; GENERALIZATION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708816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What the ablations taught (Table 3)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20750" y="1590199"/>
            <a:ext cx="5937250" cy="533876"/>
            <a:chOff x="920750" y="1590199"/>
            <a:chExt cx="5937250" cy="533876"/>
          </a:xfrm>
        </p:grpSpPr>
        <p:grpSp>
          <p:nvGrpSpPr>
            <p:cNvPr id="12" name="Group 12"/>
            <p:cNvGrpSpPr/>
            <p:nvPr/>
          </p:nvGrpSpPr>
          <p:grpSpPr>
            <a:xfrm>
              <a:off x="920750" y="1651000"/>
              <a:ext cx="190500" cy="203199"/>
              <a:chOff x="920750" y="1651000"/>
              <a:chExt cx="190500" cy="203199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920750" y="1803399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920750" y="165100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047750" y="165100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946150" y="1701800"/>
                <a:ext cx="9525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1600">
                    <a:moveTo>
                      <a:pt x="0" y="0"/>
                    </a:moveTo>
                    <a:lnTo>
                      <a:pt x="0" y="10160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71550" y="1739900"/>
                <a:ext cx="10160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88900">
                    <a:moveTo>
                      <a:pt x="0" y="88900"/>
                    </a:moveTo>
                    <a:lnTo>
                      <a:pt x="76200" y="88900"/>
                    </a:lnTo>
                    <a:cubicBezTo>
                      <a:pt x="90228" y="88900"/>
                      <a:pt x="101600" y="77528"/>
                      <a:pt x="101600" y="63500"/>
                    </a:cubicBezTo>
                    <a:lnTo>
                      <a:pt x="10160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035050" y="1739900"/>
                <a:ext cx="762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38100">
                    <a:moveTo>
                      <a:pt x="0" y="38100"/>
                    </a:moveTo>
                    <a:lnTo>
                      <a:pt x="38100" y="0"/>
                    </a:lnTo>
                    <a:lnTo>
                      <a:pt x="76200" y="3810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328547" y="1590199"/>
              <a:ext cx="8629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HEADS · 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26642" y="1797368"/>
              <a:ext cx="47448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A single head is 0.9 BLEU worse than the best setting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1333500" y="2114550"/>
              <a:ext cx="5524500" cy="9525"/>
            </a:xfrm>
            <a:custGeom>
              <a:avLst/>
              <a:gdLst/>
              <a:ahLst/>
              <a:cxnLst/>
              <a:rect l="l" t="t" r="r" b="b"/>
              <a:pathLst>
                <a:path w="5524500" h="9525">
                  <a:moveTo>
                    <a:pt x="0" y="0"/>
                  </a:moveTo>
                  <a:lnTo>
                    <a:pt x="552450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</p:grpSp>
      <p:grpSp>
        <p:nvGrpSpPr>
          <p:cNvPr id="28" name="Group 28"/>
          <p:cNvGrpSpPr/>
          <p:nvPr/>
        </p:nvGrpSpPr>
        <p:grpSpPr>
          <a:xfrm>
            <a:off x="895350" y="2390299"/>
            <a:ext cx="5962650" cy="533876"/>
            <a:chOff x="895350" y="2390299"/>
            <a:chExt cx="5962650" cy="533876"/>
          </a:xfrm>
        </p:grpSpPr>
        <p:grpSp>
          <p:nvGrpSpPr>
            <p:cNvPr id="24" name="Group 24"/>
            <p:cNvGrpSpPr/>
            <p:nvPr/>
          </p:nvGrpSpPr>
          <p:grpSpPr>
            <a:xfrm>
              <a:off x="895350" y="2438400"/>
              <a:ext cx="228599" cy="228600"/>
              <a:chOff x="895350" y="2438400"/>
              <a:chExt cx="228599" cy="2286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95350" y="2463800"/>
                <a:ext cx="1397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9525">
                    <a:moveTo>
                      <a:pt x="0" y="0"/>
                    </a:moveTo>
                    <a:lnTo>
                      <a:pt x="13970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1009650" y="2438400"/>
                <a:ext cx="254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50800">
                    <a:moveTo>
                      <a:pt x="0" y="50800"/>
                    </a:moveTo>
                    <a:lnTo>
                      <a:pt x="25400" y="25400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95350" y="2438400"/>
                <a:ext cx="254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50800">
                    <a:moveTo>
                      <a:pt x="25400" y="0"/>
                    </a:moveTo>
                    <a:lnTo>
                      <a:pt x="0" y="25400"/>
                    </a:lnTo>
                    <a:lnTo>
                      <a:pt x="25400" y="5080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098549" y="2527300"/>
                <a:ext cx="9525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39700">
                    <a:moveTo>
                      <a:pt x="0" y="0"/>
                    </a:moveTo>
                    <a:lnTo>
                      <a:pt x="0" y="13970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73149" y="2641599"/>
                <a:ext cx="508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25400">
                    <a:moveTo>
                      <a:pt x="0" y="0"/>
                    </a:moveTo>
                    <a:lnTo>
                      <a:pt x="25400" y="25400"/>
                    </a:lnTo>
                    <a:lnTo>
                      <a:pt x="5080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073149" y="2527300"/>
                <a:ext cx="508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25400">
                    <a:moveTo>
                      <a:pt x="50800" y="25400"/>
                    </a:moveTo>
                    <a:lnTo>
                      <a:pt x="25400" y="0"/>
                    </a:lnTo>
                    <a:lnTo>
                      <a:pt x="0" y="2540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95350" y="2527300"/>
                <a:ext cx="13970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139700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14300" y="0"/>
                    </a:lnTo>
                    <a:cubicBezTo>
                      <a:pt x="128328" y="0"/>
                      <a:pt x="139700" y="11372"/>
                      <a:pt x="139700" y="25400"/>
                    </a:cubicBezTo>
                    <a:lnTo>
                      <a:pt x="139700" y="114300"/>
                    </a:lnTo>
                    <a:cubicBezTo>
                      <a:pt x="139700" y="128328"/>
                      <a:pt x="128328" y="139700"/>
                      <a:pt x="114300" y="139700"/>
                    </a:cubicBezTo>
                    <a:lnTo>
                      <a:pt x="25400" y="139700"/>
                    </a:lnTo>
                    <a:cubicBezTo>
                      <a:pt x="11372" y="139700"/>
                      <a:pt x="0" y="128328"/>
                      <a:pt x="0" y="1143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328547" y="2390299"/>
              <a:ext cx="13445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KEY SIZE · d_k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26642" y="2597468"/>
              <a:ext cx="51629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Smaller d_k hurts — compatibility is not trivial to compute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1333500" y="2914650"/>
              <a:ext cx="5524500" cy="9525"/>
            </a:xfrm>
            <a:custGeom>
              <a:avLst/>
              <a:gdLst/>
              <a:ahLst/>
              <a:cxnLst/>
              <a:rect l="l" t="t" r="r" b="b"/>
              <a:pathLst>
                <a:path w="5524500" h="9525">
                  <a:moveTo>
                    <a:pt x="0" y="0"/>
                  </a:moveTo>
                  <a:lnTo>
                    <a:pt x="552450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</p:grpSp>
      <p:grpSp>
        <p:nvGrpSpPr>
          <p:cNvPr id="36" name="Group 36"/>
          <p:cNvGrpSpPr/>
          <p:nvPr/>
        </p:nvGrpSpPr>
        <p:grpSpPr>
          <a:xfrm>
            <a:off x="908050" y="3190399"/>
            <a:ext cx="5949950" cy="533876"/>
            <a:chOff x="908050" y="3190399"/>
            <a:chExt cx="5949950" cy="533876"/>
          </a:xfrm>
        </p:grpSpPr>
        <p:grpSp>
          <p:nvGrpSpPr>
            <p:cNvPr id="32" name="Group 32"/>
            <p:cNvGrpSpPr/>
            <p:nvPr/>
          </p:nvGrpSpPr>
          <p:grpSpPr>
            <a:xfrm>
              <a:off x="908050" y="3251200"/>
              <a:ext cx="203199" cy="203199"/>
              <a:chOff x="908050" y="3251200"/>
              <a:chExt cx="203199" cy="203199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908050" y="3251200"/>
                <a:ext cx="203199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101600">
                    <a:moveTo>
                      <a:pt x="101600" y="0"/>
                    </a:moveTo>
                    <a:lnTo>
                      <a:pt x="0" y="50800"/>
                    </a:lnTo>
                    <a:lnTo>
                      <a:pt x="101600" y="101600"/>
                    </a:lnTo>
                    <a:lnTo>
                      <a:pt x="203199" y="50800"/>
                    </a:lnTo>
                    <a:lnTo>
                      <a:pt x="10160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908050" y="3352800"/>
                <a:ext cx="203199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50800">
                    <a:moveTo>
                      <a:pt x="0" y="0"/>
                    </a:moveTo>
                    <a:lnTo>
                      <a:pt x="101600" y="50800"/>
                    </a:lnTo>
                    <a:lnTo>
                      <a:pt x="203199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908050" y="3403599"/>
                <a:ext cx="203199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50800">
                    <a:moveTo>
                      <a:pt x="0" y="0"/>
                    </a:moveTo>
                    <a:lnTo>
                      <a:pt x="101600" y="50800"/>
                    </a:lnTo>
                    <a:lnTo>
                      <a:pt x="203199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328547" y="3190399"/>
              <a:ext cx="9686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MODEL SIZE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326642" y="3397568"/>
              <a:ext cx="44543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Bigger is better; the big model wins on both tasks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1333500" y="3714750"/>
              <a:ext cx="5524500" cy="9525"/>
            </a:xfrm>
            <a:custGeom>
              <a:avLst/>
              <a:gdLst/>
              <a:ahLst/>
              <a:cxnLst/>
              <a:rect l="l" t="t" r="r" b="b"/>
              <a:pathLst>
                <a:path w="5524500" h="9525">
                  <a:moveTo>
                    <a:pt x="0" y="0"/>
                  </a:moveTo>
                  <a:lnTo>
                    <a:pt x="552450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</p:grpSp>
      <p:grpSp>
        <p:nvGrpSpPr>
          <p:cNvPr id="41" name="Group 41"/>
          <p:cNvGrpSpPr/>
          <p:nvPr/>
        </p:nvGrpSpPr>
        <p:grpSpPr>
          <a:xfrm>
            <a:off x="895350" y="3990499"/>
            <a:ext cx="5962650" cy="533876"/>
            <a:chOff x="895350" y="3990499"/>
            <a:chExt cx="5962650" cy="533876"/>
          </a:xfrm>
        </p:grpSpPr>
        <p:sp>
          <p:nvSpPr>
            <p:cNvPr id="37" name="Freeform 37"/>
            <p:cNvSpPr/>
            <p:nvPr/>
          </p:nvSpPr>
          <p:spPr>
            <a:xfrm>
              <a:off x="895350" y="4051300"/>
              <a:ext cx="215899" cy="203199"/>
            </a:xfrm>
            <a:custGeom>
              <a:avLst/>
              <a:gdLst/>
              <a:ahLst/>
              <a:cxnLst/>
              <a:rect l="l" t="t" r="r" b="b"/>
              <a:pathLst>
                <a:path w="215899" h="203199">
                  <a:moveTo>
                    <a:pt x="165100" y="177800"/>
                  </a:moveTo>
                  <a:cubicBezTo>
                    <a:pt x="179128" y="177800"/>
                    <a:pt x="190500" y="189171"/>
                    <a:pt x="190500" y="203199"/>
                  </a:cubicBezTo>
                  <a:cubicBezTo>
                    <a:pt x="190500" y="189171"/>
                    <a:pt x="201871" y="177800"/>
                    <a:pt x="215899" y="177800"/>
                  </a:cubicBezTo>
                  <a:cubicBezTo>
                    <a:pt x="201871" y="177800"/>
                    <a:pt x="190500" y="166428"/>
                    <a:pt x="190500" y="152400"/>
                  </a:cubicBezTo>
                  <a:cubicBezTo>
                    <a:pt x="190500" y="166428"/>
                    <a:pt x="179128" y="177800"/>
                    <a:pt x="165100" y="177800"/>
                  </a:cubicBezTo>
                  <a:moveTo>
                    <a:pt x="165100" y="25400"/>
                  </a:moveTo>
                  <a:cubicBezTo>
                    <a:pt x="179128" y="25400"/>
                    <a:pt x="190500" y="36772"/>
                    <a:pt x="190500" y="50800"/>
                  </a:cubicBezTo>
                  <a:cubicBezTo>
                    <a:pt x="190500" y="36772"/>
                    <a:pt x="201871" y="25400"/>
                    <a:pt x="215899" y="25400"/>
                  </a:cubicBezTo>
                  <a:cubicBezTo>
                    <a:pt x="201871" y="25400"/>
                    <a:pt x="190500" y="14028"/>
                    <a:pt x="190500" y="0"/>
                  </a:cubicBezTo>
                  <a:cubicBezTo>
                    <a:pt x="190500" y="14028"/>
                    <a:pt x="179128" y="25400"/>
                    <a:pt x="165100" y="25400"/>
                  </a:cubicBezTo>
                  <a:moveTo>
                    <a:pt x="76200" y="177800"/>
                  </a:moveTo>
                  <a:cubicBezTo>
                    <a:pt x="76200" y="135716"/>
                    <a:pt x="110316" y="101600"/>
                    <a:pt x="152400" y="101600"/>
                  </a:cubicBezTo>
                  <a:cubicBezTo>
                    <a:pt x="110316" y="101600"/>
                    <a:pt x="76200" y="67484"/>
                    <a:pt x="76200" y="25400"/>
                  </a:cubicBezTo>
                  <a:cubicBezTo>
                    <a:pt x="76200" y="67484"/>
                    <a:pt x="42084" y="101600"/>
                    <a:pt x="0" y="101600"/>
                  </a:cubicBezTo>
                  <a:cubicBezTo>
                    <a:pt x="42084" y="101600"/>
                    <a:pt x="76200" y="135716"/>
                    <a:pt x="76200" y="177800"/>
                  </a:cubicBezTo>
                </a:path>
              </a:pathLst>
            </a:custGeom>
            <a:noFill/>
            <a:ln w="25400">
              <a:solidFill>
                <a:srgbClr val="9CC3E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328547" y="3990499"/>
              <a:ext cx="13606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REGULARIZATION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26642" y="4197668"/>
              <a:ext cx="41812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Dropout is very helpful in avoiding over-fitting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1333500" y="4514850"/>
              <a:ext cx="5524500" cy="9525"/>
            </a:xfrm>
            <a:custGeom>
              <a:avLst/>
              <a:gdLst/>
              <a:ahLst/>
              <a:cxnLst/>
              <a:rect l="l" t="t" r="r" b="b"/>
              <a:pathLst>
                <a:path w="5524500" h="9525">
                  <a:moveTo>
                    <a:pt x="0" y="0"/>
                  </a:moveTo>
                  <a:lnTo>
                    <a:pt x="552450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</p:grpSp>
      <p:grpSp>
        <p:nvGrpSpPr>
          <p:cNvPr id="45" name="Group 45"/>
          <p:cNvGrpSpPr/>
          <p:nvPr/>
        </p:nvGrpSpPr>
        <p:grpSpPr>
          <a:xfrm>
            <a:off x="895071" y="4790599"/>
            <a:ext cx="4712630" cy="471202"/>
            <a:chOff x="895071" y="4790599"/>
            <a:chExt cx="4712630" cy="471202"/>
          </a:xfrm>
        </p:grpSpPr>
        <p:sp>
          <p:nvSpPr>
            <p:cNvPr id="42" name="Freeform 42"/>
            <p:cNvSpPr/>
            <p:nvPr/>
          </p:nvSpPr>
          <p:spPr>
            <a:xfrm>
              <a:off x="895071" y="4851400"/>
              <a:ext cx="228879" cy="203199"/>
            </a:xfrm>
            <a:custGeom>
              <a:avLst/>
              <a:gdLst/>
              <a:ahLst/>
              <a:cxnLst/>
              <a:rect l="l" t="t" r="r" b="b"/>
              <a:pathLst>
                <a:path w="228879" h="203199">
                  <a:moveTo>
                    <a:pt x="228879" y="101600"/>
                  </a:moveTo>
                  <a:lnTo>
                    <a:pt x="203479" y="101600"/>
                  </a:lnTo>
                  <a:cubicBezTo>
                    <a:pt x="192125" y="101600"/>
                    <a:pt x="182372" y="90716"/>
                    <a:pt x="181114" y="76200"/>
                  </a:cubicBezTo>
                  <a:cubicBezTo>
                    <a:pt x="177355" y="32385"/>
                    <a:pt x="171602" y="0"/>
                    <a:pt x="146202" y="0"/>
                  </a:cubicBezTo>
                  <a:cubicBezTo>
                    <a:pt x="120802" y="0"/>
                    <a:pt x="114452" y="45491"/>
                    <a:pt x="114452" y="101600"/>
                  </a:cubicBezTo>
                  <a:cubicBezTo>
                    <a:pt x="114452" y="157708"/>
                    <a:pt x="108102" y="203199"/>
                    <a:pt x="82702" y="203199"/>
                  </a:cubicBezTo>
                  <a:cubicBezTo>
                    <a:pt x="57302" y="203199"/>
                    <a:pt x="51562" y="170853"/>
                    <a:pt x="47790" y="127000"/>
                  </a:cubicBezTo>
                  <a:cubicBezTo>
                    <a:pt x="46520" y="112433"/>
                    <a:pt x="36779" y="101600"/>
                    <a:pt x="25400" y="101600"/>
                  </a:cubicBezTo>
                  <a:lnTo>
                    <a:pt x="0" y="101600"/>
                  </a:lnTo>
                </a:path>
              </a:pathLst>
            </a:custGeom>
            <a:noFill/>
            <a:ln w="25400">
              <a:solidFill>
                <a:srgbClr val="9CC3E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328547" y="4790599"/>
              <a:ext cx="8706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POSITIONS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326642" y="4997768"/>
              <a:ext cx="4281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Learned vs sinusoidal positions: nearly identical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328738" y="5579745"/>
            <a:ext cx="5166043" cy="176212"/>
            <a:chOff x="1328738" y="5579745"/>
            <a:chExt cx="5166043" cy="176212"/>
          </a:xfrm>
        </p:grpSpPr>
        <p:sp>
          <p:nvSpPr>
            <p:cNvPr id="46" name="TextBox 46"/>
            <p:cNvSpPr txBox="1"/>
            <p:nvPr/>
          </p:nvSpPr>
          <p:spPr>
            <a:xfrm>
              <a:off x="1328738" y="5579745"/>
              <a:ext cx="51660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Each row varies one setting of the base model on EN–DE (newstest2013 dev set)</a:t>
              </a:r>
            </a:p>
          </p:txBody>
        </p:sp>
      </p:grpSp>
      <p:sp>
        <p:nvSpPr>
          <p:cNvPr id="48" name="Freeform 48"/>
          <p:cNvSpPr/>
          <p:nvPr/>
        </p:nvSpPr>
        <p:spPr>
          <a:xfrm>
            <a:off x="7524750" y="1905000"/>
            <a:ext cx="3714750" cy="1809750"/>
          </a:xfrm>
          <a:prstGeom prst="bracketPair">
            <a:avLst/>
          </a:prstGeom>
          <a:noFill/>
          <a:ln w="19050">
            <a:solidFill>
              <a:srgbClr val="9CC3E6"/>
            </a:solidFill>
          </a:ln>
        </p:spPr>
      </p:sp>
      <p:grpSp>
        <p:nvGrpSpPr>
          <p:cNvPr id="57" name="Group 57"/>
          <p:cNvGrpSpPr/>
          <p:nvPr/>
        </p:nvGrpSpPr>
        <p:grpSpPr>
          <a:xfrm>
            <a:off x="7800396" y="1571149"/>
            <a:ext cx="3215549" cy="1857851"/>
            <a:chOff x="7800396" y="1571149"/>
            <a:chExt cx="3215549" cy="1857851"/>
          </a:xfrm>
        </p:grpSpPr>
        <p:sp>
          <p:nvSpPr>
            <p:cNvPr id="49" name="TextBox 49"/>
            <p:cNvSpPr txBox="1"/>
            <p:nvPr/>
          </p:nvSpPr>
          <p:spPr>
            <a:xfrm>
              <a:off x="8015793" y="1571149"/>
              <a:ext cx="27326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GENERALIZATION · WSJ PARSING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923297" y="2485072"/>
              <a:ext cx="110790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450" b="1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91.3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010425" y="3010852"/>
              <a:ext cx="9336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F1 · WSJ only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00396" y="3209449"/>
              <a:ext cx="13537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4-layer Transformer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9382125" y="2381250"/>
              <a:ext cx="9525" cy="1047750"/>
            </a:xfrm>
            <a:custGeom>
              <a:avLst/>
              <a:gdLst/>
              <a:ahLst/>
              <a:cxnLst/>
              <a:rect l="l" t="t" r="r" b="b"/>
              <a:pathLst>
                <a:path w="9525" h="1047750">
                  <a:moveTo>
                    <a:pt x="0" y="0"/>
                  </a:moveTo>
                  <a:lnTo>
                    <a:pt x="0" y="104775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733047" y="2485072"/>
              <a:ext cx="110790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450" b="1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92.7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558056" y="3010852"/>
              <a:ext cx="14578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F1 · semi-supervised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610146" y="3209449"/>
              <a:ext cx="13537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CB4CC"/>
                  </a:solidFill>
                  <a:latin typeface="Segoe UI"/>
                  <a:ea typeface="Segoe UI"/>
                  <a:cs typeface="Segoe UI"/>
                </a:rPr>
                <a:t>4-layer Transformer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7524750" y="3962400"/>
            <a:ext cx="3234309" cy="1619250"/>
            <a:chOff x="7524750" y="3962400"/>
            <a:chExt cx="3234309" cy="1619250"/>
          </a:xfrm>
        </p:grpSpPr>
        <p:sp>
          <p:nvSpPr>
            <p:cNvPr id="58" name="Line 58"/>
            <p:cNvSpPr/>
            <p:nvPr/>
          </p:nvSpPr>
          <p:spPr>
            <a:xfrm>
              <a:off x="7524750" y="3962400"/>
              <a:ext cx="9525" cy="1619250"/>
            </a:xfrm>
            <a:custGeom>
              <a:avLst/>
              <a:gdLst/>
              <a:ahLst/>
              <a:cxnLst/>
              <a:rect l="l" t="t" r="r" b="b"/>
              <a:pathLst>
                <a:path w="9525" h="1619250">
                  <a:moveTo>
                    <a:pt x="0" y="0"/>
                  </a:moveTo>
                  <a:lnTo>
                    <a:pt x="0" y="1619250"/>
                  </a:lnTo>
                </a:path>
              </a:pathLst>
            </a:custGeom>
            <a:noFill/>
            <a:ln w="28575">
              <a:solidFill>
                <a:srgbClr val="F5A623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746873" y="4053364"/>
              <a:ext cx="3012186" cy="14876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A 4-layer Transformer trained on WSJ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alone reaches 91.3 F1; with semi-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supervised data it reaches 92.7.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The abstract's claim holds: the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architecture generalizes beyond</a:t>
              </a:r>
              <a:br/>
              <a:r>
                <a:rPr lang="en-US" sz="128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>translation, large data or small.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61" name="Rectangle 61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62" name="Line 62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13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60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20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800"/>
                            </p:stCondLst>
                            <p:childTnLst>
                              <p:par>
                                <p:cTn xmlns:p="http://schemas.openxmlformats.org/presentationml/2006/main" id="2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300"/>
                            </p:stCondLst>
                            <p:childTnLst>
                              <p:par>
                                <p:cTn xmlns:p="http://schemas.openxmlformats.org/presentationml/2006/main" id="29" presetID="2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100"/>
                            </p:stCondLst>
                            <p:childTnLst>
                              <p:par>
                                <p:cTn xmlns:p="http://schemas.openxmlformats.org/presentationml/2006/main" id="34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81000" y="0"/>
                </a:moveTo>
                <a:lnTo>
                  <a:pt x="38100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143000" y="0"/>
                </a:moveTo>
                <a:lnTo>
                  <a:pt x="1143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1905000" y="0"/>
                </a:moveTo>
                <a:lnTo>
                  <a:pt x="1905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2667000" y="0"/>
                </a:moveTo>
                <a:lnTo>
                  <a:pt x="2667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429000" y="0"/>
                </a:moveTo>
                <a:lnTo>
                  <a:pt x="3429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191000" y="0"/>
                </a:moveTo>
                <a:lnTo>
                  <a:pt x="4191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4953000" y="0"/>
                </a:moveTo>
                <a:lnTo>
                  <a:pt x="4953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5715000" y="0"/>
                </a:moveTo>
                <a:lnTo>
                  <a:pt x="5715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477000" y="0"/>
                </a:moveTo>
                <a:lnTo>
                  <a:pt x="6477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239000" y="0"/>
                </a:moveTo>
                <a:lnTo>
                  <a:pt x="7239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001000" y="0"/>
                </a:moveTo>
                <a:lnTo>
                  <a:pt x="8001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8763000" y="0"/>
                </a:moveTo>
                <a:lnTo>
                  <a:pt x="8763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525000" y="0"/>
                </a:moveTo>
                <a:lnTo>
                  <a:pt x="9525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287000" y="0"/>
                </a:moveTo>
                <a:lnTo>
                  <a:pt x="10287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049000" y="0"/>
                </a:moveTo>
                <a:lnTo>
                  <a:pt x="11049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11811000" y="0"/>
                </a:moveTo>
                <a:lnTo>
                  <a:pt x="11811000" y="6858000"/>
                </a:lnTo>
                <a:moveTo>
                  <a:pt x="0" y="381000"/>
                </a:moveTo>
                <a:lnTo>
                  <a:pt x="12192000" y="381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143000"/>
                </a:moveTo>
                <a:lnTo>
                  <a:pt x="12192000" y="1143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1905000"/>
                </a:moveTo>
                <a:lnTo>
                  <a:pt x="12192000" y="1905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2667000"/>
                </a:moveTo>
                <a:lnTo>
                  <a:pt x="12192000" y="2667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191000"/>
                </a:moveTo>
                <a:lnTo>
                  <a:pt x="12192000" y="4191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4953000"/>
                </a:moveTo>
                <a:lnTo>
                  <a:pt x="12192000" y="4953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5715000"/>
                </a:moveTo>
                <a:lnTo>
                  <a:pt x="12192000" y="5715000"/>
                </a:lnTo>
                <a:moveTo>
                  <a:pt x="0" y="6096000"/>
                </a:moveTo>
                <a:lnTo>
                  <a:pt x="12192000" y="6096000"/>
                </a:lnTo>
                <a:moveTo>
                  <a:pt x="0" y="6477000"/>
                </a:moveTo>
                <a:lnTo>
                  <a:pt x="12192000" y="6477000"/>
                </a:lnTo>
              </a:path>
            </a:pathLst>
          </a:custGeom>
          <a:noFill/>
          <a:ln w="9525">
            <a:solidFill>
              <a:srgbClr val="9CC3E6">
                <a:alpha val="7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7522" y="439102"/>
            <a:ext cx="3930215" cy="801243"/>
            <a:chOff x="747522" y="439102"/>
            <a:chExt cx="3930215" cy="801243"/>
          </a:xfrm>
        </p:grpSpPr>
        <p:sp>
          <p:nvSpPr>
            <p:cNvPr id="3" name="TextBox 3"/>
            <p:cNvSpPr txBox="1"/>
            <p:nvPr/>
          </p:nvSpPr>
          <p:spPr>
            <a:xfrm>
              <a:off x="775716" y="439102"/>
              <a:ext cx="13345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05 · LEGACY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7522" y="682942"/>
              <a:ext cx="393021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What was built on it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40888" y="1571149"/>
            <a:ext cx="10017637" cy="1702212"/>
            <a:chOff x="1040888" y="1571149"/>
            <a:chExt cx="10017637" cy="1702212"/>
          </a:xfrm>
        </p:grpSpPr>
        <p:sp>
          <p:nvSpPr>
            <p:cNvPr id="6" name="Line 6"/>
            <p:cNvSpPr/>
            <p:nvPr/>
          </p:nvSpPr>
          <p:spPr>
            <a:xfrm>
              <a:off x="1143000" y="2571750"/>
              <a:ext cx="9906000" cy="9525"/>
            </a:xfrm>
            <a:custGeom>
              <a:avLst/>
              <a:gdLst/>
              <a:ahLst/>
              <a:cxnLst/>
              <a:rect l="l" t="t" r="r" b="b"/>
              <a:pathLst>
                <a:path w="9906000" h="9525">
                  <a:moveTo>
                    <a:pt x="0" y="0"/>
                  </a:moveTo>
                  <a:lnTo>
                    <a:pt x="9906000" y="0"/>
                  </a:lnTo>
                </a:path>
              </a:pathLst>
            </a:custGeom>
            <a:noFill/>
            <a:ln w="14288">
              <a:solidFill>
                <a:srgbClr val="9CC3E6"/>
              </a:solidFill>
            </a:ln>
          </p:spPr>
        </p:sp>
        <p:sp>
          <p:nvSpPr>
            <p:cNvPr id="7" name="Line 7"/>
            <p:cNvSpPr/>
            <p:nvPr/>
          </p:nvSpPr>
          <p:spPr>
            <a:xfrm>
              <a:off x="1143000" y="247650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>
              <a:solidFill>
                <a:srgbClr val="9CC3E6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11049000" y="247650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>
              <a:solidFill>
                <a:srgbClr val="9CC3E6"/>
              </a:solidFill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040888" y="2118360"/>
              <a:ext cx="1347225" cy="1155001"/>
              <a:chOff x="1040888" y="2118360"/>
              <a:chExt cx="1347225" cy="1155001"/>
            </a:xfrm>
          </p:grpSpPr>
          <p:sp>
            <p:nvSpPr>
              <p:cNvPr id="9" name="Ellipse 9"/>
              <p:cNvSpPr/>
              <p:nvPr/>
            </p:nvSpPr>
            <p:spPr>
              <a:xfrm>
                <a:off x="1628775" y="2486025"/>
                <a:ext cx="171450" cy="171450"/>
              </a:xfrm>
              <a:prstGeom prst="ellipse">
                <a:avLst/>
              </a:prstGeom>
              <a:solidFill>
                <a:srgbClr val="F5A623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1500416" y="2118360"/>
                <a:ext cx="42816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spc="1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2017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040888" y="2790825"/>
                <a:ext cx="134722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Transformer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376991" y="3068002"/>
                <a:ext cx="67501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9CB4CC"/>
                    </a:solidFill>
                    <a:latin typeface="Segoe UI"/>
                    <a:ea typeface="Segoe UI"/>
                    <a:cs typeface="Segoe UI"/>
                  </a:rPr>
                  <a:t>the paper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3249216" y="2118360"/>
              <a:ext cx="1883569" cy="1155001"/>
              <a:chOff x="3249216" y="2118360"/>
              <a:chExt cx="1883569" cy="1155001"/>
            </a:xfrm>
          </p:grpSpPr>
          <p:sp>
            <p:nvSpPr>
              <p:cNvPr id="14" name="Ellipse 14"/>
              <p:cNvSpPr/>
              <p:nvPr/>
            </p:nvSpPr>
            <p:spPr>
              <a:xfrm>
                <a:off x="4133850" y="2514600"/>
                <a:ext cx="114300" cy="114300"/>
              </a:xfrm>
              <a:prstGeom prst="ellipse">
                <a:avLst/>
              </a:prstGeom>
              <a:solidFill>
                <a:srgbClr val="0B1F3A"/>
              </a:solidFill>
              <a:ln w="19050">
                <a:solidFill>
                  <a:srgbClr val="9CC3E6"/>
                </a:solidFill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3976916" y="2118360"/>
                <a:ext cx="42816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spc="150" dirty="0">
                    <a:solidFill>
                      <a:srgbClr val="9CC3E6"/>
                    </a:solidFill>
                    <a:latin typeface="Consolas"/>
                    <a:ea typeface="Consolas"/>
                    <a:cs typeface="Consolas"/>
                  </a:rPr>
                  <a:t>2018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3623310" y="2790825"/>
                <a:ext cx="113538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BERT · GPT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3249216" y="3068002"/>
                <a:ext cx="188356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9CB4CC"/>
                    </a:solidFill>
                    <a:latin typeface="Segoe UI"/>
                    <a:ea typeface="Segoe UI"/>
                    <a:cs typeface="Segoe UI"/>
                  </a:rPr>
                  <a:t>pretrained language models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5912682" y="2118360"/>
              <a:ext cx="1890636" cy="1155001"/>
              <a:chOff x="5912682" y="2118360"/>
              <a:chExt cx="1890636" cy="1155001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6800850" y="2514600"/>
                <a:ext cx="114300" cy="114300"/>
              </a:xfrm>
              <a:prstGeom prst="ellipse">
                <a:avLst/>
              </a:prstGeom>
              <a:solidFill>
                <a:srgbClr val="0B1F3A"/>
              </a:solidFill>
              <a:ln w="19050">
                <a:solidFill>
                  <a:srgbClr val="9CC3E6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6643916" y="2118360"/>
                <a:ext cx="42816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spc="150" dirty="0">
                    <a:solidFill>
                      <a:srgbClr val="9CC3E6"/>
                    </a:solidFill>
                    <a:latin typeface="Consolas"/>
                    <a:ea typeface="Consolas"/>
                    <a:cs typeface="Consolas"/>
                  </a:rPr>
                  <a:t>2021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6199486" y="2790825"/>
                <a:ext cx="131702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ViT · DALL-E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5912682" y="3068002"/>
                <a:ext cx="189063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9CB4CC"/>
                    </a:solidFill>
                    <a:latin typeface="Segoe UI"/>
                    <a:ea typeface="Segoe UI"/>
                    <a:cs typeface="Segoe UI"/>
                  </a:rPr>
                  <a:t>vision and image generation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8424351" y="2118360"/>
              <a:ext cx="2582298" cy="1155001"/>
              <a:chOff x="8424351" y="2118360"/>
              <a:chExt cx="2582298" cy="1155001"/>
            </a:xfrm>
          </p:grpSpPr>
          <p:sp>
            <p:nvSpPr>
              <p:cNvPr id="24" name="Ellipse 24"/>
              <p:cNvSpPr/>
              <p:nvPr/>
            </p:nvSpPr>
            <p:spPr>
              <a:xfrm>
                <a:off x="9658350" y="2514600"/>
                <a:ext cx="114300" cy="114300"/>
              </a:xfrm>
              <a:prstGeom prst="ellipse">
                <a:avLst/>
              </a:prstGeom>
              <a:solidFill>
                <a:srgbClr val="0B1F3A"/>
              </a:solidFill>
              <a:ln w="19050">
                <a:solidFill>
                  <a:srgbClr val="9CC3E6"/>
                </a:solidFill>
              </a:ln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9501416" y="2118360"/>
                <a:ext cx="42816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spc="150" dirty="0">
                    <a:solidFill>
                      <a:srgbClr val="9CC3E6"/>
                    </a:solidFill>
                    <a:latin typeface="Consolas"/>
                    <a:ea typeface="Consolas"/>
                    <a:cs typeface="Consolas"/>
                  </a:rPr>
                  <a:t>2024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8424351" y="2790825"/>
                <a:ext cx="258229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Stable Diffusion 3 · Sora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8791384" y="3068002"/>
                <a:ext cx="184823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9CB4CC"/>
                    </a:solidFill>
                    <a:latin typeface="Segoe UI"/>
                    <a:ea typeface="Segoe UI"/>
                    <a:cs typeface="Segoe UI"/>
                  </a:rPr>
                  <a:t>image and video generation</a:t>
                </a:r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3896639" y="1571149"/>
              <a:ext cx="43987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spc="150" dirty="0">
                  <a:solidFill>
                    <a:srgbClr val="9CC3E6"/>
                  </a:solidFill>
                  <a:latin typeface="Consolas"/>
                  <a:ea typeface="Consolas"/>
                  <a:cs typeface="Consolas"/>
                </a:rPr>
                <a:t>SYSTEMS BUILT ON THE TRANSFORMER ARCHITECTURE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368552" y="4038600"/>
            <a:ext cx="2596896" cy="1495806"/>
            <a:chOff x="1368552" y="4038600"/>
            <a:chExt cx="2596896" cy="1495806"/>
          </a:xfrm>
        </p:grpSpPr>
        <p:grpSp>
          <p:nvGrpSpPr>
            <p:cNvPr id="36" name="Group 36"/>
            <p:cNvGrpSpPr/>
            <p:nvPr/>
          </p:nvGrpSpPr>
          <p:grpSpPr>
            <a:xfrm>
              <a:off x="2578100" y="4038600"/>
              <a:ext cx="177800" cy="228599"/>
              <a:chOff x="2578100" y="4038600"/>
              <a:chExt cx="177800" cy="228599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2692400" y="40386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0" y="50800"/>
                    </a:lnTo>
                    <a:cubicBezTo>
                      <a:pt x="0" y="57814"/>
                      <a:pt x="5686" y="63500"/>
                      <a:pt x="12700" y="63500"/>
                    </a:cubicBezTo>
                    <a:lnTo>
                      <a:pt x="63500" y="6350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2578100" y="4038600"/>
                <a:ext cx="177800" cy="228599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28599">
                    <a:moveTo>
                      <a:pt x="152400" y="228599"/>
                    </a:moveTo>
                    <a:lnTo>
                      <a:pt x="25400" y="228599"/>
                    </a:lnTo>
                    <a:cubicBezTo>
                      <a:pt x="11372" y="228599"/>
                      <a:pt x="0" y="217227"/>
                      <a:pt x="0" y="203199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  <a:lnTo>
                      <a:pt x="114300" y="0"/>
                    </a:lnTo>
                    <a:lnTo>
                      <a:pt x="177800" y="63500"/>
                    </a:lnTo>
                    <a:lnTo>
                      <a:pt x="177800" y="203199"/>
                    </a:lnTo>
                    <a:cubicBezTo>
                      <a:pt x="177800" y="217227"/>
                      <a:pt x="166428" y="228599"/>
                      <a:pt x="152400" y="228599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2628900" y="4114800"/>
                <a:ext cx="127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9525">
                    <a:moveTo>
                      <a:pt x="0" y="0"/>
                    </a:moveTo>
                    <a:lnTo>
                      <a:pt x="1270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2628900" y="4165600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2628900" y="4216399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576620" y="4504372"/>
              <a:ext cx="218076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450" b="1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250,000+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384706" y="5071110"/>
              <a:ext cx="25645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citations as of 2026 — among the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68552" y="529971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top-ten most-cited this century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4708703" y="4051300"/>
            <a:ext cx="2774594" cy="1483106"/>
            <a:chOff x="4708703" y="4051300"/>
            <a:chExt cx="2774594" cy="1483106"/>
          </a:xfrm>
        </p:grpSpPr>
        <p:grpSp>
          <p:nvGrpSpPr>
            <p:cNvPr id="44" name="Group 44"/>
            <p:cNvGrpSpPr/>
            <p:nvPr/>
          </p:nvGrpSpPr>
          <p:grpSpPr>
            <a:xfrm>
              <a:off x="5990388" y="4051300"/>
              <a:ext cx="207211" cy="207211"/>
              <a:chOff x="5990388" y="4051300"/>
              <a:chExt cx="207211" cy="207211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994400" y="4051300"/>
                <a:ext cx="203199" cy="203199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203199">
                    <a:moveTo>
                      <a:pt x="0" y="114300"/>
                    </a:moveTo>
                    <a:cubicBezTo>
                      <a:pt x="46611" y="119839"/>
                      <a:pt x="83360" y="156588"/>
                      <a:pt x="88900" y="203199"/>
                    </a:cubicBezTo>
                    <a:cubicBezTo>
                      <a:pt x="111723" y="190042"/>
                      <a:pt x="126130" y="166029"/>
                      <a:pt x="127000" y="139700"/>
                    </a:cubicBezTo>
                    <a:cubicBezTo>
                      <a:pt x="170608" y="124359"/>
                      <a:pt x="200683" y="84260"/>
                      <a:pt x="203199" y="38100"/>
                    </a:cubicBezTo>
                    <a:cubicBezTo>
                      <a:pt x="203199" y="17058"/>
                      <a:pt x="186142" y="0"/>
                      <a:pt x="165100" y="0"/>
                    </a:cubicBezTo>
                    <a:cubicBezTo>
                      <a:pt x="118940" y="2517"/>
                      <a:pt x="78841" y="32591"/>
                      <a:pt x="63500" y="76200"/>
                    </a:cubicBezTo>
                    <a:cubicBezTo>
                      <a:pt x="37170" y="77069"/>
                      <a:pt x="13158" y="91477"/>
                      <a:pt x="0" y="114300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5990388" y="4178300"/>
                <a:ext cx="80211" cy="80211"/>
              </a:xfrm>
              <a:custGeom>
                <a:avLst/>
                <a:gdLst/>
                <a:ahLst/>
                <a:cxnLst/>
                <a:rect l="l" t="t" r="r" b="b"/>
                <a:pathLst>
                  <a:path w="80211" h="80211">
                    <a:moveTo>
                      <a:pt x="42111" y="0"/>
                    </a:moveTo>
                    <a:cubicBezTo>
                      <a:pt x="15072" y="15265"/>
                      <a:pt x="0" y="45410"/>
                      <a:pt x="4011" y="76200"/>
                    </a:cubicBezTo>
                    <a:cubicBezTo>
                      <a:pt x="34802" y="80211"/>
                      <a:pt x="64946" y="65139"/>
                      <a:pt x="80211" y="38100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121400" y="41021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5395749" y="4504372"/>
              <a:ext cx="140050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450" b="1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8 of 8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823267" y="5071110"/>
              <a:ext cx="25454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authors later left Google to join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708703" y="5299710"/>
              <a:ext cx="27745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other companies or found startups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063454" y="4076700"/>
            <a:ext cx="2923091" cy="1457706"/>
            <a:chOff x="8063454" y="4076700"/>
            <a:chExt cx="2923091" cy="1457706"/>
          </a:xfrm>
        </p:grpSpPr>
        <p:grpSp>
          <p:nvGrpSpPr>
            <p:cNvPr id="51" name="Group 51"/>
            <p:cNvGrpSpPr/>
            <p:nvPr/>
          </p:nvGrpSpPr>
          <p:grpSpPr>
            <a:xfrm>
              <a:off x="9436100" y="4076700"/>
              <a:ext cx="177800" cy="152400"/>
              <a:chOff x="9436100" y="4076700"/>
              <a:chExt cx="177800" cy="15240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9436100" y="4076700"/>
                <a:ext cx="635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152400">
                    <a:moveTo>
                      <a:pt x="63500" y="63500"/>
                    </a:moveTo>
                    <a:lnTo>
                      <a:pt x="12700" y="63500"/>
                    </a:lnTo>
                    <a:cubicBezTo>
                      <a:pt x="5686" y="63500"/>
                      <a:pt x="0" y="57814"/>
                      <a:pt x="0" y="50800"/>
                    </a:cubicBez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lnTo>
                      <a:pt x="50800" y="0"/>
                    </a:lnTo>
                    <a:cubicBezTo>
                      <a:pt x="57814" y="0"/>
                      <a:pt x="63500" y="5686"/>
                      <a:pt x="63500" y="12700"/>
                    </a:cubicBezTo>
                    <a:lnTo>
                      <a:pt x="63500" y="88900"/>
                    </a:lnTo>
                    <a:cubicBezTo>
                      <a:pt x="63500" y="122771"/>
                      <a:pt x="46571" y="143929"/>
                      <a:pt x="12700" y="152400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550400" y="4076700"/>
                <a:ext cx="635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152400">
                    <a:moveTo>
                      <a:pt x="63500" y="63500"/>
                    </a:moveTo>
                    <a:lnTo>
                      <a:pt x="12700" y="63500"/>
                    </a:lnTo>
                    <a:cubicBezTo>
                      <a:pt x="5686" y="63500"/>
                      <a:pt x="0" y="57814"/>
                      <a:pt x="0" y="50800"/>
                    </a:cubicBez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lnTo>
                      <a:pt x="50800" y="0"/>
                    </a:lnTo>
                    <a:cubicBezTo>
                      <a:pt x="57814" y="0"/>
                      <a:pt x="63500" y="5686"/>
                      <a:pt x="63500" y="12700"/>
                    </a:cubicBezTo>
                    <a:lnTo>
                      <a:pt x="63500" y="88900"/>
                    </a:lnTo>
                    <a:cubicBezTo>
                      <a:pt x="63500" y="122771"/>
                      <a:pt x="46571" y="143929"/>
                      <a:pt x="12700" y="152400"/>
                    </a:cubicBezTo>
                  </a:path>
                </a:pathLst>
              </a:custGeom>
              <a:noFill/>
              <a:ln w="25400">
                <a:solidFill>
                  <a:srgbClr val="9CC3E6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8063454" y="4551998"/>
              <a:ext cx="292309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b="1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</a:rPr>
                <a:t>“All You Need Is Love”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187519" y="5071110"/>
              <a:ext cx="26749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the Beatles song the title nods to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219" y="5299710"/>
              <a:ext cx="18295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— one joke, still landing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56" name="Rectangle 56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57" name="Line 57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14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00"/>
                            </p:stCondLst>
                            <p:childTnLst>
                              <p:par>
                                <p:cTn xmlns:p="http://schemas.openxmlformats.org/presentationml/2006/main" id="9" presetID="2" presetClass="entr" presetSubtype="1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50"/>
                            </p:stCondLst>
                            <p:childTnLst>
                              <p:par>
                                <p:cTn xmlns:p="http://schemas.openxmlformats.org/presentationml/2006/main" id="14" presetID="2" presetClass="entr" presetSubtype="1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700"/>
                            </p:stCondLst>
                            <p:childTnLst>
                              <p:par>
                                <p:cTn xmlns:p="http://schemas.openxmlformats.org/presentationml/2006/main" id="19" presetID="2" presetClass="entr" presetSubtype="1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0"/>
          </a:blip>
          <a:srcRect l="40000" t="20000" r="0" b="19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F3A">
                  <a:alpha val="96000"/>
                </a:srgbClr>
              </a:gs>
              <a:gs pos="55000">
                <a:srgbClr val="0B1F3A">
                  <a:alpha val="70000"/>
                </a:srgbClr>
              </a:gs>
              <a:gs pos="100000">
                <a:srgbClr val="0B1F3A">
                  <a:alpha val="1000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45998" y="1563052"/>
            <a:ext cx="5366671" cy="1456183"/>
            <a:chOff x="745998" y="1563052"/>
            <a:chExt cx="5366671" cy="1456183"/>
          </a:xfrm>
        </p:grpSpPr>
        <p:sp>
          <p:nvSpPr>
            <p:cNvPr id="4" name="TextBox 4"/>
            <p:cNvSpPr txBox="1"/>
            <p:nvPr/>
          </p:nvSpPr>
          <p:spPr>
            <a:xfrm>
              <a:off x="775716" y="1563052"/>
              <a:ext cx="14380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spc="150" dirty="0">
                  <a:solidFill>
                    <a:srgbClr val="F5A623"/>
                  </a:solidFill>
                  <a:latin typeface="Consolas"/>
                  <a:ea typeface="Consolas"/>
                  <a:cs typeface="Consolas"/>
                </a:rPr>
                <a:t>§ 05 · CLOSING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5998" y="1907858"/>
              <a:ext cx="5366671" cy="11113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US" sz="31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Attention is all you need —</a:t>
              </a:r>
              <a:br/>
              <a:r>
                <a:rPr lang="en-US" sz="3150" b="1" dirty="0">
                  <a:solidFill>
                    <a:srgbClr val="E8F1FA"/>
                  </a:solidFill>
                  <a:latin typeface="Segoe UI"/>
                  <a:ea typeface="Segoe UI"/>
                  <a:cs typeface="Segoe UI"/>
                </a:rPr>
                <a:t>the rest was engineering.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72668" y="3308032"/>
            <a:ext cx="6530510" cy="1463993"/>
            <a:chOff x="772668" y="3308032"/>
            <a:chExt cx="6530510" cy="1463993"/>
          </a:xfrm>
        </p:grpSpPr>
        <p:grpSp>
          <p:nvGrpSpPr>
            <p:cNvPr id="9" name="Group 9"/>
            <p:cNvGrpSpPr/>
            <p:nvPr/>
          </p:nvGrpSpPr>
          <p:grpSpPr>
            <a:xfrm>
              <a:off x="772668" y="3308032"/>
              <a:ext cx="6274137" cy="322707"/>
              <a:chOff x="772668" y="3308032"/>
              <a:chExt cx="6274137" cy="322707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72668" y="3308032"/>
                <a:ext cx="26109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01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231392" y="3340418"/>
                <a:ext cx="5815413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Drop recurrence: every position attends to every other in O(1).</a:t>
                </a:r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772668" y="3803332"/>
              <a:ext cx="6530510" cy="322707"/>
              <a:chOff x="772668" y="3803332"/>
              <a:chExt cx="6530510" cy="322707"/>
            </a:xfrm>
          </p:grpSpPr>
          <p:sp>
            <p:nvSpPr>
              <p:cNvPr id="10" name="TextBox 10"/>
              <p:cNvSpPr txBox="1"/>
              <p:nvPr/>
            </p:nvSpPr>
            <p:spPr>
              <a:xfrm>
                <a:off x="772668" y="3803332"/>
                <a:ext cx="26109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02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231392" y="3835718"/>
                <a:ext cx="607178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Eight heads, scaled dot-products, sinusoidal positions do the work.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772668" y="4298632"/>
              <a:ext cx="6155540" cy="322707"/>
              <a:chOff x="772668" y="4298632"/>
              <a:chExt cx="6155540" cy="322707"/>
            </a:xfrm>
          </p:grpSpPr>
          <p:sp>
            <p:nvSpPr>
              <p:cNvPr id="13" name="TextBox 13"/>
              <p:cNvSpPr txBox="1"/>
              <p:nvPr/>
            </p:nvSpPr>
            <p:spPr>
              <a:xfrm>
                <a:off x="772668" y="4298632"/>
                <a:ext cx="26109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dirty="0">
                    <a:solidFill>
                      <a:srgbClr val="F5A623"/>
                    </a:solidFill>
                    <a:latin typeface="Consolas"/>
                    <a:ea typeface="Consolas"/>
                    <a:cs typeface="Consolas"/>
                  </a:rPr>
                  <a:t>03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31392" y="4331018"/>
                <a:ext cx="569681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E8F1FA"/>
                    </a:solidFill>
                    <a:latin typeface="Segoe UI"/>
                    <a:ea typeface="Segoe UI"/>
                    <a:cs typeface="Segoe UI"/>
                  </a:rPr>
                  <a:t>28.4 / 41.8 BLEU, 3.5 days, 8 GPUs — quality and speed at once.</a:t>
                </a:r>
              </a:p>
            </p:txBody>
          </p:sp>
        </p:grpSp>
        <p:sp>
          <p:nvSpPr>
            <p:cNvPr id="16" name="Line 16"/>
            <p:cNvSpPr/>
            <p:nvPr/>
          </p:nvSpPr>
          <p:spPr>
            <a:xfrm>
              <a:off x="1238250" y="4762500"/>
              <a:ext cx="4857750" cy="9525"/>
            </a:xfrm>
            <a:custGeom>
              <a:avLst/>
              <a:gdLst/>
              <a:ahLst/>
              <a:cxnLst/>
              <a:rect l="l" t="t" r="r" b="b"/>
              <a:pathLst>
                <a:path w="4857750" h="9525">
                  <a:moveTo>
                    <a:pt x="0" y="0"/>
                  </a:moveTo>
                  <a:lnTo>
                    <a:pt x="4857750" y="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855663" y="5500688"/>
            <a:ext cx="7323944" cy="291560"/>
            <a:chOff x="855663" y="5500688"/>
            <a:chExt cx="7323944" cy="291560"/>
          </a:xfrm>
        </p:grpSpPr>
        <p:grpSp>
          <p:nvGrpSpPr>
            <p:cNvPr id="23" name="Group 23"/>
            <p:cNvGrpSpPr/>
            <p:nvPr/>
          </p:nvGrpSpPr>
          <p:grpSpPr>
            <a:xfrm>
              <a:off x="855663" y="5500688"/>
              <a:ext cx="155575" cy="200026"/>
              <a:chOff x="855663" y="5500688"/>
              <a:chExt cx="155575" cy="200026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955675" y="5500688"/>
                <a:ext cx="55563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55563" h="55563">
                    <a:moveTo>
                      <a:pt x="0" y="0"/>
                    </a:moveTo>
                    <a:lnTo>
                      <a:pt x="0" y="44450"/>
                    </a:lnTo>
                    <a:cubicBezTo>
                      <a:pt x="0" y="50587"/>
                      <a:pt x="4975" y="55563"/>
                      <a:pt x="11113" y="55563"/>
                    </a:cubicBezTo>
                    <a:lnTo>
                      <a:pt x="55563" y="55563"/>
                    </a:lnTo>
                  </a:path>
                </a:pathLst>
              </a:custGeom>
              <a:noFill/>
              <a:ln w="22225">
                <a:solidFill>
                  <a:srgbClr val="9CC3E6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55663" y="5500688"/>
                <a:ext cx="155575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6">
                    <a:moveTo>
                      <a:pt x="133350" y="200026"/>
                    </a:moveTo>
                    <a:lnTo>
                      <a:pt x="22225" y="200026"/>
                    </a:lnTo>
                    <a:cubicBezTo>
                      <a:pt x="9950" y="200026"/>
                      <a:pt x="0" y="190075"/>
                      <a:pt x="0" y="177801"/>
                    </a:cubicBez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100013" y="0"/>
                    </a:lnTo>
                    <a:lnTo>
                      <a:pt x="155575" y="55563"/>
                    </a:lnTo>
                    <a:lnTo>
                      <a:pt x="155575" y="177801"/>
                    </a:lnTo>
                    <a:cubicBezTo>
                      <a:pt x="155575" y="190075"/>
                      <a:pt x="145625" y="200026"/>
                      <a:pt x="133350" y="200026"/>
                    </a:cubicBezTo>
                  </a:path>
                </a:pathLst>
              </a:custGeom>
              <a:noFill/>
              <a:ln w="22225">
                <a:solidFill>
                  <a:srgbClr val="9CC3E6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900113" y="5567363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0" y="0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rgbClr val="9CC3E6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900113" y="5611813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9CC3E6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900113" y="5656263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9CC3E6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231011" y="5513546"/>
              <a:ext cx="69485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 xml:space="preserve">Read the paper: </a:t>
              </a:r>
              <a:r>
                <a:rPr lang="en-US" sz="1420" u="sng" dirty="0">
                  <a:solidFill>
                    <a:srgbClr val="F5A623"/>
                  </a:solidFill>
                  <a:latin typeface="Segoe UI"/>
                  <a:ea typeface="Segoe UI"/>
                  <a:cs typeface="Segoe UI"/>
                  <a:hlinkClick r:id="rId3"/>
                </a:rPr>
                <a:t>arxiv.org/abs/1706.03762</a:t>
              </a:r>
              <a:r>
                <a:rPr lang="en-US" sz="1420" dirty="0">
                  <a:solidFill>
                    <a:srgbClr val="C9DBEA"/>
                  </a:solidFill>
                  <a:latin typeface="Segoe UI"/>
                  <a:ea typeface="Segoe UI"/>
                  <a:cs typeface="Segoe UI"/>
                </a:rPr>
                <a:t xml:space="preserve"> · Vaswani et al., NeurIPS 2017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525000" y="6362700"/>
            <a:ext cx="2095500" cy="304800"/>
            <a:chOff x="9525000" y="6362700"/>
            <a:chExt cx="2095500" cy="304800"/>
          </a:xfrm>
        </p:grpSpPr>
        <p:sp>
          <p:nvSpPr>
            <p:cNvPr id="26" name="Rectangle 26"/>
            <p:cNvSpPr/>
            <p:nvPr/>
          </p:nvSpPr>
          <p:spPr>
            <a:xfrm>
              <a:off x="9525000" y="6362700"/>
              <a:ext cx="2095500" cy="304800"/>
            </a:xfrm>
            <a:prstGeom prst="rect">
              <a:avLst/>
            </a:prstGeom>
            <a:noFill/>
            <a:ln w="9525">
              <a:solidFill>
                <a:srgbClr val="3C5A80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10572750" y="63627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9525">
              <a:solidFill>
                <a:srgbClr val="3C5A8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34538" y="6456045"/>
              <a:ext cx="854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AIAYN · 2017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82288" y="6456045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CB4CC"/>
                  </a:solidFill>
                  <a:latin typeface="Consolas"/>
                  <a:ea typeface="Consolas"/>
                  <a:cs typeface="Consolas"/>
                </a:rPr>
                <a:t>SHEET 15 / 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8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pt169_attention_is_all_you_need">
  <a:themeElements>
    <a:clrScheme name="ppt169_attention_is_all_you_nee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169_attention_is_all_you_need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169_attention_is_all_you_nee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2026-09-05T11:12:16Z</dcterms:created>
  <dcterms:modified xsi:type="dcterms:W3CDTF">2026-09-05T11:12:16Z</dcterms:modified>
  <cp:category/>
  <cp:contentStatus/>
</cp:coreProperties>
</file>