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Welcome. This talk walks through Attention Is All You Need, the 2017 paper from eight Google researchers that introduced the Transformer. The subtitle already gives away the punchline: one architecture, no recurrence, no convolutions, and a training run measured in days rather than weeks. We will read it the way an engineer reads a drawing set, sheet by sheet.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the drawing index. We start with the bottleneck that recurrent and convolutional models ran into, then look at the architecture as a whole. The longest section takes attention apart step by step: scaled dot-product attention, multi-head attention, the three places it is used, and positional encoding. After that we cover the training recipe, the results against the field, and the ablations, and we close with what was built on top of the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Before 2017, the two dominant sequence models both paid for word order with time. A recurrent network computes each hidden state from the previous one, so a sentence of n tokens needs n sequential steps and the signal from position one reaches position n only after n hops; nothing inside a single example can run in parallel. Convolutional models such as ByteNet and ConvS2S fixed the parallelism problem, but two distant positions still meet only after a stack of layers, so the path shrinks to logarithmic length rather than disappearing. Both architectures charge what you might call a distance tax, and the paper's question is simply: what if every path had length one?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answer is in the abstract. The authors propose a new, simple architecture based solely on attention mechanisms, dispensing with recurrence and convolutions entirely. They back that with three measurable claims. Quality: 28.4 BLEU on English to German, more than two points above the best previous result, ensembles included. Parallelism: the number of sequential operations per layer is constant, so every position is handled at once. And speed: the big model trained for three and a half days on eight P100 GPUs, setting a new single-model record of 41.8 BLEU on English to French.</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This is the whole machine. On the left, the encoder is a stack of six identical layers, each with a multi-head self-attention sub-layer and a position-wise feed-forward network, and every sub-layer is wrapped in a residual connection followed by layer normalization. On the right, the decoder has the same six layers but adds a third sub-layer: a masked self-attention block, then an attention block that reads the encoder output, then the feed-forward network, before a final linear layer and softmax produce output probabilities. Inputs and outputs are embedded and summed with a positional encoding, and everything keeps a common width of 512. The feed-forward inner dimension is 2048, there are eight heads of size 64, and the base model has about 65 million parameters while the big model has 213 million.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Attention itself is one formula. Multiply the queries by the transposed keys to get a score for every query against every key, divide by the square root of the key dimension, take a softmax so each row becomes a set of weights, and use those weights to mix the values. A query says what a position is looking for, a key says what each position offers for matching, and a value is what gets passed along once matched. The scaling matters: with large key dimensions the dot products grow large and push the softmax into regions with tiny gradients, and dividing by eight for a key size of 64 keeps the scores tame.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Instead of one attention with full width, the Transformer runs eight of them in parallel. Queries, keys and values are each projected by learned linear maps into a 64-dimensional subspace, each head runs scaled dot-product attention there, the eight outputs are concatenated, and a final linear layer mixes them back to 512 dimensions. Because each head works at reduced width, the eight together cost about as much as a single full-width head. The ablation shows why it is worth it: a single head is 0.9 BLEU worse than the best setting.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same block is used in three places. In the encoder, queries, keys and values all come from the previous layer, so every position looks at every other position in both directions in one step. In the decoder, the self-attention is masked so that position i may only attend to positions up to i, which keeps generation auto-regressive; that is also why the outputs are shifted right by one. And in encoder-decoder attention, the queries come from the decoder while the keys and values come from the encoder output, so every output position can read the whole input sentence, replacing the classic sequence-to-sequence attention.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Without recurrence, nothing in the model knows where a token sits, so the paper adds a positional encoding to the embedding. Each dimension is a sinusoid with its own wavelength, sine on even dimensions and cosine on odd ones, with wavelengths running from two pi up to ten thousand times two pi, so every position gets a unique code and for any fixed offset the encoding of a later position is a linear function of the earlier one. Learned positional embeddings performed nearly identically in the ablation; the sinusoidal version was kept because it might extrapolate to sequence lengths never seen in training. Note that the encoding is added, not concatenated, so the width stays 512 with no extra parameters.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Table one compares the costs. Self-attention connects any two positions in a constant number of sequential operations with a constant path length, at a per-layer cost that grows with the square of the sequence length times the dimension. Recurrence is cheaper per layer when sequences are long, but its sequential operations and path length both grow with n; convolution parallelizes but still needs a logarithmic number of layers to connect distant positions. Since word-piece and byte-pair sentences are usually shorter than the representation width, self-attention wins on speed in practice, and a restricted variant with a window r remains available for very long inputs.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Here is the recipe as a spec sheet. English to German used about four and a half million sentence pairs with a shared byte-pair vocabulary of roughly thirty-seven thousand tokens; English to French used thirty-six million sentences with a thirty-two thousand word-piece vocabulary, batched at about twenty-five thousand source and target tokens each. Training ran on one machine with eight P100 GPUs: the base model for one hundred thousand steps at 0.4 seconds each, about twelve hours, and the big model for three hundred thousand steps, three and a half days. The optimizer was Adam with a learning rate that ramps up linearly for four thousand steps and then decays with the inverse square root of the step, plus residual dropout of 0.1 and label smoothing of 0.1.</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The results are Table two of the paper. On English to German the big Transformer reaches 28.4 BLEU, ahead of every single model and every ensemble in the comparison, and even the base model at 27.3 beats the best prior ensemble. On English to French the big model reaches 41.8, a new single-model state of the art. The cost comparison is the striking part: the base model used about 3.3 times ten to the eighteenth floating-point operations versus 1.8 times ten to the twentieth for the GNMT ensemble, roughly fifty-five times less compute for a better English to German score.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Table three varies one setting at a time on the base model. A single attention head is 0.9 BLEU worse than the best configuration, and shrinking the key dimension also hurts, which suggests computing compatibility is not a trivial function. Bigger models do better, dropout is very helpful against over-fitting, and learned positional embeddings are nearly identical to the sinusoids. The paper then tests generalization on English constituency parsing: a four-layer Transformer trained on the Wall Street Journal data alone reaches 91.3 F1, and 92.7 with semi-supervised data, supporting the abstract's claim that the architecture works beyond translation with both large and limited data.</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What followed is most of modern machine learning. In 2018, BERT and the first GPT built pretrained language models on the Transformer; in 2021 the Vision Transformer and DALL-E carried it into images; by 2024 systems like Stable Diffusion 3 and Sora used it for image and video generation. As of 2026 the paper has been cited more than two hundred and fifty thousand times, placing it among the ten most-cited papers of this century. All eight authors have since left Google to join other companies or found startups, and the title is still a nod to the Beatles' All You Need Is Love.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en-US" dirty="0"/>
              <a:t>So, three things to take away. Drop recurrence and let every position attend to every other in a single step. Eight heads, scaled dot-products and sinusoidal positions do the real work. And the payoff was measurable: 28.4 and 41.8 BLEU after three and a half days on eight GPUs, quality and speed at once. The paper is short and readable; the link on this slide takes you to it on arXiv. Thank you.</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ppt169_attention_is_all_you_need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ppt169_attention_is_all_you_need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f452d95371836a0.jp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f452d95371836a0.jpg"/>
  <Relationship Id="rId3" Type="http://schemas.openxmlformats.org/officeDocument/2006/relationships/hyperlink" Target="https://arxiv.org/abs/1706.03762" TargetMode="External"/>
  <Relationship Id="rId4"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srcRect l="370" t="0" r="371" b="0"/>
          <a:stretch>
            <a:fillRect/>
          </a:stretch>
        </p:blipFill>
        <p:spPr>
          <a:xfrm>
            <a:off x="0" y="0"/>
            <a:ext cx="12192000" cy="6858000"/>
          </a:xfrm>
          <a:prstGeom prst="rect">
            <a:avLst/>
          </a:prstGeom>
        </p:spPr>
      </p:pic>
      <p:sp>
        <p:nvSpPr>
          <p:cNvPr id="3" name="Rectangle 3"/>
          <p:cNvSpPr/>
          <p:nvPr/>
        </p:nvSpPr>
        <p:spPr>
          <a:xfrm>
            <a:off x="0" y="0"/>
            <a:ext cx="7239000" cy="6858000"/>
          </a:xfrm>
          <a:prstGeom prst="rect">
            <a:avLst/>
          </a:prstGeom>
          <a:gradFill>
            <a:gsLst>
              <a:gs pos="0">
                <a:srgbClr val="0B1F3A">
                  <a:alpha val="92000"/>
                </a:srgbClr>
              </a:gs>
              <a:gs pos="50000">
                <a:srgbClr val="0B1F3A">
                  <a:alpha val="55000"/>
                </a:srgbClr>
              </a:gs>
              <a:gs pos="100000">
                <a:srgbClr val="0B1F3A">
                  <a:alpha val="0"/>
                </a:srgbClr>
              </a:gs>
            </a:gsLst>
            <a:lin ang="0" scaled="1"/>
          </a:gradFill>
          <a:ln>
            <a:noFill/>
          </a:ln>
        </p:spPr>
      </p:sp>
      <p:grpSp>
        <p:nvGrpSpPr>
          <p:cNvPr id="8" name="Group 8"/>
          <p:cNvGrpSpPr/>
          <p:nvPr/>
        </p:nvGrpSpPr>
        <p:grpSpPr>
          <a:xfrm>
            <a:off x="742950" y="1897856"/>
            <a:ext cx="4927854" cy="3060478"/>
            <a:chOff x="742950" y="1897856"/>
            <a:chExt cx="4927854" cy="3060478"/>
          </a:xfrm>
        </p:grpSpPr>
        <p:sp>
          <p:nvSpPr>
            <p:cNvPr id="4" name="TextBox 4"/>
            <p:cNvSpPr txBox="1"/>
            <p:nvPr/>
          </p:nvSpPr>
          <p:spPr>
            <a:xfrm>
              <a:off x="775335" y="1897856"/>
              <a:ext cx="3128762" cy="220028"/>
            </a:xfrm>
            <a:prstGeom prst="rect">
              <a:avLst/>
            </a:prstGeom>
            <a:noFill/>
            <a:ln>
              <a:noFill/>
            </a:ln>
          </p:spPr>
          <p:txBody>
            <a:bodyPr wrap="none" lIns="0" tIns="0" rIns="0" bIns="0" anchor="t" anchorCtr="0">
              <a:spAutoFit/>
            </a:bodyPr>
            <a:lstStyle/>
            <a:p>
              <a:pPr algn="l"/>
              <a:r>
                <a:rPr lang="en-US" sz="1120" spc="150" dirty="0">
                  <a:solidFill>
                    <a:srgbClr val="F5A623"/>
                  </a:solidFill>
                  <a:latin typeface="Consolas"/>
                  <a:ea typeface="Consolas"/>
                  <a:cs typeface="Consolas"/>
                </a:rPr>
                <a:t>ARXIV 1706.03762 · NEURIPS 2017</a:t>
              </a:r>
            </a:p>
          </p:txBody>
        </p:sp>
        <p:sp>
          <p:nvSpPr>
            <p:cNvPr id="5" name="TextBox 5"/>
            <p:cNvSpPr txBox="1"/>
            <p:nvPr/>
          </p:nvSpPr>
          <p:spPr>
            <a:xfrm>
              <a:off x="742950" y="2246948"/>
              <a:ext cx="3899583" cy="1647825"/>
            </a:xfrm>
            <a:prstGeom prst="rect">
              <a:avLst/>
            </a:prstGeom>
            <a:noFill/>
            <a:ln>
              <a:noFill/>
            </a:ln>
          </p:spPr>
          <p:txBody>
            <a:bodyPr wrap="none" lIns="0" tIns="0" rIns="0" bIns="0" anchor="t" anchorCtr="0">
              <a:spAutoFit/>
            </a:bodyPr>
            <a:lstStyle/>
            <a:p>
              <a:pPr algn="l">
                <a:lnSpc>
                  <a:spcPts val="5400"/>
                </a:lnSpc>
              </a:pPr>
              <a:r>
                <a:rPr lang="en-US" sz="4950" b="1" dirty="0">
                  <a:solidFill>
                    <a:srgbClr val="E8F1FA"/>
                  </a:solidFill>
                  <a:latin typeface="Segoe UI"/>
                  <a:ea typeface="Segoe UI"/>
                  <a:cs typeface="Segoe UI"/>
                </a:rPr>
                <a:t>Attention Is</a:t>
              </a:r>
              <a:br/>
              <a:r>
                <a:rPr lang="en-US" sz="4950" b="1" dirty="0">
                  <a:solidFill>
                    <a:srgbClr val="E8F1FA"/>
                  </a:solidFill>
                  <a:latin typeface="Segoe UI"/>
                  <a:ea typeface="Segoe UI"/>
                  <a:cs typeface="Segoe UI"/>
                </a:rPr>
                <a:t>All You Need</a:t>
              </a:r>
            </a:p>
          </p:txBody>
        </p:sp>
        <p:sp>
          <p:nvSpPr>
            <p:cNvPr id="6" name="Line 6"/>
            <p:cNvSpPr/>
            <p:nvPr/>
          </p:nvSpPr>
          <p:spPr>
            <a:xfrm>
              <a:off x="781050" y="3733800"/>
              <a:ext cx="1714500" cy="9525"/>
            </a:xfrm>
            <a:custGeom>
              <a:avLst/>
              <a:gdLst/>
              <a:ahLst/>
              <a:cxnLst/>
              <a:rect l="l" t="t" r="r" b="b"/>
              <a:pathLst>
                <a:path w="1714500" h="9525">
                  <a:moveTo>
                    <a:pt x="0" y="0"/>
                  </a:moveTo>
                  <a:lnTo>
                    <a:pt x="1714500" y="0"/>
                  </a:lnTo>
                </a:path>
              </a:pathLst>
            </a:custGeom>
            <a:noFill/>
            <a:ln w="28575">
              <a:solidFill>
                <a:srgbClr val="F5A623"/>
              </a:solidFill>
            </a:ln>
          </p:spPr>
        </p:sp>
        <p:sp>
          <p:nvSpPr>
            <p:cNvPr id="7" name="TextBox 7"/>
            <p:cNvSpPr txBox="1"/>
            <p:nvPr/>
          </p:nvSpPr>
          <p:spPr>
            <a:xfrm>
              <a:off x="771906" y="3958590"/>
              <a:ext cx="4898898" cy="999744"/>
            </a:xfrm>
            <a:prstGeom prst="rect">
              <a:avLst/>
            </a:prstGeom>
            <a:noFill/>
            <a:ln>
              <a:noFill/>
            </a:ln>
          </p:spPr>
          <p:txBody>
            <a:bodyPr wrap="none" lIns="0" tIns="0" rIns="0" bIns="0" anchor="t" anchorCtr="0">
              <a:spAutoFit/>
            </a:bodyPr>
            <a:lstStyle/>
            <a:p>
              <a:pPr algn="l">
                <a:lnSpc>
                  <a:spcPts val="2550"/>
                </a:lnSpc>
              </a:pPr>
              <a:r>
                <a:rPr lang="en-US" sz="1800" dirty="0">
                  <a:solidFill>
                    <a:srgbClr val="C9DBEA"/>
                  </a:solidFill>
                  <a:latin typeface="Segoe UI"/>
                  <a:ea typeface="Segoe UI"/>
                  <a:cs typeface="Segoe UI"/>
                </a:rPr>
                <a:t>The Transformer, explained:</a:t>
              </a:r>
              <a:br/>
              <a:r>
                <a:rPr lang="en-US" sz="1800" dirty="0">
                  <a:solidFill>
                    <a:srgbClr val="C9DBEA"/>
                  </a:solidFill>
                  <a:latin typeface="Segoe UI"/>
                  <a:ea typeface="Segoe UI"/>
                  <a:cs typeface="Segoe UI"/>
                </a:rPr>
                <a:t>one paper, no recurrence, no convolutions,</a:t>
              </a:r>
              <a:br/>
              <a:r>
                <a:rPr lang="en-US" sz="1800" dirty="0">
                  <a:solidFill>
                    <a:srgbClr val="C9DBEA"/>
                  </a:solidFill>
                  <a:latin typeface="Segoe UI"/>
                  <a:ea typeface="Segoe UI"/>
                  <a:cs typeface="Segoe UI"/>
                </a:rPr>
                <a:t>and a training run measured in days</a:t>
              </a:r>
            </a:p>
          </p:txBody>
        </p:sp>
      </p:grpSp>
      <p:grpSp>
        <p:nvGrpSpPr>
          <p:cNvPr id="10" name="Group 10"/>
          <p:cNvGrpSpPr/>
          <p:nvPr/>
        </p:nvGrpSpPr>
        <p:grpSpPr>
          <a:xfrm>
            <a:off x="775716" y="5239702"/>
            <a:ext cx="5912358" cy="453009"/>
            <a:chOff x="775716" y="5239702"/>
            <a:chExt cx="5912358" cy="453009"/>
          </a:xfrm>
        </p:grpSpPr>
        <p:sp>
          <p:nvSpPr>
            <p:cNvPr id="9" name="TextBox 9"/>
            <p:cNvSpPr txBox="1"/>
            <p:nvPr/>
          </p:nvSpPr>
          <p:spPr>
            <a:xfrm>
              <a:off x="775716" y="5239702"/>
              <a:ext cx="5912358" cy="453009"/>
            </a:xfrm>
            <a:prstGeom prst="rect">
              <a:avLst/>
            </a:prstGeom>
            <a:noFill/>
            <a:ln>
              <a:noFill/>
            </a:ln>
          </p:spPr>
          <p:txBody>
            <a:bodyPr wrap="none" lIns="0" tIns="0" rIns="0" bIns="0" anchor="t" anchorCtr="0">
              <a:spAutoFit/>
            </a:bodyPr>
            <a:lstStyle/>
            <a:p>
              <a:pPr algn="l">
                <a:lnSpc>
                  <a:spcPts val="1950"/>
                </a:lnSpc>
              </a:pPr>
              <a:r>
                <a:rPr lang="en-US" sz="1050" spc="75" dirty="0">
                  <a:solidFill>
                    <a:srgbClr val="9CB4CC"/>
                  </a:solidFill>
                  <a:latin typeface="Consolas"/>
                  <a:ea typeface="Consolas"/>
                  <a:cs typeface="Consolas"/>
                </a:rPr>
                <a:t>VASWANI · SHAZEER · PARMAR · USZKOREIT · JONES · GOMEZ · KAISER · POLOSUKHIN</a:t>
              </a:r>
              <a:br/>
              <a:r>
                <a:rPr lang="en-US" sz="1050" spc="75" dirty="0">
                  <a:solidFill>
                    <a:srgbClr val="9CB4CC"/>
                  </a:solidFill>
                  <a:latin typeface="Consolas"/>
                  <a:ea typeface="Consolas"/>
                  <a:cs typeface="Consolas"/>
                </a:rPr>
                <a:t>GOOGLE BRAIN · GOOGLE RESEARCH</a:t>
              </a:r>
            </a:p>
          </p:txBody>
        </p:sp>
      </p:grpSp>
      <p:grpSp>
        <p:nvGrpSpPr>
          <p:cNvPr id="15" name="Group 15"/>
          <p:cNvGrpSpPr/>
          <p:nvPr/>
        </p:nvGrpSpPr>
        <p:grpSpPr>
          <a:xfrm>
            <a:off x="9525000" y="6362700"/>
            <a:ext cx="2095500" cy="304800"/>
            <a:chOff x="9525000" y="6362700"/>
            <a:chExt cx="2095500" cy="304800"/>
          </a:xfrm>
        </p:grpSpPr>
        <p:sp>
          <p:nvSpPr>
            <p:cNvPr id="11" name="Rectangle 11"/>
            <p:cNvSpPr/>
            <p:nvPr/>
          </p:nvSpPr>
          <p:spPr>
            <a:xfrm>
              <a:off x="9525000" y="6362700"/>
              <a:ext cx="2095500" cy="304800"/>
            </a:xfrm>
            <a:prstGeom prst="rect">
              <a:avLst/>
            </a:prstGeom>
            <a:noFill/>
            <a:ln w="9525">
              <a:solidFill>
                <a:srgbClr val="3C5A80"/>
              </a:solidFill>
            </a:ln>
          </p:spPr>
        </p:sp>
        <p:sp>
          <p:nvSpPr>
            <p:cNvPr id="12" name="Line 12"/>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13" name="TextBox 13"/>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14" name="TextBox 14"/>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01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900"/>
                                        <p:tgtEl>
                                          <p:spTgt spid="8"/>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5803303" cy="801243"/>
            <a:chOff x="747522" y="439102"/>
            <a:chExt cx="5803303" cy="801243"/>
          </a:xfrm>
        </p:grpSpPr>
        <p:sp>
          <p:nvSpPr>
            <p:cNvPr id="3" name="TextBox 3"/>
            <p:cNvSpPr txBox="1"/>
            <p:nvPr/>
          </p:nvSpPr>
          <p:spPr>
            <a:xfrm>
              <a:off x="775716" y="439102"/>
              <a:ext cx="1252423"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DRAWING INDEX</a:t>
              </a:r>
            </a:p>
          </p:txBody>
        </p:sp>
        <p:sp>
          <p:nvSpPr>
            <p:cNvPr id="4" name="TextBox 4"/>
            <p:cNvSpPr txBox="1"/>
            <p:nvPr/>
          </p:nvSpPr>
          <p:spPr>
            <a:xfrm>
              <a:off x="747522" y="682942"/>
              <a:ext cx="5803303"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What this drawing set covers</a:t>
              </a:r>
            </a:p>
          </p:txBody>
        </p:sp>
      </p:grpSp>
      <p:sp>
        <p:nvSpPr>
          <p:cNvPr id="6" name="Freeform 6"/>
          <p:cNvSpPr/>
          <p:nvPr/>
        </p:nvSpPr>
        <p:spPr>
          <a:xfrm>
            <a:off x="762000" y="1333500"/>
            <a:ext cx="10668000" cy="4572000"/>
          </a:xfrm>
          <a:prstGeom prst="cornerTabs">
            <a:avLst/>
          </a:prstGeom>
          <a:solidFill>
            <a:srgbClr val="9CC3E6"/>
          </a:solidFill>
          <a:ln>
            <a:noFill/>
          </a:ln>
        </p:spPr>
      </p:sp>
      <p:grpSp>
        <p:nvGrpSpPr>
          <p:cNvPr id="12" name="Group 12"/>
          <p:cNvGrpSpPr/>
          <p:nvPr/>
        </p:nvGrpSpPr>
        <p:grpSpPr>
          <a:xfrm>
            <a:off x="1512570" y="1776412"/>
            <a:ext cx="9160764" cy="671513"/>
            <a:chOff x="1512570" y="1776412"/>
            <a:chExt cx="9160764" cy="671513"/>
          </a:xfrm>
        </p:grpSpPr>
        <p:sp>
          <p:nvSpPr>
            <p:cNvPr id="7" name="TextBox 7"/>
            <p:cNvSpPr txBox="1"/>
            <p:nvPr/>
          </p:nvSpPr>
          <p:spPr>
            <a:xfrm>
              <a:off x="1512570" y="1776412"/>
              <a:ext cx="356044" cy="440055"/>
            </a:xfrm>
            <a:prstGeom prst="rect">
              <a:avLst/>
            </a:prstGeom>
            <a:noFill/>
            <a:ln>
              <a:noFill/>
            </a:ln>
          </p:spPr>
          <p:txBody>
            <a:bodyPr wrap="none" lIns="0" tIns="0" rIns="0" bIns="0" anchor="t" anchorCtr="0">
              <a:spAutoFit/>
            </a:bodyPr>
            <a:lstStyle/>
            <a:p>
              <a:pPr algn="l"/>
              <a:r>
                <a:rPr lang="en-US" sz="2250" dirty="0">
                  <a:solidFill>
                    <a:srgbClr val="F5A623"/>
                  </a:solidFill>
                  <a:latin typeface="Consolas"/>
                  <a:ea typeface="Consolas"/>
                  <a:cs typeface="Consolas"/>
                </a:rPr>
                <a:t>01</a:t>
              </a:r>
            </a:p>
          </p:txBody>
        </p:sp>
        <p:sp>
          <p:nvSpPr>
            <p:cNvPr id="8" name="TextBox 8"/>
            <p:cNvSpPr txBox="1"/>
            <p:nvPr/>
          </p:nvSpPr>
          <p:spPr>
            <a:xfrm>
              <a:off x="2276856" y="1805940"/>
              <a:ext cx="1858173" cy="352044"/>
            </a:xfrm>
            <a:prstGeom prst="rect">
              <a:avLst/>
            </a:prstGeom>
            <a:noFill/>
            <a:ln>
              <a:noFill/>
            </a:ln>
          </p:spPr>
          <p:txBody>
            <a:bodyPr wrap="none" lIns="0" tIns="0" rIns="0" bIns="0" anchor="t" anchorCtr="0">
              <a:spAutoFit/>
            </a:bodyPr>
            <a:lstStyle/>
            <a:p>
              <a:pPr algn="l"/>
              <a:r>
                <a:rPr lang="en-US" sz="1800" b="1" dirty="0">
                  <a:solidFill>
                    <a:srgbClr val="E8F1FA"/>
                  </a:solidFill>
                  <a:latin typeface="Segoe UI"/>
                  <a:ea typeface="Segoe UI"/>
                  <a:cs typeface="Segoe UI"/>
                </a:rPr>
                <a:t>The bottleneck</a:t>
              </a:r>
            </a:p>
          </p:txBody>
        </p:sp>
        <p:sp>
          <p:nvSpPr>
            <p:cNvPr id="9" name="TextBox 9"/>
            <p:cNvSpPr txBox="1"/>
            <p:nvPr/>
          </p:nvSpPr>
          <p:spPr>
            <a:xfrm>
              <a:off x="2279142" y="2140268"/>
              <a:ext cx="6226091" cy="264033"/>
            </a:xfrm>
            <a:prstGeom prst="rect">
              <a:avLst/>
            </a:prstGeom>
            <a:noFill/>
            <a:ln>
              <a:noFill/>
            </a:ln>
          </p:spPr>
          <p:txBody>
            <a:bodyPr wrap="none" lIns="0" tIns="0" rIns="0" bIns="0" anchor="t" anchorCtr="0">
              <a:spAutoFit/>
            </a:bodyPr>
            <a:lstStyle/>
            <a:p>
              <a:pPr algn="l"/>
              <a:r>
                <a:rPr lang="en-US" sz="1350" dirty="0">
                  <a:solidFill>
                    <a:srgbClr val="9CB4CC"/>
                  </a:solidFill>
                  <a:latin typeface="Segoe UI"/>
                  <a:ea typeface="Segoe UI"/>
                  <a:cs typeface="Segoe UI"/>
                </a:rPr>
                <a:t>Why recurrent and convolutional models paid for word order with time</a:t>
              </a:r>
            </a:p>
          </p:txBody>
        </p:sp>
        <p:sp>
          <p:nvSpPr>
            <p:cNvPr id="10" name="TextBox 10"/>
            <p:cNvSpPr txBox="1"/>
            <p:nvPr/>
          </p:nvSpPr>
          <p:spPr>
            <a:xfrm>
              <a:off x="9714281" y="1886902"/>
              <a:ext cx="959053" cy="205359"/>
            </a:xfrm>
            <a:prstGeom prst="rect">
              <a:avLst/>
            </a:prstGeom>
            <a:noFill/>
            <a:ln>
              <a:noFill/>
            </a:ln>
          </p:spPr>
          <p:txBody>
            <a:bodyPr wrap="none" lIns="0" tIns="0" rIns="0" bIns="0" anchor="t" anchorCtr="0">
              <a:spAutoFit/>
            </a:bodyPr>
            <a:lstStyle/>
            <a:p>
              <a:pPr algn="r"/>
              <a:r>
                <a:rPr lang="en-US" sz="1050" dirty="0">
                  <a:solidFill>
                    <a:srgbClr val="9CB4CC"/>
                  </a:solidFill>
                  <a:latin typeface="Consolas"/>
                  <a:ea typeface="Consolas"/>
                  <a:cs typeface="Consolas"/>
                </a:rPr>
                <a:t>SHEETS 03–04</a:t>
              </a:r>
            </a:p>
          </p:txBody>
        </p:sp>
        <p:sp>
          <p:nvSpPr>
            <p:cNvPr id="11" name="Line 11"/>
            <p:cNvSpPr/>
            <p:nvPr/>
          </p:nvSpPr>
          <p:spPr>
            <a:xfrm>
              <a:off x="1524000" y="2438400"/>
              <a:ext cx="9144000" cy="9525"/>
            </a:xfrm>
            <a:custGeom>
              <a:avLst/>
              <a:gdLst/>
              <a:ahLst/>
              <a:cxnLst/>
              <a:rect l="l" t="t" r="r" b="b"/>
              <a:pathLst>
                <a:path w="9144000" h="9525">
                  <a:moveTo>
                    <a:pt x="0" y="0"/>
                  </a:moveTo>
                  <a:lnTo>
                    <a:pt x="9144000" y="0"/>
                  </a:lnTo>
                </a:path>
              </a:pathLst>
            </a:custGeom>
            <a:noFill/>
            <a:ln w="9525">
              <a:solidFill>
                <a:srgbClr val="3C5A80"/>
              </a:solidFill>
            </a:ln>
          </p:spPr>
        </p:sp>
      </p:grpSp>
      <p:grpSp>
        <p:nvGrpSpPr>
          <p:cNvPr id="18" name="Group 18"/>
          <p:cNvGrpSpPr/>
          <p:nvPr/>
        </p:nvGrpSpPr>
        <p:grpSpPr>
          <a:xfrm>
            <a:off x="1512570" y="2614612"/>
            <a:ext cx="9160764" cy="671513"/>
            <a:chOff x="1512570" y="2614612"/>
            <a:chExt cx="9160764" cy="671513"/>
          </a:xfrm>
        </p:grpSpPr>
        <p:sp>
          <p:nvSpPr>
            <p:cNvPr id="13" name="TextBox 13"/>
            <p:cNvSpPr txBox="1"/>
            <p:nvPr/>
          </p:nvSpPr>
          <p:spPr>
            <a:xfrm>
              <a:off x="1512570" y="2614612"/>
              <a:ext cx="356044" cy="440055"/>
            </a:xfrm>
            <a:prstGeom prst="rect">
              <a:avLst/>
            </a:prstGeom>
            <a:noFill/>
            <a:ln>
              <a:noFill/>
            </a:ln>
          </p:spPr>
          <p:txBody>
            <a:bodyPr wrap="none" lIns="0" tIns="0" rIns="0" bIns="0" anchor="t" anchorCtr="0">
              <a:spAutoFit/>
            </a:bodyPr>
            <a:lstStyle/>
            <a:p>
              <a:pPr algn="l"/>
              <a:r>
                <a:rPr lang="en-US" sz="2250" dirty="0">
                  <a:solidFill>
                    <a:srgbClr val="F5A623"/>
                  </a:solidFill>
                  <a:latin typeface="Consolas"/>
                  <a:ea typeface="Consolas"/>
                  <a:cs typeface="Consolas"/>
                </a:rPr>
                <a:t>02</a:t>
              </a:r>
            </a:p>
          </p:txBody>
        </p:sp>
        <p:sp>
          <p:nvSpPr>
            <p:cNvPr id="14" name="TextBox 14"/>
            <p:cNvSpPr txBox="1"/>
            <p:nvPr/>
          </p:nvSpPr>
          <p:spPr>
            <a:xfrm>
              <a:off x="2276856" y="2644140"/>
              <a:ext cx="2138041" cy="352044"/>
            </a:xfrm>
            <a:prstGeom prst="rect">
              <a:avLst/>
            </a:prstGeom>
            <a:noFill/>
            <a:ln>
              <a:noFill/>
            </a:ln>
          </p:spPr>
          <p:txBody>
            <a:bodyPr wrap="none" lIns="0" tIns="0" rIns="0" bIns="0" anchor="t" anchorCtr="0">
              <a:spAutoFit/>
            </a:bodyPr>
            <a:lstStyle/>
            <a:p>
              <a:pPr algn="l"/>
              <a:r>
                <a:rPr lang="en-US" sz="1800" b="1" dirty="0">
                  <a:solidFill>
                    <a:srgbClr val="E8F1FA"/>
                  </a:solidFill>
                  <a:latin typeface="Segoe UI"/>
                  <a:ea typeface="Segoe UI"/>
                  <a:cs typeface="Segoe UI"/>
                </a:rPr>
                <a:t>The architecture</a:t>
              </a:r>
            </a:p>
          </p:txBody>
        </p:sp>
        <p:sp>
          <p:nvSpPr>
            <p:cNvPr id="15" name="TextBox 15"/>
            <p:cNvSpPr txBox="1"/>
            <p:nvPr/>
          </p:nvSpPr>
          <p:spPr>
            <a:xfrm>
              <a:off x="2279142" y="2978468"/>
              <a:ext cx="5989921" cy="264033"/>
            </a:xfrm>
            <a:prstGeom prst="rect">
              <a:avLst/>
            </a:prstGeom>
            <a:noFill/>
            <a:ln>
              <a:noFill/>
            </a:ln>
          </p:spPr>
          <p:txBody>
            <a:bodyPr wrap="none" lIns="0" tIns="0" rIns="0" bIns="0" anchor="t" anchorCtr="0">
              <a:spAutoFit/>
            </a:bodyPr>
            <a:lstStyle/>
            <a:p>
              <a:pPr algn="l"/>
              <a:r>
                <a:rPr lang="en-US" sz="1350" dirty="0">
                  <a:solidFill>
                    <a:srgbClr val="9CB4CC"/>
                  </a:solidFill>
                  <a:latin typeface="Segoe UI"/>
                  <a:ea typeface="Segoe UI"/>
                  <a:cs typeface="Segoe UI"/>
                </a:rPr>
                <a:t>Encoder, decoder, and the six identical layers stacked on each side</a:t>
              </a:r>
            </a:p>
          </p:txBody>
        </p:sp>
        <p:sp>
          <p:nvSpPr>
            <p:cNvPr id="16" name="TextBox 16"/>
            <p:cNvSpPr txBox="1"/>
            <p:nvPr/>
          </p:nvSpPr>
          <p:spPr>
            <a:xfrm>
              <a:off x="10042855" y="2725102"/>
              <a:ext cx="630479" cy="205359"/>
            </a:xfrm>
            <a:prstGeom prst="rect">
              <a:avLst/>
            </a:prstGeom>
            <a:noFill/>
            <a:ln>
              <a:noFill/>
            </a:ln>
          </p:spPr>
          <p:txBody>
            <a:bodyPr wrap="none" lIns="0" tIns="0" rIns="0" bIns="0" anchor="t" anchorCtr="0">
              <a:spAutoFit/>
            </a:bodyPr>
            <a:lstStyle/>
            <a:p>
              <a:pPr algn="r"/>
              <a:r>
                <a:rPr lang="en-US" sz="1050" dirty="0">
                  <a:solidFill>
                    <a:srgbClr val="9CB4CC"/>
                  </a:solidFill>
                  <a:latin typeface="Consolas"/>
                  <a:ea typeface="Consolas"/>
                  <a:cs typeface="Consolas"/>
                </a:rPr>
                <a:t>SHEET 05</a:t>
              </a:r>
            </a:p>
          </p:txBody>
        </p:sp>
        <p:sp>
          <p:nvSpPr>
            <p:cNvPr id="17" name="Line 17"/>
            <p:cNvSpPr/>
            <p:nvPr/>
          </p:nvSpPr>
          <p:spPr>
            <a:xfrm>
              <a:off x="1524000" y="3276600"/>
              <a:ext cx="9144000" cy="9525"/>
            </a:xfrm>
            <a:custGeom>
              <a:avLst/>
              <a:gdLst/>
              <a:ahLst/>
              <a:cxnLst/>
              <a:rect l="l" t="t" r="r" b="b"/>
              <a:pathLst>
                <a:path w="9144000" h="9525">
                  <a:moveTo>
                    <a:pt x="0" y="0"/>
                  </a:moveTo>
                  <a:lnTo>
                    <a:pt x="9144000" y="0"/>
                  </a:lnTo>
                </a:path>
              </a:pathLst>
            </a:custGeom>
            <a:noFill/>
            <a:ln w="9525">
              <a:solidFill>
                <a:srgbClr val="3C5A80"/>
              </a:solidFill>
            </a:ln>
          </p:spPr>
        </p:sp>
      </p:grpSp>
      <p:grpSp>
        <p:nvGrpSpPr>
          <p:cNvPr id="24" name="Group 24"/>
          <p:cNvGrpSpPr/>
          <p:nvPr/>
        </p:nvGrpSpPr>
        <p:grpSpPr>
          <a:xfrm>
            <a:off x="1512570" y="3452812"/>
            <a:ext cx="9160764" cy="671513"/>
            <a:chOff x="1512570" y="3452812"/>
            <a:chExt cx="9160764" cy="671513"/>
          </a:xfrm>
        </p:grpSpPr>
        <p:sp>
          <p:nvSpPr>
            <p:cNvPr id="19" name="TextBox 19"/>
            <p:cNvSpPr txBox="1"/>
            <p:nvPr/>
          </p:nvSpPr>
          <p:spPr>
            <a:xfrm>
              <a:off x="1512570" y="3452812"/>
              <a:ext cx="356044" cy="440055"/>
            </a:xfrm>
            <a:prstGeom prst="rect">
              <a:avLst/>
            </a:prstGeom>
            <a:noFill/>
            <a:ln>
              <a:noFill/>
            </a:ln>
          </p:spPr>
          <p:txBody>
            <a:bodyPr wrap="none" lIns="0" tIns="0" rIns="0" bIns="0" anchor="t" anchorCtr="0">
              <a:spAutoFit/>
            </a:bodyPr>
            <a:lstStyle/>
            <a:p>
              <a:pPr algn="l"/>
              <a:r>
                <a:rPr lang="en-US" sz="2250" dirty="0">
                  <a:solidFill>
                    <a:srgbClr val="F5A623"/>
                  </a:solidFill>
                  <a:latin typeface="Consolas"/>
                  <a:ea typeface="Consolas"/>
                  <a:cs typeface="Consolas"/>
                </a:rPr>
                <a:t>03</a:t>
              </a:r>
            </a:p>
          </p:txBody>
        </p:sp>
        <p:sp>
          <p:nvSpPr>
            <p:cNvPr id="20" name="TextBox 20"/>
            <p:cNvSpPr txBox="1"/>
            <p:nvPr/>
          </p:nvSpPr>
          <p:spPr>
            <a:xfrm>
              <a:off x="2276856" y="3482340"/>
              <a:ext cx="2991249" cy="352044"/>
            </a:xfrm>
            <a:prstGeom prst="rect">
              <a:avLst/>
            </a:prstGeom>
            <a:noFill/>
            <a:ln>
              <a:noFill/>
            </a:ln>
          </p:spPr>
          <p:txBody>
            <a:bodyPr wrap="none" lIns="0" tIns="0" rIns="0" bIns="0" anchor="t" anchorCtr="0">
              <a:spAutoFit/>
            </a:bodyPr>
            <a:lstStyle/>
            <a:p>
              <a:pPr algn="l"/>
              <a:r>
                <a:rPr lang="en-US" sz="1800" b="1" dirty="0">
                  <a:solidFill>
                    <a:srgbClr val="E8F1FA"/>
                  </a:solidFill>
                  <a:latin typeface="Segoe UI"/>
                  <a:ea typeface="Segoe UI"/>
                  <a:cs typeface="Segoe UI"/>
                </a:rPr>
                <a:t>Attention, step by step</a:t>
              </a:r>
            </a:p>
          </p:txBody>
        </p:sp>
        <p:sp>
          <p:nvSpPr>
            <p:cNvPr id="21" name="TextBox 21"/>
            <p:cNvSpPr txBox="1"/>
            <p:nvPr/>
          </p:nvSpPr>
          <p:spPr>
            <a:xfrm>
              <a:off x="2279142" y="3816668"/>
              <a:ext cx="7498419" cy="264033"/>
            </a:xfrm>
            <a:prstGeom prst="rect">
              <a:avLst/>
            </a:prstGeom>
            <a:noFill/>
            <a:ln>
              <a:noFill/>
            </a:ln>
          </p:spPr>
          <p:txBody>
            <a:bodyPr wrap="none" lIns="0" tIns="0" rIns="0" bIns="0" anchor="t" anchorCtr="0">
              <a:spAutoFit/>
            </a:bodyPr>
            <a:lstStyle/>
            <a:p>
              <a:pPr algn="l"/>
              <a:r>
                <a:rPr lang="en-US" sz="1350" dirty="0">
                  <a:solidFill>
                    <a:srgbClr val="9CB4CC"/>
                  </a:solidFill>
                  <a:latin typeface="Segoe UI"/>
                  <a:ea typeface="Segoe UI"/>
                  <a:cs typeface="Segoe UI"/>
                </a:rPr>
                <a:t>Scaled dot-product, multi-head, the three places it is used, and positional encoding</a:t>
              </a:r>
            </a:p>
          </p:txBody>
        </p:sp>
        <p:sp>
          <p:nvSpPr>
            <p:cNvPr id="22" name="TextBox 22"/>
            <p:cNvSpPr txBox="1"/>
            <p:nvPr/>
          </p:nvSpPr>
          <p:spPr>
            <a:xfrm>
              <a:off x="9714281" y="3563302"/>
              <a:ext cx="959053" cy="205359"/>
            </a:xfrm>
            <a:prstGeom prst="rect">
              <a:avLst/>
            </a:prstGeom>
            <a:noFill/>
            <a:ln>
              <a:noFill/>
            </a:ln>
          </p:spPr>
          <p:txBody>
            <a:bodyPr wrap="none" lIns="0" tIns="0" rIns="0" bIns="0" anchor="t" anchorCtr="0">
              <a:spAutoFit/>
            </a:bodyPr>
            <a:lstStyle/>
            <a:p>
              <a:pPr algn="r"/>
              <a:r>
                <a:rPr lang="en-US" sz="1050" dirty="0">
                  <a:solidFill>
                    <a:srgbClr val="9CB4CC"/>
                  </a:solidFill>
                  <a:latin typeface="Consolas"/>
                  <a:ea typeface="Consolas"/>
                  <a:cs typeface="Consolas"/>
                </a:rPr>
                <a:t>SHEETS 06–10</a:t>
              </a:r>
            </a:p>
          </p:txBody>
        </p:sp>
        <p:sp>
          <p:nvSpPr>
            <p:cNvPr id="23" name="Line 23"/>
            <p:cNvSpPr/>
            <p:nvPr/>
          </p:nvSpPr>
          <p:spPr>
            <a:xfrm>
              <a:off x="1524000" y="4114800"/>
              <a:ext cx="9144000" cy="9525"/>
            </a:xfrm>
            <a:custGeom>
              <a:avLst/>
              <a:gdLst/>
              <a:ahLst/>
              <a:cxnLst/>
              <a:rect l="l" t="t" r="r" b="b"/>
              <a:pathLst>
                <a:path w="9144000" h="9525">
                  <a:moveTo>
                    <a:pt x="0" y="0"/>
                  </a:moveTo>
                  <a:lnTo>
                    <a:pt x="9144000" y="0"/>
                  </a:lnTo>
                </a:path>
              </a:pathLst>
            </a:custGeom>
            <a:noFill/>
            <a:ln w="9525">
              <a:solidFill>
                <a:srgbClr val="3C5A80"/>
              </a:solidFill>
            </a:ln>
          </p:spPr>
        </p:sp>
      </p:grpSp>
      <p:grpSp>
        <p:nvGrpSpPr>
          <p:cNvPr id="30" name="Group 30"/>
          <p:cNvGrpSpPr/>
          <p:nvPr/>
        </p:nvGrpSpPr>
        <p:grpSpPr>
          <a:xfrm>
            <a:off x="1512570" y="4291012"/>
            <a:ext cx="9160764" cy="671513"/>
            <a:chOff x="1512570" y="4291012"/>
            <a:chExt cx="9160764" cy="671513"/>
          </a:xfrm>
        </p:grpSpPr>
        <p:sp>
          <p:nvSpPr>
            <p:cNvPr id="25" name="TextBox 25"/>
            <p:cNvSpPr txBox="1"/>
            <p:nvPr/>
          </p:nvSpPr>
          <p:spPr>
            <a:xfrm>
              <a:off x="1512570" y="4291012"/>
              <a:ext cx="356044" cy="440055"/>
            </a:xfrm>
            <a:prstGeom prst="rect">
              <a:avLst/>
            </a:prstGeom>
            <a:noFill/>
            <a:ln>
              <a:noFill/>
            </a:ln>
          </p:spPr>
          <p:txBody>
            <a:bodyPr wrap="none" lIns="0" tIns="0" rIns="0" bIns="0" anchor="t" anchorCtr="0">
              <a:spAutoFit/>
            </a:bodyPr>
            <a:lstStyle/>
            <a:p>
              <a:pPr algn="l"/>
              <a:r>
                <a:rPr lang="en-US" sz="2250" dirty="0">
                  <a:solidFill>
                    <a:srgbClr val="F5A623"/>
                  </a:solidFill>
                  <a:latin typeface="Consolas"/>
                  <a:ea typeface="Consolas"/>
                  <a:cs typeface="Consolas"/>
                </a:rPr>
                <a:t>04</a:t>
              </a:r>
            </a:p>
          </p:txBody>
        </p:sp>
        <p:sp>
          <p:nvSpPr>
            <p:cNvPr id="26" name="TextBox 26"/>
            <p:cNvSpPr txBox="1"/>
            <p:nvPr/>
          </p:nvSpPr>
          <p:spPr>
            <a:xfrm>
              <a:off x="2276856" y="4320540"/>
              <a:ext cx="2506799" cy="352044"/>
            </a:xfrm>
            <a:prstGeom prst="rect">
              <a:avLst/>
            </a:prstGeom>
            <a:noFill/>
            <a:ln>
              <a:noFill/>
            </a:ln>
          </p:spPr>
          <p:txBody>
            <a:bodyPr wrap="none" lIns="0" tIns="0" rIns="0" bIns="0" anchor="t" anchorCtr="0">
              <a:spAutoFit/>
            </a:bodyPr>
            <a:lstStyle/>
            <a:p>
              <a:pPr algn="l"/>
              <a:r>
                <a:rPr lang="en-US" sz="1800" b="1" dirty="0">
                  <a:solidFill>
                    <a:srgbClr val="E8F1FA"/>
                  </a:solidFill>
                  <a:latin typeface="Segoe UI"/>
                  <a:ea typeface="Segoe UI"/>
                  <a:cs typeface="Segoe UI"/>
                </a:rPr>
                <a:t>Training and results</a:t>
              </a:r>
            </a:p>
          </p:txBody>
        </p:sp>
        <p:sp>
          <p:nvSpPr>
            <p:cNvPr id="27" name="TextBox 27"/>
            <p:cNvSpPr txBox="1"/>
            <p:nvPr/>
          </p:nvSpPr>
          <p:spPr>
            <a:xfrm>
              <a:off x="2279142" y="4654868"/>
              <a:ext cx="6996385" cy="264033"/>
            </a:xfrm>
            <a:prstGeom prst="rect">
              <a:avLst/>
            </a:prstGeom>
            <a:noFill/>
            <a:ln>
              <a:noFill/>
            </a:ln>
          </p:spPr>
          <p:txBody>
            <a:bodyPr wrap="none" lIns="0" tIns="0" rIns="0" bIns="0" anchor="t" anchorCtr="0">
              <a:spAutoFit/>
            </a:bodyPr>
            <a:lstStyle/>
            <a:p>
              <a:pPr algn="l"/>
              <a:r>
                <a:rPr lang="en-US" sz="1350" dirty="0">
                  <a:solidFill>
                    <a:srgbClr val="9CB4CC"/>
                  </a:solidFill>
                  <a:latin typeface="Segoe UI"/>
                  <a:ea typeface="Segoe UI"/>
                  <a:cs typeface="Segoe UI"/>
                </a:rPr>
                <a:t>The recipe, the BLEU numbers against the field, and what the ablations taught</a:t>
              </a:r>
            </a:p>
          </p:txBody>
        </p:sp>
        <p:sp>
          <p:nvSpPr>
            <p:cNvPr id="28" name="TextBox 28"/>
            <p:cNvSpPr txBox="1"/>
            <p:nvPr/>
          </p:nvSpPr>
          <p:spPr>
            <a:xfrm>
              <a:off x="9714281" y="4401502"/>
              <a:ext cx="959053" cy="205359"/>
            </a:xfrm>
            <a:prstGeom prst="rect">
              <a:avLst/>
            </a:prstGeom>
            <a:noFill/>
            <a:ln>
              <a:noFill/>
            </a:ln>
          </p:spPr>
          <p:txBody>
            <a:bodyPr wrap="none" lIns="0" tIns="0" rIns="0" bIns="0" anchor="t" anchorCtr="0">
              <a:spAutoFit/>
            </a:bodyPr>
            <a:lstStyle/>
            <a:p>
              <a:pPr algn="r"/>
              <a:r>
                <a:rPr lang="en-US" sz="1050" dirty="0">
                  <a:solidFill>
                    <a:srgbClr val="9CB4CC"/>
                  </a:solidFill>
                  <a:latin typeface="Consolas"/>
                  <a:ea typeface="Consolas"/>
                  <a:cs typeface="Consolas"/>
                </a:rPr>
                <a:t>SHEETS 11–13</a:t>
              </a:r>
            </a:p>
          </p:txBody>
        </p:sp>
        <p:sp>
          <p:nvSpPr>
            <p:cNvPr id="29" name="Line 29"/>
            <p:cNvSpPr/>
            <p:nvPr/>
          </p:nvSpPr>
          <p:spPr>
            <a:xfrm>
              <a:off x="1524000" y="4953000"/>
              <a:ext cx="9144000" cy="9525"/>
            </a:xfrm>
            <a:custGeom>
              <a:avLst/>
              <a:gdLst/>
              <a:ahLst/>
              <a:cxnLst/>
              <a:rect l="l" t="t" r="r" b="b"/>
              <a:pathLst>
                <a:path w="9144000" h="9525">
                  <a:moveTo>
                    <a:pt x="0" y="0"/>
                  </a:moveTo>
                  <a:lnTo>
                    <a:pt x="9144000" y="0"/>
                  </a:lnTo>
                </a:path>
              </a:pathLst>
            </a:custGeom>
            <a:noFill/>
            <a:ln w="9525">
              <a:solidFill>
                <a:srgbClr val="3C5A80"/>
              </a:solidFill>
            </a:ln>
          </p:spPr>
        </p:sp>
      </p:grpSp>
      <p:grpSp>
        <p:nvGrpSpPr>
          <p:cNvPr id="35" name="Group 35"/>
          <p:cNvGrpSpPr/>
          <p:nvPr/>
        </p:nvGrpSpPr>
        <p:grpSpPr>
          <a:xfrm>
            <a:off x="1512570" y="5129212"/>
            <a:ext cx="9160764" cy="627889"/>
            <a:chOff x="1512570" y="5129212"/>
            <a:chExt cx="9160764" cy="627889"/>
          </a:xfrm>
        </p:grpSpPr>
        <p:sp>
          <p:nvSpPr>
            <p:cNvPr id="31" name="TextBox 31"/>
            <p:cNvSpPr txBox="1"/>
            <p:nvPr/>
          </p:nvSpPr>
          <p:spPr>
            <a:xfrm>
              <a:off x="1512570" y="5129212"/>
              <a:ext cx="356044" cy="440055"/>
            </a:xfrm>
            <a:prstGeom prst="rect">
              <a:avLst/>
            </a:prstGeom>
            <a:noFill/>
            <a:ln>
              <a:noFill/>
            </a:ln>
          </p:spPr>
          <p:txBody>
            <a:bodyPr wrap="none" lIns="0" tIns="0" rIns="0" bIns="0" anchor="t" anchorCtr="0">
              <a:spAutoFit/>
            </a:bodyPr>
            <a:lstStyle/>
            <a:p>
              <a:pPr algn="l"/>
              <a:r>
                <a:rPr lang="en-US" sz="2250" dirty="0">
                  <a:solidFill>
                    <a:srgbClr val="F5A623"/>
                  </a:solidFill>
                  <a:latin typeface="Consolas"/>
                  <a:ea typeface="Consolas"/>
                  <a:cs typeface="Consolas"/>
                </a:rPr>
                <a:t>05</a:t>
              </a:r>
            </a:p>
          </p:txBody>
        </p:sp>
        <p:sp>
          <p:nvSpPr>
            <p:cNvPr id="32" name="TextBox 32"/>
            <p:cNvSpPr txBox="1"/>
            <p:nvPr/>
          </p:nvSpPr>
          <p:spPr>
            <a:xfrm>
              <a:off x="2276856" y="5158740"/>
              <a:ext cx="865834" cy="352044"/>
            </a:xfrm>
            <a:prstGeom prst="rect">
              <a:avLst/>
            </a:prstGeom>
            <a:noFill/>
            <a:ln>
              <a:noFill/>
            </a:ln>
          </p:spPr>
          <p:txBody>
            <a:bodyPr wrap="none" lIns="0" tIns="0" rIns="0" bIns="0" anchor="t" anchorCtr="0">
              <a:spAutoFit/>
            </a:bodyPr>
            <a:lstStyle/>
            <a:p>
              <a:pPr algn="l"/>
              <a:r>
                <a:rPr lang="en-US" sz="1800" b="1" dirty="0">
                  <a:solidFill>
                    <a:srgbClr val="E8F1FA"/>
                  </a:solidFill>
                  <a:latin typeface="Segoe UI"/>
                  <a:ea typeface="Segoe UI"/>
                  <a:cs typeface="Segoe UI"/>
                </a:rPr>
                <a:t>Legacy</a:t>
              </a:r>
            </a:p>
          </p:txBody>
        </p:sp>
        <p:sp>
          <p:nvSpPr>
            <p:cNvPr id="33" name="TextBox 33"/>
            <p:cNvSpPr txBox="1"/>
            <p:nvPr/>
          </p:nvSpPr>
          <p:spPr>
            <a:xfrm>
              <a:off x="2279142" y="5493068"/>
              <a:ext cx="4972279" cy="264033"/>
            </a:xfrm>
            <a:prstGeom prst="rect">
              <a:avLst/>
            </a:prstGeom>
            <a:noFill/>
            <a:ln>
              <a:noFill/>
            </a:ln>
          </p:spPr>
          <p:txBody>
            <a:bodyPr wrap="none" lIns="0" tIns="0" rIns="0" bIns="0" anchor="t" anchorCtr="0">
              <a:spAutoFit/>
            </a:bodyPr>
            <a:lstStyle/>
            <a:p>
              <a:pPr algn="l"/>
              <a:r>
                <a:rPr lang="en-US" sz="1350" dirty="0">
                  <a:solidFill>
                    <a:srgbClr val="9CB4CC"/>
                  </a:solidFill>
                  <a:latin typeface="Segoe UI"/>
                  <a:ea typeface="Segoe UI"/>
                  <a:cs typeface="Segoe UI"/>
                </a:rPr>
                <a:t>What was built on top of it, and why the title still holds</a:t>
              </a:r>
            </a:p>
          </p:txBody>
        </p:sp>
        <p:sp>
          <p:nvSpPr>
            <p:cNvPr id="34" name="TextBox 34"/>
            <p:cNvSpPr txBox="1"/>
            <p:nvPr/>
          </p:nvSpPr>
          <p:spPr>
            <a:xfrm>
              <a:off x="9714281" y="5239702"/>
              <a:ext cx="959053" cy="205359"/>
            </a:xfrm>
            <a:prstGeom prst="rect">
              <a:avLst/>
            </a:prstGeom>
            <a:noFill/>
            <a:ln>
              <a:noFill/>
            </a:ln>
          </p:spPr>
          <p:txBody>
            <a:bodyPr wrap="none" lIns="0" tIns="0" rIns="0" bIns="0" anchor="t" anchorCtr="0">
              <a:spAutoFit/>
            </a:bodyPr>
            <a:lstStyle/>
            <a:p>
              <a:pPr algn="r"/>
              <a:r>
                <a:rPr lang="en-US" sz="1050" dirty="0">
                  <a:solidFill>
                    <a:srgbClr val="9CB4CC"/>
                  </a:solidFill>
                  <a:latin typeface="Consolas"/>
                  <a:ea typeface="Consolas"/>
                  <a:cs typeface="Consolas"/>
                </a:rPr>
                <a:t>SHEETS 14–15</a:t>
              </a:r>
            </a:p>
          </p:txBody>
        </p:sp>
      </p:grpSp>
      <p:grpSp>
        <p:nvGrpSpPr>
          <p:cNvPr id="40" name="Group 40"/>
          <p:cNvGrpSpPr/>
          <p:nvPr/>
        </p:nvGrpSpPr>
        <p:grpSpPr>
          <a:xfrm>
            <a:off x="9525000" y="6362700"/>
            <a:ext cx="2095500" cy="304800"/>
            <a:chOff x="9525000" y="6362700"/>
            <a:chExt cx="2095500" cy="304800"/>
          </a:xfrm>
        </p:grpSpPr>
        <p:sp>
          <p:nvSpPr>
            <p:cNvPr id="36" name="Rectangle 36"/>
            <p:cNvSpPr/>
            <p:nvPr/>
          </p:nvSpPr>
          <p:spPr>
            <a:xfrm>
              <a:off x="9525000" y="6362700"/>
              <a:ext cx="2095500" cy="304800"/>
            </a:xfrm>
            <a:prstGeom prst="rect">
              <a:avLst/>
            </a:prstGeom>
            <a:noFill/>
            <a:ln w="9525">
              <a:solidFill>
                <a:srgbClr val="3C5A80"/>
              </a:solidFill>
            </a:ln>
          </p:spPr>
        </p:sp>
        <p:sp>
          <p:nvSpPr>
            <p:cNvPr id="37" name="Line 37"/>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38" name="TextBox 38"/>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39" name="TextBox 39"/>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15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500"/>
                                        <p:tgtEl>
                                          <p:spTgt spid="18"/>
                                        </p:tgtEl>
                                      </p:cBhvr>
                                    </p:animEffect>
                                  </p:childTnLst>
                                </p:cTn>
                              </p:par>
                            </p:childTnLst>
                          </p:cTn>
                        </p:par>
                        <p:par>
                          <p:cTn id="12" fill="hold">
                            <p:stCondLst>
                              <p:cond delay="1150"/>
                            </p:stCondLst>
                            <p:childTnLst>
                              <p:par>
                                <p:cTn xmlns:p="http://schemas.openxmlformats.org/presentationml/2006/main" id="13" presetID="10" presetClass="entr" presetSubtype="0" fill="hold" grpId="0" nodeType="afterEffect">
                                  <p:stCondLst>
                                    <p:cond delay="15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00"/>
                                        <p:tgtEl>
                                          <p:spTgt spid="24"/>
                                        </p:tgtEl>
                                      </p:cBhvr>
                                    </p:animEffect>
                                  </p:childTnLst>
                                </p:cTn>
                              </p:par>
                            </p:childTnLst>
                          </p:cTn>
                        </p:par>
                        <p:par>
                          <p:cTn id="16" fill="hold">
                            <p:stCondLst>
                              <p:cond delay="1800"/>
                            </p:stCondLst>
                            <p:childTnLst>
                              <p:par>
                                <p:cTn xmlns:p="http://schemas.openxmlformats.org/presentationml/2006/main" id="17" presetID="10" presetClass="entr" presetSubtype="0" fill="hold" grpId="0" nodeType="afterEffect">
                                  <p:stCondLst>
                                    <p:cond delay="15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childTnLst>
                          </p:cTn>
                        </p:par>
                        <p:par>
                          <p:cTn id="20" fill="hold">
                            <p:stCondLst>
                              <p:cond delay="2450"/>
                            </p:stCondLst>
                            <p:childTnLst>
                              <p:par>
                                <p:cTn xmlns:p="http://schemas.openxmlformats.org/presentationml/2006/main" id="21" presetID="10" presetClass="entr" presetSubtype="0" fill="hold" grpId="0" nodeType="afterEffect">
                                  <p:stCondLst>
                                    <p:cond delay="150"/>
                                  </p:stCondLst>
                                  <p:childTnLst>
                                    <p:set>
                                      <p:cBhvr>
                                        <p:cTn id="22" dur="1" fill="hold">
                                          <p:stCondLst>
                                            <p:cond delay="0"/>
                                          </p:stCondLst>
                                        </p:cTn>
                                        <p:tgtEl>
                                          <p:spTgt spid="35"/>
                                        </p:tgtEl>
                                        <p:attrNameLst>
                                          <p:attrName>style.visibility</p:attrName>
                                        </p:attrNameLst>
                                      </p:cBhvr>
                                      <p:to>
                                        <p:strVal val="visible"/>
                                      </p:to>
                                    </p:set>
                                    <p:animEffect transition="in" filter="fade">
                                      <p:cBhvr>
                                        <p:cTn id="2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10015179" cy="801243"/>
            <a:chOff x="747522" y="439102"/>
            <a:chExt cx="10015179" cy="801243"/>
          </a:xfrm>
        </p:grpSpPr>
        <p:sp>
          <p:nvSpPr>
            <p:cNvPr id="3" name="TextBox 3"/>
            <p:cNvSpPr txBox="1"/>
            <p:nvPr/>
          </p:nvSpPr>
          <p:spPr>
            <a:xfrm>
              <a:off x="775716" y="439102"/>
              <a:ext cx="2042922"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01 · THE BOTTLENECK</a:t>
              </a:r>
            </a:p>
          </p:txBody>
        </p:sp>
        <p:sp>
          <p:nvSpPr>
            <p:cNvPr id="4" name="TextBox 4"/>
            <p:cNvSpPr txBox="1"/>
            <p:nvPr/>
          </p:nvSpPr>
          <p:spPr>
            <a:xfrm>
              <a:off x="747522" y="682942"/>
              <a:ext cx="10015179"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Before 2017, models paid for word order with time</a:t>
              </a:r>
            </a:p>
          </p:txBody>
        </p:sp>
      </p:grpSp>
      <p:grpSp>
        <p:nvGrpSpPr>
          <p:cNvPr id="33" name="Group 33"/>
          <p:cNvGrpSpPr/>
          <p:nvPr/>
        </p:nvGrpSpPr>
        <p:grpSpPr>
          <a:xfrm>
            <a:off x="762000" y="1428750"/>
            <a:ext cx="5334000" cy="3619500"/>
            <a:chOff x="762000" y="1428750"/>
            <a:chExt cx="5334000" cy="3619500"/>
          </a:xfrm>
        </p:grpSpPr>
        <p:sp>
          <p:nvSpPr>
            <p:cNvPr id="6" name="Rectangle 6"/>
            <p:cNvSpPr/>
            <p:nvPr/>
          </p:nvSpPr>
          <p:spPr>
            <a:xfrm>
              <a:off x="762000" y="1428750"/>
              <a:ext cx="5334000" cy="3619500"/>
            </a:xfrm>
            <a:prstGeom prst="rect">
              <a:avLst/>
            </a:prstGeom>
            <a:noFill/>
            <a:ln w="9525">
              <a:solidFill>
                <a:srgbClr val="3C5A80"/>
              </a:solidFill>
            </a:ln>
          </p:spPr>
        </p:sp>
        <p:sp>
          <p:nvSpPr>
            <p:cNvPr id="7" name="TextBox 7"/>
            <p:cNvSpPr txBox="1"/>
            <p:nvPr/>
          </p:nvSpPr>
          <p:spPr>
            <a:xfrm>
              <a:off x="947166" y="1601152"/>
              <a:ext cx="2522982" cy="205359"/>
            </a:xfrm>
            <a:prstGeom prst="rect">
              <a:avLst/>
            </a:prstGeom>
            <a:noFill/>
            <a:ln>
              <a:noFill/>
            </a:ln>
          </p:spPr>
          <p:txBody>
            <a:bodyPr wrap="none" lIns="0" tIns="0" rIns="0" bIns="0" anchor="t" anchorCtr="0">
              <a:spAutoFit/>
            </a:bodyPr>
            <a:lstStyle/>
            <a:p>
              <a:pPr algn="l"/>
              <a:r>
                <a:rPr lang="en-US" sz="1050" spc="150" dirty="0">
                  <a:solidFill>
                    <a:srgbClr val="9CC3E6"/>
                  </a:solidFill>
                  <a:latin typeface="Consolas"/>
                  <a:ea typeface="Consolas"/>
                  <a:cs typeface="Consolas"/>
                </a:rPr>
                <a:t>A · RECURRENT (LSTM / GRU)</a:t>
              </a:r>
            </a:p>
          </p:txBody>
        </p:sp>
        <p:sp>
          <p:nvSpPr>
            <p:cNvPr id="8" name="TextBox 8"/>
            <p:cNvSpPr txBox="1"/>
            <p:nvPr/>
          </p:nvSpPr>
          <p:spPr>
            <a:xfrm>
              <a:off x="946023" y="2034064"/>
              <a:ext cx="4653979" cy="249364"/>
            </a:xfrm>
            <a:prstGeom prst="rect">
              <a:avLst/>
            </a:prstGeom>
            <a:noFill/>
            <a:ln>
              <a:noFill/>
            </a:ln>
          </p:spPr>
          <p:txBody>
            <a:bodyPr wrap="none" lIns="0" tIns="0" rIns="0" bIns="0" anchor="t" anchorCtr="0">
              <a:spAutoFit/>
            </a:bodyPr>
            <a:lstStyle/>
            <a:p>
              <a:pPr algn="l"/>
              <a:r>
                <a:rPr lang="en-US" sz="1280" dirty="0">
                  <a:solidFill>
                    <a:srgbClr val="9CB4CC"/>
                  </a:solidFill>
                  <a:latin typeface="Consolas"/>
                  <a:ea typeface="Consolas"/>
                  <a:cs typeface="Consolas"/>
                </a:rPr>
                <a:t>h</a:t>
              </a:r>
              <a:r>
                <a:rPr lang="en-US" sz="900" baseline="-25000" dirty="0">
                  <a:solidFill>
                    <a:srgbClr val="9CB4CC"/>
                  </a:solidFill>
                  <a:latin typeface="Consolas"/>
                  <a:ea typeface="Consolas"/>
                  <a:cs typeface="Consolas"/>
                </a:rPr>
                <a:t>t</a:t>
              </a:r>
              <a:r>
                <a:rPr lang="en-US" sz="1280" dirty="0">
                  <a:solidFill>
                    <a:srgbClr val="9CB4CC"/>
                  </a:solidFill>
                  <a:latin typeface="Consolas"/>
                  <a:ea typeface="Consolas"/>
                  <a:cs typeface="Consolas"/>
                </a:rPr>
                <a:t xml:space="preserve"> = f(h</a:t>
              </a:r>
              <a:r>
                <a:rPr lang="en-US" sz="900" baseline="-25000" dirty="0">
                  <a:solidFill>
                    <a:srgbClr val="9CB4CC"/>
                  </a:solidFill>
                  <a:latin typeface="Consolas"/>
                  <a:ea typeface="Consolas"/>
                  <a:cs typeface="Consolas"/>
                </a:rPr>
                <a:t>t−1</a:t>
              </a:r>
              <a:r>
                <a:rPr lang="en-US" sz="1280" dirty="0">
                  <a:solidFill>
                    <a:srgbClr val="9CB4CC"/>
                  </a:solidFill>
                  <a:latin typeface="Consolas"/>
                  <a:ea typeface="Consolas"/>
                  <a:cs typeface="Consolas"/>
                </a:rPr>
                <a:t>, x</a:t>
              </a:r>
              <a:r>
                <a:rPr lang="en-US" sz="900" baseline="-25000" dirty="0">
                  <a:solidFill>
                    <a:srgbClr val="9CB4CC"/>
                  </a:solidFill>
                  <a:latin typeface="Consolas"/>
                  <a:ea typeface="Consolas"/>
                  <a:cs typeface="Consolas"/>
                </a:rPr>
                <a:t>t</a:t>
              </a:r>
              <a:r>
                <a:rPr lang="en-US" sz="1280" dirty="0">
                  <a:solidFill>
                    <a:srgbClr val="9CB4CC"/>
                  </a:solidFill>
                  <a:latin typeface="Consolas"/>
                  <a:ea typeface="Consolas"/>
                  <a:cs typeface="Consolas"/>
                </a:rPr>
                <a:t>) — every step waits for the previous one</a:t>
              </a:r>
            </a:p>
          </p:txBody>
        </p:sp>
        <p:grpSp>
          <p:nvGrpSpPr>
            <p:cNvPr id="26" name="Group 26"/>
            <p:cNvGrpSpPr/>
            <p:nvPr/>
          </p:nvGrpSpPr>
          <p:grpSpPr>
            <a:xfrm>
              <a:off x="1162050" y="2876550"/>
              <a:ext cx="4629150" cy="342900"/>
              <a:chOff x="1162050" y="2876550"/>
              <a:chExt cx="4629150" cy="342900"/>
            </a:xfrm>
          </p:grpSpPr>
          <p:sp>
            <p:nvSpPr>
              <p:cNvPr id="9" name="Ellipse 9"/>
              <p:cNvSpPr/>
              <p:nvPr/>
            </p:nvSpPr>
            <p:spPr>
              <a:xfrm>
                <a:off x="1162050" y="2876550"/>
                <a:ext cx="342900" cy="342900"/>
              </a:xfrm>
              <a:prstGeom prst="ellipse">
                <a:avLst/>
              </a:prstGeom>
              <a:solidFill>
                <a:srgbClr val="10284A"/>
              </a:solidFill>
              <a:ln w="14288">
                <a:solidFill>
                  <a:srgbClr val="9CC3E6"/>
                </a:solidFill>
              </a:ln>
            </p:spPr>
          </p:sp>
          <p:sp>
            <p:nvSpPr>
              <p:cNvPr id="10" name="Ellipse 10"/>
              <p:cNvSpPr/>
              <p:nvPr/>
            </p:nvSpPr>
            <p:spPr>
              <a:xfrm>
                <a:off x="2019300" y="2876550"/>
                <a:ext cx="342900" cy="342900"/>
              </a:xfrm>
              <a:prstGeom prst="ellipse">
                <a:avLst/>
              </a:prstGeom>
              <a:solidFill>
                <a:srgbClr val="10284A"/>
              </a:solidFill>
              <a:ln w="14288">
                <a:solidFill>
                  <a:srgbClr val="9CC3E6"/>
                </a:solidFill>
              </a:ln>
            </p:spPr>
          </p:sp>
          <p:sp>
            <p:nvSpPr>
              <p:cNvPr id="11" name="Ellipse 11"/>
              <p:cNvSpPr/>
              <p:nvPr/>
            </p:nvSpPr>
            <p:spPr>
              <a:xfrm>
                <a:off x="2876550" y="2876550"/>
                <a:ext cx="342900" cy="342900"/>
              </a:xfrm>
              <a:prstGeom prst="ellipse">
                <a:avLst/>
              </a:prstGeom>
              <a:solidFill>
                <a:srgbClr val="10284A"/>
              </a:solidFill>
              <a:ln w="14288">
                <a:solidFill>
                  <a:srgbClr val="9CC3E6"/>
                </a:solidFill>
              </a:ln>
            </p:spPr>
          </p:sp>
          <p:sp>
            <p:nvSpPr>
              <p:cNvPr id="12" name="Ellipse 12"/>
              <p:cNvSpPr/>
              <p:nvPr/>
            </p:nvSpPr>
            <p:spPr>
              <a:xfrm>
                <a:off x="3733800" y="2876550"/>
                <a:ext cx="342900" cy="342900"/>
              </a:xfrm>
              <a:prstGeom prst="ellipse">
                <a:avLst/>
              </a:prstGeom>
              <a:solidFill>
                <a:srgbClr val="10284A"/>
              </a:solidFill>
              <a:ln w="14288">
                <a:solidFill>
                  <a:srgbClr val="9CC3E6"/>
                </a:solidFill>
              </a:ln>
            </p:spPr>
          </p:sp>
          <p:sp>
            <p:nvSpPr>
              <p:cNvPr id="13" name="Ellipse 13"/>
              <p:cNvSpPr/>
              <p:nvPr/>
            </p:nvSpPr>
            <p:spPr>
              <a:xfrm>
                <a:off x="4591050" y="2876550"/>
                <a:ext cx="342900" cy="342900"/>
              </a:xfrm>
              <a:prstGeom prst="ellipse">
                <a:avLst/>
              </a:prstGeom>
              <a:solidFill>
                <a:srgbClr val="10284A"/>
              </a:solidFill>
              <a:ln w="14288">
                <a:solidFill>
                  <a:srgbClr val="9CC3E6"/>
                </a:solidFill>
              </a:ln>
            </p:spPr>
          </p:sp>
          <p:sp>
            <p:nvSpPr>
              <p:cNvPr id="14" name="Ellipse 14"/>
              <p:cNvSpPr/>
              <p:nvPr/>
            </p:nvSpPr>
            <p:spPr>
              <a:xfrm>
                <a:off x="5448300" y="2876550"/>
                <a:ext cx="342900" cy="342900"/>
              </a:xfrm>
              <a:prstGeom prst="ellipse">
                <a:avLst/>
              </a:prstGeom>
              <a:solidFill>
                <a:srgbClr val="10284A"/>
              </a:solidFill>
              <a:ln w="19050">
                <a:solidFill>
                  <a:srgbClr val="F5A623"/>
                </a:solidFill>
              </a:ln>
            </p:spPr>
          </p:sp>
          <p:sp>
            <p:nvSpPr>
              <p:cNvPr id="15" name="Line 15"/>
              <p:cNvSpPr/>
              <p:nvPr/>
            </p:nvSpPr>
            <p:spPr>
              <a:xfrm>
                <a:off x="1504950" y="3048000"/>
                <a:ext cx="495300" cy="1"/>
              </a:xfrm>
              <a:prstGeom prst="line">
                <a:avLst/>
              </a:prstGeom>
              <a:noFill/>
              <a:ln w="14288">
                <a:solidFill>
                  <a:srgbClr val="9CC3E6"/>
                </a:solidFill>
                <a:tailEnd type="triangle" w="lg" len="lg"/>
              </a:ln>
            </p:spPr>
          </p:sp>
          <p:sp>
            <p:nvSpPr>
              <p:cNvPr id="16" name="Line 16"/>
              <p:cNvSpPr/>
              <p:nvPr/>
            </p:nvSpPr>
            <p:spPr>
              <a:xfrm>
                <a:off x="2362200" y="3048000"/>
                <a:ext cx="495300" cy="1"/>
              </a:xfrm>
              <a:prstGeom prst="line">
                <a:avLst/>
              </a:prstGeom>
              <a:noFill/>
              <a:ln w="14288">
                <a:solidFill>
                  <a:srgbClr val="9CC3E6"/>
                </a:solidFill>
                <a:tailEnd type="triangle" w="lg" len="lg"/>
              </a:ln>
            </p:spPr>
          </p:sp>
          <p:sp>
            <p:nvSpPr>
              <p:cNvPr id="17" name="Line 17"/>
              <p:cNvSpPr/>
              <p:nvPr/>
            </p:nvSpPr>
            <p:spPr>
              <a:xfrm>
                <a:off x="3219450" y="3048000"/>
                <a:ext cx="495300" cy="1"/>
              </a:xfrm>
              <a:prstGeom prst="line">
                <a:avLst/>
              </a:prstGeom>
              <a:noFill/>
              <a:ln w="14288">
                <a:solidFill>
                  <a:srgbClr val="9CC3E6"/>
                </a:solidFill>
                <a:tailEnd type="triangle" w="lg" len="lg"/>
              </a:ln>
            </p:spPr>
          </p:sp>
          <p:sp>
            <p:nvSpPr>
              <p:cNvPr id="18" name="Line 18"/>
              <p:cNvSpPr/>
              <p:nvPr/>
            </p:nvSpPr>
            <p:spPr>
              <a:xfrm>
                <a:off x="4076700" y="3048000"/>
                <a:ext cx="495300" cy="1"/>
              </a:xfrm>
              <a:prstGeom prst="line">
                <a:avLst/>
              </a:prstGeom>
              <a:noFill/>
              <a:ln w="14288">
                <a:solidFill>
                  <a:srgbClr val="9CC3E6"/>
                </a:solidFill>
                <a:tailEnd type="triangle" w="lg" len="lg"/>
              </a:ln>
            </p:spPr>
          </p:sp>
          <p:sp>
            <p:nvSpPr>
              <p:cNvPr id="19" name="Line 19"/>
              <p:cNvSpPr/>
              <p:nvPr/>
            </p:nvSpPr>
            <p:spPr>
              <a:xfrm>
                <a:off x="4933950" y="3048000"/>
                <a:ext cx="495300" cy="1"/>
              </a:xfrm>
              <a:prstGeom prst="line">
                <a:avLst/>
              </a:prstGeom>
              <a:noFill/>
              <a:ln w="14288">
                <a:solidFill>
                  <a:srgbClr val="9CC3E6"/>
                </a:solidFill>
                <a:tailEnd type="triangle" w="lg" len="lg"/>
              </a:ln>
            </p:spPr>
          </p:sp>
          <p:sp>
            <p:nvSpPr>
              <p:cNvPr id="20" name="TextBox 20"/>
              <p:cNvSpPr txBox="1"/>
              <p:nvPr/>
            </p:nvSpPr>
            <p:spPr>
              <a:xfrm>
                <a:off x="1289294" y="2991802"/>
                <a:ext cx="88411"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Consolas"/>
                    <a:ea typeface="Consolas"/>
                    <a:cs typeface="Consolas"/>
                  </a:rPr>
                  <a:t>1</a:t>
                </a:r>
              </a:p>
            </p:txBody>
          </p:sp>
          <p:sp>
            <p:nvSpPr>
              <p:cNvPr id="21" name="TextBox 21"/>
              <p:cNvSpPr txBox="1"/>
              <p:nvPr/>
            </p:nvSpPr>
            <p:spPr>
              <a:xfrm>
                <a:off x="2146544" y="2991802"/>
                <a:ext cx="88411"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Consolas"/>
                    <a:ea typeface="Consolas"/>
                    <a:cs typeface="Consolas"/>
                  </a:rPr>
                  <a:t>2</a:t>
                </a:r>
              </a:p>
            </p:txBody>
          </p:sp>
          <p:sp>
            <p:nvSpPr>
              <p:cNvPr id="22" name="TextBox 22"/>
              <p:cNvSpPr txBox="1"/>
              <p:nvPr/>
            </p:nvSpPr>
            <p:spPr>
              <a:xfrm>
                <a:off x="3003794" y="2991802"/>
                <a:ext cx="88411"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Consolas"/>
                    <a:ea typeface="Consolas"/>
                    <a:cs typeface="Consolas"/>
                  </a:rPr>
                  <a:t>3</a:t>
                </a:r>
              </a:p>
            </p:txBody>
          </p:sp>
          <p:sp>
            <p:nvSpPr>
              <p:cNvPr id="23" name="TextBox 23"/>
              <p:cNvSpPr txBox="1"/>
              <p:nvPr/>
            </p:nvSpPr>
            <p:spPr>
              <a:xfrm>
                <a:off x="3861044" y="2991802"/>
                <a:ext cx="88411"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Consolas"/>
                    <a:ea typeface="Consolas"/>
                    <a:cs typeface="Consolas"/>
                  </a:rPr>
                  <a:t>4</a:t>
                </a:r>
              </a:p>
            </p:txBody>
          </p:sp>
          <p:sp>
            <p:nvSpPr>
              <p:cNvPr id="24" name="TextBox 24"/>
              <p:cNvSpPr txBox="1"/>
              <p:nvPr/>
            </p:nvSpPr>
            <p:spPr>
              <a:xfrm>
                <a:off x="4718294" y="2991802"/>
                <a:ext cx="88411"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Consolas"/>
                    <a:ea typeface="Consolas"/>
                    <a:cs typeface="Consolas"/>
                  </a:rPr>
                  <a:t>5</a:t>
                </a:r>
              </a:p>
            </p:txBody>
          </p:sp>
          <p:sp>
            <p:nvSpPr>
              <p:cNvPr id="25" name="TextBox 25"/>
              <p:cNvSpPr txBox="1"/>
              <p:nvPr/>
            </p:nvSpPr>
            <p:spPr>
              <a:xfrm>
                <a:off x="5575544" y="2991802"/>
                <a:ext cx="88411" cy="205359"/>
              </a:xfrm>
              <a:prstGeom prst="rect">
                <a:avLst/>
              </a:prstGeom>
              <a:noFill/>
              <a:ln>
                <a:noFill/>
              </a:ln>
            </p:spPr>
            <p:txBody>
              <a:bodyPr wrap="none" lIns="0" tIns="0" rIns="0" bIns="0" anchor="t" anchorCtr="0">
                <a:spAutoFit/>
              </a:bodyPr>
              <a:lstStyle/>
              <a:p>
                <a:pPr algn="ctr"/>
                <a:r>
                  <a:rPr lang="en-US" sz="1050" dirty="0">
                    <a:solidFill>
                      <a:srgbClr val="F5A623"/>
                    </a:solidFill>
                    <a:latin typeface="Consolas"/>
                    <a:ea typeface="Consolas"/>
                    <a:cs typeface="Consolas"/>
                  </a:rPr>
                  <a:t>n</a:t>
                </a:r>
              </a:p>
            </p:txBody>
          </p:sp>
        </p:grpSp>
        <p:grpSp>
          <p:nvGrpSpPr>
            <p:cNvPr id="31" name="Group 31"/>
            <p:cNvGrpSpPr/>
            <p:nvPr/>
          </p:nvGrpSpPr>
          <p:grpSpPr>
            <a:xfrm>
              <a:off x="1333500" y="3543300"/>
              <a:ext cx="4295775" cy="434911"/>
              <a:chOff x="1333500" y="3543300"/>
              <a:chExt cx="4295775" cy="434911"/>
            </a:xfrm>
          </p:grpSpPr>
          <p:sp>
            <p:nvSpPr>
              <p:cNvPr id="27" name="Line 27"/>
              <p:cNvSpPr/>
              <p:nvPr/>
            </p:nvSpPr>
            <p:spPr>
              <a:xfrm>
                <a:off x="1333500" y="3619500"/>
                <a:ext cx="4286250" cy="9525"/>
              </a:xfrm>
              <a:custGeom>
                <a:avLst/>
                <a:gdLst/>
                <a:ahLst/>
                <a:cxnLst/>
                <a:rect l="l" t="t" r="r" b="b"/>
                <a:pathLst>
                  <a:path w="4286250" h="9525">
                    <a:moveTo>
                      <a:pt x="0" y="0"/>
                    </a:moveTo>
                    <a:lnTo>
                      <a:pt x="4286250" y="0"/>
                    </a:lnTo>
                  </a:path>
                </a:pathLst>
              </a:custGeom>
              <a:noFill/>
              <a:ln w="9525">
                <a:solidFill>
                  <a:srgbClr val="9CC3E6"/>
                </a:solidFill>
                <a:prstDash val="lgDashDot"/>
              </a:ln>
            </p:spPr>
          </p:sp>
          <p:sp>
            <p:nvSpPr>
              <p:cNvPr id="28" name="Line 28"/>
              <p:cNvSpPr/>
              <p:nvPr/>
            </p:nvSpPr>
            <p:spPr>
              <a:xfrm>
                <a:off x="1333500" y="3543300"/>
                <a:ext cx="9525" cy="152400"/>
              </a:xfrm>
              <a:custGeom>
                <a:avLst/>
                <a:gdLst/>
                <a:ahLst/>
                <a:cxnLst/>
                <a:rect l="l" t="t" r="r" b="b"/>
                <a:pathLst>
                  <a:path w="9525" h="152400">
                    <a:moveTo>
                      <a:pt x="0" y="0"/>
                    </a:moveTo>
                    <a:lnTo>
                      <a:pt x="0" y="152400"/>
                    </a:lnTo>
                  </a:path>
                </a:pathLst>
              </a:custGeom>
              <a:noFill/>
              <a:ln w="9525">
                <a:solidFill>
                  <a:srgbClr val="9CC3E6"/>
                </a:solidFill>
              </a:ln>
            </p:spPr>
          </p:sp>
          <p:sp>
            <p:nvSpPr>
              <p:cNvPr id="29" name="Line 29"/>
              <p:cNvSpPr/>
              <p:nvPr/>
            </p:nvSpPr>
            <p:spPr>
              <a:xfrm>
                <a:off x="5619750" y="3543300"/>
                <a:ext cx="9525" cy="152400"/>
              </a:xfrm>
              <a:custGeom>
                <a:avLst/>
                <a:gdLst/>
                <a:ahLst/>
                <a:cxnLst/>
                <a:rect l="l" t="t" r="r" b="b"/>
                <a:pathLst>
                  <a:path w="9525" h="152400">
                    <a:moveTo>
                      <a:pt x="0" y="0"/>
                    </a:moveTo>
                    <a:lnTo>
                      <a:pt x="0" y="152400"/>
                    </a:lnTo>
                  </a:path>
                </a:pathLst>
              </a:custGeom>
              <a:noFill/>
              <a:ln w="9525">
                <a:solidFill>
                  <a:srgbClr val="9CC3E6"/>
                </a:solidFill>
              </a:ln>
            </p:spPr>
          </p:sp>
          <p:sp>
            <p:nvSpPr>
              <p:cNvPr id="30" name="TextBox 30"/>
              <p:cNvSpPr txBox="1"/>
              <p:nvPr/>
            </p:nvSpPr>
            <p:spPr>
              <a:xfrm>
                <a:off x="2057876" y="3772852"/>
                <a:ext cx="2837498" cy="205359"/>
              </a:xfrm>
              <a:prstGeom prst="rect">
                <a:avLst/>
              </a:prstGeom>
              <a:noFill/>
              <a:ln>
                <a:noFill/>
              </a:ln>
            </p:spPr>
            <p:txBody>
              <a:bodyPr wrap="none" lIns="0" tIns="0" rIns="0" bIns="0" anchor="t" anchorCtr="0">
                <a:spAutoFit/>
              </a:bodyPr>
              <a:lstStyle/>
              <a:p>
                <a:pPr algn="ctr"/>
                <a:r>
                  <a:rPr lang="en-US" sz="1050" dirty="0">
                    <a:solidFill>
                      <a:srgbClr val="9CC3E6"/>
                    </a:solidFill>
                    <a:latin typeface="Consolas"/>
                    <a:ea typeface="Consolas"/>
                    <a:cs typeface="Consolas"/>
                  </a:rPr>
                  <a:t>n SEQUENTIAL STEPS · PATH LENGTH O(n)</a:t>
                </a:r>
              </a:p>
            </p:txBody>
          </p:sp>
        </p:grpSp>
        <p:sp>
          <p:nvSpPr>
            <p:cNvPr id="32" name="TextBox 32"/>
            <p:cNvSpPr txBox="1"/>
            <p:nvPr/>
          </p:nvSpPr>
          <p:spPr>
            <a:xfrm>
              <a:off x="945261" y="4208621"/>
              <a:ext cx="4387723" cy="812102"/>
            </a:xfrm>
            <a:prstGeom prst="rect">
              <a:avLst/>
            </a:prstGeom>
            <a:noFill/>
            <a:ln>
              <a:noFill/>
            </a:ln>
          </p:spPr>
          <p:txBody>
            <a:bodyPr wrap="none" lIns="0" tIns="0" rIns="0" bIns="0" anchor="t" anchorCtr="0">
              <a:spAutoFit/>
            </a:bodyPr>
            <a:lstStyle/>
            <a:p>
              <a:pPr algn="l">
                <a:lnSpc>
                  <a:spcPts val="2100"/>
                </a:lnSpc>
              </a:pPr>
              <a:r>
                <a:rPr lang="en-US" sz="1420" dirty="0">
                  <a:solidFill>
                    <a:srgbClr val="C9DBEA"/>
                  </a:solidFill>
                  <a:latin typeface="Segoe UI"/>
                  <a:ea typeface="Segoe UI"/>
                  <a:cs typeface="Segoe UI"/>
                </a:rPr>
                <a:t>Position 1 reaches position n only through n hops.</a:t>
              </a:r>
              <a:br/>
              <a:r>
                <a:rPr lang="en-US" sz="1420" dirty="0">
                  <a:solidFill>
                    <a:srgbClr val="C9DBEA"/>
                  </a:solidFill>
                  <a:latin typeface="Segoe UI"/>
                  <a:ea typeface="Segoe UI"/>
                  <a:cs typeface="Segoe UI"/>
                </a:rPr>
                <a:t>Inside one example nothing can run in parallel,</a:t>
              </a:r>
              <a:br/>
              <a:r>
                <a:rPr lang="en-US" sz="1420" dirty="0">
                  <a:solidFill>
                    <a:srgbClr val="C9DBEA"/>
                  </a:solidFill>
                  <a:latin typeface="Segoe UI"/>
                  <a:ea typeface="Segoe UI"/>
                  <a:cs typeface="Segoe UI"/>
                </a:rPr>
                <a:t>so longer sentences mean longer wall-clock time.</a:t>
              </a:r>
            </a:p>
          </p:txBody>
        </p:sp>
      </p:grpSp>
      <p:grpSp>
        <p:nvGrpSpPr>
          <p:cNvPr id="72" name="Group 72"/>
          <p:cNvGrpSpPr/>
          <p:nvPr/>
        </p:nvGrpSpPr>
        <p:grpSpPr>
          <a:xfrm>
            <a:off x="6286500" y="1428750"/>
            <a:ext cx="5143500" cy="3619500"/>
            <a:chOff x="6286500" y="1428750"/>
            <a:chExt cx="5143500" cy="3619500"/>
          </a:xfrm>
        </p:grpSpPr>
        <p:sp>
          <p:nvSpPr>
            <p:cNvPr id="34" name="Rectangle 34"/>
            <p:cNvSpPr/>
            <p:nvPr/>
          </p:nvSpPr>
          <p:spPr>
            <a:xfrm>
              <a:off x="6286500" y="1428750"/>
              <a:ext cx="5143500" cy="3619500"/>
            </a:xfrm>
            <a:prstGeom prst="rect">
              <a:avLst/>
            </a:prstGeom>
            <a:noFill/>
            <a:ln w="9525">
              <a:solidFill>
                <a:srgbClr val="3C5A80"/>
              </a:solidFill>
            </a:ln>
          </p:spPr>
        </p:sp>
        <p:sp>
          <p:nvSpPr>
            <p:cNvPr id="35" name="TextBox 35"/>
            <p:cNvSpPr txBox="1"/>
            <p:nvPr/>
          </p:nvSpPr>
          <p:spPr>
            <a:xfrm>
              <a:off x="6471666" y="1601152"/>
              <a:ext cx="3625359" cy="205359"/>
            </a:xfrm>
            <a:prstGeom prst="rect">
              <a:avLst/>
            </a:prstGeom>
            <a:noFill/>
            <a:ln>
              <a:noFill/>
            </a:ln>
          </p:spPr>
          <p:txBody>
            <a:bodyPr wrap="none" lIns="0" tIns="0" rIns="0" bIns="0" anchor="t" anchorCtr="0">
              <a:spAutoFit/>
            </a:bodyPr>
            <a:lstStyle/>
            <a:p>
              <a:pPr algn="l"/>
              <a:r>
                <a:rPr lang="en-US" sz="1050" spc="150" dirty="0">
                  <a:solidFill>
                    <a:srgbClr val="9CC3E6"/>
                  </a:solidFill>
                  <a:latin typeface="Consolas"/>
                  <a:ea typeface="Consolas"/>
                  <a:cs typeface="Consolas"/>
                </a:rPr>
                <a:t>B · CONVOLUTIONAL (ByteNet / ConvS2S)</a:t>
              </a:r>
            </a:p>
          </p:txBody>
        </p:sp>
        <p:grpSp>
          <p:nvGrpSpPr>
            <p:cNvPr id="65" name="Group 65"/>
            <p:cNvGrpSpPr/>
            <p:nvPr/>
          </p:nvGrpSpPr>
          <p:grpSpPr>
            <a:xfrm>
              <a:off x="6781800" y="2038350"/>
              <a:ext cx="4152900" cy="1847850"/>
              <a:chOff x="6781800" y="2038350"/>
              <a:chExt cx="4152900" cy="1847850"/>
            </a:xfrm>
          </p:grpSpPr>
          <p:sp>
            <p:nvSpPr>
              <p:cNvPr id="36" name="Line 36"/>
              <p:cNvSpPr/>
              <p:nvPr/>
            </p:nvSpPr>
            <p:spPr>
              <a:xfrm>
                <a:off x="6858000" y="3200400"/>
                <a:ext cx="285750" cy="533400"/>
              </a:xfrm>
              <a:custGeom>
                <a:avLst/>
                <a:gdLst/>
                <a:ahLst/>
                <a:cxnLst/>
                <a:rect l="l" t="t" r="r" b="b"/>
                <a:pathLst>
                  <a:path w="285750" h="533400">
                    <a:moveTo>
                      <a:pt x="0" y="533400"/>
                    </a:moveTo>
                    <a:lnTo>
                      <a:pt x="285750" y="0"/>
                    </a:lnTo>
                  </a:path>
                </a:pathLst>
              </a:custGeom>
              <a:noFill/>
              <a:ln w="9525">
                <a:solidFill>
                  <a:srgbClr val="9CC3E6"/>
                </a:solidFill>
              </a:ln>
            </p:spPr>
          </p:sp>
          <p:sp>
            <p:nvSpPr>
              <p:cNvPr id="37" name="Line 37"/>
              <p:cNvSpPr/>
              <p:nvPr/>
            </p:nvSpPr>
            <p:spPr>
              <a:xfrm>
                <a:off x="7143750" y="3200400"/>
                <a:ext cx="285750" cy="533400"/>
              </a:xfrm>
              <a:custGeom>
                <a:avLst/>
                <a:gdLst/>
                <a:ahLst/>
                <a:cxnLst/>
                <a:rect l="l" t="t" r="r" b="b"/>
                <a:pathLst>
                  <a:path w="285750" h="533400">
                    <a:moveTo>
                      <a:pt x="285750" y="533400"/>
                    </a:moveTo>
                    <a:lnTo>
                      <a:pt x="0" y="0"/>
                    </a:lnTo>
                  </a:path>
                </a:pathLst>
              </a:custGeom>
              <a:noFill/>
              <a:ln w="9525">
                <a:solidFill>
                  <a:srgbClr val="9CC3E6"/>
                </a:solidFill>
              </a:ln>
            </p:spPr>
          </p:sp>
          <p:sp>
            <p:nvSpPr>
              <p:cNvPr id="38" name="Line 38"/>
              <p:cNvSpPr/>
              <p:nvPr/>
            </p:nvSpPr>
            <p:spPr>
              <a:xfrm>
                <a:off x="8001000" y="3200400"/>
                <a:ext cx="285750" cy="533400"/>
              </a:xfrm>
              <a:custGeom>
                <a:avLst/>
                <a:gdLst/>
                <a:ahLst/>
                <a:cxnLst/>
                <a:rect l="l" t="t" r="r" b="b"/>
                <a:pathLst>
                  <a:path w="285750" h="533400">
                    <a:moveTo>
                      <a:pt x="0" y="533400"/>
                    </a:moveTo>
                    <a:lnTo>
                      <a:pt x="285750" y="0"/>
                    </a:lnTo>
                  </a:path>
                </a:pathLst>
              </a:custGeom>
              <a:noFill/>
              <a:ln w="9525">
                <a:solidFill>
                  <a:srgbClr val="9CC3E6"/>
                </a:solidFill>
              </a:ln>
            </p:spPr>
          </p:sp>
          <p:sp>
            <p:nvSpPr>
              <p:cNvPr id="39" name="Line 39"/>
              <p:cNvSpPr/>
              <p:nvPr/>
            </p:nvSpPr>
            <p:spPr>
              <a:xfrm>
                <a:off x="8286750" y="3200400"/>
                <a:ext cx="285750" cy="533400"/>
              </a:xfrm>
              <a:custGeom>
                <a:avLst/>
                <a:gdLst/>
                <a:ahLst/>
                <a:cxnLst/>
                <a:rect l="l" t="t" r="r" b="b"/>
                <a:pathLst>
                  <a:path w="285750" h="533400">
                    <a:moveTo>
                      <a:pt x="285750" y="533400"/>
                    </a:moveTo>
                    <a:lnTo>
                      <a:pt x="0" y="0"/>
                    </a:lnTo>
                  </a:path>
                </a:pathLst>
              </a:custGeom>
              <a:noFill/>
              <a:ln w="9525">
                <a:solidFill>
                  <a:srgbClr val="9CC3E6"/>
                </a:solidFill>
              </a:ln>
            </p:spPr>
          </p:sp>
          <p:sp>
            <p:nvSpPr>
              <p:cNvPr id="40" name="Line 40"/>
              <p:cNvSpPr/>
              <p:nvPr/>
            </p:nvSpPr>
            <p:spPr>
              <a:xfrm>
                <a:off x="9144000" y="3200400"/>
                <a:ext cx="285750" cy="533400"/>
              </a:xfrm>
              <a:custGeom>
                <a:avLst/>
                <a:gdLst/>
                <a:ahLst/>
                <a:cxnLst/>
                <a:rect l="l" t="t" r="r" b="b"/>
                <a:pathLst>
                  <a:path w="285750" h="533400">
                    <a:moveTo>
                      <a:pt x="0" y="533400"/>
                    </a:moveTo>
                    <a:lnTo>
                      <a:pt x="285750" y="0"/>
                    </a:lnTo>
                  </a:path>
                </a:pathLst>
              </a:custGeom>
              <a:noFill/>
              <a:ln w="9525">
                <a:solidFill>
                  <a:srgbClr val="9CC3E6"/>
                </a:solidFill>
              </a:ln>
            </p:spPr>
          </p:sp>
          <p:sp>
            <p:nvSpPr>
              <p:cNvPr id="41" name="Line 41"/>
              <p:cNvSpPr/>
              <p:nvPr/>
            </p:nvSpPr>
            <p:spPr>
              <a:xfrm>
                <a:off x="9429750" y="3200400"/>
                <a:ext cx="285750" cy="533400"/>
              </a:xfrm>
              <a:custGeom>
                <a:avLst/>
                <a:gdLst/>
                <a:ahLst/>
                <a:cxnLst/>
                <a:rect l="l" t="t" r="r" b="b"/>
                <a:pathLst>
                  <a:path w="285750" h="533400">
                    <a:moveTo>
                      <a:pt x="285750" y="533400"/>
                    </a:moveTo>
                    <a:lnTo>
                      <a:pt x="0" y="0"/>
                    </a:lnTo>
                  </a:path>
                </a:pathLst>
              </a:custGeom>
              <a:noFill/>
              <a:ln w="9525">
                <a:solidFill>
                  <a:srgbClr val="9CC3E6"/>
                </a:solidFill>
              </a:ln>
            </p:spPr>
          </p:sp>
          <p:sp>
            <p:nvSpPr>
              <p:cNvPr id="42" name="Line 42"/>
              <p:cNvSpPr/>
              <p:nvPr/>
            </p:nvSpPr>
            <p:spPr>
              <a:xfrm>
                <a:off x="10287000" y="3200400"/>
                <a:ext cx="285750" cy="533400"/>
              </a:xfrm>
              <a:custGeom>
                <a:avLst/>
                <a:gdLst/>
                <a:ahLst/>
                <a:cxnLst/>
                <a:rect l="l" t="t" r="r" b="b"/>
                <a:pathLst>
                  <a:path w="285750" h="533400">
                    <a:moveTo>
                      <a:pt x="0" y="533400"/>
                    </a:moveTo>
                    <a:lnTo>
                      <a:pt x="285750" y="0"/>
                    </a:lnTo>
                  </a:path>
                </a:pathLst>
              </a:custGeom>
              <a:noFill/>
              <a:ln w="9525">
                <a:solidFill>
                  <a:srgbClr val="9CC3E6"/>
                </a:solidFill>
              </a:ln>
            </p:spPr>
          </p:sp>
          <p:sp>
            <p:nvSpPr>
              <p:cNvPr id="43" name="Line 43"/>
              <p:cNvSpPr/>
              <p:nvPr/>
            </p:nvSpPr>
            <p:spPr>
              <a:xfrm>
                <a:off x="10572750" y="3200400"/>
                <a:ext cx="285750" cy="533400"/>
              </a:xfrm>
              <a:custGeom>
                <a:avLst/>
                <a:gdLst/>
                <a:ahLst/>
                <a:cxnLst/>
                <a:rect l="l" t="t" r="r" b="b"/>
                <a:pathLst>
                  <a:path w="285750" h="533400">
                    <a:moveTo>
                      <a:pt x="285750" y="533400"/>
                    </a:moveTo>
                    <a:lnTo>
                      <a:pt x="0" y="0"/>
                    </a:lnTo>
                  </a:path>
                </a:pathLst>
              </a:custGeom>
              <a:noFill/>
              <a:ln w="9525">
                <a:solidFill>
                  <a:srgbClr val="9CC3E6"/>
                </a:solidFill>
              </a:ln>
            </p:spPr>
          </p:sp>
          <p:sp>
            <p:nvSpPr>
              <p:cNvPr id="44" name="Line 44"/>
              <p:cNvSpPr/>
              <p:nvPr/>
            </p:nvSpPr>
            <p:spPr>
              <a:xfrm>
                <a:off x="7143750" y="2667000"/>
                <a:ext cx="571500" cy="533400"/>
              </a:xfrm>
              <a:custGeom>
                <a:avLst/>
                <a:gdLst/>
                <a:ahLst/>
                <a:cxnLst/>
                <a:rect l="l" t="t" r="r" b="b"/>
                <a:pathLst>
                  <a:path w="571500" h="533400">
                    <a:moveTo>
                      <a:pt x="0" y="533400"/>
                    </a:moveTo>
                    <a:lnTo>
                      <a:pt x="571500" y="0"/>
                    </a:lnTo>
                  </a:path>
                </a:pathLst>
              </a:custGeom>
              <a:noFill/>
              <a:ln w="9525">
                <a:solidFill>
                  <a:srgbClr val="9CC3E6"/>
                </a:solidFill>
              </a:ln>
            </p:spPr>
          </p:sp>
          <p:sp>
            <p:nvSpPr>
              <p:cNvPr id="45" name="Line 45"/>
              <p:cNvSpPr/>
              <p:nvPr/>
            </p:nvSpPr>
            <p:spPr>
              <a:xfrm>
                <a:off x="7715250" y="2667000"/>
                <a:ext cx="571500" cy="533400"/>
              </a:xfrm>
              <a:custGeom>
                <a:avLst/>
                <a:gdLst/>
                <a:ahLst/>
                <a:cxnLst/>
                <a:rect l="l" t="t" r="r" b="b"/>
                <a:pathLst>
                  <a:path w="571500" h="533400">
                    <a:moveTo>
                      <a:pt x="571500" y="533400"/>
                    </a:moveTo>
                    <a:lnTo>
                      <a:pt x="0" y="0"/>
                    </a:lnTo>
                  </a:path>
                </a:pathLst>
              </a:custGeom>
              <a:noFill/>
              <a:ln w="9525">
                <a:solidFill>
                  <a:srgbClr val="9CC3E6"/>
                </a:solidFill>
              </a:ln>
            </p:spPr>
          </p:sp>
          <p:sp>
            <p:nvSpPr>
              <p:cNvPr id="46" name="Line 46"/>
              <p:cNvSpPr/>
              <p:nvPr/>
            </p:nvSpPr>
            <p:spPr>
              <a:xfrm>
                <a:off x="9429750" y="2667000"/>
                <a:ext cx="571500" cy="533400"/>
              </a:xfrm>
              <a:custGeom>
                <a:avLst/>
                <a:gdLst/>
                <a:ahLst/>
                <a:cxnLst/>
                <a:rect l="l" t="t" r="r" b="b"/>
                <a:pathLst>
                  <a:path w="571500" h="533400">
                    <a:moveTo>
                      <a:pt x="0" y="533400"/>
                    </a:moveTo>
                    <a:lnTo>
                      <a:pt x="571500" y="0"/>
                    </a:lnTo>
                  </a:path>
                </a:pathLst>
              </a:custGeom>
              <a:noFill/>
              <a:ln w="9525">
                <a:solidFill>
                  <a:srgbClr val="9CC3E6"/>
                </a:solidFill>
              </a:ln>
            </p:spPr>
          </p:sp>
          <p:sp>
            <p:nvSpPr>
              <p:cNvPr id="47" name="Line 47"/>
              <p:cNvSpPr/>
              <p:nvPr/>
            </p:nvSpPr>
            <p:spPr>
              <a:xfrm>
                <a:off x="10001250" y="2667000"/>
                <a:ext cx="571500" cy="533400"/>
              </a:xfrm>
              <a:custGeom>
                <a:avLst/>
                <a:gdLst/>
                <a:ahLst/>
                <a:cxnLst/>
                <a:rect l="l" t="t" r="r" b="b"/>
                <a:pathLst>
                  <a:path w="571500" h="533400">
                    <a:moveTo>
                      <a:pt x="571500" y="533400"/>
                    </a:moveTo>
                    <a:lnTo>
                      <a:pt x="0" y="0"/>
                    </a:lnTo>
                  </a:path>
                </a:pathLst>
              </a:custGeom>
              <a:noFill/>
              <a:ln w="9525">
                <a:solidFill>
                  <a:srgbClr val="9CC3E6"/>
                </a:solidFill>
              </a:ln>
            </p:spPr>
          </p:sp>
          <p:sp>
            <p:nvSpPr>
              <p:cNvPr id="48" name="Line 48"/>
              <p:cNvSpPr/>
              <p:nvPr/>
            </p:nvSpPr>
            <p:spPr>
              <a:xfrm>
                <a:off x="7715250" y="2133600"/>
                <a:ext cx="1143000" cy="533400"/>
              </a:xfrm>
              <a:custGeom>
                <a:avLst/>
                <a:gdLst/>
                <a:ahLst/>
                <a:cxnLst/>
                <a:rect l="l" t="t" r="r" b="b"/>
                <a:pathLst>
                  <a:path w="1143000" h="533400">
                    <a:moveTo>
                      <a:pt x="0" y="533400"/>
                    </a:moveTo>
                    <a:lnTo>
                      <a:pt x="1143000" y="0"/>
                    </a:lnTo>
                  </a:path>
                </a:pathLst>
              </a:custGeom>
              <a:noFill/>
              <a:ln w="14288">
                <a:solidFill>
                  <a:srgbClr val="F5A623"/>
                </a:solidFill>
              </a:ln>
            </p:spPr>
          </p:sp>
          <p:sp>
            <p:nvSpPr>
              <p:cNvPr id="49" name="Line 49"/>
              <p:cNvSpPr/>
              <p:nvPr/>
            </p:nvSpPr>
            <p:spPr>
              <a:xfrm>
                <a:off x="8858250" y="2133600"/>
                <a:ext cx="1143000" cy="533400"/>
              </a:xfrm>
              <a:custGeom>
                <a:avLst/>
                <a:gdLst/>
                <a:ahLst/>
                <a:cxnLst/>
                <a:rect l="l" t="t" r="r" b="b"/>
                <a:pathLst>
                  <a:path w="1143000" h="533400">
                    <a:moveTo>
                      <a:pt x="1143000" y="533400"/>
                    </a:moveTo>
                    <a:lnTo>
                      <a:pt x="0" y="0"/>
                    </a:lnTo>
                  </a:path>
                </a:pathLst>
              </a:custGeom>
              <a:noFill/>
              <a:ln w="9525">
                <a:solidFill>
                  <a:srgbClr val="9CC3E6"/>
                </a:solidFill>
              </a:ln>
            </p:spPr>
          </p:sp>
          <p:sp>
            <p:nvSpPr>
              <p:cNvPr id="50" name="Ellipse 50"/>
              <p:cNvSpPr/>
              <p:nvPr/>
            </p:nvSpPr>
            <p:spPr>
              <a:xfrm>
                <a:off x="6781800" y="3733800"/>
                <a:ext cx="152400" cy="152400"/>
              </a:xfrm>
              <a:prstGeom prst="ellipse">
                <a:avLst/>
              </a:prstGeom>
              <a:solidFill>
                <a:srgbClr val="10284A"/>
              </a:solidFill>
              <a:ln w="14288">
                <a:solidFill>
                  <a:srgbClr val="F5A623"/>
                </a:solidFill>
              </a:ln>
            </p:spPr>
          </p:sp>
          <p:sp>
            <p:nvSpPr>
              <p:cNvPr id="51" name="Ellipse 51"/>
              <p:cNvSpPr/>
              <p:nvPr/>
            </p:nvSpPr>
            <p:spPr>
              <a:xfrm>
                <a:off x="7353300" y="3733800"/>
                <a:ext cx="152400" cy="152400"/>
              </a:xfrm>
              <a:prstGeom prst="ellipse">
                <a:avLst/>
              </a:prstGeom>
              <a:solidFill>
                <a:srgbClr val="10284A"/>
              </a:solidFill>
              <a:ln w="14288">
                <a:solidFill>
                  <a:srgbClr val="9CC3E6"/>
                </a:solidFill>
              </a:ln>
            </p:spPr>
          </p:sp>
          <p:sp>
            <p:nvSpPr>
              <p:cNvPr id="52" name="Ellipse 52"/>
              <p:cNvSpPr/>
              <p:nvPr/>
            </p:nvSpPr>
            <p:spPr>
              <a:xfrm>
                <a:off x="7924800" y="3733800"/>
                <a:ext cx="152400" cy="152400"/>
              </a:xfrm>
              <a:prstGeom prst="ellipse">
                <a:avLst/>
              </a:prstGeom>
              <a:solidFill>
                <a:srgbClr val="10284A"/>
              </a:solidFill>
              <a:ln w="14288">
                <a:solidFill>
                  <a:srgbClr val="9CC3E6"/>
                </a:solidFill>
              </a:ln>
            </p:spPr>
          </p:sp>
          <p:sp>
            <p:nvSpPr>
              <p:cNvPr id="53" name="Ellipse 53"/>
              <p:cNvSpPr/>
              <p:nvPr/>
            </p:nvSpPr>
            <p:spPr>
              <a:xfrm>
                <a:off x="8496300" y="3733800"/>
                <a:ext cx="152400" cy="152400"/>
              </a:xfrm>
              <a:prstGeom prst="ellipse">
                <a:avLst/>
              </a:prstGeom>
              <a:solidFill>
                <a:srgbClr val="10284A"/>
              </a:solidFill>
              <a:ln w="14288">
                <a:solidFill>
                  <a:srgbClr val="9CC3E6"/>
                </a:solidFill>
              </a:ln>
            </p:spPr>
          </p:sp>
          <p:sp>
            <p:nvSpPr>
              <p:cNvPr id="54" name="Ellipse 54"/>
              <p:cNvSpPr/>
              <p:nvPr/>
            </p:nvSpPr>
            <p:spPr>
              <a:xfrm>
                <a:off x="9067800" y="3733800"/>
                <a:ext cx="152400" cy="152400"/>
              </a:xfrm>
              <a:prstGeom prst="ellipse">
                <a:avLst/>
              </a:prstGeom>
              <a:solidFill>
                <a:srgbClr val="10284A"/>
              </a:solidFill>
              <a:ln w="14288">
                <a:solidFill>
                  <a:srgbClr val="9CC3E6"/>
                </a:solidFill>
              </a:ln>
            </p:spPr>
          </p:sp>
          <p:sp>
            <p:nvSpPr>
              <p:cNvPr id="55" name="Ellipse 55"/>
              <p:cNvSpPr/>
              <p:nvPr/>
            </p:nvSpPr>
            <p:spPr>
              <a:xfrm>
                <a:off x="9639300" y="3733800"/>
                <a:ext cx="152400" cy="152400"/>
              </a:xfrm>
              <a:prstGeom prst="ellipse">
                <a:avLst/>
              </a:prstGeom>
              <a:solidFill>
                <a:srgbClr val="10284A"/>
              </a:solidFill>
              <a:ln w="14288">
                <a:solidFill>
                  <a:srgbClr val="9CC3E6"/>
                </a:solidFill>
              </a:ln>
            </p:spPr>
          </p:sp>
          <p:sp>
            <p:nvSpPr>
              <p:cNvPr id="56" name="Ellipse 56"/>
              <p:cNvSpPr/>
              <p:nvPr/>
            </p:nvSpPr>
            <p:spPr>
              <a:xfrm>
                <a:off x="10210800" y="3733800"/>
                <a:ext cx="152400" cy="152400"/>
              </a:xfrm>
              <a:prstGeom prst="ellipse">
                <a:avLst/>
              </a:prstGeom>
              <a:solidFill>
                <a:srgbClr val="10284A"/>
              </a:solidFill>
              <a:ln w="14288">
                <a:solidFill>
                  <a:srgbClr val="9CC3E6"/>
                </a:solidFill>
              </a:ln>
            </p:spPr>
          </p:sp>
          <p:sp>
            <p:nvSpPr>
              <p:cNvPr id="57" name="Ellipse 57"/>
              <p:cNvSpPr/>
              <p:nvPr/>
            </p:nvSpPr>
            <p:spPr>
              <a:xfrm>
                <a:off x="10782300" y="3733800"/>
                <a:ext cx="152400" cy="152400"/>
              </a:xfrm>
              <a:prstGeom prst="ellipse">
                <a:avLst/>
              </a:prstGeom>
              <a:solidFill>
                <a:srgbClr val="10284A"/>
              </a:solidFill>
              <a:ln w="14288">
                <a:solidFill>
                  <a:srgbClr val="9CC3E6"/>
                </a:solidFill>
              </a:ln>
            </p:spPr>
          </p:sp>
          <p:sp>
            <p:nvSpPr>
              <p:cNvPr id="58" name="Ellipse 58"/>
              <p:cNvSpPr/>
              <p:nvPr/>
            </p:nvSpPr>
            <p:spPr>
              <a:xfrm>
                <a:off x="7067550" y="3124200"/>
                <a:ext cx="152400" cy="152400"/>
              </a:xfrm>
              <a:prstGeom prst="ellipse">
                <a:avLst/>
              </a:prstGeom>
              <a:solidFill>
                <a:srgbClr val="10284A"/>
              </a:solidFill>
              <a:ln w="14288">
                <a:solidFill>
                  <a:srgbClr val="9CC3E6"/>
                </a:solidFill>
              </a:ln>
            </p:spPr>
          </p:sp>
          <p:sp>
            <p:nvSpPr>
              <p:cNvPr id="59" name="Ellipse 59"/>
              <p:cNvSpPr/>
              <p:nvPr/>
            </p:nvSpPr>
            <p:spPr>
              <a:xfrm>
                <a:off x="8210550" y="3124200"/>
                <a:ext cx="152400" cy="152400"/>
              </a:xfrm>
              <a:prstGeom prst="ellipse">
                <a:avLst/>
              </a:prstGeom>
              <a:solidFill>
                <a:srgbClr val="10284A"/>
              </a:solidFill>
              <a:ln w="14288">
                <a:solidFill>
                  <a:srgbClr val="9CC3E6"/>
                </a:solidFill>
              </a:ln>
            </p:spPr>
          </p:sp>
          <p:sp>
            <p:nvSpPr>
              <p:cNvPr id="60" name="Ellipse 60"/>
              <p:cNvSpPr/>
              <p:nvPr/>
            </p:nvSpPr>
            <p:spPr>
              <a:xfrm>
                <a:off x="9353550" y="3124200"/>
                <a:ext cx="152400" cy="152400"/>
              </a:xfrm>
              <a:prstGeom prst="ellipse">
                <a:avLst/>
              </a:prstGeom>
              <a:solidFill>
                <a:srgbClr val="10284A"/>
              </a:solidFill>
              <a:ln w="14288">
                <a:solidFill>
                  <a:srgbClr val="9CC3E6"/>
                </a:solidFill>
              </a:ln>
            </p:spPr>
          </p:sp>
          <p:sp>
            <p:nvSpPr>
              <p:cNvPr id="61" name="Ellipse 61"/>
              <p:cNvSpPr/>
              <p:nvPr/>
            </p:nvSpPr>
            <p:spPr>
              <a:xfrm>
                <a:off x="10496550" y="3124200"/>
                <a:ext cx="152400" cy="152400"/>
              </a:xfrm>
              <a:prstGeom prst="ellipse">
                <a:avLst/>
              </a:prstGeom>
              <a:solidFill>
                <a:srgbClr val="10284A"/>
              </a:solidFill>
              <a:ln w="14288">
                <a:solidFill>
                  <a:srgbClr val="9CC3E6"/>
                </a:solidFill>
              </a:ln>
            </p:spPr>
          </p:sp>
          <p:sp>
            <p:nvSpPr>
              <p:cNvPr id="62" name="Ellipse 62"/>
              <p:cNvSpPr/>
              <p:nvPr/>
            </p:nvSpPr>
            <p:spPr>
              <a:xfrm>
                <a:off x="7639050" y="2590800"/>
                <a:ext cx="152400" cy="152400"/>
              </a:xfrm>
              <a:prstGeom prst="ellipse">
                <a:avLst/>
              </a:prstGeom>
              <a:solidFill>
                <a:srgbClr val="10284A"/>
              </a:solidFill>
              <a:ln w="14288">
                <a:solidFill>
                  <a:srgbClr val="9CC3E6"/>
                </a:solidFill>
              </a:ln>
            </p:spPr>
          </p:sp>
          <p:sp>
            <p:nvSpPr>
              <p:cNvPr id="63" name="Ellipse 63"/>
              <p:cNvSpPr/>
              <p:nvPr/>
            </p:nvSpPr>
            <p:spPr>
              <a:xfrm>
                <a:off x="9925050" y="2590800"/>
                <a:ext cx="152400" cy="152400"/>
              </a:xfrm>
              <a:prstGeom prst="ellipse">
                <a:avLst/>
              </a:prstGeom>
              <a:solidFill>
                <a:srgbClr val="10284A"/>
              </a:solidFill>
              <a:ln w="14288">
                <a:solidFill>
                  <a:srgbClr val="9CC3E6"/>
                </a:solidFill>
              </a:ln>
            </p:spPr>
          </p:sp>
          <p:sp>
            <p:nvSpPr>
              <p:cNvPr id="64" name="Ellipse 64"/>
              <p:cNvSpPr/>
              <p:nvPr/>
            </p:nvSpPr>
            <p:spPr>
              <a:xfrm>
                <a:off x="8763000" y="2038350"/>
                <a:ext cx="190500" cy="190500"/>
              </a:xfrm>
              <a:prstGeom prst="ellipse">
                <a:avLst/>
              </a:prstGeom>
              <a:solidFill>
                <a:srgbClr val="10284A"/>
              </a:solidFill>
              <a:ln w="19050">
                <a:solidFill>
                  <a:srgbClr val="F5A623"/>
                </a:solidFill>
              </a:ln>
            </p:spPr>
          </p:sp>
        </p:grpSp>
        <p:grpSp>
          <p:nvGrpSpPr>
            <p:cNvPr id="70" name="Group 70"/>
            <p:cNvGrpSpPr/>
            <p:nvPr/>
          </p:nvGrpSpPr>
          <p:grpSpPr>
            <a:xfrm>
              <a:off x="10442572" y="2133600"/>
              <a:ext cx="777878" cy="1685925"/>
              <a:chOff x="10442572" y="2133600"/>
              <a:chExt cx="777878" cy="1685925"/>
            </a:xfrm>
          </p:grpSpPr>
          <p:sp>
            <p:nvSpPr>
              <p:cNvPr id="66" name="Line 66"/>
              <p:cNvSpPr/>
              <p:nvPr/>
            </p:nvSpPr>
            <p:spPr>
              <a:xfrm>
                <a:off x="11144250" y="2133600"/>
                <a:ext cx="9525" cy="1676400"/>
              </a:xfrm>
              <a:custGeom>
                <a:avLst/>
                <a:gdLst/>
                <a:ahLst/>
                <a:cxnLst/>
                <a:rect l="l" t="t" r="r" b="b"/>
                <a:pathLst>
                  <a:path w="9525" h="1676400">
                    <a:moveTo>
                      <a:pt x="0" y="0"/>
                    </a:moveTo>
                    <a:lnTo>
                      <a:pt x="0" y="1676400"/>
                    </a:lnTo>
                  </a:path>
                </a:pathLst>
              </a:custGeom>
              <a:noFill/>
              <a:ln w="9525">
                <a:solidFill>
                  <a:srgbClr val="9CC3E6"/>
                </a:solidFill>
                <a:prstDash val="lgDashDot"/>
              </a:ln>
            </p:spPr>
          </p:sp>
          <p:sp>
            <p:nvSpPr>
              <p:cNvPr id="67" name="Line 67"/>
              <p:cNvSpPr/>
              <p:nvPr/>
            </p:nvSpPr>
            <p:spPr>
              <a:xfrm>
                <a:off x="11068050" y="2133600"/>
                <a:ext cx="152400" cy="9525"/>
              </a:xfrm>
              <a:custGeom>
                <a:avLst/>
                <a:gdLst/>
                <a:ahLst/>
                <a:cxnLst/>
                <a:rect l="l" t="t" r="r" b="b"/>
                <a:pathLst>
                  <a:path w="152400" h="9525">
                    <a:moveTo>
                      <a:pt x="0" y="0"/>
                    </a:moveTo>
                    <a:lnTo>
                      <a:pt x="152400" y="0"/>
                    </a:lnTo>
                  </a:path>
                </a:pathLst>
              </a:custGeom>
              <a:noFill/>
              <a:ln w="9525">
                <a:solidFill>
                  <a:srgbClr val="9CC3E6"/>
                </a:solidFill>
              </a:ln>
            </p:spPr>
          </p:sp>
          <p:sp>
            <p:nvSpPr>
              <p:cNvPr id="68" name="Line 68"/>
              <p:cNvSpPr/>
              <p:nvPr/>
            </p:nvSpPr>
            <p:spPr>
              <a:xfrm>
                <a:off x="11068050" y="3810000"/>
                <a:ext cx="152400" cy="9525"/>
              </a:xfrm>
              <a:custGeom>
                <a:avLst/>
                <a:gdLst/>
                <a:ahLst/>
                <a:cxnLst/>
                <a:rect l="l" t="t" r="r" b="b"/>
                <a:pathLst>
                  <a:path w="152400" h="9525">
                    <a:moveTo>
                      <a:pt x="0" y="0"/>
                    </a:moveTo>
                    <a:lnTo>
                      <a:pt x="152400" y="0"/>
                    </a:lnTo>
                  </a:path>
                </a:pathLst>
              </a:custGeom>
              <a:noFill/>
              <a:ln w="9525">
                <a:solidFill>
                  <a:srgbClr val="9CC3E6"/>
                </a:solidFill>
              </a:ln>
            </p:spPr>
          </p:sp>
          <p:sp>
            <p:nvSpPr>
              <p:cNvPr id="69" name="TextBox 69"/>
              <p:cNvSpPr txBox="1"/>
              <p:nvPr/>
            </p:nvSpPr>
            <p:spPr>
              <a:xfrm>
                <a:off x="10442572" y="2923699"/>
                <a:ext cx="611381" cy="190690"/>
              </a:xfrm>
              <a:prstGeom prst="rect">
                <a:avLst/>
              </a:prstGeom>
              <a:noFill/>
              <a:ln>
                <a:noFill/>
              </a:ln>
            </p:spPr>
            <p:txBody>
              <a:bodyPr wrap="none" lIns="0" tIns="0" rIns="0" bIns="0" anchor="t" anchorCtr="0">
                <a:spAutoFit/>
              </a:bodyPr>
              <a:lstStyle/>
              <a:p>
                <a:pPr algn="r"/>
                <a:r>
                  <a:rPr lang="en-US" sz="980" dirty="0">
                    <a:solidFill>
                      <a:srgbClr val="9CC3E6"/>
                    </a:solidFill>
                    <a:latin typeface="Consolas"/>
                    <a:ea typeface="Consolas"/>
                    <a:cs typeface="Consolas"/>
                  </a:rPr>
                  <a:t>O(log</a:t>
                </a:r>
                <a:r>
                  <a:rPr lang="en-US" sz="750" baseline="-25000" dirty="0">
                    <a:solidFill>
                      <a:srgbClr val="9CC3E6"/>
                    </a:solidFill>
                    <a:latin typeface="Consolas"/>
                    <a:ea typeface="Consolas"/>
                    <a:cs typeface="Consolas"/>
                  </a:rPr>
                  <a:t>k</a:t>
                </a:r>
                <a:r>
                  <a:rPr lang="en-US" sz="980" dirty="0">
                    <a:solidFill>
                      <a:srgbClr val="9CC3E6"/>
                    </a:solidFill>
                    <a:latin typeface="Consolas"/>
                    <a:ea typeface="Consolas"/>
                    <a:cs typeface="Consolas"/>
                  </a:rPr>
                  <a:t xml:space="preserve"> n)</a:t>
                </a:r>
              </a:p>
            </p:txBody>
          </p:sp>
        </p:grpSp>
        <p:sp>
          <p:nvSpPr>
            <p:cNvPr id="71" name="TextBox 71"/>
            <p:cNvSpPr txBox="1"/>
            <p:nvPr/>
          </p:nvSpPr>
          <p:spPr>
            <a:xfrm>
              <a:off x="6469761" y="4208621"/>
              <a:ext cx="4324604" cy="812102"/>
            </a:xfrm>
            <a:prstGeom prst="rect">
              <a:avLst/>
            </a:prstGeom>
            <a:noFill/>
            <a:ln>
              <a:noFill/>
            </a:ln>
          </p:spPr>
          <p:txBody>
            <a:bodyPr wrap="none" lIns="0" tIns="0" rIns="0" bIns="0" anchor="t" anchorCtr="0">
              <a:spAutoFit/>
            </a:bodyPr>
            <a:lstStyle/>
            <a:p>
              <a:pPr algn="l">
                <a:lnSpc>
                  <a:spcPts val="2100"/>
                </a:lnSpc>
              </a:pPr>
              <a:r>
                <a:rPr lang="en-US" sz="1420" dirty="0">
                  <a:solidFill>
                    <a:srgbClr val="C9DBEA"/>
                  </a:solidFill>
                  <a:latin typeface="Segoe UI"/>
                  <a:ea typeface="Segoe UI"/>
                  <a:cs typeface="Segoe UI"/>
                </a:rPr>
                <a:t>Parallel inside a layer, but two distant positions</a:t>
              </a:r>
              <a:br/>
              <a:r>
                <a:rPr lang="en-US" sz="1420" dirty="0">
                  <a:solidFill>
                    <a:srgbClr val="C9DBEA"/>
                  </a:solidFill>
                  <a:latin typeface="Segoe UI"/>
                  <a:ea typeface="Segoe UI"/>
                  <a:cs typeface="Segoe UI"/>
                </a:rPr>
                <a:t>only meet after a stack of kernel-k layers —</a:t>
              </a:r>
              <a:br/>
              <a:r>
                <a:rPr lang="en-US" sz="1420" dirty="0">
                  <a:solidFill>
                    <a:srgbClr val="C9DBEA"/>
                  </a:solidFill>
                  <a:latin typeface="Segoe UI"/>
                  <a:ea typeface="Segoe UI"/>
                  <a:cs typeface="Segoe UI"/>
                </a:rPr>
                <a:t>the path shrinks to O(log n), it does not vanish.</a:t>
              </a:r>
            </a:p>
          </p:txBody>
        </p:sp>
      </p:grpSp>
      <p:grpSp>
        <p:nvGrpSpPr>
          <p:cNvPr id="75" name="Group 75"/>
          <p:cNvGrpSpPr/>
          <p:nvPr/>
        </p:nvGrpSpPr>
        <p:grpSpPr>
          <a:xfrm>
            <a:off x="762000" y="5219700"/>
            <a:ext cx="8828532" cy="963739"/>
            <a:chOff x="762000" y="5219700"/>
            <a:chExt cx="8828532" cy="963739"/>
          </a:xfrm>
        </p:grpSpPr>
        <p:sp>
          <p:nvSpPr>
            <p:cNvPr id="73" name="Line 73"/>
            <p:cNvSpPr/>
            <p:nvPr/>
          </p:nvSpPr>
          <p:spPr>
            <a:xfrm>
              <a:off x="762000" y="5219700"/>
              <a:ext cx="9525" cy="876300"/>
            </a:xfrm>
            <a:custGeom>
              <a:avLst/>
              <a:gdLst/>
              <a:ahLst/>
              <a:cxnLst/>
              <a:rect l="l" t="t" r="r" b="b"/>
              <a:pathLst>
                <a:path w="9525" h="876300">
                  <a:moveTo>
                    <a:pt x="0" y="0"/>
                  </a:moveTo>
                  <a:lnTo>
                    <a:pt x="0" y="876300"/>
                  </a:lnTo>
                </a:path>
              </a:pathLst>
            </a:custGeom>
            <a:noFill/>
            <a:ln w="28575">
              <a:solidFill>
                <a:srgbClr val="F5A623"/>
              </a:solidFill>
            </a:ln>
          </p:spPr>
        </p:sp>
        <p:sp>
          <p:nvSpPr>
            <p:cNvPr id="74" name="TextBox 74"/>
            <p:cNvSpPr txBox="1"/>
            <p:nvPr/>
          </p:nvSpPr>
          <p:spPr>
            <a:xfrm>
              <a:off x="982218" y="5289232"/>
              <a:ext cx="8608314" cy="894207"/>
            </a:xfrm>
            <a:prstGeom prst="rect">
              <a:avLst/>
            </a:prstGeom>
            <a:noFill/>
            <a:ln>
              <a:noFill/>
            </a:ln>
          </p:spPr>
          <p:txBody>
            <a:bodyPr wrap="none" lIns="0" tIns="0" rIns="0" bIns="0" anchor="t" anchorCtr="0">
              <a:spAutoFit/>
            </a:bodyPr>
            <a:lstStyle/>
            <a:p>
              <a:pPr algn="l">
                <a:lnSpc>
                  <a:spcPts val="2250"/>
                </a:lnSpc>
              </a:pPr>
              <a:r>
                <a:rPr lang="en-US" sz="1650" dirty="0">
                  <a:solidFill>
                    <a:srgbClr val="E8F1FA"/>
                  </a:solidFill>
                  <a:latin typeface="Segoe UI"/>
                  <a:ea typeface="Segoe UI"/>
                  <a:cs typeface="Segoe UI"/>
                </a:rPr>
                <a:t xml:space="preserve">Both architectures charge a </a:t>
              </a:r>
              <a:r>
                <a:rPr lang="en-US" sz="1650" b="1" dirty="0">
                  <a:solidFill>
                    <a:srgbClr val="F5A623"/>
                  </a:solidFill>
                  <a:latin typeface="Segoe UI"/>
                  <a:ea typeface="Segoe UI"/>
                  <a:cs typeface="Segoe UI"/>
                </a:rPr>
                <a:t>distance tax</a:t>
              </a:r>
              <a:r>
                <a:rPr lang="en-US" sz="1650" dirty="0">
                  <a:solidFill>
                    <a:srgbClr val="E8F1FA"/>
                  </a:solidFill>
                  <a:latin typeface="Segoe UI"/>
                  <a:ea typeface="Segoe UI"/>
                  <a:cs typeface="Segoe UI"/>
                </a:rPr>
                <a:t>: the farther apart two positions are,</a:t>
              </a:r>
              <a:br/>
              <a:r>
                <a:rPr lang="en-US" sz="1650" dirty="0">
                  <a:solidFill>
                    <a:srgbClr val="E8F1FA"/>
                  </a:solidFill>
                  <a:latin typeface="Segoe UI"/>
                  <a:ea typeface="Segoe UI"/>
                  <a:cs typeface="Segoe UI"/>
                </a:rPr>
                <a:t>the longer the path a signal must travel — and recurrence cannot run in parallel</a:t>
              </a:r>
              <a:br/>
              <a:r>
                <a:rPr lang="en-US" sz="1650" dirty="0">
                  <a:solidFill>
                    <a:srgbClr val="E8F1FA"/>
                  </a:solidFill>
                  <a:latin typeface="Segoe UI"/>
                  <a:ea typeface="Segoe UI"/>
                  <a:cs typeface="Segoe UI"/>
                </a:rPr>
                <a:t>within one training example. The paper's question: what if every path had length 1?</a:t>
              </a:r>
            </a:p>
          </p:txBody>
        </p:sp>
      </p:grpSp>
      <p:grpSp>
        <p:nvGrpSpPr>
          <p:cNvPr id="80" name="Group 80"/>
          <p:cNvGrpSpPr/>
          <p:nvPr/>
        </p:nvGrpSpPr>
        <p:grpSpPr>
          <a:xfrm>
            <a:off x="9525000" y="6362700"/>
            <a:ext cx="2095500" cy="304800"/>
            <a:chOff x="9525000" y="6362700"/>
            <a:chExt cx="2095500" cy="304800"/>
          </a:xfrm>
        </p:grpSpPr>
        <p:sp>
          <p:nvSpPr>
            <p:cNvPr id="76" name="Rectangle 76"/>
            <p:cNvSpPr/>
            <p:nvPr/>
          </p:nvSpPr>
          <p:spPr>
            <a:xfrm>
              <a:off x="9525000" y="6362700"/>
              <a:ext cx="2095500" cy="304800"/>
            </a:xfrm>
            <a:prstGeom prst="rect">
              <a:avLst/>
            </a:prstGeom>
            <a:noFill/>
            <a:ln w="9525">
              <a:solidFill>
                <a:srgbClr val="3C5A80"/>
              </a:solidFill>
            </a:ln>
          </p:spPr>
        </p:sp>
        <p:sp>
          <p:nvSpPr>
            <p:cNvPr id="77" name="Line 77"/>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78" name="TextBox 78"/>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79" name="TextBox 79"/>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03 / 15</a:t>
              </a:r>
            </a:p>
          </p:txBody>
        </p:sp>
      </p:grpSp>
    </p:spTree>
  </p:cSld>
  <p:clrMapOvr>
    <a:masterClrMapping/>
  </p:clrMapOvr>
  <p:transition xmlns:p14="http://schemas.microsoft.com/office/powerpoint/2010/main" p14:dur="5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600"/>
                                        <p:tgtEl>
                                          <p:spTgt spid="33"/>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72"/>
                                        </p:tgtEl>
                                        <p:attrNameLst>
                                          <p:attrName>style.visibility</p:attrName>
                                        </p:attrNameLst>
                                      </p:cBhvr>
                                      <p:to>
                                        <p:strVal val="visible"/>
                                      </p:to>
                                    </p:set>
                                    <p:animEffect transition="in" filter="fade">
                                      <p:cBhvr>
                                        <p:cTn id="11" dur="600"/>
                                        <p:tgtEl>
                                          <p:spTgt spid="72"/>
                                        </p:tgtEl>
                                      </p:cBhvr>
                                    </p:animEffect>
                                  </p:childTnLst>
                                </p:cTn>
                              </p:par>
                            </p:childTnLst>
                          </p:cTn>
                        </p:par>
                        <p:par>
                          <p:cTn id="12" fill="hold">
                            <p:stCondLst>
                              <p:cond delay="1500"/>
                            </p:stCondLst>
                            <p:childTnLst>
                              <p:par>
                                <p:cTn xmlns:p="http://schemas.openxmlformats.org/presentationml/2006/main" id="13" presetID="2" presetClass="entr" presetSubtype="1" fill="hold" grpId="0" nodeType="afterEffect">
                                  <p:stCondLst>
                                    <p:cond delay="300"/>
                                  </p:stCondLst>
                                  <p:childTnLst>
                                    <p:set>
                                      <p:cBhvr>
                                        <p:cTn id="14" dur="1" fill="hold">
                                          <p:stCondLst>
                                            <p:cond delay="0"/>
                                          </p:stCondLst>
                                        </p:cTn>
                                        <p:tgtEl>
                                          <p:spTgt spid="75"/>
                                        </p:tgtEl>
                                        <p:attrNameLst>
                                          <p:attrName>style.visibility</p:attrName>
                                        </p:attrNameLst>
                                      </p:cBhvr>
                                      <p:to>
                                        <p:strVal val="visible"/>
                                      </p:to>
                                    </p:set>
                                    <p:anim calcmode="lin" valueType="num">
                                      <p:cBhvr additive="base">
                                        <p:cTn id="15" dur="500" fill="hold"/>
                                        <p:tgtEl>
                                          <p:spTgt spid="75"/>
                                        </p:tgtEl>
                                        <p:attrNameLst>
                                          <p:attrName>ppt_x</p:attrName>
                                        </p:attrNameLst>
                                      </p:cBhvr>
                                      <p:tavLst>
                                        <p:tav tm="0">
                                          <p:val>
                                            <p:strVal val="#ppt_x"/>
                                          </p:val>
                                        </p:tav>
                                        <p:tav tm="100000">
                                          <p:val>
                                            <p:strVal val="#ppt_x"/>
                                          </p:val>
                                        </p:tav>
                                      </p:tavLst>
                                    </p:anim>
                                    <p:anim calcmode="lin" valueType="num">
                                      <p:cBhvr additive="base">
                                        <p:cTn id="16" dur="500" fill="hold"/>
                                        <p:tgtEl>
                                          <p:spTgt spid="7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7313682" cy="801243"/>
            <a:chOff x="747522" y="439102"/>
            <a:chExt cx="7313682" cy="801243"/>
          </a:xfrm>
        </p:grpSpPr>
        <p:sp>
          <p:nvSpPr>
            <p:cNvPr id="3" name="TextBox 3"/>
            <p:cNvSpPr txBox="1"/>
            <p:nvPr/>
          </p:nvSpPr>
          <p:spPr>
            <a:xfrm>
              <a:off x="775716" y="439102"/>
              <a:ext cx="1865833"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01 · THE PROPOSAL</a:t>
              </a:r>
            </a:p>
          </p:txBody>
        </p:sp>
        <p:sp>
          <p:nvSpPr>
            <p:cNvPr id="4" name="TextBox 4"/>
            <p:cNvSpPr txBox="1"/>
            <p:nvPr/>
          </p:nvSpPr>
          <p:spPr>
            <a:xfrm>
              <a:off x="747522" y="682942"/>
              <a:ext cx="7313682"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Keep attention, drop everything else</a:t>
              </a:r>
            </a:p>
          </p:txBody>
        </p:sp>
      </p:grpSp>
      <p:grpSp>
        <p:nvGrpSpPr>
          <p:cNvPr id="12" name="Group 12"/>
          <p:cNvGrpSpPr/>
          <p:nvPr/>
        </p:nvGrpSpPr>
        <p:grpSpPr>
          <a:xfrm>
            <a:off x="762000" y="1571625"/>
            <a:ext cx="8679053" cy="1599914"/>
            <a:chOff x="762000" y="1571625"/>
            <a:chExt cx="8679053" cy="1599914"/>
          </a:xfrm>
        </p:grpSpPr>
        <p:grpSp>
          <p:nvGrpSpPr>
            <p:cNvPr id="8" name="Group 8"/>
            <p:cNvGrpSpPr/>
            <p:nvPr/>
          </p:nvGrpSpPr>
          <p:grpSpPr>
            <a:xfrm>
              <a:off x="871538" y="1571625"/>
              <a:ext cx="200025" cy="171450"/>
              <a:chOff x="871538" y="1571625"/>
              <a:chExt cx="200025" cy="171450"/>
            </a:xfrm>
          </p:grpSpPr>
          <p:sp>
            <p:nvSpPr>
              <p:cNvPr id="6" name="Freeform 6"/>
              <p:cNvSpPr/>
              <p:nvPr/>
            </p:nvSpPr>
            <p:spPr>
              <a:xfrm>
                <a:off x="871538" y="1571625"/>
                <a:ext cx="71438" cy="171450"/>
              </a:xfrm>
              <a:custGeom>
                <a:avLst/>
                <a:gdLst/>
                <a:ahLst/>
                <a:cxnLst/>
                <a:rect l="l" t="t" r="r" b="b"/>
                <a:pathLst>
                  <a:path w="71438" h="171450">
                    <a:moveTo>
                      <a:pt x="71438" y="71438"/>
                    </a:moveTo>
                    <a:lnTo>
                      <a:pt x="14288" y="71438"/>
                    </a:lnTo>
                    <a:cubicBezTo>
                      <a:pt x="6397" y="71438"/>
                      <a:pt x="0" y="65041"/>
                      <a:pt x="0" y="57150"/>
                    </a:cubicBezTo>
                    <a:lnTo>
                      <a:pt x="0" y="14288"/>
                    </a:lnTo>
                    <a:cubicBezTo>
                      <a:pt x="0" y="6397"/>
                      <a:pt x="6397" y="0"/>
                      <a:pt x="14288" y="0"/>
                    </a:cubicBezTo>
                    <a:lnTo>
                      <a:pt x="57150" y="0"/>
                    </a:lnTo>
                    <a:cubicBezTo>
                      <a:pt x="65041" y="0"/>
                      <a:pt x="71438" y="6397"/>
                      <a:pt x="71438" y="14288"/>
                    </a:cubicBezTo>
                    <a:lnTo>
                      <a:pt x="71438" y="100012"/>
                    </a:lnTo>
                    <a:cubicBezTo>
                      <a:pt x="71438" y="138117"/>
                      <a:pt x="52392" y="161920"/>
                      <a:pt x="14288" y="171450"/>
                    </a:cubicBezTo>
                  </a:path>
                </a:pathLst>
              </a:custGeom>
              <a:noFill/>
              <a:ln w="28575">
                <a:solidFill>
                  <a:srgbClr val="F5A623"/>
                </a:solidFill>
              </a:ln>
            </p:spPr>
          </p:sp>
          <p:sp>
            <p:nvSpPr>
              <p:cNvPr id="7" name="Freeform 7"/>
              <p:cNvSpPr/>
              <p:nvPr/>
            </p:nvSpPr>
            <p:spPr>
              <a:xfrm>
                <a:off x="1000125" y="1571625"/>
                <a:ext cx="71438" cy="171450"/>
              </a:xfrm>
              <a:custGeom>
                <a:avLst/>
                <a:gdLst/>
                <a:ahLst/>
                <a:cxnLst/>
                <a:rect l="l" t="t" r="r" b="b"/>
                <a:pathLst>
                  <a:path w="71438" h="171450">
                    <a:moveTo>
                      <a:pt x="71438" y="71438"/>
                    </a:moveTo>
                    <a:lnTo>
                      <a:pt x="14288" y="71438"/>
                    </a:lnTo>
                    <a:cubicBezTo>
                      <a:pt x="6397" y="71438"/>
                      <a:pt x="0" y="65041"/>
                      <a:pt x="0" y="57150"/>
                    </a:cubicBezTo>
                    <a:lnTo>
                      <a:pt x="0" y="14288"/>
                    </a:lnTo>
                    <a:cubicBezTo>
                      <a:pt x="0" y="6397"/>
                      <a:pt x="6397" y="0"/>
                      <a:pt x="14288" y="0"/>
                    </a:cubicBezTo>
                    <a:lnTo>
                      <a:pt x="57150" y="0"/>
                    </a:lnTo>
                    <a:cubicBezTo>
                      <a:pt x="65041" y="0"/>
                      <a:pt x="71438" y="6397"/>
                      <a:pt x="71438" y="14288"/>
                    </a:cubicBezTo>
                    <a:lnTo>
                      <a:pt x="71438" y="100012"/>
                    </a:lnTo>
                    <a:cubicBezTo>
                      <a:pt x="71438" y="138117"/>
                      <a:pt x="52392" y="161920"/>
                      <a:pt x="14288" y="171450"/>
                    </a:cubicBezTo>
                  </a:path>
                </a:pathLst>
              </a:custGeom>
              <a:noFill/>
              <a:ln w="28575">
                <a:solidFill>
                  <a:srgbClr val="F5A623"/>
                </a:solidFill>
              </a:ln>
            </p:spPr>
          </p:sp>
        </p:grpSp>
        <p:sp>
          <p:nvSpPr>
            <p:cNvPr id="9" name="Line 9"/>
            <p:cNvSpPr/>
            <p:nvPr/>
          </p:nvSpPr>
          <p:spPr>
            <a:xfrm>
              <a:off x="762000" y="1943100"/>
              <a:ext cx="9525" cy="1200150"/>
            </a:xfrm>
            <a:custGeom>
              <a:avLst/>
              <a:gdLst/>
              <a:ahLst/>
              <a:cxnLst/>
              <a:rect l="l" t="t" r="r" b="b"/>
              <a:pathLst>
                <a:path w="9525" h="1200150">
                  <a:moveTo>
                    <a:pt x="0" y="0"/>
                  </a:moveTo>
                  <a:lnTo>
                    <a:pt x="0" y="1200150"/>
                  </a:lnTo>
                </a:path>
              </a:pathLst>
            </a:custGeom>
            <a:noFill/>
            <a:ln w="28575">
              <a:solidFill>
                <a:srgbClr val="F5A623"/>
              </a:solidFill>
            </a:ln>
          </p:spPr>
        </p:sp>
        <p:sp>
          <p:nvSpPr>
            <p:cNvPr id="10" name="TextBox 10"/>
            <p:cNvSpPr txBox="1"/>
            <p:nvPr/>
          </p:nvSpPr>
          <p:spPr>
            <a:xfrm>
              <a:off x="980313" y="1991201"/>
              <a:ext cx="8460740" cy="1081850"/>
            </a:xfrm>
            <a:prstGeom prst="rect">
              <a:avLst/>
            </a:prstGeom>
            <a:noFill/>
            <a:ln>
              <a:noFill/>
            </a:ln>
          </p:spPr>
          <p:txBody>
            <a:bodyPr wrap="none" lIns="0" tIns="0" rIns="0" bIns="0" anchor="t" anchorCtr="0">
              <a:spAutoFit/>
            </a:bodyPr>
            <a:lstStyle/>
            <a:p>
              <a:pPr algn="l">
                <a:lnSpc>
                  <a:spcPts val="2700"/>
                </a:lnSpc>
              </a:pPr>
              <a:r>
                <a:rPr lang="en-US" sz="2020" dirty="0">
                  <a:solidFill>
                    <a:srgbClr val="E8F1FA"/>
                  </a:solidFill>
                  <a:latin typeface="Segoe UI"/>
                  <a:ea typeface="Segoe UI"/>
                  <a:cs typeface="Segoe UI"/>
                </a:rPr>
                <a:t>“We propose a new simple network architecture, the Transformer,</a:t>
              </a:r>
              <a:br/>
              <a:r>
                <a:rPr lang="en-US" sz="2020" dirty="0">
                  <a:solidFill>
                    <a:srgbClr val="E8F1FA"/>
                  </a:solidFill>
                  <a:latin typeface="Segoe UI"/>
                  <a:ea typeface="Segoe UI"/>
                  <a:cs typeface="Segoe UI"/>
                </a:rPr>
                <a:t xml:space="preserve">based solely on attention mechanisms, </a:t>
              </a:r>
              <a:r>
                <a:rPr lang="en-US" sz="2020" dirty="0">
                  <a:solidFill>
                    <a:srgbClr val="F5A623"/>
                  </a:solidFill>
                  <a:latin typeface="Segoe UI"/>
                  <a:ea typeface="Segoe UI"/>
                  <a:cs typeface="Segoe UI"/>
                </a:rPr>
                <a:t>dispensing with recurrence</a:t>
              </a:r>
              <a:br/>
              <a:r>
                <a:rPr lang="en-US" sz="2020" dirty="0">
                  <a:solidFill>
                    <a:srgbClr val="F5A623"/>
                  </a:solidFill>
                  <a:latin typeface="Segoe UI"/>
                  <a:ea typeface="Segoe UI"/>
                  <a:cs typeface="Segoe UI"/>
                </a:rPr>
                <a:t>and convolutions entirely</a:t>
              </a:r>
              <a:r>
                <a:rPr lang="en-US" sz="2020" dirty="0">
                  <a:solidFill>
                    <a:srgbClr val="E8F1FA"/>
                  </a:solidFill>
                  <a:latin typeface="Segoe UI"/>
                  <a:ea typeface="Segoe UI"/>
                  <a:cs typeface="Segoe UI"/>
                </a:rPr>
                <a:t>.”</a:t>
              </a:r>
            </a:p>
          </p:txBody>
        </p:sp>
        <p:sp>
          <p:nvSpPr>
            <p:cNvPr id="11" name="TextBox 11"/>
            <p:cNvSpPr txBox="1"/>
            <p:nvPr/>
          </p:nvSpPr>
          <p:spPr>
            <a:xfrm>
              <a:off x="985647" y="2980849"/>
              <a:ext cx="2525420" cy="190690"/>
            </a:xfrm>
            <a:prstGeom prst="rect">
              <a:avLst/>
            </a:prstGeom>
            <a:noFill/>
            <a:ln>
              <a:noFill/>
            </a:ln>
          </p:spPr>
          <p:txBody>
            <a:bodyPr wrap="none" lIns="0" tIns="0" rIns="0" bIns="0" anchor="t" anchorCtr="0">
              <a:spAutoFit/>
            </a:bodyPr>
            <a:lstStyle/>
            <a:p>
              <a:pPr algn="l"/>
              <a:r>
                <a:rPr lang="en-US" sz="980" spc="75" dirty="0">
                  <a:solidFill>
                    <a:srgbClr val="9CB4CC"/>
                  </a:solidFill>
                  <a:latin typeface="Consolas"/>
                  <a:ea typeface="Consolas"/>
                  <a:cs typeface="Consolas"/>
                </a:rPr>
                <a:t>— ABSTRACT, VASWANI ET AL. 2017</a:t>
              </a:r>
            </a:p>
          </p:txBody>
        </p:sp>
      </p:grpSp>
      <p:grpSp>
        <p:nvGrpSpPr>
          <p:cNvPr id="20" name="Group 20"/>
          <p:cNvGrpSpPr/>
          <p:nvPr/>
        </p:nvGrpSpPr>
        <p:grpSpPr>
          <a:xfrm>
            <a:off x="1143000" y="3247549"/>
            <a:ext cx="9915525" cy="429101"/>
            <a:chOff x="1143000" y="3247549"/>
            <a:chExt cx="9915525" cy="429101"/>
          </a:xfrm>
        </p:grpSpPr>
        <p:sp>
          <p:nvSpPr>
            <p:cNvPr id="13" name="Line 13"/>
            <p:cNvSpPr/>
            <p:nvPr/>
          </p:nvSpPr>
          <p:spPr>
            <a:xfrm>
              <a:off x="1143000" y="3581400"/>
              <a:ext cx="9906000" cy="9525"/>
            </a:xfrm>
            <a:custGeom>
              <a:avLst/>
              <a:gdLst/>
              <a:ahLst/>
              <a:cxnLst/>
              <a:rect l="l" t="t" r="r" b="b"/>
              <a:pathLst>
                <a:path w="9906000" h="9525">
                  <a:moveTo>
                    <a:pt x="0" y="0"/>
                  </a:moveTo>
                  <a:lnTo>
                    <a:pt x="9906000" y="0"/>
                  </a:lnTo>
                </a:path>
              </a:pathLst>
            </a:custGeom>
            <a:noFill/>
            <a:ln w="14288">
              <a:solidFill>
                <a:srgbClr val="9CC3E6"/>
              </a:solidFill>
            </a:ln>
          </p:spPr>
        </p:sp>
        <p:sp>
          <p:nvSpPr>
            <p:cNvPr id="14" name="Line 14"/>
            <p:cNvSpPr/>
            <p:nvPr/>
          </p:nvSpPr>
          <p:spPr>
            <a:xfrm>
              <a:off x="1143000" y="3486150"/>
              <a:ext cx="9525" cy="190500"/>
            </a:xfrm>
            <a:custGeom>
              <a:avLst/>
              <a:gdLst/>
              <a:ahLst/>
              <a:cxnLst/>
              <a:rect l="l" t="t" r="r" b="b"/>
              <a:pathLst>
                <a:path w="9525" h="190500">
                  <a:moveTo>
                    <a:pt x="0" y="0"/>
                  </a:moveTo>
                  <a:lnTo>
                    <a:pt x="0" y="190500"/>
                  </a:lnTo>
                </a:path>
              </a:pathLst>
            </a:custGeom>
            <a:noFill/>
            <a:ln w="14288">
              <a:solidFill>
                <a:srgbClr val="9CC3E6"/>
              </a:solidFill>
            </a:ln>
          </p:spPr>
        </p:sp>
        <p:sp>
          <p:nvSpPr>
            <p:cNvPr id="15" name="Line 15"/>
            <p:cNvSpPr/>
            <p:nvPr/>
          </p:nvSpPr>
          <p:spPr>
            <a:xfrm>
              <a:off x="11049000" y="3486150"/>
              <a:ext cx="9525" cy="190500"/>
            </a:xfrm>
            <a:custGeom>
              <a:avLst/>
              <a:gdLst/>
              <a:ahLst/>
              <a:cxnLst/>
              <a:rect l="l" t="t" r="r" b="b"/>
              <a:pathLst>
                <a:path w="9525" h="190500">
                  <a:moveTo>
                    <a:pt x="0" y="0"/>
                  </a:moveTo>
                  <a:lnTo>
                    <a:pt x="0" y="190500"/>
                  </a:lnTo>
                </a:path>
              </a:pathLst>
            </a:custGeom>
            <a:noFill/>
            <a:ln w="14288">
              <a:solidFill>
                <a:srgbClr val="9CC3E6"/>
              </a:solidFill>
            </a:ln>
          </p:spPr>
        </p:sp>
        <p:sp>
          <p:nvSpPr>
            <p:cNvPr id="16" name="Ellipse 16"/>
            <p:cNvSpPr/>
            <p:nvPr/>
          </p:nvSpPr>
          <p:spPr>
            <a:xfrm>
              <a:off x="2800350" y="3524250"/>
              <a:ext cx="114300" cy="114300"/>
            </a:xfrm>
            <a:prstGeom prst="ellipse">
              <a:avLst/>
            </a:prstGeom>
            <a:solidFill>
              <a:srgbClr val="F5A623"/>
            </a:solidFill>
            <a:ln>
              <a:noFill/>
            </a:ln>
          </p:spPr>
        </p:sp>
        <p:sp>
          <p:nvSpPr>
            <p:cNvPr id="17" name="Ellipse 17"/>
            <p:cNvSpPr/>
            <p:nvPr/>
          </p:nvSpPr>
          <p:spPr>
            <a:xfrm>
              <a:off x="6038850" y="3524250"/>
              <a:ext cx="114300" cy="114300"/>
            </a:xfrm>
            <a:prstGeom prst="ellipse">
              <a:avLst/>
            </a:prstGeom>
            <a:solidFill>
              <a:srgbClr val="F5A623"/>
            </a:solidFill>
            <a:ln>
              <a:noFill/>
            </a:ln>
          </p:spPr>
        </p:sp>
        <p:sp>
          <p:nvSpPr>
            <p:cNvPr id="18" name="Ellipse 18"/>
            <p:cNvSpPr/>
            <p:nvPr/>
          </p:nvSpPr>
          <p:spPr>
            <a:xfrm>
              <a:off x="9277350" y="3524250"/>
              <a:ext cx="114300" cy="114300"/>
            </a:xfrm>
            <a:prstGeom prst="ellipse">
              <a:avLst/>
            </a:prstGeom>
            <a:solidFill>
              <a:srgbClr val="F5A623"/>
            </a:solidFill>
            <a:ln>
              <a:noFill/>
            </a:ln>
          </p:spPr>
        </p:sp>
        <p:sp>
          <p:nvSpPr>
            <p:cNvPr id="19" name="TextBox 19"/>
            <p:cNvSpPr txBox="1"/>
            <p:nvPr/>
          </p:nvSpPr>
          <p:spPr>
            <a:xfrm>
              <a:off x="4092219" y="3247549"/>
              <a:ext cx="4007561" cy="190690"/>
            </a:xfrm>
            <a:prstGeom prst="rect">
              <a:avLst/>
            </a:prstGeom>
            <a:noFill/>
            <a:ln>
              <a:noFill/>
            </a:ln>
          </p:spPr>
          <p:txBody>
            <a:bodyPr wrap="none" lIns="0" tIns="0" rIns="0" bIns="0" anchor="t" anchorCtr="0">
              <a:spAutoFit/>
            </a:bodyPr>
            <a:lstStyle/>
            <a:p>
              <a:pPr algn="ctr"/>
              <a:r>
                <a:rPr lang="en-US" sz="980" spc="150" dirty="0">
                  <a:solidFill>
                    <a:srgbClr val="9CC3E6"/>
                  </a:solidFill>
                  <a:latin typeface="Consolas"/>
                  <a:ea typeface="Consolas"/>
                  <a:cs typeface="Consolas"/>
                </a:rPr>
                <a:t>THREE CLAIMS THE PAPER MAKES — AND MEASURES</a:t>
              </a:r>
            </a:p>
          </p:txBody>
        </p:sp>
      </p:grpSp>
      <p:grpSp>
        <p:nvGrpSpPr>
          <p:cNvPr id="30" name="Group 30"/>
          <p:cNvGrpSpPr/>
          <p:nvPr/>
        </p:nvGrpSpPr>
        <p:grpSpPr>
          <a:xfrm>
            <a:off x="1460692" y="3790950"/>
            <a:ext cx="2793616" cy="2207228"/>
            <a:chOff x="1460692" y="3790950"/>
            <a:chExt cx="2793616" cy="2207228"/>
          </a:xfrm>
        </p:grpSpPr>
        <p:sp>
          <p:nvSpPr>
            <p:cNvPr id="21" name="Line 21"/>
            <p:cNvSpPr/>
            <p:nvPr/>
          </p:nvSpPr>
          <p:spPr>
            <a:xfrm>
              <a:off x="2857500" y="3790950"/>
              <a:ext cx="9525" cy="400050"/>
            </a:xfrm>
            <a:custGeom>
              <a:avLst/>
              <a:gdLst/>
              <a:ahLst/>
              <a:cxnLst/>
              <a:rect l="l" t="t" r="r" b="b"/>
              <a:pathLst>
                <a:path w="9525" h="400050">
                  <a:moveTo>
                    <a:pt x="0" y="0"/>
                  </a:moveTo>
                  <a:lnTo>
                    <a:pt x="0" y="400050"/>
                  </a:lnTo>
                </a:path>
              </a:pathLst>
            </a:custGeom>
            <a:noFill/>
            <a:ln w="9525">
              <a:solidFill>
                <a:srgbClr val="9CC3E6"/>
              </a:solidFill>
            </a:ln>
          </p:spPr>
        </p:sp>
        <p:grpSp>
          <p:nvGrpSpPr>
            <p:cNvPr id="25" name="Group 25"/>
            <p:cNvGrpSpPr/>
            <p:nvPr/>
          </p:nvGrpSpPr>
          <p:grpSpPr>
            <a:xfrm>
              <a:off x="2748305" y="4267200"/>
              <a:ext cx="218364" cy="227203"/>
              <a:chOff x="2748305" y="4267200"/>
              <a:chExt cx="218364" cy="227203"/>
            </a:xfrm>
          </p:grpSpPr>
          <p:sp>
            <p:nvSpPr>
              <p:cNvPr id="22" name="Freeform 22"/>
              <p:cNvSpPr/>
              <p:nvPr/>
            </p:nvSpPr>
            <p:spPr>
              <a:xfrm>
                <a:off x="2781300" y="4267200"/>
                <a:ext cx="152400" cy="152400"/>
              </a:xfrm>
              <a:custGeom>
                <a:avLst/>
                <a:gdLst/>
                <a:ahLst/>
                <a:cxnLst/>
                <a:rect l="l" t="t" r="r" b="b"/>
                <a:pathLst>
                  <a:path w="152400" h="152400">
                    <a:moveTo>
                      <a:pt x="0" y="76200"/>
                    </a:moveTo>
                    <a:cubicBezTo>
                      <a:pt x="0" y="118284"/>
                      <a:pt x="34116" y="152400"/>
                      <a:pt x="76200" y="152400"/>
                    </a:cubicBezTo>
                    <a:cubicBezTo>
                      <a:pt x="118284" y="152400"/>
                      <a:pt x="152400" y="118284"/>
                      <a:pt x="152400" y="76200"/>
                    </a:cubicBezTo>
                    <a:cubicBezTo>
                      <a:pt x="152400" y="34116"/>
                      <a:pt x="118284" y="0"/>
                      <a:pt x="76200" y="0"/>
                    </a:cubicBezTo>
                    <a:cubicBezTo>
                      <a:pt x="34116" y="0"/>
                      <a:pt x="0" y="34116"/>
                      <a:pt x="0" y="76200"/>
                    </a:cubicBezTo>
                  </a:path>
                </a:pathLst>
              </a:custGeom>
              <a:noFill/>
              <a:ln w="25400">
                <a:solidFill>
                  <a:srgbClr val="9CC3E6"/>
                </a:solidFill>
              </a:ln>
            </p:spPr>
          </p:sp>
          <p:sp>
            <p:nvSpPr>
              <p:cNvPr id="23" name="Freeform 23"/>
              <p:cNvSpPr/>
              <p:nvPr/>
            </p:nvSpPr>
            <p:spPr>
              <a:xfrm>
                <a:off x="2857500" y="4381500"/>
                <a:ext cx="109169" cy="112903"/>
              </a:xfrm>
              <a:custGeom>
                <a:avLst/>
                <a:gdLst/>
                <a:ahLst/>
                <a:cxnLst/>
                <a:rect l="l" t="t" r="r" b="b"/>
                <a:pathLst>
                  <a:path w="109169" h="112903">
                    <a:moveTo>
                      <a:pt x="0" y="38100"/>
                    </a:moveTo>
                    <a:lnTo>
                      <a:pt x="43180" y="112903"/>
                    </a:lnTo>
                    <a:lnTo>
                      <a:pt x="63474" y="71844"/>
                    </a:lnTo>
                    <a:lnTo>
                      <a:pt x="109169" y="74790"/>
                    </a:lnTo>
                    <a:lnTo>
                      <a:pt x="65989" y="0"/>
                    </a:lnTo>
                  </a:path>
                </a:pathLst>
              </a:custGeom>
              <a:noFill/>
              <a:ln w="25400">
                <a:solidFill>
                  <a:srgbClr val="9CC3E6"/>
                </a:solidFill>
              </a:ln>
            </p:spPr>
          </p:sp>
          <p:sp>
            <p:nvSpPr>
              <p:cNvPr id="24" name="Freeform 24"/>
              <p:cNvSpPr/>
              <p:nvPr/>
            </p:nvSpPr>
            <p:spPr>
              <a:xfrm>
                <a:off x="2748305" y="4381500"/>
                <a:ext cx="109169" cy="112890"/>
              </a:xfrm>
              <a:custGeom>
                <a:avLst/>
                <a:gdLst/>
                <a:ahLst/>
                <a:cxnLst/>
                <a:rect l="l" t="t" r="r" b="b"/>
                <a:pathLst>
                  <a:path w="109169" h="112890">
                    <a:moveTo>
                      <a:pt x="43180" y="0"/>
                    </a:moveTo>
                    <a:lnTo>
                      <a:pt x="0" y="74803"/>
                    </a:lnTo>
                    <a:lnTo>
                      <a:pt x="45694" y="71844"/>
                    </a:lnTo>
                    <a:lnTo>
                      <a:pt x="65989" y="112890"/>
                    </a:lnTo>
                    <a:lnTo>
                      <a:pt x="109169" y="38100"/>
                    </a:lnTo>
                  </a:path>
                </a:pathLst>
              </a:custGeom>
              <a:noFill/>
              <a:ln w="25400">
                <a:solidFill>
                  <a:srgbClr val="9CC3E6"/>
                </a:solidFill>
              </a:ln>
            </p:spPr>
          </p:sp>
        </p:grpSp>
        <p:sp>
          <p:nvSpPr>
            <p:cNvPr id="26" name="TextBox 26"/>
            <p:cNvSpPr txBox="1"/>
            <p:nvPr/>
          </p:nvSpPr>
          <p:spPr>
            <a:xfrm>
              <a:off x="1629103" y="4713922"/>
              <a:ext cx="2456795"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28.4 BLEU</a:t>
              </a:r>
            </a:p>
          </p:txBody>
        </p:sp>
        <p:sp>
          <p:nvSpPr>
            <p:cNvPr id="27" name="TextBox 27"/>
            <p:cNvSpPr txBox="1"/>
            <p:nvPr/>
          </p:nvSpPr>
          <p:spPr>
            <a:xfrm>
              <a:off x="2183086" y="5237321"/>
              <a:ext cx="1348828" cy="278702"/>
            </a:xfrm>
            <a:prstGeom prst="rect">
              <a:avLst/>
            </a:prstGeom>
            <a:noFill/>
            <a:ln>
              <a:noFill/>
            </a:ln>
          </p:spPr>
          <p:txBody>
            <a:bodyPr wrap="none" lIns="0" tIns="0" rIns="0" bIns="0" anchor="t" anchorCtr="0">
              <a:spAutoFit/>
            </a:bodyPr>
            <a:lstStyle/>
            <a:p>
              <a:pPr algn="ctr"/>
              <a:r>
                <a:rPr lang="en-US" sz="1420" dirty="0">
                  <a:solidFill>
                    <a:srgbClr val="E8F1FA"/>
                  </a:solidFill>
                  <a:latin typeface="Segoe UI"/>
                  <a:ea typeface="Segoe UI"/>
                  <a:cs typeface="Segoe UI"/>
                </a:rPr>
                <a:t>Better quality</a:t>
              </a:r>
            </a:p>
          </p:txBody>
        </p:sp>
        <p:sp>
          <p:nvSpPr>
            <p:cNvPr id="28" name="TextBox 28"/>
            <p:cNvSpPr txBox="1"/>
            <p:nvPr/>
          </p:nvSpPr>
          <p:spPr>
            <a:xfrm>
              <a:off x="1460692" y="5520214"/>
              <a:ext cx="2793616" cy="249364"/>
            </a:xfrm>
            <a:prstGeom prst="rect">
              <a:avLst/>
            </a:prstGeom>
            <a:noFill/>
            <a:ln>
              <a:noFill/>
            </a:ln>
          </p:spPr>
          <p:txBody>
            <a:bodyPr wrap="none" lIns="0" tIns="0" rIns="0" bIns="0" anchor="t" anchorCtr="0">
              <a:spAutoFit/>
            </a:bodyPr>
            <a:lstStyle/>
            <a:p>
              <a:pPr algn="ctr"/>
              <a:r>
                <a:rPr lang="en-US" sz="1280" dirty="0">
                  <a:solidFill>
                    <a:srgbClr val="9CB4CC"/>
                  </a:solidFill>
                  <a:latin typeface="Segoe UI"/>
                  <a:ea typeface="Segoe UI"/>
                  <a:cs typeface="Segoe UI"/>
                </a:rPr>
                <a:t>WMT14 EN–DE, over 2 BLEU above</a:t>
              </a:r>
            </a:p>
          </p:txBody>
        </p:sp>
        <p:sp>
          <p:nvSpPr>
            <p:cNvPr id="29" name="TextBox 29"/>
            <p:cNvSpPr txBox="1"/>
            <p:nvPr/>
          </p:nvSpPr>
          <p:spPr>
            <a:xfrm>
              <a:off x="1804218" y="5748814"/>
              <a:ext cx="2106564" cy="249364"/>
            </a:xfrm>
            <a:prstGeom prst="rect">
              <a:avLst/>
            </a:prstGeom>
            <a:noFill/>
            <a:ln>
              <a:noFill/>
            </a:ln>
          </p:spPr>
          <p:txBody>
            <a:bodyPr wrap="none" lIns="0" tIns="0" rIns="0" bIns="0" anchor="t" anchorCtr="0">
              <a:spAutoFit/>
            </a:bodyPr>
            <a:lstStyle/>
            <a:p>
              <a:pPr algn="ctr"/>
              <a:r>
                <a:rPr lang="en-US" sz="1280" dirty="0">
                  <a:solidFill>
                    <a:srgbClr val="9CB4CC"/>
                  </a:solidFill>
                  <a:latin typeface="Segoe UI"/>
                  <a:ea typeface="Segoe UI"/>
                  <a:cs typeface="Segoe UI"/>
                </a:rPr>
                <a:t>the best prior ensembles</a:t>
              </a:r>
            </a:p>
          </p:txBody>
        </p:sp>
      </p:grpSp>
      <p:grpSp>
        <p:nvGrpSpPr>
          <p:cNvPr id="41" name="Group 41"/>
          <p:cNvGrpSpPr/>
          <p:nvPr/>
        </p:nvGrpSpPr>
        <p:grpSpPr>
          <a:xfrm>
            <a:off x="4909175" y="3790950"/>
            <a:ext cx="2373650" cy="2207228"/>
            <a:chOff x="4909175" y="3790950"/>
            <a:chExt cx="2373650" cy="2207228"/>
          </a:xfrm>
        </p:grpSpPr>
        <p:sp>
          <p:nvSpPr>
            <p:cNvPr id="31" name="Line 31"/>
            <p:cNvSpPr/>
            <p:nvPr/>
          </p:nvSpPr>
          <p:spPr>
            <a:xfrm>
              <a:off x="6096000" y="3790950"/>
              <a:ext cx="9525" cy="400050"/>
            </a:xfrm>
            <a:custGeom>
              <a:avLst/>
              <a:gdLst/>
              <a:ahLst/>
              <a:cxnLst/>
              <a:rect l="l" t="t" r="r" b="b"/>
              <a:pathLst>
                <a:path w="9525" h="400050">
                  <a:moveTo>
                    <a:pt x="0" y="0"/>
                  </a:moveTo>
                  <a:lnTo>
                    <a:pt x="0" y="400050"/>
                  </a:lnTo>
                </a:path>
              </a:pathLst>
            </a:custGeom>
            <a:noFill/>
            <a:ln w="9525">
              <a:solidFill>
                <a:srgbClr val="9CC3E6"/>
              </a:solidFill>
            </a:ln>
          </p:spPr>
        </p:sp>
        <p:grpSp>
          <p:nvGrpSpPr>
            <p:cNvPr id="36" name="Group 36"/>
            <p:cNvGrpSpPr/>
            <p:nvPr/>
          </p:nvGrpSpPr>
          <p:grpSpPr>
            <a:xfrm>
              <a:off x="5981700" y="4279900"/>
              <a:ext cx="228599" cy="203200"/>
              <a:chOff x="5981700" y="4279900"/>
              <a:chExt cx="228599" cy="203200"/>
            </a:xfrm>
          </p:grpSpPr>
          <p:sp>
            <p:nvSpPr>
              <p:cNvPr id="32" name="Freeform 32"/>
              <p:cNvSpPr/>
              <p:nvPr/>
            </p:nvSpPr>
            <p:spPr>
              <a:xfrm>
                <a:off x="5981700" y="4381500"/>
                <a:ext cx="228599" cy="63500"/>
              </a:xfrm>
              <a:custGeom>
                <a:avLst/>
                <a:gdLst/>
                <a:ahLst/>
                <a:cxnLst/>
                <a:rect l="l" t="t" r="r" b="b"/>
                <a:pathLst>
                  <a:path w="228599" h="63500">
                    <a:moveTo>
                      <a:pt x="228599" y="63500"/>
                    </a:moveTo>
                    <a:lnTo>
                      <a:pt x="160058" y="63500"/>
                    </a:lnTo>
                    <a:cubicBezTo>
                      <a:pt x="139337" y="63498"/>
                      <a:pt x="119920" y="53387"/>
                      <a:pt x="108039" y="36411"/>
                    </a:cubicBezTo>
                    <a:lnTo>
                      <a:pt x="101511" y="27089"/>
                    </a:lnTo>
                    <a:cubicBezTo>
                      <a:pt x="89629" y="10113"/>
                      <a:pt x="70213" y="2"/>
                      <a:pt x="49492" y="0"/>
                    </a:cubicBezTo>
                    <a:lnTo>
                      <a:pt x="0" y="0"/>
                    </a:lnTo>
                  </a:path>
                </a:pathLst>
              </a:custGeom>
              <a:noFill/>
              <a:ln w="25400">
                <a:solidFill>
                  <a:srgbClr val="9CC3E6"/>
                </a:solidFill>
              </a:ln>
            </p:spPr>
          </p:sp>
          <p:sp>
            <p:nvSpPr>
              <p:cNvPr id="33" name="Freeform 33"/>
              <p:cNvSpPr/>
              <p:nvPr/>
            </p:nvSpPr>
            <p:spPr>
              <a:xfrm>
                <a:off x="5981700" y="4317999"/>
                <a:ext cx="228599" cy="63501"/>
              </a:xfrm>
              <a:custGeom>
                <a:avLst/>
                <a:gdLst/>
                <a:ahLst/>
                <a:cxnLst/>
                <a:rect l="l" t="t" r="r" b="b"/>
                <a:pathLst>
                  <a:path w="228599" h="63501">
                    <a:moveTo>
                      <a:pt x="228599" y="1"/>
                    </a:moveTo>
                    <a:lnTo>
                      <a:pt x="160083" y="1"/>
                    </a:lnTo>
                    <a:cubicBezTo>
                      <a:pt x="139349" y="0"/>
                      <a:pt x="119920" y="10122"/>
                      <a:pt x="108039" y="27115"/>
                    </a:cubicBezTo>
                    <a:lnTo>
                      <a:pt x="101562" y="36386"/>
                    </a:lnTo>
                    <a:cubicBezTo>
                      <a:pt x="89683" y="53376"/>
                      <a:pt x="70260" y="63498"/>
                      <a:pt x="49530" y="63501"/>
                    </a:cubicBezTo>
                    <a:lnTo>
                      <a:pt x="0" y="63501"/>
                    </a:lnTo>
                  </a:path>
                </a:pathLst>
              </a:custGeom>
              <a:noFill/>
              <a:ln w="25400">
                <a:solidFill>
                  <a:srgbClr val="9CC3E6"/>
                </a:solidFill>
              </a:ln>
            </p:spPr>
          </p:sp>
          <p:sp>
            <p:nvSpPr>
              <p:cNvPr id="34" name="Freeform 34"/>
              <p:cNvSpPr/>
              <p:nvPr/>
            </p:nvSpPr>
            <p:spPr>
              <a:xfrm>
                <a:off x="6172199" y="4279900"/>
                <a:ext cx="38100" cy="76200"/>
              </a:xfrm>
              <a:custGeom>
                <a:avLst/>
                <a:gdLst/>
                <a:ahLst/>
                <a:cxnLst/>
                <a:rect l="l" t="t" r="r" b="b"/>
                <a:pathLst>
                  <a:path w="38100" h="76200">
                    <a:moveTo>
                      <a:pt x="0" y="76200"/>
                    </a:moveTo>
                    <a:lnTo>
                      <a:pt x="38100" y="38100"/>
                    </a:lnTo>
                    <a:lnTo>
                      <a:pt x="0" y="0"/>
                    </a:lnTo>
                  </a:path>
                </a:pathLst>
              </a:custGeom>
              <a:noFill/>
              <a:ln w="25400">
                <a:solidFill>
                  <a:srgbClr val="9CC3E6"/>
                </a:solidFill>
              </a:ln>
            </p:spPr>
          </p:sp>
          <p:sp>
            <p:nvSpPr>
              <p:cNvPr id="35" name="Freeform 35"/>
              <p:cNvSpPr/>
              <p:nvPr/>
            </p:nvSpPr>
            <p:spPr>
              <a:xfrm>
                <a:off x="6172199" y="4406900"/>
                <a:ext cx="38100" cy="76200"/>
              </a:xfrm>
              <a:custGeom>
                <a:avLst/>
                <a:gdLst/>
                <a:ahLst/>
                <a:cxnLst/>
                <a:rect l="l" t="t" r="r" b="b"/>
                <a:pathLst>
                  <a:path w="38100" h="76200">
                    <a:moveTo>
                      <a:pt x="0" y="76200"/>
                    </a:moveTo>
                    <a:lnTo>
                      <a:pt x="38100" y="38100"/>
                    </a:lnTo>
                    <a:lnTo>
                      <a:pt x="0" y="0"/>
                    </a:lnTo>
                  </a:path>
                </a:pathLst>
              </a:custGeom>
              <a:noFill/>
              <a:ln w="25400">
                <a:solidFill>
                  <a:srgbClr val="9CC3E6"/>
                </a:solidFill>
              </a:ln>
            </p:spPr>
          </p:sp>
        </p:grpSp>
        <p:sp>
          <p:nvSpPr>
            <p:cNvPr id="37" name="TextBox 37"/>
            <p:cNvSpPr txBox="1"/>
            <p:nvPr/>
          </p:nvSpPr>
          <p:spPr>
            <a:xfrm>
              <a:off x="5460157" y="4713922"/>
              <a:ext cx="1271687"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O(1)</a:t>
              </a:r>
            </a:p>
          </p:txBody>
        </p:sp>
        <p:sp>
          <p:nvSpPr>
            <p:cNvPr id="38" name="TextBox 38"/>
            <p:cNvSpPr txBox="1"/>
            <p:nvPr/>
          </p:nvSpPr>
          <p:spPr>
            <a:xfrm>
              <a:off x="5211452" y="5237321"/>
              <a:ext cx="1769096" cy="278702"/>
            </a:xfrm>
            <a:prstGeom prst="rect">
              <a:avLst/>
            </a:prstGeom>
            <a:noFill/>
            <a:ln>
              <a:noFill/>
            </a:ln>
          </p:spPr>
          <p:txBody>
            <a:bodyPr wrap="none" lIns="0" tIns="0" rIns="0" bIns="0" anchor="t" anchorCtr="0">
              <a:spAutoFit/>
            </a:bodyPr>
            <a:lstStyle/>
            <a:p>
              <a:pPr algn="ctr"/>
              <a:r>
                <a:rPr lang="en-US" sz="1420" dirty="0">
                  <a:solidFill>
                    <a:srgbClr val="E8F1FA"/>
                  </a:solidFill>
                  <a:latin typeface="Segoe UI"/>
                  <a:ea typeface="Segoe UI"/>
                  <a:cs typeface="Segoe UI"/>
                </a:rPr>
                <a:t>More parallelizable</a:t>
              </a:r>
            </a:p>
          </p:txBody>
        </p:sp>
        <p:sp>
          <p:nvSpPr>
            <p:cNvPr id="39" name="TextBox 39"/>
            <p:cNvSpPr txBox="1"/>
            <p:nvPr/>
          </p:nvSpPr>
          <p:spPr>
            <a:xfrm>
              <a:off x="5008255" y="5520214"/>
              <a:ext cx="2175490" cy="249364"/>
            </a:xfrm>
            <a:prstGeom prst="rect">
              <a:avLst/>
            </a:prstGeom>
            <a:noFill/>
            <a:ln>
              <a:noFill/>
            </a:ln>
          </p:spPr>
          <p:txBody>
            <a:bodyPr wrap="none" lIns="0" tIns="0" rIns="0" bIns="0" anchor="t" anchorCtr="0">
              <a:spAutoFit/>
            </a:bodyPr>
            <a:lstStyle/>
            <a:p>
              <a:pPr algn="ctr"/>
              <a:r>
                <a:rPr lang="en-US" sz="1280" dirty="0">
                  <a:solidFill>
                    <a:srgbClr val="9CB4CC"/>
                  </a:solidFill>
                  <a:latin typeface="Segoe UI"/>
                  <a:ea typeface="Segoe UI"/>
                  <a:cs typeface="Segoe UI"/>
                </a:rPr>
                <a:t>sequential ops per layer —</a:t>
              </a:r>
            </a:p>
          </p:txBody>
        </p:sp>
        <p:sp>
          <p:nvSpPr>
            <p:cNvPr id="40" name="TextBox 40"/>
            <p:cNvSpPr txBox="1"/>
            <p:nvPr/>
          </p:nvSpPr>
          <p:spPr>
            <a:xfrm>
              <a:off x="4909175" y="5748814"/>
              <a:ext cx="2373650" cy="249364"/>
            </a:xfrm>
            <a:prstGeom prst="rect">
              <a:avLst/>
            </a:prstGeom>
            <a:noFill/>
            <a:ln>
              <a:noFill/>
            </a:ln>
          </p:spPr>
          <p:txBody>
            <a:bodyPr wrap="none" lIns="0" tIns="0" rIns="0" bIns="0" anchor="t" anchorCtr="0">
              <a:spAutoFit/>
            </a:bodyPr>
            <a:lstStyle/>
            <a:p>
              <a:pPr algn="ctr"/>
              <a:r>
                <a:rPr lang="en-US" sz="1280" dirty="0">
                  <a:solidFill>
                    <a:srgbClr val="9CB4CC"/>
                  </a:solidFill>
                  <a:latin typeface="Segoe UI"/>
                  <a:ea typeface="Segoe UI"/>
                  <a:cs typeface="Segoe UI"/>
                </a:rPr>
                <a:t>all positions handled at once</a:t>
              </a:r>
            </a:p>
          </p:txBody>
        </p:sp>
      </p:grpSp>
      <p:grpSp>
        <p:nvGrpSpPr>
          <p:cNvPr id="50" name="Group 50"/>
          <p:cNvGrpSpPr/>
          <p:nvPr/>
        </p:nvGrpSpPr>
        <p:grpSpPr>
          <a:xfrm>
            <a:off x="8190453" y="3790950"/>
            <a:ext cx="2288094" cy="2207228"/>
            <a:chOff x="8190453" y="3790950"/>
            <a:chExt cx="2288094" cy="2207228"/>
          </a:xfrm>
        </p:grpSpPr>
        <p:sp>
          <p:nvSpPr>
            <p:cNvPr id="42" name="Line 42"/>
            <p:cNvSpPr/>
            <p:nvPr/>
          </p:nvSpPr>
          <p:spPr>
            <a:xfrm>
              <a:off x="9334500" y="3790950"/>
              <a:ext cx="9525" cy="400050"/>
            </a:xfrm>
            <a:custGeom>
              <a:avLst/>
              <a:gdLst/>
              <a:ahLst/>
              <a:cxnLst/>
              <a:rect l="l" t="t" r="r" b="b"/>
              <a:pathLst>
                <a:path w="9525" h="400050">
                  <a:moveTo>
                    <a:pt x="0" y="0"/>
                  </a:moveTo>
                  <a:lnTo>
                    <a:pt x="0" y="400050"/>
                  </a:lnTo>
                </a:path>
              </a:pathLst>
            </a:custGeom>
            <a:noFill/>
            <a:ln w="9525">
              <a:solidFill>
                <a:srgbClr val="9CC3E6"/>
              </a:solidFill>
            </a:ln>
          </p:spPr>
        </p:sp>
        <p:grpSp>
          <p:nvGrpSpPr>
            <p:cNvPr id="45" name="Group 45"/>
            <p:cNvGrpSpPr/>
            <p:nvPr/>
          </p:nvGrpSpPr>
          <p:grpSpPr>
            <a:xfrm>
              <a:off x="9220200" y="4267200"/>
              <a:ext cx="228599" cy="228599"/>
              <a:chOff x="9220200" y="4267200"/>
              <a:chExt cx="228599" cy="228599"/>
            </a:xfrm>
          </p:grpSpPr>
          <p:sp>
            <p:nvSpPr>
              <p:cNvPr id="43" name="Freeform 43"/>
              <p:cNvSpPr/>
              <p:nvPr/>
            </p:nvSpPr>
            <p:spPr>
              <a:xfrm>
                <a:off x="9220200" y="4267200"/>
                <a:ext cx="228599" cy="228599"/>
              </a:xfrm>
              <a:custGeom>
                <a:avLst/>
                <a:gdLst/>
                <a:ahLst/>
                <a:cxnLst/>
                <a:rect l="l" t="t" r="r" b="b"/>
                <a:pathLst>
                  <a:path w="228599" h="228599">
                    <a:moveTo>
                      <a:pt x="0" y="114300"/>
                    </a:moveTo>
                    <a:cubicBezTo>
                      <a:pt x="0" y="177426"/>
                      <a:pt x="51174" y="228599"/>
                      <a:pt x="114300" y="228599"/>
                    </a:cubicBezTo>
                    <a:cubicBezTo>
                      <a:pt x="177426" y="228599"/>
                      <a:pt x="228599" y="177426"/>
                      <a:pt x="228599" y="114300"/>
                    </a:cubicBezTo>
                    <a:cubicBezTo>
                      <a:pt x="228599" y="51174"/>
                      <a:pt x="177426" y="0"/>
                      <a:pt x="114300" y="0"/>
                    </a:cubicBezTo>
                    <a:cubicBezTo>
                      <a:pt x="51174" y="0"/>
                      <a:pt x="0" y="51174"/>
                      <a:pt x="0" y="114300"/>
                    </a:cubicBezTo>
                  </a:path>
                </a:pathLst>
              </a:custGeom>
              <a:noFill/>
              <a:ln w="25400">
                <a:solidFill>
                  <a:srgbClr val="9CC3E6"/>
                </a:solidFill>
              </a:ln>
            </p:spPr>
          </p:sp>
          <p:sp>
            <p:nvSpPr>
              <p:cNvPr id="44" name="Freeform 44"/>
              <p:cNvSpPr/>
              <p:nvPr/>
            </p:nvSpPr>
            <p:spPr>
              <a:xfrm>
                <a:off x="9334500" y="4318000"/>
                <a:ext cx="38100" cy="101600"/>
              </a:xfrm>
              <a:custGeom>
                <a:avLst/>
                <a:gdLst/>
                <a:ahLst/>
                <a:cxnLst/>
                <a:rect l="l" t="t" r="r" b="b"/>
                <a:pathLst>
                  <a:path w="38100" h="101600">
                    <a:moveTo>
                      <a:pt x="0" y="0"/>
                    </a:moveTo>
                    <a:lnTo>
                      <a:pt x="0" y="63500"/>
                    </a:lnTo>
                    <a:lnTo>
                      <a:pt x="38100" y="101600"/>
                    </a:lnTo>
                  </a:path>
                </a:pathLst>
              </a:custGeom>
              <a:noFill/>
              <a:ln w="25400">
                <a:solidFill>
                  <a:srgbClr val="9CC3E6"/>
                </a:solidFill>
              </a:ln>
            </p:spPr>
          </p:sp>
        </p:grpSp>
        <p:sp>
          <p:nvSpPr>
            <p:cNvPr id="46" name="TextBox 46"/>
            <p:cNvSpPr txBox="1"/>
            <p:nvPr/>
          </p:nvSpPr>
          <p:spPr>
            <a:xfrm>
              <a:off x="8305078" y="4713922"/>
              <a:ext cx="2058845"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3.5 days</a:t>
              </a:r>
            </a:p>
          </p:txBody>
        </p:sp>
        <p:sp>
          <p:nvSpPr>
            <p:cNvPr id="47" name="TextBox 47"/>
            <p:cNvSpPr txBox="1"/>
            <p:nvPr/>
          </p:nvSpPr>
          <p:spPr>
            <a:xfrm>
              <a:off x="8315886" y="5237321"/>
              <a:ext cx="2037228" cy="278702"/>
            </a:xfrm>
            <a:prstGeom prst="rect">
              <a:avLst/>
            </a:prstGeom>
            <a:noFill/>
            <a:ln>
              <a:noFill/>
            </a:ln>
          </p:spPr>
          <p:txBody>
            <a:bodyPr wrap="none" lIns="0" tIns="0" rIns="0" bIns="0" anchor="t" anchorCtr="0">
              <a:spAutoFit/>
            </a:bodyPr>
            <a:lstStyle/>
            <a:p>
              <a:pPr algn="ctr"/>
              <a:r>
                <a:rPr lang="en-US" sz="1420" dirty="0">
                  <a:solidFill>
                    <a:srgbClr val="E8F1FA"/>
                  </a:solidFill>
                  <a:latin typeface="Segoe UI"/>
                  <a:ea typeface="Segoe UI"/>
                  <a:cs typeface="Segoe UI"/>
                </a:rPr>
                <a:t>Far less training time</a:t>
              </a:r>
            </a:p>
          </p:txBody>
        </p:sp>
        <p:sp>
          <p:nvSpPr>
            <p:cNvPr id="48" name="TextBox 48"/>
            <p:cNvSpPr txBox="1"/>
            <p:nvPr/>
          </p:nvSpPr>
          <p:spPr>
            <a:xfrm>
              <a:off x="8258603" y="5520214"/>
              <a:ext cx="2151793" cy="249364"/>
            </a:xfrm>
            <a:prstGeom prst="rect">
              <a:avLst/>
            </a:prstGeom>
            <a:noFill/>
            <a:ln>
              <a:noFill/>
            </a:ln>
          </p:spPr>
          <p:txBody>
            <a:bodyPr wrap="none" lIns="0" tIns="0" rIns="0" bIns="0" anchor="t" anchorCtr="0">
              <a:spAutoFit/>
            </a:bodyPr>
            <a:lstStyle/>
            <a:p>
              <a:pPr algn="ctr"/>
              <a:r>
                <a:rPr lang="en-US" sz="1280" dirty="0">
                  <a:solidFill>
                    <a:srgbClr val="9CB4CC"/>
                  </a:solidFill>
                  <a:latin typeface="Segoe UI"/>
                  <a:ea typeface="Segoe UI"/>
                  <a:cs typeface="Segoe UI"/>
                </a:rPr>
                <a:t>8 × P100 GPUs, big model;</a:t>
              </a:r>
            </a:p>
          </p:txBody>
        </p:sp>
        <p:sp>
          <p:nvSpPr>
            <p:cNvPr id="49" name="TextBox 49"/>
            <p:cNvSpPr txBox="1"/>
            <p:nvPr/>
          </p:nvSpPr>
          <p:spPr>
            <a:xfrm>
              <a:off x="8190453" y="5748814"/>
              <a:ext cx="2288094" cy="249364"/>
            </a:xfrm>
            <a:prstGeom prst="rect">
              <a:avLst/>
            </a:prstGeom>
            <a:noFill/>
            <a:ln>
              <a:noFill/>
            </a:ln>
          </p:spPr>
          <p:txBody>
            <a:bodyPr wrap="none" lIns="0" tIns="0" rIns="0" bIns="0" anchor="t" anchorCtr="0">
              <a:spAutoFit/>
            </a:bodyPr>
            <a:lstStyle/>
            <a:p>
              <a:pPr algn="ctr"/>
              <a:r>
                <a:rPr lang="en-US" sz="1280" dirty="0">
                  <a:solidFill>
                    <a:srgbClr val="9CB4CC"/>
                  </a:solidFill>
                  <a:latin typeface="Segoe UI"/>
                  <a:ea typeface="Segoe UI"/>
                  <a:cs typeface="Segoe UI"/>
                </a:rPr>
                <a:t>41.8 BLEU on WMT14 EN–FR</a:t>
              </a:r>
            </a:p>
          </p:txBody>
        </p:sp>
      </p:grpSp>
      <p:grpSp>
        <p:nvGrpSpPr>
          <p:cNvPr id="55" name="Group 55"/>
          <p:cNvGrpSpPr/>
          <p:nvPr/>
        </p:nvGrpSpPr>
        <p:grpSpPr>
          <a:xfrm>
            <a:off x="9525000" y="6362700"/>
            <a:ext cx="2095500" cy="304800"/>
            <a:chOff x="9525000" y="6362700"/>
            <a:chExt cx="2095500" cy="304800"/>
          </a:xfrm>
        </p:grpSpPr>
        <p:sp>
          <p:nvSpPr>
            <p:cNvPr id="51" name="Rectangle 51"/>
            <p:cNvSpPr/>
            <p:nvPr/>
          </p:nvSpPr>
          <p:spPr>
            <a:xfrm>
              <a:off x="9525000" y="6362700"/>
              <a:ext cx="2095500" cy="304800"/>
            </a:xfrm>
            <a:prstGeom prst="rect">
              <a:avLst/>
            </a:prstGeom>
            <a:noFill/>
            <a:ln w="9525">
              <a:solidFill>
                <a:srgbClr val="3C5A80"/>
              </a:solidFill>
            </a:ln>
          </p:spPr>
        </p:sp>
        <p:sp>
          <p:nvSpPr>
            <p:cNvPr id="52" name="Line 52"/>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53" name="TextBox 53"/>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54" name="TextBox 54"/>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04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800"/>
                                        <p:tgtEl>
                                          <p:spTgt spid="12"/>
                                        </p:tgtEl>
                                      </p:cBhvr>
                                    </p:animEffect>
                                  </p:childTnLst>
                                </p:cTn>
                              </p:par>
                            </p:childTnLst>
                          </p:cTn>
                        </p:par>
                        <p:par>
                          <p:cTn id="8" fill="hold">
                            <p:stCondLst>
                              <p:cond delay="800"/>
                            </p:stCondLst>
                            <p:childTnLst>
                              <p:par>
                                <p:cTn xmlns:p="http://schemas.openxmlformats.org/presentationml/2006/main" id="9" presetID="22" presetClass="entr" presetSubtype="2" fill="hold" grpId="0" nodeType="afterEffect">
                                  <p:stCondLst>
                                    <p:cond delay="300"/>
                                  </p:stCondLst>
                                  <p:childTnLst>
                                    <p:set>
                                      <p:cBhvr>
                                        <p:cTn id="10" dur="1" fill="hold">
                                          <p:stCondLst>
                                            <p:cond delay="0"/>
                                          </p:stCondLst>
                                        </p:cTn>
                                        <p:tgtEl>
                                          <p:spTgt spid="20"/>
                                        </p:tgtEl>
                                        <p:attrNameLst>
                                          <p:attrName>style.visibility</p:attrName>
                                        </p:attrNameLst>
                                      </p:cBhvr>
                                      <p:to>
                                        <p:strVal val="visible"/>
                                      </p:to>
                                    </p:set>
                                    <p:animEffect transition="in" filter="wipe(right)">
                                      <p:cBhvr>
                                        <p:cTn id="11" dur="600"/>
                                        <p:tgtEl>
                                          <p:spTgt spid="20"/>
                                        </p:tgtEl>
                                      </p:cBhvr>
                                    </p:animEffect>
                                  </p:childTnLst>
                                </p:cTn>
                              </p:par>
                            </p:childTnLst>
                          </p:cTn>
                        </p:par>
                        <p:par>
                          <p:cTn id="12" fill="hold">
                            <p:stCondLst>
                              <p:cond delay="1700"/>
                            </p:stCondLst>
                            <p:childTnLst>
                              <p:par>
                                <p:cTn xmlns:p="http://schemas.openxmlformats.org/presentationml/2006/main" id="13" presetID="2" presetClass="entr" presetSubtype="1" fill="hold" grpId="0" nodeType="afterEffect">
                                  <p:stCondLst>
                                    <p:cond delay="300"/>
                                  </p:stCondLst>
                                  <p:childTnLst>
                                    <p:set>
                                      <p:cBhvr>
                                        <p:cTn id="14" dur="1" fill="hold">
                                          <p:stCondLst>
                                            <p:cond delay="0"/>
                                          </p:stCondLst>
                                        </p:cTn>
                                        <p:tgtEl>
                                          <p:spTgt spid="30"/>
                                        </p:tgtEl>
                                        <p:attrNameLst>
                                          <p:attrName>style.visibility</p:attrName>
                                        </p:attrNameLst>
                                      </p:cBhvr>
                                      <p:to>
                                        <p:strVal val="visible"/>
                                      </p:to>
                                    </p:set>
                                    <p:anim calcmode="lin" valueType="num">
                                      <p:cBhvr additive="base">
                                        <p:cTn id="15" dur="450" fill="hold"/>
                                        <p:tgtEl>
                                          <p:spTgt spid="30"/>
                                        </p:tgtEl>
                                        <p:attrNameLst>
                                          <p:attrName>ppt_x</p:attrName>
                                        </p:attrNameLst>
                                      </p:cBhvr>
                                      <p:tavLst>
                                        <p:tav tm="0">
                                          <p:val>
                                            <p:strVal val="#ppt_x"/>
                                          </p:val>
                                        </p:tav>
                                        <p:tav tm="100000">
                                          <p:val>
                                            <p:strVal val="#ppt_x"/>
                                          </p:val>
                                        </p:tav>
                                      </p:tavLst>
                                    </p:anim>
                                    <p:anim calcmode="lin" valueType="num">
                                      <p:cBhvr additive="base">
                                        <p:cTn id="16" dur="450" fill="hold"/>
                                        <p:tgtEl>
                                          <p:spTgt spid="30"/>
                                        </p:tgtEl>
                                        <p:attrNameLst>
                                          <p:attrName>ppt_y</p:attrName>
                                        </p:attrNameLst>
                                      </p:cBhvr>
                                      <p:tavLst>
                                        <p:tav tm="0">
                                          <p:val>
                                            <p:strVal val="0-#ppt_h/2"/>
                                          </p:val>
                                        </p:tav>
                                        <p:tav tm="100000">
                                          <p:val>
                                            <p:strVal val="#ppt_y"/>
                                          </p:val>
                                        </p:tav>
                                      </p:tavLst>
                                    </p:anim>
                                  </p:childTnLst>
                                </p:cTn>
                              </p:par>
                            </p:childTnLst>
                          </p:cTn>
                        </p:par>
                        <p:par>
                          <p:cTn id="17" fill="hold">
                            <p:stCondLst>
                              <p:cond delay="2450"/>
                            </p:stCondLst>
                            <p:childTnLst>
                              <p:par>
                                <p:cTn xmlns:p="http://schemas.openxmlformats.org/presentationml/2006/main" id="18" presetID="2" presetClass="entr" presetSubtype="1" fill="hold" grpId="0" nodeType="afterEffect">
                                  <p:stCondLst>
                                    <p:cond delay="300"/>
                                  </p:stCondLst>
                                  <p:childTnLst>
                                    <p:set>
                                      <p:cBhvr>
                                        <p:cTn id="19" dur="1" fill="hold">
                                          <p:stCondLst>
                                            <p:cond delay="0"/>
                                          </p:stCondLst>
                                        </p:cTn>
                                        <p:tgtEl>
                                          <p:spTgt spid="41"/>
                                        </p:tgtEl>
                                        <p:attrNameLst>
                                          <p:attrName>style.visibility</p:attrName>
                                        </p:attrNameLst>
                                      </p:cBhvr>
                                      <p:to>
                                        <p:strVal val="visible"/>
                                      </p:to>
                                    </p:set>
                                    <p:anim calcmode="lin" valueType="num">
                                      <p:cBhvr additive="base">
                                        <p:cTn id="20" dur="450" fill="hold"/>
                                        <p:tgtEl>
                                          <p:spTgt spid="41"/>
                                        </p:tgtEl>
                                        <p:attrNameLst>
                                          <p:attrName>ppt_x</p:attrName>
                                        </p:attrNameLst>
                                      </p:cBhvr>
                                      <p:tavLst>
                                        <p:tav tm="0">
                                          <p:val>
                                            <p:strVal val="#ppt_x"/>
                                          </p:val>
                                        </p:tav>
                                        <p:tav tm="100000">
                                          <p:val>
                                            <p:strVal val="#ppt_x"/>
                                          </p:val>
                                        </p:tav>
                                      </p:tavLst>
                                    </p:anim>
                                    <p:anim calcmode="lin" valueType="num">
                                      <p:cBhvr additive="base">
                                        <p:cTn id="21" dur="450" fill="hold"/>
                                        <p:tgtEl>
                                          <p:spTgt spid="41"/>
                                        </p:tgtEl>
                                        <p:attrNameLst>
                                          <p:attrName>ppt_y</p:attrName>
                                        </p:attrNameLst>
                                      </p:cBhvr>
                                      <p:tavLst>
                                        <p:tav tm="0">
                                          <p:val>
                                            <p:strVal val="0-#ppt_h/2"/>
                                          </p:val>
                                        </p:tav>
                                        <p:tav tm="100000">
                                          <p:val>
                                            <p:strVal val="#ppt_y"/>
                                          </p:val>
                                        </p:tav>
                                      </p:tavLst>
                                    </p:anim>
                                  </p:childTnLst>
                                </p:cTn>
                              </p:par>
                            </p:childTnLst>
                          </p:cTn>
                        </p:par>
                        <p:par>
                          <p:cTn id="22" fill="hold">
                            <p:stCondLst>
                              <p:cond delay="3200"/>
                            </p:stCondLst>
                            <p:childTnLst>
                              <p:par>
                                <p:cTn xmlns:p="http://schemas.openxmlformats.org/presentationml/2006/main" id="23" presetID="2" presetClass="entr" presetSubtype="1" fill="hold" grpId="0" nodeType="afterEffect">
                                  <p:stCondLst>
                                    <p:cond delay="300"/>
                                  </p:stCondLst>
                                  <p:childTnLst>
                                    <p:set>
                                      <p:cBhvr>
                                        <p:cTn id="24" dur="1" fill="hold">
                                          <p:stCondLst>
                                            <p:cond delay="0"/>
                                          </p:stCondLst>
                                        </p:cTn>
                                        <p:tgtEl>
                                          <p:spTgt spid="50"/>
                                        </p:tgtEl>
                                        <p:attrNameLst>
                                          <p:attrName>style.visibility</p:attrName>
                                        </p:attrNameLst>
                                      </p:cBhvr>
                                      <p:to>
                                        <p:strVal val="visible"/>
                                      </p:to>
                                    </p:set>
                                    <p:anim calcmode="lin" valueType="num">
                                      <p:cBhvr additive="base">
                                        <p:cTn id="25" dur="450" fill="hold"/>
                                        <p:tgtEl>
                                          <p:spTgt spid="50"/>
                                        </p:tgtEl>
                                        <p:attrNameLst>
                                          <p:attrName>ppt_x</p:attrName>
                                        </p:attrNameLst>
                                      </p:cBhvr>
                                      <p:tavLst>
                                        <p:tav tm="0">
                                          <p:val>
                                            <p:strVal val="#ppt_x"/>
                                          </p:val>
                                        </p:tav>
                                        <p:tav tm="100000">
                                          <p:val>
                                            <p:strVal val="#ppt_x"/>
                                          </p:val>
                                        </p:tav>
                                      </p:tavLst>
                                    </p:anim>
                                    <p:anim calcmode="lin" valueType="num">
                                      <p:cBhvr additive="base">
                                        <p:cTn id="26" dur="450" fill="hold"/>
                                        <p:tgtEl>
                                          <p:spTgt spid="50"/>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6245393" cy="801243"/>
            <a:chOff x="747522" y="439102"/>
            <a:chExt cx="6245393" cy="801243"/>
          </a:xfrm>
        </p:grpSpPr>
        <p:sp>
          <p:nvSpPr>
            <p:cNvPr id="3" name="TextBox 3"/>
            <p:cNvSpPr txBox="1"/>
            <p:nvPr/>
          </p:nvSpPr>
          <p:spPr>
            <a:xfrm>
              <a:off x="775716" y="439102"/>
              <a:ext cx="2182673"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02 · THE ARCHITECTURE</a:t>
              </a:r>
            </a:p>
          </p:txBody>
        </p:sp>
        <p:sp>
          <p:nvSpPr>
            <p:cNvPr id="4" name="TextBox 4"/>
            <p:cNvSpPr txBox="1"/>
            <p:nvPr/>
          </p:nvSpPr>
          <p:spPr>
            <a:xfrm>
              <a:off x="747522" y="682942"/>
              <a:ext cx="6245393"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Six identical layers on each side</a:t>
              </a:r>
            </a:p>
          </p:txBody>
        </p:sp>
      </p:grpSp>
      <p:grpSp>
        <p:nvGrpSpPr>
          <p:cNvPr id="35" name="Group 35"/>
          <p:cNvGrpSpPr/>
          <p:nvPr/>
        </p:nvGrpSpPr>
        <p:grpSpPr>
          <a:xfrm>
            <a:off x="1971465" y="2009299"/>
            <a:ext cx="2743410" cy="3905440"/>
            <a:chOff x="1971465" y="2009299"/>
            <a:chExt cx="2743410" cy="3905440"/>
          </a:xfrm>
        </p:grpSpPr>
        <p:sp>
          <p:nvSpPr>
            <p:cNvPr id="6" name="TextBox 6"/>
            <p:cNvSpPr txBox="1"/>
            <p:nvPr/>
          </p:nvSpPr>
          <p:spPr>
            <a:xfrm>
              <a:off x="2707823" y="2009299"/>
              <a:ext cx="1347104" cy="190690"/>
            </a:xfrm>
            <a:prstGeom prst="rect">
              <a:avLst/>
            </a:prstGeom>
            <a:noFill/>
            <a:ln>
              <a:noFill/>
            </a:ln>
          </p:spPr>
          <p:txBody>
            <a:bodyPr wrap="none" lIns="0" tIns="0" rIns="0" bIns="0" anchor="t" anchorCtr="0">
              <a:spAutoFit/>
            </a:bodyPr>
            <a:lstStyle/>
            <a:p>
              <a:pPr algn="ctr"/>
              <a:r>
                <a:rPr lang="en-US" sz="980" spc="150" dirty="0">
                  <a:solidFill>
                    <a:srgbClr val="9CC3E6"/>
                  </a:solidFill>
                  <a:latin typeface="Consolas"/>
                  <a:ea typeface="Consolas"/>
                  <a:cs typeface="Consolas"/>
                </a:rPr>
                <a:t>ENCODER · N = 6</a:t>
              </a:r>
            </a:p>
          </p:txBody>
        </p:sp>
        <p:sp>
          <p:nvSpPr>
            <p:cNvPr id="7" name="Rectangle 7"/>
            <p:cNvSpPr/>
            <p:nvPr/>
          </p:nvSpPr>
          <p:spPr>
            <a:xfrm>
              <a:off x="2286000" y="2209800"/>
              <a:ext cx="2286000" cy="2552700"/>
            </a:xfrm>
            <a:prstGeom prst="rect">
              <a:avLst/>
            </a:prstGeom>
            <a:noFill/>
            <a:ln w="9525">
              <a:solidFill>
                <a:srgbClr val="9CC3E6"/>
              </a:solidFill>
              <a:prstDash val="dash"/>
            </a:ln>
          </p:spPr>
        </p:sp>
        <p:grpSp>
          <p:nvGrpSpPr>
            <p:cNvPr id="16" name="Group 16"/>
            <p:cNvGrpSpPr/>
            <p:nvPr/>
          </p:nvGrpSpPr>
          <p:grpSpPr>
            <a:xfrm>
              <a:off x="2428875" y="2743200"/>
              <a:ext cx="1905000" cy="1790700"/>
              <a:chOff x="2428875" y="2743200"/>
              <a:chExt cx="1905000" cy="1790700"/>
            </a:xfrm>
          </p:grpSpPr>
          <p:sp>
            <p:nvSpPr>
              <p:cNvPr id="8" name="Rectangle 8"/>
              <p:cNvSpPr/>
              <p:nvPr/>
            </p:nvSpPr>
            <p:spPr>
              <a:xfrm>
                <a:off x="2428875" y="4191000"/>
                <a:ext cx="1905000" cy="342900"/>
              </a:xfrm>
              <a:prstGeom prst="roundRect">
                <a:avLst>
                  <a:gd name="adj" fmla="val 8333"/>
                </a:avLst>
              </a:prstGeom>
              <a:solidFill>
                <a:srgbClr val="10284A"/>
              </a:solidFill>
              <a:ln w="14288">
                <a:solidFill>
                  <a:srgbClr val="F5A623"/>
                </a:solidFill>
              </a:ln>
            </p:spPr>
          </p:sp>
          <p:sp>
            <p:nvSpPr>
              <p:cNvPr id="9" name="TextBox 9"/>
              <p:cNvSpPr txBox="1"/>
              <p:nvPr/>
            </p:nvSpPr>
            <p:spPr>
              <a:xfrm>
                <a:off x="2648350" y="4296728"/>
                <a:ext cx="1466050"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Multi-Head Attention</a:t>
                </a:r>
              </a:p>
            </p:txBody>
          </p:sp>
          <p:sp>
            <p:nvSpPr>
              <p:cNvPr id="10" name="Rectangle 10"/>
              <p:cNvSpPr/>
              <p:nvPr/>
            </p:nvSpPr>
            <p:spPr>
              <a:xfrm>
                <a:off x="2428875" y="3790950"/>
                <a:ext cx="1905000" cy="228600"/>
              </a:xfrm>
              <a:prstGeom prst="roundRect">
                <a:avLst>
                  <a:gd name="adj" fmla="val 12500"/>
                </a:avLst>
              </a:prstGeom>
              <a:solidFill>
                <a:srgbClr val="10284A"/>
              </a:solidFill>
              <a:ln w="9525">
                <a:solidFill>
                  <a:srgbClr val="9CC3E6"/>
                </a:solidFill>
              </a:ln>
            </p:spPr>
          </p:sp>
          <p:sp>
            <p:nvSpPr>
              <p:cNvPr id="11" name="TextBox 11"/>
              <p:cNvSpPr txBox="1"/>
              <p:nvPr/>
            </p:nvSpPr>
            <p:spPr>
              <a:xfrm>
                <a:off x="3027863" y="3847624"/>
                <a:ext cx="707024" cy="190690"/>
              </a:xfrm>
              <a:prstGeom prst="rect">
                <a:avLst/>
              </a:prstGeom>
              <a:noFill/>
              <a:ln>
                <a:noFill/>
              </a:ln>
            </p:spPr>
            <p:txBody>
              <a:bodyPr wrap="none" lIns="0" tIns="0" rIns="0" bIns="0" anchor="t" anchorCtr="0">
                <a:spAutoFit/>
              </a:bodyPr>
              <a:lstStyle/>
              <a:p>
                <a:pPr algn="ctr"/>
                <a:r>
                  <a:rPr lang="en-US" sz="980" dirty="0">
                    <a:solidFill>
                      <a:srgbClr val="E8F1FA"/>
                    </a:solidFill>
                    <a:latin typeface="Segoe UI"/>
                    <a:ea typeface="Segoe UI"/>
                    <a:cs typeface="Segoe UI"/>
                  </a:rPr>
                  <a:t>Add &amp; Norm</a:t>
                </a:r>
              </a:p>
            </p:txBody>
          </p:sp>
          <p:sp>
            <p:nvSpPr>
              <p:cNvPr id="12" name="Rectangle 12"/>
              <p:cNvSpPr/>
              <p:nvPr/>
            </p:nvSpPr>
            <p:spPr>
              <a:xfrm>
                <a:off x="2428875" y="3143250"/>
                <a:ext cx="1905000" cy="342900"/>
              </a:xfrm>
              <a:prstGeom prst="roundRect">
                <a:avLst>
                  <a:gd name="adj" fmla="val 8333"/>
                </a:avLst>
              </a:prstGeom>
              <a:solidFill>
                <a:srgbClr val="10284A"/>
              </a:solidFill>
              <a:ln w="14288">
                <a:solidFill>
                  <a:srgbClr val="9CC3E6"/>
                </a:solidFill>
              </a:ln>
            </p:spPr>
          </p:sp>
          <p:sp>
            <p:nvSpPr>
              <p:cNvPr id="13" name="TextBox 13"/>
              <p:cNvSpPr txBox="1"/>
              <p:nvPr/>
            </p:nvSpPr>
            <p:spPr>
              <a:xfrm>
                <a:off x="2908352" y="3248978"/>
                <a:ext cx="946046"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Feed Forward</a:t>
                </a:r>
              </a:p>
            </p:txBody>
          </p:sp>
          <p:sp>
            <p:nvSpPr>
              <p:cNvPr id="14" name="Rectangle 14"/>
              <p:cNvSpPr/>
              <p:nvPr/>
            </p:nvSpPr>
            <p:spPr>
              <a:xfrm>
                <a:off x="2428875" y="2743200"/>
                <a:ext cx="1905000" cy="228600"/>
              </a:xfrm>
              <a:prstGeom prst="roundRect">
                <a:avLst>
                  <a:gd name="adj" fmla="val 12500"/>
                </a:avLst>
              </a:prstGeom>
              <a:solidFill>
                <a:srgbClr val="10284A"/>
              </a:solidFill>
              <a:ln w="9525">
                <a:solidFill>
                  <a:srgbClr val="9CC3E6"/>
                </a:solidFill>
              </a:ln>
            </p:spPr>
          </p:sp>
          <p:sp>
            <p:nvSpPr>
              <p:cNvPr id="15" name="TextBox 15"/>
              <p:cNvSpPr txBox="1"/>
              <p:nvPr/>
            </p:nvSpPr>
            <p:spPr>
              <a:xfrm>
                <a:off x="3027863" y="2799874"/>
                <a:ext cx="707024" cy="190690"/>
              </a:xfrm>
              <a:prstGeom prst="rect">
                <a:avLst/>
              </a:prstGeom>
              <a:noFill/>
              <a:ln>
                <a:noFill/>
              </a:ln>
            </p:spPr>
            <p:txBody>
              <a:bodyPr wrap="none" lIns="0" tIns="0" rIns="0" bIns="0" anchor="t" anchorCtr="0">
                <a:spAutoFit/>
              </a:bodyPr>
              <a:lstStyle/>
              <a:p>
                <a:pPr algn="ctr"/>
                <a:r>
                  <a:rPr lang="en-US" sz="980" dirty="0">
                    <a:solidFill>
                      <a:srgbClr val="E8F1FA"/>
                    </a:solidFill>
                    <a:latin typeface="Segoe UI"/>
                    <a:ea typeface="Segoe UI"/>
                    <a:cs typeface="Segoe UI"/>
                  </a:rPr>
                  <a:t>Add &amp; Norm</a:t>
                </a:r>
              </a:p>
            </p:txBody>
          </p:sp>
        </p:grpSp>
        <p:grpSp>
          <p:nvGrpSpPr>
            <p:cNvPr id="27" name="Group 27"/>
            <p:cNvGrpSpPr/>
            <p:nvPr/>
          </p:nvGrpSpPr>
          <p:grpSpPr>
            <a:xfrm>
              <a:off x="2247900" y="2457450"/>
              <a:ext cx="2466975" cy="3181350"/>
              <a:chOff x="2247900" y="2457450"/>
              <a:chExt cx="2466975" cy="3181350"/>
            </a:xfrm>
          </p:grpSpPr>
          <p:sp>
            <p:nvSpPr>
              <p:cNvPr id="17" name="Line 17"/>
              <p:cNvSpPr/>
              <p:nvPr/>
            </p:nvSpPr>
            <p:spPr>
              <a:xfrm flipV="1">
                <a:off x="3381375" y="5486400"/>
                <a:ext cx="1" cy="152400"/>
              </a:xfrm>
              <a:prstGeom prst="line">
                <a:avLst/>
              </a:prstGeom>
              <a:noFill/>
              <a:ln w="14288">
                <a:solidFill>
                  <a:srgbClr val="9CC3E6"/>
                </a:solidFill>
                <a:tailEnd type="triangle" w="lg" len="lg"/>
              </a:ln>
            </p:spPr>
          </p:sp>
          <p:sp>
            <p:nvSpPr>
              <p:cNvPr id="18" name="Line 18"/>
              <p:cNvSpPr/>
              <p:nvPr/>
            </p:nvSpPr>
            <p:spPr>
              <a:xfrm flipV="1">
                <a:off x="3381375" y="4972050"/>
                <a:ext cx="1" cy="171450"/>
              </a:xfrm>
              <a:prstGeom prst="line">
                <a:avLst/>
              </a:prstGeom>
              <a:noFill/>
              <a:ln w="14288">
                <a:solidFill>
                  <a:srgbClr val="9CC3E6"/>
                </a:solidFill>
                <a:tailEnd type="triangle" w="lg" len="lg"/>
              </a:ln>
            </p:spPr>
          </p:sp>
          <p:sp>
            <p:nvSpPr>
              <p:cNvPr id="19" name="Line 19"/>
              <p:cNvSpPr/>
              <p:nvPr/>
            </p:nvSpPr>
            <p:spPr>
              <a:xfrm flipV="1">
                <a:off x="3381375" y="4552950"/>
                <a:ext cx="1" cy="200025"/>
              </a:xfrm>
              <a:prstGeom prst="line">
                <a:avLst/>
              </a:prstGeom>
              <a:noFill/>
              <a:ln w="14288">
                <a:solidFill>
                  <a:srgbClr val="9CC3E6"/>
                </a:solidFill>
                <a:tailEnd type="triangle" w="lg" len="lg"/>
              </a:ln>
            </p:spPr>
          </p:sp>
          <p:sp>
            <p:nvSpPr>
              <p:cNvPr id="20" name="Line 20"/>
              <p:cNvSpPr/>
              <p:nvPr/>
            </p:nvSpPr>
            <p:spPr>
              <a:xfrm flipV="1">
                <a:off x="3381375" y="4038600"/>
                <a:ext cx="1" cy="152400"/>
              </a:xfrm>
              <a:prstGeom prst="line">
                <a:avLst/>
              </a:prstGeom>
              <a:noFill/>
              <a:ln w="14288">
                <a:solidFill>
                  <a:srgbClr val="9CC3E6"/>
                </a:solidFill>
                <a:tailEnd type="triangle" w="lg" len="lg"/>
              </a:ln>
            </p:spPr>
          </p:sp>
          <p:sp>
            <p:nvSpPr>
              <p:cNvPr id="21" name="Line 21"/>
              <p:cNvSpPr/>
              <p:nvPr/>
            </p:nvSpPr>
            <p:spPr>
              <a:xfrm flipV="1">
                <a:off x="3381375" y="3505200"/>
                <a:ext cx="1" cy="285750"/>
              </a:xfrm>
              <a:prstGeom prst="line">
                <a:avLst/>
              </a:prstGeom>
              <a:noFill/>
              <a:ln w="14288">
                <a:solidFill>
                  <a:srgbClr val="9CC3E6"/>
                </a:solidFill>
                <a:tailEnd type="triangle" w="lg" len="lg"/>
              </a:ln>
            </p:spPr>
          </p:sp>
          <p:sp>
            <p:nvSpPr>
              <p:cNvPr id="22" name="Line 22"/>
              <p:cNvSpPr/>
              <p:nvPr/>
            </p:nvSpPr>
            <p:spPr>
              <a:xfrm flipV="1">
                <a:off x="3381375" y="2990850"/>
                <a:ext cx="1" cy="152400"/>
              </a:xfrm>
              <a:prstGeom prst="line">
                <a:avLst/>
              </a:prstGeom>
              <a:noFill/>
              <a:ln w="14288">
                <a:solidFill>
                  <a:srgbClr val="9CC3E6"/>
                </a:solidFill>
                <a:tailEnd type="triangle" w="lg" len="lg"/>
              </a:ln>
            </p:spPr>
          </p:sp>
          <p:sp>
            <p:nvSpPr>
              <p:cNvPr id="23" name="Polyline 23"/>
              <p:cNvSpPr/>
              <p:nvPr/>
            </p:nvSpPr>
            <p:spPr>
              <a:xfrm>
                <a:off x="3381375" y="2457450"/>
                <a:ext cx="1333500" cy="285750"/>
              </a:xfrm>
              <a:custGeom>
                <a:avLst/>
                <a:gdLst/>
                <a:ahLst/>
                <a:cxnLst/>
                <a:rect l="l" t="t" r="r" b="b"/>
                <a:pathLst>
                  <a:path w="1333500" h="285750">
                    <a:moveTo>
                      <a:pt x="0" y="285750"/>
                    </a:moveTo>
                    <a:lnTo>
                      <a:pt x="0" y="0"/>
                    </a:lnTo>
                    <a:lnTo>
                      <a:pt x="1333500" y="0"/>
                    </a:lnTo>
                  </a:path>
                </a:pathLst>
              </a:custGeom>
              <a:noFill/>
              <a:ln w="14288">
                <a:solidFill>
                  <a:srgbClr val="9CC3E6"/>
                </a:solidFill>
              </a:ln>
            </p:spPr>
          </p:sp>
          <p:sp>
            <p:nvSpPr>
              <p:cNvPr id="24" name="Freeform 24"/>
              <p:cNvSpPr/>
              <p:nvPr/>
            </p:nvSpPr>
            <p:spPr>
              <a:xfrm>
                <a:off x="3381375" y="3905250"/>
                <a:ext cx="1095375" cy="762000"/>
              </a:xfrm>
              <a:custGeom>
                <a:avLst/>
                <a:gdLst/>
                <a:ahLst/>
                <a:cxnLst/>
                <a:rect l="l" t="t" r="r" b="b"/>
                <a:pathLst>
                  <a:path w="1095375" h="762000">
                    <a:moveTo>
                      <a:pt x="0" y="762000"/>
                    </a:moveTo>
                    <a:lnTo>
                      <a:pt x="1095375" y="762000"/>
                    </a:lnTo>
                    <a:lnTo>
                      <a:pt x="1095375" y="0"/>
                    </a:lnTo>
                    <a:lnTo>
                      <a:pt x="971550" y="0"/>
                    </a:lnTo>
                  </a:path>
                </a:pathLst>
              </a:custGeom>
              <a:noFill/>
              <a:ln w="14288">
                <a:solidFill>
                  <a:srgbClr val="9CC3E6"/>
                </a:solidFill>
                <a:tailEnd type="triangle" w="lg" len="lg"/>
              </a:ln>
            </p:spPr>
          </p:sp>
          <p:sp>
            <p:nvSpPr>
              <p:cNvPr id="25" name="Freeform 25"/>
              <p:cNvSpPr/>
              <p:nvPr/>
            </p:nvSpPr>
            <p:spPr>
              <a:xfrm>
                <a:off x="3381375" y="2857500"/>
                <a:ext cx="1095375" cy="781050"/>
              </a:xfrm>
              <a:custGeom>
                <a:avLst/>
                <a:gdLst/>
                <a:ahLst/>
                <a:cxnLst/>
                <a:rect l="l" t="t" r="r" b="b"/>
                <a:pathLst>
                  <a:path w="1095375" h="781050">
                    <a:moveTo>
                      <a:pt x="0" y="781050"/>
                    </a:moveTo>
                    <a:lnTo>
                      <a:pt x="1095375" y="781050"/>
                    </a:lnTo>
                    <a:lnTo>
                      <a:pt x="1095375" y="0"/>
                    </a:lnTo>
                    <a:lnTo>
                      <a:pt x="971550" y="0"/>
                    </a:lnTo>
                  </a:path>
                </a:pathLst>
              </a:custGeom>
              <a:noFill/>
              <a:ln w="14288">
                <a:solidFill>
                  <a:srgbClr val="9CC3E6"/>
                </a:solidFill>
                <a:tailEnd type="triangle" w="lg" len="lg"/>
              </a:ln>
            </p:spPr>
          </p:sp>
          <p:sp>
            <p:nvSpPr>
              <p:cNvPr id="26" name="Line 26"/>
              <p:cNvSpPr/>
              <p:nvPr/>
            </p:nvSpPr>
            <p:spPr>
              <a:xfrm>
                <a:off x="2247900" y="4857750"/>
                <a:ext cx="1009650" cy="1"/>
              </a:xfrm>
              <a:prstGeom prst="line">
                <a:avLst/>
              </a:prstGeom>
              <a:noFill/>
              <a:ln w="14288">
                <a:solidFill>
                  <a:srgbClr val="9CC3E6"/>
                </a:solidFill>
                <a:tailEnd type="triangle" w="lg" len="lg"/>
              </a:ln>
            </p:spPr>
          </p:sp>
        </p:grpSp>
        <p:sp>
          <p:nvSpPr>
            <p:cNvPr id="28" name="Ellipse 28"/>
            <p:cNvSpPr/>
            <p:nvPr/>
          </p:nvSpPr>
          <p:spPr>
            <a:xfrm>
              <a:off x="3276600" y="4752975"/>
              <a:ext cx="209550" cy="209550"/>
            </a:xfrm>
            <a:prstGeom prst="ellipse">
              <a:avLst/>
            </a:prstGeom>
            <a:solidFill>
              <a:srgbClr val="10284A"/>
            </a:solidFill>
            <a:ln w="14288">
              <a:solidFill>
                <a:srgbClr val="9CC3E6"/>
              </a:solidFill>
            </a:ln>
          </p:spPr>
        </p:sp>
        <p:sp>
          <p:nvSpPr>
            <p:cNvPr id="29" name="TextBox 29"/>
            <p:cNvSpPr txBox="1"/>
            <p:nvPr/>
          </p:nvSpPr>
          <p:spPr>
            <a:xfrm>
              <a:off x="3330854" y="4785360"/>
              <a:ext cx="101041"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a:t>
              </a:r>
            </a:p>
          </p:txBody>
        </p:sp>
        <p:sp>
          <p:nvSpPr>
            <p:cNvPr id="30" name="Freeform 30"/>
            <p:cNvSpPr/>
            <p:nvPr/>
          </p:nvSpPr>
          <p:spPr>
            <a:xfrm>
              <a:off x="1971465" y="4667250"/>
              <a:ext cx="171660" cy="152400"/>
            </a:xfrm>
            <a:custGeom>
              <a:avLst/>
              <a:gdLst/>
              <a:ahLst/>
              <a:cxnLst/>
              <a:rect l="l" t="t" r="r" b="b"/>
              <a:pathLst>
                <a:path w="171660" h="152400">
                  <a:moveTo>
                    <a:pt x="171660" y="76200"/>
                  </a:moveTo>
                  <a:lnTo>
                    <a:pt x="152610" y="76200"/>
                  </a:lnTo>
                  <a:cubicBezTo>
                    <a:pt x="144094" y="76200"/>
                    <a:pt x="136779" y="68037"/>
                    <a:pt x="135836" y="57150"/>
                  </a:cubicBezTo>
                  <a:cubicBezTo>
                    <a:pt x="133017" y="24289"/>
                    <a:pt x="128702" y="0"/>
                    <a:pt x="109652" y="0"/>
                  </a:cubicBezTo>
                  <a:cubicBezTo>
                    <a:pt x="90602" y="0"/>
                    <a:pt x="85839" y="34119"/>
                    <a:pt x="85839" y="76200"/>
                  </a:cubicBezTo>
                  <a:cubicBezTo>
                    <a:pt x="85839" y="118281"/>
                    <a:pt x="81077" y="152400"/>
                    <a:pt x="62027" y="152400"/>
                  </a:cubicBezTo>
                  <a:cubicBezTo>
                    <a:pt x="42977" y="152400"/>
                    <a:pt x="38672" y="128140"/>
                    <a:pt x="35843" y="95250"/>
                  </a:cubicBezTo>
                  <a:cubicBezTo>
                    <a:pt x="34890" y="84325"/>
                    <a:pt x="27584" y="76200"/>
                    <a:pt x="19050" y="76200"/>
                  </a:cubicBezTo>
                  <a:lnTo>
                    <a:pt x="0" y="76200"/>
                  </a:lnTo>
                </a:path>
              </a:pathLst>
            </a:custGeom>
            <a:noFill/>
            <a:ln w="19050">
              <a:solidFill>
                <a:srgbClr val="9CC3E6"/>
              </a:solidFill>
            </a:ln>
          </p:spPr>
        </p:sp>
        <p:sp>
          <p:nvSpPr>
            <p:cNvPr id="31" name="TextBox 31"/>
            <p:cNvSpPr txBox="1"/>
            <p:nvPr/>
          </p:nvSpPr>
          <p:spPr>
            <a:xfrm>
              <a:off x="2075376" y="5016341"/>
              <a:ext cx="1373749" cy="161925"/>
            </a:xfrm>
            <a:prstGeom prst="rect">
              <a:avLst/>
            </a:prstGeom>
            <a:noFill/>
            <a:ln>
              <a:noFill/>
            </a:ln>
          </p:spPr>
          <p:txBody>
            <a:bodyPr wrap="none" lIns="0" tIns="0" rIns="0" bIns="0" anchor="t" anchorCtr="0">
              <a:spAutoFit/>
            </a:bodyPr>
            <a:lstStyle/>
            <a:p>
              <a:pPr algn="ctr"/>
              <a:r>
                <a:rPr lang="en-US" sz="820" spc="75" dirty="0">
                  <a:solidFill>
                    <a:srgbClr val="9CB4CC"/>
                  </a:solidFill>
                  <a:latin typeface="Consolas"/>
                  <a:ea typeface="Consolas"/>
                  <a:cs typeface="Consolas"/>
                </a:rPr>
                <a:t>POSITIONAL ENCODING</a:t>
              </a:r>
            </a:p>
          </p:txBody>
        </p:sp>
        <p:sp>
          <p:nvSpPr>
            <p:cNvPr id="32" name="Rectangle 32"/>
            <p:cNvSpPr/>
            <p:nvPr/>
          </p:nvSpPr>
          <p:spPr>
            <a:xfrm>
              <a:off x="2428875" y="5143500"/>
              <a:ext cx="1905000" cy="323850"/>
            </a:xfrm>
            <a:prstGeom prst="roundRect">
              <a:avLst>
                <a:gd name="adj" fmla="val 8824"/>
              </a:avLst>
            </a:prstGeom>
            <a:solidFill>
              <a:srgbClr val="10284A"/>
            </a:solidFill>
            <a:ln w="14288">
              <a:solidFill>
                <a:srgbClr val="9CC3E6"/>
              </a:solidFill>
            </a:ln>
          </p:spPr>
        </p:sp>
        <p:sp>
          <p:nvSpPr>
            <p:cNvPr id="33" name="TextBox 33"/>
            <p:cNvSpPr txBox="1"/>
            <p:nvPr/>
          </p:nvSpPr>
          <p:spPr>
            <a:xfrm>
              <a:off x="2827439" y="5239702"/>
              <a:ext cx="1107872"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Input Embedding</a:t>
              </a:r>
            </a:p>
          </p:txBody>
        </p:sp>
        <p:sp>
          <p:nvSpPr>
            <p:cNvPr id="34" name="TextBox 34"/>
            <p:cNvSpPr txBox="1"/>
            <p:nvPr/>
          </p:nvSpPr>
          <p:spPr>
            <a:xfrm>
              <a:off x="3163844" y="5724049"/>
              <a:ext cx="435061" cy="190690"/>
            </a:xfrm>
            <a:prstGeom prst="rect">
              <a:avLst/>
            </a:prstGeom>
            <a:noFill/>
            <a:ln>
              <a:noFill/>
            </a:ln>
          </p:spPr>
          <p:txBody>
            <a:bodyPr wrap="none" lIns="0" tIns="0" rIns="0" bIns="0" anchor="t" anchorCtr="0">
              <a:spAutoFit/>
            </a:bodyPr>
            <a:lstStyle/>
            <a:p>
              <a:pPr algn="ctr"/>
              <a:r>
                <a:rPr lang="en-US" sz="980" dirty="0">
                  <a:solidFill>
                    <a:srgbClr val="9CB4CC"/>
                  </a:solidFill>
                  <a:latin typeface="Consolas"/>
                  <a:ea typeface="Consolas"/>
                  <a:cs typeface="Consolas"/>
                </a:rPr>
                <a:t>INPUTS</a:t>
              </a:r>
            </a:p>
          </p:txBody>
        </p:sp>
      </p:grpSp>
      <p:grpSp>
        <p:nvGrpSpPr>
          <p:cNvPr id="72" name="Group 72"/>
          <p:cNvGrpSpPr/>
          <p:nvPr/>
        </p:nvGrpSpPr>
        <p:grpSpPr>
          <a:xfrm>
            <a:off x="4714875" y="1352074"/>
            <a:ext cx="3095625" cy="4562665"/>
            <a:chOff x="4714875" y="1352074"/>
            <a:chExt cx="3095625" cy="4562665"/>
          </a:xfrm>
        </p:grpSpPr>
        <p:sp>
          <p:nvSpPr>
            <p:cNvPr id="36" name="Freeform 36"/>
            <p:cNvSpPr/>
            <p:nvPr/>
          </p:nvSpPr>
          <p:spPr>
            <a:xfrm>
              <a:off x="4714875" y="2457450"/>
              <a:ext cx="838200" cy="1104900"/>
            </a:xfrm>
            <a:custGeom>
              <a:avLst/>
              <a:gdLst/>
              <a:ahLst/>
              <a:cxnLst/>
              <a:rect l="l" t="t" r="r" b="b"/>
              <a:pathLst>
                <a:path w="838200" h="1104900">
                  <a:moveTo>
                    <a:pt x="0" y="0"/>
                  </a:moveTo>
                  <a:lnTo>
                    <a:pt x="238125" y="0"/>
                  </a:lnTo>
                  <a:lnTo>
                    <a:pt x="238125" y="1104900"/>
                  </a:lnTo>
                  <a:lnTo>
                    <a:pt x="838200" y="1104900"/>
                  </a:lnTo>
                </a:path>
              </a:pathLst>
            </a:custGeom>
            <a:noFill/>
            <a:ln w="14288">
              <a:solidFill>
                <a:srgbClr val="9CC3E6"/>
              </a:solidFill>
              <a:tailEnd type="triangle" w="lg" len="lg"/>
            </a:ln>
          </p:spPr>
        </p:sp>
        <p:sp>
          <p:nvSpPr>
            <p:cNvPr id="37" name="TextBox 37"/>
            <p:cNvSpPr txBox="1"/>
            <p:nvPr/>
          </p:nvSpPr>
          <p:spPr>
            <a:xfrm>
              <a:off x="5851073" y="1352074"/>
              <a:ext cx="1347104" cy="190690"/>
            </a:xfrm>
            <a:prstGeom prst="rect">
              <a:avLst/>
            </a:prstGeom>
            <a:noFill/>
            <a:ln>
              <a:noFill/>
            </a:ln>
          </p:spPr>
          <p:txBody>
            <a:bodyPr wrap="none" lIns="0" tIns="0" rIns="0" bIns="0" anchor="t" anchorCtr="0">
              <a:spAutoFit/>
            </a:bodyPr>
            <a:lstStyle/>
            <a:p>
              <a:pPr algn="ctr"/>
              <a:r>
                <a:rPr lang="en-US" sz="980" spc="150" dirty="0">
                  <a:solidFill>
                    <a:srgbClr val="9CC3E6"/>
                  </a:solidFill>
                  <a:latin typeface="Consolas"/>
                  <a:ea typeface="Consolas"/>
                  <a:cs typeface="Consolas"/>
                </a:rPr>
                <a:t>DECODER · N = 6</a:t>
              </a:r>
            </a:p>
          </p:txBody>
        </p:sp>
        <p:sp>
          <p:nvSpPr>
            <p:cNvPr id="38" name="Rectangle 38"/>
            <p:cNvSpPr/>
            <p:nvPr/>
          </p:nvSpPr>
          <p:spPr>
            <a:xfrm>
              <a:off x="5429250" y="1504950"/>
              <a:ext cx="2286000" cy="3257550"/>
            </a:xfrm>
            <a:prstGeom prst="rect">
              <a:avLst/>
            </a:prstGeom>
            <a:noFill/>
            <a:ln w="9525">
              <a:solidFill>
                <a:srgbClr val="9CC3E6"/>
              </a:solidFill>
              <a:prstDash val="dash"/>
            </a:ln>
          </p:spPr>
        </p:sp>
        <p:grpSp>
          <p:nvGrpSpPr>
            <p:cNvPr id="51" name="Group 51"/>
            <p:cNvGrpSpPr/>
            <p:nvPr/>
          </p:nvGrpSpPr>
          <p:grpSpPr>
            <a:xfrm>
              <a:off x="5572125" y="2095500"/>
              <a:ext cx="1905000" cy="2580990"/>
              <a:chOff x="5572125" y="2095500"/>
              <a:chExt cx="1905000" cy="2580990"/>
            </a:xfrm>
          </p:grpSpPr>
          <p:sp>
            <p:nvSpPr>
              <p:cNvPr id="39" name="Rectangle 39"/>
              <p:cNvSpPr/>
              <p:nvPr/>
            </p:nvSpPr>
            <p:spPr>
              <a:xfrm>
                <a:off x="5572125" y="4305300"/>
                <a:ext cx="1905000" cy="342900"/>
              </a:xfrm>
              <a:prstGeom prst="roundRect">
                <a:avLst>
                  <a:gd name="adj" fmla="val 8333"/>
                </a:avLst>
              </a:prstGeom>
              <a:solidFill>
                <a:srgbClr val="10284A"/>
              </a:solidFill>
              <a:ln w="14288">
                <a:solidFill>
                  <a:srgbClr val="F5A623"/>
                </a:solidFill>
              </a:ln>
            </p:spPr>
          </p:sp>
          <p:sp>
            <p:nvSpPr>
              <p:cNvPr id="40" name="TextBox 40"/>
              <p:cNvSpPr txBox="1"/>
              <p:nvPr/>
            </p:nvSpPr>
            <p:spPr>
              <a:xfrm>
                <a:off x="5959602" y="4342924"/>
                <a:ext cx="1130046" cy="333566"/>
              </a:xfrm>
              <a:prstGeom prst="rect">
                <a:avLst/>
              </a:prstGeom>
              <a:noFill/>
              <a:ln>
                <a:noFill/>
              </a:ln>
            </p:spPr>
            <p:txBody>
              <a:bodyPr wrap="none" lIns="0" tIns="0" rIns="0" bIns="0" anchor="t" anchorCtr="0">
                <a:spAutoFit/>
              </a:bodyPr>
              <a:lstStyle/>
              <a:p>
                <a:pPr algn="ctr">
                  <a:lnSpc>
                    <a:spcPts val="1125"/>
                  </a:lnSpc>
                </a:pPr>
                <a:r>
                  <a:rPr lang="en-US" sz="980" dirty="0">
                    <a:solidFill>
                      <a:srgbClr val="E8F1FA"/>
                    </a:solidFill>
                    <a:latin typeface="Segoe UI"/>
                    <a:ea typeface="Segoe UI"/>
                    <a:cs typeface="Segoe UI"/>
                  </a:rPr>
                  <a:t>Masked Multi-Head</a:t>
                </a:r>
                <a:br/>
                <a:r>
                  <a:rPr lang="en-US" sz="980" dirty="0">
                    <a:solidFill>
                      <a:srgbClr val="E8F1FA"/>
                    </a:solidFill>
                    <a:latin typeface="Segoe UI"/>
                    <a:ea typeface="Segoe UI"/>
                    <a:cs typeface="Segoe UI"/>
                  </a:rPr>
                  <a:t>Attention</a:t>
                </a:r>
              </a:p>
            </p:txBody>
          </p:sp>
          <p:sp>
            <p:nvSpPr>
              <p:cNvPr id="41" name="Rectangle 41"/>
              <p:cNvSpPr/>
              <p:nvPr/>
            </p:nvSpPr>
            <p:spPr>
              <a:xfrm>
                <a:off x="5572125" y="3924300"/>
                <a:ext cx="1905000" cy="228600"/>
              </a:xfrm>
              <a:prstGeom prst="roundRect">
                <a:avLst>
                  <a:gd name="adj" fmla="val 12500"/>
                </a:avLst>
              </a:prstGeom>
              <a:solidFill>
                <a:srgbClr val="10284A"/>
              </a:solidFill>
              <a:ln w="9525">
                <a:solidFill>
                  <a:srgbClr val="9CC3E6"/>
                </a:solidFill>
              </a:ln>
            </p:spPr>
          </p:sp>
          <p:sp>
            <p:nvSpPr>
              <p:cNvPr id="42" name="TextBox 42"/>
              <p:cNvSpPr txBox="1"/>
              <p:nvPr/>
            </p:nvSpPr>
            <p:spPr>
              <a:xfrm>
                <a:off x="6171113" y="3980974"/>
                <a:ext cx="707024" cy="190690"/>
              </a:xfrm>
              <a:prstGeom prst="rect">
                <a:avLst/>
              </a:prstGeom>
              <a:noFill/>
              <a:ln>
                <a:noFill/>
              </a:ln>
            </p:spPr>
            <p:txBody>
              <a:bodyPr wrap="none" lIns="0" tIns="0" rIns="0" bIns="0" anchor="t" anchorCtr="0">
                <a:spAutoFit/>
              </a:bodyPr>
              <a:lstStyle/>
              <a:p>
                <a:pPr algn="ctr"/>
                <a:r>
                  <a:rPr lang="en-US" sz="980" dirty="0">
                    <a:solidFill>
                      <a:srgbClr val="E8F1FA"/>
                    </a:solidFill>
                    <a:latin typeface="Segoe UI"/>
                    <a:ea typeface="Segoe UI"/>
                    <a:cs typeface="Segoe UI"/>
                  </a:rPr>
                  <a:t>Add &amp; Norm</a:t>
                </a:r>
              </a:p>
            </p:txBody>
          </p:sp>
          <p:sp>
            <p:nvSpPr>
              <p:cNvPr id="43" name="Rectangle 43"/>
              <p:cNvSpPr/>
              <p:nvPr/>
            </p:nvSpPr>
            <p:spPr>
              <a:xfrm>
                <a:off x="5572125" y="3390900"/>
                <a:ext cx="1905000" cy="342900"/>
              </a:xfrm>
              <a:prstGeom prst="roundRect">
                <a:avLst>
                  <a:gd name="adj" fmla="val 8333"/>
                </a:avLst>
              </a:prstGeom>
              <a:solidFill>
                <a:srgbClr val="10284A"/>
              </a:solidFill>
              <a:ln w="14288">
                <a:solidFill>
                  <a:srgbClr val="F5A623"/>
                </a:solidFill>
              </a:ln>
            </p:spPr>
          </p:sp>
          <p:sp>
            <p:nvSpPr>
              <p:cNvPr id="44" name="TextBox 44"/>
              <p:cNvSpPr txBox="1"/>
              <p:nvPr/>
            </p:nvSpPr>
            <p:spPr>
              <a:xfrm>
                <a:off x="5791600" y="3496628"/>
                <a:ext cx="1466050"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Multi-Head Attention</a:t>
                </a:r>
              </a:p>
            </p:txBody>
          </p:sp>
          <p:sp>
            <p:nvSpPr>
              <p:cNvPr id="45" name="Rectangle 45"/>
              <p:cNvSpPr/>
              <p:nvPr/>
            </p:nvSpPr>
            <p:spPr>
              <a:xfrm>
                <a:off x="5572125" y="3009900"/>
                <a:ext cx="1905000" cy="228600"/>
              </a:xfrm>
              <a:prstGeom prst="roundRect">
                <a:avLst>
                  <a:gd name="adj" fmla="val 12500"/>
                </a:avLst>
              </a:prstGeom>
              <a:solidFill>
                <a:srgbClr val="10284A"/>
              </a:solidFill>
              <a:ln w="9525">
                <a:solidFill>
                  <a:srgbClr val="9CC3E6"/>
                </a:solidFill>
              </a:ln>
            </p:spPr>
          </p:sp>
          <p:sp>
            <p:nvSpPr>
              <p:cNvPr id="46" name="TextBox 46"/>
              <p:cNvSpPr txBox="1"/>
              <p:nvPr/>
            </p:nvSpPr>
            <p:spPr>
              <a:xfrm>
                <a:off x="6171113" y="3066574"/>
                <a:ext cx="707024" cy="190690"/>
              </a:xfrm>
              <a:prstGeom prst="rect">
                <a:avLst/>
              </a:prstGeom>
              <a:noFill/>
              <a:ln>
                <a:noFill/>
              </a:ln>
            </p:spPr>
            <p:txBody>
              <a:bodyPr wrap="none" lIns="0" tIns="0" rIns="0" bIns="0" anchor="t" anchorCtr="0">
                <a:spAutoFit/>
              </a:bodyPr>
              <a:lstStyle/>
              <a:p>
                <a:pPr algn="ctr"/>
                <a:r>
                  <a:rPr lang="en-US" sz="980" dirty="0">
                    <a:solidFill>
                      <a:srgbClr val="E8F1FA"/>
                    </a:solidFill>
                    <a:latin typeface="Segoe UI"/>
                    <a:ea typeface="Segoe UI"/>
                    <a:cs typeface="Segoe UI"/>
                  </a:rPr>
                  <a:t>Add &amp; Norm</a:t>
                </a:r>
              </a:p>
            </p:txBody>
          </p:sp>
          <p:sp>
            <p:nvSpPr>
              <p:cNvPr id="47" name="Rectangle 47"/>
              <p:cNvSpPr/>
              <p:nvPr/>
            </p:nvSpPr>
            <p:spPr>
              <a:xfrm>
                <a:off x="5572125" y="2476500"/>
                <a:ext cx="1905000" cy="342900"/>
              </a:xfrm>
              <a:prstGeom prst="roundRect">
                <a:avLst>
                  <a:gd name="adj" fmla="val 8333"/>
                </a:avLst>
              </a:prstGeom>
              <a:solidFill>
                <a:srgbClr val="10284A"/>
              </a:solidFill>
              <a:ln w="14288">
                <a:solidFill>
                  <a:srgbClr val="9CC3E6"/>
                </a:solidFill>
              </a:ln>
            </p:spPr>
          </p:sp>
          <p:sp>
            <p:nvSpPr>
              <p:cNvPr id="48" name="TextBox 48"/>
              <p:cNvSpPr txBox="1"/>
              <p:nvPr/>
            </p:nvSpPr>
            <p:spPr>
              <a:xfrm>
                <a:off x="6051602" y="2582228"/>
                <a:ext cx="946046"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Feed Forward</a:t>
                </a:r>
              </a:p>
            </p:txBody>
          </p:sp>
          <p:sp>
            <p:nvSpPr>
              <p:cNvPr id="49" name="Rectangle 49"/>
              <p:cNvSpPr/>
              <p:nvPr/>
            </p:nvSpPr>
            <p:spPr>
              <a:xfrm>
                <a:off x="5572125" y="2095500"/>
                <a:ext cx="1905000" cy="228600"/>
              </a:xfrm>
              <a:prstGeom prst="roundRect">
                <a:avLst>
                  <a:gd name="adj" fmla="val 12500"/>
                </a:avLst>
              </a:prstGeom>
              <a:solidFill>
                <a:srgbClr val="10284A"/>
              </a:solidFill>
              <a:ln w="9525">
                <a:solidFill>
                  <a:srgbClr val="9CC3E6"/>
                </a:solidFill>
              </a:ln>
            </p:spPr>
          </p:sp>
          <p:sp>
            <p:nvSpPr>
              <p:cNvPr id="50" name="TextBox 50"/>
              <p:cNvSpPr txBox="1"/>
              <p:nvPr/>
            </p:nvSpPr>
            <p:spPr>
              <a:xfrm>
                <a:off x="6171113" y="2152174"/>
                <a:ext cx="707024" cy="190690"/>
              </a:xfrm>
              <a:prstGeom prst="rect">
                <a:avLst/>
              </a:prstGeom>
              <a:noFill/>
              <a:ln>
                <a:noFill/>
              </a:ln>
            </p:spPr>
            <p:txBody>
              <a:bodyPr wrap="none" lIns="0" tIns="0" rIns="0" bIns="0" anchor="t" anchorCtr="0">
                <a:spAutoFit/>
              </a:bodyPr>
              <a:lstStyle/>
              <a:p>
                <a:pPr algn="ctr"/>
                <a:r>
                  <a:rPr lang="en-US" sz="980" dirty="0">
                    <a:solidFill>
                      <a:srgbClr val="E8F1FA"/>
                    </a:solidFill>
                    <a:latin typeface="Segoe UI"/>
                    <a:ea typeface="Segoe UI"/>
                    <a:cs typeface="Segoe UI"/>
                  </a:rPr>
                  <a:t>Add &amp; Norm</a:t>
                </a:r>
              </a:p>
            </p:txBody>
          </p:sp>
        </p:grpSp>
        <p:grpSp>
          <p:nvGrpSpPr>
            <p:cNvPr id="65" name="Group 65"/>
            <p:cNvGrpSpPr/>
            <p:nvPr/>
          </p:nvGrpSpPr>
          <p:grpSpPr>
            <a:xfrm>
              <a:off x="6524625" y="1809750"/>
              <a:ext cx="1285875" cy="3829050"/>
              <a:chOff x="6524625" y="1809750"/>
              <a:chExt cx="1285875" cy="3829050"/>
            </a:xfrm>
          </p:grpSpPr>
          <p:sp>
            <p:nvSpPr>
              <p:cNvPr id="52" name="Line 52"/>
              <p:cNvSpPr/>
              <p:nvPr/>
            </p:nvSpPr>
            <p:spPr>
              <a:xfrm flipV="1">
                <a:off x="6524625" y="5486400"/>
                <a:ext cx="1" cy="152400"/>
              </a:xfrm>
              <a:prstGeom prst="line">
                <a:avLst/>
              </a:prstGeom>
              <a:noFill/>
              <a:ln w="14288">
                <a:solidFill>
                  <a:srgbClr val="9CC3E6"/>
                </a:solidFill>
                <a:tailEnd type="triangle" w="lg" len="lg"/>
              </a:ln>
            </p:spPr>
          </p:sp>
          <p:sp>
            <p:nvSpPr>
              <p:cNvPr id="53" name="Line 53"/>
              <p:cNvSpPr/>
              <p:nvPr/>
            </p:nvSpPr>
            <p:spPr>
              <a:xfrm flipV="1">
                <a:off x="6524625" y="4972050"/>
                <a:ext cx="1" cy="171450"/>
              </a:xfrm>
              <a:prstGeom prst="line">
                <a:avLst/>
              </a:prstGeom>
              <a:noFill/>
              <a:ln w="14288">
                <a:solidFill>
                  <a:srgbClr val="9CC3E6"/>
                </a:solidFill>
                <a:tailEnd type="triangle" w="lg" len="lg"/>
              </a:ln>
            </p:spPr>
          </p:sp>
          <p:sp>
            <p:nvSpPr>
              <p:cNvPr id="54" name="Line 54"/>
              <p:cNvSpPr/>
              <p:nvPr/>
            </p:nvSpPr>
            <p:spPr>
              <a:xfrm flipV="1">
                <a:off x="6524625" y="4667250"/>
                <a:ext cx="1" cy="85725"/>
              </a:xfrm>
              <a:prstGeom prst="line">
                <a:avLst/>
              </a:prstGeom>
              <a:noFill/>
              <a:ln w="14288">
                <a:solidFill>
                  <a:srgbClr val="9CC3E6"/>
                </a:solidFill>
                <a:tailEnd type="triangle" w="lg" len="lg"/>
              </a:ln>
            </p:spPr>
          </p:sp>
          <p:sp>
            <p:nvSpPr>
              <p:cNvPr id="55" name="Line 55"/>
              <p:cNvSpPr/>
              <p:nvPr/>
            </p:nvSpPr>
            <p:spPr>
              <a:xfrm flipV="1">
                <a:off x="6524625" y="4171950"/>
                <a:ext cx="1" cy="133350"/>
              </a:xfrm>
              <a:prstGeom prst="line">
                <a:avLst/>
              </a:prstGeom>
              <a:noFill/>
              <a:ln w="14288">
                <a:solidFill>
                  <a:srgbClr val="9CC3E6"/>
                </a:solidFill>
                <a:tailEnd type="triangle" w="lg" len="lg"/>
              </a:ln>
            </p:spPr>
          </p:sp>
          <p:sp>
            <p:nvSpPr>
              <p:cNvPr id="56" name="Line 56"/>
              <p:cNvSpPr/>
              <p:nvPr/>
            </p:nvSpPr>
            <p:spPr>
              <a:xfrm flipV="1">
                <a:off x="6524625" y="3752850"/>
                <a:ext cx="1" cy="171450"/>
              </a:xfrm>
              <a:prstGeom prst="line">
                <a:avLst/>
              </a:prstGeom>
              <a:noFill/>
              <a:ln w="14288">
                <a:solidFill>
                  <a:srgbClr val="9CC3E6"/>
                </a:solidFill>
                <a:tailEnd type="triangle" w="lg" len="lg"/>
              </a:ln>
            </p:spPr>
          </p:sp>
          <p:sp>
            <p:nvSpPr>
              <p:cNvPr id="57" name="Line 57"/>
              <p:cNvSpPr/>
              <p:nvPr/>
            </p:nvSpPr>
            <p:spPr>
              <a:xfrm flipV="1">
                <a:off x="6524625" y="3257550"/>
                <a:ext cx="1" cy="133350"/>
              </a:xfrm>
              <a:prstGeom prst="line">
                <a:avLst/>
              </a:prstGeom>
              <a:noFill/>
              <a:ln w="14288">
                <a:solidFill>
                  <a:srgbClr val="9CC3E6"/>
                </a:solidFill>
                <a:tailEnd type="triangle" w="lg" len="lg"/>
              </a:ln>
            </p:spPr>
          </p:sp>
          <p:sp>
            <p:nvSpPr>
              <p:cNvPr id="58" name="Line 58"/>
              <p:cNvSpPr/>
              <p:nvPr/>
            </p:nvSpPr>
            <p:spPr>
              <a:xfrm flipV="1">
                <a:off x="6524625" y="2838450"/>
                <a:ext cx="1" cy="171450"/>
              </a:xfrm>
              <a:prstGeom prst="line">
                <a:avLst/>
              </a:prstGeom>
              <a:noFill/>
              <a:ln w="14288">
                <a:solidFill>
                  <a:srgbClr val="9CC3E6"/>
                </a:solidFill>
                <a:tailEnd type="triangle" w="lg" len="lg"/>
              </a:ln>
            </p:spPr>
          </p:sp>
          <p:sp>
            <p:nvSpPr>
              <p:cNvPr id="59" name="Line 59"/>
              <p:cNvSpPr/>
              <p:nvPr/>
            </p:nvSpPr>
            <p:spPr>
              <a:xfrm flipV="1">
                <a:off x="6524625" y="2343150"/>
                <a:ext cx="1" cy="133350"/>
              </a:xfrm>
              <a:prstGeom prst="line">
                <a:avLst/>
              </a:prstGeom>
              <a:noFill/>
              <a:ln w="14288">
                <a:solidFill>
                  <a:srgbClr val="9CC3E6"/>
                </a:solidFill>
                <a:tailEnd type="triangle" w="lg" len="lg"/>
              </a:ln>
            </p:spPr>
          </p:sp>
          <p:sp>
            <p:nvSpPr>
              <p:cNvPr id="60" name="Polyline 60"/>
              <p:cNvSpPr/>
              <p:nvPr/>
            </p:nvSpPr>
            <p:spPr>
              <a:xfrm>
                <a:off x="6524625" y="1809750"/>
                <a:ext cx="1285875" cy="285750"/>
              </a:xfrm>
              <a:custGeom>
                <a:avLst/>
                <a:gdLst/>
                <a:ahLst/>
                <a:cxnLst/>
                <a:rect l="l" t="t" r="r" b="b"/>
                <a:pathLst>
                  <a:path w="1285875" h="285750">
                    <a:moveTo>
                      <a:pt x="0" y="285750"/>
                    </a:moveTo>
                    <a:lnTo>
                      <a:pt x="0" y="0"/>
                    </a:lnTo>
                    <a:lnTo>
                      <a:pt x="1285875" y="0"/>
                    </a:lnTo>
                  </a:path>
                </a:pathLst>
              </a:custGeom>
              <a:noFill/>
              <a:ln w="14288">
                <a:solidFill>
                  <a:srgbClr val="9CC3E6"/>
                </a:solidFill>
              </a:ln>
            </p:spPr>
          </p:sp>
          <p:sp>
            <p:nvSpPr>
              <p:cNvPr id="61" name="Freeform 61"/>
              <p:cNvSpPr/>
              <p:nvPr/>
            </p:nvSpPr>
            <p:spPr>
              <a:xfrm>
                <a:off x="6524625" y="4038600"/>
                <a:ext cx="1095375" cy="657225"/>
              </a:xfrm>
              <a:custGeom>
                <a:avLst/>
                <a:gdLst/>
                <a:ahLst/>
                <a:cxnLst/>
                <a:rect l="l" t="t" r="r" b="b"/>
                <a:pathLst>
                  <a:path w="1095375" h="657225">
                    <a:moveTo>
                      <a:pt x="0" y="657225"/>
                    </a:moveTo>
                    <a:lnTo>
                      <a:pt x="1095375" y="657225"/>
                    </a:lnTo>
                    <a:lnTo>
                      <a:pt x="1095375" y="0"/>
                    </a:lnTo>
                    <a:lnTo>
                      <a:pt x="971550" y="0"/>
                    </a:lnTo>
                  </a:path>
                </a:pathLst>
              </a:custGeom>
              <a:noFill/>
              <a:ln w="14288">
                <a:solidFill>
                  <a:srgbClr val="9CC3E6"/>
                </a:solidFill>
                <a:tailEnd type="triangle" w="lg" len="lg"/>
              </a:ln>
            </p:spPr>
          </p:sp>
          <p:sp>
            <p:nvSpPr>
              <p:cNvPr id="62" name="Freeform 62"/>
              <p:cNvSpPr/>
              <p:nvPr/>
            </p:nvSpPr>
            <p:spPr>
              <a:xfrm>
                <a:off x="6524625" y="3124200"/>
                <a:ext cx="1095375" cy="685800"/>
              </a:xfrm>
              <a:custGeom>
                <a:avLst/>
                <a:gdLst/>
                <a:ahLst/>
                <a:cxnLst/>
                <a:rect l="l" t="t" r="r" b="b"/>
                <a:pathLst>
                  <a:path w="1095375" h="685800">
                    <a:moveTo>
                      <a:pt x="0" y="685800"/>
                    </a:moveTo>
                    <a:lnTo>
                      <a:pt x="1095375" y="685800"/>
                    </a:lnTo>
                    <a:lnTo>
                      <a:pt x="1095375" y="0"/>
                    </a:lnTo>
                    <a:lnTo>
                      <a:pt x="971550" y="0"/>
                    </a:lnTo>
                  </a:path>
                </a:pathLst>
              </a:custGeom>
              <a:noFill/>
              <a:ln w="14288">
                <a:solidFill>
                  <a:srgbClr val="9CC3E6"/>
                </a:solidFill>
                <a:tailEnd type="triangle" w="lg" len="lg"/>
              </a:ln>
            </p:spPr>
          </p:sp>
          <p:sp>
            <p:nvSpPr>
              <p:cNvPr id="63" name="Freeform 63"/>
              <p:cNvSpPr/>
              <p:nvPr/>
            </p:nvSpPr>
            <p:spPr>
              <a:xfrm>
                <a:off x="6524625" y="2209800"/>
                <a:ext cx="1095375" cy="685800"/>
              </a:xfrm>
              <a:custGeom>
                <a:avLst/>
                <a:gdLst/>
                <a:ahLst/>
                <a:cxnLst/>
                <a:rect l="l" t="t" r="r" b="b"/>
                <a:pathLst>
                  <a:path w="1095375" h="685800">
                    <a:moveTo>
                      <a:pt x="0" y="685800"/>
                    </a:moveTo>
                    <a:lnTo>
                      <a:pt x="1095375" y="685800"/>
                    </a:lnTo>
                    <a:lnTo>
                      <a:pt x="1095375" y="0"/>
                    </a:lnTo>
                    <a:lnTo>
                      <a:pt x="971550" y="0"/>
                    </a:lnTo>
                  </a:path>
                </a:pathLst>
              </a:custGeom>
              <a:noFill/>
              <a:ln w="14288">
                <a:solidFill>
                  <a:srgbClr val="9CC3E6"/>
                </a:solidFill>
                <a:tailEnd type="triangle" w="lg" len="lg"/>
              </a:ln>
            </p:spPr>
          </p:sp>
          <p:sp>
            <p:nvSpPr>
              <p:cNvPr id="64" name="Line 64"/>
              <p:cNvSpPr/>
              <p:nvPr/>
            </p:nvSpPr>
            <p:spPr>
              <a:xfrm flipH="1">
                <a:off x="6648450" y="4857750"/>
                <a:ext cx="971550" cy="1"/>
              </a:xfrm>
              <a:prstGeom prst="line">
                <a:avLst/>
              </a:prstGeom>
              <a:noFill/>
              <a:ln w="14288">
                <a:solidFill>
                  <a:srgbClr val="9CC3E6"/>
                </a:solidFill>
                <a:tailEnd type="triangle" w="lg" len="lg"/>
              </a:ln>
            </p:spPr>
          </p:sp>
        </p:grpSp>
        <p:sp>
          <p:nvSpPr>
            <p:cNvPr id="66" name="Ellipse 66"/>
            <p:cNvSpPr/>
            <p:nvPr/>
          </p:nvSpPr>
          <p:spPr>
            <a:xfrm>
              <a:off x="6419850" y="4752975"/>
              <a:ext cx="209550" cy="209550"/>
            </a:xfrm>
            <a:prstGeom prst="ellipse">
              <a:avLst/>
            </a:prstGeom>
            <a:solidFill>
              <a:srgbClr val="10284A"/>
            </a:solidFill>
            <a:ln w="14288">
              <a:solidFill>
                <a:srgbClr val="9CC3E6"/>
              </a:solidFill>
            </a:ln>
          </p:spPr>
        </p:sp>
        <p:sp>
          <p:nvSpPr>
            <p:cNvPr id="67" name="TextBox 67"/>
            <p:cNvSpPr txBox="1"/>
            <p:nvPr/>
          </p:nvSpPr>
          <p:spPr>
            <a:xfrm>
              <a:off x="6474104" y="4785360"/>
              <a:ext cx="101041"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a:t>
              </a:r>
            </a:p>
          </p:txBody>
        </p:sp>
        <p:sp>
          <p:nvSpPr>
            <p:cNvPr id="68" name="TextBox 68"/>
            <p:cNvSpPr txBox="1"/>
            <p:nvPr/>
          </p:nvSpPr>
          <p:spPr>
            <a:xfrm>
              <a:off x="6682885" y="5016341"/>
              <a:ext cx="959830" cy="161925"/>
            </a:xfrm>
            <a:prstGeom prst="rect">
              <a:avLst/>
            </a:prstGeom>
            <a:noFill/>
            <a:ln>
              <a:noFill/>
            </a:ln>
          </p:spPr>
          <p:txBody>
            <a:bodyPr wrap="none" lIns="0" tIns="0" rIns="0" bIns="0" anchor="t" anchorCtr="0">
              <a:spAutoFit/>
            </a:bodyPr>
            <a:lstStyle/>
            <a:p>
              <a:pPr algn="ctr"/>
              <a:r>
                <a:rPr lang="en-US" sz="820" spc="75" dirty="0">
                  <a:solidFill>
                    <a:srgbClr val="9CB4CC"/>
                  </a:solidFill>
                  <a:latin typeface="Consolas"/>
                  <a:ea typeface="Consolas"/>
                  <a:cs typeface="Consolas"/>
                </a:rPr>
                <a:t>POS. ENCODING</a:t>
              </a:r>
            </a:p>
          </p:txBody>
        </p:sp>
        <p:sp>
          <p:nvSpPr>
            <p:cNvPr id="69" name="Rectangle 69"/>
            <p:cNvSpPr/>
            <p:nvPr/>
          </p:nvSpPr>
          <p:spPr>
            <a:xfrm>
              <a:off x="5572125" y="5143500"/>
              <a:ext cx="1905000" cy="323850"/>
            </a:xfrm>
            <a:prstGeom prst="roundRect">
              <a:avLst>
                <a:gd name="adj" fmla="val 8824"/>
              </a:avLst>
            </a:prstGeom>
            <a:solidFill>
              <a:srgbClr val="10284A"/>
            </a:solidFill>
            <a:ln w="14288">
              <a:solidFill>
                <a:srgbClr val="9CC3E6"/>
              </a:solidFill>
            </a:ln>
          </p:spPr>
        </p:sp>
        <p:sp>
          <p:nvSpPr>
            <p:cNvPr id="70" name="TextBox 70"/>
            <p:cNvSpPr txBox="1"/>
            <p:nvPr/>
          </p:nvSpPr>
          <p:spPr>
            <a:xfrm>
              <a:off x="5899774" y="5239702"/>
              <a:ext cx="1249703"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Output Embedding</a:t>
              </a:r>
            </a:p>
          </p:txBody>
        </p:sp>
        <p:sp>
          <p:nvSpPr>
            <p:cNvPr id="71" name="TextBox 71"/>
            <p:cNvSpPr txBox="1"/>
            <p:nvPr/>
          </p:nvSpPr>
          <p:spPr>
            <a:xfrm>
              <a:off x="5693755" y="5724049"/>
              <a:ext cx="1661739" cy="190690"/>
            </a:xfrm>
            <a:prstGeom prst="rect">
              <a:avLst/>
            </a:prstGeom>
            <a:noFill/>
            <a:ln>
              <a:noFill/>
            </a:ln>
          </p:spPr>
          <p:txBody>
            <a:bodyPr wrap="none" lIns="0" tIns="0" rIns="0" bIns="0" anchor="t" anchorCtr="0">
              <a:spAutoFit/>
            </a:bodyPr>
            <a:lstStyle/>
            <a:p>
              <a:pPr algn="ctr"/>
              <a:r>
                <a:rPr lang="en-US" sz="980" dirty="0">
                  <a:solidFill>
                    <a:srgbClr val="9CB4CC"/>
                  </a:solidFill>
                  <a:latin typeface="Consolas"/>
                  <a:ea typeface="Consolas"/>
                  <a:cs typeface="Consolas"/>
                </a:rPr>
                <a:t>OUTPUTS (SHIFTED RIGHT)</a:t>
              </a:r>
            </a:p>
          </p:txBody>
        </p:sp>
      </p:grpSp>
      <p:grpSp>
        <p:nvGrpSpPr>
          <p:cNvPr id="81" name="Group 81"/>
          <p:cNvGrpSpPr/>
          <p:nvPr/>
        </p:nvGrpSpPr>
        <p:grpSpPr>
          <a:xfrm>
            <a:off x="7810500" y="1638300"/>
            <a:ext cx="3301937" cy="342900"/>
            <a:chOff x="7810500" y="1638300"/>
            <a:chExt cx="3301937" cy="342900"/>
          </a:xfrm>
        </p:grpSpPr>
        <p:sp>
          <p:nvSpPr>
            <p:cNvPr id="73" name="Line 73"/>
            <p:cNvSpPr/>
            <p:nvPr/>
          </p:nvSpPr>
          <p:spPr>
            <a:xfrm>
              <a:off x="7810500" y="1809750"/>
              <a:ext cx="171450" cy="1"/>
            </a:xfrm>
            <a:prstGeom prst="line">
              <a:avLst/>
            </a:prstGeom>
            <a:noFill/>
            <a:ln w="14288">
              <a:solidFill>
                <a:srgbClr val="9CC3E6"/>
              </a:solidFill>
              <a:tailEnd type="triangle" w="lg" len="lg"/>
            </a:ln>
          </p:spPr>
        </p:sp>
        <p:sp>
          <p:nvSpPr>
            <p:cNvPr id="74" name="Rectangle 74"/>
            <p:cNvSpPr/>
            <p:nvPr/>
          </p:nvSpPr>
          <p:spPr>
            <a:xfrm>
              <a:off x="8001000" y="1638300"/>
              <a:ext cx="857250" cy="342900"/>
            </a:xfrm>
            <a:prstGeom prst="roundRect">
              <a:avLst>
                <a:gd name="adj" fmla="val 8333"/>
              </a:avLst>
            </a:prstGeom>
            <a:solidFill>
              <a:srgbClr val="10284A"/>
            </a:solidFill>
            <a:ln w="14288">
              <a:solidFill>
                <a:srgbClr val="9CC3E6"/>
              </a:solidFill>
            </a:ln>
          </p:spPr>
        </p:sp>
        <p:sp>
          <p:nvSpPr>
            <p:cNvPr id="75" name="TextBox 75"/>
            <p:cNvSpPr txBox="1"/>
            <p:nvPr/>
          </p:nvSpPr>
          <p:spPr>
            <a:xfrm>
              <a:off x="8206697" y="1744028"/>
              <a:ext cx="445856"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Linear</a:t>
              </a:r>
            </a:p>
          </p:txBody>
        </p:sp>
        <p:sp>
          <p:nvSpPr>
            <p:cNvPr id="76" name="Line 76"/>
            <p:cNvSpPr/>
            <p:nvPr/>
          </p:nvSpPr>
          <p:spPr>
            <a:xfrm>
              <a:off x="8858250" y="1809750"/>
              <a:ext cx="171450" cy="1"/>
            </a:xfrm>
            <a:prstGeom prst="line">
              <a:avLst/>
            </a:prstGeom>
            <a:noFill/>
            <a:ln w="14288">
              <a:solidFill>
                <a:srgbClr val="9CC3E6"/>
              </a:solidFill>
              <a:tailEnd type="triangle" w="lg" len="lg"/>
            </a:ln>
          </p:spPr>
        </p:sp>
        <p:sp>
          <p:nvSpPr>
            <p:cNvPr id="77" name="Rectangle 77"/>
            <p:cNvSpPr/>
            <p:nvPr/>
          </p:nvSpPr>
          <p:spPr>
            <a:xfrm>
              <a:off x="9048750" y="1638300"/>
              <a:ext cx="857250" cy="342900"/>
            </a:xfrm>
            <a:prstGeom prst="roundRect">
              <a:avLst>
                <a:gd name="adj" fmla="val 8333"/>
              </a:avLst>
            </a:prstGeom>
            <a:solidFill>
              <a:srgbClr val="10284A"/>
            </a:solidFill>
            <a:ln w="14288">
              <a:solidFill>
                <a:srgbClr val="F5A623"/>
              </a:solidFill>
            </a:ln>
          </p:spPr>
        </p:sp>
        <p:sp>
          <p:nvSpPr>
            <p:cNvPr id="78" name="TextBox 78"/>
            <p:cNvSpPr txBox="1"/>
            <p:nvPr/>
          </p:nvSpPr>
          <p:spPr>
            <a:xfrm>
              <a:off x="9183491" y="1744028"/>
              <a:ext cx="587769"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Softmax</a:t>
              </a:r>
            </a:p>
          </p:txBody>
        </p:sp>
        <p:sp>
          <p:nvSpPr>
            <p:cNvPr id="79" name="Line 79"/>
            <p:cNvSpPr/>
            <p:nvPr/>
          </p:nvSpPr>
          <p:spPr>
            <a:xfrm>
              <a:off x="9906000" y="1809750"/>
              <a:ext cx="342900" cy="1"/>
            </a:xfrm>
            <a:prstGeom prst="line">
              <a:avLst/>
            </a:prstGeom>
            <a:noFill/>
            <a:ln w="14288">
              <a:solidFill>
                <a:srgbClr val="9CC3E6"/>
              </a:solidFill>
              <a:tailEnd type="triangle" w="lg" len="lg"/>
            </a:ln>
          </p:spPr>
        </p:sp>
        <p:sp>
          <p:nvSpPr>
            <p:cNvPr id="80" name="TextBox 80"/>
            <p:cNvSpPr txBox="1"/>
            <p:nvPr/>
          </p:nvSpPr>
          <p:spPr>
            <a:xfrm>
              <a:off x="10301288" y="1682591"/>
              <a:ext cx="811149" cy="295275"/>
            </a:xfrm>
            <a:prstGeom prst="rect">
              <a:avLst/>
            </a:prstGeom>
            <a:noFill/>
            <a:ln>
              <a:noFill/>
            </a:ln>
          </p:spPr>
          <p:txBody>
            <a:bodyPr wrap="none" lIns="0" tIns="0" rIns="0" bIns="0" anchor="t" anchorCtr="0">
              <a:spAutoFit/>
            </a:bodyPr>
            <a:lstStyle/>
            <a:p>
              <a:pPr algn="l">
                <a:lnSpc>
                  <a:spcPts val="1050"/>
                </a:lnSpc>
              </a:pPr>
              <a:r>
                <a:rPr lang="en-US" sz="820" spc="75" dirty="0">
                  <a:solidFill>
                    <a:srgbClr val="9CB4CC"/>
                  </a:solidFill>
                  <a:latin typeface="Consolas"/>
                  <a:ea typeface="Consolas"/>
                  <a:cs typeface="Consolas"/>
                </a:rPr>
                <a:t>OUTPUT</a:t>
              </a:r>
              <a:br/>
              <a:r>
                <a:rPr lang="en-US" sz="820" spc="75" dirty="0">
                  <a:solidFill>
                    <a:srgbClr val="9CB4CC"/>
                  </a:solidFill>
                  <a:latin typeface="Consolas"/>
                  <a:ea typeface="Consolas"/>
                  <a:cs typeface="Consolas"/>
                </a:rPr>
                <a:t>PROBABILITIES</a:t>
              </a:r>
            </a:p>
          </p:txBody>
        </p:sp>
      </p:grpSp>
      <p:grpSp>
        <p:nvGrpSpPr>
          <p:cNvPr id="103" name="Group 103"/>
          <p:cNvGrpSpPr/>
          <p:nvPr/>
        </p:nvGrpSpPr>
        <p:grpSpPr>
          <a:xfrm>
            <a:off x="7877175" y="2247900"/>
            <a:ext cx="3230331" cy="3619500"/>
            <a:chOff x="7877175" y="2247900"/>
            <a:chExt cx="3230331" cy="3619500"/>
          </a:xfrm>
        </p:grpSpPr>
        <p:sp>
          <p:nvSpPr>
            <p:cNvPr id="82" name="Line 82"/>
            <p:cNvSpPr/>
            <p:nvPr/>
          </p:nvSpPr>
          <p:spPr>
            <a:xfrm>
              <a:off x="7905750" y="2247900"/>
              <a:ext cx="9525" cy="3619500"/>
            </a:xfrm>
            <a:custGeom>
              <a:avLst/>
              <a:gdLst/>
              <a:ahLst/>
              <a:cxnLst/>
              <a:rect l="l" t="t" r="r" b="b"/>
              <a:pathLst>
                <a:path w="9525" h="3619500">
                  <a:moveTo>
                    <a:pt x="0" y="0"/>
                  </a:moveTo>
                  <a:lnTo>
                    <a:pt x="0" y="3619500"/>
                  </a:lnTo>
                </a:path>
              </a:pathLst>
            </a:custGeom>
            <a:noFill/>
            <a:ln w="9525">
              <a:solidFill>
                <a:srgbClr val="3C5A80"/>
              </a:solidFill>
            </a:ln>
          </p:spPr>
        </p:sp>
        <p:grpSp>
          <p:nvGrpSpPr>
            <p:cNvPr id="86" name="Group 86"/>
            <p:cNvGrpSpPr/>
            <p:nvPr/>
          </p:nvGrpSpPr>
          <p:grpSpPr>
            <a:xfrm>
              <a:off x="7877175" y="2382202"/>
              <a:ext cx="3230331" cy="447104"/>
              <a:chOff x="7877175" y="2382202"/>
              <a:chExt cx="3230331" cy="447104"/>
            </a:xfrm>
          </p:grpSpPr>
          <p:sp>
            <p:nvSpPr>
              <p:cNvPr id="83" name="Ellipse 83"/>
              <p:cNvSpPr/>
              <p:nvPr/>
            </p:nvSpPr>
            <p:spPr>
              <a:xfrm>
                <a:off x="7877175" y="2409825"/>
                <a:ext cx="57150" cy="57150"/>
              </a:xfrm>
              <a:prstGeom prst="ellipse">
                <a:avLst/>
              </a:prstGeom>
              <a:solidFill>
                <a:srgbClr val="F5A623"/>
              </a:solidFill>
              <a:ln>
                <a:noFill/>
              </a:ln>
            </p:spPr>
          </p:sp>
          <p:sp>
            <p:nvSpPr>
              <p:cNvPr id="84" name="TextBox 84"/>
              <p:cNvSpPr txBox="1"/>
              <p:nvPr/>
            </p:nvSpPr>
            <p:spPr>
              <a:xfrm>
                <a:off x="8109966" y="2382202"/>
                <a:ext cx="943585"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d_model = 512</a:t>
                </a:r>
              </a:p>
            </p:txBody>
          </p:sp>
          <p:sp>
            <p:nvSpPr>
              <p:cNvPr id="85" name="TextBox 85"/>
              <p:cNvSpPr txBox="1"/>
              <p:nvPr/>
            </p:nvSpPr>
            <p:spPr>
              <a:xfrm>
                <a:off x="8109204" y="2594610"/>
                <a:ext cx="2998302" cy="234696"/>
              </a:xfrm>
              <a:prstGeom prst="rect">
                <a:avLst/>
              </a:prstGeom>
              <a:noFill/>
              <a:ln>
                <a:noFill/>
              </a:ln>
            </p:spPr>
            <p:txBody>
              <a:bodyPr wrap="none" lIns="0" tIns="0" rIns="0" bIns="0" anchor="t" anchorCtr="0">
                <a:spAutoFit/>
              </a:bodyPr>
              <a:lstStyle/>
              <a:p>
                <a:pPr algn="l"/>
                <a:r>
                  <a:rPr lang="en-US" sz="1200" dirty="0">
                    <a:solidFill>
                      <a:srgbClr val="C9DBEA"/>
                    </a:solidFill>
                    <a:latin typeface="Segoe UI"/>
                    <a:ea typeface="Segoe UI"/>
                    <a:cs typeface="Segoe UI"/>
                  </a:rPr>
                  <a:t>One width for every sub-layer output</a:t>
                </a:r>
              </a:p>
            </p:txBody>
          </p:sp>
        </p:grpSp>
        <p:grpSp>
          <p:nvGrpSpPr>
            <p:cNvPr id="90" name="Group 90"/>
            <p:cNvGrpSpPr/>
            <p:nvPr/>
          </p:nvGrpSpPr>
          <p:grpSpPr>
            <a:xfrm>
              <a:off x="7877175" y="3068002"/>
              <a:ext cx="2877388" cy="447104"/>
              <a:chOff x="7877175" y="3068002"/>
              <a:chExt cx="2877388" cy="447104"/>
            </a:xfrm>
          </p:grpSpPr>
          <p:sp>
            <p:nvSpPr>
              <p:cNvPr id="87" name="Ellipse 87"/>
              <p:cNvSpPr/>
              <p:nvPr/>
            </p:nvSpPr>
            <p:spPr>
              <a:xfrm>
                <a:off x="7877175" y="3095625"/>
                <a:ext cx="57150" cy="57150"/>
              </a:xfrm>
              <a:prstGeom prst="ellipse">
                <a:avLst/>
              </a:prstGeom>
              <a:solidFill>
                <a:srgbClr val="F5A623"/>
              </a:solidFill>
              <a:ln>
                <a:noFill/>
              </a:ln>
            </p:spPr>
          </p:sp>
          <p:sp>
            <p:nvSpPr>
              <p:cNvPr id="88" name="TextBox 88"/>
              <p:cNvSpPr txBox="1"/>
              <p:nvPr/>
            </p:nvSpPr>
            <p:spPr>
              <a:xfrm>
                <a:off x="8109966" y="3068002"/>
                <a:ext cx="1438313"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h = 8 · d_k = d_v = 64</a:t>
                </a:r>
              </a:p>
            </p:txBody>
          </p:sp>
          <p:sp>
            <p:nvSpPr>
              <p:cNvPr id="89" name="TextBox 89"/>
              <p:cNvSpPr txBox="1"/>
              <p:nvPr/>
            </p:nvSpPr>
            <p:spPr>
              <a:xfrm>
                <a:off x="8109204" y="3280410"/>
                <a:ext cx="2645359" cy="234696"/>
              </a:xfrm>
              <a:prstGeom prst="rect">
                <a:avLst/>
              </a:prstGeom>
              <a:noFill/>
              <a:ln>
                <a:noFill/>
              </a:ln>
            </p:spPr>
            <p:txBody>
              <a:bodyPr wrap="none" lIns="0" tIns="0" rIns="0" bIns="0" anchor="t" anchorCtr="0">
                <a:spAutoFit/>
              </a:bodyPr>
              <a:lstStyle/>
              <a:p>
                <a:pPr algn="l"/>
                <a:r>
                  <a:rPr lang="en-US" sz="1200" dirty="0">
                    <a:solidFill>
                      <a:srgbClr val="C9DBEA"/>
                    </a:solidFill>
                    <a:latin typeface="Segoe UI"/>
                    <a:ea typeface="Segoe UI"/>
                    <a:cs typeface="Segoe UI"/>
                  </a:rPr>
                  <a:t>8 heads, each a 64-wide subspace</a:t>
                </a:r>
              </a:p>
            </p:txBody>
          </p:sp>
        </p:grpSp>
        <p:grpSp>
          <p:nvGrpSpPr>
            <p:cNvPr id="94" name="Group 94"/>
            <p:cNvGrpSpPr/>
            <p:nvPr/>
          </p:nvGrpSpPr>
          <p:grpSpPr>
            <a:xfrm>
              <a:off x="7877175" y="3753802"/>
              <a:ext cx="2964294" cy="480175"/>
              <a:chOff x="7877175" y="3753802"/>
              <a:chExt cx="2964294" cy="480175"/>
            </a:xfrm>
          </p:grpSpPr>
          <p:sp>
            <p:nvSpPr>
              <p:cNvPr id="91" name="Ellipse 91"/>
              <p:cNvSpPr/>
              <p:nvPr/>
            </p:nvSpPr>
            <p:spPr>
              <a:xfrm>
                <a:off x="7877175" y="3781425"/>
                <a:ext cx="57150" cy="57150"/>
              </a:xfrm>
              <a:prstGeom prst="ellipse">
                <a:avLst/>
              </a:prstGeom>
              <a:solidFill>
                <a:srgbClr val="F5A623"/>
              </a:solidFill>
              <a:ln>
                <a:noFill/>
              </a:ln>
            </p:spPr>
          </p:sp>
          <p:sp>
            <p:nvSpPr>
              <p:cNvPr id="92" name="TextBox 92"/>
              <p:cNvSpPr txBox="1"/>
              <p:nvPr/>
            </p:nvSpPr>
            <p:spPr>
              <a:xfrm>
                <a:off x="8109966" y="3753802"/>
                <a:ext cx="1890636"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d_ff = 2048 · position-wise</a:t>
                </a:r>
              </a:p>
            </p:txBody>
          </p:sp>
          <mc:AlternateContent xmlns:mc="http://schemas.openxmlformats.org/markup-compatibility/2006">
            <mc:Choice xmlns:a14="http://schemas.microsoft.com/office/drawing/2010/main" Requires="a14">
              <p:sp>
                <p:nvSpPr>
                  <p:cNvPr id="93" name="TextBox 93"/>
                  <p:cNvSpPr txBox="1"/>
                  <p:nvPr/>
                </p:nvSpPr>
                <p:spPr>
                  <a:xfrm>
                    <a:off x="8109204" y="3958590"/>
                    <a:ext cx="2732265" cy="275387"/>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en-US" sz="1200" dirty="0">
                            <a:solidFill>
                              <a:srgbClr val="C9DBEA"/>
                            </a:solidFill>
                            <a:latin typeface="Cambria Math"/>
                            <a:ea typeface="Cambria Math"/>
                            <a:cs typeface="Cambria Math"/>
                          </a:rPr>
                          <m:t>FFN</m:t>
                        </m:r>
                        <m:d>
                          <m:dPr>
                            <m:begChr m:val="("/>
                            <m:sepChr m:val=""/>
                            <m:endChr m:val=")"/>
                            <m:grow m:val="on"/>
                            <m:ctrlPr>
                              <a:rPr lang="en-US" sz="1200" dirty="0">
                                <a:solidFill>
                                  <a:srgbClr val="C9DBEA"/>
                                </a:solidFill>
                                <a:latin typeface="Cambria Math"/>
                                <a:ea typeface="Cambria Math"/>
                                <a:cs typeface="Cambria Math"/>
                              </a:rPr>
                            </m:ctrlPr>
                          </m:dPr>
                          <m:e>
                            <m:r>
                              <a:rPr lang="en-US" sz="1200" dirty="0">
                                <a:solidFill>
                                  <a:srgbClr val="C9DBEA"/>
                                </a:solidFill>
                                <a:latin typeface="Cambria Math"/>
                                <a:ea typeface="Cambria Math"/>
                                <a:cs typeface="Cambria Math"/>
                              </a:rPr>
                              <m:t>x</m:t>
                            </m:r>
                          </m:e>
                        </m:d>
                        <m:r>
                          <m:rPr>
                            <m:sty m:val="p"/>
                          </m:rPr>
                          <a:rPr lang="en-US" sz="1200" dirty="0">
                            <a:solidFill>
                              <a:srgbClr val="C9DBEA"/>
                            </a:solidFill>
                            <a:latin typeface="Cambria Math"/>
                            <a:ea typeface="Cambria Math"/>
                            <a:cs typeface="Cambria Math"/>
                          </a:rPr>
                          <m:t>=</m:t>
                        </m:r>
                        <m:func>
                          <m:funcPr/>
                          <m:fName>
                            <m:r>
                              <m:rPr>
                                <m:sty m:val="p"/>
                              </m:rPr>
                              <a:rPr lang="en-US" sz="1200" dirty="0">
                                <a:solidFill>
                                  <a:srgbClr val="C9DBEA"/>
                                </a:solidFill>
                                <a:latin typeface="Cambria Math"/>
                                <a:ea typeface="Cambria Math"/>
                                <a:cs typeface="Cambria Math"/>
                              </a:rPr>
                              <m:t>max</m:t>
                            </m:r>
                          </m:fName>
                          <m:e>
                            <m:d>
                              <m:dPr>
                                <m:begChr m:val="("/>
                                <m:sepChr m:val=""/>
                                <m:endChr m:val=")"/>
                                <m:grow m:val="on"/>
                                <m:ctrlPr>
                                  <a:rPr lang="en-US" sz="1200" dirty="0">
                                    <a:solidFill>
                                      <a:srgbClr val="C9DBEA"/>
                                    </a:solidFill>
                                    <a:latin typeface="Cambria Math"/>
                                    <a:ea typeface="Cambria Math"/>
                                    <a:cs typeface="Cambria Math"/>
                                  </a:rPr>
                                </m:ctrlPr>
                              </m:dPr>
                              <m:e>
                                <m:r>
                                  <a:rPr lang="en-US" sz="1200" dirty="0">
                                    <a:solidFill>
                                      <a:srgbClr val="C9DBEA"/>
                                    </a:solidFill>
                                    <a:latin typeface="Cambria Math"/>
                                    <a:ea typeface="Cambria Math"/>
                                    <a:cs typeface="Cambria Math"/>
                                  </a:rPr>
                                  <m:t>0</m:t>
                                </m:r>
                                <m:r>
                                  <m:rPr>
                                    <m:sty m:val="p"/>
                                  </m:rPr>
                                  <a:rPr lang="en-US" sz="1200" dirty="0">
                                    <a:solidFill>
                                      <a:srgbClr val="C9DBEA"/>
                                    </a:solidFill>
                                    <a:latin typeface="Cambria Math"/>
                                    <a:ea typeface="Cambria Math"/>
                                    <a:cs typeface="Cambria Math"/>
                                  </a:rPr>
                                  <m:t>,</m:t>
                                </m:r>
                                <m:r>
                                  <a:rPr lang="en-US" sz="1200" dirty="0">
                                    <a:solidFill>
                                      <a:srgbClr val="C9DBEA"/>
                                    </a:solidFill>
                                    <a:latin typeface="Cambria Math"/>
                                    <a:ea typeface="Cambria Math"/>
                                    <a:cs typeface="Cambria Math"/>
                                  </a:rPr>
                                  <m:t xml:space="preserve"> </m:t>
                                </m:r>
                                <m:r>
                                  <a:rPr lang="en-US" sz="1200" dirty="0">
                                    <a:solidFill>
                                      <a:srgbClr val="C9DBEA"/>
                                    </a:solidFill>
                                    <a:latin typeface="Cambria Math"/>
                                    <a:ea typeface="Cambria Math"/>
                                    <a:cs typeface="Cambria Math"/>
                                  </a:rPr>
                                  <m:t>x</m:t>
                                </m:r>
                                <m:sSub>
                                  <m:e>
                                    <m:r>
                                      <a:rPr lang="en-US" sz="1200" dirty="0">
                                        <a:solidFill>
                                          <a:srgbClr val="C9DBEA"/>
                                        </a:solidFill>
                                        <a:latin typeface="Cambria Math"/>
                                        <a:ea typeface="Cambria Math"/>
                                        <a:cs typeface="Cambria Math"/>
                                      </a:rPr>
                                      <m:t>W</m:t>
                                    </m:r>
                                  </m:e>
                                  <m:sub>
                                    <m:r>
                                      <a:rPr lang="en-US" sz="1200" dirty="0">
                                        <a:solidFill>
                                          <a:srgbClr val="C9DBEA"/>
                                        </a:solidFill>
                                        <a:latin typeface="Cambria Math"/>
                                        <a:ea typeface="Cambria Math"/>
                                        <a:cs typeface="Cambria Math"/>
                                      </a:rPr>
                                      <m:t>1</m:t>
                                    </m:r>
                                  </m:sub>
                                </m:sSub>
                                <m:r>
                                  <m:rPr>
                                    <m:sty m:val="p"/>
                                  </m:rPr>
                                  <a:rPr lang="en-US" sz="1200" dirty="0">
                                    <a:solidFill>
                                      <a:srgbClr val="C9DBEA"/>
                                    </a:solidFill>
                                    <a:latin typeface="Cambria Math"/>
                                    <a:ea typeface="Cambria Math"/>
                                    <a:cs typeface="Cambria Math"/>
                                  </a:rPr>
                                  <m:t>+</m:t>
                                </m:r>
                                <m:sSub>
                                  <m:e>
                                    <m:r>
                                      <a:rPr lang="en-US" sz="1200" dirty="0">
                                        <a:solidFill>
                                          <a:srgbClr val="C9DBEA"/>
                                        </a:solidFill>
                                        <a:latin typeface="Cambria Math"/>
                                        <a:ea typeface="Cambria Math"/>
                                        <a:cs typeface="Cambria Math"/>
                                      </a:rPr>
                                      <m:t>b</m:t>
                                    </m:r>
                                  </m:e>
                                  <m:sub>
                                    <m:r>
                                      <a:rPr lang="en-US" sz="1200" dirty="0">
                                        <a:solidFill>
                                          <a:srgbClr val="C9DBEA"/>
                                        </a:solidFill>
                                        <a:latin typeface="Cambria Math"/>
                                        <a:ea typeface="Cambria Math"/>
                                        <a:cs typeface="Cambria Math"/>
                                      </a:rPr>
                                      <m:t>1</m:t>
                                    </m:r>
                                  </m:sub>
                                </m:sSub>
                              </m:e>
                            </m:d>
                          </m:e>
                        </m:func>
                        <m:sSub>
                          <m:e>
                            <m:r>
                              <a:rPr lang="en-US" sz="1200" dirty="0">
                                <a:solidFill>
                                  <a:srgbClr val="C9DBEA"/>
                                </a:solidFill>
                                <a:latin typeface="Cambria Math"/>
                                <a:ea typeface="Cambria Math"/>
                                <a:cs typeface="Cambria Math"/>
                              </a:rPr>
                              <m:t>W</m:t>
                            </m:r>
                          </m:e>
                          <m:sub>
                            <m:r>
                              <a:rPr lang="en-US" sz="1200" dirty="0">
                                <a:solidFill>
                                  <a:srgbClr val="C9DBEA"/>
                                </a:solidFill>
                                <a:latin typeface="Cambria Math"/>
                                <a:ea typeface="Cambria Math"/>
                                <a:cs typeface="Cambria Math"/>
                              </a:rPr>
                              <m:t>2</m:t>
                            </m:r>
                          </m:sub>
                        </m:sSub>
                        <m:r>
                          <m:rPr>
                            <m:sty m:val="p"/>
                          </m:rPr>
                          <a:rPr lang="en-US" sz="1200" dirty="0">
                            <a:solidFill>
                              <a:srgbClr val="C9DBEA"/>
                            </a:solidFill>
                            <a:latin typeface="Cambria Math"/>
                            <a:ea typeface="Cambria Math"/>
                            <a:cs typeface="Cambria Math"/>
                          </a:rPr>
                          <m:t>+</m:t>
                        </m:r>
                        <m:sSub>
                          <m:e>
                            <m:r>
                              <a:rPr lang="en-US" sz="1200" dirty="0">
                                <a:solidFill>
                                  <a:srgbClr val="C9DBEA"/>
                                </a:solidFill>
                                <a:latin typeface="Cambria Math"/>
                                <a:ea typeface="Cambria Math"/>
                                <a:cs typeface="Cambria Math"/>
                              </a:rPr>
                              <m:t>b</m:t>
                            </m:r>
                          </m:e>
                          <m:sub>
                            <m:r>
                              <a:rPr lang="en-US" sz="1200" dirty="0">
                                <a:solidFill>
                                  <a:srgbClr val="C9DBEA"/>
                                </a:solidFill>
                                <a:latin typeface="Cambria Math"/>
                                <a:ea typeface="Cambria Math"/>
                                <a:cs typeface="Cambria Math"/>
                              </a:rPr>
                              <m:t>2</m:t>
                            </m:r>
                          </m:sub>
                        </m:sSub>
                      </m:oMath>
                    </a14:m>
                  </a:p>
                </p:txBody>
              </p:sp>
            </mc:Choice>
          </mc:AlternateContent>
        </p:grpSp>
        <p:grpSp>
          <p:nvGrpSpPr>
            <p:cNvPr id="98" name="Group 98"/>
            <p:cNvGrpSpPr/>
            <p:nvPr/>
          </p:nvGrpSpPr>
          <p:grpSpPr>
            <a:xfrm>
              <a:off x="7877175" y="4439602"/>
              <a:ext cx="2557914" cy="462344"/>
              <a:chOff x="7877175" y="4439602"/>
              <a:chExt cx="2557914" cy="462344"/>
            </a:xfrm>
          </p:grpSpPr>
          <p:sp>
            <p:nvSpPr>
              <p:cNvPr id="95" name="Ellipse 95"/>
              <p:cNvSpPr/>
              <p:nvPr/>
            </p:nvSpPr>
            <p:spPr>
              <a:xfrm>
                <a:off x="7877175" y="4467225"/>
                <a:ext cx="57150" cy="57150"/>
              </a:xfrm>
              <a:prstGeom prst="ellipse">
                <a:avLst/>
              </a:prstGeom>
              <a:solidFill>
                <a:srgbClr val="F5A623"/>
              </a:solidFill>
              <a:ln>
                <a:noFill/>
              </a:ln>
            </p:spPr>
          </p:sp>
          <p:sp>
            <p:nvSpPr>
              <p:cNvPr id="96" name="TextBox 96"/>
              <p:cNvSpPr txBox="1"/>
              <p:nvPr/>
            </p:nvSpPr>
            <p:spPr>
              <a:xfrm>
                <a:off x="8109966" y="4439602"/>
                <a:ext cx="2325123"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Add &amp; Norm around each sub-layer</a:t>
                </a:r>
              </a:p>
            </p:txBody>
          </p:sp>
          <mc:AlternateContent xmlns:mc="http://schemas.openxmlformats.org/markup-compatibility/2006">
            <mc:Choice xmlns:a14="http://schemas.microsoft.com/office/drawing/2010/main" Requires="a14">
              <p:sp>
                <p:nvSpPr>
                  <p:cNvPr id="97" name="TextBox 97"/>
                  <p:cNvSpPr txBox="1"/>
                  <p:nvPr/>
                </p:nvSpPr>
                <p:spPr>
                  <a:xfrm>
                    <a:off x="8109204" y="4636770"/>
                    <a:ext cx="2253274" cy="265176"/>
                  </a:xfrm>
                  <a:prstGeom prst="rect">
                    <a:avLst/>
                  </a:prstGeom>
                  <a:noFill/>
                  <a:ln>
                    <a:noFill/>
                  </a:ln>
                </p:spPr>
                <p:txBody>
                  <a:bodyPr wrap="none" lIns="0" tIns="0" rIns="0" bIns="0" anchor="t" anchorCtr="0">
                    <a:spAutoFit/>
                  </a:bodyPr>
                  <a:lstStyle/>
                  <a:p>
                    <a:pPr algn="l"/>
                    <a14:m>
                      <m:oMath xmlns:a="http://schemas.openxmlformats.org/drawingml/2006/main" xmlns:m="http://schemas.openxmlformats.org/officeDocument/2006/math">
                        <m:r>
                          <m:rPr>
                            <m:sty m:val="p"/>
                          </m:rPr>
                          <a:rPr lang="en-US" sz="1200" dirty="0">
                            <a:solidFill>
                              <a:srgbClr val="C9DBEA"/>
                            </a:solidFill>
                            <a:latin typeface="Cambria Math"/>
                            <a:ea typeface="Cambria Math"/>
                            <a:cs typeface="Cambria Math"/>
                          </a:rPr>
                          <m:t>LayerNorm</m:t>
                        </m:r>
                        <m:d>
                          <m:dPr>
                            <m:begChr m:val="("/>
                            <m:sepChr m:val=""/>
                            <m:endChr m:val=")"/>
                            <m:grow m:val="on"/>
                            <m:ctrlPr>
                              <a:rPr lang="en-US" sz="1200" dirty="0">
                                <a:solidFill>
                                  <a:srgbClr val="C9DBEA"/>
                                </a:solidFill>
                                <a:latin typeface="Cambria Math"/>
                                <a:ea typeface="Cambria Math"/>
                                <a:cs typeface="Cambria Math"/>
                              </a:rPr>
                            </m:ctrlPr>
                          </m:dPr>
                          <m:e>
                            <m:r>
                              <a:rPr lang="en-US" sz="1200" dirty="0">
                                <a:solidFill>
                                  <a:srgbClr val="C9DBEA"/>
                                </a:solidFill>
                                <a:latin typeface="Cambria Math"/>
                                <a:ea typeface="Cambria Math"/>
                                <a:cs typeface="Cambria Math"/>
                              </a:rPr>
                              <m:t>x</m:t>
                            </m:r>
                            <m:r>
                              <m:rPr>
                                <m:sty m:val="p"/>
                              </m:rPr>
                              <a:rPr lang="en-US" sz="1200" dirty="0">
                                <a:solidFill>
                                  <a:srgbClr val="C9DBEA"/>
                                </a:solidFill>
                                <a:latin typeface="Cambria Math"/>
                                <a:ea typeface="Cambria Math"/>
                                <a:cs typeface="Cambria Math"/>
                              </a:rPr>
                              <m:t>+</m:t>
                            </m:r>
                            <m:r>
                              <m:rPr>
                                <m:sty m:val="p"/>
                              </m:rPr>
                              <a:rPr lang="en-US" sz="1200" dirty="0">
                                <a:solidFill>
                                  <a:srgbClr val="C9DBEA"/>
                                </a:solidFill>
                                <a:latin typeface="Cambria Math"/>
                                <a:ea typeface="Cambria Math"/>
                                <a:cs typeface="Cambria Math"/>
                              </a:rPr>
                              <m:t>Sublayer</m:t>
                            </m:r>
                            <m:d>
                              <m:dPr>
                                <m:begChr m:val="("/>
                                <m:sepChr m:val=""/>
                                <m:endChr m:val=")"/>
                                <m:grow m:val="on"/>
                                <m:ctrlPr>
                                  <a:rPr lang="en-US" sz="1200" dirty="0">
                                    <a:solidFill>
                                      <a:srgbClr val="C9DBEA"/>
                                    </a:solidFill>
                                    <a:latin typeface="Cambria Math"/>
                                    <a:ea typeface="Cambria Math"/>
                                    <a:cs typeface="Cambria Math"/>
                                  </a:rPr>
                                </m:ctrlPr>
                              </m:dPr>
                              <m:e>
                                <m:r>
                                  <a:rPr lang="en-US" sz="1200" dirty="0">
                                    <a:solidFill>
                                      <a:srgbClr val="C9DBEA"/>
                                    </a:solidFill>
                                    <a:latin typeface="Cambria Math"/>
                                    <a:ea typeface="Cambria Math"/>
                                    <a:cs typeface="Cambria Math"/>
                                  </a:rPr>
                                  <m:t>x</m:t>
                                </m:r>
                              </m:e>
                            </m:d>
                          </m:e>
                        </m:d>
                      </m:oMath>
                    </a14:m>
                  </a:p>
                </p:txBody>
              </p:sp>
            </mc:Choice>
          </mc:AlternateContent>
        </p:grpSp>
        <p:grpSp>
          <p:nvGrpSpPr>
            <p:cNvPr id="102" name="Group 102"/>
            <p:cNvGrpSpPr/>
            <p:nvPr/>
          </p:nvGrpSpPr>
          <p:grpSpPr>
            <a:xfrm>
              <a:off x="7877175" y="5125402"/>
              <a:ext cx="1912696" cy="447104"/>
              <a:chOff x="7877175" y="5125402"/>
              <a:chExt cx="1912696" cy="447104"/>
            </a:xfrm>
          </p:grpSpPr>
          <p:sp>
            <p:nvSpPr>
              <p:cNvPr id="99" name="Ellipse 99"/>
              <p:cNvSpPr/>
              <p:nvPr/>
            </p:nvSpPr>
            <p:spPr>
              <a:xfrm>
                <a:off x="7877175" y="5153025"/>
                <a:ext cx="57150" cy="57150"/>
              </a:xfrm>
              <a:prstGeom prst="ellipse">
                <a:avLst/>
              </a:prstGeom>
              <a:solidFill>
                <a:srgbClr val="F5A623"/>
              </a:solidFill>
              <a:ln>
                <a:noFill/>
              </a:ln>
            </p:spPr>
          </p:sp>
          <p:sp>
            <p:nvSpPr>
              <p:cNvPr id="100" name="TextBox 100"/>
              <p:cNvSpPr txBox="1"/>
              <p:nvPr/>
            </p:nvSpPr>
            <p:spPr>
              <a:xfrm>
                <a:off x="8109966" y="5125402"/>
                <a:ext cx="861974"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PARAMETERS</a:t>
                </a:r>
              </a:p>
            </p:txBody>
          </p:sp>
          <p:sp>
            <p:nvSpPr>
              <p:cNvPr id="101" name="TextBox 101"/>
              <p:cNvSpPr txBox="1"/>
              <p:nvPr/>
            </p:nvSpPr>
            <p:spPr>
              <a:xfrm>
                <a:off x="8109204" y="5337810"/>
                <a:ext cx="1680667" cy="234696"/>
              </a:xfrm>
              <a:prstGeom prst="rect">
                <a:avLst/>
              </a:prstGeom>
              <a:noFill/>
              <a:ln>
                <a:noFill/>
              </a:ln>
            </p:spPr>
            <p:txBody>
              <a:bodyPr wrap="none" lIns="0" tIns="0" rIns="0" bIns="0" anchor="t" anchorCtr="0">
                <a:spAutoFit/>
              </a:bodyPr>
              <a:lstStyle/>
              <a:p>
                <a:pPr algn="l"/>
                <a:r>
                  <a:rPr lang="en-US" sz="1200" dirty="0">
                    <a:solidFill>
                      <a:srgbClr val="C9DBEA"/>
                    </a:solidFill>
                    <a:latin typeface="Segoe UI"/>
                    <a:ea typeface="Segoe UI"/>
                    <a:cs typeface="Segoe UI"/>
                  </a:rPr>
                  <a:t>base 65 M · big 213 M</a:t>
                </a:r>
              </a:p>
            </p:txBody>
          </p:sp>
        </p:grpSp>
      </p:grpSp>
      <p:grpSp>
        <p:nvGrpSpPr>
          <p:cNvPr id="108" name="Group 108"/>
          <p:cNvGrpSpPr/>
          <p:nvPr/>
        </p:nvGrpSpPr>
        <p:grpSpPr>
          <a:xfrm>
            <a:off x="9525000" y="6362700"/>
            <a:ext cx="2095500" cy="304800"/>
            <a:chOff x="9525000" y="6362700"/>
            <a:chExt cx="2095500" cy="304800"/>
          </a:xfrm>
        </p:grpSpPr>
        <p:sp>
          <p:nvSpPr>
            <p:cNvPr id="104" name="Rectangle 104"/>
            <p:cNvSpPr/>
            <p:nvPr/>
          </p:nvSpPr>
          <p:spPr>
            <a:xfrm>
              <a:off x="9525000" y="6362700"/>
              <a:ext cx="2095500" cy="304800"/>
            </a:xfrm>
            <a:prstGeom prst="rect">
              <a:avLst/>
            </a:prstGeom>
            <a:noFill/>
            <a:ln w="9525">
              <a:solidFill>
                <a:srgbClr val="3C5A80"/>
              </a:solidFill>
            </a:ln>
          </p:spPr>
        </p:sp>
        <p:sp>
          <p:nvSpPr>
            <p:cNvPr id="105" name="Line 105"/>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106" name="TextBox 106"/>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107" name="TextBox 107"/>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05 / 15</a:t>
              </a:r>
            </a:p>
          </p:txBody>
        </p:sp>
      </p:grpSp>
    </p:spTree>
  </p:cSld>
  <p:clrMapOvr>
    <a:masterClrMapping/>
  </p:clrMapOvr>
  <p:transition xmlns:p14="http://schemas.microsoft.com/office/powerpoint/2010/main" p14:dur="5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1"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up)">
                                      <p:cBhvr>
                                        <p:cTn id="7" dur="900"/>
                                        <p:tgtEl>
                                          <p:spTgt spid="35"/>
                                        </p:tgtEl>
                                      </p:cBhvr>
                                    </p:animEffect>
                                  </p:childTnLst>
                                </p:cTn>
                              </p:par>
                            </p:childTnLst>
                          </p:cTn>
                        </p:par>
                        <p:par>
                          <p:cTn id="8" fill="hold">
                            <p:stCondLst>
                              <p:cond delay="900"/>
                            </p:stCondLst>
                            <p:childTnLst>
                              <p:par>
                                <p:cTn xmlns:p="http://schemas.openxmlformats.org/presentationml/2006/main" id="9" presetID="22" presetClass="entr" presetSubtype="1" fill="hold" grpId="0" nodeType="afterEffect">
                                  <p:stCondLst>
                                    <p:cond delay="300"/>
                                  </p:stCondLst>
                                  <p:childTnLst>
                                    <p:set>
                                      <p:cBhvr>
                                        <p:cTn id="10" dur="1" fill="hold">
                                          <p:stCondLst>
                                            <p:cond delay="0"/>
                                          </p:stCondLst>
                                        </p:cTn>
                                        <p:tgtEl>
                                          <p:spTgt spid="72"/>
                                        </p:tgtEl>
                                        <p:attrNameLst>
                                          <p:attrName>style.visibility</p:attrName>
                                        </p:attrNameLst>
                                      </p:cBhvr>
                                      <p:to>
                                        <p:strVal val="visible"/>
                                      </p:to>
                                    </p:set>
                                    <p:animEffect transition="in" filter="wipe(up)">
                                      <p:cBhvr>
                                        <p:cTn id="11" dur="900"/>
                                        <p:tgtEl>
                                          <p:spTgt spid="72"/>
                                        </p:tgtEl>
                                      </p:cBhvr>
                                    </p:animEffect>
                                  </p:childTnLst>
                                </p:cTn>
                              </p:par>
                            </p:childTnLst>
                          </p:cTn>
                        </p:par>
                        <p:par>
                          <p:cTn id="12" fill="hold">
                            <p:stCondLst>
                              <p:cond delay="2100"/>
                            </p:stCondLst>
                            <p:childTnLst>
                              <p:par>
                                <p:cTn xmlns:p="http://schemas.openxmlformats.org/presentationml/2006/main" id="13" presetID="22" presetClass="entr" presetSubtype="2" fill="hold" grpId="0" nodeType="afterEffect">
                                  <p:stCondLst>
                                    <p:cond delay="300"/>
                                  </p:stCondLst>
                                  <p:childTnLst>
                                    <p:set>
                                      <p:cBhvr>
                                        <p:cTn id="14" dur="1" fill="hold">
                                          <p:stCondLst>
                                            <p:cond delay="0"/>
                                          </p:stCondLst>
                                        </p:cTn>
                                        <p:tgtEl>
                                          <p:spTgt spid="81"/>
                                        </p:tgtEl>
                                        <p:attrNameLst>
                                          <p:attrName>style.visibility</p:attrName>
                                        </p:attrNameLst>
                                      </p:cBhvr>
                                      <p:to>
                                        <p:strVal val="visible"/>
                                      </p:to>
                                    </p:set>
                                    <p:animEffect transition="in" filter="wipe(right)">
                                      <p:cBhvr>
                                        <p:cTn id="15" dur="500"/>
                                        <p:tgtEl>
                                          <p:spTgt spid="81"/>
                                        </p:tgtEl>
                                      </p:cBhvr>
                                    </p:animEffect>
                                  </p:childTnLst>
                                </p:cTn>
                              </p:par>
                            </p:childTnLst>
                          </p:cTn>
                        </p:par>
                        <p:par>
                          <p:cTn id="16" fill="hold">
                            <p:stCondLst>
                              <p:cond delay="29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103"/>
                                        </p:tgtEl>
                                        <p:attrNameLst>
                                          <p:attrName>style.visibility</p:attrName>
                                        </p:attrNameLst>
                                      </p:cBhvr>
                                      <p:to>
                                        <p:strVal val="visible"/>
                                      </p:to>
                                    </p:set>
                                    <p:animEffect transition="in" filter="fade">
                                      <p:cBhvr>
                                        <p:cTn id="19" dur="600"/>
                                        <p:tgtEl>
                                          <p:spTgt spid="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5843135" cy="801243"/>
            <a:chOff x="747522" y="439102"/>
            <a:chExt cx="5843135" cy="801243"/>
          </a:xfrm>
        </p:grpSpPr>
        <p:sp>
          <p:nvSpPr>
            <p:cNvPr id="3" name="TextBox 3"/>
            <p:cNvSpPr txBox="1"/>
            <p:nvPr/>
          </p:nvSpPr>
          <p:spPr>
            <a:xfrm>
              <a:off x="775716" y="439102"/>
              <a:ext cx="2278685"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03 · ATTENTION, STEP 1</a:t>
              </a:r>
            </a:p>
          </p:txBody>
        </p:sp>
        <p:sp>
          <p:nvSpPr>
            <p:cNvPr id="4" name="TextBox 4"/>
            <p:cNvSpPr txBox="1"/>
            <p:nvPr/>
          </p:nvSpPr>
          <p:spPr>
            <a:xfrm>
              <a:off x="747522" y="682942"/>
              <a:ext cx="5843135"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Scaled dot-product attention</a:t>
              </a:r>
            </a:p>
          </p:txBody>
        </p:sp>
      </p:grpSp>
      <mc:AlternateContent xmlns:mc="http://schemas.openxmlformats.org/markup-compatibility/2006">
        <mc:Choice xmlns:a14="http://schemas.microsoft.com/office/drawing/2010/main" Requires="a14">
          <p:sp>
            <p:nvSpPr>
              <p:cNvPr id="6" name="attention-formula"/>
              <p:cNvSpPr txBox="1">
                <a:spLocks noGrp="1"/>
              </p:cNvSpPr>
              <p:nvPr/>
            </p:nvSpPr>
            <p:spPr>
              <a:xfrm>
                <a:off x="762000" y="1428750"/>
                <a:ext cx="5715000" cy="9525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ty m:val="p"/>
                        </m:rPr>
                        <a:rPr lang="en-US" sz="1800" dirty="0">
                          <a:solidFill>
                            <a:srgbClr val="E8F1FA"/>
                          </a:solidFill>
                          <a:latin typeface="Cambria Math"/>
                          <a:ea typeface="Cambria Math"/>
                          <a:cs typeface="Cambria Math"/>
                        </a:rPr>
                        <m:t>Attention</m:t>
                      </m:r>
                      <m:d>
                        <m:dPr>
                          <m:begChr m:val="("/>
                          <m:sepChr m:val=""/>
                          <m:endChr m:val=")"/>
                          <m:grow m:val="on"/>
                          <m:ctrlPr>
                            <a:rPr lang="en-US" sz="1800" dirty="0">
                              <a:solidFill>
                                <a:srgbClr val="E8F1FA"/>
                              </a:solidFill>
                              <a:latin typeface="Cambria Math"/>
                              <a:ea typeface="Cambria Math"/>
                              <a:cs typeface="Cambria Math"/>
                            </a:rPr>
                          </m:ctrlPr>
                        </m:dPr>
                        <m:e>
                          <m:r>
                            <a:rPr lang="en-US" sz="1800" dirty="0">
                              <a:solidFill>
                                <a:srgbClr val="E8F1FA"/>
                              </a:solidFill>
                              <a:latin typeface="Cambria Math"/>
                              <a:ea typeface="Cambria Math"/>
                              <a:cs typeface="Cambria Math"/>
                            </a:rPr>
                            <m:t>Q</m:t>
                          </m:r>
                          <m:r>
                            <m:rPr>
                              <m:sty m:val="p"/>
                            </m:rPr>
                            <a:rPr lang="en-US" sz="1800" dirty="0">
                              <a:solidFill>
                                <a:srgbClr val="E8F1FA"/>
                              </a:solidFill>
                              <a:latin typeface="Cambria Math"/>
                              <a:ea typeface="Cambria Math"/>
                              <a:cs typeface="Cambria Math"/>
                            </a:rPr>
                            <m:t>,</m:t>
                          </m:r>
                          <m:r>
                            <a:rPr lang="en-US" sz="1800" dirty="0">
                              <a:solidFill>
                                <a:srgbClr val="E8F1FA"/>
                              </a:solidFill>
                              <a:latin typeface="Cambria Math"/>
                              <a:ea typeface="Cambria Math"/>
                              <a:cs typeface="Cambria Math"/>
                            </a:rPr>
                            <m:t>K</m:t>
                          </m:r>
                          <m:r>
                            <m:rPr>
                              <m:sty m:val="p"/>
                            </m:rPr>
                            <a:rPr lang="en-US" sz="1800" dirty="0">
                              <a:solidFill>
                                <a:srgbClr val="E8F1FA"/>
                              </a:solidFill>
                              <a:latin typeface="Cambria Math"/>
                              <a:ea typeface="Cambria Math"/>
                              <a:cs typeface="Cambria Math"/>
                            </a:rPr>
                            <m:t>,</m:t>
                          </m:r>
                          <m:r>
                            <a:rPr lang="en-US" sz="1800" dirty="0">
                              <a:solidFill>
                                <a:srgbClr val="E8F1FA"/>
                              </a:solidFill>
                              <a:latin typeface="Cambria Math"/>
                              <a:ea typeface="Cambria Math"/>
                              <a:cs typeface="Cambria Math"/>
                            </a:rPr>
                            <m:t>V</m:t>
                          </m:r>
                        </m:e>
                      </m:d>
                      <m:r>
                        <m:rPr>
                          <m:sty m:val="p"/>
                        </m:rPr>
                        <a:rPr lang="en-US" sz="1800" dirty="0">
                          <a:solidFill>
                            <a:srgbClr val="E8F1FA"/>
                          </a:solidFill>
                          <a:latin typeface="Cambria Math"/>
                          <a:ea typeface="Cambria Math"/>
                          <a:cs typeface="Cambria Math"/>
                        </a:rPr>
                        <m:t>=</m:t>
                      </m:r>
                      <m:r>
                        <m:rPr>
                          <m:sty m:val="p"/>
                        </m:rPr>
                        <a:rPr lang="en-US" sz="1800" dirty="0">
                          <a:solidFill>
                            <a:srgbClr val="E8F1FA"/>
                          </a:solidFill>
                          <a:latin typeface="Cambria Math"/>
                          <a:ea typeface="Cambria Math"/>
                          <a:cs typeface="Cambria Math"/>
                        </a:rPr>
                        <m:t>softmax</m:t>
                      </m:r>
                      <m:d>
                        <m:dPr>
                          <m:begChr m:val="("/>
                          <m:sepChr m:val=""/>
                          <m:endChr m:val=")"/>
                          <m:grow m:val="on"/>
                          <m:ctrlPr>
                            <a:rPr lang="en-US" sz="1800" dirty="0">
                              <a:solidFill>
                                <a:srgbClr val="E8F1FA"/>
                              </a:solidFill>
                              <a:latin typeface="Cambria Math"/>
                              <a:ea typeface="Cambria Math"/>
                              <a:cs typeface="Cambria Math"/>
                            </a:rPr>
                          </m:ctrlPr>
                        </m:dPr>
                        <m:e>
                          <m:f>
                            <m:fPr>
                              <m:type m:val="bar"/>
                              <m:ctrlPr>
                                <a:rPr lang="en-US" sz="1800" dirty="0">
                                  <a:solidFill>
                                    <a:srgbClr val="E8F1FA"/>
                                  </a:solidFill>
                                  <a:latin typeface="Cambria Math"/>
                                  <a:ea typeface="Cambria Math"/>
                                  <a:cs typeface="Cambria Math"/>
                                </a:rPr>
                              </m:ctrlPr>
                            </m:fPr>
                            <m:num>
                              <m:r>
                                <a:rPr lang="en-US" sz="1800" dirty="0">
                                  <a:solidFill>
                                    <a:srgbClr val="E8F1FA"/>
                                  </a:solidFill>
                                  <a:latin typeface="Cambria Math"/>
                                  <a:ea typeface="Cambria Math"/>
                                  <a:cs typeface="Cambria Math"/>
                                </a:rPr>
                                <m:t>Q</m:t>
                              </m:r>
                              <m:sSup>
                                <m:e>
                                  <m:r>
                                    <a:rPr lang="en-US" sz="1800" dirty="0">
                                      <a:solidFill>
                                        <a:srgbClr val="E8F1FA"/>
                                      </a:solidFill>
                                      <a:latin typeface="Cambria Math"/>
                                      <a:ea typeface="Cambria Math"/>
                                      <a:cs typeface="Cambria Math"/>
                                    </a:rPr>
                                    <m:t>K</m:t>
                                  </m:r>
                                </m:e>
                                <m:sup>
                                  <m:r>
                                    <a:rPr lang="en-US" sz="1800" dirty="0">
                                      <a:solidFill>
                                        <a:srgbClr val="E8F1FA"/>
                                      </a:solidFill>
                                      <a:latin typeface="Cambria Math"/>
                                      <a:ea typeface="Cambria Math"/>
                                      <a:cs typeface="Cambria Math"/>
                                    </a:rPr>
                                    <m:t>T</m:t>
                                  </m:r>
                                </m:sup>
                              </m:sSup>
                            </m:num>
                            <m:den>
                              <m:rad>
                                <m:radPr>
                                  <m:degHide m:val="on"/>
                                  <m:ctrlPr>
                                    <a:rPr lang="en-US" sz="1800" dirty="0">
                                      <a:solidFill>
                                        <a:srgbClr val="E8F1FA"/>
                                      </a:solidFill>
                                      <a:latin typeface="Cambria Math"/>
                                      <a:ea typeface="Cambria Math"/>
                                      <a:cs typeface="Cambria Math"/>
                                    </a:rPr>
                                  </m:ctrlPr>
                                </m:radPr>
                                <m:deg/>
                                <m:e>
                                  <m:sSub>
                                    <m:e>
                                      <m:r>
                                        <a:rPr lang="en-US" sz="1800" dirty="0">
                                          <a:solidFill>
                                            <a:srgbClr val="E8F1FA"/>
                                          </a:solidFill>
                                          <a:latin typeface="Cambria Math"/>
                                          <a:ea typeface="Cambria Math"/>
                                          <a:cs typeface="Cambria Math"/>
                                        </a:rPr>
                                        <m:t>d</m:t>
                                      </m:r>
                                    </m:e>
                                    <m:sub>
                                      <m:r>
                                        <a:rPr lang="en-US" sz="1800" dirty="0">
                                          <a:solidFill>
                                            <a:srgbClr val="E8F1FA"/>
                                          </a:solidFill>
                                          <a:latin typeface="Cambria Math"/>
                                          <a:ea typeface="Cambria Math"/>
                                          <a:cs typeface="Cambria Math"/>
                                        </a:rPr>
                                        <m:t>k</m:t>
                                      </m:r>
                                    </m:sub>
                                  </m:sSub>
                                </m:e>
                              </m:rad>
                            </m:den>
                          </m:f>
                        </m:e>
                      </m:d>
                      <m:r>
                        <a:rPr lang="en-US" sz="1800" dirty="0">
                          <a:solidFill>
                            <a:srgbClr val="E8F1FA"/>
                          </a:solidFill>
                          <a:latin typeface="Cambria Math"/>
                          <a:ea typeface="Cambria Math"/>
                          <a:cs typeface="Cambria Math"/>
                        </a:rPr>
                        <m:t>V</m:t>
                      </m:r>
                    </m:oMath>
                  </m:oMathPara>
                </a14:m>
              </a:p>
            </p:txBody>
          </p:sp>
        </mc:Choice>
      </mc:AlternateContent>
      <p:grpSp>
        <p:nvGrpSpPr>
          <p:cNvPr id="19" name="Group 19"/>
          <p:cNvGrpSpPr/>
          <p:nvPr/>
        </p:nvGrpSpPr>
        <p:grpSpPr>
          <a:xfrm>
            <a:off x="800100" y="2705100"/>
            <a:ext cx="4444975" cy="1185101"/>
            <a:chOff x="800100" y="2705100"/>
            <a:chExt cx="4444975" cy="1185101"/>
          </a:xfrm>
        </p:grpSpPr>
        <p:grpSp>
          <p:nvGrpSpPr>
            <p:cNvPr id="10" name="Group 10"/>
            <p:cNvGrpSpPr/>
            <p:nvPr/>
          </p:nvGrpSpPr>
          <p:grpSpPr>
            <a:xfrm>
              <a:off x="800100" y="2705100"/>
              <a:ext cx="3972458" cy="308801"/>
              <a:chOff x="800100" y="2705100"/>
              <a:chExt cx="3972458" cy="308801"/>
            </a:xfrm>
          </p:grpSpPr>
          <p:sp>
            <p:nvSpPr>
              <p:cNvPr id="7" name="Rectangle 7"/>
              <p:cNvSpPr/>
              <p:nvPr/>
            </p:nvSpPr>
            <p:spPr>
              <a:xfrm>
                <a:off x="800100" y="2705100"/>
                <a:ext cx="323850" cy="266700"/>
              </a:xfrm>
              <a:prstGeom prst="roundRect">
                <a:avLst>
                  <a:gd name="adj" fmla="val 10714"/>
                </a:avLst>
              </a:prstGeom>
              <a:noFill/>
              <a:ln w="14288">
                <a:solidFill>
                  <a:srgbClr val="F5A623"/>
                </a:solidFill>
              </a:ln>
            </p:spPr>
          </p:sp>
          <p:sp>
            <p:nvSpPr>
              <p:cNvPr id="8" name="TextBox 8"/>
              <p:cNvSpPr txBox="1"/>
              <p:nvPr/>
            </p:nvSpPr>
            <p:spPr>
              <a:xfrm>
                <a:off x="891921" y="2766060"/>
                <a:ext cx="140208" cy="234696"/>
              </a:xfrm>
              <a:prstGeom prst="rect">
                <a:avLst/>
              </a:prstGeom>
              <a:noFill/>
              <a:ln>
                <a:noFill/>
              </a:ln>
            </p:spPr>
            <p:txBody>
              <a:bodyPr wrap="none" lIns="0" tIns="0" rIns="0" bIns="0" anchor="t" anchorCtr="0">
                <a:spAutoFit/>
              </a:bodyPr>
              <a:lstStyle/>
              <a:p>
                <a:pPr algn="ctr"/>
                <a:r>
                  <a:rPr lang="en-US" sz="1200" dirty="0">
                    <a:solidFill>
                      <a:srgbClr val="F5A623"/>
                    </a:solidFill>
                    <a:latin typeface="Consolas"/>
                    <a:ea typeface="Consolas"/>
                    <a:cs typeface="Consolas"/>
                  </a:rPr>
                  <a:t>Q</a:t>
                </a:r>
              </a:p>
            </p:txBody>
          </p:sp>
          <p:sp>
            <p:nvSpPr>
              <p:cNvPr id="9" name="TextBox 9"/>
              <p:cNvSpPr txBox="1"/>
              <p:nvPr/>
            </p:nvSpPr>
            <p:spPr>
              <a:xfrm>
                <a:off x="1269492" y="2749868"/>
                <a:ext cx="3503066"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query: what this position is looking for</a:t>
                </a:r>
              </a:p>
            </p:txBody>
          </p:sp>
        </p:grpSp>
        <p:grpSp>
          <p:nvGrpSpPr>
            <p:cNvPr id="14" name="Group 14"/>
            <p:cNvGrpSpPr/>
            <p:nvPr/>
          </p:nvGrpSpPr>
          <p:grpSpPr>
            <a:xfrm>
              <a:off x="800100" y="3143250"/>
              <a:ext cx="4444975" cy="308801"/>
              <a:chOff x="800100" y="3143250"/>
              <a:chExt cx="4444975" cy="308801"/>
            </a:xfrm>
          </p:grpSpPr>
          <p:sp>
            <p:nvSpPr>
              <p:cNvPr id="11" name="Rectangle 11"/>
              <p:cNvSpPr/>
              <p:nvPr/>
            </p:nvSpPr>
            <p:spPr>
              <a:xfrm>
                <a:off x="800100" y="3143250"/>
                <a:ext cx="323850" cy="266700"/>
              </a:xfrm>
              <a:prstGeom prst="roundRect">
                <a:avLst>
                  <a:gd name="adj" fmla="val 10714"/>
                </a:avLst>
              </a:prstGeom>
              <a:noFill/>
              <a:ln w="14288">
                <a:solidFill>
                  <a:srgbClr val="9CC3E6"/>
                </a:solidFill>
              </a:ln>
            </p:spPr>
          </p:sp>
          <p:sp>
            <p:nvSpPr>
              <p:cNvPr id="12" name="TextBox 12"/>
              <p:cNvSpPr txBox="1"/>
              <p:nvPr/>
            </p:nvSpPr>
            <p:spPr>
              <a:xfrm>
                <a:off x="908990" y="3204210"/>
                <a:ext cx="106070" cy="234696"/>
              </a:xfrm>
              <a:prstGeom prst="rect">
                <a:avLst/>
              </a:prstGeom>
              <a:noFill/>
              <a:ln>
                <a:noFill/>
              </a:ln>
            </p:spPr>
            <p:txBody>
              <a:bodyPr wrap="none" lIns="0" tIns="0" rIns="0" bIns="0" anchor="t" anchorCtr="0">
                <a:spAutoFit/>
              </a:bodyPr>
              <a:lstStyle/>
              <a:p>
                <a:pPr algn="ctr"/>
                <a:r>
                  <a:rPr lang="en-US" sz="1200" dirty="0">
                    <a:solidFill>
                      <a:srgbClr val="9CC3E6"/>
                    </a:solidFill>
                    <a:latin typeface="Consolas"/>
                    <a:ea typeface="Consolas"/>
                    <a:cs typeface="Consolas"/>
                  </a:rPr>
                  <a:t>K</a:t>
                </a:r>
              </a:p>
            </p:txBody>
          </p:sp>
          <p:sp>
            <p:nvSpPr>
              <p:cNvPr id="13" name="TextBox 13"/>
              <p:cNvSpPr txBox="1"/>
              <p:nvPr/>
            </p:nvSpPr>
            <p:spPr>
              <a:xfrm>
                <a:off x="1269492" y="3188018"/>
                <a:ext cx="3975583"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key: what each position offers for matching</a:t>
                </a:r>
              </a:p>
            </p:txBody>
          </p:sp>
        </p:grpSp>
        <p:grpSp>
          <p:nvGrpSpPr>
            <p:cNvPr id="18" name="Group 18"/>
            <p:cNvGrpSpPr/>
            <p:nvPr/>
          </p:nvGrpSpPr>
          <p:grpSpPr>
            <a:xfrm>
              <a:off x="800100" y="3581400"/>
              <a:ext cx="4145109" cy="308801"/>
              <a:chOff x="800100" y="3581400"/>
              <a:chExt cx="4145109" cy="308801"/>
            </a:xfrm>
          </p:grpSpPr>
          <p:sp>
            <p:nvSpPr>
              <p:cNvPr id="15" name="Rectangle 15"/>
              <p:cNvSpPr/>
              <p:nvPr/>
            </p:nvSpPr>
            <p:spPr>
              <a:xfrm>
                <a:off x="800100" y="3581400"/>
                <a:ext cx="323850" cy="266700"/>
              </a:xfrm>
              <a:prstGeom prst="roundRect">
                <a:avLst>
                  <a:gd name="adj" fmla="val 10714"/>
                </a:avLst>
              </a:prstGeom>
              <a:noFill/>
              <a:ln w="14288">
                <a:solidFill>
                  <a:srgbClr val="9CC3E6"/>
                </a:solidFill>
              </a:ln>
            </p:spPr>
          </p:sp>
          <p:sp>
            <p:nvSpPr>
              <p:cNvPr id="16" name="TextBox 16"/>
              <p:cNvSpPr txBox="1"/>
              <p:nvPr/>
            </p:nvSpPr>
            <p:spPr>
              <a:xfrm>
                <a:off x="908990" y="3642360"/>
                <a:ext cx="106070" cy="234696"/>
              </a:xfrm>
              <a:prstGeom prst="rect">
                <a:avLst/>
              </a:prstGeom>
              <a:noFill/>
              <a:ln>
                <a:noFill/>
              </a:ln>
            </p:spPr>
            <p:txBody>
              <a:bodyPr wrap="none" lIns="0" tIns="0" rIns="0" bIns="0" anchor="t" anchorCtr="0">
                <a:spAutoFit/>
              </a:bodyPr>
              <a:lstStyle/>
              <a:p>
                <a:pPr algn="ctr"/>
                <a:r>
                  <a:rPr lang="en-US" sz="1200" dirty="0">
                    <a:solidFill>
                      <a:srgbClr val="9CC3E6"/>
                    </a:solidFill>
                    <a:latin typeface="Consolas"/>
                    <a:ea typeface="Consolas"/>
                    <a:cs typeface="Consolas"/>
                  </a:rPr>
                  <a:t>V</a:t>
                </a:r>
              </a:p>
            </p:txBody>
          </p:sp>
          <p:sp>
            <p:nvSpPr>
              <p:cNvPr id="17" name="TextBox 17"/>
              <p:cNvSpPr txBox="1"/>
              <p:nvPr/>
            </p:nvSpPr>
            <p:spPr>
              <a:xfrm>
                <a:off x="1269492" y="3626168"/>
                <a:ext cx="3675717"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value: what is passed along once matched</a:t>
                </a:r>
              </a:p>
            </p:txBody>
          </p:sp>
        </p:grpSp>
      </p:grpSp>
      <p:grpSp>
        <p:nvGrpSpPr>
          <p:cNvPr id="24" name="Group 24"/>
          <p:cNvGrpSpPr/>
          <p:nvPr/>
        </p:nvGrpSpPr>
        <p:grpSpPr>
          <a:xfrm>
            <a:off x="762000" y="4248150"/>
            <a:ext cx="4170236" cy="1619250"/>
            <a:chOff x="762000" y="4248150"/>
            <a:chExt cx="4170236" cy="1619250"/>
          </a:xfrm>
        </p:grpSpPr>
        <p:sp>
          <p:nvSpPr>
            <p:cNvPr id="20" name="Line 20"/>
            <p:cNvSpPr/>
            <p:nvPr/>
          </p:nvSpPr>
          <p:spPr>
            <a:xfrm>
              <a:off x="762000" y="4248150"/>
              <a:ext cx="9525" cy="1619250"/>
            </a:xfrm>
            <a:custGeom>
              <a:avLst/>
              <a:gdLst/>
              <a:ahLst/>
              <a:cxnLst/>
              <a:rect l="l" t="t" r="r" b="b"/>
              <a:pathLst>
                <a:path w="9525" h="1619250">
                  <a:moveTo>
                    <a:pt x="0" y="0"/>
                  </a:moveTo>
                  <a:lnTo>
                    <a:pt x="0" y="1619250"/>
                  </a:lnTo>
                </a:path>
              </a:pathLst>
            </a:custGeom>
            <a:noFill/>
            <a:ln w="28575">
              <a:solidFill>
                <a:srgbClr val="F5A623"/>
              </a:solidFill>
            </a:ln>
          </p:spPr>
        </p:sp>
        <p:sp>
          <p:nvSpPr>
            <p:cNvPr id="21" name="TextBox 21"/>
            <p:cNvSpPr txBox="1"/>
            <p:nvPr/>
          </p:nvSpPr>
          <p:spPr>
            <a:xfrm>
              <a:off x="982980" y="4314825"/>
              <a:ext cx="2016967" cy="293370"/>
            </a:xfrm>
            <a:prstGeom prst="rect">
              <a:avLst/>
            </a:prstGeom>
            <a:noFill/>
            <a:ln>
              <a:noFill/>
            </a:ln>
          </p:spPr>
          <p:txBody>
            <a:bodyPr wrap="none" lIns="0" tIns="0" rIns="0" bIns="0" anchor="t" anchorCtr="0">
              <a:spAutoFit/>
            </a:bodyPr>
            <a:lstStyle/>
            <a:p>
              <a:pPr algn="l"/>
              <a:r>
                <a:rPr lang="en-US" sz="1500" b="1" dirty="0">
                  <a:solidFill>
                    <a:srgbClr val="E8F1FA"/>
                  </a:solidFill>
                  <a:latin typeface="Segoe UI"/>
                  <a:ea typeface="Segoe UI"/>
                  <a:cs typeface="Segoe UI"/>
                </a:rPr>
                <a:t>Why divide by √d_k?</a:t>
              </a:r>
            </a:p>
          </p:txBody>
        </p:sp>
        <p:sp>
          <p:nvSpPr>
            <p:cNvPr id="22" name="TextBox 22"/>
            <p:cNvSpPr txBox="1"/>
            <p:nvPr/>
          </p:nvSpPr>
          <p:spPr>
            <a:xfrm>
              <a:off x="983742" y="4635818"/>
              <a:ext cx="3948494" cy="797433"/>
            </a:xfrm>
            <a:prstGeom prst="rect">
              <a:avLst/>
            </a:prstGeom>
            <a:noFill/>
            <a:ln>
              <a:noFill/>
            </a:ln>
          </p:spPr>
          <p:txBody>
            <a:bodyPr wrap="none" lIns="0" tIns="0" rIns="0" bIns="0" anchor="t" anchorCtr="0">
              <a:spAutoFit/>
            </a:bodyPr>
            <a:lstStyle/>
            <a:p>
              <a:pPr algn="l">
                <a:lnSpc>
                  <a:spcPts val="2100"/>
                </a:lnSpc>
              </a:pPr>
              <a:r>
                <a:rPr lang="en-US" sz="1350" dirty="0">
                  <a:solidFill>
                    <a:srgbClr val="C9DBEA"/>
                  </a:solidFill>
                  <a:latin typeface="Segoe UI"/>
                  <a:ea typeface="Segoe UI"/>
                  <a:cs typeface="Segoe UI"/>
                </a:rPr>
                <a:t>With large d_k the dot products grow large and</a:t>
              </a:r>
              <a:br/>
              <a:r>
                <a:rPr lang="en-US" sz="1350" dirty="0">
                  <a:solidFill>
                    <a:srgbClr val="C9DBEA"/>
                  </a:solidFill>
                  <a:latin typeface="Segoe UI"/>
                  <a:ea typeface="Segoe UI"/>
                  <a:cs typeface="Segoe UI"/>
                </a:rPr>
                <a:t>push softmax into regions with tiny gradients;</a:t>
              </a:r>
              <a:br/>
              <a:r>
                <a:rPr lang="en-US" sz="1350" dirty="0">
                  <a:solidFill>
                    <a:srgbClr val="C9DBEA"/>
                  </a:solidFill>
                  <a:latin typeface="Segoe UI"/>
                  <a:ea typeface="Segoe UI"/>
                  <a:cs typeface="Segoe UI"/>
                </a:rPr>
                <a:t>the 1/√d_k factor keeps the scores tame.</a:t>
              </a:r>
            </a:p>
          </p:txBody>
        </p:sp>
        <p:sp>
          <p:nvSpPr>
            <p:cNvPr id="23" name="TextBox 23"/>
            <p:cNvSpPr txBox="1"/>
            <p:nvPr/>
          </p:nvSpPr>
          <p:spPr>
            <a:xfrm>
              <a:off x="985266" y="5658802"/>
              <a:ext cx="2300554"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d_k = 64 → divide every score by 8</a:t>
              </a:r>
            </a:p>
          </p:txBody>
        </p:sp>
      </p:grpSp>
      <p:grpSp>
        <p:nvGrpSpPr>
          <p:cNvPr id="52" name="Group 52"/>
          <p:cNvGrpSpPr/>
          <p:nvPr/>
        </p:nvGrpSpPr>
        <p:grpSpPr>
          <a:xfrm>
            <a:off x="7057454" y="2352199"/>
            <a:ext cx="3670210" cy="3881152"/>
            <a:chOff x="7057454" y="2352199"/>
            <a:chExt cx="3670210" cy="3881152"/>
          </a:xfrm>
        </p:grpSpPr>
        <p:sp>
          <p:nvSpPr>
            <p:cNvPr id="25" name="TextBox 25"/>
            <p:cNvSpPr txBox="1"/>
            <p:nvPr/>
          </p:nvSpPr>
          <p:spPr>
            <a:xfrm>
              <a:off x="7911079" y="2352199"/>
              <a:ext cx="1703842" cy="190690"/>
            </a:xfrm>
            <a:prstGeom prst="rect">
              <a:avLst/>
            </a:prstGeom>
            <a:noFill/>
            <a:ln>
              <a:noFill/>
            </a:ln>
          </p:spPr>
          <p:txBody>
            <a:bodyPr wrap="none" lIns="0" tIns="0" rIns="0" bIns="0" anchor="t" anchorCtr="0">
              <a:spAutoFit/>
            </a:bodyPr>
            <a:lstStyle/>
            <a:p>
              <a:pPr algn="ctr"/>
              <a:r>
                <a:rPr lang="en-US" sz="980" spc="150" dirty="0">
                  <a:solidFill>
                    <a:srgbClr val="F5A623"/>
                  </a:solidFill>
                  <a:latin typeface="Consolas"/>
                  <a:ea typeface="Consolas"/>
                  <a:cs typeface="Consolas"/>
                </a:rPr>
                <a:t>ATTENTION(Q, K, V)</a:t>
              </a:r>
            </a:p>
          </p:txBody>
        </p:sp>
        <p:grpSp>
          <p:nvGrpSpPr>
            <p:cNvPr id="34" name="Group 34"/>
            <p:cNvGrpSpPr/>
            <p:nvPr/>
          </p:nvGrpSpPr>
          <p:grpSpPr>
            <a:xfrm>
              <a:off x="7810500" y="3048000"/>
              <a:ext cx="1905000" cy="2628900"/>
              <a:chOff x="7810500" y="3048000"/>
              <a:chExt cx="1905000" cy="2628900"/>
            </a:xfrm>
          </p:grpSpPr>
          <p:sp>
            <p:nvSpPr>
              <p:cNvPr id="26" name="Rectangle 26"/>
              <p:cNvSpPr/>
              <p:nvPr/>
            </p:nvSpPr>
            <p:spPr>
              <a:xfrm>
                <a:off x="7810500" y="5334000"/>
                <a:ext cx="1905000" cy="342900"/>
              </a:xfrm>
              <a:prstGeom prst="roundRect">
                <a:avLst>
                  <a:gd name="adj" fmla="val 8333"/>
                </a:avLst>
              </a:prstGeom>
              <a:solidFill>
                <a:srgbClr val="10284A"/>
              </a:solidFill>
              <a:ln w="14288">
                <a:solidFill>
                  <a:srgbClr val="9CC3E6"/>
                </a:solidFill>
              </a:ln>
            </p:spPr>
          </p:sp>
          <p:sp>
            <p:nvSpPr>
              <p:cNvPr id="27" name="TextBox 27"/>
              <p:cNvSpPr txBox="1"/>
              <p:nvPr/>
            </p:nvSpPr>
            <p:spPr>
              <a:xfrm>
                <a:off x="8234020" y="5431631"/>
                <a:ext cx="1057961" cy="220028"/>
              </a:xfrm>
              <a:prstGeom prst="rect">
                <a:avLst/>
              </a:prstGeom>
              <a:noFill/>
              <a:ln>
                <a:noFill/>
              </a:ln>
            </p:spPr>
            <p:txBody>
              <a:bodyPr wrap="none" lIns="0" tIns="0" rIns="0" bIns="0" anchor="t" anchorCtr="0">
                <a:spAutoFit/>
              </a:bodyPr>
              <a:lstStyle/>
              <a:p>
                <a:pPr algn="ctr"/>
                <a:r>
                  <a:rPr lang="en-US" sz="1120" dirty="0">
                    <a:solidFill>
                      <a:srgbClr val="E8F1FA"/>
                    </a:solidFill>
                    <a:latin typeface="Segoe UI"/>
                    <a:ea typeface="Segoe UI"/>
                    <a:cs typeface="Segoe UI"/>
                  </a:rPr>
                  <a:t>MatMul Q · Kᵀ</a:t>
                </a:r>
              </a:p>
            </p:txBody>
          </p:sp>
          <p:sp>
            <p:nvSpPr>
              <p:cNvPr id="28" name="Rectangle 28"/>
              <p:cNvSpPr/>
              <p:nvPr/>
            </p:nvSpPr>
            <p:spPr>
              <a:xfrm>
                <a:off x="7810500" y="4572000"/>
                <a:ext cx="1905000" cy="342900"/>
              </a:xfrm>
              <a:prstGeom prst="roundRect">
                <a:avLst>
                  <a:gd name="adj" fmla="val 8333"/>
                </a:avLst>
              </a:prstGeom>
              <a:solidFill>
                <a:srgbClr val="10284A"/>
              </a:solidFill>
              <a:ln w="14288">
                <a:solidFill>
                  <a:srgbClr val="9CC3E6"/>
                </a:solidFill>
              </a:ln>
            </p:spPr>
          </p:sp>
          <p:sp>
            <p:nvSpPr>
              <p:cNvPr id="29" name="TextBox 29"/>
              <p:cNvSpPr txBox="1"/>
              <p:nvPr/>
            </p:nvSpPr>
            <p:spPr>
              <a:xfrm>
                <a:off x="8312704" y="4669631"/>
                <a:ext cx="900593" cy="220028"/>
              </a:xfrm>
              <a:prstGeom prst="rect">
                <a:avLst/>
              </a:prstGeom>
              <a:noFill/>
              <a:ln>
                <a:noFill/>
              </a:ln>
            </p:spPr>
            <p:txBody>
              <a:bodyPr wrap="none" lIns="0" tIns="0" rIns="0" bIns="0" anchor="t" anchorCtr="0">
                <a:spAutoFit/>
              </a:bodyPr>
              <a:lstStyle/>
              <a:p>
                <a:pPr algn="ctr"/>
                <a:r>
                  <a:rPr lang="en-US" sz="1120" dirty="0">
                    <a:solidFill>
                      <a:srgbClr val="E8F1FA"/>
                    </a:solidFill>
                    <a:latin typeface="Segoe UI"/>
                    <a:ea typeface="Segoe UI"/>
                    <a:cs typeface="Segoe UI"/>
                  </a:rPr>
                  <a:t>Scale ÷ √d_k</a:t>
                </a:r>
              </a:p>
            </p:txBody>
          </p:sp>
          <p:sp>
            <p:nvSpPr>
              <p:cNvPr id="30" name="Rectangle 30"/>
              <p:cNvSpPr/>
              <p:nvPr/>
            </p:nvSpPr>
            <p:spPr>
              <a:xfrm>
                <a:off x="7810500" y="3810000"/>
                <a:ext cx="1905000" cy="342900"/>
              </a:xfrm>
              <a:prstGeom prst="roundRect">
                <a:avLst>
                  <a:gd name="adj" fmla="val 8333"/>
                </a:avLst>
              </a:prstGeom>
              <a:solidFill>
                <a:srgbClr val="10284A"/>
              </a:solidFill>
              <a:ln w="14288">
                <a:solidFill>
                  <a:srgbClr val="F5A623"/>
                </a:solidFill>
              </a:ln>
            </p:spPr>
          </p:sp>
          <p:sp>
            <p:nvSpPr>
              <p:cNvPr id="31" name="TextBox 31"/>
              <p:cNvSpPr txBox="1"/>
              <p:nvPr/>
            </p:nvSpPr>
            <p:spPr>
              <a:xfrm>
                <a:off x="8449498" y="3907631"/>
                <a:ext cx="627004" cy="220028"/>
              </a:xfrm>
              <a:prstGeom prst="rect">
                <a:avLst/>
              </a:prstGeom>
              <a:noFill/>
              <a:ln>
                <a:noFill/>
              </a:ln>
            </p:spPr>
            <p:txBody>
              <a:bodyPr wrap="none" lIns="0" tIns="0" rIns="0" bIns="0" anchor="t" anchorCtr="0">
                <a:spAutoFit/>
              </a:bodyPr>
              <a:lstStyle/>
              <a:p>
                <a:pPr algn="ctr"/>
                <a:r>
                  <a:rPr lang="en-US" sz="1120" dirty="0">
                    <a:solidFill>
                      <a:srgbClr val="E8F1FA"/>
                    </a:solidFill>
                    <a:latin typeface="Segoe UI"/>
                    <a:ea typeface="Segoe UI"/>
                    <a:cs typeface="Segoe UI"/>
                  </a:rPr>
                  <a:t>Softmax</a:t>
                </a:r>
              </a:p>
            </p:txBody>
          </p:sp>
          <p:sp>
            <p:nvSpPr>
              <p:cNvPr id="32" name="Rectangle 32"/>
              <p:cNvSpPr/>
              <p:nvPr/>
            </p:nvSpPr>
            <p:spPr>
              <a:xfrm>
                <a:off x="7810500" y="3048000"/>
                <a:ext cx="1905000" cy="342900"/>
              </a:xfrm>
              <a:prstGeom prst="roundRect">
                <a:avLst>
                  <a:gd name="adj" fmla="val 8333"/>
                </a:avLst>
              </a:prstGeom>
              <a:solidFill>
                <a:srgbClr val="10284A"/>
              </a:solidFill>
              <a:ln w="14288">
                <a:solidFill>
                  <a:srgbClr val="9CC3E6"/>
                </a:solidFill>
              </a:ln>
            </p:spPr>
          </p:sp>
          <p:sp>
            <p:nvSpPr>
              <p:cNvPr id="33" name="TextBox 33"/>
              <p:cNvSpPr txBox="1"/>
              <p:nvPr/>
            </p:nvSpPr>
            <p:spPr>
              <a:xfrm>
                <a:off x="8359623" y="3145631"/>
                <a:ext cx="806755" cy="220028"/>
              </a:xfrm>
              <a:prstGeom prst="rect">
                <a:avLst/>
              </a:prstGeom>
              <a:noFill/>
              <a:ln>
                <a:noFill/>
              </a:ln>
            </p:spPr>
            <p:txBody>
              <a:bodyPr wrap="none" lIns="0" tIns="0" rIns="0" bIns="0" anchor="t" anchorCtr="0">
                <a:spAutoFit/>
              </a:bodyPr>
              <a:lstStyle/>
              <a:p>
                <a:pPr algn="ctr"/>
                <a:r>
                  <a:rPr lang="en-US" sz="1120" dirty="0">
                    <a:solidFill>
                      <a:srgbClr val="E8F1FA"/>
                    </a:solidFill>
                    <a:latin typeface="Segoe UI"/>
                    <a:ea typeface="Segoe UI"/>
                    <a:cs typeface="Segoe UI"/>
                  </a:rPr>
                  <a:t>MatMul · V</a:t>
                </a:r>
              </a:p>
            </p:txBody>
          </p:sp>
        </p:grpSp>
        <p:grpSp>
          <p:nvGrpSpPr>
            <p:cNvPr id="42" name="Group 42"/>
            <p:cNvGrpSpPr/>
            <p:nvPr/>
          </p:nvGrpSpPr>
          <p:grpSpPr>
            <a:xfrm>
              <a:off x="8286750" y="2571750"/>
              <a:ext cx="2381250" cy="3390900"/>
              <a:chOff x="8286750" y="2571750"/>
              <a:chExt cx="2381250" cy="3390900"/>
            </a:xfrm>
          </p:grpSpPr>
          <p:sp>
            <p:nvSpPr>
              <p:cNvPr id="35" name="Line 35"/>
              <p:cNvSpPr/>
              <p:nvPr/>
            </p:nvSpPr>
            <p:spPr>
              <a:xfrm flipV="1">
                <a:off x="8286750" y="5695950"/>
                <a:ext cx="1" cy="266700"/>
              </a:xfrm>
              <a:prstGeom prst="line">
                <a:avLst/>
              </a:prstGeom>
              <a:noFill/>
              <a:ln w="14288">
                <a:solidFill>
                  <a:srgbClr val="9CC3E6"/>
                </a:solidFill>
                <a:tailEnd type="triangle" w="lg" len="lg"/>
              </a:ln>
            </p:spPr>
          </p:sp>
          <p:sp>
            <p:nvSpPr>
              <p:cNvPr id="36" name="Line 36"/>
              <p:cNvSpPr/>
              <p:nvPr/>
            </p:nvSpPr>
            <p:spPr>
              <a:xfrm flipV="1">
                <a:off x="9239250" y="5695950"/>
                <a:ext cx="1" cy="266700"/>
              </a:xfrm>
              <a:prstGeom prst="line">
                <a:avLst/>
              </a:prstGeom>
              <a:noFill/>
              <a:ln w="14288">
                <a:solidFill>
                  <a:srgbClr val="9CC3E6"/>
                </a:solidFill>
                <a:tailEnd type="triangle" w="lg" len="lg"/>
              </a:ln>
            </p:spPr>
          </p:sp>
          <p:sp>
            <p:nvSpPr>
              <p:cNvPr id="37" name="Freeform 37"/>
              <p:cNvSpPr/>
              <p:nvPr/>
            </p:nvSpPr>
            <p:spPr>
              <a:xfrm>
                <a:off x="9734550" y="3219450"/>
                <a:ext cx="933450" cy="2743200"/>
              </a:xfrm>
              <a:custGeom>
                <a:avLst/>
                <a:gdLst/>
                <a:ahLst/>
                <a:cxnLst/>
                <a:rect l="l" t="t" r="r" b="b"/>
                <a:pathLst>
                  <a:path w="933450" h="2743200">
                    <a:moveTo>
                      <a:pt x="933450" y="2743200"/>
                    </a:moveTo>
                    <a:lnTo>
                      <a:pt x="933450" y="0"/>
                    </a:lnTo>
                    <a:lnTo>
                      <a:pt x="0" y="0"/>
                    </a:lnTo>
                  </a:path>
                </a:pathLst>
              </a:custGeom>
              <a:noFill/>
              <a:ln w="14288">
                <a:solidFill>
                  <a:srgbClr val="9CC3E6"/>
                </a:solidFill>
                <a:tailEnd type="triangle" w="lg" len="lg"/>
              </a:ln>
            </p:spPr>
          </p:sp>
          <p:sp>
            <p:nvSpPr>
              <p:cNvPr id="38" name="Line 38"/>
              <p:cNvSpPr/>
              <p:nvPr/>
            </p:nvSpPr>
            <p:spPr>
              <a:xfrm flipV="1">
                <a:off x="8763000" y="4933950"/>
                <a:ext cx="1" cy="400050"/>
              </a:xfrm>
              <a:prstGeom prst="line">
                <a:avLst/>
              </a:prstGeom>
              <a:noFill/>
              <a:ln w="14288">
                <a:solidFill>
                  <a:srgbClr val="9CC3E6"/>
                </a:solidFill>
                <a:tailEnd type="triangle" w="lg" len="lg"/>
              </a:ln>
            </p:spPr>
          </p:sp>
          <p:sp>
            <p:nvSpPr>
              <p:cNvPr id="39" name="Line 39"/>
              <p:cNvSpPr/>
              <p:nvPr/>
            </p:nvSpPr>
            <p:spPr>
              <a:xfrm flipV="1">
                <a:off x="8763000" y="4171950"/>
                <a:ext cx="1" cy="400050"/>
              </a:xfrm>
              <a:prstGeom prst="line">
                <a:avLst/>
              </a:prstGeom>
              <a:noFill/>
              <a:ln w="14288">
                <a:solidFill>
                  <a:srgbClr val="9CC3E6"/>
                </a:solidFill>
                <a:tailEnd type="triangle" w="lg" len="lg"/>
              </a:ln>
            </p:spPr>
          </p:sp>
          <p:sp>
            <p:nvSpPr>
              <p:cNvPr id="40" name="Line 40"/>
              <p:cNvSpPr/>
              <p:nvPr/>
            </p:nvSpPr>
            <p:spPr>
              <a:xfrm flipV="1">
                <a:off x="8763000" y="3409950"/>
                <a:ext cx="1" cy="400050"/>
              </a:xfrm>
              <a:prstGeom prst="line">
                <a:avLst/>
              </a:prstGeom>
              <a:noFill/>
              <a:ln w="14288">
                <a:solidFill>
                  <a:srgbClr val="9CC3E6"/>
                </a:solidFill>
                <a:tailEnd type="triangle" w="lg" len="lg"/>
              </a:ln>
            </p:spPr>
          </p:sp>
          <p:sp>
            <p:nvSpPr>
              <p:cNvPr id="41" name="Line 41"/>
              <p:cNvSpPr/>
              <p:nvPr/>
            </p:nvSpPr>
            <p:spPr>
              <a:xfrm flipV="1">
                <a:off x="8763000" y="2571750"/>
                <a:ext cx="1" cy="476250"/>
              </a:xfrm>
              <a:prstGeom prst="line">
                <a:avLst/>
              </a:prstGeom>
              <a:noFill/>
              <a:ln w="14288">
                <a:solidFill>
                  <a:srgbClr val="9CC3E6"/>
                </a:solidFill>
                <a:tailEnd type="triangle" w="lg" len="lg"/>
              </a:ln>
            </p:spPr>
          </p:sp>
        </p:grpSp>
        <p:grpSp>
          <p:nvGrpSpPr>
            <p:cNvPr id="46" name="Group 46"/>
            <p:cNvGrpSpPr/>
            <p:nvPr/>
          </p:nvGrpSpPr>
          <p:grpSpPr>
            <a:xfrm>
              <a:off x="8207883" y="5969318"/>
              <a:ext cx="2519781" cy="264033"/>
              <a:chOff x="8207883" y="5969318"/>
              <a:chExt cx="2519781" cy="264033"/>
            </a:xfrm>
          </p:grpSpPr>
          <p:sp>
            <p:nvSpPr>
              <p:cNvPr id="43" name="TextBox 43"/>
              <p:cNvSpPr txBox="1"/>
              <p:nvPr/>
            </p:nvSpPr>
            <p:spPr>
              <a:xfrm>
                <a:off x="8207883" y="5969318"/>
                <a:ext cx="157734" cy="264033"/>
              </a:xfrm>
              <a:prstGeom prst="rect">
                <a:avLst/>
              </a:prstGeom>
              <a:noFill/>
              <a:ln>
                <a:noFill/>
              </a:ln>
            </p:spPr>
            <p:txBody>
              <a:bodyPr wrap="none" lIns="0" tIns="0" rIns="0" bIns="0" anchor="t" anchorCtr="0">
                <a:spAutoFit/>
              </a:bodyPr>
              <a:lstStyle/>
              <a:p>
                <a:pPr algn="ctr"/>
                <a:r>
                  <a:rPr lang="en-US" sz="1350" dirty="0">
                    <a:solidFill>
                      <a:srgbClr val="F5A623"/>
                    </a:solidFill>
                    <a:latin typeface="Consolas"/>
                    <a:ea typeface="Consolas"/>
                    <a:cs typeface="Consolas"/>
                  </a:rPr>
                  <a:t>Q</a:t>
                </a:r>
              </a:p>
            </p:txBody>
          </p:sp>
          <p:sp>
            <p:nvSpPr>
              <p:cNvPr id="44" name="TextBox 44"/>
              <p:cNvSpPr txBox="1"/>
              <p:nvPr/>
            </p:nvSpPr>
            <p:spPr>
              <a:xfrm>
                <a:off x="9179585" y="5969318"/>
                <a:ext cx="119329"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Consolas"/>
                    <a:ea typeface="Consolas"/>
                    <a:cs typeface="Consolas"/>
                  </a:rPr>
                  <a:t>K</a:t>
                </a:r>
              </a:p>
            </p:txBody>
          </p:sp>
          <p:sp>
            <p:nvSpPr>
              <p:cNvPr id="45" name="TextBox 45"/>
              <p:cNvSpPr txBox="1"/>
              <p:nvPr/>
            </p:nvSpPr>
            <p:spPr>
              <a:xfrm>
                <a:off x="10608335" y="5969318"/>
                <a:ext cx="119329"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Consolas"/>
                    <a:ea typeface="Consolas"/>
                    <a:cs typeface="Consolas"/>
                  </a:rPr>
                  <a:t>V</a:t>
                </a:r>
              </a:p>
            </p:txBody>
          </p:sp>
        </p:grpSp>
        <p:grpSp>
          <p:nvGrpSpPr>
            <p:cNvPr id="51" name="Group 51"/>
            <p:cNvGrpSpPr/>
            <p:nvPr/>
          </p:nvGrpSpPr>
          <p:grpSpPr>
            <a:xfrm>
              <a:off x="7057454" y="3160395"/>
              <a:ext cx="643509" cy="2462212"/>
              <a:chOff x="7057454" y="3160395"/>
              <a:chExt cx="643509" cy="2462212"/>
            </a:xfrm>
          </p:grpSpPr>
          <p:sp>
            <p:nvSpPr>
              <p:cNvPr id="47" name="TextBox 47"/>
              <p:cNvSpPr txBox="1"/>
              <p:nvPr/>
            </p:nvSpPr>
            <p:spPr>
              <a:xfrm>
                <a:off x="7291616" y="5446395"/>
                <a:ext cx="409346" cy="176212"/>
              </a:xfrm>
              <a:prstGeom prst="rect">
                <a:avLst/>
              </a:prstGeom>
              <a:noFill/>
              <a:ln>
                <a:noFill/>
              </a:ln>
            </p:spPr>
            <p:txBody>
              <a:bodyPr wrap="none" lIns="0" tIns="0" rIns="0" bIns="0" anchor="t" anchorCtr="0">
                <a:spAutoFit/>
              </a:bodyPr>
              <a:lstStyle/>
              <a:p>
                <a:pPr algn="r"/>
                <a:r>
                  <a:rPr lang="en-US" sz="900" dirty="0">
                    <a:solidFill>
                      <a:srgbClr val="9CB4CC"/>
                    </a:solidFill>
                    <a:latin typeface="Consolas"/>
                    <a:ea typeface="Consolas"/>
                    <a:cs typeface="Consolas"/>
                  </a:rPr>
                  <a:t>scores</a:t>
                </a:r>
              </a:p>
            </p:txBody>
          </p:sp>
          <p:sp>
            <p:nvSpPr>
              <p:cNvPr id="48" name="TextBox 48"/>
              <p:cNvSpPr txBox="1"/>
              <p:nvPr/>
            </p:nvSpPr>
            <p:spPr>
              <a:xfrm>
                <a:off x="7321906" y="4684395"/>
                <a:ext cx="379057" cy="176212"/>
              </a:xfrm>
              <a:prstGeom prst="rect">
                <a:avLst/>
              </a:prstGeom>
              <a:noFill/>
              <a:ln>
                <a:noFill/>
              </a:ln>
            </p:spPr>
            <p:txBody>
              <a:bodyPr wrap="none" lIns="0" tIns="0" rIns="0" bIns="0" anchor="t" anchorCtr="0">
                <a:spAutoFit/>
              </a:bodyPr>
              <a:lstStyle/>
              <a:p>
                <a:pPr algn="r"/>
                <a:r>
                  <a:rPr lang="en-US" sz="900" dirty="0">
                    <a:solidFill>
                      <a:srgbClr val="9CB4CC"/>
                    </a:solidFill>
                    <a:latin typeface="Consolas"/>
                    <a:ea typeface="Consolas"/>
                    <a:cs typeface="Consolas"/>
                  </a:rPr>
                  <a:t>scaled</a:t>
                </a:r>
              </a:p>
            </p:txBody>
          </p:sp>
          <p:sp>
            <p:nvSpPr>
              <p:cNvPr id="49" name="TextBox 49"/>
              <p:cNvSpPr txBox="1"/>
              <p:nvPr/>
            </p:nvSpPr>
            <p:spPr>
              <a:xfrm>
                <a:off x="7231037" y="3922395"/>
                <a:ext cx="469925" cy="176212"/>
              </a:xfrm>
              <a:prstGeom prst="rect">
                <a:avLst/>
              </a:prstGeom>
              <a:noFill/>
              <a:ln>
                <a:noFill/>
              </a:ln>
            </p:spPr>
            <p:txBody>
              <a:bodyPr wrap="none" lIns="0" tIns="0" rIns="0" bIns="0" anchor="t" anchorCtr="0">
                <a:spAutoFit/>
              </a:bodyPr>
              <a:lstStyle/>
              <a:p>
                <a:pPr algn="r"/>
                <a:r>
                  <a:rPr lang="en-US" sz="900" dirty="0">
                    <a:solidFill>
                      <a:srgbClr val="F5A623"/>
                    </a:solidFill>
                    <a:latin typeface="Consolas"/>
                    <a:ea typeface="Consolas"/>
                    <a:cs typeface="Consolas"/>
                  </a:rPr>
                  <a:t>weights</a:t>
                </a:r>
              </a:p>
            </p:txBody>
          </p:sp>
          <p:sp>
            <p:nvSpPr>
              <p:cNvPr id="50" name="TextBox 50"/>
              <p:cNvSpPr txBox="1"/>
              <p:nvPr/>
            </p:nvSpPr>
            <p:spPr>
              <a:xfrm>
                <a:off x="7057454" y="3160395"/>
                <a:ext cx="643509" cy="176212"/>
              </a:xfrm>
              <a:prstGeom prst="rect">
                <a:avLst/>
              </a:prstGeom>
              <a:noFill/>
              <a:ln>
                <a:noFill/>
              </a:ln>
            </p:spPr>
            <p:txBody>
              <a:bodyPr wrap="none" lIns="0" tIns="0" rIns="0" bIns="0" anchor="t" anchorCtr="0">
                <a:spAutoFit/>
              </a:bodyPr>
              <a:lstStyle/>
              <a:p>
                <a:pPr algn="r"/>
                <a:r>
                  <a:rPr lang="en-US" sz="900" dirty="0">
                    <a:solidFill>
                      <a:srgbClr val="9CB4CC"/>
                    </a:solidFill>
                    <a:latin typeface="Consolas"/>
                    <a:ea typeface="Consolas"/>
                    <a:cs typeface="Consolas"/>
                  </a:rPr>
                  <a:t>weighted V</a:t>
                </a:r>
              </a:p>
            </p:txBody>
          </p:sp>
        </p:grpSp>
      </p:grpSp>
      <p:grpSp>
        <p:nvGrpSpPr>
          <p:cNvPr id="57" name="Group 57"/>
          <p:cNvGrpSpPr/>
          <p:nvPr/>
        </p:nvGrpSpPr>
        <p:grpSpPr>
          <a:xfrm>
            <a:off x="9525000" y="6362700"/>
            <a:ext cx="2095500" cy="304800"/>
            <a:chOff x="9525000" y="6362700"/>
            <a:chExt cx="2095500" cy="304800"/>
          </a:xfrm>
        </p:grpSpPr>
        <p:sp>
          <p:nvSpPr>
            <p:cNvPr id="53" name="Rectangle 53"/>
            <p:cNvSpPr/>
            <p:nvPr/>
          </p:nvSpPr>
          <p:spPr>
            <a:xfrm>
              <a:off x="9525000" y="6362700"/>
              <a:ext cx="2095500" cy="304800"/>
            </a:xfrm>
            <a:prstGeom prst="rect">
              <a:avLst/>
            </a:prstGeom>
            <a:noFill/>
            <a:ln w="9525">
              <a:solidFill>
                <a:srgbClr val="3C5A80"/>
              </a:solidFill>
            </a:ln>
          </p:spPr>
        </p:sp>
        <p:sp>
          <p:nvSpPr>
            <p:cNvPr id="54" name="Line 54"/>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55" name="TextBox 55"/>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56" name="TextBox 56"/>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06 / 15</a:t>
              </a:r>
            </a:p>
          </p:txBody>
        </p:sp>
      </p:grpSp>
    </p:spTree>
  </p:cSld>
  <p:clrMapOvr>
    <a:masterClrMapping/>
  </p:clrMapOvr>
  <p:transition xmlns:p14="http://schemas.microsoft.com/office/powerpoint/2010/main" p14:dur="5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700"/>
                                        <p:tgtEl>
                                          <p:spTgt spid="6"/>
                                        </p:tgtEl>
                                      </p:cBhvr>
                                    </p:animEffect>
                                  </p:childTnLst>
                                </p:cTn>
                              </p:par>
                            </p:childTnLst>
                          </p:cTn>
                        </p:par>
                        <p:par>
                          <p:cTn id="8" fill="hold">
                            <p:stCondLst>
                              <p:cond delay="700"/>
                            </p:stCondLst>
                            <p:childTnLst>
                              <p:par>
                                <p:cTn xmlns:p="http://schemas.openxmlformats.org/presentationml/2006/main" id="9" presetID="22" presetClass="entr" presetSubtype="1" fill="hold" grpId="0" nodeType="afterEffect">
                                  <p:stCondLst>
                                    <p:cond delay="300"/>
                                  </p:stCondLst>
                                  <p:childTnLst>
                                    <p:set>
                                      <p:cBhvr>
                                        <p:cTn id="10" dur="1" fill="hold">
                                          <p:stCondLst>
                                            <p:cond delay="0"/>
                                          </p:stCondLst>
                                        </p:cTn>
                                        <p:tgtEl>
                                          <p:spTgt spid="52"/>
                                        </p:tgtEl>
                                        <p:attrNameLst>
                                          <p:attrName>style.visibility</p:attrName>
                                        </p:attrNameLst>
                                      </p:cBhvr>
                                      <p:to>
                                        <p:strVal val="visible"/>
                                      </p:to>
                                    </p:set>
                                    <p:animEffect transition="in" filter="wipe(up)">
                                      <p:cBhvr>
                                        <p:cTn id="11" dur="1000"/>
                                        <p:tgtEl>
                                          <p:spTgt spid="52"/>
                                        </p:tgtEl>
                                      </p:cBhvr>
                                    </p:animEffect>
                                  </p:childTnLst>
                                </p:cTn>
                              </p:par>
                            </p:childTnLst>
                          </p:cTn>
                        </p:par>
                        <p:par>
                          <p:cTn id="12" fill="hold">
                            <p:stCondLst>
                              <p:cond delay="20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8280961" cy="801243"/>
            <a:chOff x="747522" y="439102"/>
            <a:chExt cx="8280961" cy="801243"/>
          </a:xfrm>
        </p:grpSpPr>
        <p:sp>
          <p:nvSpPr>
            <p:cNvPr id="3" name="TextBox 3"/>
            <p:cNvSpPr txBox="1"/>
            <p:nvPr/>
          </p:nvSpPr>
          <p:spPr>
            <a:xfrm>
              <a:off x="775716" y="439102"/>
              <a:ext cx="2278685"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03 · ATTENTION, STEP 2</a:t>
              </a:r>
            </a:p>
          </p:txBody>
        </p:sp>
        <p:sp>
          <p:nvSpPr>
            <p:cNvPr id="4" name="TextBox 4"/>
            <p:cNvSpPr txBox="1"/>
            <p:nvPr/>
          </p:nvSpPr>
          <p:spPr>
            <a:xfrm>
              <a:off x="747522" y="682942"/>
              <a:ext cx="8280961"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Multi-head attention: eight views at once</a:t>
              </a:r>
            </a:p>
          </p:txBody>
        </p:sp>
      </p:grpSp>
      <mc:AlternateContent xmlns:mc="http://schemas.openxmlformats.org/markup-compatibility/2006">
        <mc:Choice xmlns:a14="http://schemas.microsoft.com/office/drawing/2010/main" Requires="a14">
          <p:sp>
            <p:nvSpPr>
              <p:cNvPr id="6" name="multihead-formula"/>
              <p:cNvSpPr txBox="1">
                <a:spLocks noGrp="1"/>
              </p:cNvSpPr>
              <p:nvPr/>
            </p:nvSpPr>
            <p:spPr>
              <a:xfrm>
                <a:off x="762000" y="1428750"/>
                <a:ext cx="10668000" cy="4762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m:rPr>
                          <m:sty m:val="p"/>
                        </m:rPr>
                        <a:rPr lang="en-US" sz="1650" dirty="0">
                          <a:solidFill>
                            <a:srgbClr val="E8F1FA"/>
                          </a:solidFill>
                          <a:latin typeface="Cambria Math"/>
                          <a:ea typeface="Cambria Math"/>
                          <a:cs typeface="Cambria Math"/>
                        </a:rPr>
                        <m:t>MultiHead</m:t>
                      </m:r>
                      <m:d>
                        <m:dPr>
                          <m:begChr m:val="("/>
                          <m:sepChr m:val=""/>
                          <m:endChr m:val=")"/>
                          <m:grow m:val="on"/>
                          <m:ctrlPr>
                            <a:rPr lang="en-US" sz="1650" dirty="0">
                              <a:solidFill>
                                <a:srgbClr val="E8F1FA"/>
                              </a:solidFill>
                              <a:latin typeface="Cambria Math"/>
                              <a:ea typeface="Cambria Math"/>
                              <a:cs typeface="Cambria Math"/>
                            </a:rPr>
                          </m:ctrlPr>
                        </m:dPr>
                        <m:e>
                          <m:r>
                            <a:rPr lang="en-US" sz="1650" dirty="0">
                              <a:solidFill>
                                <a:srgbClr val="E8F1FA"/>
                              </a:solidFill>
                              <a:latin typeface="Cambria Math"/>
                              <a:ea typeface="Cambria Math"/>
                              <a:cs typeface="Cambria Math"/>
                            </a:rPr>
                            <m:t>Q</m:t>
                          </m:r>
                          <m:r>
                            <m:rPr>
                              <m:sty m:val="p"/>
                            </m:rPr>
                            <a:rPr lang="en-US" sz="1650" dirty="0">
                              <a:solidFill>
                                <a:srgbClr val="E8F1FA"/>
                              </a:solidFill>
                              <a:latin typeface="Cambria Math"/>
                              <a:ea typeface="Cambria Math"/>
                              <a:cs typeface="Cambria Math"/>
                            </a:rPr>
                            <m:t>,</m:t>
                          </m:r>
                          <m:r>
                            <a:rPr lang="en-US" sz="1650" dirty="0">
                              <a:solidFill>
                                <a:srgbClr val="E8F1FA"/>
                              </a:solidFill>
                              <a:latin typeface="Cambria Math"/>
                              <a:ea typeface="Cambria Math"/>
                              <a:cs typeface="Cambria Math"/>
                            </a:rPr>
                            <m:t>K</m:t>
                          </m:r>
                          <m:r>
                            <m:rPr>
                              <m:sty m:val="p"/>
                            </m:rPr>
                            <a:rPr lang="en-US" sz="1650" dirty="0">
                              <a:solidFill>
                                <a:srgbClr val="E8F1FA"/>
                              </a:solidFill>
                              <a:latin typeface="Cambria Math"/>
                              <a:ea typeface="Cambria Math"/>
                              <a:cs typeface="Cambria Math"/>
                            </a:rPr>
                            <m:t>,</m:t>
                          </m:r>
                          <m:r>
                            <a:rPr lang="en-US" sz="1650" dirty="0">
                              <a:solidFill>
                                <a:srgbClr val="E8F1FA"/>
                              </a:solidFill>
                              <a:latin typeface="Cambria Math"/>
                              <a:ea typeface="Cambria Math"/>
                              <a:cs typeface="Cambria Math"/>
                            </a:rPr>
                            <m:t>V</m:t>
                          </m:r>
                        </m:e>
                      </m:d>
                      <m:r>
                        <m:rPr>
                          <m:sty m:val="p"/>
                        </m:rPr>
                        <a:rPr lang="en-US" sz="1650" dirty="0">
                          <a:solidFill>
                            <a:srgbClr val="E8F1FA"/>
                          </a:solidFill>
                          <a:latin typeface="Cambria Math"/>
                          <a:ea typeface="Cambria Math"/>
                          <a:cs typeface="Cambria Math"/>
                        </a:rPr>
                        <m:t>=</m:t>
                      </m:r>
                      <m:r>
                        <m:rPr>
                          <m:sty m:val="p"/>
                        </m:rPr>
                        <a:rPr lang="en-US" sz="1650" dirty="0">
                          <a:solidFill>
                            <a:srgbClr val="E8F1FA"/>
                          </a:solidFill>
                          <a:latin typeface="Cambria Math"/>
                          <a:ea typeface="Cambria Math"/>
                          <a:cs typeface="Cambria Math"/>
                        </a:rPr>
                        <m:t>Concat</m:t>
                      </m:r>
                      <m:d>
                        <m:dPr>
                          <m:begChr m:val="("/>
                          <m:sepChr m:val=""/>
                          <m:endChr m:val=")"/>
                          <m:grow m:val="on"/>
                          <m:ctrlPr>
                            <a:rPr lang="en-US" sz="1650" dirty="0">
                              <a:solidFill>
                                <a:srgbClr val="E8F1FA"/>
                              </a:solidFill>
                              <a:latin typeface="Cambria Math"/>
                              <a:ea typeface="Cambria Math"/>
                              <a:cs typeface="Cambria Math"/>
                            </a:rPr>
                          </m:ctrlPr>
                        </m:dPr>
                        <m:e>
                          <m:sSub>
                            <m:e>
                              <m:r>
                                <m:rPr>
                                  <m:sty m:val="p"/>
                                </m:rPr>
                                <a:rPr lang="en-US" sz="1650" dirty="0">
                                  <a:solidFill>
                                    <a:srgbClr val="E8F1FA"/>
                                  </a:solidFill>
                                  <a:latin typeface="Cambria Math"/>
                                  <a:ea typeface="Cambria Math"/>
                                  <a:cs typeface="Cambria Math"/>
                                </a:rPr>
                                <m:t>head</m:t>
                              </m:r>
                            </m:e>
                            <m:sub>
                              <m:r>
                                <a:rPr lang="en-US" sz="1650" dirty="0">
                                  <a:solidFill>
                                    <a:srgbClr val="E8F1FA"/>
                                  </a:solidFill>
                                  <a:latin typeface="Cambria Math"/>
                                  <a:ea typeface="Cambria Math"/>
                                  <a:cs typeface="Cambria Math"/>
                                </a:rPr>
                                <m:t>1</m:t>
                              </m:r>
                            </m:sub>
                          </m:sSub>
                          <m:r>
                            <m:rPr>
                              <m:sty m:val="p"/>
                            </m:rPr>
                            <a:rPr lang="en-US" sz="1650" dirty="0">
                              <a:solidFill>
                                <a:srgbClr val="E8F1FA"/>
                              </a:solidFill>
                              <a:latin typeface="Cambria Math"/>
                              <a:ea typeface="Cambria Math"/>
                              <a:cs typeface="Cambria Math"/>
                            </a:rPr>
                            <m:t>,…,</m:t>
                          </m:r>
                          <m:sSub>
                            <m:e>
                              <m:r>
                                <m:rPr>
                                  <m:sty m:val="p"/>
                                </m:rPr>
                                <a:rPr lang="en-US" sz="1650" dirty="0">
                                  <a:solidFill>
                                    <a:srgbClr val="E8F1FA"/>
                                  </a:solidFill>
                                  <a:latin typeface="Cambria Math"/>
                                  <a:ea typeface="Cambria Math"/>
                                  <a:cs typeface="Cambria Math"/>
                                </a:rPr>
                                <m:t>head</m:t>
                              </m:r>
                            </m:e>
                            <m:sub>
                              <m:r>
                                <a:rPr lang="en-US" sz="1650" dirty="0">
                                  <a:solidFill>
                                    <a:srgbClr val="E8F1FA"/>
                                  </a:solidFill>
                                  <a:latin typeface="Cambria Math"/>
                                  <a:ea typeface="Cambria Math"/>
                                  <a:cs typeface="Cambria Math"/>
                                </a:rPr>
                                <m:t>h</m:t>
                              </m:r>
                            </m:sub>
                          </m:sSub>
                        </m:e>
                      </m:d>
                      <m:sSup>
                        <m:e>
                          <m:r>
                            <a:rPr lang="en-US" sz="1650" dirty="0">
                              <a:solidFill>
                                <a:srgbClr val="E8F1FA"/>
                              </a:solidFill>
                              <a:latin typeface="Cambria Math"/>
                              <a:ea typeface="Cambria Math"/>
                              <a:cs typeface="Cambria Math"/>
                            </a:rPr>
                            <m:t>W</m:t>
                          </m:r>
                        </m:e>
                        <m:sup>
                          <m:r>
                            <a:rPr lang="en-US" sz="1650" dirty="0">
                              <a:solidFill>
                                <a:srgbClr val="E8F1FA"/>
                              </a:solidFill>
                              <a:latin typeface="Cambria Math"/>
                              <a:ea typeface="Cambria Math"/>
                              <a:cs typeface="Cambria Math"/>
                            </a:rPr>
                            <m:t>O</m:t>
                          </m:r>
                        </m:sup>
                      </m:sSup>
                    </m:oMath>
                  </m:oMathPara>
                </a14:m>
              </a:p>
            </p:txBody>
          </p:sp>
        </mc:Choice>
      </mc:AlternateContent>
      <mc:AlternateContent xmlns:mc="http://schemas.openxmlformats.org/markup-compatibility/2006">
        <mc:Choice xmlns:a14="http://schemas.microsoft.com/office/drawing/2010/main" Requires="a14">
          <p:sp>
            <p:nvSpPr>
              <p:cNvPr id="7" name="head-formula"/>
              <p:cNvSpPr txBox="1">
                <a:spLocks noGrp="1"/>
              </p:cNvSpPr>
              <p:nvPr/>
            </p:nvSpPr>
            <p:spPr>
              <a:xfrm>
                <a:off x="762000" y="1943100"/>
                <a:ext cx="10668000" cy="47625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sSub>
                        <m:e>
                          <m:r>
                            <m:rPr>
                              <m:sty m:val="p"/>
                            </m:rPr>
                            <a:rPr lang="en-US" sz="1650" dirty="0">
                              <a:solidFill>
                                <a:srgbClr val="E8F1FA"/>
                              </a:solidFill>
                              <a:latin typeface="Cambria Math"/>
                              <a:ea typeface="Cambria Math"/>
                              <a:cs typeface="Cambria Math"/>
                            </a:rPr>
                            <m:t>head</m:t>
                          </m:r>
                        </m:e>
                        <m:sub>
                          <m:r>
                            <a:rPr lang="en-US" sz="1650" dirty="0">
                              <a:solidFill>
                                <a:srgbClr val="E8F1FA"/>
                              </a:solidFill>
                              <a:latin typeface="Cambria Math"/>
                              <a:ea typeface="Cambria Math"/>
                              <a:cs typeface="Cambria Math"/>
                            </a:rPr>
                            <m:t>i</m:t>
                          </m:r>
                        </m:sub>
                      </m:sSub>
                      <m:r>
                        <m:rPr>
                          <m:sty m:val="p"/>
                        </m:rPr>
                        <a:rPr lang="en-US" sz="1650" dirty="0">
                          <a:solidFill>
                            <a:srgbClr val="E8F1FA"/>
                          </a:solidFill>
                          <a:latin typeface="Cambria Math"/>
                          <a:ea typeface="Cambria Math"/>
                          <a:cs typeface="Cambria Math"/>
                        </a:rPr>
                        <m:t>=</m:t>
                      </m:r>
                      <m:r>
                        <m:rPr>
                          <m:sty m:val="p"/>
                        </m:rPr>
                        <a:rPr lang="en-US" sz="1650" dirty="0">
                          <a:solidFill>
                            <a:srgbClr val="E8F1FA"/>
                          </a:solidFill>
                          <a:latin typeface="Cambria Math"/>
                          <a:ea typeface="Cambria Math"/>
                          <a:cs typeface="Cambria Math"/>
                        </a:rPr>
                        <m:t>Attention</m:t>
                      </m:r>
                      <m:d>
                        <m:dPr>
                          <m:begChr m:val="("/>
                          <m:sepChr m:val=""/>
                          <m:endChr m:val=")"/>
                          <m:grow m:val="on"/>
                          <m:ctrlPr>
                            <a:rPr lang="en-US" sz="1650" dirty="0">
                              <a:solidFill>
                                <a:srgbClr val="E8F1FA"/>
                              </a:solidFill>
                              <a:latin typeface="Cambria Math"/>
                              <a:ea typeface="Cambria Math"/>
                              <a:cs typeface="Cambria Math"/>
                            </a:rPr>
                          </m:ctrlPr>
                        </m:dPr>
                        <m:e>
                          <m:r>
                            <a:rPr lang="en-US" sz="1650" dirty="0">
                              <a:solidFill>
                                <a:srgbClr val="E8F1FA"/>
                              </a:solidFill>
                              <a:latin typeface="Cambria Math"/>
                              <a:ea typeface="Cambria Math"/>
                              <a:cs typeface="Cambria Math"/>
                            </a:rPr>
                            <m:t>Q</m:t>
                          </m:r>
                          <m:sSubSup>
                            <m:e>
                              <m:r>
                                <a:rPr lang="en-US" sz="1650" dirty="0">
                                  <a:solidFill>
                                    <a:srgbClr val="E8F1FA"/>
                                  </a:solidFill>
                                  <a:latin typeface="Cambria Math"/>
                                  <a:ea typeface="Cambria Math"/>
                                  <a:cs typeface="Cambria Math"/>
                                </a:rPr>
                                <m:t>W</m:t>
                              </m:r>
                            </m:e>
                            <m:sub>
                              <m:r>
                                <a:rPr lang="en-US" sz="1650" dirty="0">
                                  <a:solidFill>
                                    <a:srgbClr val="E8F1FA"/>
                                  </a:solidFill>
                                  <a:latin typeface="Cambria Math"/>
                                  <a:ea typeface="Cambria Math"/>
                                  <a:cs typeface="Cambria Math"/>
                                </a:rPr>
                                <m:t>i</m:t>
                              </m:r>
                            </m:sub>
                            <m:sup>
                              <m:r>
                                <a:rPr lang="en-US" sz="1650" dirty="0">
                                  <a:solidFill>
                                    <a:srgbClr val="E8F1FA"/>
                                  </a:solidFill>
                                  <a:latin typeface="Cambria Math"/>
                                  <a:ea typeface="Cambria Math"/>
                                  <a:cs typeface="Cambria Math"/>
                                </a:rPr>
                                <m:t>Q</m:t>
                              </m:r>
                            </m:sup>
                          </m:sSubSup>
                          <m:r>
                            <m:rPr>
                              <m:sty m:val="p"/>
                            </m:rPr>
                            <a:rPr lang="en-US" sz="1650" dirty="0">
                              <a:solidFill>
                                <a:srgbClr val="E8F1FA"/>
                              </a:solidFill>
                              <a:latin typeface="Cambria Math"/>
                              <a:ea typeface="Cambria Math"/>
                              <a:cs typeface="Cambria Math"/>
                            </a:rPr>
                            <m:t>,</m:t>
                          </m:r>
                          <m:r>
                            <a:rPr lang="en-US" sz="1650" dirty="0">
                              <a:solidFill>
                                <a:srgbClr val="E8F1FA"/>
                              </a:solidFill>
                              <a:latin typeface="Cambria Math"/>
                              <a:ea typeface="Cambria Math"/>
                              <a:cs typeface="Cambria Math"/>
                            </a:rPr>
                            <m:t xml:space="preserve"> </m:t>
                          </m:r>
                          <m:r>
                            <a:rPr lang="en-US" sz="1650" dirty="0">
                              <a:solidFill>
                                <a:srgbClr val="E8F1FA"/>
                              </a:solidFill>
                              <a:latin typeface="Cambria Math"/>
                              <a:ea typeface="Cambria Math"/>
                              <a:cs typeface="Cambria Math"/>
                            </a:rPr>
                            <m:t>K</m:t>
                          </m:r>
                          <m:sSubSup>
                            <m:e>
                              <m:r>
                                <a:rPr lang="en-US" sz="1650" dirty="0">
                                  <a:solidFill>
                                    <a:srgbClr val="E8F1FA"/>
                                  </a:solidFill>
                                  <a:latin typeface="Cambria Math"/>
                                  <a:ea typeface="Cambria Math"/>
                                  <a:cs typeface="Cambria Math"/>
                                </a:rPr>
                                <m:t>W</m:t>
                              </m:r>
                            </m:e>
                            <m:sub>
                              <m:r>
                                <a:rPr lang="en-US" sz="1650" dirty="0">
                                  <a:solidFill>
                                    <a:srgbClr val="E8F1FA"/>
                                  </a:solidFill>
                                  <a:latin typeface="Cambria Math"/>
                                  <a:ea typeface="Cambria Math"/>
                                  <a:cs typeface="Cambria Math"/>
                                </a:rPr>
                                <m:t>i</m:t>
                              </m:r>
                            </m:sub>
                            <m:sup>
                              <m:r>
                                <a:rPr lang="en-US" sz="1650" dirty="0">
                                  <a:solidFill>
                                    <a:srgbClr val="E8F1FA"/>
                                  </a:solidFill>
                                  <a:latin typeface="Cambria Math"/>
                                  <a:ea typeface="Cambria Math"/>
                                  <a:cs typeface="Cambria Math"/>
                                </a:rPr>
                                <m:t>K</m:t>
                              </m:r>
                            </m:sup>
                          </m:sSubSup>
                          <m:r>
                            <m:rPr>
                              <m:sty m:val="p"/>
                            </m:rPr>
                            <a:rPr lang="en-US" sz="1650" dirty="0">
                              <a:solidFill>
                                <a:srgbClr val="E8F1FA"/>
                              </a:solidFill>
                              <a:latin typeface="Cambria Math"/>
                              <a:ea typeface="Cambria Math"/>
                              <a:cs typeface="Cambria Math"/>
                            </a:rPr>
                            <m:t>,</m:t>
                          </m:r>
                          <m:r>
                            <a:rPr lang="en-US" sz="1650" dirty="0">
                              <a:solidFill>
                                <a:srgbClr val="E8F1FA"/>
                              </a:solidFill>
                              <a:latin typeface="Cambria Math"/>
                              <a:ea typeface="Cambria Math"/>
                              <a:cs typeface="Cambria Math"/>
                            </a:rPr>
                            <m:t xml:space="preserve"> </m:t>
                          </m:r>
                          <m:r>
                            <a:rPr lang="en-US" sz="1650" dirty="0">
                              <a:solidFill>
                                <a:srgbClr val="E8F1FA"/>
                              </a:solidFill>
                              <a:latin typeface="Cambria Math"/>
                              <a:ea typeface="Cambria Math"/>
                              <a:cs typeface="Cambria Math"/>
                            </a:rPr>
                            <m:t>V</m:t>
                          </m:r>
                          <m:sSubSup>
                            <m:e>
                              <m:r>
                                <a:rPr lang="en-US" sz="1650" dirty="0">
                                  <a:solidFill>
                                    <a:srgbClr val="E8F1FA"/>
                                  </a:solidFill>
                                  <a:latin typeface="Cambria Math"/>
                                  <a:ea typeface="Cambria Math"/>
                                  <a:cs typeface="Cambria Math"/>
                                </a:rPr>
                                <m:t>W</m:t>
                              </m:r>
                            </m:e>
                            <m:sub>
                              <m:r>
                                <a:rPr lang="en-US" sz="1650" dirty="0">
                                  <a:solidFill>
                                    <a:srgbClr val="E8F1FA"/>
                                  </a:solidFill>
                                  <a:latin typeface="Cambria Math"/>
                                  <a:ea typeface="Cambria Math"/>
                                  <a:cs typeface="Cambria Math"/>
                                </a:rPr>
                                <m:t>i</m:t>
                              </m:r>
                            </m:sub>
                            <m:sup>
                              <m:r>
                                <a:rPr lang="en-US" sz="1650" dirty="0">
                                  <a:solidFill>
                                    <a:srgbClr val="E8F1FA"/>
                                  </a:solidFill>
                                  <a:latin typeface="Cambria Math"/>
                                  <a:ea typeface="Cambria Math"/>
                                  <a:cs typeface="Cambria Math"/>
                                </a:rPr>
                                <m:t>V</m:t>
                              </m:r>
                            </m:sup>
                          </m:sSubSup>
                        </m:e>
                      </m:d>
                    </m:oMath>
                  </m:oMathPara>
                </a14:m>
              </a:p>
            </p:txBody>
          </p:sp>
        </mc:Choice>
      </mc:AlternateContent>
      <p:grpSp>
        <p:nvGrpSpPr>
          <p:cNvPr id="47" name="Group 47"/>
          <p:cNvGrpSpPr/>
          <p:nvPr/>
        </p:nvGrpSpPr>
        <p:grpSpPr>
          <a:xfrm>
            <a:off x="1064133" y="3009900"/>
            <a:ext cx="9833166" cy="2180939"/>
            <a:chOff x="1064133" y="3009900"/>
            <a:chExt cx="9833166" cy="2180939"/>
          </a:xfrm>
        </p:grpSpPr>
        <p:grpSp>
          <p:nvGrpSpPr>
            <p:cNvPr id="11" name="Group 11"/>
            <p:cNvGrpSpPr/>
            <p:nvPr/>
          </p:nvGrpSpPr>
          <p:grpSpPr>
            <a:xfrm>
              <a:off x="1064133" y="3664268"/>
              <a:ext cx="157734" cy="1026033"/>
              <a:chOff x="1064133" y="3664268"/>
              <a:chExt cx="157734" cy="1026033"/>
            </a:xfrm>
          </p:grpSpPr>
          <p:sp>
            <p:nvSpPr>
              <p:cNvPr id="8" name="TextBox 8"/>
              <p:cNvSpPr txBox="1"/>
              <p:nvPr/>
            </p:nvSpPr>
            <p:spPr>
              <a:xfrm>
                <a:off x="1064133" y="3664268"/>
                <a:ext cx="157734" cy="264033"/>
              </a:xfrm>
              <a:prstGeom prst="rect">
                <a:avLst/>
              </a:prstGeom>
              <a:noFill/>
              <a:ln>
                <a:noFill/>
              </a:ln>
            </p:spPr>
            <p:txBody>
              <a:bodyPr wrap="none" lIns="0" tIns="0" rIns="0" bIns="0" anchor="t" anchorCtr="0">
                <a:spAutoFit/>
              </a:bodyPr>
              <a:lstStyle/>
              <a:p>
                <a:pPr algn="ctr"/>
                <a:r>
                  <a:rPr lang="en-US" sz="1350" dirty="0">
                    <a:solidFill>
                      <a:srgbClr val="F5A623"/>
                    </a:solidFill>
                    <a:latin typeface="Consolas"/>
                    <a:ea typeface="Consolas"/>
                    <a:cs typeface="Consolas"/>
                  </a:rPr>
                  <a:t>Q</a:t>
                </a:r>
              </a:p>
            </p:txBody>
          </p:sp>
          <p:sp>
            <p:nvSpPr>
              <p:cNvPr id="9" name="TextBox 9"/>
              <p:cNvSpPr txBox="1"/>
              <p:nvPr/>
            </p:nvSpPr>
            <p:spPr>
              <a:xfrm>
                <a:off x="1083335" y="4045268"/>
                <a:ext cx="119329"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Consolas"/>
                    <a:ea typeface="Consolas"/>
                    <a:cs typeface="Consolas"/>
                  </a:rPr>
                  <a:t>K</a:t>
                </a:r>
              </a:p>
            </p:txBody>
          </p:sp>
          <p:sp>
            <p:nvSpPr>
              <p:cNvPr id="10" name="TextBox 10"/>
              <p:cNvSpPr txBox="1"/>
              <p:nvPr/>
            </p:nvSpPr>
            <p:spPr>
              <a:xfrm>
                <a:off x="1083335" y="4426268"/>
                <a:ext cx="119329"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Consolas"/>
                    <a:ea typeface="Consolas"/>
                    <a:cs typeface="Consolas"/>
                  </a:rPr>
                  <a:t>V</a:t>
                </a:r>
              </a:p>
            </p:txBody>
          </p:sp>
        </p:grpSp>
        <p:grpSp>
          <p:nvGrpSpPr>
            <p:cNvPr id="18" name="Group 18"/>
            <p:cNvGrpSpPr/>
            <p:nvPr/>
          </p:nvGrpSpPr>
          <p:grpSpPr>
            <a:xfrm>
              <a:off x="1905000" y="3619500"/>
              <a:ext cx="1047750" cy="1034987"/>
              <a:chOff x="1905000" y="3619500"/>
              <a:chExt cx="1047750" cy="1034987"/>
            </a:xfrm>
          </p:grpSpPr>
          <p:sp>
            <p:nvSpPr>
              <p:cNvPr id="12" name="Rectangle 12"/>
              <p:cNvSpPr/>
              <p:nvPr/>
            </p:nvSpPr>
            <p:spPr>
              <a:xfrm>
                <a:off x="1905000" y="3619500"/>
                <a:ext cx="1047750" cy="266700"/>
              </a:xfrm>
              <a:prstGeom prst="roundRect">
                <a:avLst>
                  <a:gd name="adj" fmla="val 10714"/>
                </a:avLst>
              </a:prstGeom>
              <a:solidFill>
                <a:srgbClr val="10284A"/>
              </a:solidFill>
              <a:ln w="14288">
                <a:solidFill>
                  <a:srgbClr val="9CC3E6"/>
                </a:solidFill>
              </a:ln>
            </p:spPr>
          </p:sp>
          <p:sp>
            <p:nvSpPr>
              <p:cNvPr id="13" name="TextBox 13"/>
              <p:cNvSpPr txBox="1"/>
              <p:nvPr/>
            </p:nvSpPr>
            <p:spPr>
              <a:xfrm>
                <a:off x="2089080" y="3687128"/>
                <a:ext cx="679590"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Linear W</a:t>
                </a:r>
                <a:r>
                  <a:rPr lang="en-US" sz="750" baseline="30000" dirty="0">
                    <a:solidFill>
                      <a:srgbClr val="E8F1FA"/>
                    </a:solidFill>
                    <a:latin typeface="Segoe UI"/>
                    <a:ea typeface="Segoe UI"/>
                    <a:cs typeface="Segoe UI"/>
                  </a:rPr>
                  <a:t>Q</a:t>
                </a:r>
              </a:p>
            </p:txBody>
          </p:sp>
          <p:sp>
            <p:nvSpPr>
              <p:cNvPr id="14" name="Rectangle 14"/>
              <p:cNvSpPr/>
              <p:nvPr/>
            </p:nvSpPr>
            <p:spPr>
              <a:xfrm>
                <a:off x="1905000" y="4000500"/>
                <a:ext cx="1047750" cy="266700"/>
              </a:xfrm>
              <a:prstGeom prst="roundRect">
                <a:avLst>
                  <a:gd name="adj" fmla="val 10714"/>
                </a:avLst>
              </a:prstGeom>
              <a:solidFill>
                <a:srgbClr val="10284A"/>
              </a:solidFill>
              <a:ln w="14288">
                <a:solidFill>
                  <a:srgbClr val="9CC3E6"/>
                </a:solidFill>
              </a:ln>
            </p:spPr>
          </p:sp>
          <p:sp>
            <p:nvSpPr>
              <p:cNvPr id="15" name="TextBox 15"/>
              <p:cNvSpPr txBox="1"/>
              <p:nvPr/>
            </p:nvSpPr>
            <p:spPr>
              <a:xfrm>
                <a:off x="2099748" y="4068128"/>
                <a:ext cx="658254"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Linear W</a:t>
                </a:r>
                <a:r>
                  <a:rPr lang="en-US" sz="750" baseline="30000" dirty="0">
                    <a:solidFill>
                      <a:srgbClr val="E8F1FA"/>
                    </a:solidFill>
                    <a:latin typeface="Segoe UI"/>
                    <a:ea typeface="Segoe UI"/>
                    <a:cs typeface="Segoe UI"/>
                  </a:rPr>
                  <a:t>K</a:t>
                </a:r>
              </a:p>
            </p:txBody>
          </p:sp>
          <p:sp>
            <p:nvSpPr>
              <p:cNvPr id="16" name="Rectangle 16"/>
              <p:cNvSpPr/>
              <p:nvPr/>
            </p:nvSpPr>
            <p:spPr>
              <a:xfrm>
                <a:off x="1905000" y="4381500"/>
                <a:ext cx="1047750" cy="266700"/>
              </a:xfrm>
              <a:prstGeom prst="roundRect">
                <a:avLst>
                  <a:gd name="adj" fmla="val 10714"/>
                </a:avLst>
              </a:prstGeom>
              <a:solidFill>
                <a:srgbClr val="10284A"/>
              </a:solidFill>
              <a:ln w="14288">
                <a:solidFill>
                  <a:srgbClr val="9CC3E6"/>
                </a:solidFill>
              </a:ln>
            </p:spPr>
          </p:sp>
          <p:sp>
            <p:nvSpPr>
              <p:cNvPr id="17" name="TextBox 17"/>
              <p:cNvSpPr txBox="1"/>
              <p:nvPr/>
            </p:nvSpPr>
            <p:spPr>
              <a:xfrm>
                <a:off x="2099748" y="4449128"/>
                <a:ext cx="658254"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Linear W</a:t>
                </a:r>
                <a:r>
                  <a:rPr lang="en-US" sz="750" baseline="30000" dirty="0">
                    <a:solidFill>
                      <a:srgbClr val="E8F1FA"/>
                    </a:solidFill>
                    <a:latin typeface="Segoe UI"/>
                    <a:ea typeface="Segoe UI"/>
                    <a:cs typeface="Segoe UI"/>
                  </a:rPr>
                  <a:t>V</a:t>
                </a:r>
              </a:p>
            </p:txBody>
          </p:sp>
        </p:grpSp>
        <p:grpSp>
          <p:nvGrpSpPr>
            <p:cNvPr id="25" name="Group 25"/>
            <p:cNvGrpSpPr/>
            <p:nvPr/>
          </p:nvGrpSpPr>
          <p:grpSpPr>
            <a:xfrm>
              <a:off x="1314450" y="3752850"/>
              <a:ext cx="2647950" cy="762001"/>
              <a:chOff x="1314450" y="3752850"/>
              <a:chExt cx="2647950" cy="762001"/>
            </a:xfrm>
          </p:grpSpPr>
          <p:sp>
            <p:nvSpPr>
              <p:cNvPr id="19" name="Line 19"/>
              <p:cNvSpPr/>
              <p:nvPr/>
            </p:nvSpPr>
            <p:spPr>
              <a:xfrm>
                <a:off x="1314450" y="3752850"/>
                <a:ext cx="571500" cy="1"/>
              </a:xfrm>
              <a:prstGeom prst="line">
                <a:avLst/>
              </a:prstGeom>
              <a:noFill/>
              <a:ln w="14288">
                <a:solidFill>
                  <a:srgbClr val="9CC3E6"/>
                </a:solidFill>
                <a:tailEnd type="triangle" w="lg" len="lg"/>
              </a:ln>
            </p:spPr>
          </p:sp>
          <p:sp>
            <p:nvSpPr>
              <p:cNvPr id="20" name="Line 20"/>
              <p:cNvSpPr/>
              <p:nvPr/>
            </p:nvSpPr>
            <p:spPr>
              <a:xfrm>
                <a:off x="1314450" y="4133850"/>
                <a:ext cx="571500" cy="1"/>
              </a:xfrm>
              <a:prstGeom prst="line">
                <a:avLst/>
              </a:prstGeom>
              <a:noFill/>
              <a:ln w="14288">
                <a:solidFill>
                  <a:srgbClr val="9CC3E6"/>
                </a:solidFill>
                <a:tailEnd type="triangle" w="lg" len="lg"/>
              </a:ln>
            </p:spPr>
          </p:sp>
          <p:sp>
            <p:nvSpPr>
              <p:cNvPr id="21" name="Line 21"/>
              <p:cNvSpPr/>
              <p:nvPr/>
            </p:nvSpPr>
            <p:spPr>
              <a:xfrm>
                <a:off x="1314450" y="4514850"/>
                <a:ext cx="571500" cy="1"/>
              </a:xfrm>
              <a:prstGeom prst="line">
                <a:avLst/>
              </a:prstGeom>
              <a:noFill/>
              <a:ln w="14288">
                <a:solidFill>
                  <a:srgbClr val="9CC3E6"/>
                </a:solidFill>
                <a:tailEnd type="triangle" w="lg" len="lg"/>
              </a:ln>
            </p:spPr>
          </p:sp>
          <p:sp>
            <p:nvSpPr>
              <p:cNvPr id="22" name="Line 22"/>
              <p:cNvSpPr/>
              <p:nvPr/>
            </p:nvSpPr>
            <p:spPr>
              <a:xfrm>
                <a:off x="2952750" y="3752850"/>
                <a:ext cx="1009650" cy="1"/>
              </a:xfrm>
              <a:prstGeom prst="line">
                <a:avLst/>
              </a:prstGeom>
              <a:noFill/>
              <a:ln w="14288">
                <a:solidFill>
                  <a:srgbClr val="9CC3E6"/>
                </a:solidFill>
                <a:tailEnd type="triangle" w="lg" len="lg"/>
              </a:ln>
            </p:spPr>
          </p:sp>
          <p:sp>
            <p:nvSpPr>
              <p:cNvPr id="23" name="Line 23"/>
              <p:cNvSpPr/>
              <p:nvPr/>
            </p:nvSpPr>
            <p:spPr>
              <a:xfrm>
                <a:off x="2952750" y="4133850"/>
                <a:ext cx="1009650" cy="1"/>
              </a:xfrm>
              <a:prstGeom prst="line">
                <a:avLst/>
              </a:prstGeom>
              <a:noFill/>
              <a:ln w="14288">
                <a:solidFill>
                  <a:srgbClr val="9CC3E6"/>
                </a:solidFill>
                <a:tailEnd type="triangle" w="lg" len="lg"/>
              </a:ln>
            </p:spPr>
          </p:sp>
          <p:sp>
            <p:nvSpPr>
              <p:cNvPr id="24" name="Line 24"/>
              <p:cNvSpPr/>
              <p:nvPr/>
            </p:nvSpPr>
            <p:spPr>
              <a:xfrm>
                <a:off x="2952750" y="4514850"/>
                <a:ext cx="1009650" cy="1"/>
              </a:xfrm>
              <a:prstGeom prst="line">
                <a:avLst/>
              </a:prstGeom>
              <a:noFill/>
              <a:ln w="14288">
                <a:solidFill>
                  <a:srgbClr val="9CC3E6"/>
                </a:solidFill>
                <a:tailEnd type="triangle" w="lg" len="lg"/>
              </a:ln>
            </p:spPr>
          </p:sp>
        </p:grpSp>
        <p:grpSp>
          <p:nvGrpSpPr>
            <p:cNvPr id="34" name="Group 34"/>
            <p:cNvGrpSpPr/>
            <p:nvPr/>
          </p:nvGrpSpPr>
          <p:grpSpPr>
            <a:xfrm>
              <a:off x="4000500" y="3009900"/>
              <a:ext cx="2371725" cy="1809750"/>
              <a:chOff x="4000500" y="3009900"/>
              <a:chExt cx="2371725" cy="1809750"/>
            </a:xfrm>
          </p:grpSpPr>
          <p:sp>
            <p:nvSpPr>
              <p:cNvPr id="26" name="Rectangle 26"/>
              <p:cNvSpPr/>
              <p:nvPr/>
            </p:nvSpPr>
            <p:spPr>
              <a:xfrm>
                <a:off x="4000500" y="4476750"/>
                <a:ext cx="1905000" cy="342900"/>
              </a:xfrm>
              <a:prstGeom prst="roundRect">
                <a:avLst>
                  <a:gd name="adj" fmla="val 8333"/>
                </a:avLst>
              </a:prstGeom>
              <a:solidFill>
                <a:srgbClr val="10284A"/>
              </a:solidFill>
              <a:ln w="11430">
                <a:solidFill>
                  <a:srgbClr val="9CC3E6"/>
                </a:solidFill>
              </a:ln>
            </p:spPr>
          </p:sp>
          <p:sp>
            <p:nvSpPr>
              <p:cNvPr id="27" name="Rectangle 27"/>
              <p:cNvSpPr/>
              <p:nvPr/>
            </p:nvSpPr>
            <p:spPr>
              <a:xfrm>
                <a:off x="4067175" y="4267200"/>
                <a:ext cx="1905000" cy="342900"/>
              </a:xfrm>
              <a:prstGeom prst="roundRect">
                <a:avLst>
                  <a:gd name="adj" fmla="val 8333"/>
                </a:avLst>
              </a:prstGeom>
              <a:solidFill>
                <a:srgbClr val="10284A"/>
              </a:solidFill>
              <a:ln w="11430">
                <a:solidFill>
                  <a:srgbClr val="9CC3E6"/>
                </a:solidFill>
              </a:ln>
            </p:spPr>
          </p:sp>
          <p:sp>
            <p:nvSpPr>
              <p:cNvPr id="28" name="Rectangle 28"/>
              <p:cNvSpPr/>
              <p:nvPr/>
            </p:nvSpPr>
            <p:spPr>
              <a:xfrm>
                <a:off x="4133850" y="4057650"/>
                <a:ext cx="1905000" cy="342900"/>
              </a:xfrm>
              <a:prstGeom prst="roundRect">
                <a:avLst>
                  <a:gd name="adj" fmla="val 8333"/>
                </a:avLst>
              </a:prstGeom>
              <a:solidFill>
                <a:srgbClr val="10284A"/>
              </a:solidFill>
              <a:ln w="11430">
                <a:solidFill>
                  <a:srgbClr val="9CC3E6"/>
                </a:solidFill>
              </a:ln>
            </p:spPr>
          </p:sp>
          <p:sp>
            <p:nvSpPr>
              <p:cNvPr id="29" name="Rectangle 29"/>
              <p:cNvSpPr/>
              <p:nvPr/>
            </p:nvSpPr>
            <p:spPr>
              <a:xfrm>
                <a:off x="4200525" y="3848100"/>
                <a:ext cx="1905000" cy="342900"/>
              </a:xfrm>
              <a:prstGeom prst="roundRect">
                <a:avLst>
                  <a:gd name="adj" fmla="val 8333"/>
                </a:avLst>
              </a:prstGeom>
              <a:solidFill>
                <a:srgbClr val="10284A"/>
              </a:solidFill>
              <a:ln w="11430">
                <a:solidFill>
                  <a:srgbClr val="9CC3E6"/>
                </a:solidFill>
              </a:ln>
            </p:spPr>
          </p:sp>
          <p:sp>
            <p:nvSpPr>
              <p:cNvPr id="30" name="Rectangle 30"/>
              <p:cNvSpPr/>
              <p:nvPr/>
            </p:nvSpPr>
            <p:spPr>
              <a:xfrm>
                <a:off x="4267200" y="3638550"/>
                <a:ext cx="1905000" cy="342900"/>
              </a:xfrm>
              <a:prstGeom prst="roundRect">
                <a:avLst>
                  <a:gd name="adj" fmla="val 8333"/>
                </a:avLst>
              </a:prstGeom>
              <a:solidFill>
                <a:srgbClr val="10284A"/>
              </a:solidFill>
              <a:ln w="11430">
                <a:solidFill>
                  <a:srgbClr val="9CC3E6"/>
                </a:solidFill>
              </a:ln>
            </p:spPr>
          </p:sp>
          <p:sp>
            <p:nvSpPr>
              <p:cNvPr id="31" name="Rectangle 31"/>
              <p:cNvSpPr/>
              <p:nvPr/>
            </p:nvSpPr>
            <p:spPr>
              <a:xfrm>
                <a:off x="4333875" y="3429000"/>
                <a:ext cx="1905000" cy="342900"/>
              </a:xfrm>
              <a:prstGeom prst="roundRect">
                <a:avLst>
                  <a:gd name="adj" fmla="val 8333"/>
                </a:avLst>
              </a:prstGeom>
              <a:solidFill>
                <a:srgbClr val="10284A"/>
              </a:solidFill>
              <a:ln w="11430">
                <a:solidFill>
                  <a:srgbClr val="9CC3E6"/>
                </a:solidFill>
              </a:ln>
            </p:spPr>
          </p:sp>
          <p:sp>
            <p:nvSpPr>
              <p:cNvPr id="32" name="Rectangle 32"/>
              <p:cNvSpPr/>
              <p:nvPr/>
            </p:nvSpPr>
            <p:spPr>
              <a:xfrm>
                <a:off x="4400550" y="3219450"/>
                <a:ext cx="1905000" cy="342900"/>
              </a:xfrm>
              <a:prstGeom prst="roundRect">
                <a:avLst>
                  <a:gd name="adj" fmla="val 8333"/>
                </a:avLst>
              </a:prstGeom>
              <a:solidFill>
                <a:srgbClr val="10284A"/>
              </a:solidFill>
              <a:ln w="11430">
                <a:solidFill>
                  <a:srgbClr val="9CC3E6"/>
                </a:solidFill>
              </a:ln>
            </p:spPr>
          </p:sp>
          <p:sp>
            <p:nvSpPr>
              <p:cNvPr id="33" name="Rectangle 33"/>
              <p:cNvSpPr/>
              <p:nvPr/>
            </p:nvSpPr>
            <p:spPr>
              <a:xfrm>
                <a:off x="4467225" y="3009900"/>
                <a:ext cx="1905000" cy="342900"/>
              </a:xfrm>
              <a:prstGeom prst="roundRect">
                <a:avLst>
                  <a:gd name="adj" fmla="val 8333"/>
                </a:avLst>
              </a:prstGeom>
              <a:solidFill>
                <a:srgbClr val="10284A"/>
              </a:solidFill>
              <a:ln w="14288">
                <a:solidFill>
                  <a:srgbClr val="F5A623"/>
                </a:solidFill>
              </a:ln>
            </p:spPr>
          </p:sp>
        </p:grpSp>
        <p:sp>
          <p:nvSpPr>
            <p:cNvPr id="35" name="TextBox 35"/>
            <p:cNvSpPr txBox="1"/>
            <p:nvPr/>
          </p:nvSpPr>
          <p:spPr>
            <a:xfrm>
              <a:off x="4620916" y="3123724"/>
              <a:ext cx="1597617" cy="190690"/>
            </a:xfrm>
            <a:prstGeom prst="rect">
              <a:avLst/>
            </a:prstGeom>
            <a:noFill/>
            <a:ln>
              <a:noFill/>
            </a:ln>
          </p:spPr>
          <p:txBody>
            <a:bodyPr wrap="none" lIns="0" tIns="0" rIns="0" bIns="0" anchor="t" anchorCtr="0">
              <a:spAutoFit/>
            </a:bodyPr>
            <a:lstStyle/>
            <a:p>
              <a:pPr algn="ctr"/>
              <a:r>
                <a:rPr lang="en-US" sz="980" dirty="0">
                  <a:solidFill>
                    <a:srgbClr val="E8F1FA"/>
                  </a:solidFill>
                  <a:latin typeface="Segoe UI"/>
                  <a:ea typeface="Segoe UI"/>
                  <a:cs typeface="Segoe UI"/>
                </a:rPr>
                <a:t>Scaled Dot-Product Attn</a:t>
              </a:r>
            </a:p>
          </p:txBody>
        </p:sp>
        <p:sp>
          <p:nvSpPr>
            <p:cNvPr id="36" name="TextBox 36"/>
            <p:cNvSpPr txBox="1"/>
            <p:nvPr/>
          </p:nvSpPr>
          <p:spPr>
            <a:xfrm>
              <a:off x="3901775" y="5000149"/>
              <a:ext cx="2483451" cy="190690"/>
            </a:xfrm>
            <a:prstGeom prst="rect">
              <a:avLst/>
            </a:prstGeom>
            <a:noFill/>
            <a:ln>
              <a:noFill/>
            </a:ln>
          </p:spPr>
          <p:txBody>
            <a:bodyPr wrap="none" lIns="0" tIns="0" rIns="0" bIns="0" anchor="t" anchorCtr="0">
              <a:spAutoFit/>
            </a:bodyPr>
            <a:lstStyle/>
            <a:p>
              <a:pPr algn="ctr"/>
              <a:r>
                <a:rPr lang="en-US" sz="980" spc="150" dirty="0">
                  <a:solidFill>
                    <a:srgbClr val="F5A623"/>
                  </a:solidFill>
                  <a:latin typeface="Consolas"/>
                  <a:ea typeface="Consolas"/>
                  <a:cs typeface="Consolas"/>
                </a:rPr>
                <a:t>× h = 8 HEADS · d_k = 64 EACH</a:t>
              </a:r>
            </a:p>
          </p:txBody>
        </p:sp>
        <p:grpSp>
          <p:nvGrpSpPr>
            <p:cNvPr id="40" name="Group 40"/>
            <p:cNvGrpSpPr/>
            <p:nvPr/>
          </p:nvGrpSpPr>
          <p:grpSpPr>
            <a:xfrm>
              <a:off x="6972300" y="4095750"/>
              <a:ext cx="3276600" cy="1"/>
              <a:chOff x="6972300" y="4095750"/>
              <a:chExt cx="3276600" cy="1"/>
            </a:xfrm>
          </p:grpSpPr>
          <p:sp>
            <p:nvSpPr>
              <p:cNvPr id="37" name="Line 37"/>
              <p:cNvSpPr/>
              <p:nvPr/>
            </p:nvSpPr>
            <p:spPr>
              <a:xfrm>
                <a:off x="6972300" y="4095750"/>
                <a:ext cx="247650" cy="1"/>
              </a:xfrm>
              <a:prstGeom prst="line">
                <a:avLst/>
              </a:prstGeom>
              <a:noFill/>
              <a:ln w="14288">
                <a:solidFill>
                  <a:srgbClr val="9CC3E6"/>
                </a:solidFill>
                <a:tailEnd type="triangle" w="lg" len="lg"/>
              </a:ln>
            </p:spPr>
          </p:sp>
          <p:sp>
            <p:nvSpPr>
              <p:cNvPr id="38" name="Line 38"/>
              <p:cNvSpPr/>
              <p:nvPr/>
            </p:nvSpPr>
            <p:spPr>
              <a:xfrm>
                <a:off x="8382000" y="4095750"/>
                <a:ext cx="266700" cy="1"/>
              </a:xfrm>
              <a:prstGeom prst="line">
                <a:avLst/>
              </a:prstGeom>
              <a:noFill/>
              <a:ln w="14288">
                <a:solidFill>
                  <a:srgbClr val="9CC3E6"/>
                </a:solidFill>
                <a:tailEnd type="triangle" w="lg" len="lg"/>
              </a:ln>
            </p:spPr>
          </p:sp>
          <p:sp>
            <p:nvSpPr>
              <p:cNvPr id="39" name="Line 39"/>
              <p:cNvSpPr/>
              <p:nvPr/>
            </p:nvSpPr>
            <p:spPr>
              <a:xfrm>
                <a:off x="9906000" y="4095750"/>
                <a:ext cx="342900" cy="1"/>
              </a:xfrm>
              <a:prstGeom prst="line">
                <a:avLst/>
              </a:prstGeom>
              <a:noFill/>
              <a:ln w="14288">
                <a:solidFill>
                  <a:srgbClr val="9CC3E6"/>
                </a:solidFill>
                <a:tailEnd type="triangle" w="lg" len="lg"/>
              </a:ln>
            </p:spPr>
          </p:sp>
        </p:grpSp>
        <p:grpSp>
          <p:nvGrpSpPr>
            <p:cNvPr id="45" name="Group 45"/>
            <p:cNvGrpSpPr/>
            <p:nvPr/>
          </p:nvGrpSpPr>
          <p:grpSpPr>
            <a:xfrm>
              <a:off x="7239000" y="3924300"/>
              <a:ext cx="2667000" cy="342900"/>
              <a:chOff x="7239000" y="3924300"/>
              <a:chExt cx="2667000" cy="342900"/>
            </a:xfrm>
          </p:grpSpPr>
          <p:sp>
            <p:nvSpPr>
              <p:cNvPr id="41" name="Rectangle 41"/>
              <p:cNvSpPr/>
              <p:nvPr/>
            </p:nvSpPr>
            <p:spPr>
              <a:xfrm>
                <a:off x="7239000" y="3924300"/>
                <a:ext cx="1143000" cy="342900"/>
              </a:xfrm>
              <a:prstGeom prst="roundRect">
                <a:avLst>
                  <a:gd name="adj" fmla="val 8333"/>
                </a:avLst>
              </a:prstGeom>
              <a:solidFill>
                <a:srgbClr val="10284A"/>
              </a:solidFill>
              <a:ln w="14288">
                <a:solidFill>
                  <a:srgbClr val="9CC3E6"/>
                </a:solidFill>
              </a:ln>
            </p:spPr>
          </p:sp>
          <p:sp>
            <p:nvSpPr>
              <p:cNvPr id="42" name="TextBox 42"/>
              <p:cNvSpPr txBox="1"/>
              <p:nvPr/>
            </p:nvSpPr>
            <p:spPr>
              <a:xfrm>
                <a:off x="7569737" y="4030028"/>
                <a:ext cx="481527"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Concat</a:t>
                </a:r>
              </a:p>
            </p:txBody>
          </p:sp>
          <p:sp>
            <p:nvSpPr>
              <p:cNvPr id="43" name="Rectangle 43"/>
              <p:cNvSpPr/>
              <p:nvPr/>
            </p:nvSpPr>
            <p:spPr>
              <a:xfrm>
                <a:off x="8667750" y="3924300"/>
                <a:ext cx="1238250" cy="342900"/>
              </a:xfrm>
              <a:prstGeom prst="roundRect">
                <a:avLst>
                  <a:gd name="adj" fmla="val 8333"/>
                </a:avLst>
              </a:prstGeom>
              <a:solidFill>
                <a:srgbClr val="10284A"/>
              </a:solidFill>
              <a:ln w="14288">
                <a:solidFill>
                  <a:srgbClr val="9CC3E6"/>
                </a:solidFill>
              </a:ln>
            </p:spPr>
          </p:sp>
          <p:sp>
            <p:nvSpPr>
              <p:cNvPr id="44" name="TextBox 44"/>
              <p:cNvSpPr txBox="1"/>
              <p:nvPr/>
            </p:nvSpPr>
            <p:spPr>
              <a:xfrm>
                <a:off x="8947080" y="4030028"/>
                <a:ext cx="679590"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Linear W</a:t>
                </a:r>
                <a:r>
                  <a:rPr lang="en-US" sz="750" baseline="30000" dirty="0">
                    <a:solidFill>
                      <a:srgbClr val="E8F1FA"/>
                    </a:solidFill>
                    <a:latin typeface="Segoe UI"/>
                    <a:ea typeface="Segoe UI"/>
                    <a:cs typeface="Segoe UI"/>
                  </a:rPr>
                  <a:t>O</a:t>
                </a:r>
              </a:p>
            </p:txBody>
          </p:sp>
        </p:grpSp>
        <p:sp>
          <p:nvSpPr>
            <p:cNvPr id="46" name="TextBox 46"/>
            <p:cNvSpPr txBox="1"/>
            <p:nvPr/>
          </p:nvSpPr>
          <p:spPr>
            <a:xfrm>
              <a:off x="10301288" y="3968591"/>
              <a:ext cx="596011" cy="295275"/>
            </a:xfrm>
            <a:prstGeom prst="rect">
              <a:avLst/>
            </a:prstGeom>
            <a:noFill/>
            <a:ln>
              <a:noFill/>
            </a:ln>
          </p:spPr>
          <p:txBody>
            <a:bodyPr wrap="none" lIns="0" tIns="0" rIns="0" bIns="0" anchor="t" anchorCtr="0">
              <a:spAutoFit/>
            </a:bodyPr>
            <a:lstStyle/>
            <a:p>
              <a:pPr algn="l">
                <a:lnSpc>
                  <a:spcPts val="1050"/>
                </a:lnSpc>
              </a:pPr>
              <a:r>
                <a:rPr lang="en-US" sz="820" spc="75" dirty="0">
                  <a:solidFill>
                    <a:srgbClr val="9CB4CC"/>
                  </a:solidFill>
                  <a:latin typeface="Consolas"/>
                  <a:ea typeface="Consolas"/>
                  <a:cs typeface="Consolas"/>
                </a:rPr>
                <a:t>MULTIHEAD</a:t>
              </a:r>
              <a:br/>
              <a:r>
                <a:rPr lang="en-US" sz="820" spc="75" dirty="0">
                  <a:solidFill>
                    <a:srgbClr val="9CB4CC"/>
                  </a:solidFill>
                  <a:latin typeface="Consolas"/>
                  <a:ea typeface="Consolas"/>
                  <a:cs typeface="Consolas"/>
                </a:rPr>
                <a:t>(Q, K, V)</a:t>
              </a:r>
            </a:p>
          </p:txBody>
        </p:sp>
      </p:grpSp>
      <p:sp>
        <p:nvSpPr>
          <p:cNvPr id="48" name="Freeform 48"/>
          <p:cNvSpPr/>
          <p:nvPr/>
        </p:nvSpPr>
        <p:spPr>
          <a:xfrm>
            <a:off x="6667500" y="2857500"/>
            <a:ext cx="285750" cy="2476500"/>
          </a:xfrm>
          <a:prstGeom prst="rightBrace">
            <a:avLst/>
          </a:prstGeom>
          <a:noFill/>
          <a:ln w="19050">
            <a:solidFill>
              <a:srgbClr val="9CC3E6"/>
            </a:solidFill>
          </a:ln>
        </p:spPr>
      </p:sp>
      <p:grpSp>
        <p:nvGrpSpPr>
          <p:cNvPr id="50" name="Group 50"/>
          <p:cNvGrpSpPr/>
          <p:nvPr/>
        </p:nvGrpSpPr>
        <p:grpSpPr>
          <a:xfrm>
            <a:off x="755142" y="5702618"/>
            <a:ext cx="7497508" cy="511683"/>
            <a:chOff x="755142" y="5702618"/>
            <a:chExt cx="7497508" cy="511683"/>
          </a:xfrm>
        </p:grpSpPr>
        <p:sp>
          <p:nvSpPr>
            <p:cNvPr id="49" name="TextBox 49"/>
            <p:cNvSpPr txBox="1"/>
            <p:nvPr/>
          </p:nvSpPr>
          <p:spPr>
            <a:xfrm>
              <a:off x="755142" y="5702618"/>
              <a:ext cx="7497508" cy="511683"/>
            </a:xfrm>
            <a:prstGeom prst="rect">
              <a:avLst/>
            </a:prstGeom>
            <a:noFill/>
            <a:ln>
              <a:noFill/>
            </a:ln>
          </p:spPr>
          <p:txBody>
            <a:bodyPr wrap="none" lIns="0" tIns="0" rIns="0" bIns="0" anchor="t" anchorCtr="0">
              <a:spAutoFit/>
            </a:bodyPr>
            <a:lstStyle/>
            <a:p>
              <a:pPr algn="l" marL="145732" indent="-145732">
                <a:lnSpc>
                  <a:spcPts val="1950"/>
                </a:lnSpc>
                <a:buClr>
                  <a:srgbClr val="C9DBEA"/>
                </a:buClr>
                <a:buSzTx/>
                <a:buFontTx/>
                <a:buChar char="●"/>
              </a:pPr>
              <a:r>
                <a:rPr lang="en-US" sz="1350" dirty="0">
                  <a:solidFill>
                    <a:srgbClr val="C9DBEA"/>
                  </a:solidFill>
                  <a:latin typeface="Segoe UI"/>
                  <a:ea typeface="Segoe UI"/>
                  <a:cs typeface="Segoe UI"/>
                </a:rPr>
                <a:t>d_k = d_v = 512 / 8 = 64 — eight reduced heads cost about as much as one full-width head</a:t>
              </a:r>
              <a:br/>
              <a:r>
                <a:rPr lang="en-US" sz="1350" dirty="0">
                  <a:solidFill>
                    <a:srgbClr val="C9DBEA"/>
                  </a:solidFill>
                  <a:latin typeface="Segoe UI"/>
                  <a:ea typeface="Segoe UI"/>
                  <a:cs typeface="Segoe UI"/>
                </a:rPr>
                <a:t>● Ablation (Table 3): a single attention head is 0.9 BLEU worse than the best setting</a:t>
              </a:r>
            </a:p>
          </p:txBody>
        </p:sp>
      </p:grpSp>
      <p:grpSp>
        <p:nvGrpSpPr>
          <p:cNvPr id="55" name="Group 55"/>
          <p:cNvGrpSpPr/>
          <p:nvPr/>
        </p:nvGrpSpPr>
        <p:grpSpPr>
          <a:xfrm>
            <a:off x="9525000" y="6362700"/>
            <a:ext cx="2095500" cy="304800"/>
            <a:chOff x="9525000" y="6362700"/>
            <a:chExt cx="2095500" cy="304800"/>
          </a:xfrm>
        </p:grpSpPr>
        <p:sp>
          <p:nvSpPr>
            <p:cNvPr id="51" name="Rectangle 51"/>
            <p:cNvSpPr/>
            <p:nvPr/>
          </p:nvSpPr>
          <p:spPr>
            <a:xfrm>
              <a:off x="9525000" y="6362700"/>
              <a:ext cx="2095500" cy="304800"/>
            </a:xfrm>
            <a:prstGeom prst="rect">
              <a:avLst/>
            </a:prstGeom>
            <a:noFill/>
            <a:ln w="9525">
              <a:solidFill>
                <a:srgbClr val="3C5A80"/>
              </a:solidFill>
            </a:ln>
          </p:spPr>
        </p:sp>
        <p:sp>
          <p:nvSpPr>
            <p:cNvPr id="52" name="Line 52"/>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53" name="TextBox 53"/>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54" name="TextBox 54"/>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07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600"/>
                                        <p:tgtEl>
                                          <p:spTgt spid="6"/>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600"/>
                                        <p:tgtEl>
                                          <p:spTgt spid="7"/>
                                        </p:tgtEl>
                                      </p:cBhvr>
                                    </p:animEffect>
                                  </p:childTnLst>
                                </p:cTn>
                              </p:par>
                            </p:childTnLst>
                          </p:cTn>
                        </p:par>
                        <p:par>
                          <p:cTn id="12" fill="hold">
                            <p:stCondLst>
                              <p:cond delay="1500"/>
                            </p:stCondLst>
                            <p:childTnLst>
                              <p:par>
                                <p:cTn xmlns:p="http://schemas.openxmlformats.org/presentationml/2006/main" id="13" presetID="22" presetClass="entr" presetSubtype="2" fill="hold" grpId="0" nodeType="afterEffect">
                                  <p:stCondLst>
                                    <p:cond delay="300"/>
                                  </p:stCondLst>
                                  <p:childTnLst>
                                    <p:set>
                                      <p:cBhvr>
                                        <p:cTn id="14" dur="1" fill="hold">
                                          <p:stCondLst>
                                            <p:cond delay="0"/>
                                          </p:stCondLst>
                                        </p:cTn>
                                        <p:tgtEl>
                                          <p:spTgt spid="47"/>
                                        </p:tgtEl>
                                        <p:attrNameLst>
                                          <p:attrName>style.visibility</p:attrName>
                                        </p:attrNameLst>
                                      </p:cBhvr>
                                      <p:to>
                                        <p:strVal val="visible"/>
                                      </p:to>
                                    </p:set>
                                    <p:animEffect transition="in" filter="wipe(right)">
                                      <p:cBhvr>
                                        <p:cTn id="15" dur="1000"/>
                                        <p:tgtEl>
                                          <p:spTgt spid="47"/>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7434758" cy="801243"/>
            <a:chOff x="747522" y="439102"/>
            <a:chExt cx="7434758" cy="801243"/>
          </a:xfrm>
        </p:grpSpPr>
        <p:sp>
          <p:nvSpPr>
            <p:cNvPr id="3" name="TextBox 3"/>
            <p:cNvSpPr txBox="1"/>
            <p:nvPr/>
          </p:nvSpPr>
          <p:spPr>
            <a:xfrm>
              <a:off x="775716" y="439102"/>
              <a:ext cx="2278685"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03 · ATTENTION, STEP 3</a:t>
              </a:r>
            </a:p>
          </p:txBody>
        </p:sp>
        <p:sp>
          <p:nvSpPr>
            <p:cNvPr id="4" name="TextBox 4"/>
            <p:cNvSpPr txBox="1"/>
            <p:nvPr/>
          </p:nvSpPr>
          <p:spPr>
            <a:xfrm>
              <a:off x="747522" y="682942"/>
              <a:ext cx="7434758"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The same block is used in three places</a:t>
              </a:r>
            </a:p>
          </p:txBody>
        </p:sp>
      </p:grpSp>
      <p:grpSp>
        <p:nvGrpSpPr>
          <p:cNvPr id="30" name="Group 30"/>
          <p:cNvGrpSpPr/>
          <p:nvPr/>
        </p:nvGrpSpPr>
        <p:grpSpPr>
          <a:xfrm>
            <a:off x="762000" y="1428750"/>
            <a:ext cx="3429000" cy="4476750"/>
            <a:chOff x="762000" y="1428750"/>
            <a:chExt cx="3429000" cy="4476750"/>
          </a:xfrm>
        </p:grpSpPr>
        <p:sp>
          <p:nvSpPr>
            <p:cNvPr id="6" name="Rectangle 6"/>
            <p:cNvSpPr/>
            <p:nvPr/>
          </p:nvSpPr>
          <p:spPr>
            <a:xfrm>
              <a:off x="762000" y="1428750"/>
              <a:ext cx="3429000" cy="4476750"/>
            </a:xfrm>
            <a:prstGeom prst="rect">
              <a:avLst/>
            </a:prstGeom>
            <a:noFill/>
            <a:ln w="9525">
              <a:solidFill>
                <a:srgbClr val="3C5A80"/>
              </a:solidFill>
            </a:ln>
          </p:spPr>
        </p:sp>
        <p:sp>
          <p:nvSpPr>
            <p:cNvPr id="7" name="TextBox 7"/>
            <p:cNvSpPr txBox="1"/>
            <p:nvPr/>
          </p:nvSpPr>
          <p:spPr>
            <a:xfrm>
              <a:off x="947547" y="1609249"/>
              <a:ext cx="2453020"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A · ENCODER SELF-ATTENTION</a:t>
              </a:r>
            </a:p>
          </p:txBody>
        </p:sp>
        <p:sp>
          <p:nvSpPr>
            <p:cNvPr id="8" name="TextBox 8"/>
            <p:cNvSpPr txBox="1"/>
            <p:nvPr/>
          </p:nvSpPr>
          <p:spPr>
            <a:xfrm>
              <a:off x="947738" y="1845945"/>
              <a:ext cx="1937955"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Q, K, V ← previous encoder layer</a:t>
              </a:r>
            </a:p>
          </p:txBody>
        </p:sp>
        <p:grpSp>
          <p:nvGrpSpPr>
            <p:cNvPr id="16" name="Group 16"/>
            <p:cNvGrpSpPr/>
            <p:nvPr/>
          </p:nvGrpSpPr>
          <p:grpSpPr>
            <a:xfrm>
              <a:off x="1143000" y="1939925"/>
              <a:ext cx="2667000" cy="831850"/>
              <a:chOff x="1143000" y="1939925"/>
              <a:chExt cx="2667000" cy="831850"/>
            </a:xfrm>
          </p:grpSpPr>
          <p:sp>
            <p:nvSpPr>
              <p:cNvPr id="9" name="Freeform 9"/>
              <p:cNvSpPr/>
              <p:nvPr/>
            </p:nvSpPr>
            <p:spPr>
              <a:xfrm>
                <a:off x="1143000" y="2606675"/>
                <a:ext cx="666750" cy="165100"/>
              </a:xfrm>
              <a:custGeom>
                <a:avLst/>
                <a:gdLst/>
                <a:ahLst/>
                <a:cxnLst/>
                <a:rect l="l" t="t" r="r" b="b"/>
                <a:pathLst>
                  <a:path w="666750" h="165100">
                    <a:moveTo>
                      <a:pt x="0" y="165100"/>
                    </a:moveTo>
                    <a:cubicBezTo>
                      <a:pt x="222250" y="0"/>
                      <a:pt x="444500" y="0"/>
                      <a:pt x="666750" y="165100"/>
                    </a:cubicBezTo>
                  </a:path>
                </a:pathLst>
              </a:custGeom>
              <a:noFill/>
              <a:ln w="9525">
                <a:solidFill>
                  <a:srgbClr val="9CC3E6">
                    <a:alpha val="55000"/>
                  </a:srgbClr>
                </a:solidFill>
              </a:ln>
            </p:spPr>
          </p:sp>
          <p:sp>
            <p:nvSpPr>
              <p:cNvPr id="10" name="Freeform 10"/>
              <p:cNvSpPr/>
              <p:nvPr/>
            </p:nvSpPr>
            <p:spPr>
              <a:xfrm>
                <a:off x="1143000" y="2384425"/>
                <a:ext cx="1333500" cy="387350"/>
              </a:xfrm>
              <a:custGeom>
                <a:avLst/>
                <a:gdLst/>
                <a:ahLst/>
                <a:cxnLst/>
                <a:rect l="l" t="t" r="r" b="b"/>
                <a:pathLst>
                  <a:path w="1333500" h="387350">
                    <a:moveTo>
                      <a:pt x="0" y="387350"/>
                    </a:moveTo>
                    <a:cubicBezTo>
                      <a:pt x="444500" y="0"/>
                      <a:pt x="889000" y="0"/>
                      <a:pt x="1333500" y="387350"/>
                    </a:cubicBezTo>
                  </a:path>
                </a:pathLst>
              </a:custGeom>
              <a:noFill/>
              <a:ln w="9525">
                <a:solidFill>
                  <a:srgbClr val="9CC3E6">
                    <a:alpha val="55000"/>
                  </a:srgbClr>
                </a:solidFill>
              </a:ln>
            </p:spPr>
          </p:sp>
          <p:sp>
            <p:nvSpPr>
              <p:cNvPr id="11" name="Freeform 11"/>
              <p:cNvSpPr/>
              <p:nvPr/>
            </p:nvSpPr>
            <p:spPr>
              <a:xfrm>
                <a:off x="1143000" y="1939925"/>
                <a:ext cx="2667000" cy="831850"/>
              </a:xfrm>
              <a:custGeom>
                <a:avLst/>
                <a:gdLst/>
                <a:ahLst/>
                <a:cxnLst/>
                <a:rect l="l" t="t" r="r" b="b"/>
                <a:pathLst>
                  <a:path w="2667000" h="831850">
                    <a:moveTo>
                      <a:pt x="0" y="831850"/>
                    </a:moveTo>
                    <a:cubicBezTo>
                      <a:pt x="889000" y="0"/>
                      <a:pt x="1778000" y="0"/>
                      <a:pt x="2667000" y="831850"/>
                    </a:cubicBezTo>
                  </a:path>
                </a:pathLst>
              </a:custGeom>
              <a:noFill/>
              <a:ln w="9525">
                <a:solidFill>
                  <a:srgbClr val="9CC3E6">
                    <a:alpha val="55000"/>
                  </a:srgbClr>
                </a:solidFill>
              </a:ln>
            </p:spPr>
          </p:sp>
          <p:sp>
            <p:nvSpPr>
              <p:cNvPr id="12" name="Freeform 12"/>
              <p:cNvSpPr/>
              <p:nvPr/>
            </p:nvSpPr>
            <p:spPr>
              <a:xfrm>
                <a:off x="1809750" y="2606675"/>
                <a:ext cx="666750" cy="165100"/>
              </a:xfrm>
              <a:custGeom>
                <a:avLst/>
                <a:gdLst/>
                <a:ahLst/>
                <a:cxnLst/>
                <a:rect l="l" t="t" r="r" b="b"/>
                <a:pathLst>
                  <a:path w="666750" h="165100">
                    <a:moveTo>
                      <a:pt x="0" y="165100"/>
                    </a:moveTo>
                    <a:cubicBezTo>
                      <a:pt x="222250" y="0"/>
                      <a:pt x="444500" y="0"/>
                      <a:pt x="666750" y="165100"/>
                    </a:cubicBezTo>
                  </a:path>
                </a:pathLst>
              </a:custGeom>
              <a:noFill/>
              <a:ln w="9525">
                <a:solidFill>
                  <a:srgbClr val="9CC3E6">
                    <a:alpha val="55000"/>
                  </a:srgbClr>
                </a:solidFill>
              </a:ln>
            </p:spPr>
          </p:sp>
          <p:sp>
            <p:nvSpPr>
              <p:cNvPr id="13" name="Freeform 13"/>
              <p:cNvSpPr/>
              <p:nvPr/>
            </p:nvSpPr>
            <p:spPr>
              <a:xfrm>
                <a:off x="1809750" y="2162175"/>
                <a:ext cx="2000250" cy="609600"/>
              </a:xfrm>
              <a:custGeom>
                <a:avLst/>
                <a:gdLst/>
                <a:ahLst/>
                <a:cxnLst/>
                <a:rect l="l" t="t" r="r" b="b"/>
                <a:pathLst>
                  <a:path w="2000250" h="609600">
                    <a:moveTo>
                      <a:pt x="0" y="609600"/>
                    </a:moveTo>
                    <a:cubicBezTo>
                      <a:pt x="666750" y="0"/>
                      <a:pt x="1333500" y="0"/>
                      <a:pt x="2000250" y="609600"/>
                    </a:cubicBezTo>
                  </a:path>
                </a:pathLst>
              </a:custGeom>
              <a:noFill/>
              <a:ln w="9525">
                <a:solidFill>
                  <a:srgbClr val="9CC3E6">
                    <a:alpha val="55000"/>
                  </a:srgbClr>
                </a:solidFill>
              </a:ln>
            </p:spPr>
          </p:sp>
          <p:sp>
            <p:nvSpPr>
              <p:cNvPr id="14" name="Freeform 14"/>
              <p:cNvSpPr/>
              <p:nvPr/>
            </p:nvSpPr>
            <p:spPr>
              <a:xfrm>
                <a:off x="2476500" y="2384425"/>
                <a:ext cx="1333500" cy="387350"/>
              </a:xfrm>
              <a:custGeom>
                <a:avLst/>
                <a:gdLst/>
                <a:ahLst/>
                <a:cxnLst/>
                <a:rect l="l" t="t" r="r" b="b"/>
                <a:pathLst>
                  <a:path w="1333500" h="387350">
                    <a:moveTo>
                      <a:pt x="0" y="387350"/>
                    </a:moveTo>
                    <a:cubicBezTo>
                      <a:pt x="444500" y="0"/>
                      <a:pt x="889000" y="0"/>
                      <a:pt x="1333500" y="387350"/>
                    </a:cubicBezTo>
                  </a:path>
                </a:pathLst>
              </a:custGeom>
              <a:noFill/>
              <a:ln w="9525">
                <a:solidFill>
                  <a:srgbClr val="9CC3E6">
                    <a:alpha val="55000"/>
                  </a:srgbClr>
                </a:solidFill>
              </a:ln>
            </p:spPr>
          </p:sp>
          <p:sp>
            <p:nvSpPr>
              <p:cNvPr id="15" name="Freeform 15"/>
              <p:cNvSpPr/>
              <p:nvPr/>
            </p:nvSpPr>
            <p:spPr>
              <a:xfrm>
                <a:off x="3143250" y="2606675"/>
                <a:ext cx="666750" cy="165100"/>
              </a:xfrm>
              <a:custGeom>
                <a:avLst/>
                <a:gdLst/>
                <a:ahLst/>
                <a:cxnLst/>
                <a:rect l="l" t="t" r="r" b="b"/>
                <a:pathLst>
                  <a:path w="666750" h="165100">
                    <a:moveTo>
                      <a:pt x="0" y="165100"/>
                    </a:moveTo>
                    <a:cubicBezTo>
                      <a:pt x="222250" y="0"/>
                      <a:pt x="444500" y="0"/>
                      <a:pt x="666750" y="165100"/>
                    </a:cubicBezTo>
                  </a:path>
                </a:pathLst>
              </a:custGeom>
              <a:noFill/>
              <a:ln w="9525">
                <a:solidFill>
                  <a:srgbClr val="9CC3E6">
                    <a:alpha val="55000"/>
                  </a:srgbClr>
                </a:solidFill>
              </a:ln>
            </p:spPr>
          </p:sp>
        </p:grpSp>
        <p:grpSp>
          <p:nvGrpSpPr>
            <p:cNvPr id="20" name="Group 20"/>
            <p:cNvGrpSpPr/>
            <p:nvPr/>
          </p:nvGrpSpPr>
          <p:grpSpPr>
            <a:xfrm>
              <a:off x="1143000" y="2162175"/>
              <a:ext cx="2000250" cy="609600"/>
              <a:chOff x="1143000" y="2162175"/>
              <a:chExt cx="2000250" cy="609600"/>
            </a:xfrm>
          </p:grpSpPr>
          <p:sp>
            <p:nvSpPr>
              <p:cNvPr id="17" name="Freeform 17"/>
              <p:cNvSpPr/>
              <p:nvPr/>
            </p:nvSpPr>
            <p:spPr>
              <a:xfrm>
                <a:off x="1143000" y="2162175"/>
                <a:ext cx="2000250" cy="609600"/>
              </a:xfrm>
              <a:custGeom>
                <a:avLst/>
                <a:gdLst/>
                <a:ahLst/>
                <a:cxnLst/>
                <a:rect l="l" t="t" r="r" b="b"/>
                <a:pathLst>
                  <a:path w="2000250" h="609600">
                    <a:moveTo>
                      <a:pt x="0" y="609600"/>
                    </a:moveTo>
                    <a:cubicBezTo>
                      <a:pt x="666750" y="0"/>
                      <a:pt x="1333500" y="0"/>
                      <a:pt x="2000250" y="609600"/>
                    </a:cubicBezTo>
                  </a:path>
                </a:pathLst>
              </a:custGeom>
              <a:noFill/>
              <a:ln w="14288">
                <a:solidFill>
                  <a:srgbClr val="F5A623"/>
                </a:solidFill>
              </a:ln>
            </p:spPr>
          </p:sp>
          <p:sp>
            <p:nvSpPr>
              <p:cNvPr id="18" name="Freeform 18"/>
              <p:cNvSpPr/>
              <p:nvPr/>
            </p:nvSpPr>
            <p:spPr>
              <a:xfrm>
                <a:off x="1809750" y="2384425"/>
                <a:ext cx="1333500" cy="387350"/>
              </a:xfrm>
              <a:custGeom>
                <a:avLst/>
                <a:gdLst/>
                <a:ahLst/>
                <a:cxnLst/>
                <a:rect l="l" t="t" r="r" b="b"/>
                <a:pathLst>
                  <a:path w="1333500" h="387350">
                    <a:moveTo>
                      <a:pt x="0" y="387350"/>
                    </a:moveTo>
                    <a:cubicBezTo>
                      <a:pt x="444500" y="0"/>
                      <a:pt x="889000" y="0"/>
                      <a:pt x="1333500" y="387350"/>
                    </a:cubicBezTo>
                  </a:path>
                </a:pathLst>
              </a:custGeom>
              <a:noFill/>
              <a:ln w="14288">
                <a:solidFill>
                  <a:srgbClr val="F5A623"/>
                </a:solidFill>
              </a:ln>
            </p:spPr>
          </p:sp>
          <p:sp>
            <p:nvSpPr>
              <p:cNvPr id="19" name="Freeform 19"/>
              <p:cNvSpPr/>
              <p:nvPr/>
            </p:nvSpPr>
            <p:spPr>
              <a:xfrm>
                <a:off x="2476500" y="2606675"/>
                <a:ext cx="666750" cy="165100"/>
              </a:xfrm>
              <a:custGeom>
                <a:avLst/>
                <a:gdLst/>
                <a:ahLst/>
                <a:cxnLst/>
                <a:rect l="l" t="t" r="r" b="b"/>
                <a:pathLst>
                  <a:path w="666750" h="165100">
                    <a:moveTo>
                      <a:pt x="0" y="165100"/>
                    </a:moveTo>
                    <a:cubicBezTo>
                      <a:pt x="222250" y="0"/>
                      <a:pt x="444500" y="0"/>
                      <a:pt x="666750" y="165100"/>
                    </a:cubicBezTo>
                  </a:path>
                </a:pathLst>
              </a:custGeom>
              <a:noFill/>
              <a:ln w="14288">
                <a:solidFill>
                  <a:srgbClr val="F5A623"/>
                </a:solidFill>
              </a:ln>
            </p:spPr>
          </p:sp>
        </p:grpSp>
        <p:grpSp>
          <p:nvGrpSpPr>
            <p:cNvPr id="26" name="Group 26"/>
            <p:cNvGrpSpPr/>
            <p:nvPr/>
          </p:nvGrpSpPr>
          <p:grpSpPr>
            <a:xfrm>
              <a:off x="1057275" y="2771775"/>
              <a:ext cx="2838450" cy="171450"/>
              <a:chOff x="1057275" y="2771775"/>
              <a:chExt cx="2838450" cy="171450"/>
            </a:xfrm>
          </p:grpSpPr>
          <p:sp>
            <p:nvSpPr>
              <p:cNvPr id="21" name="Ellipse 21"/>
              <p:cNvSpPr/>
              <p:nvPr/>
            </p:nvSpPr>
            <p:spPr>
              <a:xfrm>
                <a:off x="1057275" y="2771775"/>
                <a:ext cx="171450" cy="171450"/>
              </a:xfrm>
              <a:prstGeom prst="ellipse">
                <a:avLst/>
              </a:prstGeom>
              <a:solidFill>
                <a:srgbClr val="10284A"/>
              </a:solidFill>
              <a:ln w="14288">
                <a:solidFill>
                  <a:srgbClr val="9CC3E6"/>
                </a:solidFill>
              </a:ln>
            </p:spPr>
          </p:sp>
          <p:sp>
            <p:nvSpPr>
              <p:cNvPr id="22" name="Ellipse 22"/>
              <p:cNvSpPr/>
              <p:nvPr/>
            </p:nvSpPr>
            <p:spPr>
              <a:xfrm>
                <a:off x="1724025" y="2771775"/>
                <a:ext cx="171450" cy="171450"/>
              </a:xfrm>
              <a:prstGeom prst="ellipse">
                <a:avLst/>
              </a:prstGeom>
              <a:solidFill>
                <a:srgbClr val="10284A"/>
              </a:solidFill>
              <a:ln w="14288">
                <a:solidFill>
                  <a:srgbClr val="9CC3E6"/>
                </a:solidFill>
              </a:ln>
            </p:spPr>
          </p:sp>
          <p:sp>
            <p:nvSpPr>
              <p:cNvPr id="23" name="Ellipse 23"/>
              <p:cNvSpPr/>
              <p:nvPr/>
            </p:nvSpPr>
            <p:spPr>
              <a:xfrm>
                <a:off x="2390775" y="2771775"/>
                <a:ext cx="171450" cy="171450"/>
              </a:xfrm>
              <a:prstGeom prst="ellipse">
                <a:avLst/>
              </a:prstGeom>
              <a:solidFill>
                <a:srgbClr val="10284A"/>
              </a:solidFill>
              <a:ln w="14288">
                <a:solidFill>
                  <a:srgbClr val="9CC3E6"/>
                </a:solidFill>
              </a:ln>
            </p:spPr>
          </p:sp>
          <p:sp>
            <p:nvSpPr>
              <p:cNvPr id="24" name="Ellipse 24"/>
              <p:cNvSpPr/>
              <p:nvPr/>
            </p:nvSpPr>
            <p:spPr>
              <a:xfrm>
                <a:off x="3057525" y="2771775"/>
                <a:ext cx="171450" cy="171450"/>
              </a:xfrm>
              <a:prstGeom prst="ellipse">
                <a:avLst/>
              </a:prstGeom>
              <a:solidFill>
                <a:srgbClr val="10284A"/>
              </a:solidFill>
              <a:ln w="19050">
                <a:solidFill>
                  <a:srgbClr val="F5A623"/>
                </a:solidFill>
              </a:ln>
            </p:spPr>
          </p:sp>
          <p:sp>
            <p:nvSpPr>
              <p:cNvPr id="25" name="Ellipse 25"/>
              <p:cNvSpPr/>
              <p:nvPr/>
            </p:nvSpPr>
            <p:spPr>
              <a:xfrm>
                <a:off x="3724275" y="2771775"/>
                <a:ext cx="171450" cy="171450"/>
              </a:xfrm>
              <a:prstGeom prst="ellipse">
                <a:avLst/>
              </a:prstGeom>
              <a:solidFill>
                <a:srgbClr val="10284A"/>
              </a:solidFill>
              <a:ln w="14288">
                <a:solidFill>
                  <a:srgbClr val="9CC3E6"/>
                </a:solidFill>
              </a:ln>
            </p:spPr>
          </p:sp>
        </p:grpSp>
        <p:sp>
          <p:nvSpPr>
            <p:cNvPr id="27" name="TextBox 27"/>
            <p:cNvSpPr txBox="1"/>
            <p:nvPr/>
          </p:nvSpPr>
          <p:spPr>
            <a:xfrm>
              <a:off x="1878063" y="3141345"/>
              <a:ext cx="1196873" cy="176212"/>
            </a:xfrm>
            <a:prstGeom prst="rect">
              <a:avLst/>
            </a:prstGeom>
            <a:noFill/>
            <a:ln>
              <a:noFill/>
            </a:ln>
          </p:spPr>
          <p:txBody>
            <a:bodyPr wrap="none" lIns="0" tIns="0" rIns="0" bIns="0" anchor="t" anchorCtr="0">
              <a:spAutoFit/>
            </a:bodyPr>
            <a:lstStyle/>
            <a:p>
              <a:pPr algn="ctr"/>
              <a:r>
                <a:rPr lang="en-US" sz="900" dirty="0">
                  <a:solidFill>
                    <a:srgbClr val="9CB4CC"/>
                  </a:solidFill>
                  <a:latin typeface="Consolas"/>
                  <a:ea typeface="Consolas"/>
                  <a:cs typeface="Consolas"/>
                </a:rPr>
                <a:t>input positions 1 … n</a:t>
              </a:r>
            </a:p>
          </p:txBody>
        </p:sp>
        <p:sp>
          <p:nvSpPr>
            <p:cNvPr id="28" name="TextBox 28"/>
            <p:cNvSpPr txBox="1"/>
            <p:nvPr/>
          </p:nvSpPr>
          <p:spPr>
            <a:xfrm>
              <a:off x="946023" y="3862864"/>
              <a:ext cx="2776474" cy="744665"/>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Every position looks at every</a:t>
              </a:r>
              <a:br/>
              <a:r>
                <a:rPr lang="en-US" sz="1280" dirty="0">
                  <a:solidFill>
                    <a:srgbClr val="C9DBEA"/>
                  </a:solidFill>
                  <a:latin typeface="Segoe UI"/>
                  <a:ea typeface="Segoe UI"/>
                  <a:cs typeface="Segoe UI"/>
                </a:rPr>
                <a:t>other position, in both directions,</a:t>
              </a:r>
              <a:br/>
              <a:r>
                <a:rPr lang="en-US" sz="1280" dirty="0">
                  <a:solidFill>
                    <a:srgbClr val="C9DBEA"/>
                  </a:solidFill>
                  <a:latin typeface="Segoe UI"/>
                  <a:ea typeface="Segoe UI"/>
                  <a:cs typeface="Segoe UI"/>
                </a:rPr>
                <a:t>in one step — the O(1) path.</a:t>
              </a:r>
            </a:p>
          </p:txBody>
        </p:sp>
        <p:sp>
          <p:nvSpPr>
            <p:cNvPr id="29" name="TextBox 29"/>
            <p:cNvSpPr txBox="1"/>
            <p:nvPr/>
          </p:nvSpPr>
          <p:spPr>
            <a:xfrm>
              <a:off x="946023" y="4910614"/>
              <a:ext cx="3069082" cy="497014"/>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Six of these, stacked, build the</a:t>
              </a:r>
              <a:br/>
              <a:r>
                <a:rPr lang="en-US" sz="1280" dirty="0">
                  <a:solidFill>
                    <a:srgbClr val="C9DBEA"/>
                  </a:solidFill>
                  <a:latin typeface="Segoe UI"/>
                  <a:ea typeface="Segoe UI"/>
                  <a:cs typeface="Segoe UI"/>
                </a:rPr>
                <a:t>encoder's contextual representation.</a:t>
              </a:r>
            </a:p>
          </p:txBody>
        </p:sp>
      </p:grpSp>
      <p:grpSp>
        <p:nvGrpSpPr>
          <p:cNvPr id="66" name="Group 66"/>
          <p:cNvGrpSpPr/>
          <p:nvPr/>
        </p:nvGrpSpPr>
        <p:grpSpPr>
          <a:xfrm>
            <a:off x="4381500" y="1428750"/>
            <a:ext cx="3429000" cy="4476750"/>
            <a:chOff x="4381500" y="1428750"/>
            <a:chExt cx="3429000" cy="4476750"/>
          </a:xfrm>
        </p:grpSpPr>
        <p:sp>
          <p:nvSpPr>
            <p:cNvPr id="31" name="Rectangle 31"/>
            <p:cNvSpPr/>
            <p:nvPr/>
          </p:nvSpPr>
          <p:spPr>
            <a:xfrm>
              <a:off x="4381500" y="1428750"/>
              <a:ext cx="3429000" cy="4476750"/>
            </a:xfrm>
            <a:prstGeom prst="rect">
              <a:avLst/>
            </a:prstGeom>
            <a:noFill/>
            <a:ln w="9525">
              <a:solidFill>
                <a:srgbClr val="3C5A80"/>
              </a:solidFill>
            </a:ln>
          </p:spPr>
        </p:sp>
        <p:sp>
          <p:nvSpPr>
            <p:cNvPr id="32" name="TextBox 32"/>
            <p:cNvSpPr txBox="1"/>
            <p:nvPr/>
          </p:nvSpPr>
          <p:spPr>
            <a:xfrm>
              <a:off x="4567047" y="1609249"/>
              <a:ext cx="2649027"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B · MASKED DECODER SELF-ATTN</a:t>
              </a:r>
            </a:p>
          </p:txBody>
        </p:sp>
        <p:sp>
          <p:nvSpPr>
            <p:cNvPr id="33" name="TextBox 33"/>
            <p:cNvSpPr txBox="1"/>
            <p:nvPr/>
          </p:nvSpPr>
          <p:spPr>
            <a:xfrm>
              <a:off x="4567238" y="1845945"/>
              <a:ext cx="1937955"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Q, K, V ← previous decoder layer</a:t>
              </a:r>
            </a:p>
          </p:txBody>
        </p:sp>
        <p:grpSp>
          <p:nvGrpSpPr>
            <p:cNvPr id="44" name="Group 44"/>
            <p:cNvGrpSpPr/>
            <p:nvPr/>
          </p:nvGrpSpPr>
          <p:grpSpPr>
            <a:xfrm>
              <a:off x="4762500" y="1939925"/>
              <a:ext cx="2667000" cy="831850"/>
              <a:chOff x="4762500" y="1939925"/>
              <a:chExt cx="2667000" cy="831850"/>
            </a:xfrm>
          </p:grpSpPr>
          <p:sp>
            <p:nvSpPr>
              <p:cNvPr id="34" name="Freeform 34"/>
              <p:cNvSpPr/>
              <p:nvPr/>
            </p:nvSpPr>
            <p:spPr>
              <a:xfrm>
                <a:off x="4762500" y="2606675"/>
                <a:ext cx="666750" cy="165100"/>
              </a:xfrm>
              <a:custGeom>
                <a:avLst/>
                <a:gdLst/>
                <a:ahLst/>
                <a:cxnLst/>
                <a:rect l="l" t="t" r="r" b="b"/>
                <a:pathLst>
                  <a:path w="666750" h="165100">
                    <a:moveTo>
                      <a:pt x="666750" y="165100"/>
                    </a:moveTo>
                    <a:cubicBezTo>
                      <a:pt x="444500" y="0"/>
                      <a:pt x="222250" y="0"/>
                      <a:pt x="0" y="165100"/>
                    </a:cubicBezTo>
                  </a:path>
                </a:pathLst>
              </a:custGeom>
              <a:noFill/>
              <a:ln w="9525">
                <a:solidFill>
                  <a:srgbClr val="9CC3E6">
                    <a:alpha val="22000"/>
                  </a:srgbClr>
                </a:solidFill>
                <a:prstDash val="sysDot"/>
              </a:ln>
            </p:spPr>
          </p:sp>
          <p:sp>
            <p:nvSpPr>
              <p:cNvPr id="35" name="Freeform 35"/>
              <p:cNvSpPr/>
              <p:nvPr/>
            </p:nvSpPr>
            <p:spPr>
              <a:xfrm>
                <a:off x="4762500" y="2384425"/>
                <a:ext cx="1333500" cy="387350"/>
              </a:xfrm>
              <a:custGeom>
                <a:avLst/>
                <a:gdLst/>
                <a:ahLst/>
                <a:cxnLst/>
                <a:rect l="l" t="t" r="r" b="b"/>
                <a:pathLst>
                  <a:path w="1333500" h="387350">
                    <a:moveTo>
                      <a:pt x="1333500" y="387350"/>
                    </a:moveTo>
                    <a:cubicBezTo>
                      <a:pt x="889000" y="0"/>
                      <a:pt x="444500" y="0"/>
                      <a:pt x="0" y="387350"/>
                    </a:cubicBezTo>
                  </a:path>
                </a:pathLst>
              </a:custGeom>
              <a:noFill/>
              <a:ln w="9525">
                <a:solidFill>
                  <a:srgbClr val="9CC3E6">
                    <a:alpha val="22000"/>
                  </a:srgbClr>
                </a:solidFill>
                <a:prstDash val="sysDot"/>
              </a:ln>
            </p:spPr>
          </p:sp>
          <p:sp>
            <p:nvSpPr>
              <p:cNvPr id="36" name="Freeform 36"/>
              <p:cNvSpPr/>
              <p:nvPr/>
            </p:nvSpPr>
            <p:spPr>
              <a:xfrm>
                <a:off x="4762500" y="2162175"/>
                <a:ext cx="2000250" cy="609600"/>
              </a:xfrm>
              <a:custGeom>
                <a:avLst/>
                <a:gdLst/>
                <a:ahLst/>
                <a:cxnLst/>
                <a:rect l="l" t="t" r="r" b="b"/>
                <a:pathLst>
                  <a:path w="2000250" h="609600">
                    <a:moveTo>
                      <a:pt x="2000250" y="609600"/>
                    </a:moveTo>
                    <a:cubicBezTo>
                      <a:pt x="1333500" y="0"/>
                      <a:pt x="666750" y="0"/>
                      <a:pt x="0" y="609600"/>
                    </a:cubicBezTo>
                  </a:path>
                </a:pathLst>
              </a:custGeom>
              <a:noFill/>
              <a:ln w="9525">
                <a:solidFill>
                  <a:srgbClr val="9CC3E6">
                    <a:alpha val="22000"/>
                  </a:srgbClr>
                </a:solidFill>
                <a:prstDash val="sysDot"/>
              </a:ln>
            </p:spPr>
          </p:sp>
          <p:sp>
            <p:nvSpPr>
              <p:cNvPr id="37" name="Freeform 37"/>
              <p:cNvSpPr/>
              <p:nvPr/>
            </p:nvSpPr>
            <p:spPr>
              <a:xfrm>
                <a:off x="4762500" y="1939925"/>
                <a:ext cx="2667000" cy="831850"/>
              </a:xfrm>
              <a:custGeom>
                <a:avLst/>
                <a:gdLst/>
                <a:ahLst/>
                <a:cxnLst/>
                <a:rect l="l" t="t" r="r" b="b"/>
                <a:pathLst>
                  <a:path w="2667000" h="831850">
                    <a:moveTo>
                      <a:pt x="2667000" y="831850"/>
                    </a:moveTo>
                    <a:cubicBezTo>
                      <a:pt x="1778000" y="0"/>
                      <a:pt x="889000" y="0"/>
                      <a:pt x="0" y="831850"/>
                    </a:cubicBezTo>
                  </a:path>
                </a:pathLst>
              </a:custGeom>
              <a:noFill/>
              <a:ln w="9525">
                <a:solidFill>
                  <a:srgbClr val="9CC3E6">
                    <a:alpha val="22000"/>
                  </a:srgbClr>
                </a:solidFill>
                <a:prstDash val="sysDot"/>
              </a:ln>
            </p:spPr>
          </p:sp>
          <p:sp>
            <p:nvSpPr>
              <p:cNvPr id="38" name="Freeform 38"/>
              <p:cNvSpPr/>
              <p:nvPr/>
            </p:nvSpPr>
            <p:spPr>
              <a:xfrm>
                <a:off x="5429250" y="2606675"/>
                <a:ext cx="666750" cy="165100"/>
              </a:xfrm>
              <a:custGeom>
                <a:avLst/>
                <a:gdLst/>
                <a:ahLst/>
                <a:cxnLst/>
                <a:rect l="l" t="t" r="r" b="b"/>
                <a:pathLst>
                  <a:path w="666750" h="165100">
                    <a:moveTo>
                      <a:pt x="666750" y="165100"/>
                    </a:moveTo>
                    <a:cubicBezTo>
                      <a:pt x="444500" y="0"/>
                      <a:pt x="222250" y="0"/>
                      <a:pt x="0" y="165100"/>
                    </a:cubicBezTo>
                  </a:path>
                </a:pathLst>
              </a:custGeom>
              <a:noFill/>
              <a:ln w="9525">
                <a:solidFill>
                  <a:srgbClr val="9CC3E6">
                    <a:alpha val="22000"/>
                  </a:srgbClr>
                </a:solidFill>
                <a:prstDash val="sysDot"/>
              </a:ln>
            </p:spPr>
          </p:sp>
          <p:sp>
            <p:nvSpPr>
              <p:cNvPr id="39" name="Freeform 39"/>
              <p:cNvSpPr/>
              <p:nvPr/>
            </p:nvSpPr>
            <p:spPr>
              <a:xfrm>
                <a:off x="5429250" y="2384425"/>
                <a:ext cx="1333500" cy="387350"/>
              </a:xfrm>
              <a:custGeom>
                <a:avLst/>
                <a:gdLst/>
                <a:ahLst/>
                <a:cxnLst/>
                <a:rect l="l" t="t" r="r" b="b"/>
                <a:pathLst>
                  <a:path w="1333500" h="387350">
                    <a:moveTo>
                      <a:pt x="1333500" y="387350"/>
                    </a:moveTo>
                    <a:cubicBezTo>
                      <a:pt x="889000" y="0"/>
                      <a:pt x="444500" y="0"/>
                      <a:pt x="0" y="387350"/>
                    </a:cubicBezTo>
                  </a:path>
                </a:pathLst>
              </a:custGeom>
              <a:noFill/>
              <a:ln w="9525">
                <a:solidFill>
                  <a:srgbClr val="9CC3E6">
                    <a:alpha val="22000"/>
                  </a:srgbClr>
                </a:solidFill>
                <a:prstDash val="sysDot"/>
              </a:ln>
            </p:spPr>
          </p:sp>
          <p:sp>
            <p:nvSpPr>
              <p:cNvPr id="40" name="Freeform 40"/>
              <p:cNvSpPr/>
              <p:nvPr/>
            </p:nvSpPr>
            <p:spPr>
              <a:xfrm>
                <a:off x="5429250" y="2162175"/>
                <a:ext cx="2000250" cy="609600"/>
              </a:xfrm>
              <a:custGeom>
                <a:avLst/>
                <a:gdLst/>
                <a:ahLst/>
                <a:cxnLst/>
                <a:rect l="l" t="t" r="r" b="b"/>
                <a:pathLst>
                  <a:path w="2000250" h="609600">
                    <a:moveTo>
                      <a:pt x="2000250" y="609600"/>
                    </a:moveTo>
                    <a:cubicBezTo>
                      <a:pt x="1333500" y="0"/>
                      <a:pt x="666750" y="0"/>
                      <a:pt x="0" y="609600"/>
                    </a:cubicBezTo>
                  </a:path>
                </a:pathLst>
              </a:custGeom>
              <a:noFill/>
              <a:ln w="9525">
                <a:solidFill>
                  <a:srgbClr val="9CC3E6">
                    <a:alpha val="22000"/>
                  </a:srgbClr>
                </a:solidFill>
                <a:prstDash val="sysDot"/>
              </a:ln>
            </p:spPr>
          </p:sp>
          <p:sp>
            <p:nvSpPr>
              <p:cNvPr id="41" name="Freeform 41"/>
              <p:cNvSpPr/>
              <p:nvPr/>
            </p:nvSpPr>
            <p:spPr>
              <a:xfrm>
                <a:off x="6096000" y="2606675"/>
                <a:ext cx="666750" cy="165100"/>
              </a:xfrm>
              <a:custGeom>
                <a:avLst/>
                <a:gdLst/>
                <a:ahLst/>
                <a:cxnLst/>
                <a:rect l="l" t="t" r="r" b="b"/>
                <a:pathLst>
                  <a:path w="666750" h="165100">
                    <a:moveTo>
                      <a:pt x="666750" y="165100"/>
                    </a:moveTo>
                    <a:cubicBezTo>
                      <a:pt x="444500" y="0"/>
                      <a:pt x="222250" y="0"/>
                      <a:pt x="0" y="165100"/>
                    </a:cubicBezTo>
                  </a:path>
                </a:pathLst>
              </a:custGeom>
              <a:noFill/>
              <a:ln w="9525">
                <a:solidFill>
                  <a:srgbClr val="9CC3E6">
                    <a:alpha val="22000"/>
                  </a:srgbClr>
                </a:solidFill>
                <a:prstDash val="sysDot"/>
              </a:ln>
            </p:spPr>
          </p:sp>
          <p:sp>
            <p:nvSpPr>
              <p:cNvPr id="42" name="Freeform 42"/>
              <p:cNvSpPr/>
              <p:nvPr/>
            </p:nvSpPr>
            <p:spPr>
              <a:xfrm>
                <a:off x="6096000" y="2384425"/>
                <a:ext cx="1333500" cy="387350"/>
              </a:xfrm>
              <a:custGeom>
                <a:avLst/>
                <a:gdLst/>
                <a:ahLst/>
                <a:cxnLst/>
                <a:rect l="l" t="t" r="r" b="b"/>
                <a:pathLst>
                  <a:path w="1333500" h="387350">
                    <a:moveTo>
                      <a:pt x="1333500" y="387350"/>
                    </a:moveTo>
                    <a:cubicBezTo>
                      <a:pt x="889000" y="0"/>
                      <a:pt x="444500" y="0"/>
                      <a:pt x="0" y="387350"/>
                    </a:cubicBezTo>
                  </a:path>
                </a:pathLst>
              </a:custGeom>
              <a:noFill/>
              <a:ln w="9525">
                <a:solidFill>
                  <a:srgbClr val="9CC3E6">
                    <a:alpha val="22000"/>
                  </a:srgbClr>
                </a:solidFill>
                <a:prstDash val="sysDot"/>
              </a:ln>
            </p:spPr>
          </p:sp>
          <p:sp>
            <p:nvSpPr>
              <p:cNvPr id="43" name="Freeform 43"/>
              <p:cNvSpPr/>
              <p:nvPr/>
            </p:nvSpPr>
            <p:spPr>
              <a:xfrm>
                <a:off x="6762750" y="2606675"/>
                <a:ext cx="666750" cy="165100"/>
              </a:xfrm>
              <a:custGeom>
                <a:avLst/>
                <a:gdLst/>
                <a:ahLst/>
                <a:cxnLst/>
                <a:rect l="l" t="t" r="r" b="b"/>
                <a:pathLst>
                  <a:path w="666750" h="165100">
                    <a:moveTo>
                      <a:pt x="666750" y="165100"/>
                    </a:moveTo>
                    <a:cubicBezTo>
                      <a:pt x="444500" y="0"/>
                      <a:pt x="222250" y="0"/>
                      <a:pt x="0" y="165100"/>
                    </a:cubicBezTo>
                  </a:path>
                </a:pathLst>
              </a:custGeom>
              <a:noFill/>
              <a:ln w="9525">
                <a:solidFill>
                  <a:srgbClr val="9CC3E6">
                    <a:alpha val="22000"/>
                  </a:srgbClr>
                </a:solidFill>
                <a:prstDash val="sysDot"/>
              </a:ln>
            </p:spPr>
          </p:sp>
        </p:grpSp>
        <p:grpSp>
          <p:nvGrpSpPr>
            <p:cNvPr id="52" name="Group 52"/>
            <p:cNvGrpSpPr/>
            <p:nvPr/>
          </p:nvGrpSpPr>
          <p:grpSpPr>
            <a:xfrm>
              <a:off x="4762500" y="2943225"/>
              <a:ext cx="2667000" cy="831850"/>
              <a:chOff x="4762500" y="2943225"/>
              <a:chExt cx="2667000" cy="831850"/>
            </a:xfrm>
          </p:grpSpPr>
          <p:sp>
            <p:nvSpPr>
              <p:cNvPr id="45" name="Freeform 45"/>
              <p:cNvSpPr/>
              <p:nvPr/>
            </p:nvSpPr>
            <p:spPr>
              <a:xfrm>
                <a:off x="4762500" y="2943225"/>
                <a:ext cx="666750" cy="165100"/>
              </a:xfrm>
              <a:custGeom>
                <a:avLst/>
                <a:gdLst/>
                <a:ahLst/>
                <a:cxnLst/>
                <a:rect l="l" t="t" r="r" b="b"/>
                <a:pathLst>
                  <a:path w="666750" h="165100">
                    <a:moveTo>
                      <a:pt x="0" y="0"/>
                    </a:moveTo>
                    <a:cubicBezTo>
                      <a:pt x="222250" y="165100"/>
                      <a:pt x="444500" y="165100"/>
                      <a:pt x="666750" y="0"/>
                    </a:cubicBezTo>
                  </a:path>
                </a:pathLst>
              </a:custGeom>
              <a:noFill/>
              <a:ln w="9525">
                <a:solidFill>
                  <a:srgbClr val="9CC3E6">
                    <a:alpha val="55000"/>
                  </a:srgbClr>
                </a:solidFill>
              </a:ln>
            </p:spPr>
          </p:sp>
          <p:sp>
            <p:nvSpPr>
              <p:cNvPr id="46" name="Freeform 46"/>
              <p:cNvSpPr/>
              <p:nvPr/>
            </p:nvSpPr>
            <p:spPr>
              <a:xfrm>
                <a:off x="4762500" y="2943225"/>
                <a:ext cx="1333500" cy="387350"/>
              </a:xfrm>
              <a:custGeom>
                <a:avLst/>
                <a:gdLst/>
                <a:ahLst/>
                <a:cxnLst/>
                <a:rect l="l" t="t" r="r" b="b"/>
                <a:pathLst>
                  <a:path w="1333500" h="387350">
                    <a:moveTo>
                      <a:pt x="0" y="0"/>
                    </a:moveTo>
                    <a:cubicBezTo>
                      <a:pt x="444500" y="387350"/>
                      <a:pt x="889000" y="387350"/>
                      <a:pt x="1333500" y="0"/>
                    </a:cubicBezTo>
                  </a:path>
                </a:pathLst>
              </a:custGeom>
              <a:noFill/>
              <a:ln w="9525">
                <a:solidFill>
                  <a:srgbClr val="9CC3E6">
                    <a:alpha val="55000"/>
                  </a:srgbClr>
                </a:solidFill>
              </a:ln>
            </p:spPr>
          </p:sp>
          <p:sp>
            <p:nvSpPr>
              <p:cNvPr id="47" name="Freeform 47"/>
              <p:cNvSpPr/>
              <p:nvPr/>
            </p:nvSpPr>
            <p:spPr>
              <a:xfrm>
                <a:off x="4762500" y="2943225"/>
                <a:ext cx="2667000" cy="831850"/>
              </a:xfrm>
              <a:custGeom>
                <a:avLst/>
                <a:gdLst/>
                <a:ahLst/>
                <a:cxnLst/>
                <a:rect l="l" t="t" r="r" b="b"/>
                <a:pathLst>
                  <a:path w="2667000" h="831850">
                    <a:moveTo>
                      <a:pt x="0" y="0"/>
                    </a:moveTo>
                    <a:cubicBezTo>
                      <a:pt x="889000" y="831850"/>
                      <a:pt x="1778000" y="831850"/>
                      <a:pt x="2667000" y="0"/>
                    </a:cubicBezTo>
                  </a:path>
                </a:pathLst>
              </a:custGeom>
              <a:noFill/>
              <a:ln w="9525">
                <a:solidFill>
                  <a:srgbClr val="9CC3E6">
                    <a:alpha val="55000"/>
                  </a:srgbClr>
                </a:solidFill>
              </a:ln>
            </p:spPr>
          </p:sp>
          <p:sp>
            <p:nvSpPr>
              <p:cNvPr id="48" name="Freeform 48"/>
              <p:cNvSpPr/>
              <p:nvPr/>
            </p:nvSpPr>
            <p:spPr>
              <a:xfrm>
                <a:off x="5429250" y="2943225"/>
                <a:ext cx="666750" cy="165100"/>
              </a:xfrm>
              <a:custGeom>
                <a:avLst/>
                <a:gdLst/>
                <a:ahLst/>
                <a:cxnLst/>
                <a:rect l="l" t="t" r="r" b="b"/>
                <a:pathLst>
                  <a:path w="666750" h="165100">
                    <a:moveTo>
                      <a:pt x="0" y="0"/>
                    </a:moveTo>
                    <a:cubicBezTo>
                      <a:pt x="222250" y="165100"/>
                      <a:pt x="444500" y="165100"/>
                      <a:pt x="666750" y="0"/>
                    </a:cubicBezTo>
                  </a:path>
                </a:pathLst>
              </a:custGeom>
              <a:noFill/>
              <a:ln w="9525">
                <a:solidFill>
                  <a:srgbClr val="9CC3E6">
                    <a:alpha val="55000"/>
                  </a:srgbClr>
                </a:solidFill>
              </a:ln>
            </p:spPr>
          </p:sp>
          <p:sp>
            <p:nvSpPr>
              <p:cNvPr id="49" name="Freeform 49"/>
              <p:cNvSpPr/>
              <p:nvPr/>
            </p:nvSpPr>
            <p:spPr>
              <a:xfrm>
                <a:off x="5429250" y="2943225"/>
                <a:ext cx="2000250" cy="609600"/>
              </a:xfrm>
              <a:custGeom>
                <a:avLst/>
                <a:gdLst/>
                <a:ahLst/>
                <a:cxnLst/>
                <a:rect l="l" t="t" r="r" b="b"/>
                <a:pathLst>
                  <a:path w="2000250" h="609600">
                    <a:moveTo>
                      <a:pt x="0" y="0"/>
                    </a:moveTo>
                    <a:cubicBezTo>
                      <a:pt x="666750" y="609600"/>
                      <a:pt x="1333500" y="609600"/>
                      <a:pt x="2000250" y="0"/>
                    </a:cubicBezTo>
                  </a:path>
                </a:pathLst>
              </a:custGeom>
              <a:noFill/>
              <a:ln w="9525">
                <a:solidFill>
                  <a:srgbClr val="9CC3E6">
                    <a:alpha val="55000"/>
                  </a:srgbClr>
                </a:solidFill>
              </a:ln>
            </p:spPr>
          </p:sp>
          <p:sp>
            <p:nvSpPr>
              <p:cNvPr id="50" name="Freeform 50"/>
              <p:cNvSpPr/>
              <p:nvPr/>
            </p:nvSpPr>
            <p:spPr>
              <a:xfrm>
                <a:off x="6096000" y="2943225"/>
                <a:ext cx="1333500" cy="387350"/>
              </a:xfrm>
              <a:custGeom>
                <a:avLst/>
                <a:gdLst/>
                <a:ahLst/>
                <a:cxnLst/>
                <a:rect l="l" t="t" r="r" b="b"/>
                <a:pathLst>
                  <a:path w="1333500" h="387350">
                    <a:moveTo>
                      <a:pt x="0" y="0"/>
                    </a:moveTo>
                    <a:cubicBezTo>
                      <a:pt x="444500" y="387350"/>
                      <a:pt x="889000" y="387350"/>
                      <a:pt x="1333500" y="0"/>
                    </a:cubicBezTo>
                  </a:path>
                </a:pathLst>
              </a:custGeom>
              <a:noFill/>
              <a:ln w="9525">
                <a:solidFill>
                  <a:srgbClr val="9CC3E6">
                    <a:alpha val="55000"/>
                  </a:srgbClr>
                </a:solidFill>
              </a:ln>
            </p:spPr>
          </p:sp>
          <p:sp>
            <p:nvSpPr>
              <p:cNvPr id="51" name="Freeform 51"/>
              <p:cNvSpPr/>
              <p:nvPr/>
            </p:nvSpPr>
            <p:spPr>
              <a:xfrm>
                <a:off x="6762750" y="2943225"/>
                <a:ext cx="666750" cy="165100"/>
              </a:xfrm>
              <a:custGeom>
                <a:avLst/>
                <a:gdLst/>
                <a:ahLst/>
                <a:cxnLst/>
                <a:rect l="l" t="t" r="r" b="b"/>
                <a:pathLst>
                  <a:path w="666750" h="165100">
                    <a:moveTo>
                      <a:pt x="0" y="0"/>
                    </a:moveTo>
                    <a:cubicBezTo>
                      <a:pt x="222250" y="165100"/>
                      <a:pt x="444500" y="165100"/>
                      <a:pt x="666750" y="0"/>
                    </a:cubicBezTo>
                  </a:path>
                </a:pathLst>
              </a:custGeom>
              <a:noFill/>
              <a:ln w="9525">
                <a:solidFill>
                  <a:srgbClr val="9CC3E6">
                    <a:alpha val="55000"/>
                  </a:srgbClr>
                </a:solidFill>
              </a:ln>
            </p:spPr>
          </p:sp>
        </p:grpSp>
        <p:grpSp>
          <p:nvGrpSpPr>
            <p:cNvPr id="56" name="Group 56"/>
            <p:cNvGrpSpPr/>
            <p:nvPr/>
          </p:nvGrpSpPr>
          <p:grpSpPr>
            <a:xfrm>
              <a:off x="4762500" y="2943225"/>
              <a:ext cx="2000250" cy="609600"/>
              <a:chOff x="4762500" y="2943225"/>
              <a:chExt cx="2000250" cy="609600"/>
            </a:xfrm>
          </p:grpSpPr>
          <p:sp>
            <p:nvSpPr>
              <p:cNvPr id="53" name="Freeform 53"/>
              <p:cNvSpPr/>
              <p:nvPr/>
            </p:nvSpPr>
            <p:spPr>
              <a:xfrm>
                <a:off x="4762500" y="2943225"/>
                <a:ext cx="2000250" cy="609600"/>
              </a:xfrm>
              <a:custGeom>
                <a:avLst/>
                <a:gdLst/>
                <a:ahLst/>
                <a:cxnLst/>
                <a:rect l="l" t="t" r="r" b="b"/>
                <a:pathLst>
                  <a:path w="2000250" h="609600">
                    <a:moveTo>
                      <a:pt x="0" y="0"/>
                    </a:moveTo>
                    <a:cubicBezTo>
                      <a:pt x="666750" y="609600"/>
                      <a:pt x="1333500" y="609600"/>
                      <a:pt x="2000250" y="0"/>
                    </a:cubicBezTo>
                  </a:path>
                </a:pathLst>
              </a:custGeom>
              <a:noFill/>
              <a:ln w="14288">
                <a:solidFill>
                  <a:srgbClr val="F5A623"/>
                </a:solidFill>
              </a:ln>
            </p:spPr>
          </p:sp>
          <p:sp>
            <p:nvSpPr>
              <p:cNvPr id="54" name="Freeform 54"/>
              <p:cNvSpPr/>
              <p:nvPr/>
            </p:nvSpPr>
            <p:spPr>
              <a:xfrm>
                <a:off x="5429250" y="2943225"/>
                <a:ext cx="1333500" cy="387350"/>
              </a:xfrm>
              <a:custGeom>
                <a:avLst/>
                <a:gdLst/>
                <a:ahLst/>
                <a:cxnLst/>
                <a:rect l="l" t="t" r="r" b="b"/>
                <a:pathLst>
                  <a:path w="1333500" h="387350">
                    <a:moveTo>
                      <a:pt x="0" y="0"/>
                    </a:moveTo>
                    <a:cubicBezTo>
                      <a:pt x="444500" y="387350"/>
                      <a:pt x="889000" y="387350"/>
                      <a:pt x="1333500" y="0"/>
                    </a:cubicBezTo>
                  </a:path>
                </a:pathLst>
              </a:custGeom>
              <a:noFill/>
              <a:ln w="14288">
                <a:solidFill>
                  <a:srgbClr val="F5A623"/>
                </a:solidFill>
              </a:ln>
            </p:spPr>
          </p:sp>
          <p:sp>
            <p:nvSpPr>
              <p:cNvPr id="55" name="Freeform 55"/>
              <p:cNvSpPr/>
              <p:nvPr/>
            </p:nvSpPr>
            <p:spPr>
              <a:xfrm>
                <a:off x="6096000" y="2943225"/>
                <a:ext cx="666750" cy="165100"/>
              </a:xfrm>
              <a:custGeom>
                <a:avLst/>
                <a:gdLst/>
                <a:ahLst/>
                <a:cxnLst/>
                <a:rect l="l" t="t" r="r" b="b"/>
                <a:pathLst>
                  <a:path w="666750" h="165100">
                    <a:moveTo>
                      <a:pt x="0" y="0"/>
                    </a:moveTo>
                    <a:cubicBezTo>
                      <a:pt x="222250" y="165100"/>
                      <a:pt x="444500" y="165100"/>
                      <a:pt x="666750" y="0"/>
                    </a:cubicBezTo>
                  </a:path>
                </a:pathLst>
              </a:custGeom>
              <a:noFill/>
              <a:ln w="14288">
                <a:solidFill>
                  <a:srgbClr val="F5A623"/>
                </a:solidFill>
              </a:ln>
            </p:spPr>
          </p:sp>
        </p:grpSp>
        <p:grpSp>
          <p:nvGrpSpPr>
            <p:cNvPr id="62" name="Group 62"/>
            <p:cNvGrpSpPr/>
            <p:nvPr/>
          </p:nvGrpSpPr>
          <p:grpSpPr>
            <a:xfrm>
              <a:off x="4676775" y="2771775"/>
              <a:ext cx="2838450" cy="171450"/>
              <a:chOff x="4676775" y="2771775"/>
              <a:chExt cx="2838450" cy="171450"/>
            </a:xfrm>
          </p:grpSpPr>
          <p:sp>
            <p:nvSpPr>
              <p:cNvPr id="57" name="Ellipse 57"/>
              <p:cNvSpPr/>
              <p:nvPr/>
            </p:nvSpPr>
            <p:spPr>
              <a:xfrm>
                <a:off x="4676775" y="2771775"/>
                <a:ext cx="171450" cy="171450"/>
              </a:xfrm>
              <a:prstGeom prst="ellipse">
                <a:avLst/>
              </a:prstGeom>
              <a:solidFill>
                <a:srgbClr val="10284A"/>
              </a:solidFill>
              <a:ln w="14288">
                <a:solidFill>
                  <a:srgbClr val="9CC3E6"/>
                </a:solidFill>
              </a:ln>
            </p:spPr>
          </p:sp>
          <p:sp>
            <p:nvSpPr>
              <p:cNvPr id="58" name="Ellipse 58"/>
              <p:cNvSpPr/>
              <p:nvPr/>
            </p:nvSpPr>
            <p:spPr>
              <a:xfrm>
                <a:off x="5343525" y="2771775"/>
                <a:ext cx="171450" cy="171450"/>
              </a:xfrm>
              <a:prstGeom prst="ellipse">
                <a:avLst/>
              </a:prstGeom>
              <a:solidFill>
                <a:srgbClr val="10284A"/>
              </a:solidFill>
              <a:ln w="14288">
                <a:solidFill>
                  <a:srgbClr val="9CC3E6"/>
                </a:solidFill>
              </a:ln>
            </p:spPr>
          </p:sp>
          <p:sp>
            <p:nvSpPr>
              <p:cNvPr id="59" name="Ellipse 59"/>
              <p:cNvSpPr/>
              <p:nvPr/>
            </p:nvSpPr>
            <p:spPr>
              <a:xfrm>
                <a:off x="6010275" y="2771775"/>
                <a:ext cx="171450" cy="171450"/>
              </a:xfrm>
              <a:prstGeom prst="ellipse">
                <a:avLst/>
              </a:prstGeom>
              <a:solidFill>
                <a:srgbClr val="10284A"/>
              </a:solidFill>
              <a:ln w="14288">
                <a:solidFill>
                  <a:srgbClr val="9CC3E6"/>
                </a:solidFill>
              </a:ln>
            </p:spPr>
          </p:sp>
          <p:sp>
            <p:nvSpPr>
              <p:cNvPr id="60" name="Ellipse 60"/>
              <p:cNvSpPr/>
              <p:nvPr/>
            </p:nvSpPr>
            <p:spPr>
              <a:xfrm>
                <a:off x="6677025" y="2771775"/>
                <a:ext cx="171450" cy="171450"/>
              </a:xfrm>
              <a:prstGeom prst="ellipse">
                <a:avLst/>
              </a:prstGeom>
              <a:solidFill>
                <a:srgbClr val="10284A"/>
              </a:solidFill>
              <a:ln w="19050">
                <a:solidFill>
                  <a:srgbClr val="F5A623"/>
                </a:solidFill>
              </a:ln>
            </p:spPr>
          </p:sp>
          <p:sp>
            <p:nvSpPr>
              <p:cNvPr id="61" name="Ellipse 61"/>
              <p:cNvSpPr/>
              <p:nvPr/>
            </p:nvSpPr>
            <p:spPr>
              <a:xfrm>
                <a:off x="7343775" y="2771775"/>
                <a:ext cx="171450" cy="171450"/>
              </a:xfrm>
              <a:prstGeom prst="ellipse">
                <a:avLst/>
              </a:prstGeom>
              <a:solidFill>
                <a:srgbClr val="10284A"/>
              </a:solidFill>
              <a:ln w="14288">
                <a:solidFill>
                  <a:srgbClr val="9CC3E6"/>
                </a:solidFill>
              </a:ln>
            </p:spPr>
          </p:sp>
        </p:grpSp>
        <p:sp>
          <p:nvSpPr>
            <p:cNvPr id="63" name="TextBox 63"/>
            <p:cNvSpPr txBox="1"/>
            <p:nvPr/>
          </p:nvSpPr>
          <p:spPr>
            <a:xfrm>
              <a:off x="4899043" y="2158841"/>
              <a:ext cx="2393914" cy="161925"/>
            </a:xfrm>
            <a:prstGeom prst="rect">
              <a:avLst/>
            </a:prstGeom>
            <a:noFill/>
            <a:ln>
              <a:noFill/>
            </a:ln>
          </p:spPr>
          <p:txBody>
            <a:bodyPr wrap="none" lIns="0" tIns="0" rIns="0" bIns="0" anchor="t" anchorCtr="0">
              <a:spAutoFit/>
            </a:bodyPr>
            <a:lstStyle/>
            <a:p>
              <a:pPr algn="ctr"/>
              <a:r>
                <a:rPr lang="en-US" sz="820" dirty="0">
                  <a:solidFill>
                    <a:srgbClr val="9CB4CC"/>
                  </a:solidFill>
                  <a:latin typeface="Consolas"/>
                  <a:ea typeface="Consolas"/>
                  <a:cs typeface="Consolas"/>
                </a:rPr>
                <a:t>rightward flow masked (−∞ before softmax)</a:t>
              </a:r>
            </a:p>
          </p:txBody>
        </p:sp>
        <p:sp>
          <p:nvSpPr>
            <p:cNvPr id="64" name="TextBox 64"/>
            <p:cNvSpPr txBox="1"/>
            <p:nvPr/>
          </p:nvSpPr>
          <p:spPr>
            <a:xfrm>
              <a:off x="4565523" y="3862864"/>
              <a:ext cx="2394458" cy="992315"/>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Same block, but position i may</a:t>
              </a:r>
              <a:br/>
              <a:r>
                <a:rPr lang="en-US" sz="1280" dirty="0">
                  <a:solidFill>
                    <a:srgbClr val="C9DBEA"/>
                  </a:solidFill>
                  <a:latin typeface="Segoe UI"/>
                  <a:ea typeface="Segoe UI"/>
                  <a:cs typeface="Segoe UI"/>
                </a:rPr>
                <a:t>only attend to positions ≤ i.</a:t>
              </a:r>
              <a:br/>
              <a:r>
                <a:rPr lang="en-US" sz="1280" dirty="0">
                  <a:solidFill>
                    <a:srgbClr val="C9DBEA"/>
                  </a:solidFill>
                  <a:latin typeface="Segoe UI"/>
                  <a:ea typeface="Segoe UI"/>
                  <a:cs typeface="Segoe UI"/>
                </a:rPr>
                <a:t>The mask keeps generation</a:t>
              </a:r>
              <a:br/>
              <a:r>
                <a:rPr lang="en-US" sz="1280" dirty="0">
                  <a:solidFill>
                    <a:srgbClr val="C9DBEA"/>
                  </a:solidFill>
                  <a:latin typeface="Segoe UI"/>
                  <a:ea typeface="Segoe UI"/>
                  <a:cs typeface="Segoe UI"/>
                </a:rPr>
                <a:t>auto-regressive.</a:t>
              </a:r>
            </a:p>
          </p:txBody>
        </p:sp>
        <p:sp>
          <p:nvSpPr>
            <p:cNvPr id="65" name="TextBox 65"/>
            <p:cNvSpPr txBox="1"/>
            <p:nvPr/>
          </p:nvSpPr>
          <p:spPr>
            <a:xfrm>
              <a:off x="4565523" y="5158264"/>
              <a:ext cx="2622042" cy="497014"/>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Outputs are shifted right by one</a:t>
              </a:r>
              <a:br/>
              <a:r>
                <a:rPr lang="en-US" sz="1280" dirty="0">
                  <a:solidFill>
                    <a:srgbClr val="C9DBEA"/>
                  </a:solidFill>
                  <a:latin typeface="Segoe UI"/>
                  <a:ea typeface="Segoe UI"/>
                  <a:cs typeface="Segoe UI"/>
                </a:rPr>
                <a:t>position for the same reason.</a:t>
              </a:r>
            </a:p>
          </p:txBody>
        </p:sp>
      </p:grpSp>
      <p:grpSp>
        <p:nvGrpSpPr>
          <p:cNvPr id="107" name="Group 107"/>
          <p:cNvGrpSpPr/>
          <p:nvPr/>
        </p:nvGrpSpPr>
        <p:grpSpPr>
          <a:xfrm>
            <a:off x="8001000" y="1428750"/>
            <a:ext cx="3429000" cy="4476750"/>
            <a:chOff x="8001000" y="1428750"/>
            <a:chExt cx="3429000" cy="4476750"/>
          </a:xfrm>
        </p:grpSpPr>
        <p:sp>
          <p:nvSpPr>
            <p:cNvPr id="67" name="Rectangle 67"/>
            <p:cNvSpPr/>
            <p:nvPr/>
          </p:nvSpPr>
          <p:spPr>
            <a:xfrm>
              <a:off x="8001000" y="1428750"/>
              <a:ext cx="3429000" cy="4476750"/>
            </a:xfrm>
            <a:prstGeom prst="rect">
              <a:avLst/>
            </a:prstGeom>
            <a:noFill/>
            <a:ln w="9525">
              <a:solidFill>
                <a:srgbClr val="3C5A80"/>
              </a:solidFill>
            </a:ln>
          </p:spPr>
        </p:sp>
        <p:sp>
          <p:nvSpPr>
            <p:cNvPr id="68" name="TextBox 68"/>
            <p:cNvSpPr txBox="1"/>
            <p:nvPr/>
          </p:nvSpPr>
          <p:spPr>
            <a:xfrm>
              <a:off x="8186547" y="1609249"/>
              <a:ext cx="2774909"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C · ENCODER–DECODER ATTENTION</a:t>
              </a:r>
            </a:p>
          </p:txBody>
        </p:sp>
        <p:sp>
          <p:nvSpPr>
            <p:cNvPr id="69" name="TextBox 69"/>
            <p:cNvSpPr txBox="1"/>
            <p:nvPr/>
          </p:nvSpPr>
          <p:spPr>
            <a:xfrm>
              <a:off x="8186738" y="1845945"/>
              <a:ext cx="2139342"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Q ← decoder · K, V ← encoder output</a:t>
              </a:r>
            </a:p>
          </p:txBody>
        </p:sp>
        <p:grpSp>
          <p:nvGrpSpPr>
            <p:cNvPr id="85" name="Group 85"/>
            <p:cNvGrpSpPr/>
            <p:nvPr/>
          </p:nvGrpSpPr>
          <p:grpSpPr>
            <a:xfrm>
              <a:off x="8382000" y="2466975"/>
              <a:ext cx="2667000" cy="1066800"/>
              <a:chOff x="8382000" y="2466975"/>
              <a:chExt cx="2667000" cy="1066800"/>
            </a:xfrm>
          </p:grpSpPr>
          <p:sp>
            <p:nvSpPr>
              <p:cNvPr id="70" name="Line 70"/>
              <p:cNvSpPr/>
              <p:nvPr/>
            </p:nvSpPr>
            <p:spPr>
              <a:xfrm>
                <a:off x="8382000" y="2466975"/>
                <a:ext cx="333375" cy="1066800"/>
              </a:xfrm>
              <a:custGeom>
                <a:avLst/>
                <a:gdLst/>
                <a:ahLst/>
                <a:cxnLst/>
                <a:rect l="l" t="t" r="r" b="b"/>
                <a:pathLst>
                  <a:path w="333375" h="1066800">
                    <a:moveTo>
                      <a:pt x="333375" y="1066800"/>
                    </a:moveTo>
                    <a:lnTo>
                      <a:pt x="0" y="0"/>
                    </a:lnTo>
                  </a:path>
                </a:pathLst>
              </a:custGeom>
              <a:noFill/>
              <a:ln w="9525">
                <a:solidFill>
                  <a:srgbClr val="9CC3E6">
                    <a:alpha val="25000"/>
                  </a:srgbClr>
                </a:solidFill>
              </a:ln>
            </p:spPr>
          </p:sp>
          <p:sp>
            <p:nvSpPr>
              <p:cNvPr id="71" name="Line 71"/>
              <p:cNvSpPr/>
              <p:nvPr/>
            </p:nvSpPr>
            <p:spPr>
              <a:xfrm>
                <a:off x="8715375" y="2466975"/>
                <a:ext cx="333375" cy="1066800"/>
              </a:xfrm>
              <a:custGeom>
                <a:avLst/>
                <a:gdLst/>
                <a:ahLst/>
                <a:cxnLst/>
                <a:rect l="l" t="t" r="r" b="b"/>
                <a:pathLst>
                  <a:path w="333375" h="1066800">
                    <a:moveTo>
                      <a:pt x="0" y="1066800"/>
                    </a:moveTo>
                    <a:lnTo>
                      <a:pt x="333375" y="0"/>
                    </a:lnTo>
                  </a:path>
                </a:pathLst>
              </a:custGeom>
              <a:noFill/>
              <a:ln w="9525">
                <a:solidFill>
                  <a:srgbClr val="9CC3E6">
                    <a:alpha val="25000"/>
                  </a:srgbClr>
                </a:solidFill>
              </a:ln>
            </p:spPr>
          </p:sp>
          <p:sp>
            <p:nvSpPr>
              <p:cNvPr id="72" name="Line 72"/>
              <p:cNvSpPr/>
              <p:nvPr/>
            </p:nvSpPr>
            <p:spPr>
              <a:xfrm>
                <a:off x="8715375" y="2466975"/>
                <a:ext cx="1000125" cy="1066800"/>
              </a:xfrm>
              <a:custGeom>
                <a:avLst/>
                <a:gdLst/>
                <a:ahLst/>
                <a:cxnLst/>
                <a:rect l="l" t="t" r="r" b="b"/>
                <a:pathLst>
                  <a:path w="1000125" h="1066800">
                    <a:moveTo>
                      <a:pt x="0" y="1066800"/>
                    </a:moveTo>
                    <a:lnTo>
                      <a:pt x="1000125" y="0"/>
                    </a:lnTo>
                  </a:path>
                </a:pathLst>
              </a:custGeom>
              <a:noFill/>
              <a:ln w="9525">
                <a:solidFill>
                  <a:srgbClr val="9CC3E6">
                    <a:alpha val="25000"/>
                  </a:srgbClr>
                </a:solidFill>
              </a:ln>
            </p:spPr>
          </p:sp>
          <p:sp>
            <p:nvSpPr>
              <p:cNvPr id="73" name="Line 73"/>
              <p:cNvSpPr/>
              <p:nvPr/>
            </p:nvSpPr>
            <p:spPr>
              <a:xfrm>
                <a:off x="8715375" y="2466975"/>
                <a:ext cx="1666875" cy="1066800"/>
              </a:xfrm>
              <a:custGeom>
                <a:avLst/>
                <a:gdLst/>
                <a:ahLst/>
                <a:cxnLst/>
                <a:rect l="l" t="t" r="r" b="b"/>
                <a:pathLst>
                  <a:path w="1666875" h="1066800">
                    <a:moveTo>
                      <a:pt x="0" y="1066800"/>
                    </a:moveTo>
                    <a:lnTo>
                      <a:pt x="1666875" y="0"/>
                    </a:lnTo>
                  </a:path>
                </a:pathLst>
              </a:custGeom>
              <a:noFill/>
              <a:ln w="9525">
                <a:solidFill>
                  <a:srgbClr val="9CC3E6">
                    <a:alpha val="25000"/>
                  </a:srgbClr>
                </a:solidFill>
              </a:ln>
            </p:spPr>
          </p:sp>
          <p:sp>
            <p:nvSpPr>
              <p:cNvPr id="74" name="Line 74"/>
              <p:cNvSpPr/>
              <p:nvPr/>
            </p:nvSpPr>
            <p:spPr>
              <a:xfrm>
                <a:off x="8715375" y="2466975"/>
                <a:ext cx="2333625" cy="1066800"/>
              </a:xfrm>
              <a:custGeom>
                <a:avLst/>
                <a:gdLst/>
                <a:ahLst/>
                <a:cxnLst/>
                <a:rect l="l" t="t" r="r" b="b"/>
                <a:pathLst>
                  <a:path w="2333625" h="1066800">
                    <a:moveTo>
                      <a:pt x="0" y="1066800"/>
                    </a:moveTo>
                    <a:lnTo>
                      <a:pt x="2333625" y="0"/>
                    </a:lnTo>
                  </a:path>
                </a:pathLst>
              </a:custGeom>
              <a:noFill/>
              <a:ln w="9525">
                <a:solidFill>
                  <a:srgbClr val="9CC3E6">
                    <a:alpha val="25000"/>
                  </a:srgbClr>
                </a:solidFill>
              </a:ln>
            </p:spPr>
          </p:sp>
          <p:sp>
            <p:nvSpPr>
              <p:cNvPr id="75" name="Line 75"/>
              <p:cNvSpPr/>
              <p:nvPr/>
            </p:nvSpPr>
            <p:spPr>
              <a:xfrm>
                <a:off x="8382000" y="2466975"/>
                <a:ext cx="1666875" cy="1066800"/>
              </a:xfrm>
              <a:custGeom>
                <a:avLst/>
                <a:gdLst/>
                <a:ahLst/>
                <a:cxnLst/>
                <a:rect l="l" t="t" r="r" b="b"/>
                <a:pathLst>
                  <a:path w="1666875" h="1066800">
                    <a:moveTo>
                      <a:pt x="1666875" y="1066800"/>
                    </a:moveTo>
                    <a:lnTo>
                      <a:pt x="0" y="0"/>
                    </a:lnTo>
                  </a:path>
                </a:pathLst>
              </a:custGeom>
              <a:noFill/>
              <a:ln w="9525">
                <a:solidFill>
                  <a:srgbClr val="9CC3E6">
                    <a:alpha val="25000"/>
                  </a:srgbClr>
                </a:solidFill>
              </a:ln>
            </p:spPr>
          </p:sp>
          <p:sp>
            <p:nvSpPr>
              <p:cNvPr id="76" name="Line 76"/>
              <p:cNvSpPr/>
              <p:nvPr/>
            </p:nvSpPr>
            <p:spPr>
              <a:xfrm>
                <a:off x="9048750" y="2466975"/>
                <a:ext cx="1000125" cy="1066800"/>
              </a:xfrm>
              <a:custGeom>
                <a:avLst/>
                <a:gdLst/>
                <a:ahLst/>
                <a:cxnLst/>
                <a:rect l="l" t="t" r="r" b="b"/>
                <a:pathLst>
                  <a:path w="1000125" h="1066800">
                    <a:moveTo>
                      <a:pt x="1000125" y="1066800"/>
                    </a:moveTo>
                    <a:lnTo>
                      <a:pt x="0" y="0"/>
                    </a:lnTo>
                  </a:path>
                </a:pathLst>
              </a:custGeom>
              <a:noFill/>
              <a:ln w="9525">
                <a:solidFill>
                  <a:srgbClr val="9CC3E6">
                    <a:alpha val="25000"/>
                  </a:srgbClr>
                </a:solidFill>
              </a:ln>
            </p:spPr>
          </p:sp>
          <p:sp>
            <p:nvSpPr>
              <p:cNvPr id="77" name="Line 77"/>
              <p:cNvSpPr/>
              <p:nvPr/>
            </p:nvSpPr>
            <p:spPr>
              <a:xfrm>
                <a:off x="9715500" y="2466975"/>
                <a:ext cx="333375" cy="1066800"/>
              </a:xfrm>
              <a:custGeom>
                <a:avLst/>
                <a:gdLst/>
                <a:ahLst/>
                <a:cxnLst/>
                <a:rect l="l" t="t" r="r" b="b"/>
                <a:pathLst>
                  <a:path w="333375" h="1066800">
                    <a:moveTo>
                      <a:pt x="333375" y="1066800"/>
                    </a:moveTo>
                    <a:lnTo>
                      <a:pt x="0" y="0"/>
                    </a:lnTo>
                  </a:path>
                </a:pathLst>
              </a:custGeom>
              <a:noFill/>
              <a:ln w="9525">
                <a:solidFill>
                  <a:srgbClr val="9CC3E6">
                    <a:alpha val="25000"/>
                  </a:srgbClr>
                </a:solidFill>
              </a:ln>
            </p:spPr>
          </p:sp>
          <p:sp>
            <p:nvSpPr>
              <p:cNvPr id="78" name="Line 78"/>
              <p:cNvSpPr/>
              <p:nvPr/>
            </p:nvSpPr>
            <p:spPr>
              <a:xfrm>
                <a:off x="10048875" y="2466975"/>
                <a:ext cx="333375" cy="1066800"/>
              </a:xfrm>
              <a:custGeom>
                <a:avLst/>
                <a:gdLst/>
                <a:ahLst/>
                <a:cxnLst/>
                <a:rect l="l" t="t" r="r" b="b"/>
                <a:pathLst>
                  <a:path w="333375" h="1066800">
                    <a:moveTo>
                      <a:pt x="0" y="1066800"/>
                    </a:moveTo>
                    <a:lnTo>
                      <a:pt x="333375" y="0"/>
                    </a:lnTo>
                  </a:path>
                </a:pathLst>
              </a:custGeom>
              <a:noFill/>
              <a:ln w="9525">
                <a:solidFill>
                  <a:srgbClr val="9CC3E6">
                    <a:alpha val="25000"/>
                  </a:srgbClr>
                </a:solidFill>
              </a:ln>
            </p:spPr>
          </p:sp>
          <p:sp>
            <p:nvSpPr>
              <p:cNvPr id="79" name="Line 79"/>
              <p:cNvSpPr/>
              <p:nvPr/>
            </p:nvSpPr>
            <p:spPr>
              <a:xfrm>
                <a:off x="10048875" y="2466975"/>
                <a:ext cx="1000125" cy="1066800"/>
              </a:xfrm>
              <a:custGeom>
                <a:avLst/>
                <a:gdLst/>
                <a:ahLst/>
                <a:cxnLst/>
                <a:rect l="l" t="t" r="r" b="b"/>
                <a:pathLst>
                  <a:path w="1000125" h="1066800">
                    <a:moveTo>
                      <a:pt x="0" y="1066800"/>
                    </a:moveTo>
                    <a:lnTo>
                      <a:pt x="1000125" y="0"/>
                    </a:lnTo>
                  </a:path>
                </a:pathLst>
              </a:custGeom>
              <a:noFill/>
              <a:ln w="9525">
                <a:solidFill>
                  <a:srgbClr val="9CC3E6">
                    <a:alpha val="25000"/>
                  </a:srgbClr>
                </a:solidFill>
              </a:ln>
            </p:spPr>
          </p:sp>
          <p:sp>
            <p:nvSpPr>
              <p:cNvPr id="80" name="Line 80"/>
              <p:cNvSpPr/>
              <p:nvPr/>
            </p:nvSpPr>
            <p:spPr>
              <a:xfrm>
                <a:off x="8382000" y="2466975"/>
                <a:ext cx="2333625" cy="1066800"/>
              </a:xfrm>
              <a:custGeom>
                <a:avLst/>
                <a:gdLst/>
                <a:ahLst/>
                <a:cxnLst/>
                <a:rect l="l" t="t" r="r" b="b"/>
                <a:pathLst>
                  <a:path w="2333625" h="1066800">
                    <a:moveTo>
                      <a:pt x="2333625" y="1066800"/>
                    </a:moveTo>
                    <a:lnTo>
                      <a:pt x="0" y="0"/>
                    </a:lnTo>
                  </a:path>
                </a:pathLst>
              </a:custGeom>
              <a:noFill/>
              <a:ln w="9525">
                <a:solidFill>
                  <a:srgbClr val="9CC3E6">
                    <a:alpha val="25000"/>
                  </a:srgbClr>
                </a:solidFill>
              </a:ln>
            </p:spPr>
          </p:sp>
          <p:sp>
            <p:nvSpPr>
              <p:cNvPr id="81" name="Line 81"/>
              <p:cNvSpPr/>
              <p:nvPr/>
            </p:nvSpPr>
            <p:spPr>
              <a:xfrm>
                <a:off x="9048750" y="2466975"/>
                <a:ext cx="1666875" cy="1066800"/>
              </a:xfrm>
              <a:custGeom>
                <a:avLst/>
                <a:gdLst/>
                <a:ahLst/>
                <a:cxnLst/>
                <a:rect l="l" t="t" r="r" b="b"/>
                <a:pathLst>
                  <a:path w="1666875" h="1066800">
                    <a:moveTo>
                      <a:pt x="1666875" y="1066800"/>
                    </a:moveTo>
                    <a:lnTo>
                      <a:pt x="0" y="0"/>
                    </a:lnTo>
                  </a:path>
                </a:pathLst>
              </a:custGeom>
              <a:noFill/>
              <a:ln w="9525">
                <a:solidFill>
                  <a:srgbClr val="9CC3E6">
                    <a:alpha val="25000"/>
                  </a:srgbClr>
                </a:solidFill>
              </a:ln>
            </p:spPr>
          </p:sp>
          <p:sp>
            <p:nvSpPr>
              <p:cNvPr id="82" name="Line 82"/>
              <p:cNvSpPr/>
              <p:nvPr/>
            </p:nvSpPr>
            <p:spPr>
              <a:xfrm>
                <a:off x="9715500" y="2466975"/>
                <a:ext cx="1000125" cy="1066800"/>
              </a:xfrm>
              <a:custGeom>
                <a:avLst/>
                <a:gdLst/>
                <a:ahLst/>
                <a:cxnLst/>
                <a:rect l="l" t="t" r="r" b="b"/>
                <a:pathLst>
                  <a:path w="1000125" h="1066800">
                    <a:moveTo>
                      <a:pt x="1000125" y="1066800"/>
                    </a:moveTo>
                    <a:lnTo>
                      <a:pt x="0" y="0"/>
                    </a:lnTo>
                  </a:path>
                </a:pathLst>
              </a:custGeom>
              <a:noFill/>
              <a:ln w="9525">
                <a:solidFill>
                  <a:srgbClr val="9CC3E6">
                    <a:alpha val="25000"/>
                  </a:srgbClr>
                </a:solidFill>
              </a:ln>
            </p:spPr>
          </p:sp>
          <p:sp>
            <p:nvSpPr>
              <p:cNvPr id="83" name="Line 83"/>
              <p:cNvSpPr/>
              <p:nvPr/>
            </p:nvSpPr>
            <p:spPr>
              <a:xfrm>
                <a:off x="10382250" y="2466975"/>
                <a:ext cx="333375" cy="1066800"/>
              </a:xfrm>
              <a:custGeom>
                <a:avLst/>
                <a:gdLst/>
                <a:ahLst/>
                <a:cxnLst/>
                <a:rect l="l" t="t" r="r" b="b"/>
                <a:pathLst>
                  <a:path w="333375" h="1066800">
                    <a:moveTo>
                      <a:pt x="333375" y="1066800"/>
                    </a:moveTo>
                    <a:lnTo>
                      <a:pt x="0" y="0"/>
                    </a:lnTo>
                  </a:path>
                </a:pathLst>
              </a:custGeom>
              <a:noFill/>
              <a:ln w="9525">
                <a:solidFill>
                  <a:srgbClr val="9CC3E6">
                    <a:alpha val="25000"/>
                  </a:srgbClr>
                </a:solidFill>
              </a:ln>
            </p:spPr>
          </p:sp>
          <p:sp>
            <p:nvSpPr>
              <p:cNvPr id="84" name="Line 84"/>
              <p:cNvSpPr/>
              <p:nvPr/>
            </p:nvSpPr>
            <p:spPr>
              <a:xfrm>
                <a:off x="10715625" y="2466975"/>
                <a:ext cx="333375" cy="1066800"/>
              </a:xfrm>
              <a:custGeom>
                <a:avLst/>
                <a:gdLst/>
                <a:ahLst/>
                <a:cxnLst/>
                <a:rect l="l" t="t" r="r" b="b"/>
                <a:pathLst>
                  <a:path w="333375" h="1066800">
                    <a:moveTo>
                      <a:pt x="0" y="1066800"/>
                    </a:moveTo>
                    <a:lnTo>
                      <a:pt x="333375" y="0"/>
                    </a:lnTo>
                  </a:path>
                </a:pathLst>
              </a:custGeom>
              <a:noFill/>
              <a:ln w="9525">
                <a:solidFill>
                  <a:srgbClr val="9CC3E6">
                    <a:alpha val="25000"/>
                  </a:srgbClr>
                </a:solidFill>
              </a:ln>
            </p:spPr>
          </p:sp>
        </p:grpSp>
        <p:grpSp>
          <p:nvGrpSpPr>
            <p:cNvPr id="91" name="Group 91"/>
            <p:cNvGrpSpPr/>
            <p:nvPr/>
          </p:nvGrpSpPr>
          <p:grpSpPr>
            <a:xfrm>
              <a:off x="8382000" y="2466975"/>
              <a:ext cx="2667000" cy="1066800"/>
              <a:chOff x="8382000" y="2466975"/>
              <a:chExt cx="2667000" cy="1066800"/>
            </a:xfrm>
          </p:grpSpPr>
          <p:sp>
            <p:nvSpPr>
              <p:cNvPr id="86" name="Line 86"/>
              <p:cNvSpPr/>
              <p:nvPr/>
            </p:nvSpPr>
            <p:spPr>
              <a:xfrm>
                <a:off x="8382000" y="2466975"/>
                <a:ext cx="1000125" cy="1066800"/>
              </a:xfrm>
              <a:custGeom>
                <a:avLst/>
                <a:gdLst/>
                <a:ahLst/>
                <a:cxnLst/>
                <a:rect l="l" t="t" r="r" b="b"/>
                <a:pathLst>
                  <a:path w="1000125" h="1066800">
                    <a:moveTo>
                      <a:pt x="1000125" y="1066800"/>
                    </a:moveTo>
                    <a:lnTo>
                      <a:pt x="0" y="0"/>
                    </a:lnTo>
                  </a:path>
                </a:pathLst>
              </a:custGeom>
              <a:noFill/>
              <a:ln w="14288">
                <a:solidFill>
                  <a:srgbClr val="F5A623"/>
                </a:solidFill>
              </a:ln>
            </p:spPr>
          </p:sp>
          <p:sp>
            <p:nvSpPr>
              <p:cNvPr id="87" name="Line 87"/>
              <p:cNvSpPr/>
              <p:nvPr/>
            </p:nvSpPr>
            <p:spPr>
              <a:xfrm>
                <a:off x="9048750" y="2466975"/>
                <a:ext cx="333375" cy="1066800"/>
              </a:xfrm>
              <a:custGeom>
                <a:avLst/>
                <a:gdLst/>
                <a:ahLst/>
                <a:cxnLst/>
                <a:rect l="l" t="t" r="r" b="b"/>
                <a:pathLst>
                  <a:path w="333375" h="1066800">
                    <a:moveTo>
                      <a:pt x="333375" y="1066800"/>
                    </a:moveTo>
                    <a:lnTo>
                      <a:pt x="0" y="0"/>
                    </a:lnTo>
                  </a:path>
                </a:pathLst>
              </a:custGeom>
              <a:noFill/>
              <a:ln w="14288">
                <a:solidFill>
                  <a:srgbClr val="F5A623"/>
                </a:solidFill>
              </a:ln>
            </p:spPr>
          </p:sp>
          <p:sp>
            <p:nvSpPr>
              <p:cNvPr id="88" name="Line 88"/>
              <p:cNvSpPr/>
              <p:nvPr/>
            </p:nvSpPr>
            <p:spPr>
              <a:xfrm>
                <a:off x="9382125" y="2466975"/>
                <a:ext cx="333375" cy="1066800"/>
              </a:xfrm>
              <a:custGeom>
                <a:avLst/>
                <a:gdLst/>
                <a:ahLst/>
                <a:cxnLst/>
                <a:rect l="l" t="t" r="r" b="b"/>
                <a:pathLst>
                  <a:path w="333375" h="1066800">
                    <a:moveTo>
                      <a:pt x="0" y="1066800"/>
                    </a:moveTo>
                    <a:lnTo>
                      <a:pt x="333375" y="0"/>
                    </a:lnTo>
                  </a:path>
                </a:pathLst>
              </a:custGeom>
              <a:noFill/>
              <a:ln w="14288">
                <a:solidFill>
                  <a:srgbClr val="F5A623"/>
                </a:solidFill>
              </a:ln>
            </p:spPr>
          </p:sp>
          <p:sp>
            <p:nvSpPr>
              <p:cNvPr id="89" name="Line 89"/>
              <p:cNvSpPr/>
              <p:nvPr/>
            </p:nvSpPr>
            <p:spPr>
              <a:xfrm>
                <a:off x="9382125" y="2466975"/>
                <a:ext cx="1000125" cy="1066800"/>
              </a:xfrm>
              <a:custGeom>
                <a:avLst/>
                <a:gdLst/>
                <a:ahLst/>
                <a:cxnLst/>
                <a:rect l="l" t="t" r="r" b="b"/>
                <a:pathLst>
                  <a:path w="1000125" h="1066800">
                    <a:moveTo>
                      <a:pt x="0" y="1066800"/>
                    </a:moveTo>
                    <a:lnTo>
                      <a:pt x="1000125" y="0"/>
                    </a:lnTo>
                  </a:path>
                </a:pathLst>
              </a:custGeom>
              <a:noFill/>
              <a:ln w="14288">
                <a:solidFill>
                  <a:srgbClr val="F5A623"/>
                </a:solidFill>
              </a:ln>
            </p:spPr>
          </p:sp>
          <p:sp>
            <p:nvSpPr>
              <p:cNvPr id="90" name="Line 90"/>
              <p:cNvSpPr/>
              <p:nvPr/>
            </p:nvSpPr>
            <p:spPr>
              <a:xfrm>
                <a:off x="9382125" y="2466975"/>
                <a:ext cx="1666875" cy="1066800"/>
              </a:xfrm>
              <a:custGeom>
                <a:avLst/>
                <a:gdLst/>
                <a:ahLst/>
                <a:cxnLst/>
                <a:rect l="l" t="t" r="r" b="b"/>
                <a:pathLst>
                  <a:path w="1666875" h="1066800">
                    <a:moveTo>
                      <a:pt x="0" y="1066800"/>
                    </a:moveTo>
                    <a:lnTo>
                      <a:pt x="1666875" y="0"/>
                    </a:lnTo>
                  </a:path>
                </a:pathLst>
              </a:custGeom>
              <a:noFill/>
              <a:ln w="14288">
                <a:solidFill>
                  <a:srgbClr val="F5A623"/>
                </a:solidFill>
              </a:ln>
            </p:spPr>
          </p:sp>
        </p:grpSp>
        <p:grpSp>
          <p:nvGrpSpPr>
            <p:cNvPr id="97" name="Group 97"/>
            <p:cNvGrpSpPr/>
            <p:nvPr/>
          </p:nvGrpSpPr>
          <p:grpSpPr>
            <a:xfrm>
              <a:off x="8296275" y="2295525"/>
              <a:ext cx="2838450" cy="171450"/>
              <a:chOff x="8296275" y="2295525"/>
              <a:chExt cx="2838450" cy="171450"/>
            </a:xfrm>
          </p:grpSpPr>
          <p:sp>
            <p:nvSpPr>
              <p:cNvPr id="92" name="Ellipse 92"/>
              <p:cNvSpPr/>
              <p:nvPr/>
            </p:nvSpPr>
            <p:spPr>
              <a:xfrm>
                <a:off x="8296275" y="2295525"/>
                <a:ext cx="171450" cy="171450"/>
              </a:xfrm>
              <a:prstGeom prst="ellipse">
                <a:avLst/>
              </a:prstGeom>
              <a:solidFill>
                <a:srgbClr val="10284A"/>
              </a:solidFill>
              <a:ln w="14288">
                <a:solidFill>
                  <a:srgbClr val="9CC3E6"/>
                </a:solidFill>
              </a:ln>
            </p:spPr>
          </p:sp>
          <p:sp>
            <p:nvSpPr>
              <p:cNvPr id="93" name="Ellipse 93"/>
              <p:cNvSpPr/>
              <p:nvPr/>
            </p:nvSpPr>
            <p:spPr>
              <a:xfrm>
                <a:off x="8963025" y="2295525"/>
                <a:ext cx="171450" cy="171450"/>
              </a:xfrm>
              <a:prstGeom prst="ellipse">
                <a:avLst/>
              </a:prstGeom>
              <a:solidFill>
                <a:srgbClr val="10284A"/>
              </a:solidFill>
              <a:ln w="14288">
                <a:solidFill>
                  <a:srgbClr val="9CC3E6"/>
                </a:solidFill>
              </a:ln>
            </p:spPr>
          </p:sp>
          <p:sp>
            <p:nvSpPr>
              <p:cNvPr id="94" name="Ellipse 94"/>
              <p:cNvSpPr/>
              <p:nvPr/>
            </p:nvSpPr>
            <p:spPr>
              <a:xfrm>
                <a:off x="9629775" y="2295525"/>
                <a:ext cx="171450" cy="171450"/>
              </a:xfrm>
              <a:prstGeom prst="ellipse">
                <a:avLst/>
              </a:prstGeom>
              <a:solidFill>
                <a:srgbClr val="10284A"/>
              </a:solidFill>
              <a:ln w="14288">
                <a:solidFill>
                  <a:srgbClr val="9CC3E6"/>
                </a:solidFill>
              </a:ln>
            </p:spPr>
          </p:sp>
          <p:sp>
            <p:nvSpPr>
              <p:cNvPr id="95" name="Ellipse 95"/>
              <p:cNvSpPr/>
              <p:nvPr/>
            </p:nvSpPr>
            <p:spPr>
              <a:xfrm>
                <a:off x="10296525" y="2295525"/>
                <a:ext cx="171450" cy="171450"/>
              </a:xfrm>
              <a:prstGeom prst="ellipse">
                <a:avLst/>
              </a:prstGeom>
              <a:solidFill>
                <a:srgbClr val="10284A"/>
              </a:solidFill>
              <a:ln w="14288">
                <a:solidFill>
                  <a:srgbClr val="9CC3E6"/>
                </a:solidFill>
              </a:ln>
            </p:spPr>
          </p:sp>
          <p:sp>
            <p:nvSpPr>
              <p:cNvPr id="96" name="Ellipse 96"/>
              <p:cNvSpPr/>
              <p:nvPr/>
            </p:nvSpPr>
            <p:spPr>
              <a:xfrm>
                <a:off x="10963275" y="2295525"/>
                <a:ext cx="171450" cy="171450"/>
              </a:xfrm>
              <a:prstGeom prst="ellipse">
                <a:avLst/>
              </a:prstGeom>
              <a:solidFill>
                <a:srgbClr val="10284A"/>
              </a:solidFill>
              <a:ln w="14288">
                <a:solidFill>
                  <a:srgbClr val="9CC3E6"/>
                </a:solidFill>
              </a:ln>
            </p:spPr>
          </p:sp>
        </p:grpSp>
        <p:grpSp>
          <p:nvGrpSpPr>
            <p:cNvPr id="102" name="Group 102"/>
            <p:cNvGrpSpPr/>
            <p:nvPr/>
          </p:nvGrpSpPr>
          <p:grpSpPr>
            <a:xfrm>
              <a:off x="8629650" y="3533775"/>
              <a:ext cx="2171700" cy="171450"/>
              <a:chOff x="8629650" y="3533775"/>
              <a:chExt cx="2171700" cy="171450"/>
            </a:xfrm>
          </p:grpSpPr>
          <p:sp>
            <p:nvSpPr>
              <p:cNvPr id="98" name="Ellipse 98"/>
              <p:cNvSpPr/>
              <p:nvPr/>
            </p:nvSpPr>
            <p:spPr>
              <a:xfrm>
                <a:off x="8629650" y="3533775"/>
                <a:ext cx="171450" cy="171450"/>
              </a:xfrm>
              <a:prstGeom prst="ellipse">
                <a:avLst/>
              </a:prstGeom>
              <a:solidFill>
                <a:srgbClr val="10284A"/>
              </a:solidFill>
              <a:ln w="14288">
                <a:solidFill>
                  <a:srgbClr val="9CC3E6"/>
                </a:solidFill>
              </a:ln>
            </p:spPr>
          </p:sp>
          <p:sp>
            <p:nvSpPr>
              <p:cNvPr id="99" name="Ellipse 99"/>
              <p:cNvSpPr/>
              <p:nvPr/>
            </p:nvSpPr>
            <p:spPr>
              <a:xfrm>
                <a:off x="9296400" y="3533775"/>
                <a:ext cx="171450" cy="171450"/>
              </a:xfrm>
              <a:prstGeom prst="ellipse">
                <a:avLst/>
              </a:prstGeom>
              <a:solidFill>
                <a:srgbClr val="10284A"/>
              </a:solidFill>
              <a:ln w="19050">
                <a:solidFill>
                  <a:srgbClr val="F5A623"/>
                </a:solidFill>
              </a:ln>
            </p:spPr>
          </p:sp>
          <p:sp>
            <p:nvSpPr>
              <p:cNvPr id="100" name="Ellipse 100"/>
              <p:cNvSpPr/>
              <p:nvPr/>
            </p:nvSpPr>
            <p:spPr>
              <a:xfrm>
                <a:off x="9963150" y="3533775"/>
                <a:ext cx="171450" cy="171450"/>
              </a:xfrm>
              <a:prstGeom prst="ellipse">
                <a:avLst/>
              </a:prstGeom>
              <a:solidFill>
                <a:srgbClr val="10284A"/>
              </a:solidFill>
              <a:ln w="14288">
                <a:solidFill>
                  <a:srgbClr val="9CC3E6"/>
                </a:solidFill>
              </a:ln>
            </p:spPr>
          </p:sp>
          <p:sp>
            <p:nvSpPr>
              <p:cNvPr id="101" name="Ellipse 101"/>
              <p:cNvSpPr/>
              <p:nvPr/>
            </p:nvSpPr>
            <p:spPr>
              <a:xfrm>
                <a:off x="10629900" y="3533775"/>
                <a:ext cx="171450" cy="171450"/>
              </a:xfrm>
              <a:prstGeom prst="ellipse">
                <a:avLst/>
              </a:prstGeom>
              <a:solidFill>
                <a:srgbClr val="10284A"/>
              </a:solidFill>
              <a:ln w="14288">
                <a:solidFill>
                  <a:srgbClr val="9CC3E6"/>
                </a:solidFill>
              </a:ln>
            </p:spPr>
          </p:sp>
        </p:grpSp>
        <p:sp>
          <p:nvSpPr>
            <p:cNvPr id="103" name="TextBox 103"/>
            <p:cNvSpPr txBox="1"/>
            <p:nvPr/>
          </p:nvSpPr>
          <p:spPr>
            <a:xfrm>
              <a:off x="8205788" y="2120741"/>
              <a:ext cx="1315857" cy="161925"/>
            </a:xfrm>
            <a:prstGeom prst="rect">
              <a:avLst/>
            </a:prstGeom>
            <a:noFill/>
            <a:ln>
              <a:noFill/>
            </a:ln>
          </p:spPr>
          <p:txBody>
            <a:bodyPr wrap="none" lIns="0" tIns="0" rIns="0" bIns="0" anchor="t" anchorCtr="0">
              <a:spAutoFit/>
            </a:bodyPr>
            <a:lstStyle/>
            <a:p>
              <a:pPr algn="l"/>
              <a:r>
                <a:rPr lang="en-US" sz="820" dirty="0">
                  <a:solidFill>
                    <a:srgbClr val="9CB4CC"/>
                  </a:solidFill>
                  <a:latin typeface="Consolas"/>
                  <a:ea typeface="Consolas"/>
                  <a:cs typeface="Consolas"/>
                </a:rPr>
                <a:t>ENCODER OUTPUT (K, V)</a:t>
              </a:r>
            </a:p>
          </p:txBody>
        </p:sp>
        <p:sp>
          <p:nvSpPr>
            <p:cNvPr id="104" name="TextBox 104"/>
            <p:cNvSpPr txBox="1"/>
            <p:nvPr/>
          </p:nvSpPr>
          <p:spPr>
            <a:xfrm>
              <a:off x="8205788" y="3816191"/>
              <a:ext cx="1333353" cy="161925"/>
            </a:xfrm>
            <a:prstGeom prst="rect">
              <a:avLst/>
            </a:prstGeom>
            <a:noFill/>
            <a:ln>
              <a:noFill/>
            </a:ln>
          </p:spPr>
          <p:txBody>
            <a:bodyPr wrap="none" lIns="0" tIns="0" rIns="0" bIns="0" anchor="t" anchorCtr="0">
              <a:spAutoFit/>
            </a:bodyPr>
            <a:lstStyle/>
            <a:p>
              <a:pPr algn="l"/>
              <a:r>
                <a:rPr lang="en-US" sz="820" dirty="0">
                  <a:solidFill>
                    <a:srgbClr val="9CB4CC"/>
                  </a:solidFill>
                  <a:latin typeface="Consolas"/>
                  <a:ea typeface="Consolas"/>
                  <a:cs typeface="Consolas"/>
                </a:rPr>
                <a:t>DECODER POSITIONS (Q)</a:t>
              </a:r>
            </a:p>
          </p:txBody>
        </p:sp>
        <p:sp>
          <p:nvSpPr>
            <p:cNvPr id="105" name="TextBox 105"/>
            <p:cNvSpPr txBox="1"/>
            <p:nvPr/>
          </p:nvSpPr>
          <p:spPr>
            <a:xfrm>
              <a:off x="8185023" y="4148614"/>
              <a:ext cx="2719578" cy="992315"/>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Queries come from the decoder;</a:t>
              </a:r>
              <a:br/>
              <a:r>
                <a:rPr lang="en-US" sz="1280" dirty="0">
                  <a:solidFill>
                    <a:srgbClr val="C9DBEA"/>
                  </a:solidFill>
                  <a:latin typeface="Segoe UI"/>
                  <a:ea typeface="Segoe UI"/>
                  <a:cs typeface="Segoe UI"/>
                </a:rPr>
                <a:t>keys and values from the encoder</a:t>
              </a:r>
              <a:br/>
              <a:r>
                <a:rPr lang="en-US" sz="1280" dirty="0">
                  <a:solidFill>
                    <a:srgbClr val="C9DBEA"/>
                  </a:solidFill>
                  <a:latin typeface="Segoe UI"/>
                  <a:ea typeface="Segoe UI"/>
                  <a:cs typeface="Segoe UI"/>
                </a:rPr>
                <a:t>output. Every output position can</a:t>
              </a:r>
              <a:br/>
              <a:r>
                <a:rPr lang="en-US" sz="1280" dirty="0">
                  <a:solidFill>
                    <a:srgbClr val="C9DBEA"/>
                  </a:solidFill>
                  <a:latin typeface="Segoe UI"/>
                  <a:ea typeface="Segoe UI"/>
                  <a:cs typeface="Segoe UI"/>
                </a:rPr>
                <a:t>read the whole input sentence.</a:t>
              </a:r>
            </a:p>
          </p:txBody>
        </p:sp>
        <p:sp>
          <p:nvSpPr>
            <p:cNvPr id="106" name="TextBox 106"/>
            <p:cNvSpPr txBox="1"/>
            <p:nvPr/>
          </p:nvSpPr>
          <p:spPr>
            <a:xfrm>
              <a:off x="8185023" y="5405914"/>
              <a:ext cx="2638298" cy="497014"/>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This replaces the classic seq2seq</a:t>
              </a:r>
              <a:br/>
              <a:r>
                <a:rPr lang="en-US" sz="1280" dirty="0">
                  <a:solidFill>
                    <a:srgbClr val="C9DBEA"/>
                  </a:solidFill>
                  <a:latin typeface="Segoe UI"/>
                  <a:ea typeface="Segoe UI"/>
                  <a:cs typeface="Segoe UI"/>
                </a:rPr>
                <a:t>encoder–decoder attention.</a:t>
              </a:r>
            </a:p>
          </p:txBody>
        </p:sp>
      </p:grpSp>
      <p:grpSp>
        <p:nvGrpSpPr>
          <p:cNvPr id="112" name="Group 112"/>
          <p:cNvGrpSpPr/>
          <p:nvPr/>
        </p:nvGrpSpPr>
        <p:grpSpPr>
          <a:xfrm>
            <a:off x="9525000" y="6362700"/>
            <a:ext cx="2095500" cy="304800"/>
            <a:chOff x="9525000" y="6362700"/>
            <a:chExt cx="2095500" cy="304800"/>
          </a:xfrm>
        </p:grpSpPr>
        <p:sp>
          <p:nvSpPr>
            <p:cNvPr id="108" name="Rectangle 108"/>
            <p:cNvSpPr/>
            <p:nvPr/>
          </p:nvSpPr>
          <p:spPr>
            <a:xfrm>
              <a:off x="9525000" y="6362700"/>
              <a:ext cx="2095500" cy="304800"/>
            </a:xfrm>
            <a:prstGeom prst="rect">
              <a:avLst/>
            </a:prstGeom>
            <a:noFill/>
            <a:ln w="9525">
              <a:solidFill>
                <a:srgbClr val="3C5A80"/>
              </a:solidFill>
            </a:ln>
          </p:spPr>
        </p:sp>
        <p:sp>
          <p:nvSpPr>
            <p:cNvPr id="109" name="Line 109"/>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110" name="TextBox 110"/>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111" name="TextBox 111"/>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08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600"/>
                                        <p:tgtEl>
                                          <p:spTgt spid="30"/>
                                        </p:tgtEl>
                                      </p:cBhvr>
                                    </p:animEffect>
                                  </p:childTnLst>
                                </p:cTn>
                              </p:par>
                            </p:childTnLst>
                          </p:cTn>
                        </p:par>
                        <p:par>
                          <p:cTn id="8" fill="hold">
                            <p:stCondLst>
                              <p:cond delay="600"/>
                            </p:stCondLst>
                            <p:childTnLst>
                              <p:par>
                                <p:cTn xmlns:p="http://schemas.openxmlformats.org/presentationml/2006/main" id="9" presetID="10" presetClass="entr" presetSubtype="0" fill="hold" grpId="0" nodeType="afterEffect">
                                  <p:stCondLst>
                                    <p:cond delay="400"/>
                                  </p:stCondLst>
                                  <p:childTnLst>
                                    <p:set>
                                      <p:cBhvr>
                                        <p:cTn id="10" dur="1" fill="hold">
                                          <p:stCondLst>
                                            <p:cond delay="0"/>
                                          </p:stCondLst>
                                        </p:cTn>
                                        <p:tgtEl>
                                          <p:spTgt spid="66"/>
                                        </p:tgtEl>
                                        <p:attrNameLst>
                                          <p:attrName>style.visibility</p:attrName>
                                        </p:attrNameLst>
                                      </p:cBhvr>
                                      <p:to>
                                        <p:strVal val="visible"/>
                                      </p:to>
                                    </p:set>
                                    <p:animEffect transition="in" filter="fade">
                                      <p:cBhvr>
                                        <p:cTn id="11" dur="600"/>
                                        <p:tgtEl>
                                          <p:spTgt spid="66"/>
                                        </p:tgtEl>
                                      </p:cBhvr>
                                    </p:animEffect>
                                  </p:childTnLst>
                                </p:cTn>
                              </p:par>
                            </p:childTnLst>
                          </p:cTn>
                        </p:par>
                        <p:par>
                          <p:cTn id="12" fill="hold">
                            <p:stCondLst>
                              <p:cond delay="1600"/>
                            </p:stCondLst>
                            <p:childTnLst>
                              <p:par>
                                <p:cTn xmlns:p="http://schemas.openxmlformats.org/presentationml/2006/main" id="13" presetID="10" presetClass="entr" presetSubtype="0" fill="hold" grpId="0" nodeType="afterEffect">
                                  <p:stCondLst>
                                    <p:cond delay="400"/>
                                  </p:stCondLst>
                                  <p:childTnLst>
                                    <p:set>
                                      <p:cBhvr>
                                        <p:cTn id="14" dur="1" fill="hold">
                                          <p:stCondLst>
                                            <p:cond delay="0"/>
                                          </p:stCondLst>
                                        </p:cTn>
                                        <p:tgtEl>
                                          <p:spTgt spid="107"/>
                                        </p:tgtEl>
                                        <p:attrNameLst>
                                          <p:attrName>style.visibility</p:attrName>
                                        </p:attrNameLst>
                                      </p:cBhvr>
                                      <p:to>
                                        <p:strVal val="visible"/>
                                      </p:to>
                                    </p:set>
                                    <p:animEffect transition="in" filter="fade">
                                      <p:cBhvr>
                                        <p:cTn id="15" dur="600"/>
                                        <p:tgtEl>
                                          <p:spTgt spid="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6950455" cy="801243"/>
            <a:chOff x="747522" y="439102"/>
            <a:chExt cx="6950455" cy="801243"/>
          </a:xfrm>
        </p:grpSpPr>
        <p:sp>
          <p:nvSpPr>
            <p:cNvPr id="3" name="TextBox 3"/>
            <p:cNvSpPr txBox="1"/>
            <p:nvPr/>
          </p:nvSpPr>
          <p:spPr>
            <a:xfrm>
              <a:off x="775716" y="439102"/>
              <a:ext cx="2278685"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03 · ATTENTION, STEP 4</a:t>
              </a:r>
            </a:p>
          </p:txBody>
        </p:sp>
        <p:sp>
          <p:nvSpPr>
            <p:cNvPr id="4" name="TextBox 4"/>
            <p:cNvSpPr txBox="1"/>
            <p:nvPr/>
          </p:nvSpPr>
          <p:spPr>
            <a:xfrm>
              <a:off x="747522" y="682942"/>
              <a:ext cx="6950455"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Injecting order without recurrence</a:t>
              </a:r>
            </a:p>
          </p:txBody>
        </p:sp>
      </p:grpSp>
      <mc:AlternateContent xmlns:mc="http://schemas.openxmlformats.org/markup-compatibility/2006">
        <mc:Choice xmlns:a14="http://schemas.microsoft.com/office/drawing/2010/main" Requires="a14">
          <p:sp>
            <p:nvSpPr>
              <p:cNvPr id="6" name="pe-sin-formula"/>
              <p:cNvSpPr txBox="1">
                <a:spLocks noGrp="1"/>
              </p:cNvSpPr>
              <p:nvPr/>
            </p:nvSpPr>
            <p:spPr>
              <a:xfrm>
                <a:off x="762000" y="1428750"/>
                <a:ext cx="55245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1500" dirty="0">
                          <a:solidFill>
                            <a:srgbClr val="E8F1FA"/>
                          </a:solidFill>
                          <a:latin typeface="Cambria Math"/>
                          <a:ea typeface="Cambria Math"/>
                          <a:cs typeface="Cambria Math"/>
                        </a:rPr>
                        <m:t>P</m:t>
                      </m:r>
                      <m:sSub>
                        <m:e>
                          <m:r>
                            <a:rPr lang="en-US" sz="1500" dirty="0">
                              <a:solidFill>
                                <a:srgbClr val="E8F1FA"/>
                              </a:solidFill>
                              <a:latin typeface="Cambria Math"/>
                              <a:ea typeface="Cambria Math"/>
                              <a:cs typeface="Cambria Math"/>
                            </a:rPr>
                            <m:t>E</m:t>
                          </m:r>
                        </m:e>
                        <m:sub>
                          <m:d>
                            <m:dPr>
                              <m:begChr m:val="("/>
                              <m:sepChr m:val=""/>
                              <m:endChr m:val=")"/>
                              <m:grow m:val="on"/>
                              <m:ctrlPr>
                                <a:rPr lang="en-US" sz="1500" dirty="0">
                                  <a:solidFill>
                                    <a:srgbClr val="E8F1FA"/>
                                  </a:solidFill>
                                  <a:latin typeface="Cambria Math"/>
                                  <a:ea typeface="Cambria Math"/>
                                  <a:cs typeface="Cambria Math"/>
                                </a:rPr>
                              </m:ctrlPr>
                            </m:dPr>
                            <m:e>
                              <m:r>
                                <a:rPr lang="en-US" sz="1500" dirty="0">
                                  <a:solidFill>
                                    <a:srgbClr val="E8F1FA"/>
                                  </a:solidFill>
                                  <a:latin typeface="Cambria Math"/>
                                  <a:ea typeface="Cambria Math"/>
                                  <a:cs typeface="Cambria Math"/>
                                </a:rPr>
                                <m:t>pos</m:t>
                              </m:r>
                              <m:r>
                                <m:rPr>
                                  <m:sty m:val="p"/>
                                </m:rPr>
                                <a:rPr lang="en-US" sz="1500" dirty="0">
                                  <a:solidFill>
                                    <a:srgbClr val="E8F1FA"/>
                                  </a:solidFill>
                                  <a:latin typeface="Cambria Math"/>
                                  <a:ea typeface="Cambria Math"/>
                                  <a:cs typeface="Cambria Math"/>
                                </a:rPr>
                                <m:t>,</m:t>
                              </m:r>
                              <m:r>
                                <a:rPr lang="en-US" sz="1500" dirty="0">
                                  <a:solidFill>
                                    <a:srgbClr val="E8F1FA"/>
                                  </a:solidFill>
                                  <a:latin typeface="Cambria Math"/>
                                  <a:ea typeface="Cambria Math"/>
                                  <a:cs typeface="Cambria Math"/>
                                </a:rPr>
                                <m:t xml:space="preserve"> </m:t>
                              </m:r>
                              <m:r>
                                <a:rPr lang="en-US" sz="1500" dirty="0">
                                  <a:solidFill>
                                    <a:srgbClr val="E8F1FA"/>
                                  </a:solidFill>
                                  <a:latin typeface="Cambria Math"/>
                                  <a:ea typeface="Cambria Math"/>
                                  <a:cs typeface="Cambria Math"/>
                                </a:rPr>
                                <m:t>2i</m:t>
                              </m:r>
                            </m:e>
                          </m:d>
                        </m:sub>
                      </m:sSub>
                      <m:r>
                        <m:rPr>
                          <m:sty m:val="p"/>
                        </m:rPr>
                        <a:rPr lang="en-US" sz="1500" dirty="0">
                          <a:solidFill>
                            <a:srgbClr val="E8F1FA"/>
                          </a:solidFill>
                          <a:latin typeface="Cambria Math"/>
                          <a:ea typeface="Cambria Math"/>
                          <a:cs typeface="Cambria Math"/>
                        </a:rPr>
                        <m:t>=</m:t>
                      </m:r>
                      <m:func>
                        <m:funcPr/>
                        <m:fName>
                          <m:r>
                            <m:rPr>
                              <m:sty m:val="p"/>
                            </m:rPr>
                            <a:rPr lang="en-US" sz="1500" dirty="0">
                              <a:solidFill>
                                <a:srgbClr val="E8F1FA"/>
                              </a:solidFill>
                              <a:latin typeface="Cambria Math"/>
                              <a:ea typeface="Cambria Math"/>
                              <a:cs typeface="Cambria Math"/>
                            </a:rPr>
                            <m:t>sin</m:t>
                          </m:r>
                        </m:fName>
                        <m:e>
                          <m:d>
                            <m:dPr>
                              <m:begChr m:val="("/>
                              <m:sepChr m:val=""/>
                              <m:endChr m:val=")"/>
                              <m:grow m:val="on"/>
                              <m:ctrlPr>
                                <a:rPr lang="en-US" sz="1500" dirty="0">
                                  <a:solidFill>
                                    <a:srgbClr val="E8F1FA"/>
                                  </a:solidFill>
                                  <a:latin typeface="Cambria Math"/>
                                  <a:ea typeface="Cambria Math"/>
                                  <a:cs typeface="Cambria Math"/>
                                </a:rPr>
                              </m:ctrlPr>
                            </m:dPr>
                            <m:e>
                              <m:r>
                                <a:rPr lang="en-US" sz="1500" dirty="0">
                                  <a:solidFill>
                                    <a:srgbClr val="E8F1FA"/>
                                  </a:solidFill>
                                  <a:latin typeface="Cambria Math"/>
                                  <a:ea typeface="Cambria Math"/>
                                  <a:cs typeface="Cambria Math"/>
                                </a:rPr>
                                <m:t>pos</m:t>
                              </m:r>
                              <m:r>
                                <m:rPr>
                                  <m:sty m:val="p"/>
                                </m:rPr>
                                <a:rPr lang="en-US" sz="1500" dirty="0">
                                  <a:solidFill>
                                    <a:srgbClr val="E8F1FA"/>
                                  </a:solidFill>
                                  <a:latin typeface="Cambria Math"/>
                                  <a:ea typeface="Cambria Math"/>
                                  <a:cs typeface="Cambria Math"/>
                                </a:rPr>
                                <m:t>/</m:t>
                              </m:r>
                              <m:r>
                                <a:rPr lang="en-US" sz="1500" dirty="0">
                                  <a:solidFill>
                                    <a:srgbClr val="E8F1FA"/>
                                  </a:solidFill>
                                  <a:latin typeface="Cambria Math"/>
                                  <a:ea typeface="Cambria Math"/>
                                  <a:cs typeface="Cambria Math"/>
                                </a:rPr>
                                <m:t>1000</m:t>
                              </m:r>
                              <m:sSup>
                                <m:e>
                                  <m:r>
                                    <a:rPr lang="en-US" sz="1500" dirty="0">
                                      <a:solidFill>
                                        <a:srgbClr val="E8F1FA"/>
                                      </a:solidFill>
                                      <a:latin typeface="Cambria Math"/>
                                      <a:ea typeface="Cambria Math"/>
                                      <a:cs typeface="Cambria Math"/>
                                    </a:rPr>
                                    <m:t>0</m:t>
                                  </m:r>
                                </m:e>
                                <m:sup>
                                  <m:r>
                                    <a:rPr lang="en-US" sz="1500" dirty="0">
                                      <a:solidFill>
                                        <a:srgbClr val="E8F1FA"/>
                                      </a:solidFill>
                                      <a:latin typeface="Cambria Math"/>
                                      <a:ea typeface="Cambria Math"/>
                                      <a:cs typeface="Cambria Math"/>
                                    </a:rPr>
                                    <m:t>2i</m:t>
                                  </m:r>
                                  <m:r>
                                    <m:rPr>
                                      <m:sty m:val="p"/>
                                    </m:rPr>
                                    <a:rPr lang="en-US" sz="1500" dirty="0">
                                      <a:solidFill>
                                        <a:srgbClr val="E8F1FA"/>
                                      </a:solidFill>
                                      <a:latin typeface="Cambria Math"/>
                                      <a:ea typeface="Cambria Math"/>
                                      <a:cs typeface="Cambria Math"/>
                                    </a:rPr>
                                    <m:t>/</m:t>
                                  </m:r>
                                  <m:sSub>
                                    <m:e>
                                      <m:r>
                                        <a:rPr lang="en-US" sz="1500" dirty="0">
                                          <a:solidFill>
                                            <a:srgbClr val="E8F1FA"/>
                                          </a:solidFill>
                                          <a:latin typeface="Cambria Math"/>
                                          <a:ea typeface="Cambria Math"/>
                                          <a:cs typeface="Cambria Math"/>
                                        </a:rPr>
                                        <m:t>d</m:t>
                                      </m:r>
                                    </m:e>
                                    <m:sub>
                                      <m:r>
                                        <m:rPr>
                                          <m:sty m:val="p"/>
                                        </m:rPr>
                                        <a:rPr lang="en-US" sz="1500" dirty="0">
                                          <a:solidFill>
                                            <a:srgbClr val="E8F1FA"/>
                                          </a:solidFill>
                                          <a:latin typeface="Cambria Math"/>
                                          <a:ea typeface="Cambria Math"/>
                                          <a:cs typeface="Cambria Math"/>
                                        </a:rPr>
                                        <m:t>model</m:t>
                                      </m:r>
                                    </m:sub>
                                  </m:sSub>
                                </m:sup>
                              </m:sSup>
                            </m:e>
                          </m:d>
                        </m:e>
                      </m:func>
                    </m:oMath>
                  </m:oMathPara>
                </a14:m>
              </a:p>
            </p:txBody>
          </p:sp>
        </mc:Choice>
      </mc:AlternateContent>
      <mc:AlternateContent xmlns:mc="http://schemas.openxmlformats.org/markup-compatibility/2006">
        <mc:Choice xmlns:a14="http://schemas.microsoft.com/office/drawing/2010/main" Requires="a14">
          <p:sp>
            <p:nvSpPr>
              <p:cNvPr id="7" name="pe-cos-formula"/>
              <p:cNvSpPr txBox="1">
                <a:spLocks noGrp="1"/>
              </p:cNvSpPr>
              <p:nvPr/>
            </p:nvSpPr>
            <p:spPr>
              <a:xfrm>
                <a:off x="762000" y="2057400"/>
                <a:ext cx="5524500" cy="6096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1500" dirty="0">
                          <a:solidFill>
                            <a:srgbClr val="E8F1FA"/>
                          </a:solidFill>
                          <a:latin typeface="Cambria Math"/>
                          <a:ea typeface="Cambria Math"/>
                          <a:cs typeface="Cambria Math"/>
                        </a:rPr>
                        <m:t>P</m:t>
                      </m:r>
                      <m:sSub>
                        <m:e>
                          <m:r>
                            <a:rPr lang="en-US" sz="1500" dirty="0">
                              <a:solidFill>
                                <a:srgbClr val="E8F1FA"/>
                              </a:solidFill>
                              <a:latin typeface="Cambria Math"/>
                              <a:ea typeface="Cambria Math"/>
                              <a:cs typeface="Cambria Math"/>
                            </a:rPr>
                            <m:t>E</m:t>
                          </m:r>
                        </m:e>
                        <m:sub>
                          <m:d>
                            <m:dPr>
                              <m:begChr m:val="("/>
                              <m:sepChr m:val=""/>
                              <m:endChr m:val=")"/>
                              <m:grow m:val="on"/>
                              <m:ctrlPr>
                                <a:rPr lang="en-US" sz="1500" dirty="0">
                                  <a:solidFill>
                                    <a:srgbClr val="E8F1FA"/>
                                  </a:solidFill>
                                  <a:latin typeface="Cambria Math"/>
                                  <a:ea typeface="Cambria Math"/>
                                  <a:cs typeface="Cambria Math"/>
                                </a:rPr>
                              </m:ctrlPr>
                            </m:dPr>
                            <m:e>
                              <m:r>
                                <a:rPr lang="en-US" sz="1500" dirty="0">
                                  <a:solidFill>
                                    <a:srgbClr val="E8F1FA"/>
                                  </a:solidFill>
                                  <a:latin typeface="Cambria Math"/>
                                  <a:ea typeface="Cambria Math"/>
                                  <a:cs typeface="Cambria Math"/>
                                </a:rPr>
                                <m:t>pos</m:t>
                              </m:r>
                              <m:r>
                                <m:rPr>
                                  <m:sty m:val="p"/>
                                </m:rPr>
                                <a:rPr lang="en-US" sz="1500" dirty="0">
                                  <a:solidFill>
                                    <a:srgbClr val="E8F1FA"/>
                                  </a:solidFill>
                                  <a:latin typeface="Cambria Math"/>
                                  <a:ea typeface="Cambria Math"/>
                                  <a:cs typeface="Cambria Math"/>
                                </a:rPr>
                                <m:t>,</m:t>
                              </m:r>
                              <m:r>
                                <a:rPr lang="en-US" sz="1500" dirty="0">
                                  <a:solidFill>
                                    <a:srgbClr val="E8F1FA"/>
                                  </a:solidFill>
                                  <a:latin typeface="Cambria Math"/>
                                  <a:ea typeface="Cambria Math"/>
                                  <a:cs typeface="Cambria Math"/>
                                </a:rPr>
                                <m:t xml:space="preserve"> </m:t>
                              </m:r>
                              <m:r>
                                <a:rPr lang="en-US" sz="1500" dirty="0">
                                  <a:solidFill>
                                    <a:srgbClr val="E8F1FA"/>
                                  </a:solidFill>
                                  <a:latin typeface="Cambria Math"/>
                                  <a:ea typeface="Cambria Math"/>
                                  <a:cs typeface="Cambria Math"/>
                                </a:rPr>
                                <m:t>2i</m:t>
                              </m:r>
                              <m:r>
                                <m:rPr>
                                  <m:sty m:val="p"/>
                                </m:rPr>
                                <a:rPr lang="en-US" sz="1500" dirty="0">
                                  <a:solidFill>
                                    <a:srgbClr val="E8F1FA"/>
                                  </a:solidFill>
                                  <a:latin typeface="Cambria Math"/>
                                  <a:ea typeface="Cambria Math"/>
                                  <a:cs typeface="Cambria Math"/>
                                </a:rPr>
                                <m:t>+</m:t>
                              </m:r>
                              <m:r>
                                <a:rPr lang="en-US" sz="1500" dirty="0">
                                  <a:solidFill>
                                    <a:srgbClr val="E8F1FA"/>
                                  </a:solidFill>
                                  <a:latin typeface="Cambria Math"/>
                                  <a:ea typeface="Cambria Math"/>
                                  <a:cs typeface="Cambria Math"/>
                                </a:rPr>
                                <m:t>1</m:t>
                              </m:r>
                            </m:e>
                          </m:d>
                        </m:sub>
                      </m:sSub>
                      <m:r>
                        <m:rPr>
                          <m:sty m:val="p"/>
                        </m:rPr>
                        <a:rPr lang="en-US" sz="1500" dirty="0">
                          <a:solidFill>
                            <a:srgbClr val="E8F1FA"/>
                          </a:solidFill>
                          <a:latin typeface="Cambria Math"/>
                          <a:ea typeface="Cambria Math"/>
                          <a:cs typeface="Cambria Math"/>
                        </a:rPr>
                        <m:t>=</m:t>
                      </m:r>
                      <m:func>
                        <m:funcPr/>
                        <m:fName>
                          <m:r>
                            <m:rPr>
                              <m:sty m:val="p"/>
                            </m:rPr>
                            <a:rPr lang="en-US" sz="1500" dirty="0">
                              <a:solidFill>
                                <a:srgbClr val="E8F1FA"/>
                              </a:solidFill>
                              <a:latin typeface="Cambria Math"/>
                              <a:ea typeface="Cambria Math"/>
                              <a:cs typeface="Cambria Math"/>
                            </a:rPr>
                            <m:t>cos</m:t>
                          </m:r>
                        </m:fName>
                        <m:e>
                          <m:d>
                            <m:dPr>
                              <m:begChr m:val="("/>
                              <m:sepChr m:val=""/>
                              <m:endChr m:val=")"/>
                              <m:grow m:val="on"/>
                              <m:ctrlPr>
                                <a:rPr lang="en-US" sz="1500" dirty="0">
                                  <a:solidFill>
                                    <a:srgbClr val="E8F1FA"/>
                                  </a:solidFill>
                                  <a:latin typeface="Cambria Math"/>
                                  <a:ea typeface="Cambria Math"/>
                                  <a:cs typeface="Cambria Math"/>
                                </a:rPr>
                              </m:ctrlPr>
                            </m:dPr>
                            <m:e>
                              <m:r>
                                <a:rPr lang="en-US" sz="1500" dirty="0">
                                  <a:solidFill>
                                    <a:srgbClr val="E8F1FA"/>
                                  </a:solidFill>
                                  <a:latin typeface="Cambria Math"/>
                                  <a:ea typeface="Cambria Math"/>
                                  <a:cs typeface="Cambria Math"/>
                                </a:rPr>
                                <m:t>pos</m:t>
                              </m:r>
                              <m:r>
                                <m:rPr>
                                  <m:sty m:val="p"/>
                                </m:rPr>
                                <a:rPr lang="en-US" sz="1500" dirty="0">
                                  <a:solidFill>
                                    <a:srgbClr val="E8F1FA"/>
                                  </a:solidFill>
                                  <a:latin typeface="Cambria Math"/>
                                  <a:ea typeface="Cambria Math"/>
                                  <a:cs typeface="Cambria Math"/>
                                </a:rPr>
                                <m:t>/</m:t>
                              </m:r>
                              <m:r>
                                <a:rPr lang="en-US" sz="1500" dirty="0">
                                  <a:solidFill>
                                    <a:srgbClr val="E8F1FA"/>
                                  </a:solidFill>
                                  <a:latin typeface="Cambria Math"/>
                                  <a:ea typeface="Cambria Math"/>
                                  <a:cs typeface="Cambria Math"/>
                                </a:rPr>
                                <m:t>1000</m:t>
                              </m:r>
                              <m:sSup>
                                <m:e>
                                  <m:r>
                                    <a:rPr lang="en-US" sz="1500" dirty="0">
                                      <a:solidFill>
                                        <a:srgbClr val="E8F1FA"/>
                                      </a:solidFill>
                                      <a:latin typeface="Cambria Math"/>
                                      <a:ea typeface="Cambria Math"/>
                                      <a:cs typeface="Cambria Math"/>
                                    </a:rPr>
                                    <m:t>0</m:t>
                                  </m:r>
                                </m:e>
                                <m:sup>
                                  <m:r>
                                    <a:rPr lang="en-US" sz="1500" dirty="0">
                                      <a:solidFill>
                                        <a:srgbClr val="E8F1FA"/>
                                      </a:solidFill>
                                      <a:latin typeface="Cambria Math"/>
                                      <a:ea typeface="Cambria Math"/>
                                      <a:cs typeface="Cambria Math"/>
                                    </a:rPr>
                                    <m:t>2i</m:t>
                                  </m:r>
                                  <m:r>
                                    <m:rPr>
                                      <m:sty m:val="p"/>
                                    </m:rPr>
                                    <a:rPr lang="en-US" sz="1500" dirty="0">
                                      <a:solidFill>
                                        <a:srgbClr val="E8F1FA"/>
                                      </a:solidFill>
                                      <a:latin typeface="Cambria Math"/>
                                      <a:ea typeface="Cambria Math"/>
                                      <a:cs typeface="Cambria Math"/>
                                    </a:rPr>
                                    <m:t>/</m:t>
                                  </m:r>
                                  <m:sSub>
                                    <m:e>
                                      <m:r>
                                        <a:rPr lang="en-US" sz="1500" dirty="0">
                                          <a:solidFill>
                                            <a:srgbClr val="E8F1FA"/>
                                          </a:solidFill>
                                          <a:latin typeface="Cambria Math"/>
                                          <a:ea typeface="Cambria Math"/>
                                          <a:cs typeface="Cambria Math"/>
                                        </a:rPr>
                                        <m:t>d</m:t>
                                      </m:r>
                                    </m:e>
                                    <m:sub>
                                      <m:r>
                                        <m:rPr>
                                          <m:sty m:val="p"/>
                                        </m:rPr>
                                        <a:rPr lang="en-US" sz="1500" dirty="0">
                                          <a:solidFill>
                                            <a:srgbClr val="E8F1FA"/>
                                          </a:solidFill>
                                          <a:latin typeface="Cambria Math"/>
                                          <a:ea typeface="Cambria Math"/>
                                          <a:cs typeface="Cambria Math"/>
                                        </a:rPr>
                                        <m:t>model</m:t>
                                      </m:r>
                                    </m:sub>
                                  </m:sSub>
                                </m:sup>
                              </m:sSup>
                            </m:e>
                          </m:d>
                        </m:e>
                      </m:func>
                    </m:oMath>
                  </m:oMathPara>
                </a14:m>
              </a:p>
            </p:txBody>
          </p:sp>
        </mc:Choice>
      </mc:AlternateContent>
      <p:grpSp>
        <p:nvGrpSpPr>
          <p:cNvPr id="20" name="Group 20"/>
          <p:cNvGrpSpPr/>
          <p:nvPr/>
        </p:nvGrpSpPr>
        <p:grpSpPr>
          <a:xfrm>
            <a:off x="762000" y="2952750"/>
            <a:ext cx="5510251" cy="2657189"/>
            <a:chOff x="762000" y="2952750"/>
            <a:chExt cx="5510251" cy="2657189"/>
          </a:xfrm>
        </p:grpSpPr>
        <p:sp>
          <p:nvSpPr>
            <p:cNvPr id="8" name="Line 8"/>
            <p:cNvSpPr/>
            <p:nvPr/>
          </p:nvSpPr>
          <p:spPr>
            <a:xfrm>
              <a:off x="762000" y="2952750"/>
              <a:ext cx="9525" cy="1524000"/>
            </a:xfrm>
            <a:custGeom>
              <a:avLst/>
              <a:gdLst/>
              <a:ahLst/>
              <a:cxnLst/>
              <a:rect l="l" t="t" r="r" b="b"/>
              <a:pathLst>
                <a:path w="9525" h="1524000">
                  <a:moveTo>
                    <a:pt x="0" y="0"/>
                  </a:moveTo>
                  <a:lnTo>
                    <a:pt x="0" y="1524000"/>
                  </a:lnTo>
                </a:path>
              </a:pathLst>
            </a:custGeom>
            <a:noFill/>
            <a:ln w="28575">
              <a:solidFill>
                <a:srgbClr val="F5A623"/>
              </a:solidFill>
            </a:ln>
          </p:spPr>
        </p:sp>
        <p:sp>
          <p:nvSpPr>
            <p:cNvPr id="9" name="TextBox 9"/>
            <p:cNvSpPr txBox="1"/>
            <p:nvPr/>
          </p:nvSpPr>
          <p:spPr>
            <a:xfrm>
              <a:off x="982980" y="3019425"/>
              <a:ext cx="3902410" cy="293370"/>
            </a:xfrm>
            <a:prstGeom prst="rect">
              <a:avLst/>
            </a:prstGeom>
            <a:noFill/>
            <a:ln>
              <a:noFill/>
            </a:ln>
          </p:spPr>
          <p:txBody>
            <a:bodyPr wrap="none" lIns="0" tIns="0" rIns="0" bIns="0" anchor="t" anchorCtr="0">
              <a:spAutoFit/>
            </a:bodyPr>
            <a:lstStyle/>
            <a:p>
              <a:pPr algn="l"/>
              <a:r>
                <a:rPr lang="en-US" sz="1500" b="1" dirty="0">
                  <a:solidFill>
                    <a:srgbClr val="E8F1FA"/>
                  </a:solidFill>
                  <a:latin typeface="Segoe UI"/>
                  <a:ea typeface="Segoe UI"/>
                  <a:cs typeface="Segoe UI"/>
                </a:rPr>
                <a:t>Why sinusoids, not learned positions?</a:t>
              </a:r>
            </a:p>
          </p:txBody>
        </p:sp>
        <p:sp>
          <p:nvSpPr>
            <p:cNvPr id="10" name="TextBox 10"/>
            <p:cNvSpPr txBox="1"/>
            <p:nvPr/>
          </p:nvSpPr>
          <p:spPr>
            <a:xfrm>
              <a:off x="983742" y="3340418"/>
              <a:ext cx="4034218" cy="1064133"/>
            </a:xfrm>
            <a:prstGeom prst="rect">
              <a:avLst/>
            </a:prstGeom>
            <a:noFill/>
            <a:ln>
              <a:noFill/>
            </a:ln>
          </p:spPr>
          <p:txBody>
            <a:bodyPr wrap="none" lIns="0" tIns="0" rIns="0" bIns="0" anchor="t" anchorCtr="0">
              <a:spAutoFit/>
            </a:bodyPr>
            <a:lstStyle/>
            <a:p>
              <a:pPr algn="l">
                <a:lnSpc>
                  <a:spcPts val="2100"/>
                </a:lnSpc>
              </a:pPr>
              <a:r>
                <a:rPr lang="en-US" sz="1350" dirty="0">
                  <a:solidFill>
                    <a:srgbClr val="C9DBEA"/>
                  </a:solidFill>
                  <a:latin typeface="Segoe UI"/>
                  <a:ea typeface="Segoe UI"/>
                  <a:cs typeface="Segoe UI"/>
                </a:rPr>
                <a:t>Learned positional embeddings performed nearly</a:t>
              </a:r>
              <a:br/>
              <a:r>
                <a:rPr lang="en-US" sz="1350" dirty="0">
                  <a:solidFill>
                    <a:srgbClr val="C9DBEA"/>
                  </a:solidFill>
                  <a:latin typeface="Segoe UI"/>
                  <a:ea typeface="Segoe UI"/>
                  <a:cs typeface="Segoe UI"/>
                </a:rPr>
                <a:t>identically in the ablation (Table 3).</a:t>
              </a:r>
              <a:br/>
              <a:r>
                <a:rPr lang="en-US" sz="1350" dirty="0">
                  <a:solidFill>
                    <a:srgbClr val="C9DBEA"/>
                  </a:solidFill>
                  <a:latin typeface="Segoe UI"/>
                  <a:ea typeface="Segoe UI"/>
                  <a:cs typeface="Segoe UI"/>
                </a:rPr>
                <a:t>The sinusoidal version was kept because it may</a:t>
              </a:r>
              <a:br/>
              <a:r>
                <a:rPr lang="en-US" sz="1350" dirty="0">
                  <a:solidFill>
                    <a:srgbClr val="C9DBEA"/>
                  </a:solidFill>
                  <a:latin typeface="Segoe UI"/>
                  <a:ea typeface="Segoe UI"/>
                  <a:cs typeface="Segoe UI"/>
                </a:rPr>
                <a:t>extrapolate to lengths never seen in training.</a:t>
              </a:r>
            </a:p>
          </p:txBody>
        </p:sp>
        <p:grpSp>
          <p:nvGrpSpPr>
            <p:cNvPr id="19" name="Group 19"/>
            <p:cNvGrpSpPr/>
            <p:nvPr/>
          </p:nvGrpSpPr>
          <p:grpSpPr>
            <a:xfrm>
              <a:off x="985647" y="4857750"/>
              <a:ext cx="5286604" cy="752189"/>
              <a:chOff x="985647" y="4857750"/>
              <a:chExt cx="5286604" cy="752189"/>
            </a:xfrm>
          </p:grpSpPr>
          <p:sp>
            <p:nvSpPr>
              <p:cNvPr id="11" name="Rectangle 11"/>
              <p:cNvSpPr/>
              <p:nvPr/>
            </p:nvSpPr>
            <p:spPr>
              <a:xfrm>
                <a:off x="990600" y="4857750"/>
                <a:ext cx="1619250" cy="381000"/>
              </a:xfrm>
              <a:prstGeom prst="roundRect">
                <a:avLst>
                  <a:gd name="adj" fmla="val 7500"/>
                </a:avLst>
              </a:prstGeom>
              <a:solidFill>
                <a:srgbClr val="10284A"/>
              </a:solidFill>
              <a:ln w="14288">
                <a:solidFill>
                  <a:srgbClr val="9CC3E6"/>
                </a:solidFill>
              </a:ln>
            </p:spPr>
          </p:sp>
          <p:sp>
            <p:nvSpPr>
              <p:cNvPr id="12" name="TextBox 12"/>
              <p:cNvSpPr txBox="1"/>
              <p:nvPr/>
            </p:nvSpPr>
            <p:spPr>
              <a:xfrm>
                <a:off x="1246289" y="4982528"/>
                <a:ext cx="1107872"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Input Embedding</a:t>
                </a:r>
              </a:p>
            </p:txBody>
          </p:sp>
          <p:sp>
            <p:nvSpPr>
              <p:cNvPr id="13" name="TextBox 13"/>
              <p:cNvSpPr txBox="1"/>
              <p:nvPr/>
            </p:nvSpPr>
            <p:spPr>
              <a:xfrm>
                <a:off x="2807084" y="4927282"/>
                <a:ext cx="138932" cy="322707"/>
              </a:xfrm>
              <a:prstGeom prst="rect">
                <a:avLst/>
              </a:prstGeom>
              <a:noFill/>
              <a:ln>
                <a:noFill/>
              </a:ln>
            </p:spPr>
            <p:txBody>
              <a:bodyPr wrap="none" lIns="0" tIns="0" rIns="0" bIns="0" anchor="t" anchorCtr="0">
                <a:spAutoFit/>
              </a:bodyPr>
              <a:lstStyle/>
              <a:p>
                <a:pPr algn="ctr"/>
                <a:r>
                  <a:rPr lang="en-US" sz="1650" dirty="0">
                    <a:solidFill>
                      <a:srgbClr val="9CC3E6"/>
                    </a:solidFill>
                    <a:latin typeface="Segoe UI"/>
                    <a:ea typeface="Segoe UI"/>
                    <a:cs typeface="Segoe UI"/>
                  </a:rPr>
                  <a:t>+</a:t>
                </a:r>
              </a:p>
            </p:txBody>
          </p:sp>
          <p:sp>
            <p:nvSpPr>
              <p:cNvPr id="14" name="Rectangle 14"/>
              <p:cNvSpPr/>
              <p:nvPr/>
            </p:nvSpPr>
            <p:spPr>
              <a:xfrm>
                <a:off x="3143250" y="4857750"/>
                <a:ext cx="1619250" cy="381000"/>
              </a:xfrm>
              <a:prstGeom prst="roundRect">
                <a:avLst>
                  <a:gd name="adj" fmla="val 7500"/>
                </a:avLst>
              </a:prstGeom>
              <a:solidFill>
                <a:srgbClr val="10284A"/>
              </a:solidFill>
              <a:ln w="14288">
                <a:solidFill>
                  <a:srgbClr val="F5A623"/>
                </a:solidFill>
              </a:ln>
            </p:spPr>
          </p:sp>
          <p:sp>
            <p:nvSpPr>
              <p:cNvPr id="15" name="TextBox 15"/>
              <p:cNvSpPr txBox="1"/>
              <p:nvPr/>
            </p:nvSpPr>
            <p:spPr>
              <a:xfrm>
                <a:off x="3293237" y="4982528"/>
                <a:ext cx="1319276"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Positional Encoding</a:t>
                </a:r>
              </a:p>
            </p:txBody>
          </p:sp>
          <p:sp>
            <p:nvSpPr>
              <p:cNvPr id="16" name="TextBox 16"/>
              <p:cNvSpPr txBox="1"/>
              <p:nvPr/>
            </p:nvSpPr>
            <p:spPr>
              <a:xfrm>
                <a:off x="4978784" y="4927282"/>
                <a:ext cx="138932" cy="322707"/>
              </a:xfrm>
              <a:prstGeom prst="rect">
                <a:avLst/>
              </a:prstGeom>
              <a:noFill/>
              <a:ln>
                <a:noFill/>
              </a:ln>
            </p:spPr>
            <p:txBody>
              <a:bodyPr wrap="none" lIns="0" tIns="0" rIns="0" bIns="0" anchor="t" anchorCtr="0">
                <a:spAutoFit/>
              </a:bodyPr>
              <a:lstStyle/>
              <a:p>
                <a:pPr algn="ctr"/>
                <a:r>
                  <a:rPr lang="en-US" sz="1650" dirty="0">
                    <a:solidFill>
                      <a:srgbClr val="9CC3E6"/>
                    </a:solidFill>
                    <a:latin typeface="Segoe UI"/>
                    <a:ea typeface="Segoe UI"/>
                    <a:cs typeface="Segoe UI"/>
                  </a:rPr>
                  <a:t>=</a:t>
                </a:r>
              </a:p>
            </p:txBody>
          </p:sp>
          <p:sp>
            <p:nvSpPr>
              <p:cNvPr id="17" name="TextBox 17"/>
              <p:cNvSpPr txBox="1"/>
              <p:nvPr/>
            </p:nvSpPr>
            <p:spPr>
              <a:xfrm>
                <a:off x="5328666" y="4982528"/>
                <a:ext cx="943585" cy="205359"/>
              </a:xfrm>
              <a:prstGeom prst="rect">
                <a:avLst/>
              </a:prstGeom>
              <a:noFill/>
              <a:ln>
                <a:noFill/>
              </a:ln>
            </p:spPr>
            <p:txBody>
              <a:bodyPr wrap="none" lIns="0" tIns="0" rIns="0" bIns="0" anchor="t" anchorCtr="0">
                <a:spAutoFit/>
              </a:bodyPr>
              <a:lstStyle/>
              <a:p>
                <a:pPr algn="l"/>
                <a:r>
                  <a:rPr lang="en-US" sz="1050" dirty="0">
                    <a:solidFill>
                      <a:srgbClr val="F5A623"/>
                    </a:solidFill>
                    <a:latin typeface="Consolas"/>
                    <a:ea typeface="Consolas"/>
                    <a:cs typeface="Consolas"/>
                  </a:rPr>
                  <a:t>d_model = 512</a:t>
                </a:r>
              </a:p>
            </p:txBody>
          </p:sp>
          <p:sp>
            <p:nvSpPr>
              <p:cNvPr id="18" name="TextBox 18"/>
              <p:cNvSpPr txBox="1"/>
              <p:nvPr/>
            </p:nvSpPr>
            <p:spPr>
              <a:xfrm>
                <a:off x="985647" y="5419249"/>
                <a:ext cx="3928156" cy="190690"/>
              </a:xfrm>
              <a:prstGeom prst="rect">
                <a:avLst/>
              </a:prstGeom>
              <a:noFill/>
              <a:ln>
                <a:noFill/>
              </a:ln>
            </p:spPr>
            <p:txBody>
              <a:bodyPr wrap="none" lIns="0" tIns="0" rIns="0" bIns="0" anchor="t" anchorCtr="0">
                <a:spAutoFit/>
              </a:bodyPr>
              <a:lstStyle/>
              <a:p>
                <a:pPr algn="l"/>
                <a:r>
                  <a:rPr lang="en-US" sz="980" dirty="0">
                    <a:solidFill>
                      <a:srgbClr val="9CB4CC"/>
                    </a:solidFill>
                    <a:latin typeface="Consolas"/>
                    <a:ea typeface="Consolas"/>
                    <a:cs typeface="Consolas"/>
                  </a:rPr>
                  <a:t>added, not concatenated — same width, no extra parameters</a:t>
                </a:r>
              </a:p>
            </p:txBody>
          </p:sp>
        </p:grpSp>
      </p:grpSp>
      <p:grpSp>
        <p:nvGrpSpPr>
          <p:cNvPr id="35" name="Group 35"/>
          <p:cNvGrpSpPr/>
          <p:nvPr/>
        </p:nvGrpSpPr>
        <p:grpSpPr>
          <a:xfrm>
            <a:off x="6681597" y="1571149"/>
            <a:ext cx="4674680" cy="2622708"/>
            <a:chOff x="6681597" y="1571149"/>
            <a:chExt cx="4674680" cy="2622708"/>
          </a:xfrm>
        </p:grpSpPr>
        <p:sp>
          <p:nvSpPr>
            <p:cNvPr id="21" name="TextBox 21"/>
            <p:cNvSpPr txBox="1"/>
            <p:nvPr/>
          </p:nvSpPr>
          <p:spPr>
            <a:xfrm>
              <a:off x="6681597" y="1571149"/>
              <a:ext cx="2404232" cy="190690"/>
            </a:xfrm>
            <a:prstGeom prst="rect">
              <a:avLst/>
            </a:prstGeom>
            <a:noFill/>
            <a:ln>
              <a:noFill/>
            </a:ln>
          </p:spPr>
          <p:txBody>
            <a:bodyPr wrap="none" lIns="0" tIns="0" rIns="0" bIns="0" anchor="t" anchorCtr="0">
              <a:spAutoFit/>
            </a:bodyPr>
            <a:lstStyle/>
            <a:p>
              <a:pPr algn="l"/>
              <a:r>
                <a:rPr lang="en-US" sz="980" spc="150" dirty="0">
                  <a:solidFill>
                    <a:srgbClr val="9CC3E6"/>
                  </a:solidFill>
                  <a:latin typeface="Consolas"/>
                  <a:ea typeface="Consolas"/>
                  <a:cs typeface="Consolas"/>
                </a:rPr>
                <a:t>ONE SINUSOID PER DIMENSION</a:t>
              </a:r>
            </a:p>
          </p:txBody>
        </p:sp>
        <p:sp>
          <p:nvSpPr>
            <p:cNvPr id="22" name="Line 22"/>
            <p:cNvSpPr/>
            <p:nvPr/>
          </p:nvSpPr>
          <p:spPr>
            <a:xfrm>
              <a:off x="6858000" y="2762250"/>
              <a:ext cx="4381500" cy="9525"/>
            </a:xfrm>
            <a:custGeom>
              <a:avLst/>
              <a:gdLst/>
              <a:ahLst/>
              <a:cxnLst/>
              <a:rect l="l" t="t" r="r" b="b"/>
              <a:pathLst>
                <a:path w="4381500" h="9525">
                  <a:moveTo>
                    <a:pt x="0" y="0"/>
                  </a:moveTo>
                  <a:lnTo>
                    <a:pt x="4381500" y="0"/>
                  </a:lnTo>
                </a:path>
              </a:pathLst>
            </a:custGeom>
            <a:noFill/>
            <a:ln w="9525">
              <a:solidFill>
                <a:srgbClr val="3C5A80"/>
              </a:solidFill>
            </a:ln>
          </p:spPr>
        </p:sp>
        <p:sp>
          <p:nvSpPr>
            <p:cNvPr id="23" name="Line 23"/>
            <p:cNvSpPr/>
            <p:nvPr/>
          </p:nvSpPr>
          <p:spPr>
            <a:xfrm>
              <a:off x="6858000" y="2190750"/>
              <a:ext cx="9525" cy="1143000"/>
            </a:xfrm>
            <a:custGeom>
              <a:avLst/>
              <a:gdLst/>
              <a:ahLst/>
              <a:cxnLst/>
              <a:rect l="l" t="t" r="r" b="b"/>
              <a:pathLst>
                <a:path w="9525" h="1143000">
                  <a:moveTo>
                    <a:pt x="0" y="0"/>
                  </a:moveTo>
                  <a:lnTo>
                    <a:pt x="0" y="1143000"/>
                  </a:lnTo>
                </a:path>
              </a:pathLst>
            </a:custGeom>
            <a:noFill/>
            <a:ln w="9525">
              <a:solidFill>
                <a:srgbClr val="3C5A80"/>
              </a:solidFill>
            </a:ln>
          </p:spPr>
        </p:sp>
        <p:grpSp>
          <p:nvGrpSpPr>
            <p:cNvPr id="27" name="Group 27"/>
            <p:cNvGrpSpPr/>
            <p:nvPr/>
          </p:nvGrpSpPr>
          <p:grpSpPr>
            <a:xfrm>
              <a:off x="6858000" y="2286000"/>
              <a:ext cx="4381500" cy="952500"/>
              <a:chOff x="6858000" y="2286000"/>
              <a:chExt cx="4381500" cy="952500"/>
            </a:xfrm>
          </p:grpSpPr>
          <p:sp>
            <p:nvSpPr>
              <p:cNvPr id="24" name="Freeform 24"/>
              <p:cNvSpPr/>
              <p:nvPr/>
            </p:nvSpPr>
            <p:spPr>
              <a:xfrm>
                <a:off x="6858000" y="2286000"/>
                <a:ext cx="4381500" cy="952500"/>
              </a:xfrm>
              <a:custGeom>
                <a:avLst/>
                <a:gdLst/>
                <a:ahLst/>
                <a:cxnLst/>
                <a:rect l="l" t="t" r="r" b="b"/>
                <a:pathLst>
                  <a:path w="4381500" h="952500">
                    <a:moveTo>
                      <a:pt x="0" y="476250"/>
                    </a:moveTo>
                    <a:lnTo>
                      <a:pt x="43815" y="247650"/>
                    </a:lnTo>
                    <a:lnTo>
                      <a:pt x="87630" y="75248"/>
                    </a:lnTo>
                    <a:lnTo>
                      <a:pt x="131445" y="952"/>
                    </a:lnTo>
                    <a:lnTo>
                      <a:pt x="175260" y="42862"/>
                    </a:lnTo>
                    <a:lnTo>
                      <a:pt x="219075" y="191453"/>
                    </a:lnTo>
                    <a:lnTo>
                      <a:pt x="262890" y="408622"/>
                    </a:lnTo>
                    <a:lnTo>
                      <a:pt x="306705" y="642938"/>
                    </a:lnTo>
                    <a:lnTo>
                      <a:pt x="350520" y="836295"/>
                    </a:lnTo>
                    <a:lnTo>
                      <a:pt x="394335" y="942022"/>
                    </a:lnTo>
                    <a:lnTo>
                      <a:pt x="438150" y="932497"/>
                    </a:lnTo>
                    <a:lnTo>
                      <a:pt x="481965" y="812483"/>
                    </a:lnTo>
                    <a:lnTo>
                      <a:pt x="525780" y="609600"/>
                    </a:lnTo>
                    <a:lnTo>
                      <a:pt x="569595" y="373380"/>
                    </a:lnTo>
                    <a:lnTo>
                      <a:pt x="613410" y="163830"/>
                    </a:lnTo>
                    <a:lnTo>
                      <a:pt x="657225" y="29527"/>
                    </a:lnTo>
                    <a:lnTo>
                      <a:pt x="701040" y="4762"/>
                    </a:lnTo>
                    <a:lnTo>
                      <a:pt x="744855" y="96202"/>
                    </a:lnTo>
                    <a:lnTo>
                      <a:pt x="788670" y="280035"/>
                    </a:lnTo>
                    <a:lnTo>
                      <a:pt x="832485" y="512445"/>
                    </a:lnTo>
                    <a:lnTo>
                      <a:pt x="876300" y="735330"/>
                    </a:lnTo>
                    <a:lnTo>
                      <a:pt x="920115" y="895350"/>
                    </a:lnTo>
                    <a:lnTo>
                      <a:pt x="963930" y="952500"/>
                    </a:lnTo>
                    <a:lnTo>
                      <a:pt x="1007745" y="893445"/>
                    </a:lnTo>
                    <a:lnTo>
                      <a:pt x="1051560" y="731520"/>
                    </a:lnTo>
                    <a:lnTo>
                      <a:pt x="1095375" y="507683"/>
                    </a:lnTo>
                    <a:lnTo>
                      <a:pt x="1139190" y="276225"/>
                    </a:lnTo>
                    <a:lnTo>
                      <a:pt x="1183005" y="93345"/>
                    </a:lnTo>
                    <a:lnTo>
                      <a:pt x="1226820" y="4762"/>
                    </a:lnTo>
                    <a:lnTo>
                      <a:pt x="1270635" y="31433"/>
                    </a:lnTo>
                    <a:lnTo>
                      <a:pt x="1314450" y="166688"/>
                    </a:lnTo>
                    <a:lnTo>
                      <a:pt x="1358265" y="378142"/>
                    </a:lnTo>
                    <a:lnTo>
                      <a:pt x="1402080" y="613410"/>
                    </a:lnTo>
                    <a:lnTo>
                      <a:pt x="1445895" y="815340"/>
                    </a:lnTo>
                    <a:lnTo>
                      <a:pt x="1489710" y="934403"/>
                    </a:lnTo>
                    <a:lnTo>
                      <a:pt x="1533525" y="941070"/>
                    </a:lnTo>
                    <a:lnTo>
                      <a:pt x="1577340" y="833438"/>
                    </a:lnTo>
                    <a:lnTo>
                      <a:pt x="1621155" y="639128"/>
                    </a:lnTo>
                    <a:lnTo>
                      <a:pt x="1664970" y="404812"/>
                    </a:lnTo>
                    <a:lnTo>
                      <a:pt x="1708785" y="187642"/>
                    </a:lnTo>
                    <a:lnTo>
                      <a:pt x="1752600" y="41910"/>
                    </a:lnTo>
                    <a:lnTo>
                      <a:pt x="1796415" y="1905"/>
                    </a:lnTo>
                    <a:lnTo>
                      <a:pt x="1840230" y="78105"/>
                    </a:lnTo>
                    <a:lnTo>
                      <a:pt x="1884045" y="251460"/>
                    </a:lnTo>
                    <a:lnTo>
                      <a:pt x="1927860" y="480060"/>
                    </a:lnTo>
                    <a:lnTo>
                      <a:pt x="1971675" y="708660"/>
                    </a:lnTo>
                    <a:lnTo>
                      <a:pt x="2015490" y="879158"/>
                    </a:lnTo>
                    <a:lnTo>
                      <a:pt x="2059305" y="951547"/>
                    </a:lnTo>
                    <a:lnTo>
                      <a:pt x="2103120" y="907733"/>
                    </a:lnTo>
                    <a:lnTo>
                      <a:pt x="2146935" y="758190"/>
                    </a:lnTo>
                    <a:lnTo>
                      <a:pt x="2190750" y="539115"/>
                    </a:lnTo>
                    <a:lnTo>
                      <a:pt x="2234565" y="304800"/>
                    </a:lnTo>
                    <a:lnTo>
                      <a:pt x="2278380" y="113348"/>
                    </a:lnTo>
                    <a:lnTo>
                      <a:pt x="2322195" y="9525"/>
                    </a:lnTo>
                    <a:lnTo>
                      <a:pt x="2366010" y="20955"/>
                    </a:lnTo>
                    <a:lnTo>
                      <a:pt x="2409825" y="142875"/>
                    </a:lnTo>
                    <a:lnTo>
                      <a:pt x="2453640" y="347662"/>
                    </a:lnTo>
                    <a:lnTo>
                      <a:pt x="2497455" y="582930"/>
                    </a:lnTo>
                    <a:lnTo>
                      <a:pt x="2541270" y="792480"/>
                    </a:lnTo>
                    <a:lnTo>
                      <a:pt x="2585085" y="924878"/>
                    </a:lnTo>
                    <a:lnTo>
                      <a:pt x="2628900" y="946785"/>
                    </a:lnTo>
                    <a:lnTo>
                      <a:pt x="2672715" y="854392"/>
                    </a:lnTo>
                    <a:lnTo>
                      <a:pt x="2716530" y="668655"/>
                    </a:lnTo>
                    <a:lnTo>
                      <a:pt x="2760345" y="436245"/>
                    </a:lnTo>
                    <a:lnTo>
                      <a:pt x="2804160" y="213360"/>
                    </a:lnTo>
                    <a:lnTo>
                      <a:pt x="2847975" y="55245"/>
                    </a:lnTo>
                    <a:lnTo>
                      <a:pt x="2891790" y="0"/>
                    </a:lnTo>
                    <a:lnTo>
                      <a:pt x="2935605" y="60960"/>
                    </a:lnTo>
                    <a:lnTo>
                      <a:pt x="2979420" y="223838"/>
                    </a:lnTo>
                    <a:lnTo>
                      <a:pt x="3023235" y="448628"/>
                    </a:lnTo>
                    <a:lnTo>
                      <a:pt x="3067050" y="680085"/>
                    </a:lnTo>
                    <a:lnTo>
                      <a:pt x="3110865" y="862012"/>
                    </a:lnTo>
                    <a:lnTo>
                      <a:pt x="3154680" y="948690"/>
                    </a:lnTo>
                    <a:lnTo>
                      <a:pt x="3198495" y="920115"/>
                    </a:lnTo>
                    <a:lnTo>
                      <a:pt x="3242310" y="782955"/>
                    </a:lnTo>
                    <a:lnTo>
                      <a:pt x="3286125" y="570547"/>
                    </a:lnTo>
                    <a:lnTo>
                      <a:pt x="3329940" y="335280"/>
                    </a:lnTo>
                    <a:lnTo>
                      <a:pt x="3373755" y="134302"/>
                    </a:lnTo>
                    <a:lnTo>
                      <a:pt x="3417570" y="17145"/>
                    </a:lnTo>
                    <a:lnTo>
                      <a:pt x="3461385" y="12383"/>
                    </a:lnTo>
                    <a:lnTo>
                      <a:pt x="3505200" y="120967"/>
                    </a:lnTo>
                    <a:lnTo>
                      <a:pt x="3549015" y="317183"/>
                    </a:lnTo>
                    <a:lnTo>
                      <a:pt x="3592830" y="551497"/>
                    </a:lnTo>
                    <a:lnTo>
                      <a:pt x="3636645" y="767715"/>
                    </a:lnTo>
                    <a:lnTo>
                      <a:pt x="3680460" y="912495"/>
                    </a:lnTo>
                    <a:lnTo>
                      <a:pt x="3724275" y="950595"/>
                    </a:lnTo>
                    <a:lnTo>
                      <a:pt x="3768090" y="872490"/>
                    </a:lnTo>
                    <a:lnTo>
                      <a:pt x="3811905" y="697230"/>
                    </a:lnTo>
                    <a:lnTo>
                      <a:pt x="3855720" y="467678"/>
                    </a:lnTo>
                    <a:lnTo>
                      <a:pt x="3899535" y="240983"/>
                    </a:lnTo>
                    <a:lnTo>
                      <a:pt x="3943350" y="71438"/>
                    </a:lnTo>
                    <a:lnTo>
                      <a:pt x="3987165" y="952"/>
                    </a:lnTo>
                    <a:lnTo>
                      <a:pt x="4030980" y="46673"/>
                    </a:lnTo>
                    <a:lnTo>
                      <a:pt x="4074795" y="198120"/>
                    </a:lnTo>
                    <a:lnTo>
                      <a:pt x="4118610" y="417195"/>
                    </a:lnTo>
                    <a:lnTo>
                      <a:pt x="4162425" y="651510"/>
                    </a:lnTo>
                    <a:lnTo>
                      <a:pt x="4206240" y="842010"/>
                    </a:lnTo>
                    <a:lnTo>
                      <a:pt x="4250055" y="943928"/>
                    </a:lnTo>
                    <a:lnTo>
                      <a:pt x="4293870" y="930592"/>
                    </a:lnTo>
                    <a:lnTo>
                      <a:pt x="4337685" y="805815"/>
                    </a:lnTo>
                    <a:lnTo>
                      <a:pt x="4381500" y="601028"/>
                    </a:lnTo>
                  </a:path>
                </a:pathLst>
              </a:custGeom>
              <a:noFill/>
              <a:ln w="14288">
                <a:solidFill>
                  <a:srgbClr val="3C5A80"/>
                </a:solidFill>
                <a:round/>
              </a:ln>
            </p:spPr>
          </p:sp>
          <p:sp>
            <p:nvSpPr>
              <p:cNvPr id="25" name="Freeform 25"/>
              <p:cNvSpPr/>
              <p:nvPr/>
            </p:nvSpPr>
            <p:spPr>
              <a:xfrm>
                <a:off x="6858000" y="2286000"/>
                <a:ext cx="4381500" cy="952500"/>
              </a:xfrm>
              <a:custGeom>
                <a:avLst/>
                <a:gdLst/>
                <a:ahLst/>
                <a:cxnLst/>
                <a:rect l="l" t="t" r="r" b="b"/>
                <a:pathLst>
                  <a:path w="4381500" h="952500">
                    <a:moveTo>
                      <a:pt x="0" y="476250"/>
                    </a:moveTo>
                    <a:lnTo>
                      <a:pt x="43815" y="401003"/>
                    </a:lnTo>
                    <a:lnTo>
                      <a:pt x="87630" y="328612"/>
                    </a:lnTo>
                    <a:lnTo>
                      <a:pt x="131445" y="259080"/>
                    </a:lnTo>
                    <a:lnTo>
                      <a:pt x="175260" y="194310"/>
                    </a:lnTo>
                    <a:lnTo>
                      <a:pt x="219075" y="138112"/>
                    </a:lnTo>
                    <a:lnTo>
                      <a:pt x="262890" y="89535"/>
                    </a:lnTo>
                    <a:lnTo>
                      <a:pt x="306705" y="50483"/>
                    </a:lnTo>
                    <a:lnTo>
                      <a:pt x="350520" y="21908"/>
                    </a:lnTo>
                    <a:lnTo>
                      <a:pt x="394335" y="4762"/>
                    </a:lnTo>
                    <a:lnTo>
                      <a:pt x="438150" y="0"/>
                    </a:lnTo>
                    <a:lnTo>
                      <a:pt x="481965" y="6667"/>
                    </a:lnTo>
                    <a:lnTo>
                      <a:pt x="525780" y="24765"/>
                    </a:lnTo>
                    <a:lnTo>
                      <a:pt x="569595" y="55245"/>
                    </a:lnTo>
                    <a:lnTo>
                      <a:pt x="613410" y="95250"/>
                    </a:lnTo>
                    <a:lnTo>
                      <a:pt x="657225" y="144780"/>
                    </a:lnTo>
                    <a:lnTo>
                      <a:pt x="701040" y="202883"/>
                    </a:lnTo>
                    <a:lnTo>
                      <a:pt x="744855" y="267653"/>
                    </a:lnTo>
                    <a:lnTo>
                      <a:pt x="788670" y="337185"/>
                    </a:lnTo>
                    <a:lnTo>
                      <a:pt x="832485" y="411480"/>
                    </a:lnTo>
                    <a:lnTo>
                      <a:pt x="876300" y="485775"/>
                    </a:lnTo>
                    <a:lnTo>
                      <a:pt x="920115" y="561022"/>
                    </a:lnTo>
                    <a:lnTo>
                      <a:pt x="963930" y="633412"/>
                    </a:lnTo>
                    <a:lnTo>
                      <a:pt x="1007745" y="702945"/>
                    </a:lnTo>
                    <a:lnTo>
                      <a:pt x="1051560" y="765810"/>
                    </a:lnTo>
                    <a:lnTo>
                      <a:pt x="1095375" y="822008"/>
                    </a:lnTo>
                    <a:lnTo>
                      <a:pt x="1139190" y="868680"/>
                    </a:lnTo>
                    <a:lnTo>
                      <a:pt x="1183005" y="906780"/>
                    </a:lnTo>
                    <a:lnTo>
                      <a:pt x="1226820" y="933450"/>
                    </a:lnTo>
                    <a:lnTo>
                      <a:pt x="1270635" y="948690"/>
                    </a:lnTo>
                    <a:lnTo>
                      <a:pt x="1314450" y="952500"/>
                    </a:lnTo>
                    <a:lnTo>
                      <a:pt x="1358265" y="943928"/>
                    </a:lnTo>
                    <a:lnTo>
                      <a:pt x="1402080" y="923925"/>
                    </a:lnTo>
                    <a:lnTo>
                      <a:pt x="1445895" y="892492"/>
                    </a:lnTo>
                    <a:lnTo>
                      <a:pt x="1489710" y="851535"/>
                    </a:lnTo>
                    <a:lnTo>
                      <a:pt x="1533525" y="801053"/>
                    </a:lnTo>
                    <a:lnTo>
                      <a:pt x="1577340" y="741997"/>
                    </a:lnTo>
                    <a:lnTo>
                      <a:pt x="1621155" y="676275"/>
                    </a:lnTo>
                    <a:lnTo>
                      <a:pt x="1664970" y="605790"/>
                    </a:lnTo>
                    <a:lnTo>
                      <a:pt x="1708785" y="531495"/>
                    </a:lnTo>
                    <a:lnTo>
                      <a:pt x="1752600" y="456247"/>
                    </a:lnTo>
                    <a:lnTo>
                      <a:pt x="1796415" y="381953"/>
                    </a:lnTo>
                    <a:lnTo>
                      <a:pt x="1840230" y="309562"/>
                    </a:lnTo>
                    <a:lnTo>
                      <a:pt x="1884045" y="240983"/>
                    </a:lnTo>
                    <a:lnTo>
                      <a:pt x="1927860" y="179070"/>
                    </a:lnTo>
                    <a:lnTo>
                      <a:pt x="1971675" y="123825"/>
                    </a:lnTo>
                    <a:lnTo>
                      <a:pt x="2015490" y="78105"/>
                    </a:lnTo>
                    <a:lnTo>
                      <a:pt x="2059305" y="41910"/>
                    </a:lnTo>
                    <a:lnTo>
                      <a:pt x="2103120" y="16192"/>
                    </a:lnTo>
                    <a:lnTo>
                      <a:pt x="2146935" y="2858"/>
                    </a:lnTo>
                    <a:lnTo>
                      <a:pt x="2190750" y="952"/>
                    </a:lnTo>
                    <a:lnTo>
                      <a:pt x="2234565" y="10477"/>
                    </a:lnTo>
                    <a:lnTo>
                      <a:pt x="2278380" y="31433"/>
                    </a:lnTo>
                    <a:lnTo>
                      <a:pt x="2322195" y="64770"/>
                    </a:lnTo>
                    <a:lnTo>
                      <a:pt x="2366010" y="107633"/>
                    </a:lnTo>
                    <a:lnTo>
                      <a:pt x="2409825" y="159067"/>
                    </a:lnTo>
                    <a:lnTo>
                      <a:pt x="2453640" y="219075"/>
                    </a:lnTo>
                    <a:lnTo>
                      <a:pt x="2497455" y="285750"/>
                    </a:lnTo>
                    <a:lnTo>
                      <a:pt x="2541270" y="356235"/>
                    </a:lnTo>
                    <a:lnTo>
                      <a:pt x="2585085" y="430530"/>
                    </a:lnTo>
                    <a:lnTo>
                      <a:pt x="2628900" y="505778"/>
                    </a:lnTo>
                    <a:lnTo>
                      <a:pt x="2672715" y="580072"/>
                    </a:lnTo>
                    <a:lnTo>
                      <a:pt x="2716530" y="652462"/>
                    </a:lnTo>
                    <a:lnTo>
                      <a:pt x="2760345" y="720090"/>
                    </a:lnTo>
                    <a:lnTo>
                      <a:pt x="2804160" y="781050"/>
                    </a:lnTo>
                    <a:lnTo>
                      <a:pt x="2847975" y="835342"/>
                    </a:lnTo>
                    <a:lnTo>
                      <a:pt x="2891790" y="880110"/>
                    </a:lnTo>
                    <a:lnTo>
                      <a:pt x="2935605" y="914400"/>
                    </a:lnTo>
                    <a:lnTo>
                      <a:pt x="2979420" y="938212"/>
                    </a:lnTo>
                    <a:lnTo>
                      <a:pt x="3023235" y="950595"/>
                    </a:lnTo>
                    <a:lnTo>
                      <a:pt x="3067050" y="951547"/>
                    </a:lnTo>
                    <a:lnTo>
                      <a:pt x="3110865" y="940117"/>
                    </a:lnTo>
                    <a:lnTo>
                      <a:pt x="3154680" y="917258"/>
                    </a:lnTo>
                    <a:lnTo>
                      <a:pt x="3198495" y="882967"/>
                    </a:lnTo>
                    <a:lnTo>
                      <a:pt x="3242310" y="839153"/>
                    </a:lnTo>
                    <a:lnTo>
                      <a:pt x="3286125" y="785812"/>
                    </a:lnTo>
                    <a:lnTo>
                      <a:pt x="3329940" y="724853"/>
                    </a:lnTo>
                    <a:lnTo>
                      <a:pt x="3373755" y="658178"/>
                    </a:lnTo>
                    <a:lnTo>
                      <a:pt x="3417570" y="586740"/>
                    </a:lnTo>
                    <a:lnTo>
                      <a:pt x="3461385" y="512445"/>
                    </a:lnTo>
                    <a:lnTo>
                      <a:pt x="3505200" y="437197"/>
                    </a:lnTo>
                    <a:lnTo>
                      <a:pt x="3549015" y="362903"/>
                    </a:lnTo>
                    <a:lnTo>
                      <a:pt x="3592830" y="291465"/>
                    </a:lnTo>
                    <a:lnTo>
                      <a:pt x="3636645" y="224790"/>
                    </a:lnTo>
                    <a:lnTo>
                      <a:pt x="3680460" y="163830"/>
                    </a:lnTo>
                    <a:lnTo>
                      <a:pt x="3724275" y="111442"/>
                    </a:lnTo>
                    <a:lnTo>
                      <a:pt x="3768090" y="67627"/>
                    </a:lnTo>
                    <a:lnTo>
                      <a:pt x="3811905" y="34290"/>
                    </a:lnTo>
                    <a:lnTo>
                      <a:pt x="3855720" y="11430"/>
                    </a:lnTo>
                    <a:lnTo>
                      <a:pt x="3899535" y="952"/>
                    </a:lnTo>
                    <a:lnTo>
                      <a:pt x="3943350" y="1905"/>
                    </a:lnTo>
                    <a:lnTo>
                      <a:pt x="3987165" y="15240"/>
                    </a:lnTo>
                    <a:lnTo>
                      <a:pt x="4030980" y="39052"/>
                    </a:lnTo>
                    <a:lnTo>
                      <a:pt x="4074795" y="74295"/>
                    </a:lnTo>
                    <a:lnTo>
                      <a:pt x="4118610" y="120015"/>
                    </a:lnTo>
                    <a:lnTo>
                      <a:pt x="4162425" y="174308"/>
                    </a:lnTo>
                    <a:lnTo>
                      <a:pt x="4206240" y="236220"/>
                    </a:lnTo>
                    <a:lnTo>
                      <a:pt x="4250055" y="303847"/>
                    </a:lnTo>
                    <a:lnTo>
                      <a:pt x="4293870" y="375285"/>
                    </a:lnTo>
                    <a:lnTo>
                      <a:pt x="4337685" y="450533"/>
                    </a:lnTo>
                    <a:lnTo>
                      <a:pt x="4381500" y="525780"/>
                    </a:lnTo>
                  </a:path>
                </a:pathLst>
              </a:custGeom>
              <a:noFill/>
              <a:ln w="14288">
                <a:solidFill>
                  <a:srgbClr val="9CC3E6"/>
                </a:solidFill>
                <a:round/>
              </a:ln>
            </p:spPr>
          </p:sp>
          <p:sp>
            <p:nvSpPr>
              <p:cNvPr id="26" name="Freeform 26"/>
              <p:cNvSpPr/>
              <p:nvPr/>
            </p:nvSpPr>
            <p:spPr>
              <a:xfrm>
                <a:off x="6858000" y="2286000"/>
                <a:ext cx="4381500" cy="952500"/>
              </a:xfrm>
              <a:custGeom>
                <a:avLst/>
                <a:gdLst/>
                <a:ahLst/>
                <a:cxnLst/>
                <a:rect l="l" t="t" r="r" b="b"/>
                <a:pathLst>
                  <a:path w="4381500" h="952500">
                    <a:moveTo>
                      <a:pt x="0" y="476250"/>
                    </a:moveTo>
                    <a:lnTo>
                      <a:pt x="43815" y="452438"/>
                    </a:lnTo>
                    <a:lnTo>
                      <a:pt x="87630" y="428625"/>
                    </a:lnTo>
                    <a:lnTo>
                      <a:pt x="131445" y="404812"/>
                    </a:lnTo>
                    <a:lnTo>
                      <a:pt x="175260" y="381953"/>
                    </a:lnTo>
                    <a:lnTo>
                      <a:pt x="219075" y="358140"/>
                    </a:lnTo>
                    <a:lnTo>
                      <a:pt x="262890" y="335280"/>
                    </a:lnTo>
                    <a:lnTo>
                      <a:pt x="306705" y="313372"/>
                    </a:lnTo>
                    <a:lnTo>
                      <a:pt x="350520" y="290512"/>
                    </a:lnTo>
                    <a:lnTo>
                      <a:pt x="394335" y="269558"/>
                    </a:lnTo>
                    <a:lnTo>
                      <a:pt x="438150" y="247650"/>
                    </a:lnTo>
                    <a:lnTo>
                      <a:pt x="481965" y="227647"/>
                    </a:lnTo>
                    <a:lnTo>
                      <a:pt x="525780" y="207645"/>
                    </a:lnTo>
                    <a:lnTo>
                      <a:pt x="569595" y="187642"/>
                    </a:lnTo>
                    <a:lnTo>
                      <a:pt x="613410" y="169545"/>
                    </a:lnTo>
                    <a:lnTo>
                      <a:pt x="657225" y="151448"/>
                    </a:lnTo>
                    <a:lnTo>
                      <a:pt x="701040" y="134302"/>
                    </a:lnTo>
                    <a:lnTo>
                      <a:pt x="744855" y="118110"/>
                    </a:lnTo>
                    <a:lnTo>
                      <a:pt x="788670" y="102870"/>
                    </a:lnTo>
                    <a:lnTo>
                      <a:pt x="832485" y="88583"/>
                    </a:lnTo>
                    <a:lnTo>
                      <a:pt x="876300" y="75248"/>
                    </a:lnTo>
                    <a:lnTo>
                      <a:pt x="920115" y="62865"/>
                    </a:lnTo>
                    <a:lnTo>
                      <a:pt x="963930" y="51435"/>
                    </a:lnTo>
                    <a:lnTo>
                      <a:pt x="1007745" y="41910"/>
                    </a:lnTo>
                    <a:lnTo>
                      <a:pt x="1051560" y="32385"/>
                    </a:lnTo>
                    <a:lnTo>
                      <a:pt x="1095375" y="24765"/>
                    </a:lnTo>
                    <a:lnTo>
                      <a:pt x="1139190" y="17145"/>
                    </a:lnTo>
                    <a:lnTo>
                      <a:pt x="1183005" y="11430"/>
                    </a:lnTo>
                    <a:lnTo>
                      <a:pt x="1226820" y="6667"/>
                    </a:lnTo>
                    <a:lnTo>
                      <a:pt x="1270635" y="3810"/>
                    </a:lnTo>
                    <a:lnTo>
                      <a:pt x="1314450" y="952"/>
                    </a:lnTo>
                    <a:lnTo>
                      <a:pt x="1358265" y="0"/>
                    </a:lnTo>
                    <a:lnTo>
                      <a:pt x="1402080" y="0"/>
                    </a:lnTo>
                    <a:lnTo>
                      <a:pt x="1445895" y="1905"/>
                    </a:lnTo>
                    <a:lnTo>
                      <a:pt x="1489710" y="3810"/>
                    </a:lnTo>
                    <a:lnTo>
                      <a:pt x="1533525" y="7620"/>
                    </a:lnTo>
                    <a:lnTo>
                      <a:pt x="1577340" y="12383"/>
                    </a:lnTo>
                    <a:lnTo>
                      <a:pt x="1621155" y="18098"/>
                    </a:lnTo>
                    <a:lnTo>
                      <a:pt x="1664970" y="25717"/>
                    </a:lnTo>
                    <a:lnTo>
                      <a:pt x="1708785" y="34290"/>
                    </a:lnTo>
                    <a:lnTo>
                      <a:pt x="1752600" y="42862"/>
                    </a:lnTo>
                    <a:lnTo>
                      <a:pt x="1796415" y="53340"/>
                    </a:lnTo>
                    <a:lnTo>
                      <a:pt x="1840230" y="64770"/>
                    </a:lnTo>
                    <a:lnTo>
                      <a:pt x="1884045" y="78105"/>
                    </a:lnTo>
                    <a:lnTo>
                      <a:pt x="1927860" y="91440"/>
                    </a:lnTo>
                    <a:lnTo>
                      <a:pt x="1971675" y="105727"/>
                    </a:lnTo>
                    <a:lnTo>
                      <a:pt x="2015490" y="120967"/>
                    </a:lnTo>
                    <a:lnTo>
                      <a:pt x="2059305" y="137160"/>
                    </a:lnTo>
                    <a:lnTo>
                      <a:pt x="2103120" y="154305"/>
                    </a:lnTo>
                    <a:lnTo>
                      <a:pt x="2146935" y="172403"/>
                    </a:lnTo>
                    <a:lnTo>
                      <a:pt x="2190750" y="191453"/>
                    </a:lnTo>
                    <a:lnTo>
                      <a:pt x="2234565" y="210503"/>
                    </a:lnTo>
                    <a:lnTo>
                      <a:pt x="2278380" y="230505"/>
                    </a:lnTo>
                    <a:lnTo>
                      <a:pt x="2322195" y="251460"/>
                    </a:lnTo>
                    <a:lnTo>
                      <a:pt x="2366010" y="272415"/>
                    </a:lnTo>
                    <a:lnTo>
                      <a:pt x="2409825" y="294322"/>
                    </a:lnTo>
                    <a:lnTo>
                      <a:pt x="2453640" y="317183"/>
                    </a:lnTo>
                    <a:lnTo>
                      <a:pt x="2497455" y="339090"/>
                    </a:lnTo>
                    <a:lnTo>
                      <a:pt x="2541270" y="361950"/>
                    </a:lnTo>
                    <a:lnTo>
                      <a:pt x="2585085" y="385762"/>
                    </a:lnTo>
                    <a:lnTo>
                      <a:pt x="2628900" y="408622"/>
                    </a:lnTo>
                    <a:lnTo>
                      <a:pt x="2672715" y="432435"/>
                    </a:lnTo>
                    <a:lnTo>
                      <a:pt x="2716530" y="456247"/>
                    </a:lnTo>
                    <a:lnTo>
                      <a:pt x="2760345" y="480060"/>
                    </a:lnTo>
                    <a:lnTo>
                      <a:pt x="2804160" y="503872"/>
                    </a:lnTo>
                    <a:lnTo>
                      <a:pt x="2847975" y="527685"/>
                    </a:lnTo>
                    <a:lnTo>
                      <a:pt x="2891790" y="551497"/>
                    </a:lnTo>
                    <a:lnTo>
                      <a:pt x="2935605" y="574358"/>
                    </a:lnTo>
                    <a:lnTo>
                      <a:pt x="2979420" y="598170"/>
                    </a:lnTo>
                    <a:lnTo>
                      <a:pt x="3023235" y="621030"/>
                    </a:lnTo>
                    <a:lnTo>
                      <a:pt x="3067050" y="642938"/>
                    </a:lnTo>
                    <a:lnTo>
                      <a:pt x="3110865" y="665797"/>
                    </a:lnTo>
                    <a:lnTo>
                      <a:pt x="3154680" y="686753"/>
                    </a:lnTo>
                    <a:lnTo>
                      <a:pt x="3198495" y="707708"/>
                    </a:lnTo>
                    <a:lnTo>
                      <a:pt x="3242310" y="728662"/>
                    </a:lnTo>
                    <a:lnTo>
                      <a:pt x="3286125" y="748665"/>
                    </a:lnTo>
                    <a:lnTo>
                      <a:pt x="3329940" y="767715"/>
                    </a:lnTo>
                    <a:lnTo>
                      <a:pt x="3373755" y="785812"/>
                    </a:lnTo>
                    <a:lnTo>
                      <a:pt x="3417570" y="803910"/>
                    </a:lnTo>
                    <a:lnTo>
                      <a:pt x="3461385" y="821055"/>
                    </a:lnTo>
                    <a:lnTo>
                      <a:pt x="3505200" y="836295"/>
                    </a:lnTo>
                    <a:lnTo>
                      <a:pt x="3549015" y="851535"/>
                    </a:lnTo>
                    <a:lnTo>
                      <a:pt x="3592830" y="865822"/>
                    </a:lnTo>
                    <a:lnTo>
                      <a:pt x="3636645" y="879158"/>
                    </a:lnTo>
                    <a:lnTo>
                      <a:pt x="3680460" y="891540"/>
                    </a:lnTo>
                    <a:lnTo>
                      <a:pt x="3724275" y="902017"/>
                    </a:lnTo>
                    <a:lnTo>
                      <a:pt x="3768090" y="912495"/>
                    </a:lnTo>
                    <a:lnTo>
                      <a:pt x="3811905" y="922020"/>
                    </a:lnTo>
                    <a:lnTo>
                      <a:pt x="3855720" y="929640"/>
                    </a:lnTo>
                    <a:lnTo>
                      <a:pt x="3899535" y="936308"/>
                    </a:lnTo>
                    <a:lnTo>
                      <a:pt x="3943350" y="942022"/>
                    </a:lnTo>
                    <a:lnTo>
                      <a:pt x="3987165" y="945833"/>
                    </a:lnTo>
                    <a:lnTo>
                      <a:pt x="4030980" y="949642"/>
                    </a:lnTo>
                    <a:lnTo>
                      <a:pt x="4074795" y="951547"/>
                    </a:lnTo>
                    <a:lnTo>
                      <a:pt x="4118610" y="952500"/>
                    </a:lnTo>
                    <a:lnTo>
                      <a:pt x="4162425" y="952500"/>
                    </a:lnTo>
                    <a:lnTo>
                      <a:pt x="4206240" y="950595"/>
                    </a:lnTo>
                    <a:lnTo>
                      <a:pt x="4250055" y="947738"/>
                    </a:lnTo>
                    <a:lnTo>
                      <a:pt x="4293870" y="943928"/>
                    </a:lnTo>
                    <a:lnTo>
                      <a:pt x="4337685" y="939165"/>
                    </a:lnTo>
                    <a:lnTo>
                      <a:pt x="4381500" y="932497"/>
                    </a:lnTo>
                  </a:path>
                </a:pathLst>
              </a:custGeom>
              <a:noFill/>
              <a:ln w="14288">
                <a:solidFill>
                  <a:srgbClr val="F5A623"/>
                </a:solidFill>
                <a:round/>
              </a:ln>
            </p:spPr>
          </p:sp>
        </p:grpSp>
        <p:grpSp>
          <p:nvGrpSpPr>
            <p:cNvPr id="34" name="Group 34"/>
            <p:cNvGrpSpPr/>
            <p:nvPr/>
          </p:nvGrpSpPr>
          <p:grpSpPr>
            <a:xfrm>
              <a:off x="6853238" y="3465195"/>
              <a:ext cx="4503039" cy="728662"/>
              <a:chOff x="6853238" y="3465195"/>
              <a:chExt cx="4503039" cy="728662"/>
            </a:xfrm>
          </p:grpSpPr>
          <p:sp>
            <p:nvSpPr>
              <p:cNvPr id="28" name="TextBox 28"/>
              <p:cNvSpPr txBox="1"/>
              <p:nvPr/>
            </p:nvSpPr>
            <p:spPr>
              <a:xfrm>
                <a:off x="6853238" y="3465195"/>
                <a:ext cx="415404"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pos = 0</a:t>
                </a:r>
              </a:p>
            </p:txBody>
          </p:sp>
          <p:sp>
            <p:nvSpPr>
              <p:cNvPr id="29" name="TextBox 29"/>
              <p:cNvSpPr txBox="1"/>
              <p:nvPr/>
            </p:nvSpPr>
            <p:spPr>
              <a:xfrm>
                <a:off x="10762221" y="3465195"/>
                <a:ext cx="482041" cy="176212"/>
              </a:xfrm>
              <a:prstGeom prst="rect">
                <a:avLst/>
              </a:prstGeom>
              <a:noFill/>
              <a:ln>
                <a:noFill/>
              </a:ln>
            </p:spPr>
            <p:txBody>
              <a:bodyPr wrap="none" lIns="0" tIns="0" rIns="0" bIns="0" anchor="t" anchorCtr="0">
                <a:spAutoFit/>
              </a:bodyPr>
              <a:lstStyle/>
              <a:p>
                <a:pPr algn="r"/>
                <a:r>
                  <a:rPr lang="en-US" sz="900" dirty="0">
                    <a:solidFill>
                      <a:srgbClr val="9CB4CC"/>
                    </a:solidFill>
                    <a:latin typeface="Consolas"/>
                    <a:ea typeface="Consolas"/>
                    <a:cs typeface="Consolas"/>
                  </a:rPr>
                  <a:t>pos = 50</a:t>
                </a:r>
              </a:p>
            </p:txBody>
          </p:sp>
          <p:sp>
            <p:nvSpPr>
              <p:cNvPr id="30" name="TextBox 30"/>
              <p:cNvSpPr txBox="1"/>
              <p:nvPr/>
            </p:nvSpPr>
            <p:spPr>
              <a:xfrm>
                <a:off x="6853238" y="3750945"/>
                <a:ext cx="1021194" cy="176212"/>
              </a:xfrm>
              <a:prstGeom prst="rect">
                <a:avLst/>
              </a:prstGeom>
              <a:noFill/>
              <a:ln>
                <a:noFill/>
              </a:ln>
            </p:spPr>
            <p:txBody>
              <a:bodyPr wrap="none" lIns="0" tIns="0" rIns="0" bIns="0" anchor="t" anchorCtr="0">
                <a:spAutoFit/>
              </a:bodyPr>
              <a:lstStyle/>
              <a:p>
                <a:pPr algn="l"/>
                <a:r>
                  <a:rPr lang="en-US" sz="900" dirty="0">
                    <a:solidFill>
                      <a:srgbClr val="3C5A80"/>
                    </a:solidFill>
                    <a:latin typeface="Consolas"/>
                    <a:ea typeface="Consolas"/>
                    <a:cs typeface="Consolas"/>
                  </a:rPr>
                  <a:t>— dim 0 (2i/d = 0)</a:t>
                </a:r>
              </a:p>
            </p:txBody>
          </p:sp>
          <p:sp>
            <p:nvSpPr>
              <p:cNvPr id="31" name="TextBox 31"/>
              <p:cNvSpPr txBox="1"/>
              <p:nvPr/>
            </p:nvSpPr>
            <p:spPr>
              <a:xfrm>
                <a:off x="8567738" y="3750945"/>
                <a:ext cx="1354379" cy="176212"/>
              </a:xfrm>
              <a:prstGeom prst="rect">
                <a:avLst/>
              </a:prstGeom>
              <a:noFill/>
              <a:ln>
                <a:noFill/>
              </a:ln>
            </p:spPr>
            <p:txBody>
              <a:bodyPr wrap="none" lIns="0" tIns="0" rIns="0" bIns="0" anchor="t" anchorCtr="0">
                <a:spAutoFit/>
              </a:bodyPr>
              <a:lstStyle/>
              <a:p>
                <a:pPr algn="l"/>
                <a:r>
                  <a:rPr lang="en-US" sz="900" dirty="0">
                    <a:solidFill>
                      <a:srgbClr val="9CC3E6"/>
                    </a:solidFill>
                    <a:latin typeface="Consolas"/>
                    <a:ea typeface="Consolas"/>
                    <a:cs typeface="Consolas"/>
                  </a:rPr>
                  <a:t>— dim 64 (2i/d = 0.125)</a:t>
                </a:r>
              </a:p>
            </p:txBody>
          </p:sp>
          <p:sp>
            <p:nvSpPr>
              <p:cNvPr id="32" name="TextBox 32"/>
              <p:cNvSpPr txBox="1"/>
              <p:nvPr/>
            </p:nvSpPr>
            <p:spPr>
              <a:xfrm>
                <a:off x="10377488" y="3750945"/>
                <a:ext cx="978789" cy="176212"/>
              </a:xfrm>
              <a:prstGeom prst="rect">
                <a:avLst/>
              </a:prstGeom>
              <a:noFill/>
              <a:ln>
                <a:noFill/>
              </a:ln>
            </p:spPr>
            <p:txBody>
              <a:bodyPr wrap="none" lIns="0" tIns="0" rIns="0" bIns="0" anchor="t" anchorCtr="0">
                <a:spAutoFit/>
              </a:bodyPr>
              <a:lstStyle/>
              <a:p>
                <a:pPr algn="l"/>
                <a:r>
                  <a:rPr lang="en-US" sz="900" dirty="0">
                    <a:solidFill>
                      <a:srgbClr val="F5A623"/>
                    </a:solidFill>
                    <a:latin typeface="Consolas"/>
                    <a:ea typeface="Consolas"/>
                    <a:cs typeface="Consolas"/>
                  </a:rPr>
                  <a:t>— dim 128 (0.25)</a:t>
                </a:r>
              </a:p>
            </p:txBody>
          </p:sp>
          <p:sp>
            <p:nvSpPr>
              <p:cNvPr id="33" name="TextBox 33"/>
              <p:cNvSpPr txBox="1"/>
              <p:nvPr/>
            </p:nvSpPr>
            <p:spPr>
              <a:xfrm>
                <a:off x="6853238" y="4017645"/>
                <a:ext cx="2208543" cy="176212"/>
              </a:xfrm>
              <a:prstGeom prst="rect">
                <a:avLst/>
              </a:prstGeom>
              <a:noFill/>
              <a:ln>
                <a:noFill/>
              </a:ln>
            </p:spPr>
            <p:txBody>
              <a:bodyPr wrap="none" lIns="0" tIns="0" rIns="0" bIns="0" anchor="t" anchorCtr="0">
                <a:spAutoFit/>
              </a:bodyPr>
              <a:lstStyle/>
              <a:p>
                <a:pPr algn="l"/>
                <a:r>
                  <a:rPr lang="el-GR" sz="900" dirty="0">
                    <a:solidFill>
                      <a:srgbClr val="9CB4CC"/>
                    </a:solidFill>
                    <a:latin typeface="Consolas"/>
                    <a:ea typeface="Consolas"/>
                    <a:cs typeface="Consolas"/>
                  </a:rPr>
                  <a:t>wavelengths run from 2π to 10000·2π</a:t>
                </a:r>
              </a:p>
            </p:txBody>
          </p:sp>
        </p:grpSp>
      </p:grpSp>
      <p:grpSp>
        <p:nvGrpSpPr>
          <p:cNvPr id="38" name="Group 38"/>
          <p:cNvGrpSpPr/>
          <p:nvPr/>
        </p:nvGrpSpPr>
        <p:grpSpPr>
          <a:xfrm>
            <a:off x="6667500" y="4533900"/>
            <a:ext cx="4071493" cy="1181100"/>
            <a:chOff x="6667500" y="4533900"/>
            <a:chExt cx="4071493" cy="1181100"/>
          </a:xfrm>
        </p:grpSpPr>
        <p:sp>
          <p:nvSpPr>
            <p:cNvPr id="36" name="Line 36"/>
            <p:cNvSpPr/>
            <p:nvPr/>
          </p:nvSpPr>
          <p:spPr>
            <a:xfrm>
              <a:off x="6667500" y="4533900"/>
              <a:ext cx="9525" cy="1181100"/>
            </a:xfrm>
            <a:custGeom>
              <a:avLst/>
              <a:gdLst/>
              <a:ahLst/>
              <a:cxnLst/>
              <a:rect l="l" t="t" r="r" b="b"/>
              <a:pathLst>
                <a:path w="9525" h="1181100">
                  <a:moveTo>
                    <a:pt x="0" y="0"/>
                  </a:moveTo>
                  <a:lnTo>
                    <a:pt x="0" y="1181100"/>
                  </a:lnTo>
                </a:path>
              </a:pathLst>
            </a:custGeom>
            <a:noFill/>
            <a:ln w="28575">
              <a:solidFill>
                <a:srgbClr val="F5A623"/>
              </a:solidFill>
            </a:ln>
          </p:spPr>
        </p:sp>
        <p:sp>
          <p:nvSpPr>
            <p:cNvPr id="37" name="TextBox 37"/>
            <p:cNvSpPr txBox="1"/>
            <p:nvPr/>
          </p:nvSpPr>
          <p:spPr>
            <a:xfrm>
              <a:off x="6889623" y="4624864"/>
              <a:ext cx="3849370" cy="992315"/>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Each dimension is a sinusoid with its own</a:t>
              </a:r>
              <a:br/>
              <a:r>
                <a:rPr lang="en-US" sz="1280" dirty="0">
                  <a:solidFill>
                    <a:srgbClr val="C9DBEA"/>
                  </a:solidFill>
                  <a:latin typeface="Segoe UI"/>
                  <a:ea typeface="Segoe UI"/>
                  <a:cs typeface="Segoe UI"/>
                </a:rPr>
                <a:t>wavelength, so a position gets a unique code.</a:t>
              </a:r>
              <a:br/>
              <a:r>
                <a:rPr lang="en-US" sz="1280" dirty="0">
                  <a:solidFill>
                    <a:srgbClr val="C9DBEA"/>
                  </a:solidFill>
                  <a:latin typeface="Segoe UI"/>
                  <a:ea typeface="Segoe UI"/>
                  <a:cs typeface="Segoe UI"/>
                </a:rPr>
                <a:t>For any fixed offset k, PE(pos+k) is a linear</a:t>
              </a:r>
              <a:br/>
              <a:r>
                <a:rPr lang="en-US" sz="1280" dirty="0">
                  <a:solidFill>
                    <a:srgbClr val="C9DBEA"/>
                  </a:solidFill>
                  <a:latin typeface="Segoe UI"/>
                  <a:ea typeface="Segoe UI"/>
                  <a:cs typeface="Segoe UI"/>
                </a:rPr>
                <a:t>function of PE(pos): relative offsets are easy.</a:t>
              </a:r>
            </a:p>
          </p:txBody>
        </p:sp>
      </p:grpSp>
      <p:grpSp>
        <p:nvGrpSpPr>
          <p:cNvPr id="43" name="Group 43"/>
          <p:cNvGrpSpPr/>
          <p:nvPr/>
        </p:nvGrpSpPr>
        <p:grpSpPr>
          <a:xfrm>
            <a:off x="9525000" y="6362700"/>
            <a:ext cx="2095500" cy="304800"/>
            <a:chOff x="9525000" y="6362700"/>
            <a:chExt cx="2095500" cy="304800"/>
          </a:xfrm>
        </p:grpSpPr>
        <p:sp>
          <p:nvSpPr>
            <p:cNvPr id="39" name="Rectangle 39"/>
            <p:cNvSpPr/>
            <p:nvPr/>
          </p:nvSpPr>
          <p:spPr>
            <a:xfrm>
              <a:off x="9525000" y="6362700"/>
              <a:ext cx="2095500" cy="304800"/>
            </a:xfrm>
            <a:prstGeom prst="rect">
              <a:avLst/>
            </a:prstGeom>
            <a:noFill/>
            <a:ln w="9525">
              <a:solidFill>
                <a:srgbClr val="3C5A80"/>
              </a:solidFill>
            </a:ln>
          </p:spPr>
        </p:sp>
        <p:sp>
          <p:nvSpPr>
            <p:cNvPr id="40" name="Line 40"/>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41" name="TextBox 41"/>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42" name="TextBox 42"/>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09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1300"/>
                            </p:stCondLst>
                            <p:childTnLst>
                              <p:par>
                                <p:cTn xmlns:p="http://schemas.openxmlformats.org/presentationml/2006/main" id="13" presetID="22" presetClass="entr" presetSubtype="2" fill="hold" grpId="0" nodeType="afterEffect">
                                  <p:stCondLst>
                                    <p:cond delay="300"/>
                                  </p:stCondLst>
                                  <p:childTnLst>
                                    <p:set>
                                      <p:cBhvr>
                                        <p:cTn id="14" dur="1" fill="hold">
                                          <p:stCondLst>
                                            <p:cond delay="0"/>
                                          </p:stCondLst>
                                        </p:cTn>
                                        <p:tgtEl>
                                          <p:spTgt spid="35"/>
                                        </p:tgtEl>
                                        <p:attrNameLst>
                                          <p:attrName>style.visibility</p:attrName>
                                        </p:attrNameLst>
                                      </p:cBhvr>
                                      <p:to>
                                        <p:strVal val="visible"/>
                                      </p:to>
                                    </p:set>
                                    <p:animEffect transition="in" filter="wipe(right)">
                                      <p:cBhvr>
                                        <p:cTn id="15" dur="1200"/>
                                        <p:tgtEl>
                                          <p:spTgt spid="35"/>
                                        </p:tgtEl>
                                      </p:cBhvr>
                                    </p:animEffect>
                                  </p:childTnLst>
                                </p:cTn>
                              </p:par>
                            </p:childTnLst>
                          </p:cTn>
                        </p:par>
                        <p:par>
                          <p:cTn id="16" fill="hold">
                            <p:stCondLst>
                              <p:cond delay="2800"/>
                            </p:stCondLst>
                            <p:childTnLst>
                              <p:par>
                                <p:cTn xmlns:p="http://schemas.openxmlformats.org/presentationml/2006/main" id="17" presetID="10" presetClass="entr" presetSubtype="0" fill="hold" grpId="0" nodeType="afterEffect">
                                  <p:stCondLst>
                                    <p:cond delay="30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childTnLst>
                          </p:cTn>
                        </p:par>
                        <p:par>
                          <p:cTn id="20" fill="hold">
                            <p:stCondLst>
                              <p:cond delay="3600"/>
                            </p:stCondLst>
                            <p:childTnLst>
                              <p:par>
                                <p:cTn xmlns:p="http://schemas.openxmlformats.org/presentationml/2006/main" id="21" presetID="10" presetClass="entr" presetSubtype="0" fill="hold" grpId="0" nodeType="afterEffect">
                                  <p:stCondLst>
                                    <p:cond delay="30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7894983" cy="801243"/>
            <a:chOff x="747522" y="439102"/>
            <a:chExt cx="7894983" cy="801243"/>
          </a:xfrm>
        </p:grpSpPr>
        <p:sp>
          <p:nvSpPr>
            <p:cNvPr id="3" name="TextBox 3"/>
            <p:cNvSpPr txBox="1"/>
            <p:nvPr/>
          </p:nvSpPr>
          <p:spPr>
            <a:xfrm>
              <a:off x="775716" y="439102"/>
              <a:ext cx="2449373"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03 · WHY SELF-ATTENTION</a:t>
              </a:r>
            </a:p>
          </p:txBody>
        </p:sp>
        <p:sp>
          <p:nvSpPr>
            <p:cNvPr id="4" name="TextBox 4"/>
            <p:cNvSpPr txBox="1"/>
            <p:nvPr/>
          </p:nvSpPr>
          <p:spPr>
            <a:xfrm>
              <a:off x="747522" y="682942"/>
              <a:ext cx="7894983"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Three costs, four layer types (Table 1)</a:t>
              </a:r>
            </a:p>
          </p:txBody>
        </p:sp>
      </p:grpSp>
      <p:grpSp>
        <p:nvGrpSpPr>
          <p:cNvPr id="42" name="Group 42"/>
          <p:cNvGrpSpPr/>
          <p:nvPr/>
        </p:nvGrpSpPr>
        <p:grpSpPr>
          <a:xfrm>
            <a:off x="762000" y="1524000"/>
            <a:ext cx="10677525" cy="2771775"/>
            <a:chOff x="762000" y="1524000"/>
            <a:chExt cx="10677525" cy="2771775"/>
          </a:xfrm>
        </p:grpSpPr>
        <p:sp>
          <p:nvSpPr>
            <p:cNvPr id="6" name="Rectangle 6"/>
            <p:cNvSpPr/>
            <p:nvPr/>
          </p:nvSpPr>
          <p:spPr>
            <a:xfrm>
              <a:off x="762000" y="1524000"/>
              <a:ext cx="10668000" cy="476250"/>
            </a:xfrm>
            <a:prstGeom prst="rect">
              <a:avLst/>
            </a:prstGeom>
            <a:solidFill>
              <a:srgbClr val="10284A"/>
            </a:solidFill>
            <a:ln>
              <a:noFill/>
            </a:ln>
          </p:spPr>
        </p:sp>
        <p:sp>
          <p:nvSpPr>
            <p:cNvPr id="7" name="Rectangle 7"/>
            <p:cNvSpPr/>
            <p:nvPr/>
          </p:nvSpPr>
          <p:spPr>
            <a:xfrm>
              <a:off x="762000" y="2000250"/>
              <a:ext cx="10668000" cy="571500"/>
            </a:xfrm>
            <a:prstGeom prst="rect">
              <a:avLst/>
            </a:prstGeom>
            <a:solidFill>
              <a:srgbClr val="15325A"/>
            </a:solidFill>
            <a:ln>
              <a:noFill/>
            </a:ln>
          </p:spPr>
        </p:sp>
        <p:grpSp>
          <p:nvGrpSpPr>
            <p:cNvPr id="19" name="Group 19"/>
            <p:cNvGrpSpPr/>
            <p:nvPr/>
          </p:nvGrpSpPr>
          <p:grpSpPr>
            <a:xfrm>
              <a:off x="762000" y="1524000"/>
              <a:ext cx="10677525" cy="2771775"/>
              <a:chOff x="762000" y="1524000"/>
              <a:chExt cx="10677525" cy="2771775"/>
            </a:xfrm>
          </p:grpSpPr>
          <p:sp>
            <p:nvSpPr>
              <p:cNvPr id="8" name="Line 8"/>
              <p:cNvSpPr/>
              <p:nvPr/>
            </p:nvSpPr>
            <p:spPr>
              <a:xfrm>
                <a:off x="762000" y="1524000"/>
                <a:ext cx="10668000" cy="9525"/>
              </a:xfrm>
              <a:custGeom>
                <a:avLst/>
                <a:gdLst/>
                <a:ahLst/>
                <a:cxnLst/>
                <a:rect l="l" t="t" r="r" b="b"/>
                <a:pathLst>
                  <a:path w="10668000" h="9525">
                    <a:moveTo>
                      <a:pt x="0" y="0"/>
                    </a:moveTo>
                    <a:lnTo>
                      <a:pt x="10668000" y="0"/>
                    </a:lnTo>
                  </a:path>
                </a:pathLst>
              </a:custGeom>
              <a:noFill/>
              <a:ln w="9525">
                <a:solidFill>
                  <a:srgbClr val="3C5A80"/>
                </a:solidFill>
              </a:ln>
            </p:spPr>
          </p:sp>
          <p:sp>
            <p:nvSpPr>
              <p:cNvPr id="9" name="Line 9"/>
              <p:cNvSpPr/>
              <p:nvPr/>
            </p:nvSpPr>
            <p:spPr>
              <a:xfrm>
                <a:off x="762000" y="4286250"/>
                <a:ext cx="10668000" cy="9525"/>
              </a:xfrm>
              <a:custGeom>
                <a:avLst/>
                <a:gdLst/>
                <a:ahLst/>
                <a:cxnLst/>
                <a:rect l="l" t="t" r="r" b="b"/>
                <a:pathLst>
                  <a:path w="10668000" h="9525">
                    <a:moveTo>
                      <a:pt x="0" y="0"/>
                    </a:moveTo>
                    <a:lnTo>
                      <a:pt x="10668000" y="0"/>
                    </a:lnTo>
                  </a:path>
                </a:pathLst>
              </a:custGeom>
              <a:noFill/>
              <a:ln w="9525">
                <a:solidFill>
                  <a:srgbClr val="3C5A80"/>
                </a:solidFill>
              </a:ln>
            </p:spPr>
          </p:sp>
          <p:sp>
            <p:nvSpPr>
              <p:cNvPr id="10" name="Line 10"/>
              <p:cNvSpPr/>
              <p:nvPr/>
            </p:nvSpPr>
            <p:spPr>
              <a:xfrm>
                <a:off x="762000" y="1524000"/>
                <a:ext cx="9525" cy="2762250"/>
              </a:xfrm>
              <a:custGeom>
                <a:avLst/>
                <a:gdLst/>
                <a:ahLst/>
                <a:cxnLst/>
                <a:rect l="l" t="t" r="r" b="b"/>
                <a:pathLst>
                  <a:path w="9525" h="2762250">
                    <a:moveTo>
                      <a:pt x="0" y="0"/>
                    </a:moveTo>
                    <a:lnTo>
                      <a:pt x="0" y="2762250"/>
                    </a:lnTo>
                  </a:path>
                </a:pathLst>
              </a:custGeom>
              <a:noFill/>
              <a:ln w="9525">
                <a:solidFill>
                  <a:srgbClr val="3C5A80"/>
                </a:solidFill>
              </a:ln>
            </p:spPr>
          </p:sp>
          <p:sp>
            <p:nvSpPr>
              <p:cNvPr id="11" name="Line 11"/>
              <p:cNvSpPr/>
              <p:nvPr/>
            </p:nvSpPr>
            <p:spPr>
              <a:xfrm>
                <a:off x="11430000" y="1524000"/>
                <a:ext cx="9525" cy="2762250"/>
              </a:xfrm>
              <a:custGeom>
                <a:avLst/>
                <a:gdLst/>
                <a:ahLst/>
                <a:cxnLst/>
                <a:rect l="l" t="t" r="r" b="b"/>
                <a:pathLst>
                  <a:path w="9525" h="2762250">
                    <a:moveTo>
                      <a:pt x="0" y="0"/>
                    </a:moveTo>
                    <a:lnTo>
                      <a:pt x="0" y="2762250"/>
                    </a:lnTo>
                  </a:path>
                </a:pathLst>
              </a:custGeom>
              <a:noFill/>
              <a:ln w="9525">
                <a:solidFill>
                  <a:srgbClr val="3C5A80"/>
                </a:solidFill>
              </a:ln>
            </p:spPr>
          </p:sp>
          <p:sp>
            <p:nvSpPr>
              <p:cNvPr id="12" name="Line 12"/>
              <p:cNvSpPr/>
              <p:nvPr/>
            </p:nvSpPr>
            <p:spPr>
              <a:xfrm>
                <a:off x="762000" y="2000250"/>
                <a:ext cx="10668000" cy="9525"/>
              </a:xfrm>
              <a:custGeom>
                <a:avLst/>
                <a:gdLst/>
                <a:ahLst/>
                <a:cxnLst/>
                <a:rect l="l" t="t" r="r" b="b"/>
                <a:pathLst>
                  <a:path w="10668000" h="9525">
                    <a:moveTo>
                      <a:pt x="0" y="0"/>
                    </a:moveTo>
                    <a:lnTo>
                      <a:pt x="10668000" y="0"/>
                    </a:lnTo>
                  </a:path>
                </a:pathLst>
              </a:custGeom>
              <a:noFill/>
              <a:ln w="9525">
                <a:solidFill>
                  <a:srgbClr val="3C5A80"/>
                </a:solidFill>
              </a:ln>
            </p:spPr>
          </p:sp>
          <p:sp>
            <p:nvSpPr>
              <p:cNvPr id="13" name="Line 13"/>
              <p:cNvSpPr/>
              <p:nvPr/>
            </p:nvSpPr>
            <p:spPr>
              <a:xfrm>
                <a:off x="762000" y="2571750"/>
                <a:ext cx="10668000" cy="9525"/>
              </a:xfrm>
              <a:custGeom>
                <a:avLst/>
                <a:gdLst/>
                <a:ahLst/>
                <a:cxnLst/>
                <a:rect l="l" t="t" r="r" b="b"/>
                <a:pathLst>
                  <a:path w="10668000" h="9525">
                    <a:moveTo>
                      <a:pt x="0" y="0"/>
                    </a:moveTo>
                    <a:lnTo>
                      <a:pt x="10668000" y="0"/>
                    </a:lnTo>
                  </a:path>
                </a:pathLst>
              </a:custGeom>
              <a:noFill/>
              <a:ln w="9525">
                <a:solidFill>
                  <a:srgbClr val="3C5A80"/>
                </a:solidFill>
              </a:ln>
            </p:spPr>
          </p:sp>
          <p:sp>
            <p:nvSpPr>
              <p:cNvPr id="14" name="Line 14"/>
              <p:cNvSpPr/>
              <p:nvPr/>
            </p:nvSpPr>
            <p:spPr>
              <a:xfrm>
                <a:off x="762000" y="3143250"/>
                <a:ext cx="10668000" cy="9525"/>
              </a:xfrm>
              <a:custGeom>
                <a:avLst/>
                <a:gdLst/>
                <a:ahLst/>
                <a:cxnLst/>
                <a:rect l="l" t="t" r="r" b="b"/>
                <a:pathLst>
                  <a:path w="10668000" h="9525">
                    <a:moveTo>
                      <a:pt x="0" y="0"/>
                    </a:moveTo>
                    <a:lnTo>
                      <a:pt x="10668000" y="0"/>
                    </a:lnTo>
                  </a:path>
                </a:pathLst>
              </a:custGeom>
              <a:noFill/>
              <a:ln w="9525">
                <a:solidFill>
                  <a:srgbClr val="3C5A80"/>
                </a:solidFill>
              </a:ln>
            </p:spPr>
          </p:sp>
          <p:sp>
            <p:nvSpPr>
              <p:cNvPr id="15" name="Line 15"/>
              <p:cNvSpPr/>
              <p:nvPr/>
            </p:nvSpPr>
            <p:spPr>
              <a:xfrm>
                <a:off x="762000" y="3714750"/>
                <a:ext cx="10668000" cy="9525"/>
              </a:xfrm>
              <a:custGeom>
                <a:avLst/>
                <a:gdLst/>
                <a:ahLst/>
                <a:cxnLst/>
                <a:rect l="l" t="t" r="r" b="b"/>
                <a:pathLst>
                  <a:path w="10668000" h="9525">
                    <a:moveTo>
                      <a:pt x="0" y="0"/>
                    </a:moveTo>
                    <a:lnTo>
                      <a:pt x="10668000" y="0"/>
                    </a:lnTo>
                  </a:path>
                </a:pathLst>
              </a:custGeom>
              <a:noFill/>
              <a:ln w="9525">
                <a:solidFill>
                  <a:srgbClr val="3C5A80"/>
                </a:solidFill>
              </a:ln>
            </p:spPr>
          </p:sp>
          <p:sp>
            <p:nvSpPr>
              <p:cNvPr id="16" name="Line 16"/>
              <p:cNvSpPr/>
              <p:nvPr/>
            </p:nvSpPr>
            <p:spPr>
              <a:xfrm>
                <a:off x="3619500" y="1524000"/>
                <a:ext cx="9525" cy="2762250"/>
              </a:xfrm>
              <a:custGeom>
                <a:avLst/>
                <a:gdLst/>
                <a:ahLst/>
                <a:cxnLst/>
                <a:rect l="l" t="t" r="r" b="b"/>
                <a:pathLst>
                  <a:path w="9525" h="2762250">
                    <a:moveTo>
                      <a:pt x="0" y="0"/>
                    </a:moveTo>
                    <a:lnTo>
                      <a:pt x="0" y="2762250"/>
                    </a:lnTo>
                  </a:path>
                </a:pathLst>
              </a:custGeom>
              <a:noFill/>
              <a:ln w="9525">
                <a:solidFill>
                  <a:srgbClr val="3C5A80"/>
                </a:solidFill>
              </a:ln>
            </p:spPr>
          </p:sp>
          <p:sp>
            <p:nvSpPr>
              <p:cNvPr id="17" name="Line 17"/>
              <p:cNvSpPr/>
              <p:nvPr/>
            </p:nvSpPr>
            <p:spPr>
              <a:xfrm>
                <a:off x="6286500" y="1524000"/>
                <a:ext cx="9525" cy="2762250"/>
              </a:xfrm>
              <a:custGeom>
                <a:avLst/>
                <a:gdLst/>
                <a:ahLst/>
                <a:cxnLst/>
                <a:rect l="l" t="t" r="r" b="b"/>
                <a:pathLst>
                  <a:path w="9525" h="2762250">
                    <a:moveTo>
                      <a:pt x="0" y="0"/>
                    </a:moveTo>
                    <a:lnTo>
                      <a:pt x="0" y="2762250"/>
                    </a:lnTo>
                  </a:path>
                </a:pathLst>
              </a:custGeom>
              <a:noFill/>
              <a:ln w="9525">
                <a:solidFill>
                  <a:srgbClr val="3C5A80"/>
                </a:solidFill>
              </a:ln>
            </p:spPr>
          </p:sp>
          <p:sp>
            <p:nvSpPr>
              <p:cNvPr id="18" name="Line 18"/>
              <p:cNvSpPr/>
              <p:nvPr/>
            </p:nvSpPr>
            <p:spPr>
              <a:xfrm>
                <a:off x="8763000" y="1524000"/>
                <a:ext cx="9525" cy="2762250"/>
              </a:xfrm>
              <a:custGeom>
                <a:avLst/>
                <a:gdLst/>
                <a:ahLst/>
                <a:cxnLst/>
                <a:rect l="l" t="t" r="r" b="b"/>
                <a:pathLst>
                  <a:path w="9525" h="2762250">
                    <a:moveTo>
                      <a:pt x="0" y="0"/>
                    </a:moveTo>
                    <a:lnTo>
                      <a:pt x="0" y="2762250"/>
                    </a:lnTo>
                  </a:path>
                </a:pathLst>
              </a:custGeom>
              <a:noFill/>
              <a:ln w="9525">
                <a:solidFill>
                  <a:srgbClr val="3C5A80"/>
                </a:solidFill>
              </a:ln>
            </p:spPr>
          </p:sp>
        </p:grpSp>
        <p:grpSp>
          <p:nvGrpSpPr>
            <p:cNvPr id="24" name="Group 24"/>
            <p:cNvGrpSpPr/>
            <p:nvPr/>
          </p:nvGrpSpPr>
          <p:grpSpPr>
            <a:xfrm>
              <a:off x="909066" y="1696402"/>
              <a:ext cx="9941055" cy="205359"/>
              <a:chOff x="909066" y="1696402"/>
              <a:chExt cx="9941055" cy="205359"/>
            </a:xfrm>
          </p:grpSpPr>
          <p:sp>
            <p:nvSpPr>
              <p:cNvPr id="20" name="TextBox 20"/>
              <p:cNvSpPr txBox="1"/>
              <p:nvPr/>
            </p:nvSpPr>
            <p:spPr>
              <a:xfrm>
                <a:off x="909066" y="1696402"/>
                <a:ext cx="794766" cy="205359"/>
              </a:xfrm>
              <a:prstGeom prst="rect">
                <a:avLst/>
              </a:prstGeom>
              <a:noFill/>
              <a:ln>
                <a:noFill/>
              </a:ln>
            </p:spPr>
            <p:txBody>
              <a:bodyPr wrap="none" lIns="0" tIns="0" rIns="0" bIns="0" anchor="t" anchorCtr="0">
                <a:spAutoFit/>
              </a:bodyPr>
              <a:lstStyle/>
              <a:p>
                <a:pPr algn="l"/>
                <a:r>
                  <a:rPr lang="en-US" sz="1050" b="1" dirty="0">
                    <a:solidFill>
                      <a:srgbClr val="9CC3E6"/>
                    </a:solidFill>
                    <a:latin typeface="Segoe UI"/>
                    <a:ea typeface="Segoe UI"/>
                    <a:cs typeface="Segoe UI"/>
                  </a:rPr>
                  <a:t>Layer type</a:t>
                </a:r>
              </a:p>
            </p:txBody>
          </p:sp>
          <p:sp>
            <p:nvSpPr>
              <p:cNvPr id="21" name="TextBox 21"/>
              <p:cNvSpPr txBox="1"/>
              <p:nvPr/>
            </p:nvSpPr>
            <p:spPr>
              <a:xfrm>
                <a:off x="4206962" y="1696402"/>
                <a:ext cx="1492076" cy="205359"/>
              </a:xfrm>
              <a:prstGeom prst="rect">
                <a:avLst/>
              </a:prstGeom>
              <a:noFill/>
              <a:ln>
                <a:noFill/>
              </a:ln>
            </p:spPr>
            <p:txBody>
              <a:bodyPr wrap="none" lIns="0" tIns="0" rIns="0" bIns="0" anchor="t" anchorCtr="0">
                <a:spAutoFit/>
              </a:bodyPr>
              <a:lstStyle/>
              <a:p>
                <a:pPr algn="ctr"/>
                <a:r>
                  <a:rPr lang="en-US" sz="1050" b="1" dirty="0">
                    <a:solidFill>
                      <a:srgbClr val="9CC3E6"/>
                    </a:solidFill>
                    <a:latin typeface="Segoe UI"/>
                    <a:ea typeface="Segoe UI"/>
                    <a:cs typeface="Segoe UI"/>
                  </a:rPr>
                  <a:t>Complexity per layer</a:t>
                </a:r>
              </a:p>
            </p:txBody>
          </p:sp>
          <p:sp>
            <p:nvSpPr>
              <p:cNvPr id="22" name="TextBox 22"/>
              <p:cNvSpPr txBox="1"/>
              <p:nvPr/>
            </p:nvSpPr>
            <p:spPr>
              <a:xfrm>
                <a:off x="6734292" y="1696402"/>
                <a:ext cx="1580915" cy="205359"/>
              </a:xfrm>
              <a:prstGeom prst="rect">
                <a:avLst/>
              </a:prstGeom>
              <a:noFill/>
              <a:ln>
                <a:noFill/>
              </a:ln>
            </p:spPr>
            <p:txBody>
              <a:bodyPr wrap="none" lIns="0" tIns="0" rIns="0" bIns="0" anchor="t" anchorCtr="0">
                <a:spAutoFit/>
              </a:bodyPr>
              <a:lstStyle/>
              <a:p>
                <a:pPr algn="ctr"/>
                <a:r>
                  <a:rPr lang="en-US" sz="1050" b="1" dirty="0">
                    <a:solidFill>
                      <a:srgbClr val="9CC3E6"/>
                    </a:solidFill>
                    <a:latin typeface="Segoe UI"/>
                    <a:ea typeface="Segoe UI"/>
                    <a:cs typeface="Segoe UI"/>
                  </a:rPr>
                  <a:t>Sequential operations</a:t>
                </a:r>
              </a:p>
            </p:txBody>
          </p:sp>
          <p:sp>
            <p:nvSpPr>
              <p:cNvPr id="23" name="TextBox 23"/>
              <p:cNvSpPr txBox="1"/>
              <p:nvPr/>
            </p:nvSpPr>
            <p:spPr>
              <a:xfrm>
                <a:off x="9342880" y="1696402"/>
                <a:ext cx="1507241" cy="205359"/>
              </a:xfrm>
              <a:prstGeom prst="rect">
                <a:avLst/>
              </a:prstGeom>
              <a:noFill/>
              <a:ln>
                <a:noFill/>
              </a:ln>
            </p:spPr>
            <p:txBody>
              <a:bodyPr wrap="none" lIns="0" tIns="0" rIns="0" bIns="0" anchor="t" anchorCtr="0">
                <a:spAutoFit/>
              </a:bodyPr>
              <a:lstStyle/>
              <a:p>
                <a:pPr algn="ctr"/>
                <a:r>
                  <a:rPr lang="en-US" sz="1050" b="1" dirty="0">
                    <a:solidFill>
                      <a:srgbClr val="9CC3E6"/>
                    </a:solidFill>
                    <a:latin typeface="Segoe UI"/>
                    <a:ea typeface="Segoe UI"/>
                    <a:cs typeface="Segoe UI"/>
                  </a:rPr>
                  <a:t>Maximum path length</a:t>
                </a:r>
              </a:p>
            </p:txBody>
          </p:sp>
        </p:grpSp>
        <p:grpSp>
          <p:nvGrpSpPr>
            <p:cNvPr id="41" name="Group 41"/>
            <p:cNvGrpSpPr/>
            <p:nvPr/>
          </p:nvGrpSpPr>
          <p:grpSpPr>
            <a:xfrm>
              <a:off x="907542" y="2197418"/>
              <a:ext cx="9672790" cy="1978533"/>
              <a:chOff x="907542" y="2197418"/>
              <a:chExt cx="9672790" cy="1978533"/>
            </a:xfrm>
          </p:grpSpPr>
          <p:sp>
            <p:nvSpPr>
              <p:cNvPr id="25" name="TextBox 25"/>
              <p:cNvSpPr txBox="1"/>
              <p:nvPr/>
            </p:nvSpPr>
            <p:spPr>
              <a:xfrm>
                <a:off x="907542" y="2197418"/>
                <a:ext cx="1399612" cy="264033"/>
              </a:xfrm>
              <a:prstGeom prst="rect">
                <a:avLst/>
              </a:prstGeom>
              <a:noFill/>
              <a:ln>
                <a:noFill/>
              </a:ln>
            </p:spPr>
            <p:txBody>
              <a:bodyPr wrap="none" lIns="0" tIns="0" rIns="0" bIns="0" anchor="t" anchorCtr="0">
                <a:spAutoFit/>
              </a:bodyPr>
              <a:lstStyle/>
              <a:p>
                <a:pPr algn="l"/>
                <a:r>
                  <a:rPr lang="en-US" sz="1350" b="1" dirty="0">
                    <a:solidFill>
                      <a:srgbClr val="F5A623"/>
                    </a:solidFill>
                    <a:latin typeface="Segoe UI"/>
                    <a:ea typeface="Segoe UI"/>
                    <a:cs typeface="Segoe UI"/>
                  </a:rPr>
                  <a:t>Self-Attention</a:t>
                </a:r>
              </a:p>
            </p:txBody>
          </p:sp>
          <p:sp>
            <p:nvSpPr>
              <p:cNvPr id="26" name="TextBox 26"/>
              <p:cNvSpPr txBox="1"/>
              <p:nvPr/>
            </p:nvSpPr>
            <p:spPr>
              <a:xfrm>
                <a:off x="4515631" y="2197418"/>
                <a:ext cx="874738" cy="264033"/>
              </a:xfrm>
              <a:prstGeom prst="rect">
                <a:avLst/>
              </a:prstGeom>
              <a:noFill/>
              <a:ln>
                <a:noFill/>
              </a:ln>
            </p:spPr>
            <p:txBody>
              <a:bodyPr wrap="none" lIns="0" tIns="0" rIns="0" bIns="0" anchor="t" anchorCtr="0">
                <a:spAutoFit/>
              </a:bodyPr>
              <a:lstStyle/>
              <a:p>
                <a:pPr algn="ctr"/>
                <a:r>
                  <a:rPr lang="en-US" sz="1350" dirty="0">
                    <a:solidFill>
                      <a:srgbClr val="F5A623"/>
                    </a:solidFill>
                    <a:latin typeface="Segoe UI"/>
                    <a:ea typeface="Segoe UI"/>
                    <a:cs typeface="Segoe UI"/>
                  </a:rPr>
                  <a:t>O(n² · d)</a:t>
                </a:r>
              </a:p>
            </p:txBody>
          </p:sp>
          <p:sp>
            <p:nvSpPr>
              <p:cNvPr id="27" name="TextBox 27"/>
              <p:cNvSpPr txBox="1"/>
              <p:nvPr/>
            </p:nvSpPr>
            <p:spPr>
              <a:xfrm>
                <a:off x="7287463" y="2197418"/>
                <a:ext cx="474574" cy="264033"/>
              </a:xfrm>
              <a:prstGeom prst="rect">
                <a:avLst/>
              </a:prstGeom>
              <a:noFill/>
              <a:ln>
                <a:noFill/>
              </a:ln>
            </p:spPr>
            <p:txBody>
              <a:bodyPr wrap="none" lIns="0" tIns="0" rIns="0" bIns="0" anchor="t" anchorCtr="0">
                <a:spAutoFit/>
              </a:bodyPr>
              <a:lstStyle/>
              <a:p>
                <a:pPr algn="ctr"/>
                <a:r>
                  <a:rPr lang="en-US" sz="1350" dirty="0">
                    <a:solidFill>
                      <a:srgbClr val="F5A623"/>
                    </a:solidFill>
                    <a:latin typeface="Segoe UI"/>
                    <a:ea typeface="Segoe UI"/>
                    <a:cs typeface="Segoe UI"/>
                  </a:rPr>
                  <a:t>O(1)</a:t>
                </a:r>
              </a:p>
            </p:txBody>
          </p:sp>
          <p:sp>
            <p:nvSpPr>
              <p:cNvPr id="28" name="TextBox 28"/>
              <p:cNvSpPr txBox="1"/>
              <p:nvPr/>
            </p:nvSpPr>
            <p:spPr>
              <a:xfrm>
                <a:off x="9847692" y="2197418"/>
                <a:ext cx="497616" cy="264033"/>
              </a:xfrm>
              <a:prstGeom prst="rect">
                <a:avLst/>
              </a:prstGeom>
              <a:noFill/>
              <a:ln>
                <a:noFill/>
              </a:ln>
            </p:spPr>
            <p:txBody>
              <a:bodyPr wrap="none" lIns="0" tIns="0" rIns="0" bIns="0" anchor="t" anchorCtr="0">
                <a:spAutoFit/>
              </a:bodyPr>
              <a:lstStyle/>
              <a:p>
                <a:pPr algn="ctr"/>
                <a:r>
                  <a:rPr lang="en-US" sz="1350" b="1" dirty="0">
                    <a:solidFill>
                      <a:srgbClr val="F5A623"/>
                    </a:solidFill>
                    <a:latin typeface="Segoe UI"/>
                    <a:ea typeface="Segoe UI"/>
                    <a:cs typeface="Segoe UI"/>
                  </a:rPr>
                  <a:t>O(1)</a:t>
                </a:r>
              </a:p>
            </p:txBody>
          </p:sp>
          <p:sp>
            <p:nvSpPr>
              <p:cNvPr id="29" name="TextBox 29"/>
              <p:cNvSpPr txBox="1"/>
              <p:nvPr/>
            </p:nvSpPr>
            <p:spPr>
              <a:xfrm>
                <a:off x="907542" y="2768918"/>
                <a:ext cx="918972"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Recurrent</a:t>
                </a:r>
              </a:p>
            </p:txBody>
          </p:sp>
          <p:sp>
            <p:nvSpPr>
              <p:cNvPr id="30" name="TextBox 30"/>
              <p:cNvSpPr txBox="1"/>
              <p:nvPr/>
            </p:nvSpPr>
            <p:spPr>
              <a:xfrm>
                <a:off x="4515631" y="2768918"/>
                <a:ext cx="874738"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O(n · d²)</a:t>
                </a:r>
              </a:p>
            </p:txBody>
          </p:sp>
          <p:sp>
            <p:nvSpPr>
              <p:cNvPr id="31" name="TextBox 31"/>
              <p:cNvSpPr txBox="1"/>
              <p:nvPr/>
            </p:nvSpPr>
            <p:spPr>
              <a:xfrm>
                <a:off x="7293635" y="2768918"/>
                <a:ext cx="462229"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O(n)</a:t>
                </a:r>
              </a:p>
            </p:txBody>
          </p:sp>
          <p:sp>
            <p:nvSpPr>
              <p:cNvPr id="32" name="TextBox 32"/>
              <p:cNvSpPr txBox="1"/>
              <p:nvPr/>
            </p:nvSpPr>
            <p:spPr>
              <a:xfrm>
                <a:off x="9865385" y="2768918"/>
                <a:ext cx="462229"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O(n)</a:t>
                </a:r>
              </a:p>
            </p:txBody>
          </p:sp>
          <p:sp>
            <p:nvSpPr>
              <p:cNvPr id="33" name="TextBox 33"/>
              <p:cNvSpPr txBox="1"/>
              <p:nvPr/>
            </p:nvSpPr>
            <p:spPr>
              <a:xfrm>
                <a:off x="907542" y="3340418"/>
                <a:ext cx="1181897"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Convolutional</a:t>
                </a:r>
              </a:p>
            </p:txBody>
          </p:sp>
          <p:sp>
            <p:nvSpPr>
              <p:cNvPr id="34" name="TextBox 34"/>
              <p:cNvSpPr txBox="1"/>
              <p:nvPr/>
            </p:nvSpPr>
            <p:spPr>
              <a:xfrm>
                <a:off x="4360962" y="3340418"/>
                <a:ext cx="1184077"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O(k · n · d²)</a:t>
                </a:r>
              </a:p>
            </p:txBody>
          </p:sp>
          <p:sp>
            <p:nvSpPr>
              <p:cNvPr id="35" name="TextBox 35"/>
              <p:cNvSpPr txBox="1"/>
              <p:nvPr/>
            </p:nvSpPr>
            <p:spPr>
              <a:xfrm>
                <a:off x="7287463" y="3340418"/>
                <a:ext cx="474574"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O(1)</a:t>
                </a:r>
              </a:p>
            </p:txBody>
          </p:sp>
          <p:sp>
            <p:nvSpPr>
              <p:cNvPr id="36" name="TextBox 36"/>
              <p:cNvSpPr txBox="1"/>
              <p:nvPr/>
            </p:nvSpPr>
            <p:spPr>
              <a:xfrm>
                <a:off x="9612668" y="3340418"/>
                <a:ext cx="967664"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O(log_k n)</a:t>
                </a:r>
              </a:p>
            </p:txBody>
          </p:sp>
          <p:sp>
            <p:nvSpPr>
              <p:cNvPr id="37" name="TextBox 37"/>
              <p:cNvSpPr txBox="1"/>
              <p:nvPr/>
            </p:nvSpPr>
            <p:spPr>
              <a:xfrm>
                <a:off x="907542" y="3911918"/>
                <a:ext cx="2543163"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Self-Attention (restricted)</a:t>
                </a:r>
              </a:p>
            </p:txBody>
          </p:sp>
          <p:sp>
            <p:nvSpPr>
              <p:cNvPr id="38" name="TextBox 38"/>
              <p:cNvSpPr txBox="1"/>
              <p:nvPr/>
            </p:nvSpPr>
            <p:spPr>
              <a:xfrm>
                <a:off x="4411647" y="3911918"/>
                <a:ext cx="1082707"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O(r · n · d)</a:t>
                </a:r>
              </a:p>
            </p:txBody>
          </p:sp>
          <p:sp>
            <p:nvSpPr>
              <p:cNvPr id="39" name="TextBox 39"/>
              <p:cNvSpPr txBox="1"/>
              <p:nvPr/>
            </p:nvSpPr>
            <p:spPr>
              <a:xfrm>
                <a:off x="7287463" y="3911918"/>
                <a:ext cx="474574"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O(1)</a:t>
                </a:r>
              </a:p>
            </p:txBody>
          </p:sp>
          <p:sp>
            <p:nvSpPr>
              <p:cNvPr id="40" name="TextBox 40"/>
              <p:cNvSpPr txBox="1"/>
              <p:nvPr/>
            </p:nvSpPr>
            <p:spPr>
              <a:xfrm>
                <a:off x="9710052" y="3911918"/>
                <a:ext cx="772897" cy="264033"/>
              </a:xfrm>
              <a:prstGeom prst="rect">
                <a:avLst/>
              </a:prstGeom>
              <a:noFill/>
              <a:ln>
                <a:noFill/>
              </a:ln>
            </p:spPr>
            <p:txBody>
              <a:bodyPr wrap="none" lIns="0" tIns="0" rIns="0" bIns="0" anchor="t" anchorCtr="0">
                <a:spAutoFit/>
              </a:bodyPr>
              <a:lstStyle/>
              <a:p>
                <a:pPr algn="ctr"/>
                <a:r>
                  <a:rPr lang="en-US" sz="1350" dirty="0">
                    <a:solidFill>
                      <a:srgbClr val="E8F1FA"/>
                    </a:solidFill>
                    <a:latin typeface="Segoe UI"/>
                    <a:ea typeface="Segoe UI"/>
                    <a:cs typeface="Segoe UI"/>
                  </a:rPr>
                  <a:t>O(n / r)</a:t>
                </a:r>
              </a:p>
            </p:txBody>
          </p:sp>
        </p:grpSp>
      </p:grpSp>
      <p:grpSp>
        <p:nvGrpSpPr>
          <p:cNvPr id="44" name="Group 44"/>
          <p:cNvGrpSpPr/>
          <p:nvPr/>
        </p:nvGrpSpPr>
        <p:grpSpPr>
          <a:xfrm>
            <a:off x="757047" y="4485799"/>
            <a:ext cx="6025805" cy="190690"/>
            <a:chOff x="757047" y="4485799"/>
            <a:chExt cx="6025805" cy="190690"/>
          </a:xfrm>
        </p:grpSpPr>
        <p:sp>
          <p:nvSpPr>
            <p:cNvPr id="43" name="TextBox 43"/>
            <p:cNvSpPr txBox="1"/>
            <p:nvPr/>
          </p:nvSpPr>
          <p:spPr>
            <a:xfrm>
              <a:off x="757047" y="4485799"/>
              <a:ext cx="6025805" cy="190690"/>
            </a:xfrm>
            <a:prstGeom prst="rect">
              <a:avLst/>
            </a:prstGeom>
            <a:noFill/>
            <a:ln>
              <a:noFill/>
            </a:ln>
          </p:spPr>
          <p:txBody>
            <a:bodyPr wrap="none" lIns="0" tIns="0" rIns="0" bIns="0" anchor="t" anchorCtr="0">
              <a:spAutoFit/>
            </a:bodyPr>
            <a:lstStyle/>
            <a:p>
              <a:pPr algn="l"/>
              <a:r>
                <a:rPr lang="en-US" sz="980" dirty="0">
                  <a:solidFill>
                    <a:srgbClr val="9CB4CC"/>
                  </a:solidFill>
                  <a:latin typeface="Consolas"/>
                  <a:ea typeface="Consolas"/>
                  <a:cs typeface="Consolas"/>
                </a:rPr>
                <a:t>n = sequence length · d = representation dimension · k = kernel width · r = neighbourhood size</a:t>
              </a:r>
            </a:p>
          </p:txBody>
        </p:sp>
      </p:grpSp>
      <p:grpSp>
        <p:nvGrpSpPr>
          <p:cNvPr id="48" name="Group 48"/>
          <p:cNvGrpSpPr/>
          <p:nvPr/>
        </p:nvGrpSpPr>
        <p:grpSpPr>
          <a:xfrm>
            <a:off x="762000" y="4914900"/>
            <a:ext cx="7440422" cy="1134523"/>
            <a:chOff x="762000" y="4914900"/>
            <a:chExt cx="7440422" cy="1134523"/>
          </a:xfrm>
        </p:grpSpPr>
        <p:sp>
          <p:nvSpPr>
            <p:cNvPr id="45" name="Line 45"/>
            <p:cNvSpPr/>
            <p:nvPr/>
          </p:nvSpPr>
          <p:spPr>
            <a:xfrm>
              <a:off x="762000" y="4914900"/>
              <a:ext cx="9525" cy="1047750"/>
            </a:xfrm>
            <a:custGeom>
              <a:avLst/>
              <a:gdLst/>
              <a:ahLst/>
              <a:cxnLst/>
              <a:rect l="l" t="t" r="r" b="b"/>
              <a:pathLst>
                <a:path w="9525" h="1047750">
                  <a:moveTo>
                    <a:pt x="0" y="0"/>
                  </a:moveTo>
                  <a:lnTo>
                    <a:pt x="0" y="1047750"/>
                  </a:lnTo>
                </a:path>
              </a:pathLst>
            </a:custGeom>
            <a:noFill/>
            <a:ln w="28575">
              <a:solidFill>
                <a:srgbClr val="F5A623"/>
              </a:solidFill>
            </a:ln>
          </p:spPr>
        </p:sp>
        <p:sp>
          <p:nvSpPr>
            <p:cNvPr id="46" name="TextBox 46"/>
            <p:cNvSpPr txBox="1"/>
            <p:nvPr/>
          </p:nvSpPr>
          <p:spPr>
            <a:xfrm>
              <a:off x="982980" y="5000625"/>
              <a:ext cx="4368813" cy="293370"/>
            </a:xfrm>
            <a:prstGeom prst="rect">
              <a:avLst/>
            </a:prstGeom>
            <a:noFill/>
            <a:ln>
              <a:noFill/>
            </a:ln>
          </p:spPr>
          <p:txBody>
            <a:bodyPr wrap="none" lIns="0" tIns="0" rIns="0" bIns="0" anchor="t" anchorCtr="0">
              <a:spAutoFit/>
            </a:bodyPr>
            <a:lstStyle/>
            <a:p>
              <a:pPr algn="l"/>
              <a:r>
                <a:rPr lang="en-US" sz="1500" b="1" dirty="0">
                  <a:solidFill>
                    <a:srgbClr val="E8F1FA"/>
                  </a:solidFill>
                  <a:latin typeface="Segoe UI"/>
                  <a:ea typeface="Segoe UI"/>
                  <a:cs typeface="Segoe UI"/>
                </a:rPr>
                <a:t>Any two positions are one operation apart</a:t>
              </a:r>
            </a:p>
          </p:txBody>
        </p:sp>
        <p:sp>
          <p:nvSpPr>
            <p:cNvPr id="47" name="TextBox 47"/>
            <p:cNvSpPr txBox="1"/>
            <p:nvPr/>
          </p:nvSpPr>
          <p:spPr>
            <a:xfrm>
              <a:off x="983361" y="5275421"/>
              <a:ext cx="7219061" cy="774002"/>
            </a:xfrm>
            <a:prstGeom prst="rect">
              <a:avLst/>
            </a:prstGeom>
            <a:noFill/>
            <a:ln>
              <a:noFill/>
            </a:ln>
          </p:spPr>
          <p:txBody>
            <a:bodyPr wrap="none" lIns="0" tIns="0" rIns="0" bIns="0" anchor="t" anchorCtr="0">
              <a:spAutoFit/>
            </a:bodyPr>
            <a:lstStyle/>
            <a:p>
              <a:pPr algn="l">
                <a:lnSpc>
                  <a:spcPts val="1950"/>
                </a:lnSpc>
              </a:pPr>
              <a:r>
                <a:rPr lang="en-US" sz="1420" dirty="0">
                  <a:solidFill>
                    <a:srgbClr val="C9DBEA"/>
                  </a:solidFill>
                  <a:latin typeface="Segoe UI"/>
                  <a:ea typeface="Segoe UI"/>
                  <a:cs typeface="Segoe UI"/>
                </a:rPr>
                <a:t>Per-layer cost O(n²·d) beats recurrence whenever n &lt; d — the usual case for</a:t>
              </a:r>
              <a:br/>
              <a:r>
                <a:rPr lang="en-US" sz="1420" dirty="0">
                  <a:solidFill>
                    <a:srgbClr val="C9DBEA"/>
                  </a:solidFill>
                  <a:latin typeface="Segoe UI"/>
                  <a:ea typeface="Segoe UI"/>
                  <a:cs typeface="Segoe UI"/>
                </a:rPr>
                <a:t>word-piece or BPE sentences. For very long inputs the restricted variant keeps a</a:t>
              </a:r>
              <a:br/>
              <a:r>
                <a:rPr lang="en-US" sz="1420" dirty="0">
                  <a:solidFill>
                    <a:srgbClr val="C9DBEA"/>
                  </a:solidFill>
                  <a:latin typeface="Segoe UI"/>
                  <a:ea typeface="Segoe UI"/>
                  <a:cs typeface="Segoe UI"/>
                </a:rPr>
                <a:t>window r; the path grows to O(n/r), still shorter than O(n).</a:t>
              </a:r>
            </a:p>
          </p:txBody>
        </p:sp>
      </p:grpSp>
      <p:grpSp>
        <p:nvGrpSpPr>
          <p:cNvPr id="53" name="Group 53"/>
          <p:cNvGrpSpPr/>
          <p:nvPr/>
        </p:nvGrpSpPr>
        <p:grpSpPr>
          <a:xfrm>
            <a:off x="9525000" y="6362700"/>
            <a:ext cx="2095500" cy="304800"/>
            <a:chOff x="9525000" y="6362700"/>
            <a:chExt cx="2095500" cy="304800"/>
          </a:xfrm>
        </p:grpSpPr>
        <p:sp>
          <p:nvSpPr>
            <p:cNvPr id="49" name="Rectangle 49"/>
            <p:cNvSpPr/>
            <p:nvPr/>
          </p:nvSpPr>
          <p:spPr>
            <a:xfrm>
              <a:off x="9525000" y="6362700"/>
              <a:ext cx="2095500" cy="304800"/>
            </a:xfrm>
            <a:prstGeom prst="rect">
              <a:avLst/>
            </a:prstGeom>
            <a:noFill/>
            <a:ln w="9525">
              <a:solidFill>
                <a:srgbClr val="3C5A80"/>
              </a:solidFill>
            </a:ln>
          </p:spPr>
        </p:sp>
        <p:sp>
          <p:nvSpPr>
            <p:cNvPr id="50" name="Line 50"/>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51" name="TextBox 51"/>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52" name="TextBox 52"/>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10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4"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down)">
                                      <p:cBhvr>
                                        <p:cTn id="7" dur="800"/>
                                        <p:tgtEl>
                                          <p:spTgt spid="42"/>
                                        </p:tgtEl>
                                      </p:cBhvr>
                                    </p:animEffect>
                                  </p:childTnLst>
                                </p:cTn>
                              </p:par>
                            </p:childTnLst>
                          </p:cTn>
                        </p:par>
                        <p:par>
                          <p:cTn id="8" fill="hold">
                            <p:stCondLst>
                              <p:cond delay="8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44"/>
                                        </p:tgtEl>
                                        <p:attrNameLst>
                                          <p:attrName>style.visibility</p:attrName>
                                        </p:attrNameLst>
                                      </p:cBhvr>
                                      <p:to>
                                        <p:strVal val="visible"/>
                                      </p:to>
                                    </p:set>
                                    <p:animEffect transition="in" filter="fade">
                                      <p:cBhvr>
                                        <p:cTn id="11" dur="400"/>
                                        <p:tgtEl>
                                          <p:spTgt spid="44"/>
                                        </p:tgtEl>
                                      </p:cBhvr>
                                    </p:animEffect>
                                  </p:childTnLst>
                                </p:cTn>
                              </p:par>
                            </p:childTnLst>
                          </p:cTn>
                        </p:par>
                        <p:par>
                          <p:cTn id="12" fill="hold">
                            <p:stCondLst>
                              <p:cond delay="1500"/>
                            </p:stCondLst>
                            <p:childTnLst>
                              <p:par>
                                <p:cTn xmlns:p="http://schemas.openxmlformats.org/presentationml/2006/main" id="13" presetID="2" presetClass="entr" presetSubtype="1" fill="hold" grpId="0" nodeType="afterEffect">
                                  <p:stCondLst>
                                    <p:cond delay="300"/>
                                  </p:stCondLst>
                                  <p:childTnLst>
                                    <p:set>
                                      <p:cBhvr>
                                        <p:cTn id="14" dur="1" fill="hold">
                                          <p:stCondLst>
                                            <p:cond delay="0"/>
                                          </p:stCondLst>
                                        </p:cTn>
                                        <p:tgtEl>
                                          <p:spTgt spid="48"/>
                                        </p:tgtEl>
                                        <p:attrNameLst>
                                          <p:attrName>style.visibility</p:attrName>
                                        </p:attrNameLst>
                                      </p:cBhvr>
                                      <p:to>
                                        <p:strVal val="visible"/>
                                      </p:to>
                                    </p:set>
                                    <p:anim calcmode="lin" valueType="num">
                                      <p:cBhvr additive="base">
                                        <p:cTn id="15" dur="500" fill="hold"/>
                                        <p:tgtEl>
                                          <p:spTgt spid="48"/>
                                        </p:tgtEl>
                                        <p:attrNameLst>
                                          <p:attrName>ppt_x</p:attrName>
                                        </p:attrNameLst>
                                      </p:cBhvr>
                                      <p:tavLst>
                                        <p:tav tm="0">
                                          <p:val>
                                            <p:strVal val="#ppt_x"/>
                                          </p:val>
                                        </p:tav>
                                        <p:tav tm="100000">
                                          <p:val>
                                            <p:strVal val="#ppt_x"/>
                                          </p:val>
                                        </p:tav>
                                      </p:tavLst>
                                    </p:anim>
                                    <p:anim calcmode="lin" valueType="num">
                                      <p:cBhvr additive="base">
                                        <p:cTn id="16" dur="500" fill="hold"/>
                                        <p:tgtEl>
                                          <p:spTgt spid="48"/>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8382709" cy="801243"/>
            <a:chOff x="747522" y="439102"/>
            <a:chExt cx="8382709" cy="801243"/>
          </a:xfrm>
        </p:grpSpPr>
        <p:sp>
          <p:nvSpPr>
            <p:cNvPr id="3" name="TextBox 3"/>
            <p:cNvSpPr txBox="1"/>
            <p:nvPr/>
          </p:nvSpPr>
          <p:spPr>
            <a:xfrm>
              <a:off x="775716" y="439102"/>
              <a:ext cx="2004517"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04 · TRAINING RECIPE</a:t>
              </a:r>
            </a:p>
          </p:txBody>
        </p:sp>
        <p:sp>
          <p:nvSpPr>
            <p:cNvPr id="4" name="TextBox 4"/>
            <p:cNvSpPr txBox="1"/>
            <p:nvPr/>
          </p:nvSpPr>
          <p:spPr>
            <a:xfrm>
              <a:off x="747522" y="682942"/>
              <a:ext cx="8382709"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The spec sheet: data, hardware, schedule</a:t>
              </a:r>
            </a:p>
          </p:txBody>
        </p:sp>
      </p:grpSp>
      <p:sp>
        <p:nvSpPr>
          <p:cNvPr id="6" name="Freeform 6"/>
          <p:cNvSpPr/>
          <p:nvPr/>
        </p:nvSpPr>
        <p:spPr>
          <a:xfrm>
            <a:off x="762000" y="1333500"/>
            <a:ext cx="10668000" cy="4667250"/>
          </a:xfrm>
          <a:prstGeom prst="foldedCorner">
            <a:avLst/>
          </a:prstGeom>
          <a:solidFill>
            <a:srgbClr val="10284A"/>
          </a:solidFill>
          <a:ln w="14288">
            <a:solidFill>
              <a:srgbClr val="9CC3E6"/>
            </a:solidFill>
          </a:ln>
        </p:spPr>
      </p:sp>
      <p:grpSp>
        <p:nvGrpSpPr>
          <p:cNvPr id="41" name="Group 41"/>
          <p:cNvGrpSpPr/>
          <p:nvPr/>
        </p:nvGrpSpPr>
        <p:grpSpPr>
          <a:xfrm>
            <a:off x="1040892" y="1704499"/>
            <a:ext cx="4674108" cy="3911917"/>
            <a:chOff x="1040892" y="1704499"/>
            <a:chExt cx="4674108" cy="3911917"/>
          </a:xfrm>
        </p:grpSpPr>
        <p:grpSp>
          <p:nvGrpSpPr>
            <p:cNvPr id="9" name="Group 9"/>
            <p:cNvGrpSpPr/>
            <p:nvPr/>
          </p:nvGrpSpPr>
          <p:grpSpPr>
            <a:xfrm>
              <a:off x="1040892" y="1704499"/>
              <a:ext cx="4633134" cy="452152"/>
              <a:chOff x="1040892" y="1704499"/>
              <a:chExt cx="4633134" cy="452152"/>
            </a:xfrm>
          </p:grpSpPr>
          <p:sp>
            <p:nvSpPr>
              <p:cNvPr id="7" name="TextBox 7"/>
              <p:cNvSpPr txBox="1"/>
              <p:nvPr/>
            </p:nvSpPr>
            <p:spPr>
              <a:xfrm>
                <a:off x="1042797" y="1704499"/>
                <a:ext cx="1094913"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DATA · EN–DE</a:t>
                </a:r>
              </a:p>
            </p:txBody>
          </p:sp>
          <p:sp>
            <p:nvSpPr>
              <p:cNvPr id="8" name="TextBox 8"/>
              <p:cNvSpPr txBox="1"/>
              <p:nvPr/>
            </p:nvSpPr>
            <p:spPr>
              <a:xfrm>
                <a:off x="1040892" y="1892618"/>
                <a:ext cx="4633134"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4.5 M sentence pairs · shared BPE vocabulary ≈ 37 k</a:t>
                </a:r>
              </a:p>
            </p:txBody>
          </p:sp>
        </p:grpSp>
        <p:grpSp>
          <p:nvGrpSpPr>
            <p:cNvPr id="12" name="Group 12"/>
            <p:cNvGrpSpPr/>
            <p:nvPr/>
          </p:nvGrpSpPr>
          <p:grpSpPr>
            <a:xfrm>
              <a:off x="1040892" y="2314099"/>
              <a:ext cx="3983058" cy="452152"/>
              <a:chOff x="1040892" y="2314099"/>
              <a:chExt cx="3983058" cy="452152"/>
            </a:xfrm>
          </p:grpSpPr>
          <p:sp>
            <p:nvSpPr>
              <p:cNvPr id="10" name="TextBox 10"/>
              <p:cNvSpPr txBox="1"/>
              <p:nvPr/>
            </p:nvSpPr>
            <p:spPr>
              <a:xfrm>
                <a:off x="1042797" y="2314099"/>
                <a:ext cx="1094913"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DATA · EN–FR</a:t>
                </a:r>
              </a:p>
            </p:txBody>
          </p:sp>
          <p:sp>
            <p:nvSpPr>
              <p:cNvPr id="11" name="TextBox 11"/>
              <p:cNvSpPr txBox="1"/>
              <p:nvPr/>
            </p:nvSpPr>
            <p:spPr>
              <a:xfrm>
                <a:off x="1040892" y="2502218"/>
                <a:ext cx="3983058"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36 M sentences · 32 k word-piece vocabulary</a:t>
                </a:r>
              </a:p>
            </p:txBody>
          </p:sp>
        </p:grpSp>
        <p:grpSp>
          <p:nvGrpSpPr>
            <p:cNvPr id="15" name="Group 15"/>
            <p:cNvGrpSpPr/>
            <p:nvPr/>
          </p:nvGrpSpPr>
          <p:grpSpPr>
            <a:xfrm>
              <a:off x="1040892" y="2923699"/>
              <a:ext cx="3957409" cy="452152"/>
              <a:chOff x="1040892" y="2923699"/>
              <a:chExt cx="3957409" cy="452152"/>
            </a:xfrm>
          </p:grpSpPr>
          <p:sp>
            <p:nvSpPr>
              <p:cNvPr id="13" name="TextBox 13"/>
              <p:cNvSpPr txBox="1"/>
              <p:nvPr/>
            </p:nvSpPr>
            <p:spPr>
              <a:xfrm>
                <a:off x="1042797" y="2923699"/>
                <a:ext cx="737748"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BATCHING</a:t>
                </a:r>
              </a:p>
            </p:txBody>
          </p:sp>
          <p:sp>
            <p:nvSpPr>
              <p:cNvPr id="14" name="TextBox 14"/>
              <p:cNvSpPr txBox="1"/>
              <p:nvPr/>
            </p:nvSpPr>
            <p:spPr>
              <a:xfrm>
                <a:off x="1040892" y="3111818"/>
                <a:ext cx="3957409"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 25 k source + 25 k target tokens per batch</a:t>
                </a:r>
              </a:p>
            </p:txBody>
          </p:sp>
        </p:grpSp>
        <p:grpSp>
          <p:nvGrpSpPr>
            <p:cNvPr id="29" name="Group 29"/>
            <p:cNvGrpSpPr/>
            <p:nvPr/>
          </p:nvGrpSpPr>
          <p:grpSpPr>
            <a:xfrm>
              <a:off x="1040892" y="3533299"/>
              <a:ext cx="4543139" cy="452152"/>
              <a:chOff x="1040892" y="3533299"/>
              <a:chExt cx="4543139" cy="452152"/>
            </a:xfrm>
          </p:grpSpPr>
          <p:grpSp>
            <p:nvGrpSpPr>
              <p:cNvPr id="26" name="Group 26"/>
              <p:cNvGrpSpPr/>
              <p:nvPr/>
            </p:nvGrpSpPr>
            <p:grpSpPr>
              <a:xfrm>
                <a:off x="5369719" y="3617119"/>
                <a:ext cx="214312" cy="214312"/>
                <a:chOff x="5369719" y="3617119"/>
                <a:chExt cx="214312" cy="214312"/>
              </a:xfrm>
            </p:grpSpPr>
            <p:sp>
              <p:nvSpPr>
                <p:cNvPr id="16" name="Freeform 16"/>
                <p:cNvSpPr/>
                <p:nvPr/>
              </p:nvSpPr>
              <p:spPr>
                <a:xfrm>
                  <a:off x="5393531" y="3640931"/>
                  <a:ext cx="166688" cy="166688"/>
                </a:xfrm>
                <a:custGeom>
                  <a:avLst/>
                  <a:gdLst/>
                  <a:ahLst/>
                  <a:cxnLst/>
                  <a:rect l="l" t="t" r="r" b="b"/>
                  <a:pathLst>
                    <a:path w="166688" h="166688">
                      <a:moveTo>
                        <a:pt x="0" y="11906"/>
                      </a:moveTo>
                      <a:cubicBezTo>
                        <a:pt x="0" y="5331"/>
                        <a:pt x="5331" y="0"/>
                        <a:pt x="11906" y="0"/>
                      </a:cubicBezTo>
                      <a:lnTo>
                        <a:pt x="154781" y="0"/>
                      </a:lnTo>
                      <a:cubicBezTo>
                        <a:pt x="161357" y="0"/>
                        <a:pt x="166688" y="5331"/>
                        <a:pt x="166688" y="11906"/>
                      </a:cubicBezTo>
                      <a:lnTo>
                        <a:pt x="166688" y="154781"/>
                      </a:lnTo>
                      <a:cubicBezTo>
                        <a:pt x="166688" y="161357"/>
                        <a:pt x="161357" y="166688"/>
                        <a:pt x="154781" y="166688"/>
                      </a:cubicBezTo>
                      <a:lnTo>
                        <a:pt x="11906" y="166688"/>
                      </a:lnTo>
                      <a:cubicBezTo>
                        <a:pt x="5331" y="166688"/>
                        <a:pt x="0" y="161357"/>
                        <a:pt x="0" y="154781"/>
                      </a:cubicBezTo>
                      <a:lnTo>
                        <a:pt x="0" y="11906"/>
                      </a:lnTo>
                    </a:path>
                  </a:pathLst>
                </a:custGeom>
                <a:noFill/>
                <a:ln w="23812">
                  <a:solidFill>
                    <a:srgbClr val="9CC3E6"/>
                  </a:solidFill>
                </a:ln>
              </p:spPr>
            </p:sp>
            <p:sp>
              <p:nvSpPr>
                <p:cNvPr id="17" name="Freeform 17"/>
                <p:cNvSpPr/>
                <p:nvPr/>
              </p:nvSpPr>
              <p:spPr>
                <a:xfrm>
                  <a:off x="5441156" y="3688556"/>
                  <a:ext cx="71438" cy="71438"/>
                </a:xfrm>
                <a:custGeom>
                  <a:avLst/>
                  <a:gdLst/>
                  <a:ahLst/>
                  <a:cxnLst/>
                  <a:rect l="l" t="t" r="r" b="b"/>
                  <a:pathLst>
                    <a:path w="71438" h="71438">
                      <a:moveTo>
                        <a:pt x="0" y="0"/>
                      </a:moveTo>
                      <a:lnTo>
                        <a:pt x="71438" y="0"/>
                      </a:lnTo>
                      <a:lnTo>
                        <a:pt x="71438" y="71438"/>
                      </a:lnTo>
                      <a:lnTo>
                        <a:pt x="0" y="71438"/>
                      </a:lnTo>
                      <a:lnTo>
                        <a:pt x="0" y="0"/>
                      </a:lnTo>
                    </a:path>
                  </a:pathLst>
                </a:custGeom>
                <a:noFill/>
                <a:ln w="23812">
                  <a:solidFill>
                    <a:srgbClr val="9CC3E6"/>
                  </a:solidFill>
                </a:ln>
              </p:spPr>
            </p:sp>
            <p:sp>
              <p:nvSpPr>
                <p:cNvPr id="18" name="Freeform 18"/>
                <p:cNvSpPr/>
                <p:nvPr/>
              </p:nvSpPr>
              <p:spPr>
                <a:xfrm>
                  <a:off x="5369719" y="3700462"/>
                  <a:ext cx="23812" cy="9525"/>
                </a:xfrm>
                <a:custGeom>
                  <a:avLst/>
                  <a:gdLst/>
                  <a:ahLst/>
                  <a:cxnLst/>
                  <a:rect l="l" t="t" r="r" b="b"/>
                  <a:pathLst>
                    <a:path w="23812" h="9525">
                      <a:moveTo>
                        <a:pt x="0" y="0"/>
                      </a:moveTo>
                      <a:lnTo>
                        <a:pt x="23812" y="0"/>
                      </a:lnTo>
                    </a:path>
                  </a:pathLst>
                </a:custGeom>
                <a:noFill/>
                <a:ln w="23812">
                  <a:solidFill>
                    <a:srgbClr val="9CC3E6"/>
                  </a:solidFill>
                </a:ln>
              </p:spPr>
            </p:sp>
            <p:sp>
              <p:nvSpPr>
                <p:cNvPr id="19" name="Freeform 19"/>
                <p:cNvSpPr/>
                <p:nvPr/>
              </p:nvSpPr>
              <p:spPr>
                <a:xfrm>
                  <a:off x="5369719" y="3748088"/>
                  <a:ext cx="23812" cy="9525"/>
                </a:xfrm>
                <a:custGeom>
                  <a:avLst/>
                  <a:gdLst/>
                  <a:ahLst/>
                  <a:cxnLst/>
                  <a:rect l="l" t="t" r="r" b="b"/>
                  <a:pathLst>
                    <a:path w="23812" h="9525">
                      <a:moveTo>
                        <a:pt x="0" y="0"/>
                      </a:moveTo>
                      <a:lnTo>
                        <a:pt x="23812" y="0"/>
                      </a:lnTo>
                    </a:path>
                  </a:pathLst>
                </a:custGeom>
                <a:noFill/>
                <a:ln w="23812">
                  <a:solidFill>
                    <a:srgbClr val="9CC3E6"/>
                  </a:solidFill>
                </a:ln>
              </p:spPr>
            </p:sp>
            <p:sp>
              <p:nvSpPr>
                <p:cNvPr id="20" name="Freeform 20"/>
                <p:cNvSpPr/>
                <p:nvPr/>
              </p:nvSpPr>
              <p:spPr>
                <a:xfrm>
                  <a:off x="5453062" y="3617119"/>
                  <a:ext cx="9525" cy="23812"/>
                </a:xfrm>
                <a:custGeom>
                  <a:avLst/>
                  <a:gdLst/>
                  <a:ahLst/>
                  <a:cxnLst/>
                  <a:rect l="l" t="t" r="r" b="b"/>
                  <a:pathLst>
                    <a:path w="9525" h="23812">
                      <a:moveTo>
                        <a:pt x="0" y="0"/>
                      </a:moveTo>
                      <a:lnTo>
                        <a:pt x="0" y="23812"/>
                      </a:lnTo>
                    </a:path>
                  </a:pathLst>
                </a:custGeom>
                <a:noFill/>
                <a:ln w="23812">
                  <a:solidFill>
                    <a:srgbClr val="9CC3E6"/>
                  </a:solidFill>
                </a:ln>
              </p:spPr>
            </p:sp>
            <p:sp>
              <p:nvSpPr>
                <p:cNvPr id="21" name="Freeform 21"/>
                <p:cNvSpPr/>
                <p:nvPr/>
              </p:nvSpPr>
              <p:spPr>
                <a:xfrm>
                  <a:off x="5500688" y="3617119"/>
                  <a:ext cx="9525" cy="23812"/>
                </a:xfrm>
                <a:custGeom>
                  <a:avLst/>
                  <a:gdLst/>
                  <a:ahLst/>
                  <a:cxnLst/>
                  <a:rect l="l" t="t" r="r" b="b"/>
                  <a:pathLst>
                    <a:path w="9525" h="23812">
                      <a:moveTo>
                        <a:pt x="0" y="0"/>
                      </a:moveTo>
                      <a:lnTo>
                        <a:pt x="0" y="23812"/>
                      </a:lnTo>
                    </a:path>
                  </a:pathLst>
                </a:custGeom>
                <a:noFill/>
                <a:ln w="23812">
                  <a:solidFill>
                    <a:srgbClr val="9CC3E6"/>
                  </a:solidFill>
                </a:ln>
              </p:spPr>
            </p:sp>
            <p:sp>
              <p:nvSpPr>
                <p:cNvPr id="22" name="Freeform 22"/>
                <p:cNvSpPr/>
                <p:nvPr/>
              </p:nvSpPr>
              <p:spPr>
                <a:xfrm>
                  <a:off x="5560219" y="3700462"/>
                  <a:ext cx="23812" cy="9525"/>
                </a:xfrm>
                <a:custGeom>
                  <a:avLst/>
                  <a:gdLst/>
                  <a:ahLst/>
                  <a:cxnLst/>
                  <a:rect l="l" t="t" r="r" b="b"/>
                  <a:pathLst>
                    <a:path w="23812" h="9525">
                      <a:moveTo>
                        <a:pt x="23812" y="0"/>
                      </a:moveTo>
                      <a:lnTo>
                        <a:pt x="0" y="0"/>
                      </a:lnTo>
                    </a:path>
                  </a:pathLst>
                </a:custGeom>
                <a:noFill/>
                <a:ln w="23812">
                  <a:solidFill>
                    <a:srgbClr val="9CC3E6"/>
                  </a:solidFill>
                </a:ln>
              </p:spPr>
            </p:sp>
            <p:sp>
              <p:nvSpPr>
                <p:cNvPr id="23" name="Freeform 23"/>
                <p:cNvSpPr/>
                <p:nvPr/>
              </p:nvSpPr>
              <p:spPr>
                <a:xfrm>
                  <a:off x="5560219" y="3748088"/>
                  <a:ext cx="23812" cy="9525"/>
                </a:xfrm>
                <a:custGeom>
                  <a:avLst/>
                  <a:gdLst/>
                  <a:ahLst/>
                  <a:cxnLst/>
                  <a:rect l="l" t="t" r="r" b="b"/>
                  <a:pathLst>
                    <a:path w="23812" h="9525">
                      <a:moveTo>
                        <a:pt x="23812" y="0"/>
                      </a:moveTo>
                      <a:lnTo>
                        <a:pt x="0" y="0"/>
                      </a:lnTo>
                    </a:path>
                  </a:pathLst>
                </a:custGeom>
                <a:noFill/>
                <a:ln w="23812">
                  <a:solidFill>
                    <a:srgbClr val="9CC3E6"/>
                  </a:solidFill>
                </a:ln>
              </p:spPr>
            </p:sp>
            <p:sp>
              <p:nvSpPr>
                <p:cNvPr id="24" name="Freeform 24"/>
                <p:cNvSpPr/>
                <p:nvPr/>
              </p:nvSpPr>
              <p:spPr>
                <a:xfrm>
                  <a:off x="5500688" y="3807619"/>
                  <a:ext cx="9525" cy="23812"/>
                </a:xfrm>
                <a:custGeom>
                  <a:avLst/>
                  <a:gdLst/>
                  <a:ahLst/>
                  <a:cxnLst/>
                  <a:rect l="l" t="t" r="r" b="b"/>
                  <a:pathLst>
                    <a:path w="9525" h="23812">
                      <a:moveTo>
                        <a:pt x="0" y="23812"/>
                      </a:moveTo>
                      <a:lnTo>
                        <a:pt x="0" y="0"/>
                      </a:lnTo>
                    </a:path>
                  </a:pathLst>
                </a:custGeom>
                <a:noFill/>
                <a:ln w="23812">
                  <a:solidFill>
                    <a:srgbClr val="9CC3E6"/>
                  </a:solidFill>
                </a:ln>
              </p:spPr>
            </p:sp>
            <p:sp>
              <p:nvSpPr>
                <p:cNvPr id="25" name="Freeform 25"/>
                <p:cNvSpPr/>
                <p:nvPr/>
              </p:nvSpPr>
              <p:spPr>
                <a:xfrm>
                  <a:off x="5453062" y="3807619"/>
                  <a:ext cx="9525" cy="23812"/>
                </a:xfrm>
                <a:custGeom>
                  <a:avLst/>
                  <a:gdLst/>
                  <a:ahLst/>
                  <a:cxnLst/>
                  <a:rect l="l" t="t" r="r" b="b"/>
                  <a:pathLst>
                    <a:path w="9525" h="23812">
                      <a:moveTo>
                        <a:pt x="0" y="23812"/>
                      </a:moveTo>
                      <a:lnTo>
                        <a:pt x="0" y="0"/>
                      </a:lnTo>
                    </a:path>
                  </a:pathLst>
                </a:custGeom>
                <a:noFill/>
                <a:ln w="23812">
                  <a:solidFill>
                    <a:srgbClr val="9CC3E6"/>
                  </a:solidFill>
                </a:ln>
              </p:spPr>
            </p:sp>
          </p:grpSp>
          <p:sp>
            <p:nvSpPr>
              <p:cNvPr id="27" name="TextBox 27"/>
              <p:cNvSpPr txBox="1"/>
              <p:nvPr/>
            </p:nvSpPr>
            <p:spPr>
              <a:xfrm>
                <a:off x="1042797" y="3533299"/>
                <a:ext cx="800476"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HARDWARE</a:t>
                </a:r>
              </a:p>
            </p:txBody>
          </p:sp>
          <p:sp>
            <p:nvSpPr>
              <p:cNvPr id="28" name="TextBox 28"/>
              <p:cNvSpPr txBox="1"/>
              <p:nvPr/>
            </p:nvSpPr>
            <p:spPr>
              <a:xfrm>
                <a:off x="1040892" y="3721418"/>
                <a:ext cx="3119998"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One machine · 8 × NVIDIA P100 GPUs</a:t>
                </a:r>
              </a:p>
            </p:txBody>
          </p:sp>
        </p:grpSp>
        <p:grpSp>
          <p:nvGrpSpPr>
            <p:cNvPr id="32" name="Group 32"/>
            <p:cNvGrpSpPr/>
            <p:nvPr/>
          </p:nvGrpSpPr>
          <p:grpSpPr>
            <a:xfrm>
              <a:off x="1040892" y="4142899"/>
              <a:ext cx="3612109" cy="452152"/>
              <a:chOff x="1040892" y="4142899"/>
              <a:chExt cx="3612109" cy="452152"/>
            </a:xfrm>
          </p:grpSpPr>
          <p:sp>
            <p:nvSpPr>
              <p:cNvPr id="30" name="TextBox 30"/>
              <p:cNvSpPr txBox="1"/>
              <p:nvPr/>
            </p:nvSpPr>
            <p:spPr>
              <a:xfrm>
                <a:off x="1042797" y="4142899"/>
                <a:ext cx="1997852"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SCHEDULE · BASE MODEL</a:t>
                </a:r>
              </a:p>
            </p:txBody>
          </p:sp>
          <p:sp>
            <p:nvSpPr>
              <p:cNvPr id="31" name="TextBox 31"/>
              <p:cNvSpPr txBox="1"/>
              <p:nvPr/>
            </p:nvSpPr>
            <p:spPr>
              <a:xfrm>
                <a:off x="1040892" y="4331018"/>
                <a:ext cx="3612109"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100 k steps · 0.4 s per step · ≈ 12 hours</a:t>
                </a:r>
              </a:p>
            </p:txBody>
          </p:sp>
        </p:grpSp>
        <p:grpSp>
          <p:nvGrpSpPr>
            <p:cNvPr id="38" name="Group 38"/>
            <p:cNvGrpSpPr/>
            <p:nvPr/>
          </p:nvGrpSpPr>
          <p:grpSpPr>
            <a:xfrm>
              <a:off x="1040892" y="4752499"/>
              <a:ext cx="4543139" cy="452152"/>
              <a:chOff x="1040892" y="4752499"/>
              <a:chExt cx="4543139" cy="452152"/>
            </a:xfrm>
          </p:grpSpPr>
          <p:grpSp>
            <p:nvGrpSpPr>
              <p:cNvPr id="35" name="Group 35"/>
              <p:cNvGrpSpPr/>
              <p:nvPr/>
            </p:nvGrpSpPr>
            <p:grpSpPr>
              <a:xfrm>
                <a:off x="5369719" y="4836319"/>
                <a:ext cx="214312" cy="214312"/>
                <a:chOff x="5369719" y="4836319"/>
                <a:chExt cx="214312" cy="214312"/>
              </a:xfrm>
            </p:grpSpPr>
            <p:sp>
              <p:nvSpPr>
                <p:cNvPr id="33" name="Freeform 33"/>
                <p:cNvSpPr/>
                <p:nvPr/>
              </p:nvSpPr>
              <p:spPr>
                <a:xfrm>
                  <a:off x="5369719" y="4836319"/>
                  <a:ext cx="214312" cy="214312"/>
                </a:xfrm>
                <a:custGeom>
                  <a:avLst/>
                  <a:gdLst/>
                  <a:ahLst/>
                  <a:cxnLst/>
                  <a:rect l="l" t="t" r="r" b="b"/>
                  <a:pathLst>
                    <a:path w="214312" h="214312">
                      <a:moveTo>
                        <a:pt x="0" y="107156"/>
                      </a:moveTo>
                      <a:cubicBezTo>
                        <a:pt x="0" y="166337"/>
                        <a:pt x="47975" y="214312"/>
                        <a:pt x="107156" y="214312"/>
                      </a:cubicBezTo>
                      <a:cubicBezTo>
                        <a:pt x="166337" y="214312"/>
                        <a:pt x="214312" y="166337"/>
                        <a:pt x="214312" y="107156"/>
                      </a:cubicBezTo>
                      <a:cubicBezTo>
                        <a:pt x="214312" y="47975"/>
                        <a:pt x="166337" y="0"/>
                        <a:pt x="107156" y="0"/>
                      </a:cubicBezTo>
                      <a:cubicBezTo>
                        <a:pt x="47975" y="0"/>
                        <a:pt x="0" y="47975"/>
                        <a:pt x="0" y="107156"/>
                      </a:cubicBezTo>
                    </a:path>
                  </a:pathLst>
                </a:custGeom>
                <a:noFill/>
                <a:ln w="23812">
                  <a:solidFill>
                    <a:srgbClr val="9CC3E6"/>
                  </a:solidFill>
                </a:ln>
              </p:spPr>
            </p:sp>
            <p:sp>
              <p:nvSpPr>
                <p:cNvPr id="34" name="Freeform 34"/>
                <p:cNvSpPr/>
                <p:nvPr/>
              </p:nvSpPr>
              <p:spPr>
                <a:xfrm>
                  <a:off x="5476875" y="4883944"/>
                  <a:ext cx="35719" cy="95250"/>
                </a:xfrm>
                <a:custGeom>
                  <a:avLst/>
                  <a:gdLst/>
                  <a:ahLst/>
                  <a:cxnLst/>
                  <a:rect l="l" t="t" r="r" b="b"/>
                  <a:pathLst>
                    <a:path w="35719" h="95250">
                      <a:moveTo>
                        <a:pt x="0" y="0"/>
                      </a:moveTo>
                      <a:lnTo>
                        <a:pt x="0" y="59531"/>
                      </a:lnTo>
                      <a:lnTo>
                        <a:pt x="35719" y="95250"/>
                      </a:lnTo>
                    </a:path>
                  </a:pathLst>
                </a:custGeom>
                <a:noFill/>
                <a:ln w="23812">
                  <a:solidFill>
                    <a:srgbClr val="9CC3E6"/>
                  </a:solidFill>
                </a:ln>
              </p:spPr>
            </p:sp>
          </p:grpSp>
          <p:sp>
            <p:nvSpPr>
              <p:cNvPr id="36" name="TextBox 36"/>
              <p:cNvSpPr txBox="1"/>
              <p:nvPr/>
            </p:nvSpPr>
            <p:spPr>
              <a:xfrm>
                <a:off x="1042797" y="4752499"/>
                <a:ext cx="1865000"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SCHEDULE · BIG MODEL</a:t>
                </a:r>
              </a:p>
            </p:txBody>
          </p:sp>
          <p:sp>
            <p:nvSpPr>
              <p:cNvPr id="37" name="TextBox 37"/>
              <p:cNvSpPr txBox="1"/>
              <p:nvPr/>
            </p:nvSpPr>
            <p:spPr>
              <a:xfrm>
                <a:off x="1040892" y="4940618"/>
                <a:ext cx="3457632"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300 k steps · 1.0 s per step · 3.5 days</a:t>
                </a:r>
              </a:p>
            </p:txBody>
          </p:sp>
        </p:grpSp>
        <p:sp>
          <p:nvSpPr>
            <p:cNvPr id="39" name="Line 39"/>
            <p:cNvSpPr/>
            <p:nvPr/>
          </p:nvSpPr>
          <p:spPr>
            <a:xfrm>
              <a:off x="1047750" y="5334000"/>
              <a:ext cx="4667250" cy="9525"/>
            </a:xfrm>
            <a:custGeom>
              <a:avLst/>
              <a:gdLst/>
              <a:ahLst/>
              <a:cxnLst/>
              <a:rect l="l" t="t" r="r" b="b"/>
              <a:pathLst>
                <a:path w="4667250" h="9525">
                  <a:moveTo>
                    <a:pt x="0" y="0"/>
                  </a:moveTo>
                  <a:lnTo>
                    <a:pt x="4667250" y="0"/>
                  </a:lnTo>
                </a:path>
              </a:pathLst>
            </a:custGeom>
            <a:noFill/>
            <a:ln w="9525">
              <a:solidFill>
                <a:srgbClr val="3C5A80"/>
              </a:solidFill>
            </a:ln>
          </p:spPr>
        </p:sp>
        <p:sp>
          <p:nvSpPr>
            <p:cNvPr id="40" name="TextBox 40"/>
            <p:cNvSpPr txBox="1"/>
            <p:nvPr/>
          </p:nvSpPr>
          <p:spPr>
            <a:xfrm>
              <a:off x="1042988" y="5454491"/>
              <a:ext cx="3345195" cy="161925"/>
            </a:xfrm>
            <a:prstGeom prst="rect">
              <a:avLst/>
            </a:prstGeom>
            <a:noFill/>
            <a:ln>
              <a:noFill/>
            </a:ln>
          </p:spPr>
          <p:txBody>
            <a:bodyPr wrap="none" lIns="0" tIns="0" rIns="0" bIns="0" anchor="t" anchorCtr="0">
              <a:spAutoFit/>
            </a:bodyPr>
            <a:lstStyle/>
            <a:p>
              <a:pPr algn="l"/>
              <a:r>
                <a:rPr lang="en-US" sz="820" spc="75" dirty="0">
                  <a:solidFill>
                    <a:srgbClr val="9CB4CC"/>
                  </a:solidFill>
                  <a:latin typeface="Consolas"/>
                  <a:ea typeface="Consolas"/>
                  <a:cs typeface="Consolas"/>
                </a:rPr>
                <a:t>REV 1 · 2017-06-12 · ARXIV 1706.03762 · WMT 2014</a:t>
              </a:r>
            </a:p>
          </p:txBody>
        </p:sp>
      </p:grpSp>
      <p:sp>
        <p:nvSpPr>
          <p:cNvPr id="42" name="Line 42"/>
          <p:cNvSpPr/>
          <p:nvPr/>
        </p:nvSpPr>
        <p:spPr>
          <a:xfrm>
            <a:off x="6096000" y="1619250"/>
            <a:ext cx="9525" cy="3905250"/>
          </a:xfrm>
          <a:custGeom>
            <a:avLst/>
            <a:gdLst/>
            <a:ahLst/>
            <a:cxnLst/>
            <a:rect l="l" t="t" r="r" b="b"/>
            <a:pathLst>
              <a:path w="9525" h="3905250">
                <a:moveTo>
                  <a:pt x="0" y="0"/>
                </a:moveTo>
                <a:lnTo>
                  <a:pt x="0" y="3905250"/>
                </a:lnTo>
              </a:path>
            </a:pathLst>
          </a:custGeom>
          <a:noFill/>
          <a:ln w="9525">
            <a:solidFill>
              <a:srgbClr val="3C5A80"/>
            </a:solidFill>
            <a:prstDash val="dash"/>
          </a:ln>
        </p:spPr>
      </p:sp>
      <p:grpSp>
        <p:nvGrpSpPr>
          <p:cNvPr id="47" name="Group 47"/>
          <p:cNvGrpSpPr/>
          <p:nvPr/>
        </p:nvGrpSpPr>
        <p:grpSpPr>
          <a:xfrm>
            <a:off x="6374892" y="1704499"/>
            <a:ext cx="3329755" cy="800290"/>
            <a:chOff x="6374892" y="1704499"/>
            <a:chExt cx="3329755" cy="800290"/>
          </a:xfrm>
        </p:grpSpPr>
        <p:grpSp>
          <p:nvGrpSpPr>
            <p:cNvPr id="45" name="Group 45"/>
            <p:cNvGrpSpPr/>
            <p:nvPr/>
          </p:nvGrpSpPr>
          <p:grpSpPr>
            <a:xfrm>
              <a:off x="6374892" y="1704499"/>
              <a:ext cx="3329755" cy="452152"/>
              <a:chOff x="6374892" y="1704499"/>
              <a:chExt cx="3329755" cy="452152"/>
            </a:xfrm>
          </p:grpSpPr>
          <p:sp>
            <p:nvSpPr>
              <p:cNvPr id="43" name="TextBox 43"/>
              <p:cNvSpPr txBox="1"/>
              <p:nvPr/>
            </p:nvSpPr>
            <p:spPr>
              <a:xfrm>
                <a:off x="6376797" y="1704499"/>
                <a:ext cx="856661"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OPTIMIZER</a:t>
                </a:r>
              </a:p>
            </p:txBody>
          </p:sp>
          <p:sp>
            <p:nvSpPr>
              <p:cNvPr id="44" name="TextBox 44"/>
              <p:cNvSpPr txBox="1"/>
              <p:nvPr/>
            </p:nvSpPr>
            <p:spPr>
              <a:xfrm>
                <a:off x="6374892" y="1892618"/>
                <a:ext cx="3329755" cy="264033"/>
              </a:xfrm>
              <a:prstGeom prst="rect">
                <a:avLst/>
              </a:prstGeom>
              <a:noFill/>
              <a:ln>
                <a:noFill/>
              </a:ln>
            </p:spPr>
            <p:txBody>
              <a:bodyPr wrap="none" lIns="0" tIns="0" rIns="0" bIns="0" anchor="t" anchorCtr="0">
                <a:spAutoFit/>
              </a:bodyPr>
              <a:lstStyle/>
              <a:p>
                <a:pPr algn="l"/>
                <a:r>
                  <a:rPr lang="el-GR" sz="1350" dirty="0">
                    <a:solidFill>
                      <a:srgbClr val="E8F1FA"/>
                    </a:solidFill>
                    <a:latin typeface="Segoe UI"/>
                    <a:ea typeface="Segoe UI"/>
                    <a:cs typeface="Segoe UI"/>
                  </a:rPr>
                  <a:t>Adam · β₁ = 0.9 · β₂ = 0.98 · ε = 10⁻⁹</a:t>
                </a:r>
              </a:p>
            </p:txBody>
          </p:sp>
        </p:grpSp>
        <p:sp>
          <p:nvSpPr>
            <p:cNvPr id="46" name="TextBox 46"/>
            <p:cNvSpPr txBox="1"/>
            <p:nvPr/>
          </p:nvSpPr>
          <p:spPr>
            <a:xfrm>
              <a:off x="6376797" y="2314099"/>
              <a:ext cx="3243481"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LEARNING RATE · warmup_steps = 4 000</a:t>
              </a:r>
            </a:p>
          </p:txBody>
        </p:sp>
      </p:grpSp>
      <mc:AlternateContent xmlns:mc="http://schemas.openxmlformats.org/markup-compatibility/2006">
        <mc:Choice xmlns:a14="http://schemas.microsoft.com/office/drawing/2010/main" Requires="a14">
          <p:sp>
            <p:nvSpPr>
              <p:cNvPr id="48" name="lrate-formula"/>
              <p:cNvSpPr txBox="1">
                <a:spLocks noGrp="1"/>
              </p:cNvSpPr>
              <p:nvPr/>
            </p:nvSpPr>
            <p:spPr>
              <a:xfrm>
                <a:off x="6381750" y="2552700"/>
                <a:ext cx="4953000" cy="571500"/>
              </a:xfrm>
              <a:prstGeom prst="rect">
                <a:avLst/>
              </a:prstGeom>
              <a:noFill/>
              <a:ln>
                <a:noFill/>
              </a:ln>
            </p:spPr>
            <p:txBody>
              <a:bodyPr lIns="0" tIns="0" rIns="0" bIns="0" wrap="none" anchor="ctr">
                <a:normAutofit/>
              </a:bodyPr>
              <a:lstStyle/>
              <a:p>
                <a:pPr algn="l"/>
                <a14:m>
                  <m:oMathPara xmlns:a="http://schemas.openxmlformats.org/drawingml/2006/main" xmlns:m="http://schemas.openxmlformats.org/officeDocument/2006/math">
                    <m:oMathParaPr>
                      <m:jc m:val="left"/>
                    </m:oMathParaPr>
                    <m:oMath>
                      <m:r>
                        <a:rPr lang="en-US" sz="1120" dirty="0">
                          <a:solidFill>
                            <a:srgbClr val="E8F1FA"/>
                          </a:solidFill>
                          <a:latin typeface="Cambria Math"/>
                          <a:ea typeface="Cambria Math"/>
                          <a:cs typeface="Cambria Math"/>
                        </a:rPr>
                        <m:t>lrate</m:t>
                      </m:r>
                      <m:r>
                        <m:rPr>
                          <m:sty m:val="p"/>
                        </m:rPr>
                        <a:rPr lang="en-US" sz="1120" dirty="0">
                          <a:solidFill>
                            <a:srgbClr val="E8F1FA"/>
                          </a:solidFill>
                          <a:latin typeface="Cambria Math"/>
                          <a:ea typeface="Cambria Math"/>
                          <a:cs typeface="Cambria Math"/>
                        </a:rPr>
                        <m:t>=</m:t>
                      </m:r>
                      <m:sSubSup>
                        <m:e>
                          <m:r>
                            <a:rPr lang="en-US" sz="1120" dirty="0">
                              <a:solidFill>
                                <a:srgbClr val="E8F1FA"/>
                              </a:solidFill>
                              <a:latin typeface="Cambria Math"/>
                              <a:ea typeface="Cambria Math"/>
                              <a:cs typeface="Cambria Math"/>
                            </a:rPr>
                            <m:t>d</m:t>
                          </m:r>
                        </m:e>
                        <m:sub>
                          <m:r>
                            <m:rPr>
                              <m:sty m:val="p"/>
                            </m:rPr>
                            <a:rPr lang="en-US" sz="1120" dirty="0">
                              <a:solidFill>
                                <a:srgbClr val="E8F1FA"/>
                              </a:solidFill>
                              <a:latin typeface="Cambria Math"/>
                              <a:ea typeface="Cambria Math"/>
                              <a:cs typeface="Cambria Math"/>
                            </a:rPr>
                            <m:t>model</m:t>
                          </m:r>
                        </m:sub>
                        <m:sup>
                          <m:r>
                            <m:rPr>
                              <m:sty m:val="p"/>
                            </m:rPr>
                            <a:rPr lang="en-US" sz="1120" dirty="0">
                              <a:solidFill>
                                <a:srgbClr val="E8F1FA"/>
                              </a:solidFill>
                              <a:latin typeface="Cambria Math"/>
                              <a:ea typeface="Cambria Math"/>
                              <a:cs typeface="Cambria Math"/>
                            </a:rPr>
                            <m:t>−</m:t>
                          </m:r>
                          <m:r>
                            <a:rPr lang="en-US" sz="1120" dirty="0">
                              <a:solidFill>
                                <a:srgbClr val="E8F1FA"/>
                              </a:solidFill>
                              <a:latin typeface="Cambria Math"/>
                              <a:ea typeface="Cambria Math"/>
                              <a:cs typeface="Cambria Math"/>
                            </a:rPr>
                            <m:t>0.5</m:t>
                          </m:r>
                        </m:sup>
                      </m:sSubSup>
                      <m:r>
                        <m:rPr>
                          <m:sty m:val="p"/>
                        </m:rPr>
                        <a:rPr lang="en-US" sz="1120" dirty="0">
                          <a:solidFill>
                            <a:srgbClr val="E8F1FA"/>
                          </a:solidFill>
                          <a:latin typeface="Cambria Math"/>
                          <a:ea typeface="Cambria Math"/>
                          <a:cs typeface="Cambria Math"/>
                        </a:rPr>
                        <m:t>⋅</m:t>
                      </m:r>
                      <m:func>
                        <m:funcPr/>
                        <m:fName>
                          <m:r>
                            <m:rPr>
                              <m:sty m:val="p"/>
                            </m:rPr>
                            <a:rPr lang="en-US" sz="1120" dirty="0">
                              <a:solidFill>
                                <a:srgbClr val="E8F1FA"/>
                              </a:solidFill>
                              <a:latin typeface="Cambria Math"/>
                              <a:ea typeface="Cambria Math"/>
                              <a:cs typeface="Cambria Math"/>
                            </a:rPr>
                            <m:t>min</m:t>
                          </m:r>
                        </m:fName>
                        <m:e>
                          <m:d>
                            <m:dPr>
                              <m:begChr m:val="("/>
                              <m:sepChr m:val=""/>
                              <m:endChr m:val=")"/>
                              <m:grow m:val="on"/>
                              <m:ctrlPr>
                                <a:rPr lang="en-US" sz="1120" dirty="0">
                                  <a:solidFill>
                                    <a:srgbClr val="E8F1FA"/>
                                  </a:solidFill>
                                  <a:latin typeface="Cambria Math"/>
                                  <a:ea typeface="Cambria Math"/>
                                  <a:cs typeface="Cambria Math"/>
                                </a:rPr>
                              </m:ctrlPr>
                            </m:dPr>
                            <m:e>
                              <m:r>
                                <a:rPr lang="en-US" sz="1120" dirty="0">
                                  <a:solidFill>
                                    <a:srgbClr val="E8F1FA"/>
                                  </a:solidFill>
                                  <a:latin typeface="Cambria Math"/>
                                  <a:ea typeface="Cambria Math"/>
                                  <a:cs typeface="Cambria Math"/>
                                </a:rPr>
                                <m:t>ste</m:t>
                              </m:r>
                              <m:sSup>
                                <m:e>
                                  <m:r>
                                    <a:rPr lang="en-US" sz="1120" dirty="0">
                                      <a:solidFill>
                                        <a:srgbClr val="E8F1FA"/>
                                      </a:solidFill>
                                      <a:latin typeface="Cambria Math"/>
                                      <a:ea typeface="Cambria Math"/>
                                      <a:cs typeface="Cambria Math"/>
                                    </a:rPr>
                                    <m:t>p</m:t>
                                  </m:r>
                                </m:e>
                                <m:sup>
                                  <m:r>
                                    <m:rPr>
                                      <m:sty m:val="p"/>
                                    </m:rPr>
                                    <a:rPr lang="en-US" sz="1120" dirty="0">
                                      <a:solidFill>
                                        <a:srgbClr val="E8F1FA"/>
                                      </a:solidFill>
                                      <a:latin typeface="Cambria Math"/>
                                      <a:ea typeface="Cambria Math"/>
                                      <a:cs typeface="Cambria Math"/>
                                    </a:rPr>
                                    <m:t>−</m:t>
                                  </m:r>
                                  <m:r>
                                    <a:rPr lang="en-US" sz="1120" dirty="0">
                                      <a:solidFill>
                                        <a:srgbClr val="E8F1FA"/>
                                      </a:solidFill>
                                      <a:latin typeface="Cambria Math"/>
                                      <a:ea typeface="Cambria Math"/>
                                      <a:cs typeface="Cambria Math"/>
                                    </a:rPr>
                                    <m:t>0.5</m:t>
                                  </m:r>
                                </m:sup>
                              </m:sSup>
                              <m:r>
                                <m:rPr>
                                  <m:sty m:val="p"/>
                                </m:rPr>
                                <a:rPr lang="en-US" sz="1120" dirty="0">
                                  <a:solidFill>
                                    <a:srgbClr val="E8F1FA"/>
                                  </a:solidFill>
                                  <a:latin typeface="Cambria Math"/>
                                  <a:ea typeface="Cambria Math"/>
                                  <a:cs typeface="Cambria Math"/>
                                </a:rPr>
                                <m:t>,</m:t>
                              </m:r>
                              <m:r>
                                <a:rPr lang="en-US" sz="1120" dirty="0">
                                  <a:solidFill>
                                    <a:srgbClr val="E8F1FA"/>
                                  </a:solidFill>
                                  <a:latin typeface="Cambria Math"/>
                                  <a:ea typeface="Cambria Math"/>
                                  <a:cs typeface="Cambria Math"/>
                                </a:rPr>
                                <m:t xml:space="preserve"> </m:t>
                              </m:r>
                              <m:r>
                                <a:rPr lang="en-US" sz="1120" dirty="0">
                                  <a:solidFill>
                                    <a:srgbClr val="E8F1FA"/>
                                  </a:solidFill>
                                  <a:latin typeface="Cambria Math"/>
                                  <a:ea typeface="Cambria Math"/>
                                  <a:cs typeface="Cambria Math"/>
                                </a:rPr>
                                <m:t>step</m:t>
                              </m:r>
                              <m:r>
                                <m:rPr>
                                  <m:sty m:val="p"/>
                                </m:rPr>
                                <a:rPr lang="en-US" sz="1120" dirty="0">
                                  <a:solidFill>
                                    <a:srgbClr val="E8F1FA"/>
                                  </a:solidFill>
                                  <a:latin typeface="Cambria Math"/>
                                  <a:ea typeface="Cambria Math"/>
                                  <a:cs typeface="Cambria Math"/>
                                </a:rPr>
                                <m:t>⋅</m:t>
                              </m:r>
                              <m:r>
                                <a:rPr lang="en-US" sz="1120" dirty="0">
                                  <a:solidFill>
                                    <a:srgbClr val="E8F1FA"/>
                                  </a:solidFill>
                                  <a:latin typeface="Cambria Math"/>
                                  <a:ea typeface="Cambria Math"/>
                                  <a:cs typeface="Cambria Math"/>
                                </a:rPr>
                                <m:t>warmup_step</m:t>
                              </m:r>
                              <m:sSup>
                                <m:e>
                                  <m:r>
                                    <a:rPr lang="en-US" sz="1120" dirty="0">
                                      <a:solidFill>
                                        <a:srgbClr val="E8F1FA"/>
                                      </a:solidFill>
                                      <a:latin typeface="Cambria Math"/>
                                      <a:ea typeface="Cambria Math"/>
                                      <a:cs typeface="Cambria Math"/>
                                    </a:rPr>
                                    <m:t>s</m:t>
                                  </m:r>
                                </m:e>
                                <m:sup>
                                  <m:r>
                                    <m:rPr>
                                      <m:sty m:val="p"/>
                                    </m:rPr>
                                    <a:rPr lang="en-US" sz="1120" dirty="0">
                                      <a:solidFill>
                                        <a:srgbClr val="E8F1FA"/>
                                      </a:solidFill>
                                      <a:latin typeface="Cambria Math"/>
                                      <a:ea typeface="Cambria Math"/>
                                      <a:cs typeface="Cambria Math"/>
                                    </a:rPr>
                                    <m:t>−</m:t>
                                  </m:r>
                                  <m:r>
                                    <a:rPr lang="en-US" sz="1120" dirty="0">
                                      <a:solidFill>
                                        <a:srgbClr val="E8F1FA"/>
                                      </a:solidFill>
                                      <a:latin typeface="Cambria Math"/>
                                      <a:ea typeface="Cambria Math"/>
                                      <a:cs typeface="Cambria Math"/>
                                    </a:rPr>
                                    <m:t>1.5</m:t>
                                  </m:r>
                                </m:sup>
                              </m:sSup>
                            </m:e>
                          </m:d>
                        </m:e>
                      </m:func>
                    </m:oMath>
                  </m:oMathPara>
                </a14:m>
              </a:p>
            </p:txBody>
          </p:sp>
        </mc:Choice>
      </mc:AlternateContent>
      <p:grpSp>
        <p:nvGrpSpPr>
          <p:cNvPr id="60" name="Group 60"/>
          <p:cNvGrpSpPr/>
          <p:nvPr/>
        </p:nvGrpSpPr>
        <p:grpSpPr>
          <a:xfrm>
            <a:off x="6374892" y="3285649"/>
            <a:ext cx="4501713" cy="2330767"/>
            <a:chOff x="6374892" y="3285649"/>
            <a:chExt cx="4501713" cy="2330767"/>
          </a:xfrm>
        </p:grpSpPr>
        <p:grpSp>
          <p:nvGrpSpPr>
            <p:cNvPr id="51" name="Group 51"/>
            <p:cNvGrpSpPr/>
            <p:nvPr/>
          </p:nvGrpSpPr>
          <p:grpSpPr>
            <a:xfrm>
              <a:off x="6374892" y="3285649"/>
              <a:ext cx="4501713" cy="452152"/>
              <a:chOff x="6374892" y="3285649"/>
              <a:chExt cx="4501713" cy="452152"/>
            </a:xfrm>
          </p:grpSpPr>
          <p:sp>
            <p:nvSpPr>
              <p:cNvPr id="49" name="TextBox 49"/>
              <p:cNvSpPr txBox="1"/>
              <p:nvPr/>
            </p:nvSpPr>
            <p:spPr>
              <a:xfrm>
                <a:off x="6376797" y="3285649"/>
                <a:ext cx="632348"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WARMUP</a:t>
                </a:r>
              </a:p>
            </p:txBody>
          </p:sp>
          <p:sp>
            <p:nvSpPr>
              <p:cNvPr id="50" name="TextBox 50"/>
              <p:cNvSpPr txBox="1"/>
              <p:nvPr/>
            </p:nvSpPr>
            <p:spPr>
              <a:xfrm>
                <a:off x="6374892" y="3473768"/>
                <a:ext cx="4501713"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Linear ramp for 4 000 steps, then decay ∝ 1/√step</a:t>
                </a:r>
              </a:p>
            </p:txBody>
          </p:sp>
        </p:grpSp>
        <p:grpSp>
          <p:nvGrpSpPr>
            <p:cNvPr id="54" name="Group 54"/>
            <p:cNvGrpSpPr/>
            <p:nvPr/>
          </p:nvGrpSpPr>
          <p:grpSpPr>
            <a:xfrm>
              <a:off x="6374892" y="3895249"/>
              <a:ext cx="4068508" cy="699802"/>
              <a:chOff x="6374892" y="3895249"/>
              <a:chExt cx="4068508" cy="699802"/>
            </a:xfrm>
          </p:grpSpPr>
          <p:sp>
            <p:nvSpPr>
              <p:cNvPr id="52" name="TextBox 52"/>
              <p:cNvSpPr txBox="1"/>
              <p:nvPr/>
            </p:nvSpPr>
            <p:spPr>
              <a:xfrm>
                <a:off x="6376797" y="3895249"/>
                <a:ext cx="1318798"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REGULARIZATION</a:t>
                </a:r>
              </a:p>
            </p:txBody>
          </p:sp>
          <p:sp>
            <p:nvSpPr>
              <p:cNvPr id="53" name="TextBox 53"/>
              <p:cNvSpPr txBox="1"/>
              <p:nvPr/>
            </p:nvSpPr>
            <p:spPr>
              <a:xfrm>
                <a:off x="6374892" y="4083368"/>
                <a:ext cx="4068508" cy="511683"/>
              </a:xfrm>
              <a:prstGeom prst="rect">
                <a:avLst/>
              </a:prstGeom>
              <a:noFill/>
              <a:ln>
                <a:noFill/>
              </a:ln>
            </p:spPr>
            <p:txBody>
              <a:bodyPr wrap="none" lIns="0" tIns="0" rIns="0" bIns="0" anchor="t" anchorCtr="0">
                <a:spAutoFit/>
              </a:bodyPr>
              <a:lstStyle/>
              <a:p>
                <a:pPr algn="l">
                  <a:lnSpc>
                    <a:spcPts val="1950"/>
                  </a:lnSpc>
                </a:pPr>
                <a:r>
                  <a:rPr lang="en-US" sz="1350" dirty="0">
                    <a:solidFill>
                      <a:srgbClr val="E8F1FA"/>
                    </a:solidFill>
                    <a:latin typeface="Segoe UI"/>
                    <a:ea typeface="Segoe UI"/>
                    <a:cs typeface="Segoe UI"/>
                  </a:rPr>
                  <a:t>Residual dropout 0.1 (0.3 for the big EN–FR run)</a:t>
                </a:r>
                <a:br/>
                <a:r>
                  <a:rPr lang="el-GR" sz="1350" dirty="0">
                    <a:solidFill>
                      <a:srgbClr val="E8F1FA"/>
                    </a:solidFill>
                    <a:latin typeface="Segoe UI"/>
                    <a:ea typeface="Segoe UI"/>
                    <a:cs typeface="Segoe UI"/>
                  </a:rPr>
                  <a:t>Label smoothing ε = 0.1</a:t>
                </a:r>
              </a:p>
            </p:txBody>
          </p:sp>
        </p:grpSp>
        <p:grpSp>
          <p:nvGrpSpPr>
            <p:cNvPr id="57" name="Group 57"/>
            <p:cNvGrpSpPr/>
            <p:nvPr/>
          </p:nvGrpSpPr>
          <p:grpSpPr>
            <a:xfrm>
              <a:off x="6374892" y="4752499"/>
              <a:ext cx="4079777" cy="452152"/>
              <a:chOff x="6374892" y="4752499"/>
              <a:chExt cx="4079777" cy="452152"/>
            </a:xfrm>
          </p:grpSpPr>
          <p:sp>
            <p:nvSpPr>
              <p:cNvPr id="55" name="TextBox 55"/>
              <p:cNvSpPr txBox="1"/>
              <p:nvPr/>
            </p:nvSpPr>
            <p:spPr>
              <a:xfrm>
                <a:off x="6376797" y="4752499"/>
                <a:ext cx="954664"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MODEL SIZE</a:t>
                </a:r>
              </a:p>
            </p:txBody>
          </p:sp>
          <p:sp>
            <p:nvSpPr>
              <p:cNvPr id="56" name="TextBox 56"/>
              <p:cNvSpPr txBox="1"/>
              <p:nvPr/>
            </p:nvSpPr>
            <p:spPr>
              <a:xfrm>
                <a:off x="6374892" y="4940618"/>
                <a:ext cx="4079777"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Base 65 M parameters · Big 213 M parameters</a:t>
                </a:r>
              </a:p>
            </p:txBody>
          </p:sp>
        </p:grpSp>
        <p:sp>
          <p:nvSpPr>
            <p:cNvPr id="58" name="Line 58"/>
            <p:cNvSpPr/>
            <p:nvPr/>
          </p:nvSpPr>
          <p:spPr>
            <a:xfrm>
              <a:off x="6381750" y="5334000"/>
              <a:ext cx="4095750" cy="9525"/>
            </a:xfrm>
            <a:custGeom>
              <a:avLst/>
              <a:gdLst/>
              <a:ahLst/>
              <a:cxnLst/>
              <a:rect l="l" t="t" r="r" b="b"/>
              <a:pathLst>
                <a:path w="4095750" h="9525">
                  <a:moveTo>
                    <a:pt x="0" y="0"/>
                  </a:moveTo>
                  <a:lnTo>
                    <a:pt x="4095750" y="0"/>
                  </a:lnTo>
                </a:path>
              </a:pathLst>
            </a:custGeom>
            <a:noFill/>
            <a:ln w="9525">
              <a:solidFill>
                <a:srgbClr val="3C5A80"/>
              </a:solidFill>
            </a:ln>
          </p:spPr>
        </p:sp>
        <p:sp>
          <p:nvSpPr>
            <p:cNvPr id="59" name="TextBox 59"/>
            <p:cNvSpPr txBox="1"/>
            <p:nvPr/>
          </p:nvSpPr>
          <p:spPr>
            <a:xfrm>
              <a:off x="6376988" y="5454491"/>
              <a:ext cx="3655136" cy="161925"/>
            </a:xfrm>
            <a:prstGeom prst="rect">
              <a:avLst/>
            </a:prstGeom>
            <a:noFill/>
            <a:ln>
              <a:noFill/>
            </a:ln>
          </p:spPr>
          <p:txBody>
            <a:bodyPr wrap="none" lIns="0" tIns="0" rIns="0" bIns="0" anchor="t" anchorCtr="0">
              <a:spAutoFit/>
            </a:bodyPr>
            <a:lstStyle/>
            <a:p>
              <a:pPr algn="l"/>
              <a:r>
                <a:rPr lang="en-US" sz="820" spc="75" dirty="0">
                  <a:solidFill>
                    <a:srgbClr val="9CB4CC"/>
                  </a:solidFill>
                  <a:latin typeface="Consolas"/>
                  <a:ea typeface="Consolas"/>
                  <a:cs typeface="Consolas"/>
                </a:rPr>
                <a:t>ALL VALUES FROM §5 OF THE PAPER · 8 × P100 · 3.5 DAYS</a:t>
              </a:r>
            </a:p>
          </p:txBody>
        </p:sp>
      </p:grpSp>
      <p:grpSp>
        <p:nvGrpSpPr>
          <p:cNvPr id="65" name="Group 65"/>
          <p:cNvGrpSpPr/>
          <p:nvPr/>
        </p:nvGrpSpPr>
        <p:grpSpPr>
          <a:xfrm>
            <a:off x="9525000" y="6362700"/>
            <a:ext cx="2095500" cy="304800"/>
            <a:chOff x="9525000" y="6362700"/>
            <a:chExt cx="2095500" cy="304800"/>
          </a:xfrm>
        </p:grpSpPr>
        <p:sp>
          <p:nvSpPr>
            <p:cNvPr id="61" name="Rectangle 61"/>
            <p:cNvSpPr/>
            <p:nvPr/>
          </p:nvSpPr>
          <p:spPr>
            <a:xfrm>
              <a:off x="9525000" y="6362700"/>
              <a:ext cx="2095500" cy="304800"/>
            </a:xfrm>
            <a:prstGeom prst="rect">
              <a:avLst/>
            </a:prstGeom>
            <a:noFill/>
            <a:ln w="9525">
              <a:solidFill>
                <a:srgbClr val="3C5A80"/>
              </a:solidFill>
            </a:ln>
          </p:spPr>
        </p:sp>
        <p:sp>
          <p:nvSpPr>
            <p:cNvPr id="62" name="Line 62"/>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63" name="TextBox 63"/>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64" name="TextBox 64"/>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11 / 15</a:t>
              </a:r>
            </a:p>
          </p:txBody>
        </p:sp>
      </p:grpSp>
    </p:spTree>
  </p:cSld>
  <p:clrMapOvr>
    <a:masterClrMapping/>
  </p:clrMapOvr>
  <p:transition xmlns:p14="http://schemas.microsoft.com/office/powerpoint/2010/main" p14:dur="500">
    <p:push dir="l"/>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8092593" cy="801243"/>
            <a:chOff x="747522" y="439102"/>
            <a:chExt cx="8092593" cy="801243"/>
          </a:xfrm>
        </p:grpSpPr>
        <p:sp>
          <p:nvSpPr>
            <p:cNvPr id="3" name="TextBox 3"/>
            <p:cNvSpPr txBox="1"/>
            <p:nvPr/>
          </p:nvSpPr>
          <p:spPr>
            <a:xfrm>
              <a:off x="775716" y="439102"/>
              <a:ext cx="2286152"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04 · RESULTS (TABLE 2)</a:t>
              </a:r>
            </a:p>
          </p:txBody>
        </p:sp>
        <p:sp>
          <p:nvSpPr>
            <p:cNvPr id="4" name="TextBox 4"/>
            <p:cNvSpPr txBox="1"/>
            <p:nvPr/>
          </p:nvSpPr>
          <p:spPr>
            <a:xfrm>
              <a:off x="747522" y="682942"/>
              <a:ext cx="8092593"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State of the art on both WMT 2014 tasks</a:t>
              </a:r>
            </a:p>
          </p:txBody>
        </p:sp>
      </p:grpSp>
      <p:grpSp>
        <p:nvGrpSpPr>
          <p:cNvPr id="46" name="Group 46"/>
          <p:cNvGrpSpPr/>
          <p:nvPr/>
        </p:nvGrpSpPr>
        <p:grpSpPr>
          <a:xfrm>
            <a:off x="755904" y="1546860"/>
            <a:ext cx="5159040" cy="4082129"/>
            <a:chOff x="755904" y="1546860"/>
            <a:chExt cx="5159040" cy="4082129"/>
          </a:xfrm>
        </p:grpSpPr>
        <p:sp>
          <p:nvSpPr>
            <p:cNvPr id="6" name="TextBox 6"/>
            <p:cNvSpPr txBox="1"/>
            <p:nvPr/>
          </p:nvSpPr>
          <p:spPr>
            <a:xfrm>
              <a:off x="755904" y="1546860"/>
              <a:ext cx="3161030" cy="234696"/>
            </a:xfrm>
            <a:prstGeom prst="rect">
              <a:avLst/>
            </a:prstGeom>
            <a:noFill/>
            <a:ln>
              <a:noFill/>
            </a:ln>
          </p:spPr>
          <p:txBody>
            <a:bodyPr wrap="none" lIns="0" tIns="0" rIns="0" bIns="0" anchor="t" anchorCtr="0">
              <a:spAutoFit/>
            </a:bodyPr>
            <a:lstStyle/>
            <a:p>
              <a:pPr algn="l"/>
              <a:r>
                <a:rPr lang="en-US" sz="1200" dirty="0">
                  <a:solidFill>
                    <a:srgbClr val="C9DBEA"/>
                  </a:solidFill>
                  <a:latin typeface="Segoe UI"/>
                  <a:ea typeface="Segoe UI"/>
                  <a:cs typeface="Segoe UI"/>
                </a:rPr>
                <a:t>English→German · BLEU on newstest2014</a:t>
              </a:r>
            </a:p>
          </p:txBody>
        </p:sp>
        <p:grpSp>
          <p:nvGrpSpPr>
            <p:cNvPr id="45" name="Group 45"/>
            <p:cNvGrpSpPr/>
            <p:nvPr/>
          </p:nvGrpSpPr>
          <p:grpSpPr>
            <a:xfrm>
              <a:off x="1378405" y="1905000"/>
              <a:ext cx="4536539" cy="3723989"/>
              <a:chOff x="1378405" y="1905000"/>
              <a:chExt cx="4536539" cy="3723989"/>
            </a:xfrm>
          </p:grpSpPr>
          <p:grpSp>
            <p:nvGrpSpPr>
              <p:cNvPr id="10" name="Group 10"/>
              <p:cNvGrpSpPr/>
              <p:nvPr/>
            </p:nvGrpSpPr>
            <p:grpSpPr>
              <a:xfrm>
                <a:off x="3810000" y="1905000"/>
                <a:ext cx="1914525" cy="3429000"/>
                <a:chOff x="3810000" y="1905000"/>
                <a:chExt cx="1914525" cy="3429000"/>
              </a:xfrm>
            </p:grpSpPr>
            <p:sp>
              <p:nvSpPr>
                <p:cNvPr id="7" name="Line 7"/>
                <p:cNvSpPr/>
                <p:nvPr/>
              </p:nvSpPr>
              <p:spPr>
                <a:xfrm>
                  <a:off x="3810000" y="1905000"/>
                  <a:ext cx="9525" cy="3429000"/>
                </a:xfrm>
                <a:custGeom>
                  <a:avLst/>
                  <a:gdLst/>
                  <a:ahLst/>
                  <a:cxnLst/>
                  <a:rect l="l" t="t" r="r" b="b"/>
                  <a:pathLst>
                    <a:path w="9525" h="3429000">
                      <a:moveTo>
                        <a:pt x="0" y="0"/>
                      </a:moveTo>
                      <a:lnTo>
                        <a:pt x="0" y="3429000"/>
                      </a:lnTo>
                    </a:path>
                  </a:pathLst>
                </a:custGeom>
                <a:noFill/>
                <a:ln w="9525">
                  <a:solidFill>
                    <a:srgbClr val="3C5A80"/>
                  </a:solidFill>
                  <a:prstDash val="dash"/>
                </a:ln>
              </p:spPr>
            </p:sp>
            <p:sp>
              <p:nvSpPr>
                <p:cNvPr id="8" name="Line 8"/>
                <p:cNvSpPr/>
                <p:nvPr/>
              </p:nvSpPr>
              <p:spPr>
                <a:xfrm>
                  <a:off x="4762500" y="1905000"/>
                  <a:ext cx="9525" cy="3429000"/>
                </a:xfrm>
                <a:custGeom>
                  <a:avLst/>
                  <a:gdLst/>
                  <a:ahLst/>
                  <a:cxnLst/>
                  <a:rect l="l" t="t" r="r" b="b"/>
                  <a:pathLst>
                    <a:path w="9525" h="3429000">
                      <a:moveTo>
                        <a:pt x="0" y="0"/>
                      </a:moveTo>
                      <a:lnTo>
                        <a:pt x="0" y="3429000"/>
                      </a:lnTo>
                    </a:path>
                  </a:pathLst>
                </a:custGeom>
                <a:noFill/>
                <a:ln w="9525">
                  <a:solidFill>
                    <a:srgbClr val="3C5A80"/>
                  </a:solidFill>
                  <a:prstDash val="dash"/>
                </a:ln>
              </p:spPr>
            </p:sp>
            <p:sp>
              <p:nvSpPr>
                <p:cNvPr id="9" name="Line 9"/>
                <p:cNvSpPr/>
                <p:nvPr/>
              </p:nvSpPr>
              <p:spPr>
                <a:xfrm>
                  <a:off x="5715000" y="1905000"/>
                  <a:ext cx="9525" cy="3429000"/>
                </a:xfrm>
                <a:custGeom>
                  <a:avLst/>
                  <a:gdLst/>
                  <a:ahLst/>
                  <a:cxnLst/>
                  <a:rect l="l" t="t" r="r" b="b"/>
                  <a:pathLst>
                    <a:path w="9525" h="3429000">
                      <a:moveTo>
                        <a:pt x="0" y="0"/>
                      </a:moveTo>
                      <a:lnTo>
                        <a:pt x="0" y="3429000"/>
                      </a:lnTo>
                    </a:path>
                  </a:pathLst>
                </a:custGeom>
                <a:noFill/>
                <a:ln w="9525">
                  <a:solidFill>
                    <a:srgbClr val="3C5A80"/>
                  </a:solidFill>
                  <a:prstDash val="dash"/>
                </a:ln>
              </p:spPr>
            </p:sp>
          </p:grpSp>
          <p:sp>
            <p:nvSpPr>
              <p:cNvPr id="11" name="Line 11"/>
              <p:cNvSpPr/>
              <p:nvPr/>
            </p:nvSpPr>
            <p:spPr>
              <a:xfrm>
                <a:off x="2857500" y="1905000"/>
                <a:ext cx="9525" cy="3429000"/>
              </a:xfrm>
              <a:custGeom>
                <a:avLst/>
                <a:gdLst/>
                <a:ahLst/>
                <a:cxnLst/>
                <a:rect l="l" t="t" r="r" b="b"/>
                <a:pathLst>
                  <a:path w="9525" h="3429000">
                    <a:moveTo>
                      <a:pt x="0" y="0"/>
                    </a:moveTo>
                    <a:lnTo>
                      <a:pt x="0" y="3429000"/>
                    </a:lnTo>
                  </a:path>
                </a:pathLst>
              </a:custGeom>
              <a:noFill/>
              <a:ln w="9525">
                <a:solidFill>
                  <a:srgbClr val="3C5A80"/>
                </a:solidFill>
              </a:ln>
            </p:spPr>
          </p:sp>
          <p:sp>
            <p:nvSpPr>
              <p:cNvPr id="12" name="Line 12"/>
              <p:cNvSpPr/>
              <p:nvPr/>
            </p:nvSpPr>
            <p:spPr>
              <a:xfrm>
                <a:off x="2857500" y="5334000"/>
                <a:ext cx="2857500" cy="9525"/>
              </a:xfrm>
              <a:custGeom>
                <a:avLst/>
                <a:gdLst/>
                <a:ahLst/>
                <a:cxnLst/>
                <a:rect l="l" t="t" r="r" b="b"/>
                <a:pathLst>
                  <a:path w="2857500" h="9525">
                    <a:moveTo>
                      <a:pt x="0" y="0"/>
                    </a:moveTo>
                    <a:lnTo>
                      <a:pt x="2857500" y="0"/>
                    </a:lnTo>
                  </a:path>
                </a:pathLst>
              </a:custGeom>
              <a:noFill/>
              <a:ln w="9525">
                <a:solidFill>
                  <a:srgbClr val="3C5A80"/>
                </a:solidFill>
              </a:ln>
            </p:spPr>
          </p:sp>
          <p:grpSp>
            <p:nvGrpSpPr>
              <p:cNvPr id="17" name="Group 17"/>
              <p:cNvGrpSpPr/>
              <p:nvPr/>
            </p:nvGrpSpPr>
            <p:grpSpPr>
              <a:xfrm>
                <a:off x="2816267" y="5438299"/>
                <a:ext cx="2976246" cy="190690"/>
                <a:chOff x="2816267" y="5438299"/>
                <a:chExt cx="2976246" cy="190690"/>
              </a:xfrm>
            </p:grpSpPr>
            <p:sp>
              <p:nvSpPr>
                <p:cNvPr id="13" name="TextBox 13"/>
                <p:cNvSpPr txBox="1"/>
                <p:nvPr/>
              </p:nvSpPr>
              <p:spPr>
                <a:xfrm>
                  <a:off x="2816267" y="5438299"/>
                  <a:ext cx="8246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0</a:t>
                  </a:r>
                </a:p>
              </p:txBody>
            </p:sp>
            <p:sp>
              <p:nvSpPr>
                <p:cNvPr id="14" name="TextBox 14"/>
                <p:cNvSpPr txBox="1"/>
                <p:nvPr/>
              </p:nvSpPr>
              <p:spPr>
                <a:xfrm>
                  <a:off x="3732487" y="5438299"/>
                  <a:ext cx="15502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10</a:t>
                  </a:r>
                </a:p>
              </p:txBody>
            </p:sp>
            <p:sp>
              <p:nvSpPr>
                <p:cNvPr id="15" name="TextBox 15"/>
                <p:cNvSpPr txBox="1"/>
                <p:nvPr/>
              </p:nvSpPr>
              <p:spPr>
                <a:xfrm>
                  <a:off x="4684987" y="5438299"/>
                  <a:ext cx="15502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20</a:t>
                  </a:r>
                </a:p>
              </p:txBody>
            </p:sp>
            <p:sp>
              <p:nvSpPr>
                <p:cNvPr id="16" name="TextBox 16"/>
                <p:cNvSpPr txBox="1"/>
                <p:nvPr/>
              </p:nvSpPr>
              <p:spPr>
                <a:xfrm>
                  <a:off x="5637487" y="5438299"/>
                  <a:ext cx="15502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30</a:t>
                  </a:r>
                </a:p>
              </p:txBody>
            </p:sp>
          </p:grpSp>
          <p:grpSp>
            <p:nvGrpSpPr>
              <p:cNvPr id="26" name="Group 26"/>
              <p:cNvGrpSpPr/>
              <p:nvPr/>
            </p:nvGrpSpPr>
            <p:grpSpPr>
              <a:xfrm>
                <a:off x="1378405" y="2048828"/>
                <a:ext cx="1408229" cy="3205733"/>
                <a:chOff x="1378405" y="2048828"/>
                <a:chExt cx="1408229" cy="3205733"/>
              </a:xfrm>
            </p:grpSpPr>
            <p:sp>
              <p:nvSpPr>
                <p:cNvPr id="18" name="TextBox 18"/>
                <p:cNvSpPr txBox="1"/>
                <p:nvPr/>
              </p:nvSpPr>
              <p:spPr>
                <a:xfrm>
                  <a:off x="2222964" y="2048828"/>
                  <a:ext cx="563670"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ByteNet</a:t>
                  </a:r>
                </a:p>
              </p:txBody>
            </p:sp>
            <p:sp>
              <p:nvSpPr>
                <p:cNvPr id="19" name="TextBox 19"/>
                <p:cNvSpPr txBox="1"/>
                <p:nvPr/>
              </p:nvSpPr>
              <p:spPr>
                <a:xfrm>
                  <a:off x="2081479" y="2477452"/>
                  <a:ext cx="705155"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GNMT + RL</a:t>
                  </a:r>
                </a:p>
              </p:txBody>
            </p:sp>
            <p:sp>
              <p:nvSpPr>
                <p:cNvPr id="20" name="TextBox 20"/>
                <p:cNvSpPr txBox="1"/>
                <p:nvPr/>
              </p:nvSpPr>
              <p:spPr>
                <a:xfrm>
                  <a:off x="2216363" y="2906078"/>
                  <a:ext cx="570271"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ConvS2S</a:t>
                  </a:r>
                </a:p>
              </p:txBody>
            </p:sp>
            <p:sp>
              <p:nvSpPr>
                <p:cNvPr id="21" name="TextBox 21"/>
                <p:cNvSpPr txBox="1"/>
                <p:nvPr/>
              </p:nvSpPr>
              <p:spPr>
                <a:xfrm>
                  <a:off x="2504599" y="3334702"/>
                  <a:ext cx="282035"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MoE</a:t>
                  </a:r>
                </a:p>
              </p:txBody>
            </p:sp>
            <p:sp>
              <p:nvSpPr>
                <p:cNvPr id="22" name="TextBox 22"/>
                <p:cNvSpPr txBox="1"/>
                <p:nvPr/>
              </p:nvSpPr>
              <p:spPr>
                <a:xfrm>
                  <a:off x="1424197" y="3763328"/>
                  <a:ext cx="1362437"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GNMT + RL Ensemble</a:t>
                  </a:r>
                </a:p>
              </p:txBody>
            </p:sp>
            <p:sp>
              <p:nvSpPr>
                <p:cNvPr id="23" name="TextBox 23"/>
                <p:cNvSpPr txBox="1"/>
                <p:nvPr/>
              </p:nvSpPr>
              <p:spPr>
                <a:xfrm>
                  <a:off x="1555052" y="4191952"/>
                  <a:ext cx="1231582"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ConvS2S Ensemble</a:t>
                  </a:r>
                </a:p>
              </p:txBody>
            </p:sp>
            <p:sp>
              <p:nvSpPr>
                <p:cNvPr id="24" name="TextBox 24"/>
                <p:cNvSpPr txBox="1"/>
                <p:nvPr/>
              </p:nvSpPr>
              <p:spPr>
                <a:xfrm>
                  <a:off x="1378405" y="4620578"/>
                  <a:ext cx="1408229" cy="205359"/>
                </a:xfrm>
                <a:prstGeom prst="rect">
                  <a:avLst/>
                </a:prstGeom>
                <a:noFill/>
                <a:ln>
                  <a:noFill/>
                </a:ln>
              </p:spPr>
              <p:txBody>
                <a:bodyPr wrap="none" lIns="0" tIns="0" rIns="0" bIns="0" anchor="t" anchorCtr="0">
                  <a:spAutoFit/>
                </a:bodyPr>
                <a:lstStyle/>
                <a:p>
                  <a:pPr algn="r"/>
                  <a:r>
                    <a:rPr lang="en-US" sz="1050" dirty="0">
                      <a:solidFill>
                        <a:srgbClr val="F5A623"/>
                      </a:solidFill>
                      <a:latin typeface="Segoe UI"/>
                      <a:ea typeface="Segoe UI"/>
                      <a:cs typeface="Segoe UI"/>
                    </a:rPr>
                    <a:t>Transformer (base)</a:t>
                  </a:r>
                </a:p>
              </p:txBody>
            </p:sp>
            <p:sp>
              <p:nvSpPr>
                <p:cNvPr id="25" name="TextBox 25"/>
                <p:cNvSpPr txBox="1"/>
                <p:nvPr/>
              </p:nvSpPr>
              <p:spPr>
                <a:xfrm>
                  <a:off x="1491567" y="5049202"/>
                  <a:ext cx="1295067" cy="205359"/>
                </a:xfrm>
                <a:prstGeom prst="rect">
                  <a:avLst/>
                </a:prstGeom>
                <a:noFill/>
                <a:ln>
                  <a:noFill/>
                </a:ln>
              </p:spPr>
              <p:txBody>
                <a:bodyPr wrap="none" lIns="0" tIns="0" rIns="0" bIns="0" anchor="t" anchorCtr="0">
                  <a:spAutoFit/>
                </a:bodyPr>
                <a:lstStyle/>
                <a:p>
                  <a:pPr algn="r"/>
                  <a:r>
                    <a:rPr lang="en-US" sz="1050" dirty="0">
                      <a:solidFill>
                        <a:srgbClr val="F5A623"/>
                      </a:solidFill>
                      <a:latin typeface="Segoe UI"/>
                      <a:ea typeface="Segoe UI"/>
                      <a:cs typeface="Segoe UI"/>
                    </a:rPr>
                    <a:t>Transformer (big)</a:t>
                  </a:r>
                </a:p>
              </p:txBody>
            </p:sp>
          </p:grpSp>
          <p:grpSp>
            <p:nvGrpSpPr>
              <p:cNvPr id="35" name="Group 35"/>
              <p:cNvGrpSpPr/>
              <p:nvPr/>
            </p:nvGrpSpPr>
            <p:grpSpPr>
              <a:xfrm>
                <a:off x="2857500" y="1995488"/>
                <a:ext cx="2705100" cy="3248024"/>
                <a:chOff x="2857500" y="1995488"/>
                <a:chExt cx="2705100" cy="3248024"/>
              </a:xfrm>
            </p:grpSpPr>
            <p:sp>
              <p:nvSpPr>
                <p:cNvPr id="27" name="Rectangle 27"/>
                <p:cNvSpPr/>
                <p:nvPr/>
              </p:nvSpPr>
              <p:spPr>
                <a:xfrm>
                  <a:off x="2857500" y="1995488"/>
                  <a:ext cx="2262188" cy="247650"/>
                </a:xfrm>
                <a:prstGeom prst="rect">
                  <a:avLst/>
                </a:prstGeom>
                <a:solidFill>
                  <a:srgbClr val="9CC3E6"/>
                </a:solidFill>
                <a:ln>
                  <a:noFill/>
                </a:ln>
              </p:spPr>
            </p:sp>
            <p:sp>
              <p:nvSpPr>
                <p:cNvPr id="28" name="Rectangle 28"/>
                <p:cNvSpPr/>
                <p:nvPr/>
              </p:nvSpPr>
              <p:spPr>
                <a:xfrm>
                  <a:off x="2857500" y="2424112"/>
                  <a:ext cx="2343150" cy="247650"/>
                </a:xfrm>
                <a:prstGeom prst="rect">
                  <a:avLst/>
                </a:prstGeom>
                <a:solidFill>
                  <a:srgbClr val="9CC3E6"/>
                </a:solidFill>
                <a:ln>
                  <a:noFill/>
                </a:ln>
              </p:spPr>
            </p:sp>
            <p:sp>
              <p:nvSpPr>
                <p:cNvPr id="29" name="Rectangle 29"/>
                <p:cNvSpPr/>
                <p:nvPr/>
              </p:nvSpPr>
              <p:spPr>
                <a:xfrm>
                  <a:off x="2857500" y="2852738"/>
                  <a:ext cx="2396490" cy="247650"/>
                </a:xfrm>
                <a:prstGeom prst="rect">
                  <a:avLst/>
                </a:prstGeom>
                <a:solidFill>
                  <a:srgbClr val="9CC3E6"/>
                </a:solidFill>
                <a:ln>
                  <a:noFill/>
                </a:ln>
              </p:spPr>
            </p:sp>
            <p:sp>
              <p:nvSpPr>
                <p:cNvPr id="30" name="Rectangle 30"/>
                <p:cNvSpPr/>
                <p:nvPr/>
              </p:nvSpPr>
              <p:spPr>
                <a:xfrm>
                  <a:off x="2857500" y="3281362"/>
                  <a:ext cx="2479358" cy="247650"/>
                </a:xfrm>
                <a:prstGeom prst="rect">
                  <a:avLst/>
                </a:prstGeom>
                <a:solidFill>
                  <a:srgbClr val="9CC3E6"/>
                </a:solidFill>
                <a:ln>
                  <a:noFill/>
                </a:ln>
              </p:spPr>
            </p:sp>
            <p:sp>
              <p:nvSpPr>
                <p:cNvPr id="31" name="Rectangle 31"/>
                <p:cNvSpPr/>
                <p:nvPr/>
              </p:nvSpPr>
              <p:spPr>
                <a:xfrm>
                  <a:off x="2857500" y="3709988"/>
                  <a:ext cx="2505075" cy="247650"/>
                </a:xfrm>
                <a:prstGeom prst="rect">
                  <a:avLst/>
                </a:prstGeom>
                <a:solidFill>
                  <a:srgbClr val="9CC3E6"/>
                </a:solidFill>
                <a:ln>
                  <a:noFill/>
                </a:ln>
              </p:spPr>
            </p:sp>
            <p:sp>
              <p:nvSpPr>
                <p:cNvPr id="32" name="Rectangle 32"/>
                <p:cNvSpPr/>
                <p:nvPr/>
              </p:nvSpPr>
              <p:spPr>
                <a:xfrm>
                  <a:off x="2857500" y="4138612"/>
                  <a:ext cx="2510790" cy="247650"/>
                </a:xfrm>
                <a:prstGeom prst="rect">
                  <a:avLst/>
                </a:prstGeom>
                <a:solidFill>
                  <a:srgbClr val="9CC3E6"/>
                </a:solidFill>
                <a:ln>
                  <a:noFill/>
                </a:ln>
              </p:spPr>
            </p:sp>
            <p:sp>
              <p:nvSpPr>
                <p:cNvPr id="33" name="Rectangle 33"/>
                <p:cNvSpPr/>
                <p:nvPr/>
              </p:nvSpPr>
              <p:spPr>
                <a:xfrm>
                  <a:off x="2857500" y="4567238"/>
                  <a:ext cx="2600325" cy="247650"/>
                </a:xfrm>
                <a:prstGeom prst="rect">
                  <a:avLst/>
                </a:prstGeom>
                <a:solidFill>
                  <a:srgbClr val="F5A623"/>
                </a:solidFill>
                <a:ln>
                  <a:noFill/>
                </a:ln>
              </p:spPr>
            </p:sp>
            <p:sp>
              <p:nvSpPr>
                <p:cNvPr id="34" name="Rectangle 34"/>
                <p:cNvSpPr/>
                <p:nvPr/>
              </p:nvSpPr>
              <p:spPr>
                <a:xfrm>
                  <a:off x="2857500" y="4995862"/>
                  <a:ext cx="2705100" cy="247650"/>
                </a:xfrm>
                <a:prstGeom prst="rect">
                  <a:avLst/>
                </a:prstGeom>
                <a:solidFill>
                  <a:srgbClr val="F5A623"/>
                </a:solidFill>
                <a:ln>
                  <a:noFill/>
                </a:ln>
              </p:spPr>
            </p:sp>
          </p:grpSp>
          <p:grpSp>
            <p:nvGrpSpPr>
              <p:cNvPr id="44" name="Group 44"/>
              <p:cNvGrpSpPr/>
              <p:nvPr/>
            </p:nvGrpSpPr>
            <p:grpSpPr>
              <a:xfrm>
                <a:off x="5167122" y="2056924"/>
                <a:ext cx="747822" cy="3191065"/>
                <a:chOff x="5167122" y="2056924"/>
                <a:chExt cx="747822" cy="3191065"/>
              </a:xfrm>
            </p:grpSpPr>
            <p:sp>
              <p:nvSpPr>
                <p:cNvPr id="36" name="TextBox 36"/>
                <p:cNvSpPr txBox="1"/>
                <p:nvPr/>
              </p:nvSpPr>
              <p:spPr>
                <a:xfrm>
                  <a:off x="5167122" y="205692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23.75</a:t>
                  </a:r>
                </a:p>
              </p:txBody>
            </p:sp>
            <p:sp>
              <p:nvSpPr>
                <p:cNvPr id="37" name="TextBox 37"/>
                <p:cNvSpPr txBox="1"/>
                <p:nvPr/>
              </p:nvSpPr>
              <p:spPr>
                <a:xfrm>
                  <a:off x="5252847" y="2485549"/>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24.6</a:t>
                  </a:r>
                </a:p>
              </p:txBody>
            </p:sp>
            <p:sp>
              <p:nvSpPr>
                <p:cNvPr id="38" name="TextBox 38"/>
                <p:cNvSpPr txBox="1"/>
                <p:nvPr/>
              </p:nvSpPr>
              <p:spPr>
                <a:xfrm>
                  <a:off x="5300472" y="291417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25.16</a:t>
                  </a:r>
                </a:p>
              </p:txBody>
            </p:sp>
            <p:sp>
              <p:nvSpPr>
                <p:cNvPr id="39" name="TextBox 39"/>
                <p:cNvSpPr txBox="1"/>
                <p:nvPr/>
              </p:nvSpPr>
              <p:spPr>
                <a:xfrm>
                  <a:off x="5386197" y="3342799"/>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26.03</a:t>
                  </a:r>
                </a:p>
              </p:txBody>
            </p:sp>
            <p:sp>
              <p:nvSpPr>
                <p:cNvPr id="40" name="TextBox 40"/>
                <p:cNvSpPr txBox="1"/>
                <p:nvPr/>
              </p:nvSpPr>
              <p:spPr>
                <a:xfrm>
                  <a:off x="5414772" y="3771424"/>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26.3</a:t>
                  </a:r>
                </a:p>
              </p:txBody>
            </p:sp>
            <p:sp>
              <p:nvSpPr>
                <p:cNvPr id="41" name="TextBox 41"/>
                <p:cNvSpPr txBox="1"/>
                <p:nvPr/>
              </p:nvSpPr>
              <p:spPr>
                <a:xfrm>
                  <a:off x="5414772" y="4200049"/>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26.36</a:t>
                  </a:r>
                </a:p>
              </p:txBody>
            </p:sp>
            <p:sp>
              <p:nvSpPr>
                <p:cNvPr id="42" name="TextBox 42"/>
                <p:cNvSpPr txBox="1"/>
                <p:nvPr/>
              </p:nvSpPr>
              <p:spPr>
                <a:xfrm>
                  <a:off x="5510022" y="4628674"/>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27.3</a:t>
                  </a:r>
                </a:p>
              </p:txBody>
            </p:sp>
            <p:sp>
              <p:nvSpPr>
                <p:cNvPr id="43" name="TextBox 43"/>
                <p:cNvSpPr txBox="1"/>
                <p:nvPr/>
              </p:nvSpPr>
              <p:spPr>
                <a:xfrm>
                  <a:off x="5614797" y="5057299"/>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28.4</a:t>
                  </a:r>
                </a:p>
              </p:txBody>
            </p:sp>
          </p:grpSp>
        </p:grpSp>
      </p:grpSp>
      <p:grpSp>
        <p:nvGrpSpPr>
          <p:cNvPr id="90" name="Group 90"/>
          <p:cNvGrpSpPr/>
          <p:nvPr/>
        </p:nvGrpSpPr>
        <p:grpSpPr>
          <a:xfrm>
            <a:off x="6280404" y="1546860"/>
            <a:ext cx="5145875" cy="4082129"/>
            <a:chOff x="6280404" y="1546860"/>
            <a:chExt cx="5145875" cy="4082129"/>
          </a:xfrm>
        </p:grpSpPr>
        <p:sp>
          <p:nvSpPr>
            <p:cNvPr id="47" name="TextBox 47"/>
            <p:cNvSpPr txBox="1"/>
            <p:nvPr/>
          </p:nvSpPr>
          <p:spPr>
            <a:xfrm>
              <a:off x="6280404" y="1546860"/>
              <a:ext cx="3128315" cy="234696"/>
            </a:xfrm>
            <a:prstGeom prst="rect">
              <a:avLst/>
            </a:prstGeom>
            <a:noFill/>
            <a:ln>
              <a:noFill/>
            </a:ln>
          </p:spPr>
          <p:txBody>
            <a:bodyPr wrap="none" lIns="0" tIns="0" rIns="0" bIns="0" anchor="t" anchorCtr="0">
              <a:spAutoFit/>
            </a:bodyPr>
            <a:lstStyle/>
            <a:p>
              <a:pPr algn="l"/>
              <a:r>
                <a:rPr lang="en-US" sz="1200" dirty="0">
                  <a:solidFill>
                    <a:srgbClr val="C9DBEA"/>
                  </a:solidFill>
                  <a:latin typeface="Segoe UI"/>
                  <a:ea typeface="Segoe UI"/>
                  <a:cs typeface="Segoe UI"/>
                </a:rPr>
                <a:t>English→French · BLEU on newstest2014</a:t>
              </a:r>
            </a:p>
          </p:txBody>
        </p:sp>
        <p:grpSp>
          <p:nvGrpSpPr>
            <p:cNvPr id="89" name="Group 89"/>
            <p:cNvGrpSpPr/>
            <p:nvPr/>
          </p:nvGrpSpPr>
          <p:grpSpPr>
            <a:xfrm>
              <a:off x="6667754" y="1905000"/>
              <a:ext cx="4758525" cy="3723989"/>
              <a:chOff x="6667754" y="1905000"/>
              <a:chExt cx="4758525" cy="3723989"/>
            </a:xfrm>
          </p:grpSpPr>
          <p:grpSp>
            <p:nvGrpSpPr>
              <p:cNvPr id="51" name="Group 51"/>
              <p:cNvGrpSpPr/>
              <p:nvPr/>
            </p:nvGrpSpPr>
            <p:grpSpPr>
              <a:xfrm>
                <a:off x="9334500" y="1905000"/>
                <a:ext cx="1914525" cy="3429000"/>
                <a:chOff x="9334500" y="1905000"/>
                <a:chExt cx="1914525" cy="3429000"/>
              </a:xfrm>
            </p:grpSpPr>
            <p:sp>
              <p:nvSpPr>
                <p:cNvPr id="48" name="Line 48"/>
                <p:cNvSpPr/>
                <p:nvPr/>
              </p:nvSpPr>
              <p:spPr>
                <a:xfrm>
                  <a:off x="9334500" y="1905000"/>
                  <a:ext cx="9525" cy="3429000"/>
                </a:xfrm>
                <a:custGeom>
                  <a:avLst/>
                  <a:gdLst/>
                  <a:ahLst/>
                  <a:cxnLst/>
                  <a:rect l="l" t="t" r="r" b="b"/>
                  <a:pathLst>
                    <a:path w="9525" h="3429000">
                      <a:moveTo>
                        <a:pt x="0" y="0"/>
                      </a:moveTo>
                      <a:lnTo>
                        <a:pt x="0" y="3429000"/>
                      </a:lnTo>
                    </a:path>
                  </a:pathLst>
                </a:custGeom>
                <a:noFill/>
                <a:ln w="9525">
                  <a:solidFill>
                    <a:srgbClr val="3C5A80"/>
                  </a:solidFill>
                  <a:prstDash val="dash"/>
                </a:ln>
              </p:spPr>
            </p:sp>
            <p:sp>
              <p:nvSpPr>
                <p:cNvPr id="49" name="Line 49"/>
                <p:cNvSpPr/>
                <p:nvPr/>
              </p:nvSpPr>
              <p:spPr>
                <a:xfrm>
                  <a:off x="10287000" y="1905000"/>
                  <a:ext cx="9525" cy="3429000"/>
                </a:xfrm>
                <a:custGeom>
                  <a:avLst/>
                  <a:gdLst/>
                  <a:ahLst/>
                  <a:cxnLst/>
                  <a:rect l="l" t="t" r="r" b="b"/>
                  <a:pathLst>
                    <a:path w="9525" h="3429000">
                      <a:moveTo>
                        <a:pt x="0" y="0"/>
                      </a:moveTo>
                      <a:lnTo>
                        <a:pt x="0" y="3429000"/>
                      </a:lnTo>
                    </a:path>
                  </a:pathLst>
                </a:custGeom>
                <a:noFill/>
                <a:ln w="9525">
                  <a:solidFill>
                    <a:srgbClr val="3C5A80"/>
                  </a:solidFill>
                  <a:prstDash val="dash"/>
                </a:ln>
              </p:spPr>
            </p:sp>
            <p:sp>
              <p:nvSpPr>
                <p:cNvPr id="50" name="Line 50"/>
                <p:cNvSpPr/>
                <p:nvPr/>
              </p:nvSpPr>
              <p:spPr>
                <a:xfrm>
                  <a:off x="11239500" y="1905000"/>
                  <a:ext cx="9525" cy="3429000"/>
                </a:xfrm>
                <a:custGeom>
                  <a:avLst/>
                  <a:gdLst/>
                  <a:ahLst/>
                  <a:cxnLst/>
                  <a:rect l="l" t="t" r="r" b="b"/>
                  <a:pathLst>
                    <a:path w="9525" h="3429000">
                      <a:moveTo>
                        <a:pt x="0" y="0"/>
                      </a:moveTo>
                      <a:lnTo>
                        <a:pt x="0" y="3429000"/>
                      </a:lnTo>
                    </a:path>
                  </a:pathLst>
                </a:custGeom>
                <a:noFill/>
                <a:ln w="9525">
                  <a:solidFill>
                    <a:srgbClr val="3C5A80"/>
                  </a:solidFill>
                  <a:prstDash val="dash"/>
                </a:ln>
              </p:spPr>
            </p:sp>
          </p:grpSp>
          <p:sp>
            <p:nvSpPr>
              <p:cNvPr id="52" name="Line 52"/>
              <p:cNvSpPr/>
              <p:nvPr/>
            </p:nvSpPr>
            <p:spPr>
              <a:xfrm>
                <a:off x="8382000" y="1905000"/>
                <a:ext cx="9525" cy="3429000"/>
              </a:xfrm>
              <a:custGeom>
                <a:avLst/>
                <a:gdLst/>
                <a:ahLst/>
                <a:cxnLst/>
                <a:rect l="l" t="t" r="r" b="b"/>
                <a:pathLst>
                  <a:path w="9525" h="3429000">
                    <a:moveTo>
                      <a:pt x="0" y="0"/>
                    </a:moveTo>
                    <a:lnTo>
                      <a:pt x="0" y="3429000"/>
                    </a:lnTo>
                  </a:path>
                </a:pathLst>
              </a:custGeom>
              <a:noFill/>
              <a:ln w="9525">
                <a:solidFill>
                  <a:srgbClr val="3C5A80"/>
                </a:solidFill>
              </a:ln>
            </p:spPr>
          </p:sp>
          <p:sp>
            <p:nvSpPr>
              <p:cNvPr id="53" name="Line 53"/>
              <p:cNvSpPr/>
              <p:nvPr/>
            </p:nvSpPr>
            <p:spPr>
              <a:xfrm>
                <a:off x="8382000" y="5334000"/>
                <a:ext cx="2857500" cy="9525"/>
              </a:xfrm>
              <a:custGeom>
                <a:avLst/>
                <a:gdLst/>
                <a:ahLst/>
                <a:cxnLst/>
                <a:rect l="l" t="t" r="r" b="b"/>
                <a:pathLst>
                  <a:path w="2857500" h="9525">
                    <a:moveTo>
                      <a:pt x="0" y="0"/>
                    </a:moveTo>
                    <a:lnTo>
                      <a:pt x="2857500" y="0"/>
                    </a:lnTo>
                  </a:path>
                </a:pathLst>
              </a:custGeom>
              <a:noFill/>
              <a:ln w="9525">
                <a:solidFill>
                  <a:srgbClr val="3C5A80"/>
                </a:solidFill>
              </a:ln>
            </p:spPr>
          </p:sp>
          <p:grpSp>
            <p:nvGrpSpPr>
              <p:cNvPr id="58" name="Group 58"/>
              <p:cNvGrpSpPr/>
              <p:nvPr/>
            </p:nvGrpSpPr>
            <p:grpSpPr>
              <a:xfrm>
                <a:off x="8340767" y="5438299"/>
                <a:ext cx="2976246" cy="190690"/>
                <a:chOff x="8340767" y="5438299"/>
                <a:chExt cx="2976246" cy="190690"/>
              </a:xfrm>
            </p:grpSpPr>
            <p:sp>
              <p:nvSpPr>
                <p:cNvPr id="54" name="TextBox 54"/>
                <p:cNvSpPr txBox="1"/>
                <p:nvPr/>
              </p:nvSpPr>
              <p:spPr>
                <a:xfrm>
                  <a:off x="8340767" y="5438299"/>
                  <a:ext cx="8246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0</a:t>
                  </a:r>
                </a:p>
              </p:txBody>
            </p:sp>
            <p:sp>
              <p:nvSpPr>
                <p:cNvPr id="55" name="TextBox 55"/>
                <p:cNvSpPr txBox="1"/>
                <p:nvPr/>
              </p:nvSpPr>
              <p:spPr>
                <a:xfrm>
                  <a:off x="9256987" y="5438299"/>
                  <a:ext cx="15502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15</a:t>
                  </a:r>
                </a:p>
              </p:txBody>
            </p:sp>
            <p:sp>
              <p:nvSpPr>
                <p:cNvPr id="56" name="TextBox 56"/>
                <p:cNvSpPr txBox="1"/>
                <p:nvPr/>
              </p:nvSpPr>
              <p:spPr>
                <a:xfrm>
                  <a:off x="10209487" y="5438299"/>
                  <a:ext cx="15502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30</a:t>
                  </a:r>
                </a:p>
              </p:txBody>
            </p:sp>
            <p:sp>
              <p:nvSpPr>
                <p:cNvPr id="57" name="TextBox 57"/>
                <p:cNvSpPr txBox="1"/>
                <p:nvPr/>
              </p:nvSpPr>
              <p:spPr>
                <a:xfrm>
                  <a:off x="11161987" y="5438299"/>
                  <a:ext cx="155026" cy="190690"/>
                </a:xfrm>
                <a:prstGeom prst="rect">
                  <a:avLst/>
                </a:prstGeom>
                <a:noFill/>
                <a:ln>
                  <a:noFill/>
                </a:ln>
              </p:spPr>
              <p:txBody>
                <a:bodyPr wrap="none" lIns="0" tIns="0" rIns="0" bIns="0" anchor="t" anchorCtr="0">
                  <a:spAutoFit/>
                </a:bodyPr>
                <a:lstStyle/>
                <a:p>
                  <a:pPr algn="ctr"/>
                  <a:r>
                    <a:rPr lang="en-US" sz="980" dirty="0">
                      <a:solidFill>
                        <a:srgbClr val="C9DBEA"/>
                      </a:solidFill>
                      <a:latin typeface="Segoe UI"/>
                      <a:ea typeface="Segoe UI"/>
                      <a:cs typeface="Segoe UI"/>
                    </a:rPr>
                    <a:t>45</a:t>
                  </a:r>
                </a:p>
              </p:txBody>
            </p:sp>
          </p:grpSp>
          <p:grpSp>
            <p:nvGrpSpPr>
              <p:cNvPr id="68" name="Group 68"/>
              <p:cNvGrpSpPr/>
              <p:nvPr/>
            </p:nvGrpSpPr>
            <p:grpSpPr>
              <a:xfrm>
                <a:off x="6667754" y="2029778"/>
                <a:ext cx="1643380" cy="3253359"/>
                <a:chOff x="6667754" y="2029778"/>
                <a:chExt cx="1643380" cy="3253359"/>
              </a:xfrm>
            </p:grpSpPr>
            <p:sp>
              <p:nvSpPr>
                <p:cNvPr id="59" name="TextBox 59"/>
                <p:cNvSpPr txBox="1"/>
                <p:nvPr/>
              </p:nvSpPr>
              <p:spPr>
                <a:xfrm>
                  <a:off x="7027722" y="2029778"/>
                  <a:ext cx="1283412"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Deep-Att + PosUnk</a:t>
                  </a:r>
                </a:p>
              </p:txBody>
            </p:sp>
            <p:sp>
              <p:nvSpPr>
                <p:cNvPr id="60" name="TextBox 60"/>
                <p:cNvSpPr txBox="1"/>
                <p:nvPr/>
              </p:nvSpPr>
              <p:spPr>
                <a:xfrm>
                  <a:off x="7605979" y="2410778"/>
                  <a:ext cx="705155"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GNMT + RL</a:t>
                  </a:r>
                </a:p>
              </p:txBody>
            </p:sp>
            <p:sp>
              <p:nvSpPr>
                <p:cNvPr id="61" name="TextBox 61"/>
                <p:cNvSpPr txBox="1"/>
                <p:nvPr/>
              </p:nvSpPr>
              <p:spPr>
                <a:xfrm>
                  <a:off x="7740863" y="2791778"/>
                  <a:ext cx="570271"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ConvS2S</a:t>
                  </a:r>
                </a:p>
              </p:txBody>
            </p:sp>
            <p:sp>
              <p:nvSpPr>
                <p:cNvPr id="62" name="TextBox 62"/>
                <p:cNvSpPr txBox="1"/>
                <p:nvPr/>
              </p:nvSpPr>
              <p:spPr>
                <a:xfrm>
                  <a:off x="8029099" y="3172778"/>
                  <a:ext cx="282035"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MoE</a:t>
                  </a:r>
                </a:p>
              </p:txBody>
            </p:sp>
            <p:sp>
              <p:nvSpPr>
                <p:cNvPr id="63" name="TextBox 63"/>
                <p:cNvSpPr txBox="1"/>
                <p:nvPr/>
              </p:nvSpPr>
              <p:spPr>
                <a:xfrm>
                  <a:off x="6667754" y="3553778"/>
                  <a:ext cx="1643380"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Deep-Att + PosUnk Ens.</a:t>
                  </a:r>
                </a:p>
              </p:txBody>
            </p:sp>
            <p:sp>
              <p:nvSpPr>
                <p:cNvPr id="64" name="TextBox 64"/>
                <p:cNvSpPr txBox="1"/>
                <p:nvPr/>
              </p:nvSpPr>
              <p:spPr>
                <a:xfrm>
                  <a:off x="6948697" y="3934778"/>
                  <a:ext cx="1362437"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GNMT + RL Ensemble</a:t>
                  </a:r>
                </a:p>
              </p:txBody>
            </p:sp>
            <p:sp>
              <p:nvSpPr>
                <p:cNvPr id="65" name="TextBox 65"/>
                <p:cNvSpPr txBox="1"/>
                <p:nvPr/>
              </p:nvSpPr>
              <p:spPr>
                <a:xfrm>
                  <a:off x="7079552" y="4315778"/>
                  <a:ext cx="1231582" cy="205359"/>
                </a:xfrm>
                <a:prstGeom prst="rect">
                  <a:avLst/>
                </a:prstGeom>
                <a:noFill/>
                <a:ln>
                  <a:noFill/>
                </a:ln>
              </p:spPr>
              <p:txBody>
                <a:bodyPr wrap="none" lIns="0" tIns="0" rIns="0" bIns="0" anchor="t" anchorCtr="0">
                  <a:spAutoFit/>
                </a:bodyPr>
                <a:lstStyle/>
                <a:p>
                  <a:pPr algn="r"/>
                  <a:r>
                    <a:rPr lang="en-US" sz="1050" dirty="0">
                      <a:solidFill>
                        <a:srgbClr val="C9DBEA"/>
                      </a:solidFill>
                      <a:latin typeface="Segoe UI"/>
                      <a:ea typeface="Segoe UI"/>
                      <a:cs typeface="Segoe UI"/>
                    </a:rPr>
                    <a:t>ConvS2S Ensemble</a:t>
                  </a:r>
                </a:p>
              </p:txBody>
            </p:sp>
            <p:sp>
              <p:nvSpPr>
                <p:cNvPr id="66" name="TextBox 66"/>
                <p:cNvSpPr txBox="1"/>
                <p:nvPr/>
              </p:nvSpPr>
              <p:spPr>
                <a:xfrm>
                  <a:off x="6902905" y="4696778"/>
                  <a:ext cx="1408229" cy="205359"/>
                </a:xfrm>
                <a:prstGeom prst="rect">
                  <a:avLst/>
                </a:prstGeom>
                <a:noFill/>
                <a:ln>
                  <a:noFill/>
                </a:ln>
              </p:spPr>
              <p:txBody>
                <a:bodyPr wrap="none" lIns="0" tIns="0" rIns="0" bIns="0" anchor="t" anchorCtr="0">
                  <a:spAutoFit/>
                </a:bodyPr>
                <a:lstStyle/>
                <a:p>
                  <a:pPr algn="r"/>
                  <a:r>
                    <a:rPr lang="en-US" sz="1050" dirty="0">
                      <a:solidFill>
                        <a:srgbClr val="F5A623"/>
                      </a:solidFill>
                      <a:latin typeface="Segoe UI"/>
                      <a:ea typeface="Segoe UI"/>
                      <a:cs typeface="Segoe UI"/>
                    </a:rPr>
                    <a:t>Transformer (base)</a:t>
                  </a:r>
                </a:p>
              </p:txBody>
            </p:sp>
            <p:sp>
              <p:nvSpPr>
                <p:cNvPr id="67" name="TextBox 67"/>
                <p:cNvSpPr txBox="1"/>
                <p:nvPr/>
              </p:nvSpPr>
              <p:spPr>
                <a:xfrm>
                  <a:off x="7016067" y="5077778"/>
                  <a:ext cx="1295067" cy="205359"/>
                </a:xfrm>
                <a:prstGeom prst="rect">
                  <a:avLst/>
                </a:prstGeom>
                <a:noFill/>
                <a:ln>
                  <a:noFill/>
                </a:ln>
              </p:spPr>
              <p:txBody>
                <a:bodyPr wrap="none" lIns="0" tIns="0" rIns="0" bIns="0" anchor="t" anchorCtr="0">
                  <a:spAutoFit/>
                </a:bodyPr>
                <a:lstStyle/>
                <a:p>
                  <a:pPr algn="r"/>
                  <a:r>
                    <a:rPr lang="en-US" sz="1050" dirty="0">
                      <a:solidFill>
                        <a:srgbClr val="F5A623"/>
                      </a:solidFill>
                      <a:latin typeface="Segoe UI"/>
                      <a:ea typeface="Segoe UI"/>
                      <a:cs typeface="Segoe UI"/>
                    </a:rPr>
                    <a:t>Transformer (big)</a:t>
                  </a:r>
                </a:p>
              </p:txBody>
            </p:sp>
          </p:grpSp>
          <p:grpSp>
            <p:nvGrpSpPr>
              <p:cNvPr id="78" name="Group 78"/>
              <p:cNvGrpSpPr/>
              <p:nvPr/>
            </p:nvGrpSpPr>
            <p:grpSpPr>
              <a:xfrm>
                <a:off x="8382000" y="1981200"/>
                <a:ext cx="2654618" cy="3276600"/>
                <a:chOff x="8382000" y="1981200"/>
                <a:chExt cx="2654618" cy="3276600"/>
              </a:xfrm>
            </p:grpSpPr>
            <p:sp>
              <p:nvSpPr>
                <p:cNvPr id="69" name="Rectangle 69"/>
                <p:cNvSpPr/>
                <p:nvPr/>
              </p:nvSpPr>
              <p:spPr>
                <a:xfrm>
                  <a:off x="8382000" y="1981200"/>
                  <a:ext cx="2488882" cy="228600"/>
                </a:xfrm>
                <a:prstGeom prst="rect">
                  <a:avLst/>
                </a:prstGeom>
                <a:solidFill>
                  <a:srgbClr val="9CC3E6"/>
                </a:solidFill>
                <a:ln>
                  <a:noFill/>
                </a:ln>
              </p:spPr>
            </p:sp>
            <p:sp>
              <p:nvSpPr>
                <p:cNvPr id="70" name="Rectangle 70"/>
                <p:cNvSpPr/>
                <p:nvPr/>
              </p:nvSpPr>
              <p:spPr>
                <a:xfrm>
                  <a:off x="8382000" y="2362200"/>
                  <a:ext cx="2534602" cy="228600"/>
                </a:xfrm>
                <a:prstGeom prst="rect">
                  <a:avLst/>
                </a:prstGeom>
                <a:solidFill>
                  <a:srgbClr val="9CC3E6"/>
                </a:solidFill>
                <a:ln>
                  <a:noFill/>
                </a:ln>
              </p:spPr>
            </p:sp>
            <p:sp>
              <p:nvSpPr>
                <p:cNvPr id="71" name="Rectangle 71"/>
                <p:cNvSpPr/>
                <p:nvPr/>
              </p:nvSpPr>
              <p:spPr>
                <a:xfrm>
                  <a:off x="8382000" y="2743200"/>
                  <a:ext cx="2568892" cy="228600"/>
                </a:xfrm>
                <a:prstGeom prst="rect">
                  <a:avLst/>
                </a:prstGeom>
                <a:solidFill>
                  <a:srgbClr val="9CC3E6"/>
                </a:solidFill>
                <a:ln>
                  <a:noFill/>
                </a:ln>
              </p:spPr>
            </p:sp>
            <p:sp>
              <p:nvSpPr>
                <p:cNvPr id="72" name="Rectangle 72"/>
                <p:cNvSpPr/>
                <p:nvPr/>
              </p:nvSpPr>
              <p:spPr>
                <a:xfrm>
                  <a:off x="8382000" y="3124200"/>
                  <a:ext cx="2575560" cy="228600"/>
                </a:xfrm>
                <a:prstGeom prst="rect">
                  <a:avLst/>
                </a:prstGeom>
                <a:solidFill>
                  <a:srgbClr val="9CC3E6"/>
                </a:solidFill>
                <a:ln>
                  <a:noFill/>
                </a:ln>
              </p:spPr>
            </p:sp>
            <p:sp>
              <p:nvSpPr>
                <p:cNvPr id="73" name="Rectangle 73"/>
                <p:cNvSpPr/>
                <p:nvPr/>
              </p:nvSpPr>
              <p:spPr>
                <a:xfrm>
                  <a:off x="8382000" y="3505200"/>
                  <a:ext cx="2565082" cy="228600"/>
                </a:xfrm>
                <a:prstGeom prst="rect">
                  <a:avLst/>
                </a:prstGeom>
                <a:solidFill>
                  <a:srgbClr val="9CC3E6"/>
                </a:solidFill>
                <a:ln>
                  <a:noFill/>
                </a:ln>
              </p:spPr>
            </p:sp>
            <p:sp>
              <p:nvSpPr>
                <p:cNvPr id="74" name="Rectangle 74"/>
                <p:cNvSpPr/>
                <p:nvPr/>
              </p:nvSpPr>
              <p:spPr>
                <a:xfrm>
                  <a:off x="8382000" y="3886200"/>
                  <a:ext cx="2613660" cy="228600"/>
                </a:xfrm>
                <a:prstGeom prst="rect">
                  <a:avLst/>
                </a:prstGeom>
                <a:solidFill>
                  <a:srgbClr val="9CC3E6"/>
                </a:solidFill>
                <a:ln>
                  <a:noFill/>
                </a:ln>
              </p:spPr>
            </p:sp>
            <p:sp>
              <p:nvSpPr>
                <p:cNvPr id="75" name="Rectangle 75"/>
                <p:cNvSpPr/>
                <p:nvPr/>
              </p:nvSpPr>
              <p:spPr>
                <a:xfrm>
                  <a:off x="8382000" y="4267200"/>
                  <a:ext cx="2622232" cy="228600"/>
                </a:xfrm>
                <a:prstGeom prst="rect">
                  <a:avLst/>
                </a:prstGeom>
                <a:solidFill>
                  <a:srgbClr val="9CC3E6"/>
                </a:solidFill>
                <a:ln>
                  <a:noFill/>
                </a:ln>
              </p:spPr>
            </p:sp>
            <p:sp>
              <p:nvSpPr>
                <p:cNvPr id="76" name="Rectangle 76"/>
                <p:cNvSpPr/>
                <p:nvPr/>
              </p:nvSpPr>
              <p:spPr>
                <a:xfrm>
                  <a:off x="8382000" y="4648200"/>
                  <a:ext cx="2419350" cy="228600"/>
                </a:xfrm>
                <a:prstGeom prst="rect">
                  <a:avLst/>
                </a:prstGeom>
                <a:solidFill>
                  <a:srgbClr val="F5A623"/>
                </a:solidFill>
                <a:ln>
                  <a:noFill/>
                </a:ln>
              </p:spPr>
            </p:sp>
            <p:sp>
              <p:nvSpPr>
                <p:cNvPr id="77" name="Rectangle 77"/>
                <p:cNvSpPr/>
                <p:nvPr/>
              </p:nvSpPr>
              <p:spPr>
                <a:xfrm>
                  <a:off x="8382000" y="5029200"/>
                  <a:ext cx="2654618" cy="228600"/>
                </a:xfrm>
                <a:prstGeom prst="rect">
                  <a:avLst/>
                </a:prstGeom>
                <a:solidFill>
                  <a:srgbClr val="F5A623"/>
                </a:solidFill>
                <a:ln>
                  <a:noFill/>
                </a:ln>
              </p:spPr>
            </p:sp>
          </p:grpSp>
          <p:grpSp>
            <p:nvGrpSpPr>
              <p:cNvPr id="88" name="Group 88"/>
              <p:cNvGrpSpPr/>
              <p:nvPr/>
            </p:nvGrpSpPr>
            <p:grpSpPr>
              <a:xfrm>
                <a:off x="10853547" y="2037874"/>
                <a:ext cx="572732" cy="3238690"/>
                <a:chOff x="10853547" y="2037874"/>
                <a:chExt cx="572732" cy="3238690"/>
              </a:xfrm>
            </p:grpSpPr>
            <p:sp>
              <p:nvSpPr>
                <p:cNvPr id="79" name="TextBox 79"/>
                <p:cNvSpPr txBox="1"/>
                <p:nvPr/>
              </p:nvSpPr>
              <p:spPr>
                <a:xfrm>
                  <a:off x="10920222" y="2037874"/>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39.2</a:t>
                  </a:r>
                </a:p>
              </p:txBody>
            </p:sp>
            <p:sp>
              <p:nvSpPr>
                <p:cNvPr id="80" name="TextBox 80"/>
                <p:cNvSpPr txBox="1"/>
                <p:nvPr/>
              </p:nvSpPr>
              <p:spPr>
                <a:xfrm>
                  <a:off x="10967847" y="241887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39.92</a:t>
                  </a:r>
                </a:p>
              </p:txBody>
            </p:sp>
            <p:sp>
              <p:nvSpPr>
                <p:cNvPr id="81" name="TextBox 81"/>
                <p:cNvSpPr txBox="1"/>
                <p:nvPr/>
              </p:nvSpPr>
              <p:spPr>
                <a:xfrm>
                  <a:off x="11005947" y="279987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40.46</a:t>
                  </a:r>
                </a:p>
              </p:txBody>
            </p:sp>
            <p:sp>
              <p:nvSpPr>
                <p:cNvPr id="82" name="TextBox 82"/>
                <p:cNvSpPr txBox="1"/>
                <p:nvPr/>
              </p:nvSpPr>
              <p:spPr>
                <a:xfrm>
                  <a:off x="11005947" y="318087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40.56</a:t>
                  </a:r>
                </a:p>
              </p:txBody>
            </p:sp>
            <p:sp>
              <p:nvSpPr>
                <p:cNvPr id="83" name="TextBox 83"/>
                <p:cNvSpPr txBox="1"/>
                <p:nvPr/>
              </p:nvSpPr>
              <p:spPr>
                <a:xfrm>
                  <a:off x="10996422" y="3561874"/>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40.4</a:t>
                  </a:r>
                </a:p>
              </p:txBody>
            </p:sp>
            <p:sp>
              <p:nvSpPr>
                <p:cNvPr id="84" name="TextBox 84"/>
                <p:cNvSpPr txBox="1"/>
                <p:nvPr/>
              </p:nvSpPr>
              <p:spPr>
                <a:xfrm>
                  <a:off x="11044047" y="394287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41.16</a:t>
                  </a:r>
                </a:p>
              </p:txBody>
            </p:sp>
            <p:sp>
              <p:nvSpPr>
                <p:cNvPr id="85" name="TextBox 85"/>
                <p:cNvSpPr txBox="1"/>
                <p:nvPr/>
              </p:nvSpPr>
              <p:spPr>
                <a:xfrm>
                  <a:off x="11053572" y="4323874"/>
                  <a:ext cx="37270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41.29</a:t>
                  </a:r>
                </a:p>
              </p:txBody>
            </p:sp>
            <p:sp>
              <p:nvSpPr>
                <p:cNvPr id="86" name="TextBox 86"/>
                <p:cNvSpPr txBox="1"/>
                <p:nvPr/>
              </p:nvSpPr>
              <p:spPr>
                <a:xfrm>
                  <a:off x="10853547" y="4704874"/>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38.1</a:t>
                  </a:r>
                </a:p>
              </p:txBody>
            </p:sp>
            <p:sp>
              <p:nvSpPr>
                <p:cNvPr id="87" name="TextBox 87"/>
                <p:cNvSpPr txBox="1"/>
                <p:nvPr/>
              </p:nvSpPr>
              <p:spPr>
                <a:xfrm>
                  <a:off x="11082147" y="5085874"/>
                  <a:ext cx="300147" cy="190690"/>
                </a:xfrm>
                <a:prstGeom prst="rect">
                  <a:avLst/>
                </a:prstGeom>
                <a:noFill/>
                <a:ln>
                  <a:noFill/>
                </a:ln>
              </p:spPr>
              <p:txBody>
                <a:bodyPr wrap="none" lIns="0" tIns="0" rIns="0" bIns="0" anchor="t" anchorCtr="0">
                  <a:spAutoFit/>
                </a:bodyPr>
                <a:lstStyle/>
                <a:p>
                  <a:pPr algn="l"/>
                  <a:r>
                    <a:rPr lang="en-US" sz="980" dirty="0">
                      <a:solidFill>
                        <a:srgbClr val="E8F1FA"/>
                      </a:solidFill>
                      <a:latin typeface="Segoe UI"/>
                      <a:ea typeface="Segoe UI"/>
                      <a:cs typeface="Segoe UI"/>
                    </a:rPr>
                    <a:t>41.8</a:t>
                  </a:r>
                </a:p>
              </p:txBody>
            </p:sp>
          </p:grpSp>
        </p:grpSp>
      </p:grpSp>
      <p:grpSp>
        <p:nvGrpSpPr>
          <p:cNvPr id="94" name="Group 94"/>
          <p:cNvGrpSpPr/>
          <p:nvPr/>
        </p:nvGrpSpPr>
        <p:grpSpPr>
          <a:xfrm>
            <a:off x="762000" y="5729764"/>
            <a:ext cx="8265541" cy="616743"/>
            <a:chOff x="762000" y="5729764"/>
            <a:chExt cx="8265541" cy="616743"/>
          </a:xfrm>
        </p:grpSpPr>
        <p:sp>
          <p:nvSpPr>
            <p:cNvPr id="91" name="Line 91"/>
            <p:cNvSpPr/>
            <p:nvPr/>
          </p:nvSpPr>
          <p:spPr>
            <a:xfrm>
              <a:off x="762000" y="5734050"/>
              <a:ext cx="9525" cy="457200"/>
            </a:xfrm>
            <a:custGeom>
              <a:avLst/>
              <a:gdLst/>
              <a:ahLst/>
              <a:cxnLst/>
              <a:rect l="l" t="t" r="r" b="b"/>
              <a:pathLst>
                <a:path w="9525" h="457200">
                  <a:moveTo>
                    <a:pt x="0" y="0"/>
                  </a:moveTo>
                  <a:lnTo>
                    <a:pt x="0" y="457200"/>
                  </a:lnTo>
                </a:path>
              </a:pathLst>
            </a:custGeom>
            <a:noFill/>
            <a:ln w="28575">
              <a:solidFill>
                <a:srgbClr val="F5A623"/>
              </a:solidFill>
            </a:ln>
          </p:spPr>
        </p:sp>
        <p:sp>
          <p:nvSpPr>
            <p:cNvPr id="92" name="TextBox 92"/>
            <p:cNvSpPr txBox="1"/>
            <p:nvPr/>
          </p:nvSpPr>
          <p:spPr>
            <a:xfrm>
              <a:off x="984123" y="5729764"/>
              <a:ext cx="8043418" cy="477964"/>
            </a:xfrm>
            <a:prstGeom prst="rect">
              <a:avLst/>
            </a:prstGeom>
            <a:noFill/>
            <a:ln>
              <a:noFill/>
            </a:ln>
          </p:spPr>
          <p:txBody>
            <a:bodyPr wrap="none" lIns="0" tIns="0" rIns="0" bIns="0" anchor="t" anchorCtr="0">
              <a:spAutoFit/>
            </a:bodyPr>
            <a:lstStyle/>
            <a:p>
              <a:pPr algn="l">
                <a:lnSpc>
                  <a:spcPts val="1800"/>
                </a:lnSpc>
              </a:pPr>
              <a:r>
                <a:rPr lang="en-US" sz="1280" dirty="0">
                  <a:solidFill>
                    <a:srgbClr val="E8F1FA"/>
                  </a:solidFill>
                  <a:latin typeface="Segoe UI"/>
                  <a:ea typeface="Segoe UI"/>
                  <a:cs typeface="Segoe UI"/>
                </a:rPr>
                <a:t>Training cost: Transformer base used 3.3·10¹⁸ FLOPs against 1.8·10²⁰ for the GNMT + RL ensemble —</a:t>
              </a:r>
              <a:br/>
              <a:r>
                <a:rPr lang="en-US" sz="1280" dirty="0">
                  <a:solidFill>
                    <a:srgbClr val="E8F1FA"/>
                  </a:solidFill>
                  <a:latin typeface="Segoe UI"/>
                  <a:ea typeface="Segoe UI"/>
                  <a:cs typeface="Segoe UI"/>
                </a:rPr>
                <a:t xml:space="preserve">about </a:t>
              </a:r>
              <a:r>
                <a:rPr lang="en-US" sz="1280" b="1" dirty="0">
                  <a:solidFill>
                    <a:srgbClr val="F5A623"/>
                  </a:solidFill>
                  <a:latin typeface="Segoe UI"/>
                  <a:ea typeface="Segoe UI"/>
                  <a:cs typeface="Segoe UI"/>
                </a:rPr>
                <a:t>55× less compute</a:t>
              </a:r>
              <a:r>
                <a:rPr lang="en-US" sz="1280" dirty="0">
                  <a:solidFill>
                    <a:srgbClr val="E8F1FA"/>
                  </a:solidFill>
                  <a:latin typeface="Segoe UI"/>
                  <a:ea typeface="Segoe UI"/>
                  <a:cs typeface="Segoe UI"/>
                </a:rPr>
                <a:t xml:space="preserve"> for a better EN→DE score.</a:t>
              </a:r>
            </a:p>
          </p:txBody>
        </p:sp>
        <p:sp>
          <p:nvSpPr>
            <p:cNvPr id="93" name="TextBox 93"/>
            <p:cNvSpPr txBox="1"/>
            <p:nvPr/>
          </p:nvSpPr>
          <p:spPr>
            <a:xfrm>
              <a:off x="985838" y="6170295"/>
              <a:ext cx="6904701"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Source: Vaswani et al. 2017, Table 2 (newstest2014). Single models and ensembles listed together, as in the paper.</a:t>
              </a:r>
            </a:p>
          </p:txBody>
        </p:sp>
      </p:grpSp>
      <p:grpSp>
        <p:nvGrpSpPr>
          <p:cNvPr id="99" name="Group 99"/>
          <p:cNvGrpSpPr/>
          <p:nvPr/>
        </p:nvGrpSpPr>
        <p:grpSpPr>
          <a:xfrm>
            <a:off x="9525000" y="6362700"/>
            <a:ext cx="2095500" cy="304800"/>
            <a:chOff x="9525000" y="6362700"/>
            <a:chExt cx="2095500" cy="304800"/>
          </a:xfrm>
        </p:grpSpPr>
        <p:sp>
          <p:nvSpPr>
            <p:cNvPr id="95" name="Rectangle 95"/>
            <p:cNvSpPr/>
            <p:nvPr/>
          </p:nvSpPr>
          <p:spPr>
            <a:xfrm>
              <a:off x="9525000" y="6362700"/>
              <a:ext cx="2095500" cy="304800"/>
            </a:xfrm>
            <a:prstGeom prst="rect">
              <a:avLst/>
            </a:prstGeom>
            <a:noFill/>
            <a:ln w="9525">
              <a:solidFill>
                <a:srgbClr val="3C5A80"/>
              </a:solidFill>
            </a:ln>
          </p:spPr>
        </p:sp>
        <p:sp>
          <p:nvSpPr>
            <p:cNvPr id="96" name="Line 96"/>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97" name="TextBox 97"/>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98" name="TextBox 98"/>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12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right)">
                                      <p:cBhvr>
                                        <p:cTn id="7" dur="1000"/>
                                        <p:tgtEl>
                                          <p:spTgt spid="46"/>
                                        </p:tgtEl>
                                      </p:cBhvr>
                                    </p:animEffect>
                                  </p:childTnLst>
                                </p:cTn>
                              </p:par>
                            </p:childTnLst>
                          </p:cTn>
                        </p:par>
                        <p:par>
                          <p:cTn id="8" fill="hold">
                            <p:stCondLst>
                              <p:cond delay="1000"/>
                            </p:stCondLst>
                            <p:childTnLst>
                              <p:par>
                                <p:cTn xmlns:p="http://schemas.openxmlformats.org/presentationml/2006/main" id="9" presetID="22" presetClass="entr" presetSubtype="2" fill="hold" grpId="0" nodeType="afterEffect">
                                  <p:stCondLst>
                                    <p:cond delay="300"/>
                                  </p:stCondLst>
                                  <p:childTnLst>
                                    <p:set>
                                      <p:cBhvr>
                                        <p:cTn id="10" dur="1" fill="hold">
                                          <p:stCondLst>
                                            <p:cond delay="0"/>
                                          </p:stCondLst>
                                        </p:cTn>
                                        <p:tgtEl>
                                          <p:spTgt spid="90"/>
                                        </p:tgtEl>
                                        <p:attrNameLst>
                                          <p:attrName>style.visibility</p:attrName>
                                        </p:attrNameLst>
                                      </p:cBhvr>
                                      <p:to>
                                        <p:strVal val="visible"/>
                                      </p:to>
                                    </p:set>
                                    <p:animEffect transition="in" filter="wipe(right)">
                                      <p:cBhvr>
                                        <p:cTn id="11" dur="1000"/>
                                        <p:tgtEl>
                                          <p:spTgt spid="90"/>
                                        </p:tgtEl>
                                      </p:cBhvr>
                                    </p:animEffect>
                                  </p:childTnLst>
                                </p:cTn>
                              </p:par>
                            </p:childTnLst>
                          </p:cTn>
                        </p:par>
                        <p:par>
                          <p:cTn id="12" fill="hold">
                            <p:stCondLst>
                              <p:cond delay="23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94"/>
                                        </p:tgtEl>
                                        <p:attrNameLst>
                                          <p:attrName>style.visibility</p:attrName>
                                        </p:attrNameLst>
                                      </p:cBhvr>
                                      <p:to>
                                        <p:strVal val="visible"/>
                                      </p:to>
                                    </p:set>
                                    <p:animEffect transition="in" filter="fade">
                                      <p:cBhvr>
                                        <p:cTn id="15"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7088169" cy="801243"/>
            <a:chOff x="747522" y="439102"/>
            <a:chExt cx="7088169" cy="801243"/>
          </a:xfrm>
        </p:grpSpPr>
        <p:sp>
          <p:nvSpPr>
            <p:cNvPr id="3" name="TextBox 3"/>
            <p:cNvSpPr txBox="1"/>
            <p:nvPr/>
          </p:nvSpPr>
          <p:spPr>
            <a:xfrm>
              <a:off x="775716" y="439102"/>
              <a:ext cx="3165196"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04 · ABLATIONS &amp; GENERALIZATION</a:t>
              </a:r>
            </a:p>
          </p:txBody>
        </p:sp>
        <p:sp>
          <p:nvSpPr>
            <p:cNvPr id="4" name="TextBox 4"/>
            <p:cNvSpPr txBox="1"/>
            <p:nvPr/>
          </p:nvSpPr>
          <p:spPr>
            <a:xfrm>
              <a:off x="747522" y="682942"/>
              <a:ext cx="7088169"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What the ablations taught (Table 3)</a:t>
              </a:r>
            </a:p>
          </p:txBody>
        </p:sp>
      </p:grpSp>
      <p:grpSp>
        <p:nvGrpSpPr>
          <p:cNvPr id="16" name="Group 16"/>
          <p:cNvGrpSpPr/>
          <p:nvPr/>
        </p:nvGrpSpPr>
        <p:grpSpPr>
          <a:xfrm>
            <a:off x="920750" y="1590199"/>
            <a:ext cx="5937250" cy="533876"/>
            <a:chOff x="920750" y="1590199"/>
            <a:chExt cx="5937250" cy="533876"/>
          </a:xfrm>
        </p:grpSpPr>
        <p:grpSp>
          <p:nvGrpSpPr>
            <p:cNvPr id="12" name="Group 12"/>
            <p:cNvGrpSpPr/>
            <p:nvPr/>
          </p:nvGrpSpPr>
          <p:grpSpPr>
            <a:xfrm>
              <a:off x="920750" y="1651000"/>
              <a:ext cx="190500" cy="203199"/>
              <a:chOff x="920750" y="1651000"/>
              <a:chExt cx="190500" cy="203199"/>
            </a:xfrm>
          </p:grpSpPr>
          <p:sp>
            <p:nvSpPr>
              <p:cNvPr id="6" name="Freeform 6"/>
              <p:cNvSpPr/>
              <p:nvPr/>
            </p:nvSpPr>
            <p:spPr>
              <a:xfrm>
                <a:off x="920750" y="1803399"/>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9CC3E6"/>
                </a:solidFill>
              </a:ln>
            </p:spPr>
          </p:sp>
          <p:sp>
            <p:nvSpPr>
              <p:cNvPr id="7" name="Freeform 7"/>
              <p:cNvSpPr/>
              <p:nvPr/>
            </p:nvSpPr>
            <p:spPr>
              <a:xfrm>
                <a:off x="920750" y="16510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9CC3E6"/>
                </a:solidFill>
              </a:ln>
            </p:spPr>
          </p:sp>
          <p:sp>
            <p:nvSpPr>
              <p:cNvPr id="8" name="Freeform 8"/>
              <p:cNvSpPr/>
              <p:nvPr/>
            </p:nvSpPr>
            <p:spPr>
              <a:xfrm>
                <a:off x="1047750" y="16510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25400">
                <a:solidFill>
                  <a:srgbClr val="9CC3E6"/>
                </a:solidFill>
              </a:ln>
            </p:spPr>
          </p:sp>
          <p:sp>
            <p:nvSpPr>
              <p:cNvPr id="9" name="Freeform 9"/>
              <p:cNvSpPr/>
              <p:nvPr/>
            </p:nvSpPr>
            <p:spPr>
              <a:xfrm>
                <a:off x="946150" y="1701800"/>
                <a:ext cx="9525" cy="101600"/>
              </a:xfrm>
              <a:custGeom>
                <a:avLst/>
                <a:gdLst/>
                <a:ahLst/>
                <a:cxnLst/>
                <a:rect l="l" t="t" r="r" b="b"/>
                <a:pathLst>
                  <a:path w="9525" h="101600">
                    <a:moveTo>
                      <a:pt x="0" y="0"/>
                    </a:moveTo>
                    <a:lnTo>
                      <a:pt x="0" y="101600"/>
                    </a:lnTo>
                  </a:path>
                </a:pathLst>
              </a:custGeom>
              <a:noFill/>
              <a:ln w="25400">
                <a:solidFill>
                  <a:srgbClr val="9CC3E6"/>
                </a:solidFill>
              </a:ln>
            </p:spPr>
          </p:sp>
          <p:sp>
            <p:nvSpPr>
              <p:cNvPr id="10" name="Freeform 10"/>
              <p:cNvSpPr/>
              <p:nvPr/>
            </p:nvSpPr>
            <p:spPr>
              <a:xfrm>
                <a:off x="971550" y="1739900"/>
                <a:ext cx="101600" cy="88900"/>
              </a:xfrm>
              <a:custGeom>
                <a:avLst/>
                <a:gdLst/>
                <a:ahLst/>
                <a:cxnLst/>
                <a:rect l="l" t="t" r="r" b="b"/>
                <a:pathLst>
                  <a:path w="101600" h="88900">
                    <a:moveTo>
                      <a:pt x="0" y="88900"/>
                    </a:moveTo>
                    <a:lnTo>
                      <a:pt x="76200" y="88900"/>
                    </a:lnTo>
                    <a:cubicBezTo>
                      <a:pt x="90228" y="88900"/>
                      <a:pt x="101600" y="77528"/>
                      <a:pt x="101600" y="63500"/>
                    </a:cubicBezTo>
                    <a:lnTo>
                      <a:pt x="101600" y="0"/>
                    </a:lnTo>
                  </a:path>
                </a:pathLst>
              </a:custGeom>
              <a:noFill/>
              <a:ln w="25400">
                <a:solidFill>
                  <a:srgbClr val="9CC3E6"/>
                </a:solidFill>
              </a:ln>
            </p:spPr>
          </p:sp>
          <p:sp>
            <p:nvSpPr>
              <p:cNvPr id="11" name="Freeform 11"/>
              <p:cNvSpPr/>
              <p:nvPr/>
            </p:nvSpPr>
            <p:spPr>
              <a:xfrm>
                <a:off x="1035050" y="1739900"/>
                <a:ext cx="76200" cy="38100"/>
              </a:xfrm>
              <a:custGeom>
                <a:avLst/>
                <a:gdLst/>
                <a:ahLst/>
                <a:cxnLst/>
                <a:rect l="l" t="t" r="r" b="b"/>
                <a:pathLst>
                  <a:path w="76200" h="38100">
                    <a:moveTo>
                      <a:pt x="0" y="38100"/>
                    </a:moveTo>
                    <a:lnTo>
                      <a:pt x="38100" y="0"/>
                    </a:lnTo>
                    <a:lnTo>
                      <a:pt x="76200" y="38100"/>
                    </a:lnTo>
                  </a:path>
                </a:pathLst>
              </a:custGeom>
              <a:noFill/>
              <a:ln w="25400">
                <a:solidFill>
                  <a:srgbClr val="9CC3E6"/>
                </a:solidFill>
              </a:ln>
            </p:spPr>
          </p:sp>
        </p:grpSp>
        <p:sp>
          <p:nvSpPr>
            <p:cNvPr id="13" name="TextBox 13"/>
            <p:cNvSpPr txBox="1"/>
            <p:nvPr/>
          </p:nvSpPr>
          <p:spPr>
            <a:xfrm>
              <a:off x="1328547" y="1590199"/>
              <a:ext cx="793840"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HEADS · h</a:t>
              </a:r>
            </a:p>
          </p:txBody>
        </p:sp>
        <p:sp>
          <p:nvSpPr>
            <p:cNvPr id="14" name="TextBox 14"/>
            <p:cNvSpPr txBox="1"/>
            <p:nvPr/>
          </p:nvSpPr>
          <p:spPr>
            <a:xfrm>
              <a:off x="1326642" y="1797368"/>
              <a:ext cx="4744857"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A single head is 0.9 BLEU worse than the best setting</a:t>
              </a:r>
            </a:p>
          </p:txBody>
        </p:sp>
        <p:sp>
          <p:nvSpPr>
            <p:cNvPr id="15" name="Line 15"/>
            <p:cNvSpPr/>
            <p:nvPr/>
          </p:nvSpPr>
          <p:spPr>
            <a:xfrm>
              <a:off x="1333500" y="2114550"/>
              <a:ext cx="5524500" cy="9525"/>
            </a:xfrm>
            <a:custGeom>
              <a:avLst/>
              <a:gdLst/>
              <a:ahLst/>
              <a:cxnLst/>
              <a:rect l="l" t="t" r="r" b="b"/>
              <a:pathLst>
                <a:path w="5524500" h="9525">
                  <a:moveTo>
                    <a:pt x="0" y="0"/>
                  </a:moveTo>
                  <a:lnTo>
                    <a:pt x="5524500" y="0"/>
                  </a:lnTo>
                </a:path>
              </a:pathLst>
            </a:custGeom>
            <a:noFill/>
            <a:ln w="9525">
              <a:solidFill>
                <a:srgbClr val="3C5A80"/>
              </a:solidFill>
            </a:ln>
          </p:spPr>
        </p:sp>
      </p:grpSp>
      <p:grpSp>
        <p:nvGrpSpPr>
          <p:cNvPr id="28" name="Group 28"/>
          <p:cNvGrpSpPr/>
          <p:nvPr/>
        </p:nvGrpSpPr>
        <p:grpSpPr>
          <a:xfrm>
            <a:off x="895350" y="2390299"/>
            <a:ext cx="5962650" cy="533876"/>
            <a:chOff x="895350" y="2390299"/>
            <a:chExt cx="5962650" cy="533876"/>
          </a:xfrm>
        </p:grpSpPr>
        <p:grpSp>
          <p:nvGrpSpPr>
            <p:cNvPr id="24" name="Group 24"/>
            <p:cNvGrpSpPr/>
            <p:nvPr/>
          </p:nvGrpSpPr>
          <p:grpSpPr>
            <a:xfrm>
              <a:off x="895350" y="2438400"/>
              <a:ext cx="228599" cy="228600"/>
              <a:chOff x="895350" y="2438400"/>
              <a:chExt cx="228599" cy="228600"/>
            </a:xfrm>
          </p:grpSpPr>
          <p:sp>
            <p:nvSpPr>
              <p:cNvPr id="17" name="Freeform 17"/>
              <p:cNvSpPr/>
              <p:nvPr/>
            </p:nvSpPr>
            <p:spPr>
              <a:xfrm>
                <a:off x="895350" y="2463800"/>
                <a:ext cx="139700" cy="9525"/>
              </a:xfrm>
              <a:custGeom>
                <a:avLst/>
                <a:gdLst/>
                <a:ahLst/>
                <a:cxnLst/>
                <a:rect l="l" t="t" r="r" b="b"/>
                <a:pathLst>
                  <a:path w="139700" h="9525">
                    <a:moveTo>
                      <a:pt x="0" y="0"/>
                    </a:moveTo>
                    <a:lnTo>
                      <a:pt x="139700" y="0"/>
                    </a:lnTo>
                  </a:path>
                </a:pathLst>
              </a:custGeom>
              <a:noFill/>
              <a:ln w="25400">
                <a:solidFill>
                  <a:srgbClr val="9CC3E6"/>
                </a:solidFill>
              </a:ln>
            </p:spPr>
          </p:sp>
          <p:sp>
            <p:nvSpPr>
              <p:cNvPr id="18" name="Freeform 18"/>
              <p:cNvSpPr/>
              <p:nvPr/>
            </p:nvSpPr>
            <p:spPr>
              <a:xfrm>
                <a:off x="1009650" y="2438400"/>
                <a:ext cx="25400" cy="50800"/>
              </a:xfrm>
              <a:custGeom>
                <a:avLst/>
                <a:gdLst/>
                <a:ahLst/>
                <a:cxnLst/>
                <a:rect l="l" t="t" r="r" b="b"/>
                <a:pathLst>
                  <a:path w="25400" h="50800">
                    <a:moveTo>
                      <a:pt x="0" y="50800"/>
                    </a:moveTo>
                    <a:lnTo>
                      <a:pt x="25400" y="25400"/>
                    </a:lnTo>
                    <a:lnTo>
                      <a:pt x="0" y="0"/>
                    </a:lnTo>
                  </a:path>
                </a:pathLst>
              </a:custGeom>
              <a:noFill/>
              <a:ln w="25400">
                <a:solidFill>
                  <a:srgbClr val="9CC3E6"/>
                </a:solidFill>
              </a:ln>
            </p:spPr>
          </p:sp>
          <p:sp>
            <p:nvSpPr>
              <p:cNvPr id="19" name="Freeform 19"/>
              <p:cNvSpPr/>
              <p:nvPr/>
            </p:nvSpPr>
            <p:spPr>
              <a:xfrm>
                <a:off x="895350" y="2438400"/>
                <a:ext cx="25400" cy="50800"/>
              </a:xfrm>
              <a:custGeom>
                <a:avLst/>
                <a:gdLst/>
                <a:ahLst/>
                <a:cxnLst/>
                <a:rect l="l" t="t" r="r" b="b"/>
                <a:pathLst>
                  <a:path w="25400" h="50800">
                    <a:moveTo>
                      <a:pt x="25400" y="0"/>
                    </a:moveTo>
                    <a:lnTo>
                      <a:pt x="0" y="25400"/>
                    </a:lnTo>
                    <a:lnTo>
                      <a:pt x="25400" y="50800"/>
                    </a:lnTo>
                  </a:path>
                </a:pathLst>
              </a:custGeom>
              <a:noFill/>
              <a:ln w="25400">
                <a:solidFill>
                  <a:srgbClr val="9CC3E6"/>
                </a:solidFill>
              </a:ln>
            </p:spPr>
          </p:sp>
          <p:sp>
            <p:nvSpPr>
              <p:cNvPr id="20" name="Freeform 20"/>
              <p:cNvSpPr/>
              <p:nvPr/>
            </p:nvSpPr>
            <p:spPr>
              <a:xfrm>
                <a:off x="1098549" y="2527300"/>
                <a:ext cx="9525" cy="139700"/>
              </a:xfrm>
              <a:custGeom>
                <a:avLst/>
                <a:gdLst/>
                <a:ahLst/>
                <a:cxnLst/>
                <a:rect l="l" t="t" r="r" b="b"/>
                <a:pathLst>
                  <a:path w="9525" h="139700">
                    <a:moveTo>
                      <a:pt x="0" y="0"/>
                    </a:moveTo>
                    <a:lnTo>
                      <a:pt x="0" y="139700"/>
                    </a:lnTo>
                  </a:path>
                </a:pathLst>
              </a:custGeom>
              <a:noFill/>
              <a:ln w="25400">
                <a:solidFill>
                  <a:srgbClr val="9CC3E6"/>
                </a:solidFill>
              </a:ln>
            </p:spPr>
          </p:sp>
          <p:sp>
            <p:nvSpPr>
              <p:cNvPr id="21" name="Freeform 21"/>
              <p:cNvSpPr/>
              <p:nvPr/>
            </p:nvSpPr>
            <p:spPr>
              <a:xfrm>
                <a:off x="1073149" y="2641599"/>
                <a:ext cx="50800" cy="25400"/>
              </a:xfrm>
              <a:custGeom>
                <a:avLst/>
                <a:gdLst/>
                <a:ahLst/>
                <a:cxnLst/>
                <a:rect l="l" t="t" r="r" b="b"/>
                <a:pathLst>
                  <a:path w="50800" h="25400">
                    <a:moveTo>
                      <a:pt x="0" y="0"/>
                    </a:moveTo>
                    <a:lnTo>
                      <a:pt x="25400" y="25400"/>
                    </a:lnTo>
                    <a:lnTo>
                      <a:pt x="50800" y="0"/>
                    </a:lnTo>
                  </a:path>
                </a:pathLst>
              </a:custGeom>
              <a:noFill/>
              <a:ln w="25400">
                <a:solidFill>
                  <a:srgbClr val="9CC3E6"/>
                </a:solidFill>
              </a:ln>
            </p:spPr>
          </p:sp>
          <p:sp>
            <p:nvSpPr>
              <p:cNvPr id="22" name="Freeform 22"/>
              <p:cNvSpPr/>
              <p:nvPr/>
            </p:nvSpPr>
            <p:spPr>
              <a:xfrm>
                <a:off x="1073149" y="2527300"/>
                <a:ext cx="50800" cy="25400"/>
              </a:xfrm>
              <a:custGeom>
                <a:avLst/>
                <a:gdLst/>
                <a:ahLst/>
                <a:cxnLst/>
                <a:rect l="l" t="t" r="r" b="b"/>
                <a:pathLst>
                  <a:path w="50800" h="25400">
                    <a:moveTo>
                      <a:pt x="50800" y="25400"/>
                    </a:moveTo>
                    <a:lnTo>
                      <a:pt x="25400" y="0"/>
                    </a:lnTo>
                    <a:lnTo>
                      <a:pt x="0" y="25400"/>
                    </a:lnTo>
                  </a:path>
                </a:pathLst>
              </a:custGeom>
              <a:noFill/>
              <a:ln w="25400">
                <a:solidFill>
                  <a:srgbClr val="9CC3E6"/>
                </a:solidFill>
              </a:ln>
            </p:spPr>
          </p:sp>
          <p:sp>
            <p:nvSpPr>
              <p:cNvPr id="23" name="Freeform 23"/>
              <p:cNvSpPr/>
              <p:nvPr/>
            </p:nvSpPr>
            <p:spPr>
              <a:xfrm>
                <a:off x="895350" y="2527300"/>
                <a:ext cx="139700" cy="139700"/>
              </a:xfrm>
              <a:custGeom>
                <a:avLst/>
                <a:gdLst/>
                <a:ahLst/>
                <a:cxnLst/>
                <a:rect l="l" t="t" r="r" b="b"/>
                <a:pathLst>
                  <a:path w="139700" h="139700">
                    <a:moveTo>
                      <a:pt x="0" y="25400"/>
                    </a:moveTo>
                    <a:cubicBezTo>
                      <a:pt x="0" y="11372"/>
                      <a:pt x="11372" y="0"/>
                      <a:pt x="25400" y="0"/>
                    </a:cubicBezTo>
                    <a:lnTo>
                      <a:pt x="114300" y="0"/>
                    </a:lnTo>
                    <a:cubicBezTo>
                      <a:pt x="128328" y="0"/>
                      <a:pt x="139700" y="11372"/>
                      <a:pt x="139700" y="25400"/>
                    </a:cubicBezTo>
                    <a:lnTo>
                      <a:pt x="139700" y="114300"/>
                    </a:lnTo>
                    <a:cubicBezTo>
                      <a:pt x="139700" y="128328"/>
                      <a:pt x="128328" y="139700"/>
                      <a:pt x="114300" y="139700"/>
                    </a:cubicBezTo>
                    <a:lnTo>
                      <a:pt x="25400" y="139700"/>
                    </a:lnTo>
                    <a:cubicBezTo>
                      <a:pt x="11372" y="139700"/>
                      <a:pt x="0" y="128328"/>
                      <a:pt x="0" y="114300"/>
                    </a:cubicBezTo>
                    <a:lnTo>
                      <a:pt x="0" y="25400"/>
                    </a:lnTo>
                  </a:path>
                </a:pathLst>
              </a:custGeom>
              <a:noFill/>
              <a:ln w="25400">
                <a:solidFill>
                  <a:srgbClr val="9CC3E6"/>
                </a:solidFill>
              </a:ln>
            </p:spPr>
          </p:sp>
        </p:grpSp>
        <p:sp>
          <p:nvSpPr>
            <p:cNvPr id="25" name="TextBox 25"/>
            <p:cNvSpPr txBox="1"/>
            <p:nvPr/>
          </p:nvSpPr>
          <p:spPr>
            <a:xfrm>
              <a:off x="1328547" y="2390299"/>
              <a:ext cx="1206801"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KEY SIZE · d_k</a:t>
              </a:r>
            </a:p>
          </p:txBody>
        </p:sp>
        <p:sp>
          <p:nvSpPr>
            <p:cNvPr id="26" name="TextBox 26"/>
            <p:cNvSpPr txBox="1"/>
            <p:nvPr/>
          </p:nvSpPr>
          <p:spPr>
            <a:xfrm>
              <a:off x="1326642" y="2597468"/>
              <a:ext cx="5162938"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Smaller d_k hurts — compatibility is not trivial to compute</a:t>
              </a:r>
            </a:p>
          </p:txBody>
        </p:sp>
        <p:sp>
          <p:nvSpPr>
            <p:cNvPr id="27" name="Line 27"/>
            <p:cNvSpPr/>
            <p:nvPr/>
          </p:nvSpPr>
          <p:spPr>
            <a:xfrm>
              <a:off x="1333500" y="2914650"/>
              <a:ext cx="5524500" cy="9525"/>
            </a:xfrm>
            <a:custGeom>
              <a:avLst/>
              <a:gdLst/>
              <a:ahLst/>
              <a:cxnLst/>
              <a:rect l="l" t="t" r="r" b="b"/>
              <a:pathLst>
                <a:path w="5524500" h="9525">
                  <a:moveTo>
                    <a:pt x="0" y="0"/>
                  </a:moveTo>
                  <a:lnTo>
                    <a:pt x="5524500" y="0"/>
                  </a:lnTo>
                </a:path>
              </a:pathLst>
            </a:custGeom>
            <a:noFill/>
            <a:ln w="9525">
              <a:solidFill>
                <a:srgbClr val="3C5A80"/>
              </a:solidFill>
            </a:ln>
          </p:spPr>
        </p:sp>
      </p:grpSp>
      <p:grpSp>
        <p:nvGrpSpPr>
          <p:cNvPr id="36" name="Group 36"/>
          <p:cNvGrpSpPr/>
          <p:nvPr/>
        </p:nvGrpSpPr>
        <p:grpSpPr>
          <a:xfrm>
            <a:off x="908050" y="3190399"/>
            <a:ext cx="5949950" cy="533876"/>
            <a:chOff x="908050" y="3190399"/>
            <a:chExt cx="5949950" cy="533876"/>
          </a:xfrm>
        </p:grpSpPr>
        <p:grpSp>
          <p:nvGrpSpPr>
            <p:cNvPr id="32" name="Group 32"/>
            <p:cNvGrpSpPr/>
            <p:nvPr/>
          </p:nvGrpSpPr>
          <p:grpSpPr>
            <a:xfrm>
              <a:off x="908050" y="3251200"/>
              <a:ext cx="203199" cy="203199"/>
              <a:chOff x="908050" y="3251200"/>
              <a:chExt cx="203199" cy="203199"/>
            </a:xfrm>
          </p:grpSpPr>
          <p:sp>
            <p:nvSpPr>
              <p:cNvPr id="29" name="Freeform 29"/>
              <p:cNvSpPr/>
              <p:nvPr/>
            </p:nvSpPr>
            <p:spPr>
              <a:xfrm>
                <a:off x="908050" y="3251200"/>
                <a:ext cx="203199" cy="101600"/>
              </a:xfrm>
              <a:custGeom>
                <a:avLst/>
                <a:gdLst/>
                <a:ahLst/>
                <a:cxnLst/>
                <a:rect l="l" t="t" r="r" b="b"/>
                <a:pathLst>
                  <a:path w="203199" h="101600">
                    <a:moveTo>
                      <a:pt x="101600" y="0"/>
                    </a:moveTo>
                    <a:lnTo>
                      <a:pt x="0" y="50800"/>
                    </a:lnTo>
                    <a:lnTo>
                      <a:pt x="101600" y="101600"/>
                    </a:lnTo>
                    <a:lnTo>
                      <a:pt x="203199" y="50800"/>
                    </a:lnTo>
                    <a:lnTo>
                      <a:pt x="101600" y="0"/>
                    </a:lnTo>
                  </a:path>
                </a:pathLst>
              </a:custGeom>
              <a:noFill/>
              <a:ln w="25400">
                <a:solidFill>
                  <a:srgbClr val="9CC3E6"/>
                </a:solidFill>
              </a:ln>
            </p:spPr>
          </p:sp>
          <p:sp>
            <p:nvSpPr>
              <p:cNvPr id="30" name="Freeform 30"/>
              <p:cNvSpPr/>
              <p:nvPr/>
            </p:nvSpPr>
            <p:spPr>
              <a:xfrm>
                <a:off x="908050" y="3352800"/>
                <a:ext cx="203199" cy="50800"/>
              </a:xfrm>
              <a:custGeom>
                <a:avLst/>
                <a:gdLst/>
                <a:ahLst/>
                <a:cxnLst/>
                <a:rect l="l" t="t" r="r" b="b"/>
                <a:pathLst>
                  <a:path w="203199" h="50800">
                    <a:moveTo>
                      <a:pt x="0" y="0"/>
                    </a:moveTo>
                    <a:lnTo>
                      <a:pt x="101600" y="50800"/>
                    </a:lnTo>
                    <a:lnTo>
                      <a:pt x="203199" y="0"/>
                    </a:lnTo>
                  </a:path>
                </a:pathLst>
              </a:custGeom>
              <a:noFill/>
              <a:ln w="25400">
                <a:solidFill>
                  <a:srgbClr val="9CC3E6"/>
                </a:solidFill>
              </a:ln>
            </p:spPr>
          </p:sp>
          <p:sp>
            <p:nvSpPr>
              <p:cNvPr id="31" name="Freeform 31"/>
              <p:cNvSpPr/>
              <p:nvPr/>
            </p:nvSpPr>
            <p:spPr>
              <a:xfrm>
                <a:off x="908050" y="3403599"/>
                <a:ext cx="203199" cy="50800"/>
              </a:xfrm>
              <a:custGeom>
                <a:avLst/>
                <a:gdLst/>
                <a:ahLst/>
                <a:cxnLst/>
                <a:rect l="l" t="t" r="r" b="b"/>
                <a:pathLst>
                  <a:path w="203199" h="50800">
                    <a:moveTo>
                      <a:pt x="0" y="0"/>
                    </a:moveTo>
                    <a:lnTo>
                      <a:pt x="101600" y="50800"/>
                    </a:lnTo>
                    <a:lnTo>
                      <a:pt x="203199" y="0"/>
                    </a:lnTo>
                  </a:path>
                </a:pathLst>
              </a:custGeom>
              <a:noFill/>
              <a:ln w="25400">
                <a:solidFill>
                  <a:srgbClr val="9CC3E6"/>
                </a:solidFill>
              </a:ln>
            </p:spPr>
          </p:sp>
        </p:grpSp>
        <p:sp>
          <p:nvSpPr>
            <p:cNvPr id="33" name="TextBox 33"/>
            <p:cNvSpPr txBox="1"/>
            <p:nvPr/>
          </p:nvSpPr>
          <p:spPr>
            <a:xfrm>
              <a:off x="1328547" y="3190399"/>
              <a:ext cx="954664"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MODEL SIZE</a:t>
              </a:r>
            </a:p>
          </p:txBody>
        </p:sp>
        <p:sp>
          <p:nvSpPr>
            <p:cNvPr id="34" name="TextBox 34"/>
            <p:cNvSpPr txBox="1"/>
            <p:nvPr/>
          </p:nvSpPr>
          <p:spPr>
            <a:xfrm>
              <a:off x="1326642" y="3397568"/>
              <a:ext cx="4454374"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Bigger is better; the big model wins on both tasks</a:t>
              </a:r>
            </a:p>
          </p:txBody>
        </p:sp>
        <p:sp>
          <p:nvSpPr>
            <p:cNvPr id="35" name="Line 35"/>
            <p:cNvSpPr/>
            <p:nvPr/>
          </p:nvSpPr>
          <p:spPr>
            <a:xfrm>
              <a:off x="1333500" y="3714750"/>
              <a:ext cx="5524500" cy="9525"/>
            </a:xfrm>
            <a:custGeom>
              <a:avLst/>
              <a:gdLst/>
              <a:ahLst/>
              <a:cxnLst/>
              <a:rect l="l" t="t" r="r" b="b"/>
              <a:pathLst>
                <a:path w="5524500" h="9525">
                  <a:moveTo>
                    <a:pt x="0" y="0"/>
                  </a:moveTo>
                  <a:lnTo>
                    <a:pt x="5524500" y="0"/>
                  </a:lnTo>
                </a:path>
              </a:pathLst>
            </a:custGeom>
            <a:noFill/>
            <a:ln w="9525">
              <a:solidFill>
                <a:srgbClr val="3C5A80"/>
              </a:solidFill>
            </a:ln>
          </p:spPr>
        </p:sp>
      </p:grpSp>
      <p:grpSp>
        <p:nvGrpSpPr>
          <p:cNvPr id="41" name="Group 41"/>
          <p:cNvGrpSpPr/>
          <p:nvPr/>
        </p:nvGrpSpPr>
        <p:grpSpPr>
          <a:xfrm>
            <a:off x="895350" y="3990499"/>
            <a:ext cx="5962650" cy="533876"/>
            <a:chOff x="895350" y="3990499"/>
            <a:chExt cx="5962650" cy="533876"/>
          </a:xfrm>
        </p:grpSpPr>
        <p:sp>
          <p:nvSpPr>
            <p:cNvPr id="37" name="Freeform 37"/>
            <p:cNvSpPr/>
            <p:nvPr/>
          </p:nvSpPr>
          <p:spPr>
            <a:xfrm>
              <a:off x="895350" y="4051300"/>
              <a:ext cx="215899" cy="203199"/>
            </a:xfrm>
            <a:custGeom>
              <a:avLst/>
              <a:gdLst/>
              <a:ahLst/>
              <a:cxnLst/>
              <a:rect l="l" t="t" r="r" b="b"/>
              <a:pathLst>
                <a:path w="215899" h="203199">
                  <a:moveTo>
                    <a:pt x="165100" y="177800"/>
                  </a:moveTo>
                  <a:cubicBezTo>
                    <a:pt x="179128" y="177800"/>
                    <a:pt x="190500" y="189171"/>
                    <a:pt x="190500" y="203199"/>
                  </a:cubicBezTo>
                  <a:cubicBezTo>
                    <a:pt x="190500" y="189171"/>
                    <a:pt x="201871" y="177800"/>
                    <a:pt x="215899" y="177800"/>
                  </a:cubicBezTo>
                  <a:cubicBezTo>
                    <a:pt x="201871" y="177800"/>
                    <a:pt x="190500" y="166428"/>
                    <a:pt x="190500" y="152400"/>
                  </a:cubicBezTo>
                  <a:cubicBezTo>
                    <a:pt x="190500" y="166428"/>
                    <a:pt x="179128" y="177800"/>
                    <a:pt x="165100" y="177800"/>
                  </a:cubicBezTo>
                  <a:moveTo>
                    <a:pt x="165100" y="25400"/>
                  </a:moveTo>
                  <a:cubicBezTo>
                    <a:pt x="179128" y="25400"/>
                    <a:pt x="190500" y="36772"/>
                    <a:pt x="190500" y="50800"/>
                  </a:cubicBezTo>
                  <a:cubicBezTo>
                    <a:pt x="190500" y="36772"/>
                    <a:pt x="201871" y="25400"/>
                    <a:pt x="215899" y="25400"/>
                  </a:cubicBezTo>
                  <a:cubicBezTo>
                    <a:pt x="201871" y="25400"/>
                    <a:pt x="190500" y="14028"/>
                    <a:pt x="190500" y="0"/>
                  </a:cubicBezTo>
                  <a:cubicBezTo>
                    <a:pt x="190500" y="14028"/>
                    <a:pt x="179128" y="25400"/>
                    <a:pt x="165100" y="25400"/>
                  </a:cubicBezTo>
                  <a:moveTo>
                    <a:pt x="76200" y="177800"/>
                  </a:moveTo>
                  <a:cubicBezTo>
                    <a:pt x="76200" y="135716"/>
                    <a:pt x="110316" y="101600"/>
                    <a:pt x="152400" y="101600"/>
                  </a:cubicBezTo>
                  <a:cubicBezTo>
                    <a:pt x="110316" y="101600"/>
                    <a:pt x="76200" y="67484"/>
                    <a:pt x="76200" y="25400"/>
                  </a:cubicBezTo>
                  <a:cubicBezTo>
                    <a:pt x="76200" y="67484"/>
                    <a:pt x="42084" y="101600"/>
                    <a:pt x="0" y="101600"/>
                  </a:cubicBezTo>
                  <a:cubicBezTo>
                    <a:pt x="42084" y="101600"/>
                    <a:pt x="76200" y="135716"/>
                    <a:pt x="76200" y="177800"/>
                  </a:cubicBezTo>
                </a:path>
              </a:pathLst>
            </a:custGeom>
            <a:noFill/>
            <a:ln w="25400">
              <a:solidFill>
                <a:srgbClr val="9CC3E6"/>
              </a:solidFill>
            </a:ln>
          </p:spPr>
        </p:sp>
        <p:sp>
          <p:nvSpPr>
            <p:cNvPr id="38" name="TextBox 38"/>
            <p:cNvSpPr txBox="1"/>
            <p:nvPr/>
          </p:nvSpPr>
          <p:spPr>
            <a:xfrm>
              <a:off x="1328547" y="3990499"/>
              <a:ext cx="1318798"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REGULARIZATION</a:t>
              </a:r>
            </a:p>
          </p:txBody>
        </p:sp>
        <p:sp>
          <p:nvSpPr>
            <p:cNvPr id="39" name="TextBox 39"/>
            <p:cNvSpPr txBox="1"/>
            <p:nvPr/>
          </p:nvSpPr>
          <p:spPr>
            <a:xfrm>
              <a:off x="1326642" y="4197668"/>
              <a:ext cx="4181239"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Dropout is very helpful in avoiding over-fitting</a:t>
              </a:r>
            </a:p>
          </p:txBody>
        </p:sp>
        <p:sp>
          <p:nvSpPr>
            <p:cNvPr id="40" name="Line 40"/>
            <p:cNvSpPr/>
            <p:nvPr/>
          </p:nvSpPr>
          <p:spPr>
            <a:xfrm>
              <a:off x="1333500" y="4514850"/>
              <a:ext cx="5524500" cy="9525"/>
            </a:xfrm>
            <a:custGeom>
              <a:avLst/>
              <a:gdLst/>
              <a:ahLst/>
              <a:cxnLst/>
              <a:rect l="l" t="t" r="r" b="b"/>
              <a:pathLst>
                <a:path w="5524500" h="9525">
                  <a:moveTo>
                    <a:pt x="0" y="0"/>
                  </a:moveTo>
                  <a:lnTo>
                    <a:pt x="5524500" y="0"/>
                  </a:lnTo>
                </a:path>
              </a:pathLst>
            </a:custGeom>
            <a:noFill/>
            <a:ln w="9525">
              <a:solidFill>
                <a:srgbClr val="3C5A80"/>
              </a:solidFill>
            </a:ln>
          </p:spPr>
        </p:sp>
      </p:grpSp>
      <p:grpSp>
        <p:nvGrpSpPr>
          <p:cNvPr id="45" name="Group 45"/>
          <p:cNvGrpSpPr/>
          <p:nvPr/>
        </p:nvGrpSpPr>
        <p:grpSpPr>
          <a:xfrm>
            <a:off x="895071" y="4790599"/>
            <a:ext cx="4712630" cy="471202"/>
            <a:chOff x="895071" y="4790599"/>
            <a:chExt cx="4712630" cy="471202"/>
          </a:xfrm>
        </p:grpSpPr>
        <p:sp>
          <p:nvSpPr>
            <p:cNvPr id="42" name="Freeform 42"/>
            <p:cNvSpPr/>
            <p:nvPr/>
          </p:nvSpPr>
          <p:spPr>
            <a:xfrm>
              <a:off x="895071" y="4851400"/>
              <a:ext cx="228879" cy="203199"/>
            </a:xfrm>
            <a:custGeom>
              <a:avLst/>
              <a:gdLst/>
              <a:ahLst/>
              <a:cxnLst/>
              <a:rect l="l" t="t" r="r" b="b"/>
              <a:pathLst>
                <a:path w="228879" h="203199">
                  <a:moveTo>
                    <a:pt x="228879" y="101600"/>
                  </a:moveTo>
                  <a:lnTo>
                    <a:pt x="203479" y="101600"/>
                  </a:lnTo>
                  <a:cubicBezTo>
                    <a:pt x="192125" y="101600"/>
                    <a:pt x="182372" y="90716"/>
                    <a:pt x="181114" y="76200"/>
                  </a:cubicBezTo>
                  <a:cubicBezTo>
                    <a:pt x="177355" y="32385"/>
                    <a:pt x="171602" y="0"/>
                    <a:pt x="146202" y="0"/>
                  </a:cubicBezTo>
                  <a:cubicBezTo>
                    <a:pt x="120802" y="0"/>
                    <a:pt x="114452" y="45491"/>
                    <a:pt x="114452" y="101600"/>
                  </a:cubicBezTo>
                  <a:cubicBezTo>
                    <a:pt x="114452" y="157708"/>
                    <a:pt x="108102" y="203199"/>
                    <a:pt x="82702" y="203199"/>
                  </a:cubicBezTo>
                  <a:cubicBezTo>
                    <a:pt x="57302" y="203199"/>
                    <a:pt x="51562" y="170853"/>
                    <a:pt x="47790" y="127000"/>
                  </a:cubicBezTo>
                  <a:cubicBezTo>
                    <a:pt x="46520" y="112433"/>
                    <a:pt x="36779" y="101600"/>
                    <a:pt x="25400" y="101600"/>
                  </a:cubicBezTo>
                  <a:lnTo>
                    <a:pt x="0" y="101600"/>
                  </a:lnTo>
                </a:path>
              </a:pathLst>
            </a:custGeom>
            <a:noFill/>
            <a:ln w="25400">
              <a:solidFill>
                <a:srgbClr val="9CC3E6"/>
              </a:solidFill>
            </a:ln>
          </p:spPr>
        </p:sp>
        <p:sp>
          <p:nvSpPr>
            <p:cNvPr id="43" name="TextBox 43"/>
            <p:cNvSpPr txBox="1"/>
            <p:nvPr/>
          </p:nvSpPr>
          <p:spPr>
            <a:xfrm>
              <a:off x="1328547" y="4790599"/>
              <a:ext cx="856661" cy="190690"/>
            </a:xfrm>
            <a:prstGeom prst="rect">
              <a:avLst/>
            </a:prstGeom>
            <a:noFill/>
            <a:ln>
              <a:noFill/>
            </a:ln>
          </p:spPr>
          <p:txBody>
            <a:bodyPr wrap="none" lIns="0" tIns="0" rIns="0" bIns="0" anchor="t" anchorCtr="0">
              <a:spAutoFit/>
            </a:bodyPr>
            <a:lstStyle/>
            <a:p>
              <a:pPr algn="l"/>
              <a:r>
                <a:rPr lang="en-US" sz="980" spc="150" dirty="0">
                  <a:solidFill>
                    <a:srgbClr val="F5A623"/>
                  </a:solidFill>
                  <a:latin typeface="Consolas"/>
                  <a:ea typeface="Consolas"/>
                  <a:cs typeface="Consolas"/>
                </a:rPr>
                <a:t>POSITIONS</a:t>
              </a:r>
            </a:p>
          </p:txBody>
        </p:sp>
        <p:sp>
          <p:nvSpPr>
            <p:cNvPr id="44" name="TextBox 44"/>
            <p:cNvSpPr txBox="1"/>
            <p:nvPr/>
          </p:nvSpPr>
          <p:spPr>
            <a:xfrm>
              <a:off x="1326642" y="4997768"/>
              <a:ext cx="4281059"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Learned vs sinusoidal positions: nearly identical</a:t>
              </a:r>
            </a:p>
          </p:txBody>
        </p:sp>
      </p:grpSp>
      <p:grpSp>
        <p:nvGrpSpPr>
          <p:cNvPr id="47" name="Group 47"/>
          <p:cNvGrpSpPr/>
          <p:nvPr/>
        </p:nvGrpSpPr>
        <p:grpSpPr>
          <a:xfrm>
            <a:off x="1328738" y="5579745"/>
            <a:ext cx="4752061" cy="176212"/>
            <a:chOff x="1328738" y="5579745"/>
            <a:chExt cx="4752061" cy="176212"/>
          </a:xfrm>
        </p:grpSpPr>
        <p:sp>
          <p:nvSpPr>
            <p:cNvPr id="46" name="TextBox 46"/>
            <p:cNvSpPr txBox="1"/>
            <p:nvPr/>
          </p:nvSpPr>
          <p:spPr>
            <a:xfrm>
              <a:off x="1328738" y="5579745"/>
              <a:ext cx="4752061"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Each row varies one setting of the base model on EN–DE (newstest2013 dev set)</a:t>
              </a:r>
            </a:p>
          </p:txBody>
        </p:sp>
      </p:grpSp>
      <p:sp>
        <p:nvSpPr>
          <p:cNvPr id="48" name="Freeform 48"/>
          <p:cNvSpPr/>
          <p:nvPr/>
        </p:nvSpPr>
        <p:spPr>
          <a:xfrm>
            <a:off x="7524750" y="1905000"/>
            <a:ext cx="3714750" cy="1809750"/>
          </a:xfrm>
          <a:prstGeom prst="bracketPair">
            <a:avLst/>
          </a:prstGeom>
          <a:noFill/>
          <a:ln w="19050">
            <a:solidFill>
              <a:srgbClr val="9CC3E6"/>
            </a:solidFill>
          </a:ln>
        </p:spPr>
      </p:sp>
      <p:grpSp>
        <p:nvGrpSpPr>
          <p:cNvPr id="57" name="Group 57"/>
          <p:cNvGrpSpPr/>
          <p:nvPr/>
        </p:nvGrpSpPr>
        <p:grpSpPr>
          <a:xfrm>
            <a:off x="7800396" y="1571149"/>
            <a:ext cx="3215549" cy="1857851"/>
            <a:chOff x="7800396" y="1571149"/>
            <a:chExt cx="3215549" cy="1857851"/>
          </a:xfrm>
        </p:grpSpPr>
        <p:sp>
          <p:nvSpPr>
            <p:cNvPr id="49" name="TextBox 49"/>
            <p:cNvSpPr txBox="1"/>
            <p:nvPr/>
          </p:nvSpPr>
          <p:spPr>
            <a:xfrm>
              <a:off x="8092460" y="1571149"/>
              <a:ext cx="2579329" cy="190690"/>
            </a:xfrm>
            <a:prstGeom prst="rect">
              <a:avLst/>
            </a:prstGeom>
            <a:noFill/>
            <a:ln>
              <a:noFill/>
            </a:ln>
          </p:spPr>
          <p:txBody>
            <a:bodyPr wrap="none" lIns="0" tIns="0" rIns="0" bIns="0" anchor="t" anchorCtr="0">
              <a:spAutoFit/>
            </a:bodyPr>
            <a:lstStyle/>
            <a:p>
              <a:pPr algn="ctr"/>
              <a:r>
                <a:rPr lang="en-US" sz="980" spc="150" dirty="0">
                  <a:solidFill>
                    <a:srgbClr val="F5A623"/>
                  </a:solidFill>
                  <a:latin typeface="Consolas"/>
                  <a:ea typeface="Consolas"/>
                  <a:cs typeface="Consolas"/>
                </a:rPr>
                <a:t>GENERALIZATION · WSJ PARSING</a:t>
              </a:r>
            </a:p>
          </p:txBody>
        </p:sp>
        <p:sp>
          <p:nvSpPr>
            <p:cNvPr id="50" name="TextBox 50"/>
            <p:cNvSpPr txBox="1"/>
            <p:nvPr/>
          </p:nvSpPr>
          <p:spPr>
            <a:xfrm>
              <a:off x="7923297" y="2485072"/>
              <a:ext cx="1107906"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91.3</a:t>
              </a:r>
            </a:p>
          </p:txBody>
        </p:sp>
        <p:sp>
          <p:nvSpPr>
            <p:cNvPr id="51" name="TextBox 51"/>
            <p:cNvSpPr txBox="1"/>
            <p:nvPr/>
          </p:nvSpPr>
          <p:spPr>
            <a:xfrm>
              <a:off x="8010425" y="3010852"/>
              <a:ext cx="933650"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F1 · WSJ only</a:t>
              </a:r>
            </a:p>
          </p:txBody>
        </p:sp>
        <p:sp>
          <p:nvSpPr>
            <p:cNvPr id="52" name="TextBox 52"/>
            <p:cNvSpPr txBox="1"/>
            <p:nvPr/>
          </p:nvSpPr>
          <p:spPr>
            <a:xfrm>
              <a:off x="7800396" y="3209449"/>
              <a:ext cx="1353708" cy="190690"/>
            </a:xfrm>
            <a:prstGeom prst="rect">
              <a:avLst/>
            </a:prstGeom>
            <a:noFill/>
            <a:ln>
              <a:noFill/>
            </a:ln>
          </p:spPr>
          <p:txBody>
            <a:bodyPr wrap="none" lIns="0" tIns="0" rIns="0" bIns="0" anchor="t" anchorCtr="0">
              <a:spAutoFit/>
            </a:bodyPr>
            <a:lstStyle/>
            <a:p>
              <a:pPr algn="ctr"/>
              <a:r>
                <a:rPr lang="en-US" sz="980" dirty="0">
                  <a:solidFill>
                    <a:srgbClr val="9CB4CC"/>
                  </a:solidFill>
                  <a:latin typeface="Segoe UI"/>
                  <a:ea typeface="Segoe UI"/>
                  <a:cs typeface="Segoe UI"/>
                </a:rPr>
                <a:t>4-layer Transformer</a:t>
              </a:r>
            </a:p>
          </p:txBody>
        </p:sp>
        <p:sp>
          <p:nvSpPr>
            <p:cNvPr id="53" name="Line 53"/>
            <p:cNvSpPr/>
            <p:nvPr/>
          </p:nvSpPr>
          <p:spPr>
            <a:xfrm>
              <a:off x="9382125" y="2381250"/>
              <a:ext cx="9525" cy="1047750"/>
            </a:xfrm>
            <a:custGeom>
              <a:avLst/>
              <a:gdLst/>
              <a:ahLst/>
              <a:cxnLst/>
              <a:rect l="l" t="t" r="r" b="b"/>
              <a:pathLst>
                <a:path w="9525" h="1047750">
                  <a:moveTo>
                    <a:pt x="0" y="0"/>
                  </a:moveTo>
                  <a:lnTo>
                    <a:pt x="0" y="1047750"/>
                  </a:lnTo>
                </a:path>
              </a:pathLst>
            </a:custGeom>
            <a:noFill/>
            <a:ln w="9525">
              <a:solidFill>
                <a:srgbClr val="3C5A80"/>
              </a:solidFill>
            </a:ln>
          </p:spPr>
        </p:sp>
        <p:sp>
          <p:nvSpPr>
            <p:cNvPr id="54" name="TextBox 54"/>
            <p:cNvSpPr txBox="1"/>
            <p:nvPr/>
          </p:nvSpPr>
          <p:spPr>
            <a:xfrm>
              <a:off x="9733047" y="2485072"/>
              <a:ext cx="1107906"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92.7</a:t>
              </a:r>
            </a:p>
          </p:txBody>
        </p:sp>
        <p:sp>
          <p:nvSpPr>
            <p:cNvPr id="55" name="TextBox 55"/>
            <p:cNvSpPr txBox="1"/>
            <p:nvPr/>
          </p:nvSpPr>
          <p:spPr>
            <a:xfrm>
              <a:off x="9558056" y="3010852"/>
              <a:ext cx="1457889" cy="205359"/>
            </a:xfrm>
            <a:prstGeom prst="rect">
              <a:avLst/>
            </a:prstGeom>
            <a:noFill/>
            <a:ln>
              <a:noFill/>
            </a:ln>
          </p:spPr>
          <p:txBody>
            <a:bodyPr wrap="none" lIns="0" tIns="0" rIns="0" bIns="0" anchor="t" anchorCtr="0">
              <a:spAutoFit/>
            </a:bodyPr>
            <a:lstStyle/>
            <a:p>
              <a:pPr algn="ctr"/>
              <a:r>
                <a:rPr lang="en-US" sz="1050" dirty="0">
                  <a:solidFill>
                    <a:srgbClr val="E8F1FA"/>
                  </a:solidFill>
                  <a:latin typeface="Segoe UI"/>
                  <a:ea typeface="Segoe UI"/>
                  <a:cs typeface="Segoe UI"/>
                </a:rPr>
                <a:t>F1 · semi-supervised</a:t>
              </a:r>
            </a:p>
          </p:txBody>
        </p:sp>
        <p:sp>
          <p:nvSpPr>
            <p:cNvPr id="56" name="TextBox 56"/>
            <p:cNvSpPr txBox="1"/>
            <p:nvPr/>
          </p:nvSpPr>
          <p:spPr>
            <a:xfrm>
              <a:off x="9610146" y="3209449"/>
              <a:ext cx="1353708" cy="190690"/>
            </a:xfrm>
            <a:prstGeom prst="rect">
              <a:avLst/>
            </a:prstGeom>
            <a:noFill/>
            <a:ln>
              <a:noFill/>
            </a:ln>
          </p:spPr>
          <p:txBody>
            <a:bodyPr wrap="none" lIns="0" tIns="0" rIns="0" bIns="0" anchor="t" anchorCtr="0">
              <a:spAutoFit/>
            </a:bodyPr>
            <a:lstStyle/>
            <a:p>
              <a:pPr algn="ctr"/>
              <a:r>
                <a:rPr lang="en-US" sz="980" dirty="0">
                  <a:solidFill>
                    <a:srgbClr val="9CB4CC"/>
                  </a:solidFill>
                  <a:latin typeface="Segoe UI"/>
                  <a:ea typeface="Segoe UI"/>
                  <a:cs typeface="Segoe UI"/>
                </a:rPr>
                <a:t>4-layer Transformer</a:t>
              </a:r>
            </a:p>
          </p:txBody>
        </p:sp>
      </p:grpSp>
      <p:grpSp>
        <p:nvGrpSpPr>
          <p:cNvPr id="60" name="Group 60"/>
          <p:cNvGrpSpPr/>
          <p:nvPr/>
        </p:nvGrpSpPr>
        <p:grpSpPr>
          <a:xfrm>
            <a:off x="7524750" y="3962400"/>
            <a:ext cx="3234309" cy="1619250"/>
            <a:chOff x="7524750" y="3962400"/>
            <a:chExt cx="3234309" cy="1619250"/>
          </a:xfrm>
        </p:grpSpPr>
        <p:sp>
          <p:nvSpPr>
            <p:cNvPr id="58" name="Line 58"/>
            <p:cNvSpPr/>
            <p:nvPr/>
          </p:nvSpPr>
          <p:spPr>
            <a:xfrm>
              <a:off x="7524750" y="3962400"/>
              <a:ext cx="9525" cy="1619250"/>
            </a:xfrm>
            <a:custGeom>
              <a:avLst/>
              <a:gdLst/>
              <a:ahLst/>
              <a:cxnLst/>
              <a:rect l="l" t="t" r="r" b="b"/>
              <a:pathLst>
                <a:path w="9525" h="1619250">
                  <a:moveTo>
                    <a:pt x="0" y="0"/>
                  </a:moveTo>
                  <a:lnTo>
                    <a:pt x="0" y="1619250"/>
                  </a:lnTo>
                </a:path>
              </a:pathLst>
            </a:custGeom>
            <a:noFill/>
            <a:ln w="28575">
              <a:solidFill>
                <a:srgbClr val="F5A623"/>
              </a:solidFill>
            </a:ln>
          </p:spPr>
        </p:sp>
        <p:sp>
          <p:nvSpPr>
            <p:cNvPr id="59" name="TextBox 59"/>
            <p:cNvSpPr txBox="1"/>
            <p:nvPr/>
          </p:nvSpPr>
          <p:spPr>
            <a:xfrm>
              <a:off x="7746873" y="4053364"/>
              <a:ext cx="3012186" cy="1487614"/>
            </a:xfrm>
            <a:prstGeom prst="rect">
              <a:avLst/>
            </a:prstGeom>
            <a:noFill/>
            <a:ln>
              <a:noFill/>
            </a:ln>
          </p:spPr>
          <p:txBody>
            <a:bodyPr wrap="none" lIns="0" tIns="0" rIns="0" bIns="0" anchor="t" anchorCtr="0">
              <a:spAutoFit/>
            </a:bodyPr>
            <a:lstStyle/>
            <a:p>
              <a:pPr algn="l">
                <a:lnSpc>
                  <a:spcPts val="1950"/>
                </a:lnSpc>
              </a:pPr>
              <a:r>
                <a:rPr lang="en-US" sz="1280" dirty="0">
                  <a:solidFill>
                    <a:srgbClr val="C9DBEA"/>
                  </a:solidFill>
                  <a:latin typeface="Segoe UI"/>
                  <a:ea typeface="Segoe UI"/>
                  <a:cs typeface="Segoe UI"/>
                </a:rPr>
                <a:t>A 4-layer Transformer trained on WSJ</a:t>
              </a:r>
              <a:br/>
              <a:r>
                <a:rPr lang="en-US" sz="1280" dirty="0">
                  <a:solidFill>
                    <a:srgbClr val="C9DBEA"/>
                  </a:solidFill>
                  <a:latin typeface="Segoe UI"/>
                  <a:ea typeface="Segoe UI"/>
                  <a:cs typeface="Segoe UI"/>
                </a:rPr>
                <a:t>alone reaches 91.3 F1; with semi-</a:t>
              </a:r>
              <a:br/>
              <a:r>
                <a:rPr lang="en-US" sz="1280" dirty="0">
                  <a:solidFill>
                    <a:srgbClr val="C9DBEA"/>
                  </a:solidFill>
                  <a:latin typeface="Segoe UI"/>
                  <a:ea typeface="Segoe UI"/>
                  <a:cs typeface="Segoe UI"/>
                </a:rPr>
                <a:t>supervised data it reaches 92.7.</a:t>
              </a:r>
              <a:br/>
              <a:r>
                <a:rPr lang="en-US" sz="1280" dirty="0">
                  <a:solidFill>
                    <a:srgbClr val="C9DBEA"/>
                  </a:solidFill>
                  <a:latin typeface="Segoe UI"/>
                  <a:ea typeface="Segoe UI"/>
                  <a:cs typeface="Segoe UI"/>
                </a:rPr>
                <a:t>The abstract's claim holds: the</a:t>
              </a:r>
              <a:br/>
              <a:r>
                <a:rPr lang="en-US" sz="1280" dirty="0">
                  <a:solidFill>
                    <a:srgbClr val="C9DBEA"/>
                  </a:solidFill>
                  <a:latin typeface="Segoe UI"/>
                  <a:ea typeface="Segoe UI"/>
                  <a:cs typeface="Segoe UI"/>
                </a:rPr>
                <a:t>architecture generalizes beyond</a:t>
              </a:r>
              <a:br/>
              <a:r>
                <a:rPr lang="en-US" sz="1280" dirty="0">
                  <a:solidFill>
                    <a:srgbClr val="C9DBEA"/>
                  </a:solidFill>
                  <a:latin typeface="Segoe UI"/>
                  <a:ea typeface="Segoe UI"/>
                  <a:cs typeface="Segoe UI"/>
                </a:rPr>
                <a:t>translation, large data or small.</a:t>
              </a:r>
            </a:p>
          </p:txBody>
        </p:sp>
      </p:grpSp>
      <p:grpSp>
        <p:nvGrpSpPr>
          <p:cNvPr id="65" name="Group 65"/>
          <p:cNvGrpSpPr/>
          <p:nvPr/>
        </p:nvGrpSpPr>
        <p:grpSpPr>
          <a:xfrm>
            <a:off x="9525000" y="6362700"/>
            <a:ext cx="2095500" cy="304800"/>
            <a:chOff x="9525000" y="6362700"/>
            <a:chExt cx="2095500" cy="304800"/>
          </a:xfrm>
        </p:grpSpPr>
        <p:sp>
          <p:nvSpPr>
            <p:cNvPr id="61" name="Rectangle 61"/>
            <p:cNvSpPr/>
            <p:nvPr/>
          </p:nvSpPr>
          <p:spPr>
            <a:xfrm>
              <a:off x="9525000" y="6362700"/>
              <a:ext cx="2095500" cy="304800"/>
            </a:xfrm>
            <a:prstGeom prst="rect">
              <a:avLst/>
            </a:prstGeom>
            <a:noFill/>
            <a:ln w="9525">
              <a:solidFill>
                <a:srgbClr val="3C5A80"/>
              </a:solidFill>
            </a:ln>
          </p:spPr>
        </p:sp>
        <p:sp>
          <p:nvSpPr>
            <p:cNvPr id="62" name="Line 62"/>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63" name="TextBox 63"/>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64" name="TextBox 64"/>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13 / 15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400"/>
                                        <p:tgtEl>
                                          <p:spTgt spid="16"/>
                                        </p:tgtEl>
                                      </p:cBhvr>
                                    </p:animEffect>
                                  </p:childTnLst>
                                </p:cTn>
                              </p:par>
                            </p:childTnLst>
                          </p:cTn>
                        </p:par>
                        <p:par>
                          <p:cTn id="8" fill="hold">
                            <p:stCondLst>
                              <p:cond delay="400"/>
                            </p:stCondLst>
                            <p:childTnLst>
                              <p:par>
                                <p:cTn xmlns:p="http://schemas.openxmlformats.org/presentationml/2006/main" id="9" presetID="10" presetClass="entr" presetSubtype="0" fill="hold" grpId="0" nodeType="afterEffect">
                                  <p:stCondLst>
                                    <p:cond delay="20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childTnLst>
                          </p:cTn>
                        </p:par>
                        <p:par>
                          <p:cTn id="12" fill="hold">
                            <p:stCondLst>
                              <p:cond delay="1000"/>
                            </p:stCondLst>
                            <p:childTnLst>
                              <p:par>
                                <p:cTn xmlns:p="http://schemas.openxmlformats.org/presentationml/2006/main" id="13" presetID="10" presetClass="entr" presetSubtype="0" fill="hold" grpId="0" nodeType="afterEffect">
                                  <p:stCondLst>
                                    <p:cond delay="200"/>
                                  </p:stCondLst>
                                  <p:childTnLst>
                                    <p:set>
                                      <p:cBhvr>
                                        <p:cTn id="14" dur="1" fill="hold">
                                          <p:stCondLst>
                                            <p:cond delay="0"/>
                                          </p:stCondLst>
                                        </p:cTn>
                                        <p:tgtEl>
                                          <p:spTgt spid="36"/>
                                        </p:tgtEl>
                                        <p:attrNameLst>
                                          <p:attrName>style.visibility</p:attrName>
                                        </p:attrNameLst>
                                      </p:cBhvr>
                                      <p:to>
                                        <p:strVal val="visible"/>
                                      </p:to>
                                    </p:set>
                                    <p:animEffect transition="in" filter="fade">
                                      <p:cBhvr>
                                        <p:cTn id="15" dur="400"/>
                                        <p:tgtEl>
                                          <p:spTgt spid="36"/>
                                        </p:tgtEl>
                                      </p:cBhvr>
                                    </p:animEffect>
                                  </p:childTnLst>
                                </p:cTn>
                              </p:par>
                            </p:childTnLst>
                          </p:cTn>
                        </p:par>
                        <p:par>
                          <p:cTn id="16" fill="hold">
                            <p:stCondLst>
                              <p:cond delay="1600"/>
                            </p:stCondLst>
                            <p:childTnLst>
                              <p:par>
                                <p:cTn xmlns:p="http://schemas.openxmlformats.org/presentationml/2006/main" id="17" presetID="10" presetClass="entr" presetSubtype="0" fill="hold" grpId="0" nodeType="afterEffect">
                                  <p:stCondLst>
                                    <p:cond delay="20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400"/>
                                        <p:tgtEl>
                                          <p:spTgt spid="41"/>
                                        </p:tgtEl>
                                      </p:cBhvr>
                                    </p:animEffect>
                                  </p:childTnLst>
                                </p:cTn>
                              </p:par>
                            </p:childTnLst>
                          </p:cTn>
                        </p:par>
                        <p:par>
                          <p:cTn id="20" fill="hold">
                            <p:stCondLst>
                              <p:cond delay="2200"/>
                            </p:stCondLst>
                            <p:childTnLst>
                              <p:par>
                                <p:cTn xmlns:p="http://schemas.openxmlformats.org/presentationml/2006/main" id="21" presetID="10" presetClass="entr" presetSubtype="0" fill="hold" grpId="0" nodeType="afterEffect">
                                  <p:stCondLst>
                                    <p:cond delay="200"/>
                                  </p:stCondLst>
                                  <p:childTnLst>
                                    <p:set>
                                      <p:cBhvr>
                                        <p:cTn id="22" dur="1" fill="hold">
                                          <p:stCondLst>
                                            <p:cond delay="0"/>
                                          </p:stCondLst>
                                        </p:cTn>
                                        <p:tgtEl>
                                          <p:spTgt spid="45"/>
                                        </p:tgtEl>
                                        <p:attrNameLst>
                                          <p:attrName>style.visibility</p:attrName>
                                        </p:attrNameLst>
                                      </p:cBhvr>
                                      <p:to>
                                        <p:strVal val="visible"/>
                                      </p:to>
                                    </p:set>
                                    <p:animEffect transition="in" filter="fade">
                                      <p:cBhvr>
                                        <p:cTn id="23" dur="400"/>
                                        <p:tgtEl>
                                          <p:spTgt spid="45"/>
                                        </p:tgtEl>
                                      </p:cBhvr>
                                    </p:animEffect>
                                  </p:childTnLst>
                                </p:cTn>
                              </p:par>
                            </p:childTnLst>
                          </p:cTn>
                        </p:par>
                        <p:par>
                          <p:cTn id="24" fill="hold">
                            <p:stCondLst>
                              <p:cond delay="2800"/>
                            </p:stCondLst>
                            <p:childTnLst>
                              <p:par>
                                <p:cTn xmlns:p="http://schemas.openxmlformats.org/presentationml/2006/main" id="25" presetID="10" presetClass="entr" presetSubtype="0" fill="hold" grpId="0" nodeType="afterEffect">
                                  <p:stCondLst>
                                    <p:cond delay="200"/>
                                  </p:stCondLst>
                                  <p:childTnLst>
                                    <p:set>
                                      <p:cBhvr>
                                        <p:cTn id="26" dur="1" fill="hold">
                                          <p:stCondLst>
                                            <p:cond delay="0"/>
                                          </p:stCondLst>
                                        </p:cTn>
                                        <p:tgtEl>
                                          <p:spTgt spid="47"/>
                                        </p:tgtEl>
                                        <p:attrNameLst>
                                          <p:attrName>style.visibility</p:attrName>
                                        </p:attrNameLst>
                                      </p:cBhvr>
                                      <p:to>
                                        <p:strVal val="visible"/>
                                      </p:to>
                                    </p:set>
                                    <p:animEffect transition="in" filter="fade">
                                      <p:cBhvr>
                                        <p:cTn id="27" dur="300"/>
                                        <p:tgtEl>
                                          <p:spTgt spid="47"/>
                                        </p:tgtEl>
                                      </p:cBhvr>
                                    </p:animEffect>
                                  </p:childTnLst>
                                </p:cTn>
                              </p:par>
                            </p:childTnLst>
                          </p:cTn>
                        </p:par>
                        <p:par>
                          <p:cTn id="28" fill="hold">
                            <p:stCondLst>
                              <p:cond delay="3300"/>
                            </p:stCondLst>
                            <p:childTnLst>
                              <p:par>
                                <p:cTn xmlns:p="http://schemas.openxmlformats.org/presentationml/2006/main" id="29" presetID="23" presetClass="entr" presetSubtype="16" fill="hold" grpId="0" nodeType="afterEffect">
                                  <p:stCondLst>
                                    <p:cond delay="200"/>
                                  </p:stCondLst>
                                  <p:childTnLst>
                                    <p:set>
                                      <p:cBhvr>
                                        <p:cTn id="30" dur="1" fill="hold">
                                          <p:stCondLst>
                                            <p:cond delay="0"/>
                                          </p:stCondLst>
                                        </p:cTn>
                                        <p:tgtEl>
                                          <p:spTgt spid="57"/>
                                        </p:tgtEl>
                                        <p:attrNameLst>
                                          <p:attrName>style.visibility</p:attrName>
                                        </p:attrNameLst>
                                      </p:cBhvr>
                                      <p:to>
                                        <p:strVal val="visible"/>
                                      </p:to>
                                    </p:set>
                                    <p:anim calcmode="lin" valueType="num">
                                      <p:cBhvr>
                                        <p:cTn id="31" dur="600" fill="hold"/>
                                        <p:tgtEl>
                                          <p:spTgt spid="57"/>
                                        </p:tgtEl>
                                        <p:attrNameLst>
                                          <p:attrName>ppt_w</p:attrName>
                                        </p:attrNameLst>
                                      </p:cBhvr>
                                      <p:tavLst>
                                        <p:tav tm="0">
                                          <p:val>
                                            <p:fltVal val="0"/>
                                          </p:val>
                                        </p:tav>
                                        <p:tav tm="100000">
                                          <p:val>
                                            <p:strVal val="#ppt_w"/>
                                          </p:val>
                                        </p:tav>
                                      </p:tavLst>
                                    </p:anim>
                                    <p:anim calcmode="lin" valueType="num">
                                      <p:cBhvr>
                                        <p:cTn id="32" dur="600" fill="hold"/>
                                        <p:tgtEl>
                                          <p:spTgt spid="57"/>
                                        </p:tgtEl>
                                        <p:attrNameLst>
                                          <p:attrName>ppt_h</p:attrName>
                                        </p:attrNameLst>
                                      </p:cBhvr>
                                      <p:tavLst>
                                        <p:tav tm="0">
                                          <p:val>
                                            <p:fltVal val="0"/>
                                          </p:val>
                                        </p:tav>
                                        <p:tav tm="100000">
                                          <p:val>
                                            <p:strVal val="#ppt_h"/>
                                          </p:val>
                                        </p:tav>
                                      </p:tavLst>
                                    </p:anim>
                                  </p:childTnLst>
                                </p:cTn>
                              </p:par>
                            </p:childTnLst>
                          </p:cTn>
                        </p:par>
                        <p:par>
                          <p:cTn id="33" fill="hold">
                            <p:stCondLst>
                              <p:cond delay="4100"/>
                            </p:stCondLst>
                            <p:childTnLst>
                              <p:par>
                                <p:cTn xmlns:p="http://schemas.openxmlformats.org/presentationml/2006/main" id="34" presetID="10" presetClass="entr" presetSubtype="0" fill="hold" grpId="0" nodeType="afterEffect">
                                  <p:stCondLst>
                                    <p:cond delay="200"/>
                                  </p:stCondLst>
                                  <p:childTnLst>
                                    <p:set>
                                      <p:cBhvr>
                                        <p:cTn id="35" dur="1" fill="hold">
                                          <p:stCondLst>
                                            <p:cond delay="0"/>
                                          </p:stCondLst>
                                        </p:cTn>
                                        <p:tgtEl>
                                          <p:spTgt spid="60"/>
                                        </p:tgtEl>
                                        <p:attrNameLst>
                                          <p:attrName>style.visibility</p:attrName>
                                        </p:attrNameLst>
                                      </p:cBhvr>
                                      <p:to>
                                        <p:strVal val="visible"/>
                                      </p:to>
                                    </p:set>
                                    <p:animEffect transition="in" filter="fade">
                                      <p:cBhvr>
                                        <p:cTn id="36"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sp>
        <p:nvSpPr>
          <p:cNvPr id="2" name="Freeform 2"/>
          <p:cNvSpPr/>
          <p:nvPr/>
        </p:nvSpPr>
        <p:spPr>
          <a:xfrm>
            <a:off x="0" y="0"/>
            <a:ext cx="12192000" cy="6858000"/>
          </a:xfrm>
          <a:custGeom>
            <a:avLst/>
            <a:gdLst/>
            <a:ahLst/>
            <a:cxnLst/>
            <a:rect l="l" t="t" r="r" b="b"/>
            <a:pathLst>
              <a:path w="12192000" h="6858000">
                <a:moveTo>
                  <a:pt x="381000" y="0"/>
                </a:moveTo>
                <a:lnTo>
                  <a:pt x="381000" y="6858000"/>
                </a:lnTo>
                <a:moveTo>
                  <a:pt x="762000" y="0"/>
                </a:moveTo>
                <a:lnTo>
                  <a:pt x="762000" y="6858000"/>
                </a:lnTo>
                <a:moveTo>
                  <a:pt x="1143000" y="0"/>
                </a:moveTo>
                <a:lnTo>
                  <a:pt x="1143000" y="6858000"/>
                </a:lnTo>
                <a:moveTo>
                  <a:pt x="1524000" y="0"/>
                </a:moveTo>
                <a:lnTo>
                  <a:pt x="1524000" y="6858000"/>
                </a:lnTo>
                <a:moveTo>
                  <a:pt x="1905000" y="0"/>
                </a:moveTo>
                <a:lnTo>
                  <a:pt x="1905000" y="6858000"/>
                </a:lnTo>
                <a:moveTo>
                  <a:pt x="2286000" y="0"/>
                </a:moveTo>
                <a:lnTo>
                  <a:pt x="2286000" y="6858000"/>
                </a:lnTo>
                <a:moveTo>
                  <a:pt x="2667000" y="0"/>
                </a:moveTo>
                <a:lnTo>
                  <a:pt x="2667000" y="6858000"/>
                </a:lnTo>
                <a:moveTo>
                  <a:pt x="3048000" y="0"/>
                </a:moveTo>
                <a:lnTo>
                  <a:pt x="3048000" y="6858000"/>
                </a:lnTo>
                <a:moveTo>
                  <a:pt x="3429000" y="0"/>
                </a:moveTo>
                <a:lnTo>
                  <a:pt x="3429000" y="6858000"/>
                </a:lnTo>
                <a:moveTo>
                  <a:pt x="3810000" y="0"/>
                </a:moveTo>
                <a:lnTo>
                  <a:pt x="3810000" y="6858000"/>
                </a:lnTo>
                <a:moveTo>
                  <a:pt x="4191000" y="0"/>
                </a:moveTo>
                <a:lnTo>
                  <a:pt x="4191000" y="6858000"/>
                </a:lnTo>
                <a:moveTo>
                  <a:pt x="4572000" y="0"/>
                </a:moveTo>
                <a:lnTo>
                  <a:pt x="4572000" y="6858000"/>
                </a:lnTo>
                <a:moveTo>
                  <a:pt x="4953000" y="0"/>
                </a:moveTo>
                <a:lnTo>
                  <a:pt x="4953000" y="6858000"/>
                </a:lnTo>
                <a:moveTo>
                  <a:pt x="5334000" y="0"/>
                </a:moveTo>
                <a:lnTo>
                  <a:pt x="5334000" y="6858000"/>
                </a:lnTo>
                <a:moveTo>
                  <a:pt x="5715000" y="0"/>
                </a:moveTo>
                <a:lnTo>
                  <a:pt x="5715000" y="6858000"/>
                </a:lnTo>
                <a:moveTo>
                  <a:pt x="6096000" y="0"/>
                </a:moveTo>
                <a:lnTo>
                  <a:pt x="6096000" y="6858000"/>
                </a:lnTo>
                <a:moveTo>
                  <a:pt x="6477000" y="0"/>
                </a:moveTo>
                <a:lnTo>
                  <a:pt x="6477000" y="6858000"/>
                </a:lnTo>
                <a:moveTo>
                  <a:pt x="6858000" y="0"/>
                </a:moveTo>
                <a:lnTo>
                  <a:pt x="6858000" y="6858000"/>
                </a:lnTo>
                <a:moveTo>
                  <a:pt x="7239000" y="0"/>
                </a:moveTo>
                <a:lnTo>
                  <a:pt x="7239000" y="6858000"/>
                </a:lnTo>
                <a:moveTo>
                  <a:pt x="7620000" y="0"/>
                </a:moveTo>
                <a:lnTo>
                  <a:pt x="7620000" y="6858000"/>
                </a:lnTo>
                <a:moveTo>
                  <a:pt x="8001000" y="0"/>
                </a:moveTo>
                <a:lnTo>
                  <a:pt x="8001000" y="6858000"/>
                </a:lnTo>
                <a:moveTo>
                  <a:pt x="8382000" y="0"/>
                </a:moveTo>
                <a:lnTo>
                  <a:pt x="8382000" y="6858000"/>
                </a:lnTo>
                <a:moveTo>
                  <a:pt x="8763000" y="0"/>
                </a:moveTo>
                <a:lnTo>
                  <a:pt x="8763000" y="6858000"/>
                </a:lnTo>
                <a:moveTo>
                  <a:pt x="9144000" y="0"/>
                </a:moveTo>
                <a:lnTo>
                  <a:pt x="9144000" y="6858000"/>
                </a:lnTo>
                <a:moveTo>
                  <a:pt x="9525000" y="0"/>
                </a:moveTo>
                <a:lnTo>
                  <a:pt x="9525000" y="6858000"/>
                </a:lnTo>
                <a:moveTo>
                  <a:pt x="9906000" y="0"/>
                </a:moveTo>
                <a:lnTo>
                  <a:pt x="9906000" y="6858000"/>
                </a:lnTo>
                <a:moveTo>
                  <a:pt x="10287000" y="0"/>
                </a:moveTo>
                <a:lnTo>
                  <a:pt x="10287000" y="6858000"/>
                </a:lnTo>
                <a:moveTo>
                  <a:pt x="10668000" y="0"/>
                </a:moveTo>
                <a:lnTo>
                  <a:pt x="10668000" y="6858000"/>
                </a:lnTo>
                <a:moveTo>
                  <a:pt x="11049000" y="0"/>
                </a:moveTo>
                <a:lnTo>
                  <a:pt x="11049000" y="6858000"/>
                </a:lnTo>
                <a:moveTo>
                  <a:pt x="11430000" y="0"/>
                </a:moveTo>
                <a:lnTo>
                  <a:pt x="11430000" y="6858000"/>
                </a:lnTo>
                <a:moveTo>
                  <a:pt x="11811000" y="0"/>
                </a:moveTo>
                <a:lnTo>
                  <a:pt x="11811000" y="6858000"/>
                </a:lnTo>
                <a:moveTo>
                  <a:pt x="0" y="381000"/>
                </a:moveTo>
                <a:lnTo>
                  <a:pt x="12192000" y="381000"/>
                </a:lnTo>
                <a:moveTo>
                  <a:pt x="0" y="762000"/>
                </a:moveTo>
                <a:lnTo>
                  <a:pt x="12192000" y="762000"/>
                </a:lnTo>
                <a:moveTo>
                  <a:pt x="0" y="1143000"/>
                </a:moveTo>
                <a:lnTo>
                  <a:pt x="12192000" y="1143000"/>
                </a:lnTo>
                <a:moveTo>
                  <a:pt x="0" y="1524000"/>
                </a:moveTo>
                <a:lnTo>
                  <a:pt x="12192000" y="1524000"/>
                </a:lnTo>
                <a:moveTo>
                  <a:pt x="0" y="1905000"/>
                </a:moveTo>
                <a:lnTo>
                  <a:pt x="12192000" y="1905000"/>
                </a:lnTo>
                <a:moveTo>
                  <a:pt x="0" y="2286000"/>
                </a:moveTo>
                <a:lnTo>
                  <a:pt x="12192000" y="2286000"/>
                </a:lnTo>
                <a:moveTo>
                  <a:pt x="0" y="2667000"/>
                </a:moveTo>
                <a:lnTo>
                  <a:pt x="12192000" y="2667000"/>
                </a:lnTo>
                <a:moveTo>
                  <a:pt x="0" y="3048000"/>
                </a:moveTo>
                <a:lnTo>
                  <a:pt x="12192000" y="3048000"/>
                </a:lnTo>
                <a:moveTo>
                  <a:pt x="0" y="3429000"/>
                </a:moveTo>
                <a:lnTo>
                  <a:pt x="12192000" y="3429000"/>
                </a:lnTo>
                <a:moveTo>
                  <a:pt x="0" y="3810000"/>
                </a:moveTo>
                <a:lnTo>
                  <a:pt x="12192000" y="3810000"/>
                </a:lnTo>
                <a:moveTo>
                  <a:pt x="0" y="4191000"/>
                </a:moveTo>
                <a:lnTo>
                  <a:pt x="12192000" y="4191000"/>
                </a:lnTo>
                <a:moveTo>
                  <a:pt x="0" y="4572000"/>
                </a:moveTo>
                <a:lnTo>
                  <a:pt x="12192000" y="4572000"/>
                </a:lnTo>
                <a:moveTo>
                  <a:pt x="0" y="4953000"/>
                </a:moveTo>
                <a:lnTo>
                  <a:pt x="12192000" y="4953000"/>
                </a:lnTo>
                <a:moveTo>
                  <a:pt x="0" y="5334000"/>
                </a:moveTo>
                <a:lnTo>
                  <a:pt x="12192000" y="5334000"/>
                </a:lnTo>
                <a:moveTo>
                  <a:pt x="0" y="5715000"/>
                </a:moveTo>
                <a:lnTo>
                  <a:pt x="12192000" y="5715000"/>
                </a:lnTo>
                <a:moveTo>
                  <a:pt x="0" y="6096000"/>
                </a:moveTo>
                <a:lnTo>
                  <a:pt x="12192000" y="6096000"/>
                </a:lnTo>
                <a:moveTo>
                  <a:pt x="0" y="6477000"/>
                </a:moveTo>
                <a:lnTo>
                  <a:pt x="12192000" y="6477000"/>
                </a:lnTo>
              </a:path>
            </a:pathLst>
          </a:custGeom>
          <a:noFill/>
          <a:ln w="9525">
            <a:solidFill>
              <a:srgbClr val="9CC3E6">
                <a:alpha val="7000"/>
              </a:srgbClr>
            </a:solidFill>
          </a:ln>
        </p:spPr>
      </p:sp>
      <p:grpSp>
        <p:nvGrpSpPr>
          <p:cNvPr id="5" name="Group 5"/>
          <p:cNvGrpSpPr/>
          <p:nvPr/>
        </p:nvGrpSpPr>
        <p:grpSpPr>
          <a:xfrm>
            <a:off x="747522" y="439102"/>
            <a:ext cx="3930215" cy="801243"/>
            <a:chOff x="747522" y="439102"/>
            <a:chExt cx="3930215" cy="801243"/>
          </a:xfrm>
        </p:grpSpPr>
        <p:sp>
          <p:nvSpPr>
            <p:cNvPr id="3" name="TextBox 3"/>
            <p:cNvSpPr txBox="1"/>
            <p:nvPr/>
          </p:nvSpPr>
          <p:spPr>
            <a:xfrm>
              <a:off x="775716" y="439102"/>
              <a:ext cx="1222553"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05 · LEGACY</a:t>
              </a:r>
            </a:p>
          </p:txBody>
        </p:sp>
        <p:sp>
          <p:nvSpPr>
            <p:cNvPr id="4" name="TextBox 4"/>
            <p:cNvSpPr txBox="1"/>
            <p:nvPr/>
          </p:nvSpPr>
          <p:spPr>
            <a:xfrm>
              <a:off x="747522" y="682942"/>
              <a:ext cx="3930215" cy="557403"/>
            </a:xfrm>
            <a:prstGeom prst="rect">
              <a:avLst/>
            </a:prstGeom>
            <a:noFill/>
            <a:ln>
              <a:noFill/>
            </a:ln>
          </p:spPr>
          <p:txBody>
            <a:bodyPr wrap="none" lIns="0" tIns="0" rIns="0" bIns="0" anchor="t" anchorCtr="0">
              <a:spAutoFit/>
            </a:bodyPr>
            <a:lstStyle/>
            <a:p>
              <a:pPr algn="l"/>
              <a:r>
                <a:rPr lang="en-US" sz="2850" b="1" dirty="0">
                  <a:solidFill>
                    <a:srgbClr val="E8F1FA"/>
                  </a:solidFill>
                  <a:latin typeface="Segoe UI"/>
                  <a:ea typeface="Segoe UI"/>
                  <a:cs typeface="Segoe UI"/>
                </a:rPr>
                <a:t>What was built on it</a:t>
              </a:r>
            </a:p>
          </p:txBody>
        </p:sp>
      </p:grpSp>
      <p:grpSp>
        <p:nvGrpSpPr>
          <p:cNvPr id="30" name="Group 30"/>
          <p:cNvGrpSpPr/>
          <p:nvPr/>
        </p:nvGrpSpPr>
        <p:grpSpPr>
          <a:xfrm>
            <a:off x="1040888" y="1571149"/>
            <a:ext cx="10017637" cy="1702212"/>
            <a:chOff x="1040888" y="1571149"/>
            <a:chExt cx="10017637" cy="1702212"/>
          </a:xfrm>
        </p:grpSpPr>
        <p:sp>
          <p:nvSpPr>
            <p:cNvPr id="6" name="Line 6"/>
            <p:cNvSpPr/>
            <p:nvPr/>
          </p:nvSpPr>
          <p:spPr>
            <a:xfrm>
              <a:off x="1143000" y="2571750"/>
              <a:ext cx="9906000" cy="9525"/>
            </a:xfrm>
            <a:custGeom>
              <a:avLst/>
              <a:gdLst/>
              <a:ahLst/>
              <a:cxnLst/>
              <a:rect l="l" t="t" r="r" b="b"/>
              <a:pathLst>
                <a:path w="9906000" h="9525">
                  <a:moveTo>
                    <a:pt x="0" y="0"/>
                  </a:moveTo>
                  <a:lnTo>
                    <a:pt x="9906000" y="0"/>
                  </a:lnTo>
                </a:path>
              </a:pathLst>
            </a:custGeom>
            <a:noFill/>
            <a:ln w="14288">
              <a:solidFill>
                <a:srgbClr val="9CC3E6"/>
              </a:solidFill>
            </a:ln>
          </p:spPr>
        </p:sp>
        <p:sp>
          <p:nvSpPr>
            <p:cNvPr id="7" name="Line 7"/>
            <p:cNvSpPr/>
            <p:nvPr/>
          </p:nvSpPr>
          <p:spPr>
            <a:xfrm>
              <a:off x="1143000" y="2476500"/>
              <a:ext cx="9525" cy="190500"/>
            </a:xfrm>
            <a:custGeom>
              <a:avLst/>
              <a:gdLst/>
              <a:ahLst/>
              <a:cxnLst/>
              <a:rect l="l" t="t" r="r" b="b"/>
              <a:pathLst>
                <a:path w="9525" h="190500">
                  <a:moveTo>
                    <a:pt x="0" y="0"/>
                  </a:moveTo>
                  <a:lnTo>
                    <a:pt x="0" y="190500"/>
                  </a:lnTo>
                </a:path>
              </a:pathLst>
            </a:custGeom>
            <a:noFill/>
            <a:ln w="14288">
              <a:solidFill>
                <a:srgbClr val="9CC3E6"/>
              </a:solidFill>
            </a:ln>
          </p:spPr>
        </p:sp>
        <p:sp>
          <p:nvSpPr>
            <p:cNvPr id="8" name="Line 8"/>
            <p:cNvSpPr/>
            <p:nvPr/>
          </p:nvSpPr>
          <p:spPr>
            <a:xfrm>
              <a:off x="11049000" y="2476500"/>
              <a:ext cx="9525" cy="190500"/>
            </a:xfrm>
            <a:custGeom>
              <a:avLst/>
              <a:gdLst/>
              <a:ahLst/>
              <a:cxnLst/>
              <a:rect l="l" t="t" r="r" b="b"/>
              <a:pathLst>
                <a:path w="9525" h="190500">
                  <a:moveTo>
                    <a:pt x="0" y="0"/>
                  </a:moveTo>
                  <a:lnTo>
                    <a:pt x="0" y="190500"/>
                  </a:lnTo>
                </a:path>
              </a:pathLst>
            </a:custGeom>
            <a:noFill/>
            <a:ln w="14288">
              <a:solidFill>
                <a:srgbClr val="9CC3E6"/>
              </a:solidFill>
            </a:ln>
          </p:spPr>
        </p:sp>
        <p:grpSp>
          <p:nvGrpSpPr>
            <p:cNvPr id="13" name="Group 13"/>
            <p:cNvGrpSpPr/>
            <p:nvPr/>
          </p:nvGrpSpPr>
          <p:grpSpPr>
            <a:xfrm>
              <a:off x="1040888" y="2118360"/>
              <a:ext cx="1347225" cy="1155001"/>
              <a:chOff x="1040888" y="2118360"/>
              <a:chExt cx="1347225" cy="1155001"/>
            </a:xfrm>
          </p:grpSpPr>
          <p:sp>
            <p:nvSpPr>
              <p:cNvPr id="9" name="Ellipse 9"/>
              <p:cNvSpPr/>
              <p:nvPr/>
            </p:nvSpPr>
            <p:spPr>
              <a:xfrm>
                <a:off x="1628775" y="2486025"/>
                <a:ext cx="171450" cy="171450"/>
              </a:xfrm>
              <a:prstGeom prst="ellipse">
                <a:avLst/>
              </a:prstGeom>
              <a:solidFill>
                <a:srgbClr val="F5A623"/>
              </a:solidFill>
              <a:ln>
                <a:noFill/>
              </a:ln>
            </p:spPr>
          </p:sp>
          <p:sp>
            <p:nvSpPr>
              <p:cNvPr id="10" name="TextBox 10"/>
              <p:cNvSpPr txBox="1"/>
              <p:nvPr/>
            </p:nvSpPr>
            <p:spPr>
              <a:xfrm>
                <a:off x="1500416" y="2118360"/>
                <a:ext cx="428168" cy="234696"/>
              </a:xfrm>
              <a:prstGeom prst="rect">
                <a:avLst/>
              </a:prstGeom>
              <a:noFill/>
              <a:ln>
                <a:noFill/>
              </a:ln>
            </p:spPr>
            <p:txBody>
              <a:bodyPr wrap="none" lIns="0" tIns="0" rIns="0" bIns="0" anchor="t" anchorCtr="0">
                <a:spAutoFit/>
              </a:bodyPr>
              <a:lstStyle/>
              <a:p>
                <a:pPr algn="ctr"/>
                <a:r>
                  <a:rPr lang="en-US" sz="1200" spc="150" dirty="0">
                    <a:solidFill>
                      <a:srgbClr val="F5A623"/>
                    </a:solidFill>
                    <a:latin typeface="Consolas"/>
                    <a:ea typeface="Consolas"/>
                    <a:cs typeface="Consolas"/>
                  </a:rPr>
                  <a:t>2017</a:t>
                </a:r>
              </a:p>
            </p:txBody>
          </p:sp>
          <p:sp>
            <p:nvSpPr>
              <p:cNvPr id="11" name="TextBox 11"/>
              <p:cNvSpPr txBox="1"/>
              <p:nvPr/>
            </p:nvSpPr>
            <p:spPr>
              <a:xfrm>
                <a:off x="1040888" y="2790825"/>
                <a:ext cx="1347225" cy="293370"/>
              </a:xfrm>
              <a:prstGeom prst="rect">
                <a:avLst/>
              </a:prstGeom>
              <a:noFill/>
              <a:ln>
                <a:noFill/>
              </a:ln>
            </p:spPr>
            <p:txBody>
              <a:bodyPr wrap="none" lIns="0" tIns="0" rIns="0" bIns="0" anchor="t" anchorCtr="0">
                <a:spAutoFit/>
              </a:bodyPr>
              <a:lstStyle/>
              <a:p>
                <a:pPr algn="ctr"/>
                <a:r>
                  <a:rPr lang="en-US" sz="1500" b="1" dirty="0">
                    <a:solidFill>
                      <a:srgbClr val="E8F1FA"/>
                    </a:solidFill>
                    <a:latin typeface="Segoe UI"/>
                    <a:ea typeface="Segoe UI"/>
                    <a:cs typeface="Segoe UI"/>
                  </a:rPr>
                  <a:t>Transformer</a:t>
                </a:r>
              </a:p>
            </p:txBody>
          </p:sp>
          <p:sp>
            <p:nvSpPr>
              <p:cNvPr id="12" name="TextBox 12"/>
              <p:cNvSpPr txBox="1"/>
              <p:nvPr/>
            </p:nvSpPr>
            <p:spPr>
              <a:xfrm>
                <a:off x="1376991" y="3068002"/>
                <a:ext cx="675018" cy="205359"/>
              </a:xfrm>
              <a:prstGeom prst="rect">
                <a:avLst/>
              </a:prstGeom>
              <a:noFill/>
              <a:ln>
                <a:noFill/>
              </a:ln>
            </p:spPr>
            <p:txBody>
              <a:bodyPr wrap="none" lIns="0" tIns="0" rIns="0" bIns="0" anchor="t" anchorCtr="0">
                <a:spAutoFit/>
              </a:bodyPr>
              <a:lstStyle/>
              <a:p>
                <a:pPr algn="ctr"/>
                <a:r>
                  <a:rPr lang="en-US" sz="1050" dirty="0">
                    <a:solidFill>
                      <a:srgbClr val="9CB4CC"/>
                    </a:solidFill>
                    <a:latin typeface="Segoe UI"/>
                    <a:ea typeface="Segoe UI"/>
                    <a:cs typeface="Segoe UI"/>
                  </a:rPr>
                  <a:t>the paper</a:t>
                </a:r>
              </a:p>
            </p:txBody>
          </p:sp>
        </p:grpSp>
        <p:grpSp>
          <p:nvGrpSpPr>
            <p:cNvPr id="18" name="Group 18"/>
            <p:cNvGrpSpPr/>
            <p:nvPr/>
          </p:nvGrpSpPr>
          <p:grpSpPr>
            <a:xfrm>
              <a:off x="3249216" y="2118360"/>
              <a:ext cx="1883569" cy="1155001"/>
              <a:chOff x="3249216" y="2118360"/>
              <a:chExt cx="1883569" cy="1155001"/>
            </a:xfrm>
          </p:grpSpPr>
          <p:sp>
            <p:nvSpPr>
              <p:cNvPr id="14" name="Ellipse 14"/>
              <p:cNvSpPr/>
              <p:nvPr/>
            </p:nvSpPr>
            <p:spPr>
              <a:xfrm>
                <a:off x="4133850" y="2514600"/>
                <a:ext cx="114300" cy="114300"/>
              </a:xfrm>
              <a:prstGeom prst="ellipse">
                <a:avLst/>
              </a:prstGeom>
              <a:solidFill>
                <a:srgbClr val="0B1F3A"/>
              </a:solidFill>
              <a:ln w="19050">
                <a:solidFill>
                  <a:srgbClr val="9CC3E6"/>
                </a:solidFill>
              </a:ln>
            </p:spPr>
          </p:sp>
          <p:sp>
            <p:nvSpPr>
              <p:cNvPr id="15" name="TextBox 15"/>
              <p:cNvSpPr txBox="1"/>
              <p:nvPr/>
            </p:nvSpPr>
            <p:spPr>
              <a:xfrm>
                <a:off x="3976916" y="2118360"/>
                <a:ext cx="428168" cy="234696"/>
              </a:xfrm>
              <a:prstGeom prst="rect">
                <a:avLst/>
              </a:prstGeom>
              <a:noFill/>
              <a:ln>
                <a:noFill/>
              </a:ln>
            </p:spPr>
            <p:txBody>
              <a:bodyPr wrap="none" lIns="0" tIns="0" rIns="0" bIns="0" anchor="t" anchorCtr="0">
                <a:spAutoFit/>
              </a:bodyPr>
              <a:lstStyle/>
              <a:p>
                <a:pPr algn="ctr"/>
                <a:r>
                  <a:rPr lang="en-US" sz="1200" spc="150" dirty="0">
                    <a:solidFill>
                      <a:srgbClr val="9CC3E6"/>
                    </a:solidFill>
                    <a:latin typeface="Consolas"/>
                    <a:ea typeface="Consolas"/>
                    <a:cs typeface="Consolas"/>
                  </a:rPr>
                  <a:t>2018</a:t>
                </a:r>
              </a:p>
            </p:txBody>
          </p:sp>
          <p:sp>
            <p:nvSpPr>
              <p:cNvPr id="16" name="TextBox 16"/>
              <p:cNvSpPr txBox="1"/>
              <p:nvPr/>
            </p:nvSpPr>
            <p:spPr>
              <a:xfrm>
                <a:off x="3623310" y="2790825"/>
                <a:ext cx="1135380" cy="293370"/>
              </a:xfrm>
              <a:prstGeom prst="rect">
                <a:avLst/>
              </a:prstGeom>
              <a:noFill/>
              <a:ln>
                <a:noFill/>
              </a:ln>
            </p:spPr>
            <p:txBody>
              <a:bodyPr wrap="none" lIns="0" tIns="0" rIns="0" bIns="0" anchor="t" anchorCtr="0">
                <a:spAutoFit/>
              </a:bodyPr>
              <a:lstStyle/>
              <a:p>
                <a:pPr algn="ctr"/>
                <a:r>
                  <a:rPr lang="en-US" sz="1500" b="1" dirty="0">
                    <a:solidFill>
                      <a:srgbClr val="E8F1FA"/>
                    </a:solidFill>
                    <a:latin typeface="Segoe UI"/>
                    <a:ea typeface="Segoe UI"/>
                    <a:cs typeface="Segoe UI"/>
                  </a:rPr>
                  <a:t>BERT · GPT</a:t>
                </a:r>
              </a:p>
            </p:txBody>
          </p:sp>
          <p:sp>
            <p:nvSpPr>
              <p:cNvPr id="17" name="TextBox 17"/>
              <p:cNvSpPr txBox="1"/>
              <p:nvPr/>
            </p:nvSpPr>
            <p:spPr>
              <a:xfrm>
                <a:off x="3249216" y="3068002"/>
                <a:ext cx="1883569" cy="205359"/>
              </a:xfrm>
              <a:prstGeom prst="rect">
                <a:avLst/>
              </a:prstGeom>
              <a:noFill/>
              <a:ln>
                <a:noFill/>
              </a:ln>
            </p:spPr>
            <p:txBody>
              <a:bodyPr wrap="none" lIns="0" tIns="0" rIns="0" bIns="0" anchor="t" anchorCtr="0">
                <a:spAutoFit/>
              </a:bodyPr>
              <a:lstStyle/>
              <a:p>
                <a:pPr algn="ctr"/>
                <a:r>
                  <a:rPr lang="en-US" sz="1050" dirty="0">
                    <a:solidFill>
                      <a:srgbClr val="9CB4CC"/>
                    </a:solidFill>
                    <a:latin typeface="Segoe UI"/>
                    <a:ea typeface="Segoe UI"/>
                    <a:cs typeface="Segoe UI"/>
                  </a:rPr>
                  <a:t>pretrained language models</a:t>
                </a:r>
              </a:p>
            </p:txBody>
          </p:sp>
        </p:grpSp>
        <p:grpSp>
          <p:nvGrpSpPr>
            <p:cNvPr id="23" name="Group 23"/>
            <p:cNvGrpSpPr/>
            <p:nvPr/>
          </p:nvGrpSpPr>
          <p:grpSpPr>
            <a:xfrm>
              <a:off x="5912682" y="2118360"/>
              <a:ext cx="1890636" cy="1155001"/>
              <a:chOff x="5912682" y="2118360"/>
              <a:chExt cx="1890636" cy="1155001"/>
            </a:xfrm>
          </p:grpSpPr>
          <p:sp>
            <p:nvSpPr>
              <p:cNvPr id="19" name="Ellipse 19"/>
              <p:cNvSpPr/>
              <p:nvPr/>
            </p:nvSpPr>
            <p:spPr>
              <a:xfrm>
                <a:off x="6800850" y="2514600"/>
                <a:ext cx="114300" cy="114300"/>
              </a:xfrm>
              <a:prstGeom prst="ellipse">
                <a:avLst/>
              </a:prstGeom>
              <a:solidFill>
                <a:srgbClr val="0B1F3A"/>
              </a:solidFill>
              <a:ln w="19050">
                <a:solidFill>
                  <a:srgbClr val="9CC3E6"/>
                </a:solidFill>
              </a:ln>
            </p:spPr>
          </p:sp>
          <p:sp>
            <p:nvSpPr>
              <p:cNvPr id="20" name="TextBox 20"/>
              <p:cNvSpPr txBox="1"/>
              <p:nvPr/>
            </p:nvSpPr>
            <p:spPr>
              <a:xfrm>
                <a:off x="6643916" y="2118360"/>
                <a:ext cx="428168" cy="234696"/>
              </a:xfrm>
              <a:prstGeom prst="rect">
                <a:avLst/>
              </a:prstGeom>
              <a:noFill/>
              <a:ln>
                <a:noFill/>
              </a:ln>
            </p:spPr>
            <p:txBody>
              <a:bodyPr wrap="none" lIns="0" tIns="0" rIns="0" bIns="0" anchor="t" anchorCtr="0">
                <a:spAutoFit/>
              </a:bodyPr>
              <a:lstStyle/>
              <a:p>
                <a:pPr algn="ctr"/>
                <a:r>
                  <a:rPr lang="en-US" sz="1200" spc="150" dirty="0">
                    <a:solidFill>
                      <a:srgbClr val="9CC3E6"/>
                    </a:solidFill>
                    <a:latin typeface="Consolas"/>
                    <a:ea typeface="Consolas"/>
                    <a:cs typeface="Consolas"/>
                  </a:rPr>
                  <a:t>2021</a:t>
                </a:r>
              </a:p>
            </p:txBody>
          </p:sp>
          <p:sp>
            <p:nvSpPr>
              <p:cNvPr id="21" name="TextBox 21"/>
              <p:cNvSpPr txBox="1"/>
              <p:nvPr/>
            </p:nvSpPr>
            <p:spPr>
              <a:xfrm>
                <a:off x="6199486" y="2790825"/>
                <a:ext cx="1317028" cy="293370"/>
              </a:xfrm>
              <a:prstGeom prst="rect">
                <a:avLst/>
              </a:prstGeom>
              <a:noFill/>
              <a:ln>
                <a:noFill/>
              </a:ln>
            </p:spPr>
            <p:txBody>
              <a:bodyPr wrap="none" lIns="0" tIns="0" rIns="0" bIns="0" anchor="t" anchorCtr="0">
                <a:spAutoFit/>
              </a:bodyPr>
              <a:lstStyle/>
              <a:p>
                <a:pPr algn="ctr"/>
                <a:r>
                  <a:rPr lang="en-US" sz="1500" b="1" dirty="0">
                    <a:solidFill>
                      <a:srgbClr val="E8F1FA"/>
                    </a:solidFill>
                    <a:latin typeface="Segoe UI"/>
                    <a:ea typeface="Segoe UI"/>
                    <a:cs typeface="Segoe UI"/>
                  </a:rPr>
                  <a:t>ViT · DALL-E</a:t>
                </a:r>
              </a:p>
            </p:txBody>
          </p:sp>
          <p:sp>
            <p:nvSpPr>
              <p:cNvPr id="22" name="TextBox 22"/>
              <p:cNvSpPr txBox="1"/>
              <p:nvPr/>
            </p:nvSpPr>
            <p:spPr>
              <a:xfrm>
                <a:off x="5912682" y="3068002"/>
                <a:ext cx="1890636" cy="205359"/>
              </a:xfrm>
              <a:prstGeom prst="rect">
                <a:avLst/>
              </a:prstGeom>
              <a:noFill/>
              <a:ln>
                <a:noFill/>
              </a:ln>
            </p:spPr>
            <p:txBody>
              <a:bodyPr wrap="none" lIns="0" tIns="0" rIns="0" bIns="0" anchor="t" anchorCtr="0">
                <a:spAutoFit/>
              </a:bodyPr>
              <a:lstStyle/>
              <a:p>
                <a:pPr algn="ctr"/>
                <a:r>
                  <a:rPr lang="en-US" sz="1050" dirty="0">
                    <a:solidFill>
                      <a:srgbClr val="9CB4CC"/>
                    </a:solidFill>
                    <a:latin typeface="Segoe UI"/>
                    <a:ea typeface="Segoe UI"/>
                    <a:cs typeface="Segoe UI"/>
                  </a:rPr>
                  <a:t>vision and image generation</a:t>
                </a:r>
              </a:p>
            </p:txBody>
          </p:sp>
        </p:grpSp>
        <p:grpSp>
          <p:nvGrpSpPr>
            <p:cNvPr id="28" name="Group 28"/>
            <p:cNvGrpSpPr/>
            <p:nvPr/>
          </p:nvGrpSpPr>
          <p:grpSpPr>
            <a:xfrm>
              <a:off x="8424351" y="2118360"/>
              <a:ext cx="2582298" cy="1155001"/>
              <a:chOff x="8424351" y="2118360"/>
              <a:chExt cx="2582298" cy="1155001"/>
            </a:xfrm>
          </p:grpSpPr>
          <p:sp>
            <p:nvSpPr>
              <p:cNvPr id="24" name="Ellipse 24"/>
              <p:cNvSpPr/>
              <p:nvPr/>
            </p:nvSpPr>
            <p:spPr>
              <a:xfrm>
                <a:off x="9658350" y="2514600"/>
                <a:ext cx="114300" cy="114300"/>
              </a:xfrm>
              <a:prstGeom prst="ellipse">
                <a:avLst/>
              </a:prstGeom>
              <a:solidFill>
                <a:srgbClr val="0B1F3A"/>
              </a:solidFill>
              <a:ln w="19050">
                <a:solidFill>
                  <a:srgbClr val="9CC3E6"/>
                </a:solidFill>
              </a:ln>
            </p:spPr>
          </p:sp>
          <p:sp>
            <p:nvSpPr>
              <p:cNvPr id="25" name="TextBox 25"/>
              <p:cNvSpPr txBox="1"/>
              <p:nvPr/>
            </p:nvSpPr>
            <p:spPr>
              <a:xfrm>
                <a:off x="9501416" y="2118360"/>
                <a:ext cx="428168" cy="234696"/>
              </a:xfrm>
              <a:prstGeom prst="rect">
                <a:avLst/>
              </a:prstGeom>
              <a:noFill/>
              <a:ln>
                <a:noFill/>
              </a:ln>
            </p:spPr>
            <p:txBody>
              <a:bodyPr wrap="none" lIns="0" tIns="0" rIns="0" bIns="0" anchor="t" anchorCtr="0">
                <a:spAutoFit/>
              </a:bodyPr>
              <a:lstStyle/>
              <a:p>
                <a:pPr algn="ctr"/>
                <a:r>
                  <a:rPr lang="en-US" sz="1200" spc="150" dirty="0">
                    <a:solidFill>
                      <a:srgbClr val="9CC3E6"/>
                    </a:solidFill>
                    <a:latin typeface="Consolas"/>
                    <a:ea typeface="Consolas"/>
                    <a:cs typeface="Consolas"/>
                  </a:rPr>
                  <a:t>2024</a:t>
                </a:r>
              </a:p>
            </p:txBody>
          </p:sp>
          <p:sp>
            <p:nvSpPr>
              <p:cNvPr id="26" name="TextBox 26"/>
              <p:cNvSpPr txBox="1"/>
              <p:nvPr/>
            </p:nvSpPr>
            <p:spPr>
              <a:xfrm>
                <a:off x="8424351" y="2790825"/>
                <a:ext cx="2582298" cy="293370"/>
              </a:xfrm>
              <a:prstGeom prst="rect">
                <a:avLst/>
              </a:prstGeom>
              <a:noFill/>
              <a:ln>
                <a:noFill/>
              </a:ln>
            </p:spPr>
            <p:txBody>
              <a:bodyPr wrap="none" lIns="0" tIns="0" rIns="0" bIns="0" anchor="t" anchorCtr="0">
                <a:spAutoFit/>
              </a:bodyPr>
              <a:lstStyle/>
              <a:p>
                <a:pPr algn="ctr"/>
                <a:r>
                  <a:rPr lang="en-US" sz="1500" b="1" dirty="0">
                    <a:solidFill>
                      <a:srgbClr val="E8F1FA"/>
                    </a:solidFill>
                    <a:latin typeface="Segoe UI"/>
                    <a:ea typeface="Segoe UI"/>
                    <a:cs typeface="Segoe UI"/>
                  </a:rPr>
                  <a:t>Stable Diffusion 3 · Sora</a:t>
                </a:r>
              </a:p>
            </p:txBody>
          </p:sp>
          <p:sp>
            <p:nvSpPr>
              <p:cNvPr id="27" name="TextBox 27"/>
              <p:cNvSpPr txBox="1"/>
              <p:nvPr/>
            </p:nvSpPr>
            <p:spPr>
              <a:xfrm>
                <a:off x="8791384" y="3068002"/>
                <a:ext cx="1848231" cy="205359"/>
              </a:xfrm>
              <a:prstGeom prst="rect">
                <a:avLst/>
              </a:prstGeom>
              <a:noFill/>
              <a:ln>
                <a:noFill/>
              </a:ln>
            </p:spPr>
            <p:txBody>
              <a:bodyPr wrap="none" lIns="0" tIns="0" rIns="0" bIns="0" anchor="t" anchorCtr="0">
                <a:spAutoFit/>
              </a:bodyPr>
              <a:lstStyle/>
              <a:p>
                <a:pPr algn="ctr"/>
                <a:r>
                  <a:rPr lang="en-US" sz="1050" dirty="0">
                    <a:solidFill>
                      <a:srgbClr val="9CB4CC"/>
                    </a:solidFill>
                    <a:latin typeface="Segoe UI"/>
                    <a:ea typeface="Segoe UI"/>
                    <a:cs typeface="Segoe UI"/>
                  </a:rPr>
                  <a:t>image and video generation</a:t>
                </a:r>
              </a:p>
            </p:txBody>
          </p:sp>
        </p:grpSp>
        <p:sp>
          <p:nvSpPr>
            <p:cNvPr id="29" name="TextBox 29"/>
            <p:cNvSpPr txBox="1"/>
            <p:nvPr/>
          </p:nvSpPr>
          <p:spPr>
            <a:xfrm>
              <a:off x="3962852" y="1571149"/>
              <a:ext cx="4266296" cy="190690"/>
            </a:xfrm>
            <a:prstGeom prst="rect">
              <a:avLst/>
            </a:prstGeom>
            <a:noFill/>
            <a:ln>
              <a:noFill/>
            </a:ln>
          </p:spPr>
          <p:txBody>
            <a:bodyPr wrap="none" lIns="0" tIns="0" rIns="0" bIns="0" anchor="t" anchorCtr="0">
              <a:spAutoFit/>
            </a:bodyPr>
            <a:lstStyle/>
            <a:p>
              <a:pPr algn="ctr"/>
              <a:r>
                <a:rPr lang="en-US" sz="980" spc="150" dirty="0">
                  <a:solidFill>
                    <a:srgbClr val="9CC3E6"/>
                  </a:solidFill>
                  <a:latin typeface="Consolas"/>
                  <a:ea typeface="Consolas"/>
                  <a:cs typeface="Consolas"/>
                </a:rPr>
                <a:t>SYSTEMS BUILT ON THE TRANSFORMER ARCHITECTURE</a:t>
              </a:r>
            </a:p>
          </p:txBody>
        </p:sp>
      </p:grpSp>
      <p:grpSp>
        <p:nvGrpSpPr>
          <p:cNvPr id="40" name="Group 40"/>
          <p:cNvGrpSpPr/>
          <p:nvPr/>
        </p:nvGrpSpPr>
        <p:grpSpPr>
          <a:xfrm>
            <a:off x="1368552" y="4038600"/>
            <a:ext cx="2596896" cy="1495806"/>
            <a:chOff x="1368552" y="4038600"/>
            <a:chExt cx="2596896" cy="1495806"/>
          </a:xfrm>
        </p:grpSpPr>
        <p:grpSp>
          <p:nvGrpSpPr>
            <p:cNvPr id="36" name="Group 36"/>
            <p:cNvGrpSpPr/>
            <p:nvPr/>
          </p:nvGrpSpPr>
          <p:grpSpPr>
            <a:xfrm>
              <a:off x="2578100" y="4038600"/>
              <a:ext cx="177800" cy="228599"/>
              <a:chOff x="2578100" y="4038600"/>
              <a:chExt cx="177800" cy="228599"/>
            </a:xfrm>
          </p:grpSpPr>
          <p:sp>
            <p:nvSpPr>
              <p:cNvPr id="31" name="Freeform 31"/>
              <p:cNvSpPr/>
              <p:nvPr/>
            </p:nvSpPr>
            <p:spPr>
              <a:xfrm>
                <a:off x="2692400" y="403860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25400">
                <a:solidFill>
                  <a:srgbClr val="9CC3E6"/>
                </a:solidFill>
              </a:ln>
            </p:spPr>
          </p:sp>
          <p:sp>
            <p:nvSpPr>
              <p:cNvPr id="32" name="Freeform 32"/>
              <p:cNvSpPr/>
              <p:nvPr/>
            </p:nvSpPr>
            <p:spPr>
              <a:xfrm>
                <a:off x="2578100" y="4038600"/>
                <a:ext cx="177800" cy="228599"/>
              </a:xfrm>
              <a:custGeom>
                <a:avLst/>
                <a:gdLst/>
                <a:ahLst/>
                <a:cxnLst/>
                <a:rect l="l" t="t" r="r" b="b"/>
                <a:pathLst>
                  <a:path w="177800" h="228599">
                    <a:moveTo>
                      <a:pt x="152400" y="228599"/>
                    </a:moveTo>
                    <a:lnTo>
                      <a:pt x="25400" y="228599"/>
                    </a:lnTo>
                    <a:cubicBezTo>
                      <a:pt x="11372" y="228599"/>
                      <a:pt x="0" y="217227"/>
                      <a:pt x="0" y="203199"/>
                    </a:cubicBezTo>
                    <a:lnTo>
                      <a:pt x="0" y="25400"/>
                    </a:lnTo>
                    <a:cubicBezTo>
                      <a:pt x="0" y="11372"/>
                      <a:pt x="11372" y="0"/>
                      <a:pt x="25400" y="0"/>
                    </a:cubicBezTo>
                    <a:lnTo>
                      <a:pt x="114300" y="0"/>
                    </a:lnTo>
                    <a:lnTo>
                      <a:pt x="177800" y="63500"/>
                    </a:lnTo>
                    <a:lnTo>
                      <a:pt x="177800" y="203199"/>
                    </a:lnTo>
                    <a:cubicBezTo>
                      <a:pt x="177800" y="217227"/>
                      <a:pt x="166428" y="228599"/>
                      <a:pt x="152400" y="228599"/>
                    </a:cubicBezTo>
                  </a:path>
                </a:pathLst>
              </a:custGeom>
              <a:noFill/>
              <a:ln w="25400">
                <a:solidFill>
                  <a:srgbClr val="9CC3E6"/>
                </a:solidFill>
              </a:ln>
            </p:spPr>
          </p:sp>
          <p:sp>
            <p:nvSpPr>
              <p:cNvPr id="33" name="Freeform 33"/>
              <p:cNvSpPr/>
              <p:nvPr/>
            </p:nvSpPr>
            <p:spPr>
              <a:xfrm>
                <a:off x="2628900" y="4114800"/>
                <a:ext cx="12700" cy="9525"/>
              </a:xfrm>
              <a:custGeom>
                <a:avLst/>
                <a:gdLst/>
                <a:ahLst/>
                <a:cxnLst/>
                <a:rect l="l" t="t" r="r" b="b"/>
                <a:pathLst>
                  <a:path w="12700" h="9525">
                    <a:moveTo>
                      <a:pt x="0" y="0"/>
                    </a:moveTo>
                    <a:lnTo>
                      <a:pt x="12700" y="0"/>
                    </a:lnTo>
                  </a:path>
                </a:pathLst>
              </a:custGeom>
              <a:noFill/>
              <a:ln w="25400">
                <a:solidFill>
                  <a:srgbClr val="9CC3E6"/>
                </a:solidFill>
              </a:ln>
            </p:spPr>
          </p:sp>
          <p:sp>
            <p:nvSpPr>
              <p:cNvPr id="34" name="Freeform 34"/>
              <p:cNvSpPr/>
              <p:nvPr/>
            </p:nvSpPr>
            <p:spPr>
              <a:xfrm>
                <a:off x="2628900" y="4165600"/>
                <a:ext cx="76200" cy="9525"/>
              </a:xfrm>
              <a:custGeom>
                <a:avLst/>
                <a:gdLst/>
                <a:ahLst/>
                <a:cxnLst/>
                <a:rect l="l" t="t" r="r" b="b"/>
                <a:pathLst>
                  <a:path w="76200" h="9525">
                    <a:moveTo>
                      <a:pt x="0" y="0"/>
                    </a:moveTo>
                    <a:lnTo>
                      <a:pt x="76200" y="0"/>
                    </a:lnTo>
                  </a:path>
                </a:pathLst>
              </a:custGeom>
              <a:noFill/>
              <a:ln w="25400">
                <a:solidFill>
                  <a:srgbClr val="9CC3E6"/>
                </a:solidFill>
              </a:ln>
            </p:spPr>
          </p:sp>
          <p:sp>
            <p:nvSpPr>
              <p:cNvPr id="35" name="Freeform 35"/>
              <p:cNvSpPr/>
              <p:nvPr/>
            </p:nvSpPr>
            <p:spPr>
              <a:xfrm>
                <a:off x="2628900" y="4216399"/>
                <a:ext cx="76200" cy="9525"/>
              </a:xfrm>
              <a:custGeom>
                <a:avLst/>
                <a:gdLst/>
                <a:ahLst/>
                <a:cxnLst/>
                <a:rect l="l" t="t" r="r" b="b"/>
                <a:pathLst>
                  <a:path w="76200" h="9525">
                    <a:moveTo>
                      <a:pt x="0" y="0"/>
                    </a:moveTo>
                    <a:lnTo>
                      <a:pt x="76200" y="0"/>
                    </a:lnTo>
                  </a:path>
                </a:pathLst>
              </a:custGeom>
              <a:noFill/>
              <a:ln w="25400">
                <a:solidFill>
                  <a:srgbClr val="9CC3E6"/>
                </a:solidFill>
              </a:ln>
            </p:spPr>
          </p:sp>
        </p:grpSp>
        <p:sp>
          <p:nvSpPr>
            <p:cNvPr id="37" name="TextBox 37"/>
            <p:cNvSpPr txBox="1"/>
            <p:nvPr/>
          </p:nvSpPr>
          <p:spPr>
            <a:xfrm>
              <a:off x="1576620" y="4504372"/>
              <a:ext cx="2180760"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250,000+</a:t>
              </a:r>
            </a:p>
          </p:txBody>
        </p:sp>
        <p:sp>
          <p:nvSpPr>
            <p:cNvPr id="38" name="TextBox 38"/>
            <p:cNvSpPr txBox="1"/>
            <p:nvPr/>
          </p:nvSpPr>
          <p:spPr>
            <a:xfrm>
              <a:off x="1384706" y="5071110"/>
              <a:ext cx="2564587"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citations as of 2026 — among the</a:t>
              </a:r>
            </a:p>
          </p:txBody>
        </p:sp>
        <p:sp>
          <p:nvSpPr>
            <p:cNvPr id="39" name="TextBox 39"/>
            <p:cNvSpPr txBox="1"/>
            <p:nvPr/>
          </p:nvSpPr>
          <p:spPr>
            <a:xfrm>
              <a:off x="1368552" y="5299710"/>
              <a:ext cx="2596896"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top-ten most-cited this century</a:t>
              </a:r>
            </a:p>
          </p:txBody>
        </p:sp>
      </p:grpSp>
      <p:grpSp>
        <p:nvGrpSpPr>
          <p:cNvPr id="48" name="Group 48"/>
          <p:cNvGrpSpPr/>
          <p:nvPr/>
        </p:nvGrpSpPr>
        <p:grpSpPr>
          <a:xfrm>
            <a:off x="4708703" y="4051300"/>
            <a:ext cx="2774594" cy="1483106"/>
            <a:chOff x="4708703" y="4051300"/>
            <a:chExt cx="2774594" cy="1483106"/>
          </a:xfrm>
        </p:grpSpPr>
        <p:grpSp>
          <p:nvGrpSpPr>
            <p:cNvPr id="44" name="Group 44"/>
            <p:cNvGrpSpPr/>
            <p:nvPr/>
          </p:nvGrpSpPr>
          <p:grpSpPr>
            <a:xfrm>
              <a:off x="5990388" y="4051300"/>
              <a:ext cx="207211" cy="207211"/>
              <a:chOff x="5990388" y="4051300"/>
              <a:chExt cx="207211" cy="207211"/>
            </a:xfrm>
          </p:grpSpPr>
          <p:sp>
            <p:nvSpPr>
              <p:cNvPr id="41" name="Freeform 41"/>
              <p:cNvSpPr/>
              <p:nvPr/>
            </p:nvSpPr>
            <p:spPr>
              <a:xfrm>
                <a:off x="5994400" y="4051300"/>
                <a:ext cx="203199" cy="203199"/>
              </a:xfrm>
              <a:custGeom>
                <a:avLst/>
                <a:gdLst/>
                <a:ahLst/>
                <a:cxnLst/>
                <a:rect l="l" t="t" r="r" b="b"/>
                <a:pathLst>
                  <a:path w="203199" h="203199">
                    <a:moveTo>
                      <a:pt x="0" y="114300"/>
                    </a:moveTo>
                    <a:cubicBezTo>
                      <a:pt x="46611" y="119839"/>
                      <a:pt x="83360" y="156588"/>
                      <a:pt x="88900" y="203199"/>
                    </a:cubicBezTo>
                    <a:cubicBezTo>
                      <a:pt x="111723" y="190042"/>
                      <a:pt x="126130" y="166029"/>
                      <a:pt x="127000" y="139700"/>
                    </a:cubicBezTo>
                    <a:cubicBezTo>
                      <a:pt x="170608" y="124359"/>
                      <a:pt x="200683" y="84260"/>
                      <a:pt x="203199" y="38100"/>
                    </a:cubicBezTo>
                    <a:cubicBezTo>
                      <a:pt x="203199" y="17058"/>
                      <a:pt x="186142" y="0"/>
                      <a:pt x="165100" y="0"/>
                    </a:cubicBezTo>
                    <a:cubicBezTo>
                      <a:pt x="118940" y="2517"/>
                      <a:pt x="78841" y="32591"/>
                      <a:pt x="63500" y="76200"/>
                    </a:cubicBezTo>
                    <a:cubicBezTo>
                      <a:pt x="37170" y="77069"/>
                      <a:pt x="13158" y="91477"/>
                      <a:pt x="0" y="114300"/>
                    </a:cubicBezTo>
                  </a:path>
                </a:pathLst>
              </a:custGeom>
              <a:noFill/>
              <a:ln w="25400">
                <a:solidFill>
                  <a:srgbClr val="9CC3E6"/>
                </a:solidFill>
              </a:ln>
            </p:spPr>
          </p:sp>
          <p:sp>
            <p:nvSpPr>
              <p:cNvPr id="42" name="Freeform 42"/>
              <p:cNvSpPr/>
              <p:nvPr/>
            </p:nvSpPr>
            <p:spPr>
              <a:xfrm>
                <a:off x="5990388" y="4178300"/>
                <a:ext cx="80211" cy="80211"/>
              </a:xfrm>
              <a:custGeom>
                <a:avLst/>
                <a:gdLst/>
                <a:ahLst/>
                <a:cxnLst/>
                <a:rect l="l" t="t" r="r" b="b"/>
                <a:pathLst>
                  <a:path w="80211" h="80211">
                    <a:moveTo>
                      <a:pt x="42111" y="0"/>
                    </a:moveTo>
                    <a:cubicBezTo>
                      <a:pt x="15072" y="15265"/>
                      <a:pt x="0" y="45410"/>
                      <a:pt x="4011" y="76200"/>
                    </a:cubicBezTo>
                    <a:cubicBezTo>
                      <a:pt x="34802" y="80211"/>
                      <a:pt x="64946" y="65139"/>
                      <a:pt x="80211" y="38100"/>
                    </a:cubicBezTo>
                  </a:path>
                </a:pathLst>
              </a:custGeom>
              <a:noFill/>
              <a:ln w="25400">
                <a:solidFill>
                  <a:srgbClr val="9CC3E6"/>
                </a:solidFill>
              </a:ln>
            </p:spPr>
          </p:sp>
          <p:sp>
            <p:nvSpPr>
              <p:cNvPr id="43" name="Freeform 43"/>
              <p:cNvSpPr/>
              <p:nvPr/>
            </p:nvSpPr>
            <p:spPr>
              <a:xfrm>
                <a:off x="6121400" y="4102100"/>
                <a:ext cx="25400" cy="25400"/>
              </a:xfrm>
              <a:custGeom>
                <a:avLst/>
                <a:gdLst/>
                <a:ahLst/>
                <a:cxnLst/>
                <a:rect l="l" t="t" r="r" b="b"/>
                <a:pathLst>
                  <a:path w="25400" h="25400">
                    <a:moveTo>
                      <a:pt x="0" y="12700"/>
                    </a:moveTo>
                    <a:cubicBezTo>
                      <a:pt x="0" y="19714"/>
                      <a:pt x="5686" y="25400"/>
                      <a:pt x="12700" y="25400"/>
                    </a:cubicBezTo>
                    <a:cubicBezTo>
                      <a:pt x="19714" y="25400"/>
                      <a:pt x="25400" y="19714"/>
                      <a:pt x="25400" y="12700"/>
                    </a:cubicBezTo>
                    <a:cubicBezTo>
                      <a:pt x="25400" y="5686"/>
                      <a:pt x="19714" y="0"/>
                      <a:pt x="12700" y="0"/>
                    </a:cubicBezTo>
                    <a:cubicBezTo>
                      <a:pt x="5686" y="0"/>
                      <a:pt x="0" y="5686"/>
                      <a:pt x="0" y="12700"/>
                    </a:cubicBezTo>
                  </a:path>
                </a:pathLst>
              </a:custGeom>
              <a:noFill/>
              <a:ln w="25400">
                <a:solidFill>
                  <a:srgbClr val="9CC3E6"/>
                </a:solidFill>
              </a:ln>
            </p:spPr>
          </p:sp>
        </p:grpSp>
        <p:sp>
          <p:nvSpPr>
            <p:cNvPr id="45" name="TextBox 45"/>
            <p:cNvSpPr txBox="1"/>
            <p:nvPr/>
          </p:nvSpPr>
          <p:spPr>
            <a:xfrm>
              <a:off x="5395749" y="4504372"/>
              <a:ext cx="1400503" cy="674751"/>
            </a:xfrm>
            <a:prstGeom prst="rect">
              <a:avLst/>
            </a:prstGeom>
            <a:noFill/>
            <a:ln>
              <a:noFill/>
            </a:ln>
          </p:spPr>
          <p:txBody>
            <a:bodyPr wrap="none" lIns="0" tIns="0" rIns="0" bIns="0" anchor="t" anchorCtr="0">
              <a:spAutoFit/>
            </a:bodyPr>
            <a:lstStyle/>
            <a:p>
              <a:pPr algn="ctr"/>
              <a:r>
                <a:rPr lang="en-US" sz="3450" b="1" dirty="0">
                  <a:solidFill>
                    <a:srgbClr val="F5A623"/>
                  </a:solidFill>
                  <a:latin typeface="Segoe UI"/>
                  <a:ea typeface="Segoe UI"/>
                  <a:cs typeface="Segoe UI"/>
                </a:rPr>
                <a:t>8 of 8</a:t>
              </a:r>
            </a:p>
          </p:txBody>
        </p:sp>
        <p:sp>
          <p:nvSpPr>
            <p:cNvPr id="46" name="TextBox 46"/>
            <p:cNvSpPr txBox="1"/>
            <p:nvPr/>
          </p:nvSpPr>
          <p:spPr>
            <a:xfrm>
              <a:off x="4823267" y="5071110"/>
              <a:ext cx="2545466"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authors later left Google to join</a:t>
              </a:r>
            </a:p>
          </p:txBody>
        </p:sp>
        <p:sp>
          <p:nvSpPr>
            <p:cNvPr id="47" name="TextBox 47"/>
            <p:cNvSpPr txBox="1"/>
            <p:nvPr/>
          </p:nvSpPr>
          <p:spPr>
            <a:xfrm>
              <a:off x="4708703" y="5299710"/>
              <a:ext cx="2774594"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other companies or found startups</a:t>
              </a:r>
            </a:p>
          </p:txBody>
        </p:sp>
      </p:grpSp>
      <p:grpSp>
        <p:nvGrpSpPr>
          <p:cNvPr id="55" name="Group 55"/>
          <p:cNvGrpSpPr/>
          <p:nvPr/>
        </p:nvGrpSpPr>
        <p:grpSpPr>
          <a:xfrm>
            <a:off x="8063454" y="4076700"/>
            <a:ext cx="2923091" cy="1457706"/>
            <a:chOff x="8063454" y="4076700"/>
            <a:chExt cx="2923091" cy="1457706"/>
          </a:xfrm>
        </p:grpSpPr>
        <p:grpSp>
          <p:nvGrpSpPr>
            <p:cNvPr id="51" name="Group 51"/>
            <p:cNvGrpSpPr/>
            <p:nvPr/>
          </p:nvGrpSpPr>
          <p:grpSpPr>
            <a:xfrm>
              <a:off x="9436100" y="4076700"/>
              <a:ext cx="177800" cy="152400"/>
              <a:chOff x="9436100" y="4076700"/>
              <a:chExt cx="177800" cy="152400"/>
            </a:xfrm>
          </p:grpSpPr>
          <p:sp>
            <p:nvSpPr>
              <p:cNvPr id="49" name="Freeform 49"/>
              <p:cNvSpPr/>
              <p:nvPr/>
            </p:nvSpPr>
            <p:spPr>
              <a:xfrm>
                <a:off x="9436100" y="4076700"/>
                <a:ext cx="63500" cy="152400"/>
              </a:xfrm>
              <a:custGeom>
                <a:avLst/>
                <a:gdLst/>
                <a:ahLst/>
                <a:cxnLst/>
                <a:rect l="l" t="t" r="r" b="b"/>
                <a:pathLst>
                  <a:path w="63500" h="152400">
                    <a:moveTo>
                      <a:pt x="63500" y="63500"/>
                    </a:moveTo>
                    <a:lnTo>
                      <a:pt x="12700" y="63500"/>
                    </a:lnTo>
                    <a:cubicBezTo>
                      <a:pt x="5686" y="63500"/>
                      <a:pt x="0" y="57814"/>
                      <a:pt x="0" y="50800"/>
                    </a:cubicBezTo>
                    <a:lnTo>
                      <a:pt x="0" y="12700"/>
                    </a:lnTo>
                    <a:cubicBezTo>
                      <a:pt x="0" y="5686"/>
                      <a:pt x="5686" y="0"/>
                      <a:pt x="12700" y="0"/>
                    </a:cubicBezTo>
                    <a:lnTo>
                      <a:pt x="50800" y="0"/>
                    </a:lnTo>
                    <a:cubicBezTo>
                      <a:pt x="57814" y="0"/>
                      <a:pt x="63500" y="5686"/>
                      <a:pt x="63500" y="12700"/>
                    </a:cubicBezTo>
                    <a:lnTo>
                      <a:pt x="63500" y="88900"/>
                    </a:lnTo>
                    <a:cubicBezTo>
                      <a:pt x="63500" y="122771"/>
                      <a:pt x="46571" y="143929"/>
                      <a:pt x="12700" y="152400"/>
                    </a:cubicBezTo>
                  </a:path>
                </a:pathLst>
              </a:custGeom>
              <a:noFill/>
              <a:ln w="25400">
                <a:solidFill>
                  <a:srgbClr val="9CC3E6"/>
                </a:solidFill>
              </a:ln>
            </p:spPr>
          </p:sp>
          <p:sp>
            <p:nvSpPr>
              <p:cNvPr id="50" name="Freeform 50"/>
              <p:cNvSpPr/>
              <p:nvPr/>
            </p:nvSpPr>
            <p:spPr>
              <a:xfrm>
                <a:off x="9550400" y="4076700"/>
                <a:ext cx="63500" cy="152400"/>
              </a:xfrm>
              <a:custGeom>
                <a:avLst/>
                <a:gdLst/>
                <a:ahLst/>
                <a:cxnLst/>
                <a:rect l="l" t="t" r="r" b="b"/>
                <a:pathLst>
                  <a:path w="63500" h="152400">
                    <a:moveTo>
                      <a:pt x="63500" y="63500"/>
                    </a:moveTo>
                    <a:lnTo>
                      <a:pt x="12700" y="63500"/>
                    </a:lnTo>
                    <a:cubicBezTo>
                      <a:pt x="5686" y="63500"/>
                      <a:pt x="0" y="57814"/>
                      <a:pt x="0" y="50800"/>
                    </a:cubicBezTo>
                    <a:lnTo>
                      <a:pt x="0" y="12700"/>
                    </a:lnTo>
                    <a:cubicBezTo>
                      <a:pt x="0" y="5686"/>
                      <a:pt x="5686" y="0"/>
                      <a:pt x="12700" y="0"/>
                    </a:cubicBezTo>
                    <a:lnTo>
                      <a:pt x="50800" y="0"/>
                    </a:lnTo>
                    <a:cubicBezTo>
                      <a:pt x="57814" y="0"/>
                      <a:pt x="63500" y="5686"/>
                      <a:pt x="63500" y="12700"/>
                    </a:cubicBezTo>
                    <a:lnTo>
                      <a:pt x="63500" y="88900"/>
                    </a:lnTo>
                    <a:cubicBezTo>
                      <a:pt x="63500" y="122771"/>
                      <a:pt x="46571" y="143929"/>
                      <a:pt x="12700" y="152400"/>
                    </a:cubicBezTo>
                  </a:path>
                </a:pathLst>
              </a:custGeom>
              <a:noFill/>
              <a:ln w="25400">
                <a:solidFill>
                  <a:srgbClr val="9CC3E6"/>
                </a:solidFill>
              </a:ln>
            </p:spPr>
          </p:sp>
        </p:grpSp>
        <p:sp>
          <p:nvSpPr>
            <p:cNvPr id="52" name="TextBox 52"/>
            <p:cNvSpPr txBox="1"/>
            <p:nvPr/>
          </p:nvSpPr>
          <p:spPr>
            <a:xfrm>
              <a:off x="8063454" y="4551998"/>
              <a:ext cx="2923091" cy="381381"/>
            </a:xfrm>
            <a:prstGeom prst="rect">
              <a:avLst/>
            </a:prstGeom>
            <a:noFill/>
            <a:ln>
              <a:noFill/>
            </a:ln>
          </p:spPr>
          <p:txBody>
            <a:bodyPr wrap="none" lIns="0" tIns="0" rIns="0" bIns="0" anchor="t" anchorCtr="0">
              <a:spAutoFit/>
            </a:bodyPr>
            <a:lstStyle/>
            <a:p>
              <a:pPr algn="ctr"/>
              <a:r>
                <a:rPr lang="en-US" sz="1950" b="1" dirty="0">
                  <a:solidFill>
                    <a:srgbClr val="F5A623"/>
                  </a:solidFill>
                  <a:latin typeface="Segoe UI"/>
                  <a:ea typeface="Segoe UI"/>
                  <a:cs typeface="Segoe UI"/>
                </a:rPr>
                <a:t>“All You Need Is Love”</a:t>
              </a:r>
            </a:p>
          </p:txBody>
        </p:sp>
        <p:sp>
          <p:nvSpPr>
            <p:cNvPr id="53" name="TextBox 53"/>
            <p:cNvSpPr txBox="1"/>
            <p:nvPr/>
          </p:nvSpPr>
          <p:spPr>
            <a:xfrm>
              <a:off x="8187519" y="5071110"/>
              <a:ext cx="2674963"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the Beatles song the title nods to</a:t>
              </a:r>
            </a:p>
          </p:txBody>
        </p:sp>
        <p:sp>
          <p:nvSpPr>
            <p:cNvPr id="54" name="TextBox 54"/>
            <p:cNvSpPr txBox="1"/>
            <p:nvPr/>
          </p:nvSpPr>
          <p:spPr>
            <a:xfrm>
              <a:off x="8610219" y="5299710"/>
              <a:ext cx="1829562" cy="234696"/>
            </a:xfrm>
            <a:prstGeom prst="rect">
              <a:avLst/>
            </a:prstGeom>
            <a:noFill/>
            <a:ln>
              <a:noFill/>
            </a:ln>
          </p:spPr>
          <p:txBody>
            <a:bodyPr wrap="none" lIns="0" tIns="0" rIns="0" bIns="0" anchor="t" anchorCtr="0">
              <a:spAutoFit/>
            </a:bodyPr>
            <a:lstStyle/>
            <a:p>
              <a:pPr algn="ctr"/>
              <a:r>
                <a:rPr lang="en-US" sz="1200" dirty="0">
                  <a:solidFill>
                    <a:srgbClr val="E8F1FA"/>
                  </a:solidFill>
                  <a:latin typeface="Segoe UI"/>
                  <a:ea typeface="Segoe UI"/>
                  <a:cs typeface="Segoe UI"/>
                </a:rPr>
                <a:t>— one joke, still landing</a:t>
              </a:r>
            </a:p>
          </p:txBody>
        </p:sp>
      </p:grpSp>
      <p:grpSp>
        <p:nvGrpSpPr>
          <p:cNvPr id="60" name="Group 60"/>
          <p:cNvGrpSpPr/>
          <p:nvPr/>
        </p:nvGrpSpPr>
        <p:grpSpPr>
          <a:xfrm>
            <a:off x="9525000" y="6362700"/>
            <a:ext cx="2095500" cy="304800"/>
            <a:chOff x="9525000" y="6362700"/>
            <a:chExt cx="2095500" cy="304800"/>
          </a:xfrm>
        </p:grpSpPr>
        <p:sp>
          <p:nvSpPr>
            <p:cNvPr id="56" name="Rectangle 56"/>
            <p:cNvSpPr/>
            <p:nvPr/>
          </p:nvSpPr>
          <p:spPr>
            <a:xfrm>
              <a:off x="9525000" y="6362700"/>
              <a:ext cx="2095500" cy="304800"/>
            </a:xfrm>
            <a:prstGeom prst="rect">
              <a:avLst/>
            </a:prstGeom>
            <a:noFill/>
            <a:ln w="9525">
              <a:solidFill>
                <a:srgbClr val="3C5A80"/>
              </a:solidFill>
            </a:ln>
          </p:spPr>
        </p:sp>
        <p:sp>
          <p:nvSpPr>
            <p:cNvPr id="57" name="Line 57"/>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58" name="TextBox 58"/>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59" name="TextBox 59"/>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14 / 15</a:t>
              </a:r>
            </a:p>
          </p:txBody>
        </p:sp>
      </p:grpSp>
    </p:spTree>
  </p:cSld>
  <p:clrMapOvr>
    <a:masterClrMapping/>
  </p:clrMapOvr>
  <p:transition xmlns:p14="http://schemas.microsoft.com/office/powerpoint/2010/main" p14:dur="500">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22" presetClass="entr" presetSubtype="2"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wipe(right)">
                                      <p:cBhvr>
                                        <p:cTn id="7" dur="1200"/>
                                        <p:tgtEl>
                                          <p:spTgt spid="30"/>
                                        </p:tgtEl>
                                      </p:cBhvr>
                                    </p:animEffect>
                                  </p:childTnLst>
                                </p:cTn>
                              </p:par>
                            </p:childTnLst>
                          </p:cTn>
                        </p:par>
                        <p:par>
                          <p:cTn id="8" fill="hold">
                            <p:stCondLst>
                              <p:cond delay="1200"/>
                            </p:stCondLst>
                            <p:childTnLst>
                              <p:par>
                                <p:cTn xmlns:p="http://schemas.openxmlformats.org/presentationml/2006/main" id="9" presetID="2" presetClass="entr" presetSubtype="1" fill="hold" grpId="0" nodeType="afterEffect">
                                  <p:stCondLst>
                                    <p:cond delay="300"/>
                                  </p:stCondLst>
                                  <p:childTnLst>
                                    <p:set>
                                      <p:cBhvr>
                                        <p:cTn id="10" dur="1" fill="hold">
                                          <p:stCondLst>
                                            <p:cond delay="0"/>
                                          </p:stCondLst>
                                        </p:cTn>
                                        <p:tgtEl>
                                          <p:spTgt spid="40"/>
                                        </p:tgtEl>
                                        <p:attrNameLst>
                                          <p:attrName>style.visibility</p:attrName>
                                        </p:attrNameLst>
                                      </p:cBhvr>
                                      <p:to>
                                        <p:strVal val="visible"/>
                                      </p:to>
                                    </p:set>
                                    <p:anim calcmode="lin" valueType="num">
                                      <p:cBhvr additive="base">
                                        <p:cTn id="11" dur="450" fill="hold"/>
                                        <p:tgtEl>
                                          <p:spTgt spid="40"/>
                                        </p:tgtEl>
                                        <p:attrNameLst>
                                          <p:attrName>ppt_x</p:attrName>
                                        </p:attrNameLst>
                                      </p:cBhvr>
                                      <p:tavLst>
                                        <p:tav tm="0">
                                          <p:val>
                                            <p:strVal val="#ppt_x"/>
                                          </p:val>
                                        </p:tav>
                                        <p:tav tm="100000">
                                          <p:val>
                                            <p:strVal val="#ppt_x"/>
                                          </p:val>
                                        </p:tav>
                                      </p:tavLst>
                                    </p:anim>
                                    <p:anim calcmode="lin" valueType="num">
                                      <p:cBhvr additive="base">
                                        <p:cTn id="12" dur="450" fill="hold"/>
                                        <p:tgtEl>
                                          <p:spTgt spid="40"/>
                                        </p:tgtEl>
                                        <p:attrNameLst>
                                          <p:attrName>ppt_y</p:attrName>
                                        </p:attrNameLst>
                                      </p:cBhvr>
                                      <p:tavLst>
                                        <p:tav tm="0">
                                          <p:val>
                                            <p:strVal val="0-#ppt_h/2"/>
                                          </p:val>
                                        </p:tav>
                                        <p:tav tm="100000">
                                          <p:val>
                                            <p:strVal val="#ppt_y"/>
                                          </p:val>
                                        </p:tav>
                                      </p:tavLst>
                                    </p:anim>
                                  </p:childTnLst>
                                </p:cTn>
                              </p:par>
                            </p:childTnLst>
                          </p:cTn>
                        </p:par>
                        <p:par>
                          <p:cTn id="13" fill="hold">
                            <p:stCondLst>
                              <p:cond delay="1950"/>
                            </p:stCondLst>
                            <p:childTnLst>
                              <p:par>
                                <p:cTn xmlns:p="http://schemas.openxmlformats.org/presentationml/2006/main" id="14" presetID="2" presetClass="entr" presetSubtype="1" fill="hold" grpId="0" nodeType="afterEffect">
                                  <p:stCondLst>
                                    <p:cond delay="300"/>
                                  </p:stCondLst>
                                  <p:childTnLst>
                                    <p:set>
                                      <p:cBhvr>
                                        <p:cTn id="15" dur="1" fill="hold">
                                          <p:stCondLst>
                                            <p:cond delay="0"/>
                                          </p:stCondLst>
                                        </p:cTn>
                                        <p:tgtEl>
                                          <p:spTgt spid="48"/>
                                        </p:tgtEl>
                                        <p:attrNameLst>
                                          <p:attrName>style.visibility</p:attrName>
                                        </p:attrNameLst>
                                      </p:cBhvr>
                                      <p:to>
                                        <p:strVal val="visible"/>
                                      </p:to>
                                    </p:set>
                                    <p:anim calcmode="lin" valueType="num">
                                      <p:cBhvr additive="base">
                                        <p:cTn id="16" dur="450" fill="hold"/>
                                        <p:tgtEl>
                                          <p:spTgt spid="48"/>
                                        </p:tgtEl>
                                        <p:attrNameLst>
                                          <p:attrName>ppt_x</p:attrName>
                                        </p:attrNameLst>
                                      </p:cBhvr>
                                      <p:tavLst>
                                        <p:tav tm="0">
                                          <p:val>
                                            <p:strVal val="#ppt_x"/>
                                          </p:val>
                                        </p:tav>
                                        <p:tav tm="100000">
                                          <p:val>
                                            <p:strVal val="#ppt_x"/>
                                          </p:val>
                                        </p:tav>
                                      </p:tavLst>
                                    </p:anim>
                                    <p:anim calcmode="lin" valueType="num">
                                      <p:cBhvr additive="base">
                                        <p:cTn id="17" dur="450" fill="hold"/>
                                        <p:tgtEl>
                                          <p:spTgt spid="48"/>
                                        </p:tgtEl>
                                        <p:attrNameLst>
                                          <p:attrName>ppt_y</p:attrName>
                                        </p:attrNameLst>
                                      </p:cBhvr>
                                      <p:tavLst>
                                        <p:tav tm="0">
                                          <p:val>
                                            <p:strVal val="0-#ppt_h/2"/>
                                          </p:val>
                                        </p:tav>
                                        <p:tav tm="100000">
                                          <p:val>
                                            <p:strVal val="#ppt_y"/>
                                          </p:val>
                                        </p:tav>
                                      </p:tavLst>
                                    </p:anim>
                                  </p:childTnLst>
                                </p:cTn>
                              </p:par>
                            </p:childTnLst>
                          </p:cTn>
                        </p:par>
                        <p:par>
                          <p:cTn id="18" fill="hold">
                            <p:stCondLst>
                              <p:cond delay="2700"/>
                            </p:stCondLst>
                            <p:childTnLst>
                              <p:par>
                                <p:cTn xmlns:p="http://schemas.openxmlformats.org/presentationml/2006/main" id="19" presetID="2" presetClass="entr" presetSubtype="1" fill="hold" grpId="0" nodeType="afterEffect">
                                  <p:stCondLst>
                                    <p:cond delay="300"/>
                                  </p:stCondLst>
                                  <p:childTnLst>
                                    <p:set>
                                      <p:cBhvr>
                                        <p:cTn id="20" dur="1" fill="hold">
                                          <p:stCondLst>
                                            <p:cond delay="0"/>
                                          </p:stCondLst>
                                        </p:cTn>
                                        <p:tgtEl>
                                          <p:spTgt spid="55"/>
                                        </p:tgtEl>
                                        <p:attrNameLst>
                                          <p:attrName>style.visibility</p:attrName>
                                        </p:attrNameLst>
                                      </p:cBhvr>
                                      <p:to>
                                        <p:strVal val="visible"/>
                                      </p:to>
                                    </p:set>
                                    <p:anim calcmode="lin" valueType="num">
                                      <p:cBhvr additive="base">
                                        <p:cTn id="21" dur="450" fill="hold"/>
                                        <p:tgtEl>
                                          <p:spTgt spid="55"/>
                                        </p:tgtEl>
                                        <p:attrNameLst>
                                          <p:attrName>ppt_x</p:attrName>
                                        </p:attrNameLst>
                                      </p:cBhvr>
                                      <p:tavLst>
                                        <p:tav tm="0">
                                          <p:val>
                                            <p:strVal val="#ppt_x"/>
                                          </p:val>
                                        </p:tav>
                                        <p:tav tm="100000">
                                          <p:val>
                                            <p:strVal val="#ppt_x"/>
                                          </p:val>
                                        </p:tav>
                                      </p:tavLst>
                                    </p:anim>
                                    <p:anim calcmode="lin" valueType="num">
                                      <p:cBhvr additive="base">
                                        <p:cTn id="22" dur="450" fill="hold"/>
                                        <p:tgtEl>
                                          <p:spTgt spid="55"/>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1F3A"/>
        </a:solidFill>
        <a:effectLst/>
      </p:bgPr>
    </p:bg>
    <p:spTree>
      <p:nvGrpSpPr>
        <p:cNvPr id="1" name=""/>
        <p:cNvGrpSpPr/>
        <p:nvPr/>
      </p:nvGrpSpPr>
      <p:grpSpPr>
        <a:xfrm>
          <a:off x="0" y="0"/>
          <a:ext cx="0" cy="0"/>
          <a:chOff x="0" y="0"/>
          <a:chExt cx="0" cy="0"/>
        </a:xfrm>
      </p:grpSpPr>
      <p:pic>
        <p:nvPicPr>
          <p:cNvPr id="2" name="Image 2"/>
          <p:cNvPicPr>
            <a:picLocks noChangeAspect="1"/>
          </p:cNvPicPr>
          <p:nvPr/>
        </p:nvPicPr>
        <p:blipFill>
          <a:blip r:embed="rId2">
            <a:alphaModFix amt="55000"/>
          </a:blip>
          <a:srcRect l="40000" t="20000" r="0" b="19500"/>
          <a:stretch>
            <a:fillRect/>
          </a:stretch>
        </p:blipFill>
        <p:spPr>
          <a:xfrm>
            <a:off x="0" y="0"/>
            <a:ext cx="12192000" cy="6858000"/>
          </a:xfrm>
          <a:prstGeom prst="rect">
            <a:avLst/>
          </a:prstGeom>
        </p:spPr>
      </p:pic>
      <p:sp>
        <p:nvSpPr>
          <p:cNvPr id="3" name="Rectangle 3"/>
          <p:cNvSpPr/>
          <p:nvPr/>
        </p:nvSpPr>
        <p:spPr>
          <a:xfrm>
            <a:off x="0" y="0"/>
            <a:ext cx="12192000" cy="6858000"/>
          </a:xfrm>
          <a:prstGeom prst="rect">
            <a:avLst/>
          </a:prstGeom>
          <a:gradFill>
            <a:gsLst>
              <a:gs pos="0">
                <a:srgbClr val="0B1F3A">
                  <a:alpha val="96000"/>
                </a:srgbClr>
              </a:gs>
              <a:gs pos="55000">
                <a:srgbClr val="0B1F3A">
                  <a:alpha val="70000"/>
                </a:srgbClr>
              </a:gs>
              <a:gs pos="100000">
                <a:srgbClr val="0B1F3A">
                  <a:alpha val="10000"/>
                </a:srgbClr>
              </a:gs>
            </a:gsLst>
            <a:lin ang="0" scaled="1"/>
          </a:gradFill>
          <a:ln>
            <a:noFill/>
          </a:ln>
        </p:spPr>
      </p:sp>
      <p:grpSp>
        <p:nvGrpSpPr>
          <p:cNvPr id="6" name="Group 6"/>
          <p:cNvGrpSpPr/>
          <p:nvPr/>
        </p:nvGrpSpPr>
        <p:grpSpPr>
          <a:xfrm>
            <a:off x="745998" y="1563052"/>
            <a:ext cx="5366671" cy="1456183"/>
            <a:chOff x="745998" y="1563052"/>
            <a:chExt cx="5366671" cy="1456183"/>
          </a:xfrm>
        </p:grpSpPr>
        <p:sp>
          <p:nvSpPr>
            <p:cNvPr id="4" name="TextBox 4"/>
            <p:cNvSpPr txBox="1"/>
            <p:nvPr/>
          </p:nvSpPr>
          <p:spPr>
            <a:xfrm>
              <a:off x="775716" y="1563052"/>
              <a:ext cx="1318565" cy="205359"/>
            </a:xfrm>
            <a:prstGeom prst="rect">
              <a:avLst/>
            </a:prstGeom>
            <a:noFill/>
            <a:ln>
              <a:noFill/>
            </a:ln>
          </p:spPr>
          <p:txBody>
            <a:bodyPr wrap="none" lIns="0" tIns="0" rIns="0" bIns="0" anchor="t" anchorCtr="0">
              <a:spAutoFit/>
            </a:bodyPr>
            <a:lstStyle/>
            <a:p>
              <a:pPr algn="l"/>
              <a:r>
                <a:rPr lang="en-US" sz="1050" spc="150" dirty="0">
                  <a:solidFill>
                    <a:srgbClr val="F5A623"/>
                  </a:solidFill>
                  <a:latin typeface="Consolas"/>
                  <a:ea typeface="Consolas"/>
                  <a:cs typeface="Consolas"/>
                </a:rPr>
                <a:t>§ 05 · CLOSING</a:t>
              </a:r>
            </a:p>
          </p:txBody>
        </p:sp>
        <p:sp>
          <p:nvSpPr>
            <p:cNvPr id="5" name="TextBox 5"/>
            <p:cNvSpPr txBox="1"/>
            <p:nvPr/>
          </p:nvSpPr>
          <p:spPr>
            <a:xfrm>
              <a:off x="745998" y="1907858"/>
              <a:ext cx="5366671" cy="1111377"/>
            </a:xfrm>
            <a:prstGeom prst="rect">
              <a:avLst/>
            </a:prstGeom>
            <a:noFill/>
            <a:ln>
              <a:noFill/>
            </a:ln>
          </p:spPr>
          <p:txBody>
            <a:bodyPr wrap="none" lIns="0" tIns="0" rIns="0" bIns="0" anchor="t" anchorCtr="0">
              <a:spAutoFit/>
            </a:bodyPr>
            <a:lstStyle/>
            <a:p>
              <a:pPr algn="l">
                <a:lnSpc>
                  <a:spcPts val="3900"/>
                </a:lnSpc>
              </a:pPr>
              <a:r>
                <a:rPr lang="en-US" sz="3150" b="1" dirty="0">
                  <a:solidFill>
                    <a:srgbClr val="E8F1FA"/>
                  </a:solidFill>
                  <a:latin typeface="Segoe UI"/>
                  <a:ea typeface="Segoe UI"/>
                  <a:cs typeface="Segoe UI"/>
                </a:rPr>
                <a:t>Attention is all you need —</a:t>
              </a:r>
              <a:br/>
              <a:r>
                <a:rPr lang="en-US" sz="3150" b="1" dirty="0">
                  <a:solidFill>
                    <a:srgbClr val="E8F1FA"/>
                  </a:solidFill>
                  <a:latin typeface="Segoe UI"/>
                  <a:ea typeface="Segoe UI"/>
                  <a:cs typeface="Segoe UI"/>
                </a:rPr>
                <a:t>the rest was engineering.</a:t>
              </a:r>
            </a:p>
          </p:txBody>
        </p:sp>
      </p:grpSp>
      <p:grpSp>
        <p:nvGrpSpPr>
          <p:cNvPr id="17" name="Group 17"/>
          <p:cNvGrpSpPr/>
          <p:nvPr/>
        </p:nvGrpSpPr>
        <p:grpSpPr>
          <a:xfrm>
            <a:off x="772668" y="3308032"/>
            <a:ext cx="6530510" cy="1463993"/>
            <a:chOff x="772668" y="3308032"/>
            <a:chExt cx="6530510" cy="1463993"/>
          </a:xfrm>
        </p:grpSpPr>
        <p:grpSp>
          <p:nvGrpSpPr>
            <p:cNvPr id="9" name="Group 9"/>
            <p:cNvGrpSpPr/>
            <p:nvPr/>
          </p:nvGrpSpPr>
          <p:grpSpPr>
            <a:xfrm>
              <a:off x="772668" y="3308032"/>
              <a:ext cx="6274137" cy="322707"/>
              <a:chOff x="772668" y="3308032"/>
              <a:chExt cx="6274137" cy="322707"/>
            </a:xfrm>
          </p:grpSpPr>
          <p:sp>
            <p:nvSpPr>
              <p:cNvPr id="7" name="TextBox 7"/>
              <p:cNvSpPr txBox="1"/>
              <p:nvPr/>
            </p:nvSpPr>
            <p:spPr>
              <a:xfrm>
                <a:off x="772668" y="3308032"/>
                <a:ext cx="261099" cy="322707"/>
              </a:xfrm>
              <a:prstGeom prst="rect">
                <a:avLst/>
              </a:prstGeom>
              <a:noFill/>
              <a:ln>
                <a:noFill/>
              </a:ln>
            </p:spPr>
            <p:txBody>
              <a:bodyPr wrap="none" lIns="0" tIns="0" rIns="0" bIns="0" anchor="t" anchorCtr="0">
                <a:spAutoFit/>
              </a:bodyPr>
              <a:lstStyle/>
              <a:p>
                <a:pPr algn="l"/>
                <a:r>
                  <a:rPr lang="en-US" sz="1650" dirty="0">
                    <a:solidFill>
                      <a:srgbClr val="F5A623"/>
                    </a:solidFill>
                    <a:latin typeface="Consolas"/>
                    <a:ea typeface="Consolas"/>
                    <a:cs typeface="Consolas"/>
                  </a:rPr>
                  <a:t>01</a:t>
                </a:r>
              </a:p>
            </p:txBody>
          </p:sp>
          <p:sp>
            <p:nvSpPr>
              <p:cNvPr id="8" name="TextBox 8"/>
              <p:cNvSpPr txBox="1"/>
              <p:nvPr/>
            </p:nvSpPr>
            <p:spPr>
              <a:xfrm>
                <a:off x="1231392" y="3340418"/>
                <a:ext cx="5815413"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Drop recurrence: every position attends to every other in O(1).</a:t>
                </a:r>
              </a:p>
            </p:txBody>
          </p:sp>
        </p:grpSp>
        <p:grpSp>
          <p:nvGrpSpPr>
            <p:cNvPr id="12" name="Group 12"/>
            <p:cNvGrpSpPr/>
            <p:nvPr/>
          </p:nvGrpSpPr>
          <p:grpSpPr>
            <a:xfrm>
              <a:off x="772668" y="3803332"/>
              <a:ext cx="6530510" cy="322707"/>
              <a:chOff x="772668" y="3803332"/>
              <a:chExt cx="6530510" cy="322707"/>
            </a:xfrm>
          </p:grpSpPr>
          <p:sp>
            <p:nvSpPr>
              <p:cNvPr id="10" name="TextBox 10"/>
              <p:cNvSpPr txBox="1"/>
              <p:nvPr/>
            </p:nvSpPr>
            <p:spPr>
              <a:xfrm>
                <a:off x="772668" y="3803332"/>
                <a:ext cx="261099" cy="322707"/>
              </a:xfrm>
              <a:prstGeom prst="rect">
                <a:avLst/>
              </a:prstGeom>
              <a:noFill/>
              <a:ln>
                <a:noFill/>
              </a:ln>
            </p:spPr>
            <p:txBody>
              <a:bodyPr wrap="none" lIns="0" tIns="0" rIns="0" bIns="0" anchor="t" anchorCtr="0">
                <a:spAutoFit/>
              </a:bodyPr>
              <a:lstStyle/>
              <a:p>
                <a:pPr algn="l"/>
                <a:r>
                  <a:rPr lang="en-US" sz="1650" dirty="0">
                    <a:solidFill>
                      <a:srgbClr val="F5A623"/>
                    </a:solidFill>
                    <a:latin typeface="Consolas"/>
                    <a:ea typeface="Consolas"/>
                    <a:cs typeface="Consolas"/>
                  </a:rPr>
                  <a:t>02</a:t>
                </a:r>
              </a:p>
            </p:txBody>
          </p:sp>
          <p:sp>
            <p:nvSpPr>
              <p:cNvPr id="11" name="TextBox 11"/>
              <p:cNvSpPr txBox="1"/>
              <p:nvPr/>
            </p:nvSpPr>
            <p:spPr>
              <a:xfrm>
                <a:off x="1231392" y="3835718"/>
                <a:ext cx="6071786"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Eight heads, scaled dot-products, sinusoidal positions do the work.</a:t>
                </a:r>
              </a:p>
            </p:txBody>
          </p:sp>
        </p:grpSp>
        <p:grpSp>
          <p:nvGrpSpPr>
            <p:cNvPr id="15" name="Group 15"/>
            <p:cNvGrpSpPr/>
            <p:nvPr/>
          </p:nvGrpSpPr>
          <p:grpSpPr>
            <a:xfrm>
              <a:off x="772668" y="4298632"/>
              <a:ext cx="6155540" cy="322707"/>
              <a:chOff x="772668" y="4298632"/>
              <a:chExt cx="6155540" cy="322707"/>
            </a:xfrm>
          </p:grpSpPr>
          <p:sp>
            <p:nvSpPr>
              <p:cNvPr id="13" name="TextBox 13"/>
              <p:cNvSpPr txBox="1"/>
              <p:nvPr/>
            </p:nvSpPr>
            <p:spPr>
              <a:xfrm>
                <a:off x="772668" y="4298632"/>
                <a:ext cx="261099" cy="322707"/>
              </a:xfrm>
              <a:prstGeom prst="rect">
                <a:avLst/>
              </a:prstGeom>
              <a:noFill/>
              <a:ln>
                <a:noFill/>
              </a:ln>
            </p:spPr>
            <p:txBody>
              <a:bodyPr wrap="none" lIns="0" tIns="0" rIns="0" bIns="0" anchor="t" anchorCtr="0">
                <a:spAutoFit/>
              </a:bodyPr>
              <a:lstStyle/>
              <a:p>
                <a:pPr algn="l"/>
                <a:r>
                  <a:rPr lang="en-US" sz="1650" dirty="0">
                    <a:solidFill>
                      <a:srgbClr val="F5A623"/>
                    </a:solidFill>
                    <a:latin typeface="Consolas"/>
                    <a:ea typeface="Consolas"/>
                    <a:cs typeface="Consolas"/>
                  </a:rPr>
                  <a:t>03</a:t>
                </a:r>
              </a:p>
            </p:txBody>
          </p:sp>
          <p:sp>
            <p:nvSpPr>
              <p:cNvPr id="14" name="TextBox 14"/>
              <p:cNvSpPr txBox="1"/>
              <p:nvPr/>
            </p:nvSpPr>
            <p:spPr>
              <a:xfrm>
                <a:off x="1231392" y="4331018"/>
                <a:ext cx="5696816" cy="264033"/>
              </a:xfrm>
              <a:prstGeom prst="rect">
                <a:avLst/>
              </a:prstGeom>
              <a:noFill/>
              <a:ln>
                <a:noFill/>
              </a:ln>
            </p:spPr>
            <p:txBody>
              <a:bodyPr wrap="none" lIns="0" tIns="0" rIns="0" bIns="0" anchor="t" anchorCtr="0">
                <a:spAutoFit/>
              </a:bodyPr>
              <a:lstStyle/>
              <a:p>
                <a:pPr algn="l"/>
                <a:r>
                  <a:rPr lang="en-US" sz="1350" dirty="0">
                    <a:solidFill>
                      <a:srgbClr val="E8F1FA"/>
                    </a:solidFill>
                    <a:latin typeface="Segoe UI"/>
                    <a:ea typeface="Segoe UI"/>
                    <a:cs typeface="Segoe UI"/>
                  </a:rPr>
                  <a:t>28.4 / 41.8 BLEU, 3.5 days, 8 GPUs — quality and speed at once.</a:t>
                </a:r>
              </a:p>
            </p:txBody>
          </p:sp>
        </p:grpSp>
        <p:sp>
          <p:nvSpPr>
            <p:cNvPr id="16" name="Line 16"/>
            <p:cNvSpPr/>
            <p:nvPr/>
          </p:nvSpPr>
          <p:spPr>
            <a:xfrm>
              <a:off x="1238250" y="4762500"/>
              <a:ext cx="4857750" cy="9525"/>
            </a:xfrm>
            <a:custGeom>
              <a:avLst/>
              <a:gdLst/>
              <a:ahLst/>
              <a:cxnLst/>
              <a:rect l="l" t="t" r="r" b="b"/>
              <a:pathLst>
                <a:path w="4857750" h="9525">
                  <a:moveTo>
                    <a:pt x="0" y="0"/>
                  </a:moveTo>
                  <a:lnTo>
                    <a:pt x="4857750" y="0"/>
                  </a:lnTo>
                </a:path>
              </a:pathLst>
            </a:custGeom>
            <a:noFill/>
            <a:ln w="9525">
              <a:solidFill>
                <a:srgbClr val="3C5A80"/>
              </a:solidFill>
            </a:ln>
          </p:spPr>
        </p:sp>
      </p:grpSp>
      <p:grpSp>
        <p:nvGrpSpPr>
          <p:cNvPr id="25" name="Group 25"/>
          <p:cNvGrpSpPr/>
          <p:nvPr/>
        </p:nvGrpSpPr>
        <p:grpSpPr>
          <a:xfrm>
            <a:off x="855663" y="5500688"/>
            <a:ext cx="7323944" cy="291560"/>
            <a:chOff x="855663" y="5500688"/>
            <a:chExt cx="7323944" cy="291560"/>
          </a:xfrm>
        </p:grpSpPr>
        <p:grpSp>
          <p:nvGrpSpPr>
            <p:cNvPr id="23" name="Group 23"/>
            <p:cNvGrpSpPr/>
            <p:nvPr/>
          </p:nvGrpSpPr>
          <p:grpSpPr>
            <a:xfrm>
              <a:off x="855663" y="5500688"/>
              <a:ext cx="155575" cy="200026"/>
              <a:chOff x="855663" y="5500688"/>
              <a:chExt cx="155575" cy="200026"/>
            </a:xfrm>
          </p:grpSpPr>
          <p:sp>
            <p:nvSpPr>
              <p:cNvPr id="18" name="Freeform 18"/>
              <p:cNvSpPr/>
              <p:nvPr/>
            </p:nvSpPr>
            <p:spPr>
              <a:xfrm>
                <a:off x="955675" y="5500688"/>
                <a:ext cx="55563" cy="55563"/>
              </a:xfrm>
              <a:custGeom>
                <a:avLst/>
                <a:gdLst/>
                <a:ahLst/>
                <a:cxnLst/>
                <a:rect l="l" t="t" r="r" b="b"/>
                <a:pathLst>
                  <a:path w="55563" h="55563">
                    <a:moveTo>
                      <a:pt x="0" y="0"/>
                    </a:moveTo>
                    <a:lnTo>
                      <a:pt x="0" y="44450"/>
                    </a:lnTo>
                    <a:cubicBezTo>
                      <a:pt x="0" y="50587"/>
                      <a:pt x="4975" y="55563"/>
                      <a:pt x="11113" y="55563"/>
                    </a:cubicBezTo>
                    <a:lnTo>
                      <a:pt x="55563" y="55563"/>
                    </a:lnTo>
                  </a:path>
                </a:pathLst>
              </a:custGeom>
              <a:noFill/>
              <a:ln w="22225">
                <a:solidFill>
                  <a:srgbClr val="9CC3E6"/>
                </a:solidFill>
              </a:ln>
            </p:spPr>
          </p:sp>
          <p:sp>
            <p:nvSpPr>
              <p:cNvPr id="19" name="Freeform 19"/>
              <p:cNvSpPr/>
              <p:nvPr/>
            </p:nvSpPr>
            <p:spPr>
              <a:xfrm>
                <a:off x="855663" y="5500688"/>
                <a:ext cx="155575" cy="200026"/>
              </a:xfrm>
              <a:custGeom>
                <a:avLst/>
                <a:gdLst/>
                <a:ahLst/>
                <a:cxnLst/>
                <a:rect l="l" t="t" r="r" b="b"/>
                <a:pathLst>
                  <a:path w="155575" h="200026">
                    <a:moveTo>
                      <a:pt x="133350" y="200026"/>
                    </a:moveTo>
                    <a:lnTo>
                      <a:pt x="22225" y="200026"/>
                    </a:lnTo>
                    <a:cubicBezTo>
                      <a:pt x="9950" y="200026"/>
                      <a:pt x="0" y="190075"/>
                      <a:pt x="0" y="177801"/>
                    </a:cubicBezTo>
                    <a:lnTo>
                      <a:pt x="0" y="22225"/>
                    </a:lnTo>
                    <a:cubicBezTo>
                      <a:pt x="0" y="9950"/>
                      <a:pt x="9950" y="0"/>
                      <a:pt x="22225" y="0"/>
                    </a:cubicBezTo>
                    <a:lnTo>
                      <a:pt x="100013" y="0"/>
                    </a:lnTo>
                    <a:lnTo>
                      <a:pt x="155575" y="55563"/>
                    </a:lnTo>
                    <a:lnTo>
                      <a:pt x="155575" y="177801"/>
                    </a:lnTo>
                    <a:cubicBezTo>
                      <a:pt x="155575" y="190075"/>
                      <a:pt x="145625" y="200026"/>
                      <a:pt x="133350" y="200026"/>
                    </a:cubicBezTo>
                  </a:path>
                </a:pathLst>
              </a:custGeom>
              <a:noFill/>
              <a:ln w="22225">
                <a:solidFill>
                  <a:srgbClr val="9CC3E6"/>
                </a:solidFill>
              </a:ln>
            </p:spPr>
          </p:sp>
          <p:sp>
            <p:nvSpPr>
              <p:cNvPr id="20" name="Freeform 20"/>
              <p:cNvSpPr/>
              <p:nvPr/>
            </p:nvSpPr>
            <p:spPr>
              <a:xfrm>
                <a:off x="900113" y="5567363"/>
                <a:ext cx="11113" cy="9525"/>
              </a:xfrm>
              <a:custGeom>
                <a:avLst/>
                <a:gdLst/>
                <a:ahLst/>
                <a:cxnLst/>
                <a:rect l="l" t="t" r="r" b="b"/>
                <a:pathLst>
                  <a:path w="11113" h="9525">
                    <a:moveTo>
                      <a:pt x="0" y="0"/>
                    </a:moveTo>
                    <a:lnTo>
                      <a:pt x="11113" y="0"/>
                    </a:lnTo>
                  </a:path>
                </a:pathLst>
              </a:custGeom>
              <a:noFill/>
              <a:ln w="22225">
                <a:solidFill>
                  <a:srgbClr val="9CC3E6"/>
                </a:solidFill>
              </a:ln>
            </p:spPr>
          </p:sp>
          <p:sp>
            <p:nvSpPr>
              <p:cNvPr id="21" name="Freeform 21"/>
              <p:cNvSpPr/>
              <p:nvPr/>
            </p:nvSpPr>
            <p:spPr>
              <a:xfrm>
                <a:off x="900113" y="5611813"/>
                <a:ext cx="66675" cy="9525"/>
              </a:xfrm>
              <a:custGeom>
                <a:avLst/>
                <a:gdLst/>
                <a:ahLst/>
                <a:cxnLst/>
                <a:rect l="l" t="t" r="r" b="b"/>
                <a:pathLst>
                  <a:path w="66675" h="9525">
                    <a:moveTo>
                      <a:pt x="0" y="0"/>
                    </a:moveTo>
                    <a:lnTo>
                      <a:pt x="66675" y="0"/>
                    </a:lnTo>
                  </a:path>
                </a:pathLst>
              </a:custGeom>
              <a:noFill/>
              <a:ln w="22225">
                <a:solidFill>
                  <a:srgbClr val="9CC3E6"/>
                </a:solidFill>
              </a:ln>
            </p:spPr>
          </p:sp>
          <p:sp>
            <p:nvSpPr>
              <p:cNvPr id="22" name="Freeform 22"/>
              <p:cNvSpPr/>
              <p:nvPr/>
            </p:nvSpPr>
            <p:spPr>
              <a:xfrm>
                <a:off x="900113" y="5656263"/>
                <a:ext cx="66675" cy="9525"/>
              </a:xfrm>
              <a:custGeom>
                <a:avLst/>
                <a:gdLst/>
                <a:ahLst/>
                <a:cxnLst/>
                <a:rect l="l" t="t" r="r" b="b"/>
                <a:pathLst>
                  <a:path w="66675" h="9525">
                    <a:moveTo>
                      <a:pt x="0" y="0"/>
                    </a:moveTo>
                    <a:lnTo>
                      <a:pt x="66675" y="0"/>
                    </a:lnTo>
                  </a:path>
                </a:pathLst>
              </a:custGeom>
              <a:noFill/>
              <a:ln w="22225">
                <a:solidFill>
                  <a:srgbClr val="9CC3E6"/>
                </a:solidFill>
              </a:ln>
            </p:spPr>
          </p:sp>
        </p:grpSp>
        <p:sp>
          <p:nvSpPr>
            <p:cNvPr id="24" name="TextBox 24"/>
            <p:cNvSpPr txBox="1"/>
            <p:nvPr/>
          </p:nvSpPr>
          <p:spPr>
            <a:xfrm>
              <a:off x="1231011" y="5513546"/>
              <a:ext cx="6948596" cy="278702"/>
            </a:xfrm>
            <a:prstGeom prst="rect">
              <a:avLst/>
            </a:prstGeom>
            <a:noFill/>
            <a:ln>
              <a:noFill/>
            </a:ln>
          </p:spPr>
          <p:txBody>
            <a:bodyPr wrap="none" lIns="0" tIns="0" rIns="0" bIns="0" anchor="t" anchorCtr="0">
              <a:spAutoFit/>
            </a:bodyPr>
            <a:lstStyle/>
            <a:p>
              <a:pPr algn="l"/>
              <a:r>
                <a:rPr lang="en-US" sz="1420" dirty="0">
                  <a:solidFill>
                    <a:srgbClr val="C9DBEA"/>
                  </a:solidFill>
                  <a:latin typeface="Segoe UI"/>
                  <a:ea typeface="Segoe UI"/>
                  <a:cs typeface="Segoe UI"/>
                </a:rPr>
                <a:t xml:space="preserve">Read the paper: </a:t>
              </a:r>
              <a:r>
                <a:rPr lang="en-US" sz="1420" u="sng" dirty="0">
                  <a:solidFill>
                    <a:srgbClr val="F5A623"/>
                  </a:solidFill>
                  <a:latin typeface="Segoe UI"/>
                  <a:ea typeface="Segoe UI"/>
                  <a:cs typeface="Segoe UI"/>
                  <a:hlinkClick r:id="rId3"/>
                </a:rPr>
                <a:t>arxiv.org/abs/1706.03762</a:t>
              </a:r>
              <a:r>
                <a:rPr lang="en-US" sz="1420" dirty="0">
                  <a:solidFill>
                    <a:srgbClr val="C9DBEA"/>
                  </a:solidFill>
                  <a:latin typeface="Segoe UI"/>
                  <a:ea typeface="Segoe UI"/>
                  <a:cs typeface="Segoe UI"/>
                </a:rPr>
                <a:t xml:space="preserve"> · Vaswani et al., NeurIPS 2017</a:t>
              </a:r>
            </a:p>
          </p:txBody>
        </p:sp>
      </p:grpSp>
      <p:grpSp>
        <p:nvGrpSpPr>
          <p:cNvPr id="30" name="Group 30"/>
          <p:cNvGrpSpPr/>
          <p:nvPr/>
        </p:nvGrpSpPr>
        <p:grpSpPr>
          <a:xfrm>
            <a:off x="9525000" y="6362700"/>
            <a:ext cx="2095500" cy="304800"/>
            <a:chOff x="9525000" y="6362700"/>
            <a:chExt cx="2095500" cy="304800"/>
          </a:xfrm>
        </p:grpSpPr>
        <p:sp>
          <p:nvSpPr>
            <p:cNvPr id="26" name="Rectangle 26"/>
            <p:cNvSpPr/>
            <p:nvPr/>
          </p:nvSpPr>
          <p:spPr>
            <a:xfrm>
              <a:off x="9525000" y="6362700"/>
              <a:ext cx="2095500" cy="304800"/>
            </a:xfrm>
            <a:prstGeom prst="rect">
              <a:avLst/>
            </a:prstGeom>
            <a:noFill/>
            <a:ln w="9525">
              <a:solidFill>
                <a:srgbClr val="3C5A80"/>
              </a:solidFill>
            </a:ln>
          </p:spPr>
        </p:sp>
        <p:sp>
          <p:nvSpPr>
            <p:cNvPr id="27" name="Line 27"/>
            <p:cNvSpPr/>
            <p:nvPr/>
          </p:nvSpPr>
          <p:spPr>
            <a:xfrm>
              <a:off x="10572750" y="6362700"/>
              <a:ext cx="9525" cy="304800"/>
            </a:xfrm>
            <a:custGeom>
              <a:avLst/>
              <a:gdLst/>
              <a:ahLst/>
              <a:cxnLst/>
              <a:rect l="l" t="t" r="r" b="b"/>
              <a:pathLst>
                <a:path w="9525" h="304800">
                  <a:moveTo>
                    <a:pt x="0" y="0"/>
                  </a:moveTo>
                  <a:lnTo>
                    <a:pt x="0" y="304800"/>
                  </a:lnTo>
                </a:path>
              </a:pathLst>
            </a:custGeom>
            <a:noFill/>
            <a:ln w="9525">
              <a:solidFill>
                <a:srgbClr val="3C5A80"/>
              </a:solidFill>
            </a:ln>
          </p:spPr>
        </p:sp>
        <p:sp>
          <p:nvSpPr>
            <p:cNvPr id="28" name="TextBox 28"/>
            <p:cNvSpPr txBox="1"/>
            <p:nvPr/>
          </p:nvSpPr>
          <p:spPr>
            <a:xfrm>
              <a:off x="9634538" y="6456045"/>
              <a:ext cx="758419"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AIAYN · 2017</a:t>
              </a:r>
            </a:p>
          </p:txBody>
        </p:sp>
        <p:sp>
          <p:nvSpPr>
            <p:cNvPr id="29" name="TextBox 29"/>
            <p:cNvSpPr txBox="1"/>
            <p:nvPr/>
          </p:nvSpPr>
          <p:spPr>
            <a:xfrm>
              <a:off x="10682288" y="6456045"/>
              <a:ext cx="828827" cy="176212"/>
            </a:xfrm>
            <a:prstGeom prst="rect">
              <a:avLst/>
            </a:prstGeom>
            <a:noFill/>
            <a:ln>
              <a:noFill/>
            </a:ln>
          </p:spPr>
          <p:txBody>
            <a:bodyPr wrap="none" lIns="0" tIns="0" rIns="0" bIns="0" anchor="t" anchorCtr="0">
              <a:spAutoFit/>
            </a:bodyPr>
            <a:lstStyle/>
            <a:p>
              <a:pPr algn="l"/>
              <a:r>
                <a:rPr lang="en-US" sz="900" dirty="0">
                  <a:solidFill>
                    <a:srgbClr val="9CB4CC"/>
                  </a:solidFill>
                  <a:latin typeface="Consolas"/>
                  <a:ea typeface="Consolas"/>
                  <a:cs typeface="Consolas"/>
                </a:rPr>
                <a:t>SHEET 15 / 15</a:t>
              </a:r>
            </a:p>
          </p:txBody>
        </p:sp>
      </p:grpSp>
    </p:spTree>
  </p:cSld>
  <p:clrMapOvr>
    <a:masterClrMapping/>
  </p:clrMapOvr>
  <p:transition xmlns:p14="http://schemas.microsoft.com/office/powerpoint/2010/main" p14:dur="8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xmlns:p="http://schemas.openxmlformats.org/presentationml/2006/mai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900"/>
                                        <p:tgtEl>
                                          <p:spTgt spid="6"/>
                                        </p:tgtEl>
                                      </p:cBhvr>
                                    </p:animEffect>
                                  </p:childTnLst>
                                </p:cTn>
                              </p:par>
                            </p:childTnLst>
                          </p:cTn>
                        </p:par>
                        <p:par>
                          <p:cTn id="8" fill="hold">
                            <p:stCondLst>
                              <p:cond delay="900"/>
                            </p:stCondLst>
                            <p:childTnLst>
                              <p:par>
                                <p:cTn xmlns:p="http://schemas.openxmlformats.org/presentationml/2006/main" id="9" presetID="10" presetClass="entr" presetSubtype="0" fill="hold" grpId="0" nodeType="afterEffect">
                                  <p:stCondLst>
                                    <p:cond delay="300"/>
                                  </p:stCondLst>
                                  <p:childTnLst>
                                    <p:set>
                                      <p:cBhvr>
                                        <p:cTn id="10" dur="1" fill="hold">
                                          <p:stCondLst>
                                            <p:cond delay="0"/>
                                          </p:stCondLst>
                                        </p:cTn>
                                        <p:tgtEl>
                                          <p:spTgt spid="17"/>
                                        </p:tgtEl>
                                        <p:attrNameLst>
                                          <p:attrName>style.visibility</p:attrName>
                                        </p:attrNameLst>
                                      </p:cBhvr>
                                      <p:to>
                                        <p:strVal val="visible"/>
                                      </p:to>
                                    </p:set>
                                    <p:animEffect transition="in" filter="fade">
                                      <p:cBhvr>
                                        <p:cTn id="11" dur="700"/>
                                        <p:tgtEl>
                                          <p:spTgt spid="17"/>
                                        </p:tgtEl>
                                      </p:cBhvr>
                                    </p:animEffect>
                                  </p:childTnLst>
                                </p:cTn>
                              </p:par>
                            </p:childTnLst>
                          </p:cTn>
                        </p:par>
                        <p:par>
                          <p:cTn id="12" fill="hold">
                            <p:stCondLst>
                              <p:cond delay="1900"/>
                            </p:stCondLst>
                            <p:childTnLst>
                              <p:par>
                                <p:cTn xmlns:p="http://schemas.openxmlformats.org/presentationml/2006/main" id="13" presetID="10" presetClass="entr" presetSubtype="0" fill="hold" grpId="0" nodeType="afterEffect">
                                  <p:stCondLst>
                                    <p:cond delay="30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ppt169_attention_is_all_you_need">
  <a:themeElements>
    <a:clrScheme name="ppt169_attention_is_all_you_nee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pt169_attention_is_all_you_nee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attention_is_all_you_nee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ppt169_attention_is_all_you_need">
  <a:themeElements>
    <a:clrScheme name="ppt169_attention_is_all_you_need">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pt169_attention_is_all_you_need">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pt169_attention_is_all_you_need">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2026-08-29T02:01:59Z</dcterms:created>
  <dcterms:modified xsi:type="dcterms:W3CDTF">2026-08-29T02:01:59Z</dcterms:modified>
  <cp:category/>
  <cp:contentStatus/>
</cp:coreProperties>
</file>