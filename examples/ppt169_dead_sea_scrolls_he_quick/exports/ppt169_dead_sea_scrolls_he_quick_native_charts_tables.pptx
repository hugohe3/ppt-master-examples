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3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he-IL"/>
    </a:defPPr>
    <a:lvl1pPr marL="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4572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he-IL"/>
  <c:chart>
    <c:title>
      <c:tx>
        <c:rich>
          <a:bodyPr/>
          <a:lstStyle/>
          <a:p>
            <a:pPr rtl="1"/>
            <a:r>
              <a:rPr lang="he-IL" sz="1500">
                <a:solidFill>
                  <a:srgbClr val="332E27"/>
                </a:solidFill>
                <a:latin typeface="Segoe UI"/>
                <a:ea typeface="Microsoft YaHei"/>
                <a:cs typeface="Segoe UI"/>
                <a:rtl val="1"/>
              </a:rPr>
              <a:t>כתבי יד לפי סוג תוכן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"/>
          <c:y val="0.101604278075"/>
          <c:w val="0.982456140351"/>
          <c:h val="0.80213903743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כתבי יד</c:v>
                </c:pt>
              </c:strCache>
            </c:strRef>
          </c:tx>
          <c:spPr>
            <a:solidFill>
              <a:srgbClr val="9A5B2B"/>
            </a:solidFill>
            <a:ln>
              <a:solidFill>
                <a:srgbClr val="9A5B2B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9A5B2B"/>
              </a:solidFill>
              <a:ln>
                <a:solidFill>
                  <a:srgbClr val="9A5B2B"/>
                </a:solidFill>
              </a:ln>
            </c:spPr>
          </c:dPt>
          <c:dPt>
            <c:idx val="1"/>
            <c:invertIfNegative val="0"/>
            <c:spPr>
              <a:solidFill>
                <a:srgbClr val="B98B5E"/>
              </a:solidFill>
              <a:ln>
                <a:solidFill>
                  <a:srgbClr val="B98B5E"/>
                </a:solidFill>
              </a:ln>
            </c:spPr>
          </c:dPt>
          <c:dPt>
            <c:idx val="2"/>
            <c:invertIfNegative val="0"/>
            <c:spPr>
              <a:solidFill>
                <a:srgbClr val="CDBBA2"/>
              </a:solidFill>
              <a:ln>
                <a:solidFill>
                  <a:srgbClr val="CDBBA2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מקראיים</c:v>
                </c:pt>
                <c:pt idx="1">
                  <c:v>כיתתיים</c:v>
                </c:pt>
                <c:pt idx="2">
                  <c:v>לא-מקראיים אחרים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</c:v>
                </c:pt>
                <c:pt idx="1">
                  <c:v>175</c:v>
                </c:pt>
                <c:pt idx="2">
                  <c:v>525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 rtl="1">
                <a:defRPr lang="he-IL" sz="1350">
                  <a:solidFill>
                    <a:srgbClr val="332E27"/>
                  </a:solidFill>
                  <a:latin typeface="Segoe UI"/>
                  <a:ea typeface="Microsoft YaHei"/>
                  <a:cs typeface="Segoe UI"/>
                </a:defRPr>
              </a:pPr>
              <a:endParaRPr lang="he-IL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4"/>
        <c:axId val="2068027336"/>
        <c:axId val="2113994440"/>
      </c:barChart>
      <c:catAx>
        <c:axId val="2068027336"/>
        <c:scaling>
          <c:orientation val="maxMin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CDC2AE"/>
            </a:solidFill>
            <a:round/>
          </a:ln>
        </c:spPr>
        <c:txPr>
          <a:bodyPr/>
          <a:lstStyle/>
          <a:p>
            <a:pPr rtl="1">
              <a:defRPr lang="he-IL" sz="1350">
                <a:solidFill>
                  <a:srgbClr val="332E27"/>
                </a:solidFill>
                <a:latin typeface="Segoe UI"/>
                <a:ea typeface="Microsoft YaHei"/>
                <a:cs typeface="Segoe UI"/>
              </a:defRPr>
            </a:pPr>
            <a:endParaRPr lang="he-IL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00"/>
          <c:min val="0"/>
        </c:scaling>
        <c:delete val="1"/>
        <c:axPos val="l"/>
        <c:majorGridlines>
          <c:spPr>
            <a:ln w="6350" cap="flat" cmpd="sng" algn="ctr">
              <a:solidFill>
                <a:srgbClr val="CDC2AE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CDC2AE"/>
            </a:solidFill>
            <a:round/>
          </a:ln>
        </c:spPr>
        <c:txPr>
          <a:bodyPr/>
          <a:lstStyle/>
          <a:p>
            <a:pPr rtl="1">
              <a:defRPr lang="he-IL" sz="1350">
                <a:solidFill>
                  <a:srgbClr val="332E27"/>
                </a:solidFill>
                <a:latin typeface="Segoe UI"/>
                <a:ea typeface="Microsoft YaHei"/>
                <a:cs typeface="Segoe UI"/>
              </a:defRPr>
            </a:pPr>
            <a:endParaRPr lang="he-IL"/>
          </a:p>
        </c:txPr>
        <c:crossAx val="2068027336"/>
        <c:crosses val="max"/>
        <c:crossBetween val="between"/>
        <c:majorUnit val="2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 rtl="1">
        <a:defRPr lang="he-IL" sz="1350">
          <a:solidFill>
            <a:srgbClr val="332E27"/>
          </a:solidFill>
          <a:latin typeface="Segoe UI"/>
          <a:ea typeface="Microsoft YaHei"/>
          <a:cs typeface="Segoe UI"/>
        </a:defRPr>
      </a:pPr>
      <a:endParaRPr lang="he-IL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dead_sea_scrolls_he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he-IL" smtClean="0"/>
              <a:t>1/27/13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dead_sea_scrolls_he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he-IL" smtClean="0"/>
              <a:t>1/27/13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457200" rtl="1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6e4775ebb64bfbb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cb407ae5280fb.jp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301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931901480a975f.jp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931901480a975f.jp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03668128892810.jp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003668128892810.jp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1a11460c28884f4.jp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1-photo"/>
          <p:cNvPicPr>
            <a:picLocks noChangeAspect="1"/>
          </p:cNvPicPr>
          <p:nvPr/>
        </p:nvPicPr>
        <p:blipFill>
          <a:blip r:embed="rId2"/>
          <a:srcRect l="0" t="7878" r="0" b="78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1-vei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130E">
                  <a:alpha val="90000"/>
                </a:srgbClr>
              </a:gs>
              <a:gs pos="65000">
                <a:srgbClr val="16130E">
                  <a:alpha val="45000"/>
                </a:srgbClr>
              </a:gs>
              <a:gs pos="100000">
                <a:srgbClr val="16130E">
                  <a:alpha val="5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-4000500" y="-571500"/>
            <a:ext cx="8572500" cy="8572500"/>
          </a:xfrm>
          <a:prstGeom prst="arc">
            <a:avLst>
              <a:gd name="adj1" fmla="val 18900000"/>
              <a:gd name="adj2" fmla="val 8100000"/>
            </a:avLst>
          </a:prstGeom>
          <a:noFill/>
          <a:ln w="19050">
            <a:solidFill>
              <a:srgbClr val="F4EEE2">
                <a:alpha val="50000"/>
              </a:srgbClr>
            </a:solidFill>
          </a:ln>
        </p:spPr>
      </p:sp>
      <p:grpSp>
        <p:nvGrpSpPr>
          <p:cNvPr id="6" name="cover-kicker"/>
          <p:cNvGrpSpPr/>
          <p:nvPr/>
        </p:nvGrpSpPr>
        <p:grpSpPr>
          <a:xfrm>
            <a:off x="8413318" y="1283018"/>
            <a:ext cx="3175940" cy="264033"/>
            <a:chOff x="8413318" y="1283018"/>
            <a:chExt cx="3175940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8413318" y="1283018"/>
              <a:ext cx="3175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E2C79A"/>
                  </a:solidFill>
                  <a:latin typeface="+mn-lt"/>
                  <a:ea typeface="+mn-ea"/>
                  <a:cs typeface="+mn-cs"/>
                  <a:rtl val="1"/>
                </a:rPr>
                <a:t>רשות העתיקות · מוזיאון ישראל</a:t>
              </a:r>
            </a:p>
          </p:txBody>
        </p:sp>
      </p:grpSp>
      <p:grpSp>
        <p:nvGrpSpPr>
          <p:cNvPr id="8" name="cover-title"/>
          <p:cNvGrpSpPr/>
          <p:nvPr/>
        </p:nvGrpSpPr>
        <p:grpSpPr>
          <a:xfrm>
            <a:off x="5772150" y="1670685"/>
            <a:ext cx="5829300" cy="1971675"/>
            <a:chOff x="5772150" y="1670685"/>
            <a:chExt cx="5829300" cy="1971675"/>
          </a:xfrm>
        </p:grpSpPr>
        <p:sp>
          <p:nvSpPr>
            <p:cNvPr id="7" name="TextBox 7"/>
            <p:cNvSpPr txBox="1"/>
            <p:nvPr/>
          </p:nvSpPr>
          <p:spPr>
            <a:xfrm>
              <a:off x="5772150" y="1670685"/>
              <a:ext cx="5829300" cy="1971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6825"/>
                </a:lnSpc>
              </a:pPr>
              <a:r>
                <a:rPr lang="he-IL" sz="5700" dirty="0">
                  <a:solidFill>
                    <a:srgbClr val="FAF6EC"/>
                  </a:solidFill>
                  <a:latin typeface="+mj-lt"/>
                  <a:ea typeface="+mj-ea"/>
                  <a:cs typeface="+mj-cs"/>
                  <a:rtl val="1"/>
                </a:rPr>
                <a:t>מגילות ים המלח</a:t>
              </a:r>
              <a:br/>
              <a:r>
                <a:rPr lang="he-IL" sz="5700" dirty="0">
                  <a:solidFill>
                    <a:srgbClr val="FAF6EC"/>
                  </a:solidFill>
                  <a:latin typeface="+mj-lt"/>
                  <a:ea typeface="+mj-ea"/>
                  <a:cs typeface="+mj-cs"/>
                  <a:rtl val="1"/>
                </a:rPr>
                <a:t>מהמערה למוזיאון</a:t>
              </a:r>
            </a:p>
          </p:txBody>
        </p:sp>
      </p:grpSp>
      <p:grpSp>
        <p:nvGrpSpPr>
          <p:cNvPr id="11" name="cover-subtitle"/>
          <p:cNvGrpSpPr/>
          <p:nvPr/>
        </p:nvGrpSpPr>
        <p:grpSpPr>
          <a:xfrm>
            <a:off x="6172200" y="3733800"/>
            <a:ext cx="5421630" cy="635317"/>
            <a:chOff x="6172200" y="3733800"/>
            <a:chExt cx="5421630" cy="635317"/>
          </a:xfrm>
        </p:grpSpPr>
        <p:sp>
          <p:nvSpPr>
            <p:cNvPr id="9" name="Line 9"/>
            <p:cNvSpPr/>
            <p:nvPr/>
          </p:nvSpPr>
          <p:spPr>
            <a:xfrm>
              <a:off x="6172200" y="373380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8637" y="3929062"/>
              <a:ext cx="49751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EFE6D4"/>
                  </a:solidFill>
                  <a:latin typeface="+mn-lt"/>
                  <a:ea typeface="+mn-ea"/>
                  <a:cs typeface="+mn-cs"/>
                  <a:rtl val="1"/>
                </a:rPr>
                <a:t>שבעים שנה של גילוי, שימור והנגשה</a:t>
              </a:r>
            </a:p>
          </p:txBody>
        </p:sp>
      </p:grpSp>
      <p:grpSp>
        <p:nvGrpSpPr>
          <p:cNvPr id="13" name="cover-credit"/>
          <p:cNvGrpSpPr/>
          <p:nvPr/>
        </p:nvGrpSpPr>
        <p:grpSpPr>
          <a:xfrm>
            <a:off x="603504" y="6537960"/>
            <a:ext cx="3706663" cy="234696"/>
            <a:chOff x="603504" y="6537960"/>
            <a:chExt cx="3706663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6537960"/>
              <a:ext cx="3706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DBFA6"/>
                  </a:solidFill>
                  <a:latin typeface="+mn-lt"/>
                  <a:ea typeface="+mn-ea"/>
                  <a:cs typeface="+mn-cs"/>
                </a:rPr>
                <a:t>Bahnfrend / Wikimedia Commons / CC BY-SA 4.0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discovery-relic"/>
          <p:cNvGrpSpPr/>
          <p:nvPr/>
        </p:nvGrpSpPr>
        <p:grpSpPr>
          <a:xfrm>
            <a:off x="655168" y="1143000"/>
            <a:ext cx="3821582" cy="5134356"/>
            <a:chOff x="655168" y="1143000"/>
            <a:chExt cx="3821582" cy="5134356"/>
          </a:xfrm>
        </p:grpSpPr>
        <p:sp>
          <p:nvSpPr>
            <p:cNvPr id="2" name="Freeform 2"/>
            <p:cNvSpPr/>
            <p:nvPr/>
          </p:nvSpPr>
          <p:spPr>
            <a:xfrm>
              <a:off x="666750" y="1143000"/>
              <a:ext cx="3810000" cy="3810000"/>
            </a:xfrm>
            <a:prstGeom prst="blockArc">
              <a:avLst>
                <a:gd name="adj1" fmla="val 10800000"/>
                <a:gd name="adj2" fmla="val 21600000"/>
                <a:gd name="adj3" fmla="val 8000"/>
              </a:avLst>
            </a:prstGeom>
            <a:solidFill>
              <a:srgbClr val="C98A46">
                <a:alpha val="22000"/>
              </a:srgbClr>
            </a:solidFill>
            <a:ln>
              <a:noFill/>
            </a:ln>
          </p:spPr>
        </p:sp>
        <p:pic>
          <p:nvPicPr>
            <p:cNvPr id="3" name="p02-jar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2500" y="1857375"/>
              <a:ext cx="3238500" cy="4314825"/>
            </a:xfrm>
            <a:prstGeom prst="rect">
              <a:avLst/>
            </a:prstGeom>
          </p:spPr>
        </p:pic>
        <p:sp>
          <p:nvSpPr>
            <p:cNvPr id="4" name="p02-jar-fade"/>
            <p:cNvSpPr/>
            <p:nvPr/>
          </p:nvSpPr>
          <p:spPr>
            <a:xfrm>
              <a:off x="952500" y="1857375"/>
              <a:ext cx="3238500" cy="4314825"/>
            </a:xfrm>
            <a:prstGeom prst="rect">
              <a:avLst/>
            </a:prstGeom>
            <a:gradFill>
              <a:gsLst>
                <a:gs pos="42000">
                  <a:srgbClr val="F4EEE2">
                    <a:alpha val="0"/>
                  </a:srgbClr>
                </a:gs>
                <a:gs pos="100000">
                  <a:srgbClr val="F4EEE2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5168" y="6042660"/>
              <a:ext cx="3541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200" dirty="0">
                  <a:solidFill>
                    <a:srgbClr val="8C8172"/>
                  </a:solidFill>
                  <a:latin typeface="+mn-lt"/>
                  <a:ea typeface="+mn-ea"/>
                  <a:cs typeface="+mn-cs"/>
                  <a:rtl val="1"/>
                </a:rPr>
                <a:t>כד אחסון מקומראן, אוסף מוזיאון המטרופוליטן</a:t>
              </a:r>
            </a:p>
          </p:txBody>
        </p:sp>
      </p:grpSp>
      <p:grpSp>
        <p:nvGrpSpPr>
          <p:cNvPr id="8" name="discovery-kicker"/>
          <p:cNvGrpSpPr/>
          <p:nvPr/>
        </p:nvGrpSpPr>
        <p:grpSpPr>
          <a:xfrm>
            <a:off x="9569367" y="1187768"/>
            <a:ext cx="2019891" cy="264033"/>
            <a:chOff x="9569367" y="1187768"/>
            <a:chExt cx="201989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9569367" y="1187768"/>
              <a:ext cx="2019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ראשון · הגילוי</a:t>
              </a:r>
            </a:p>
          </p:txBody>
        </p:sp>
      </p:grpSp>
      <p:grpSp>
        <p:nvGrpSpPr>
          <p:cNvPr id="11" name="discovery-title"/>
          <p:cNvGrpSpPr/>
          <p:nvPr/>
        </p:nvGrpSpPr>
        <p:grpSpPr>
          <a:xfrm>
            <a:off x="7381875" y="1581150"/>
            <a:ext cx="4215765" cy="638175"/>
            <a:chOff x="7381875" y="1581150"/>
            <a:chExt cx="4215765" cy="638175"/>
          </a:xfrm>
        </p:grpSpPr>
        <p:sp>
          <p:nvSpPr>
            <p:cNvPr id="9" name="TextBox 9"/>
            <p:cNvSpPr txBox="1"/>
            <p:nvPr/>
          </p:nvSpPr>
          <p:spPr>
            <a:xfrm>
              <a:off x="7649718" y="1581150"/>
              <a:ext cx="39479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הכל התחיל במערה אחת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381875" y="2209800"/>
              <a:ext cx="4200525" cy="9525"/>
            </a:xfrm>
            <a:custGeom>
              <a:avLst/>
              <a:gdLst/>
              <a:ahLst/>
              <a:cxnLst/>
              <a:rect l="l" t="t" r="r" b="b"/>
              <a:pathLst>
                <a:path w="4200525" h="9525">
                  <a:moveTo>
                    <a:pt x="0" y="0"/>
                  </a:moveTo>
                  <a:lnTo>
                    <a:pt x="4200525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4" name="discovery-year"/>
          <p:cNvGrpSpPr/>
          <p:nvPr/>
        </p:nvGrpSpPr>
        <p:grpSpPr>
          <a:xfrm>
            <a:off x="9697517" y="2463165"/>
            <a:ext cx="1903933" cy="1219200"/>
            <a:chOff x="9697517" y="2463165"/>
            <a:chExt cx="1903933" cy="1219200"/>
          </a:xfrm>
        </p:grpSpPr>
        <p:sp>
          <p:nvSpPr>
            <p:cNvPr id="12" name="TextBox 12"/>
            <p:cNvSpPr txBox="1"/>
            <p:nvPr/>
          </p:nvSpPr>
          <p:spPr>
            <a:xfrm>
              <a:off x="9697517" y="2463165"/>
              <a:ext cx="190393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63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1947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21423" y="33404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שנת הגילוי</a:t>
              </a:r>
            </a:p>
          </p:txBody>
        </p:sp>
      </p:grpSp>
      <p:grpSp>
        <p:nvGrpSpPr>
          <p:cNvPr id="16" name="discovery-lead"/>
          <p:cNvGrpSpPr/>
          <p:nvPr/>
        </p:nvGrpSpPr>
        <p:grpSpPr>
          <a:xfrm>
            <a:off x="6397752" y="3964305"/>
            <a:ext cx="5195316" cy="829818"/>
            <a:chOff x="6397752" y="3964305"/>
            <a:chExt cx="5195316" cy="829818"/>
          </a:xfrm>
        </p:grpSpPr>
        <p:sp>
          <p:nvSpPr>
            <p:cNvPr id="15" name="TextBox 15"/>
            <p:cNvSpPr txBox="1"/>
            <p:nvPr/>
          </p:nvSpPr>
          <p:spPr>
            <a:xfrm>
              <a:off x="6397752" y="3964305"/>
              <a:ext cx="519531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3300"/>
                </a:lnSpc>
              </a:pPr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שבע מגילות שלמות נמצאו במערה 1 בקומראן</a:t>
              </a:r>
              <a:br/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והן שפתחו את המסע אל עולם שלם של כתבים</a:t>
              </a:r>
            </a:p>
          </p:txBody>
        </p:sp>
      </p:grpSp>
      <p:grpSp>
        <p:nvGrpSpPr>
          <p:cNvPr id="18" name="discovery-body"/>
          <p:cNvGrpSpPr/>
          <p:nvPr/>
        </p:nvGrpSpPr>
        <p:grpSpPr>
          <a:xfrm>
            <a:off x="6063996" y="5139690"/>
            <a:ext cx="5527548" cy="704469"/>
            <a:chOff x="6063996" y="5139690"/>
            <a:chExt cx="5527548" cy="704469"/>
          </a:xfrm>
        </p:grpSpPr>
        <p:sp>
          <p:nvSpPr>
            <p:cNvPr id="17" name="TextBox 17"/>
            <p:cNvSpPr txBox="1"/>
            <p:nvPr/>
          </p:nvSpPr>
          <p:spPr>
            <a:xfrm>
              <a:off x="6063996" y="5139690"/>
              <a:ext cx="552754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בהן מגילת ישעיהו הגדולה, סרך היחד ומגילת המלחמה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שלוש מן המגילות שמוצגות היום בהיכל הספר</a:t>
              </a:r>
            </a:p>
          </p:txBody>
        </p:sp>
      </p:grpSp>
      <p:grpSp>
        <p:nvGrpSpPr>
          <p:cNvPr id="20" name="discovery-source"/>
          <p:cNvGrpSpPr/>
          <p:nvPr/>
        </p:nvGrpSpPr>
        <p:grpSpPr>
          <a:xfrm>
            <a:off x="6032563" y="6045518"/>
            <a:ext cx="5556695" cy="264033"/>
            <a:chOff x="6032563" y="6045518"/>
            <a:chExt cx="555669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32563" y="6045518"/>
              <a:ext cx="5556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מוזיאון ישראל, 2026 · המיזם הדיגיטלי של מגילות ים המלח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17" presetID="23" presetClass="entr" presetSubtype="27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50"/>
                            </p:stCondLst>
                            <p:childTnLst>
                              <p:par>
                                <p:cTn xmlns:p="http://schemas.openxmlformats.org/presentationml/2006/main" id="2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5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cope-kicker"/>
          <p:cNvGrpSpPr/>
          <p:nvPr/>
        </p:nvGrpSpPr>
        <p:grpSpPr>
          <a:xfrm>
            <a:off x="9374505" y="730568"/>
            <a:ext cx="2214753" cy="264033"/>
            <a:chOff x="9374505" y="730568"/>
            <a:chExt cx="2214753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374505" y="730568"/>
              <a:ext cx="2214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שני · היקף האוסף</a:t>
              </a:r>
            </a:p>
          </p:txBody>
        </p:sp>
      </p:grpSp>
      <p:grpSp>
        <p:nvGrpSpPr>
          <p:cNvPr id="6" name="scope-title"/>
          <p:cNvGrpSpPr/>
          <p:nvPr/>
        </p:nvGrpSpPr>
        <p:grpSpPr>
          <a:xfrm>
            <a:off x="6286500" y="1028700"/>
            <a:ext cx="5311140" cy="657225"/>
            <a:chOff x="6286500" y="1028700"/>
            <a:chExt cx="531114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640068" y="1028700"/>
              <a:ext cx="49575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אוסף שלם התגלה מתחת לאבק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286500" y="16764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aphicFrame>
        <p:nvGraphicFramePr>
          <p:cNvPr id="7" name="p03-corpus-mix"/>
          <p:cNvGraphicFramePr>
            <a:graphicFrameLocks noGrp="1"/>
          </p:cNvGraphicFramePr>
          <p:nvPr/>
        </p:nvGraphicFramePr>
        <p:xfrm>
          <a:off x="1333500" y="2114550"/>
          <a:ext cx="5429250" cy="35623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1" name="scope-fig-caves"/>
          <p:cNvGrpSpPr/>
          <p:nvPr/>
        </p:nvGrpSpPr>
        <p:grpSpPr>
          <a:xfrm>
            <a:off x="7505700" y="2404110"/>
            <a:ext cx="4095750" cy="1034415"/>
            <a:chOff x="7505700" y="2404110"/>
            <a:chExt cx="4095750" cy="1034415"/>
          </a:xfrm>
        </p:grpSpPr>
        <p:sp>
          <p:nvSpPr>
            <p:cNvPr id="8" name="TextBox 8"/>
            <p:cNvSpPr txBox="1"/>
            <p:nvPr/>
          </p:nvSpPr>
          <p:spPr>
            <a:xfrm>
              <a:off x="10941406" y="240411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11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21557" y="3035618"/>
              <a:ext cx="126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מערות בקומראן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505700" y="3429000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</a:ln>
          </p:spPr>
        </p:sp>
      </p:grpSp>
      <p:grpSp>
        <p:nvGrpSpPr>
          <p:cNvPr id="15" name="scope-fig-manuscripts"/>
          <p:cNvGrpSpPr/>
          <p:nvPr/>
        </p:nvGrpSpPr>
        <p:grpSpPr>
          <a:xfrm>
            <a:off x="7505700" y="3547110"/>
            <a:ext cx="4095750" cy="1034415"/>
            <a:chOff x="7505700" y="3547110"/>
            <a:chExt cx="4095750" cy="1034415"/>
          </a:xfrm>
        </p:grpSpPr>
        <p:sp>
          <p:nvSpPr>
            <p:cNvPr id="12" name="TextBox 12"/>
            <p:cNvSpPr txBox="1"/>
            <p:nvPr/>
          </p:nvSpPr>
          <p:spPr>
            <a:xfrm>
              <a:off x="10630433" y="354711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930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58395" y="4178618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כתבי יד, לפי הערכות שונות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505700" y="4572000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</a:ln>
          </p:spPr>
        </p:sp>
      </p:grpSp>
      <p:grpSp>
        <p:nvGrpSpPr>
          <p:cNvPr id="18" name="scope-fig-fragments"/>
          <p:cNvGrpSpPr/>
          <p:nvPr/>
        </p:nvGrpSpPr>
        <p:grpSpPr>
          <a:xfrm>
            <a:off x="8258842" y="4690110"/>
            <a:ext cx="3342608" cy="895541"/>
            <a:chOff x="8258842" y="4690110"/>
            <a:chExt cx="3342608" cy="895541"/>
          </a:xfrm>
        </p:grpSpPr>
        <p:sp>
          <p:nvSpPr>
            <p:cNvPr id="16" name="TextBox 16"/>
            <p:cNvSpPr txBox="1"/>
            <p:nvPr/>
          </p:nvSpPr>
          <p:spPr>
            <a:xfrm>
              <a:off x="9697517" y="4690110"/>
              <a:ext cx="190393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25,000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58842" y="5321618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קטעים לפחות, שצולמו בספרייה המקוונת</a:t>
              </a:r>
            </a:p>
          </p:txBody>
        </p:sp>
      </p:grpSp>
      <p:grpSp>
        <p:nvGrpSpPr>
          <p:cNvPr id="20" name="scope-note"/>
          <p:cNvGrpSpPr/>
          <p:nvPr/>
        </p:nvGrpSpPr>
        <p:grpSpPr>
          <a:xfrm>
            <a:off x="5926264" y="5950268"/>
            <a:ext cx="5662994" cy="492633"/>
            <a:chOff x="5926264" y="5950268"/>
            <a:chExt cx="5662994" cy="492633"/>
          </a:xfrm>
        </p:grpSpPr>
        <p:sp>
          <p:nvSpPr>
            <p:cNvPr id="19" name="TextBox 19"/>
            <p:cNvSpPr txBox="1"/>
            <p:nvPr/>
          </p:nvSpPr>
          <p:spPr>
            <a:xfrm>
              <a:off x="5926264" y="5950268"/>
              <a:ext cx="5662994" cy="492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1800"/>
                </a:lnSpc>
              </a:pPr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עיבוד: החלוקה לשלוש קבוצות נגזרת מן ההערכות שפורסמו, ואינה ציטוט</a:t>
              </a:r>
              <a:br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הספרייה המקוונת ומבוא למגילות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15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5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3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-plate"/>
          <p:cNvSpPr/>
          <p:nvPr/>
        </p:nvSpPr>
        <p:spPr>
          <a:xfrm>
            <a:off x="1333500" y="2190750"/>
            <a:ext cx="10248900" cy="3143250"/>
          </a:xfrm>
          <a:prstGeom prst="rect">
            <a:avLst/>
          </a:prstGeom>
          <a:solidFill>
            <a:srgbClr val="FBF7E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8153400" y="2381250"/>
            <a:ext cx="9525" cy="2762250"/>
          </a:xfrm>
          <a:custGeom>
            <a:avLst/>
            <a:gdLst/>
            <a:ahLst/>
            <a:cxnLst/>
            <a:rect l="l" t="t" r="r" b="b"/>
            <a:pathLst>
              <a:path w="9525" h="2762250">
                <a:moveTo>
                  <a:pt x="0" y="0"/>
                </a:moveTo>
                <a:lnTo>
                  <a:pt x="0" y="276225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sp>
        <p:nvSpPr>
          <p:cNvPr id="4" name="Line 4"/>
          <p:cNvSpPr/>
          <p:nvPr/>
        </p:nvSpPr>
        <p:spPr>
          <a:xfrm>
            <a:off x="4724400" y="2381250"/>
            <a:ext cx="9525" cy="2762250"/>
          </a:xfrm>
          <a:custGeom>
            <a:avLst/>
            <a:gdLst/>
            <a:ahLst/>
            <a:cxnLst/>
            <a:rect l="l" t="t" r="r" b="b"/>
            <a:pathLst>
              <a:path w="9525" h="2762250">
                <a:moveTo>
                  <a:pt x="0" y="0"/>
                </a:moveTo>
                <a:lnTo>
                  <a:pt x="0" y="276225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grpSp>
        <p:nvGrpSpPr>
          <p:cNvPr id="6" name="families-kicker"/>
          <p:cNvGrpSpPr/>
          <p:nvPr/>
        </p:nvGrpSpPr>
        <p:grpSpPr>
          <a:xfrm>
            <a:off x="9494653" y="730568"/>
            <a:ext cx="2094605" cy="264033"/>
            <a:chOff x="9494653" y="730568"/>
            <a:chExt cx="2094605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9494653" y="73056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שלישי · מה כתוב</a:t>
              </a:r>
            </a:p>
          </p:txBody>
        </p:sp>
      </p:grpSp>
      <p:grpSp>
        <p:nvGrpSpPr>
          <p:cNvPr id="9" name="families-title"/>
          <p:cNvGrpSpPr/>
          <p:nvPr/>
        </p:nvGrpSpPr>
        <p:grpSpPr>
          <a:xfrm>
            <a:off x="7143750" y="1028700"/>
            <a:ext cx="4453890" cy="657225"/>
            <a:chOff x="7143750" y="1028700"/>
            <a:chExt cx="4453890" cy="657225"/>
          </a:xfrm>
        </p:grpSpPr>
        <p:sp>
          <p:nvSpPr>
            <p:cNvPr id="7" name="TextBox 7"/>
            <p:cNvSpPr txBox="1"/>
            <p:nvPr/>
          </p:nvSpPr>
          <p:spPr>
            <a:xfrm>
              <a:off x="7427595" y="1028700"/>
              <a:ext cx="41700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שלוש משפחות של כתבים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143750" y="1676400"/>
              <a:ext cx="4438650" cy="9525"/>
            </a:xfrm>
            <a:custGeom>
              <a:avLst/>
              <a:gdLst/>
              <a:ahLst/>
              <a:cxnLst/>
              <a:rect l="l" t="t" r="r" b="b"/>
              <a:pathLst>
                <a:path w="4438650" h="9525">
                  <a:moveTo>
                    <a:pt x="0" y="0"/>
                  </a:moveTo>
                  <a:lnTo>
                    <a:pt x="443865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9" name="family-biblical"/>
          <p:cNvGrpSpPr/>
          <p:nvPr/>
        </p:nvGrpSpPr>
        <p:grpSpPr>
          <a:xfrm>
            <a:off x="9422282" y="2641478"/>
            <a:ext cx="1988668" cy="2144073"/>
            <a:chOff x="9422282" y="2641478"/>
            <a:chExt cx="1988668" cy="2144073"/>
          </a:xfrm>
        </p:grpSpPr>
        <p:grpSp>
          <p:nvGrpSpPr>
            <p:cNvPr id="15" name="Group 15"/>
            <p:cNvGrpSpPr/>
            <p:nvPr/>
          </p:nvGrpSpPr>
          <p:grpSpPr>
            <a:xfrm>
              <a:off x="11058525" y="2641478"/>
              <a:ext cx="295276" cy="231897"/>
              <a:chOff x="11058525" y="2641478"/>
              <a:chExt cx="295276" cy="23189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058525" y="2847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058525" y="2641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058525" y="2667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201400" y="2667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344276" y="2667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9790271" y="318611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כתבי הקודש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39933" y="373761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230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22282" y="4521518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כתבי יד מקראיים באוסף</a:t>
              </a:r>
            </a:p>
          </p:txBody>
        </p:sp>
      </p:grpSp>
      <p:grpSp>
        <p:nvGrpSpPr>
          <p:cNvPr id="27" name="family-sectarian"/>
          <p:cNvGrpSpPr/>
          <p:nvPr/>
        </p:nvGrpSpPr>
        <p:grpSpPr>
          <a:xfrm>
            <a:off x="5793372" y="2619375"/>
            <a:ext cx="2188578" cy="2166176"/>
            <a:chOff x="5793372" y="2619375"/>
            <a:chExt cx="2188578" cy="2166176"/>
          </a:xfrm>
        </p:grpSpPr>
        <p:grpSp>
          <p:nvGrpSpPr>
            <p:cNvPr id="23" name="Group 23"/>
            <p:cNvGrpSpPr/>
            <p:nvPr/>
          </p:nvGrpSpPr>
          <p:grpSpPr>
            <a:xfrm>
              <a:off x="7629525" y="2619375"/>
              <a:ext cx="269876" cy="254001"/>
              <a:chOff x="7629525" y="2619375"/>
              <a:chExt cx="269876" cy="25400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835901" y="2619375"/>
                <a:ext cx="6350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1">
                    <a:moveTo>
                      <a:pt x="63500" y="222250"/>
                    </a:moveTo>
                    <a:lnTo>
                      <a:pt x="63500" y="31750"/>
                    </a:lnTo>
                    <a:cubicBezTo>
                      <a:pt x="63500" y="13954"/>
                      <a:pt x="49546" y="0"/>
                      <a:pt x="31750" y="0"/>
                    </a:cubicBezTo>
                    <a:cubicBezTo>
                      <a:pt x="13954" y="0"/>
                      <a:pt x="0" y="13954"/>
                      <a:pt x="0" y="31750"/>
                    </a:cubicBezTo>
                    <a:lnTo>
                      <a:pt x="0" y="222250"/>
                    </a:lnTo>
                    <a:lnTo>
                      <a:pt x="31750" y="254001"/>
                    </a:lnTo>
                    <a:lnTo>
                      <a:pt x="63500" y="22225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835901" y="26828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629525" y="2746375"/>
                <a:ext cx="238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27000">
                    <a:moveTo>
                      <a:pt x="238125" y="127000"/>
                    </a:move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cubicBezTo>
                      <a:pt x="0" y="77715"/>
                      <a:pt x="14215" y="63500"/>
                      <a:pt x="31750" y="63500"/>
                    </a:cubicBezTo>
                    <a:lnTo>
                      <a:pt x="95250" y="63500"/>
                    </a:lnTo>
                    <a:cubicBezTo>
                      <a:pt x="112785" y="63500"/>
                      <a:pt x="127000" y="49285"/>
                      <a:pt x="127000" y="31750"/>
                    </a:cubicBezTo>
                    <a:cubicBezTo>
                      <a:pt x="127000" y="14215"/>
                      <a:pt x="112785" y="0"/>
                      <a:pt x="95250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527863" y="3186112"/>
              <a:ext cx="14464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ספרות הכת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97853" y="3737610"/>
              <a:ext cx="10840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25%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93372" y="4521518"/>
              <a:ext cx="2176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מכתבי היד שאינם מקראיים</a:t>
              </a:r>
            </a:p>
          </p:txBody>
        </p:sp>
      </p:grpSp>
      <p:grpSp>
        <p:nvGrpSpPr>
          <p:cNvPr id="39" name="family-other"/>
          <p:cNvGrpSpPr/>
          <p:nvPr/>
        </p:nvGrpSpPr>
        <p:grpSpPr>
          <a:xfrm>
            <a:off x="1810074" y="2619375"/>
            <a:ext cx="2735256" cy="2166176"/>
            <a:chOff x="1810074" y="2619375"/>
            <a:chExt cx="2735256" cy="2166176"/>
          </a:xfrm>
        </p:grpSpPr>
        <p:grpSp>
          <p:nvGrpSpPr>
            <p:cNvPr id="35" name="Group 35"/>
            <p:cNvGrpSpPr/>
            <p:nvPr/>
          </p:nvGrpSpPr>
          <p:grpSpPr>
            <a:xfrm>
              <a:off x="4200525" y="2619375"/>
              <a:ext cx="285751" cy="285751"/>
              <a:chOff x="4200525" y="2619375"/>
              <a:chExt cx="285751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200525" y="2619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111125" y="254001"/>
                    </a:move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111125" y="0"/>
                    </a:lnTo>
                    <a:cubicBezTo>
                      <a:pt x="128660" y="0"/>
                      <a:pt x="142875" y="14215"/>
                      <a:pt x="142875" y="31750"/>
                    </a:cubicBezTo>
                    <a:cubicBezTo>
                      <a:pt x="142875" y="14215"/>
                      <a:pt x="157090" y="0"/>
                      <a:pt x="174625" y="0"/>
                    </a:cubicBezTo>
                    <a:lnTo>
                      <a:pt x="269876" y="0"/>
                    </a:lnTo>
                    <a:cubicBezTo>
                      <a:pt x="278643" y="0"/>
                      <a:pt x="285751" y="7107"/>
                      <a:pt x="285751" y="15875"/>
                    </a:cubicBezTo>
                    <a:lnTo>
                      <a:pt x="285751" y="238125"/>
                    </a:lnTo>
                    <a:cubicBezTo>
                      <a:pt x="285751" y="246893"/>
                      <a:pt x="278643" y="254001"/>
                      <a:pt x="269876" y="254001"/>
                    </a:cubicBezTo>
                    <a:lnTo>
                      <a:pt x="174625" y="254001"/>
                    </a:lnTo>
                    <a:cubicBezTo>
                      <a:pt x="157090" y="254001"/>
                      <a:pt x="142875" y="268215"/>
                      <a:pt x="142875" y="285751"/>
                    </a:cubicBezTo>
                    <a:cubicBezTo>
                      <a:pt x="142875" y="268215"/>
                      <a:pt x="128660" y="254001"/>
                      <a:pt x="111125" y="254001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343400" y="2651125"/>
                <a:ext cx="9525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1">
                    <a:moveTo>
                      <a:pt x="0" y="0"/>
                    </a:moveTo>
                    <a:lnTo>
                      <a:pt x="0" y="254001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264025" y="26828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264025" y="27463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406901" y="26828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4406901" y="27463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4406901" y="28098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2265902" y="3186112"/>
              <a:ext cx="227942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חיבורים נוספים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86228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פרשנות ומזמורים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074" y="4521518"/>
              <a:ext cx="273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תפילות, ספרות חכמה ולוחות שנה</a:t>
              </a:r>
            </a:p>
          </p:txBody>
        </p:sp>
      </p:grpSp>
      <p:grpSp>
        <p:nvGrpSpPr>
          <p:cNvPr id="45" name="material-split"/>
          <p:cNvGrpSpPr/>
          <p:nvPr/>
        </p:nvGrpSpPr>
        <p:grpSpPr>
          <a:xfrm>
            <a:off x="1333500" y="5531168"/>
            <a:ext cx="5340858" cy="816483"/>
            <a:chOff x="1333500" y="5531168"/>
            <a:chExt cx="5340858" cy="816483"/>
          </a:xfrm>
        </p:grpSpPr>
        <p:sp>
          <p:nvSpPr>
            <p:cNvPr id="40" name="TextBox 40"/>
            <p:cNvSpPr txBox="1"/>
            <p:nvPr/>
          </p:nvSpPr>
          <p:spPr>
            <a:xfrm>
              <a:off x="5606567" y="55311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חומר הכתיבה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400300" y="5810250"/>
              <a:ext cx="4267200" cy="209550"/>
            </a:xfrm>
            <a:prstGeom prst="rect">
              <a:avLst/>
            </a:prstGeom>
            <a:solidFill>
              <a:srgbClr val="9A5B2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333500" y="5810250"/>
              <a:ext cx="1066800" cy="209550"/>
            </a:xfrm>
            <a:prstGeom prst="rect">
              <a:avLst/>
            </a:prstGeom>
            <a:solidFill>
              <a:srgbClr val="CDBBA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81742" y="6083618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קלף 80%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4809" y="6083618"/>
              <a:ext cx="1004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פפירוס 20%</a:t>
              </a:r>
            </a:p>
          </p:txBody>
        </p:sp>
      </p:grpSp>
      <p:grpSp>
        <p:nvGrpSpPr>
          <p:cNvPr id="48" name="languages-note"/>
          <p:cNvGrpSpPr/>
          <p:nvPr/>
        </p:nvGrpSpPr>
        <p:grpSpPr>
          <a:xfrm>
            <a:off x="7513720" y="5531168"/>
            <a:ext cx="4075538" cy="606933"/>
            <a:chOff x="7513720" y="5531168"/>
            <a:chExt cx="4075538" cy="606933"/>
          </a:xfrm>
        </p:grpSpPr>
        <p:sp>
          <p:nvSpPr>
            <p:cNvPr id="46" name="TextBox 46"/>
            <p:cNvSpPr txBox="1"/>
            <p:nvPr/>
          </p:nvSpPr>
          <p:spPr>
            <a:xfrm>
              <a:off x="10521467" y="55311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שפות הכתיבה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13720" y="5874068"/>
              <a:ext cx="4075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שפות: עברית ברובם, ארמית בכ-15%, וגם יוונית</a:t>
              </a:r>
            </a:p>
          </p:txBody>
        </p:sp>
      </p:grpSp>
      <p:grpSp>
        <p:nvGrpSpPr>
          <p:cNvPr id="50" name="families-source"/>
          <p:cNvGrpSpPr/>
          <p:nvPr/>
        </p:nvGrpSpPr>
        <p:grpSpPr>
          <a:xfrm>
            <a:off x="7354824" y="6347460"/>
            <a:ext cx="4233672" cy="444246"/>
            <a:chOff x="7354824" y="6347460"/>
            <a:chExt cx="4233672" cy="444246"/>
          </a:xfrm>
        </p:grpSpPr>
        <p:sp>
          <p:nvSpPr>
            <p:cNvPr id="49" name="TextBox 49"/>
            <p:cNvSpPr txBox="1"/>
            <p:nvPr/>
          </p:nvSpPr>
          <p:spPr>
            <a:xfrm>
              <a:off x="7354824" y="6347460"/>
              <a:ext cx="4233672" cy="4442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1650"/>
                </a:lnSpc>
              </a:pPr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עיבוד: החלוקה לשלוש משפחות היא קריאה שלנו</a:t>
              </a:r>
              <a:br/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שימור המגילות ומבוא למגילות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20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30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820150" y="4381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sp>
        <p:nvSpPr>
          <p:cNvPr id="3" name="Line 3"/>
          <p:cNvSpPr/>
          <p:nvPr/>
        </p:nvSpPr>
        <p:spPr>
          <a:xfrm>
            <a:off x="6019800" y="4381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sp>
        <p:nvSpPr>
          <p:cNvPr id="4" name="Line 4"/>
          <p:cNvSpPr/>
          <p:nvPr/>
        </p:nvSpPr>
        <p:spPr>
          <a:xfrm>
            <a:off x="3219450" y="4381500"/>
            <a:ext cx="9525" cy="762000"/>
          </a:xfrm>
          <a:custGeom>
            <a:avLst/>
            <a:gdLst/>
            <a:ahLst/>
            <a:cxnLst/>
            <a:rect l="l" t="t" r="r" b="b"/>
            <a:pathLst>
              <a:path w="9525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9525">
            <a:solidFill>
              <a:srgbClr val="CDC2AE"/>
            </a:solidFill>
          </a:ln>
        </p:spPr>
      </p:sp>
      <p:grpSp>
        <p:nvGrpSpPr>
          <p:cNvPr id="6" name="isaiah-kicker"/>
          <p:cNvGrpSpPr/>
          <p:nvPr/>
        </p:nvGrpSpPr>
        <p:grpSpPr>
          <a:xfrm>
            <a:off x="8893912" y="730568"/>
            <a:ext cx="2695346" cy="264033"/>
            <a:chOff x="8893912" y="730568"/>
            <a:chExt cx="2695346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8893912" y="730568"/>
              <a:ext cx="26953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רביעי · מגילת ישעיהו</a:t>
              </a:r>
            </a:p>
          </p:txBody>
        </p:sp>
      </p:grpSp>
      <p:grpSp>
        <p:nvGrpSpPr>
          <p:cNvPr id="9" name="isaiah-title"/>
          <p:cNvGrpSpPr/>
          <p:nvPr/>
        </p:nvGrpSpPr>
        <p:grpSpPr>
          <a:xfrm>
            <a:off x="4572000" y="1028700"/>
            <a:ext cx="7025640" cy="657225"/>
            <a:chOff x="4572000" y="1028700"/>
            <a:chExt cx="7025640" cy="657225"/>
          </a:xfrm>
        </p:grpSpPr>
        <p:sp>
          <p:nvSpPr>
            <p:cNvPr id="7" name="TextBox 7"/>
            <p:cNvSpPr txBox="1"/>
            <p:nvPr/>
          </p:nvSpPr>
          <p:spPr>
            <a:xfrm>
              <a:off x="5186172" y="1028700"/>
              <a:ext cx="64114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המגילה שהקדימה את זמנה באלף שנה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4572000" y="16764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2" name="!!scroll-band"/>
          <p:cNvGrpSpPr/>
          <p:nvPr/>
        </p:nvGrpSpPr>
        <p:grpSpPr>
          <a:xfrm>
            <a:off x="609600" y="2000250"/>
            <a:ext cx="10972800" cy="1809750"/>
            <a:chOff x="609600" y="2000250"/>
            <a:chExt cx="10972800" cy="1809750"/>
          </a:xfrm>
        </p:grpSpPr>
        <p:pic>
          <p:nvPicPr>
            <p:cNvPr id="10" name="p05-scroll"/>
            <p:cNvPicPr>
              <a:picLocks noChangeAspect="1"/>
            </p:cNvPicPr>
            <p:nvPr/>
          </p:nvPicPr>
          <p:blipFill>
            <a:blip r:embed="rId2"/>
            <a:srcRect l="0" t="35684" r="0" b="35684"/>
            <a:stretch>
              <a:fillRect/>
            </a:stretch>
          </p:blipFill>
          <p:spPr>
            <a:xfrm>
              <a:off x="609600" y="2000250"/>
              <a:ext cx="10972800" cy="1809750"/>
            </a:xfrm>
            <a:prstGeom prst="rect">
              <a:avLst/>
            </a:prstGeom>
          </p:spPr>
        </p:pic>
        <p:sp>
          <p:nvSpPr>
            <p:cNvPr id="11" name="p05-scroll-fade"/>
            <p:cNvSpPr/>
            <p:nvPr/>
          </p:nvSpPr>
          <p:spPr>
            <a:xfrm>
              <a:off x="609600" y="2000250"/>
              <a:ext cx="10972800" cy="1809750"/>
            </a:xfrm>
            <a:prstGeom prst="rect">
              <a:avLst/>
            </a:prstGeom>
            <a:gradFill>
              <a:gsLst>
                <a:gs pos="0">
                  <a:srgbClr val="F4EEE2"/>
                </a:gs>
                <a:gs pos="9000">
                  <a:srgbClr val="F4EEE2">
                    <a:alpha val="0"/>
                  </a:srgbClr>
                </a:gs>
                <a:gs pos="91000">
                  <a:srgbClr val="F4EEE2">
                    <a:alpha val="0"/>
                  </a:srgbClr>
                </a:gs>
                <a:gs pos="100000">
                  <a:srgbClr val="F4EEE2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isaiah-fig-length"/>
          <p:cNvGrpSpPr/>
          <p:nvPr/>
        </p:nvGrpSpPr>
        <p:grpSpPr>
          <a:xfrm>
            <a:off x="10221601" y="4309110"/>
            <a:ext cx="1379849" cy="895541"/>
            <a:chOff x="10221601" y="4309110"/>
            <a:chExt cx="1379849" cy="895541"/>
          </a:xfrm>
        </p:grpSpPr>
        <p:sp>
          <p:nvSpPr>
            <p:cNvPr id="13" name="TextBox 13"/>
            <p:cNvSpPr txBox="1"/>
            <p:nvPr/>
          </p:nvSpPr>
          <p:spPr>
            <a:xfrm>
              <a:off x="10630433" y="430911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734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21601" y="49406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סנטימטרים אורך</a:t>
              </a:r>
            </a:p>
          </p:txBody>
        </p:sp>
      </p:grpSp>
      <p:grpSp>
        <p:nvGrpSpPr>
          <p:cNvPr id="18" name="isaiah-fig-columns"/>
          <p:cNvGrpSpPr/>
          <p:nvPr/>
        </p:nvGrpSpPr>
        <p:grpSpPr>
          <a:xfrm>
            <a:off x="7621162" y="4309110"/>
            <a:ext cx="1179938" cy="895541"/>
            <a:chOff x="7621162" y="4309110"/>
            <a:chExt cx="1179938" cy="895541"/>
          </a:xfrm>
        </p:grpSpPr>
        <p:sp>
          <p:nvSpPr>
            <p:cNvPr id="16" name="TextBox 16"/>
            <p:cNvSpPr txBox="1"/>
            <p:nvPr/>
          </p:nvSpPr>
          <p:spPr>
            <a:xfrm>
              <a:off x="8141056" y="430911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54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1162" y="494061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עמודות כתיבה</a:t>
              </a:r>
            </a:p>
          </p:txBody>
        </p:sp>
      </p:grpSp>
      <p:grpSp>
        <p:nvGrpSpPr>
          <p:cNvPr id="21" name="isaiah-fig-chapters"/>
          <p:cNvGrpSpPr/>
          <p:nvPr/>
        </p:nvGrpSpPr>
        <p:grpSpPr>
          <a:xfrm>
            <a:off x="4920767" y="4309110"/>
            <a:ext cx="1079983" cy="895541"/>
            <a:chOff x="4920767" y="4309110"/>
            <a:chExt cx="1079983" cy="895541"/>
          </a:xfrm>
        </p:grpSpPr>
        <p:sp>
          <p:nvSpPr>
            <p:cNvPr id="19" name="TextBox 19"/>
            <p:cNvSpPr txBox="1"/>
            <p:nvPr/>
          </p:nvSpPr>
          <p:spPr>
            <a:xfrm>
              <a:off x="5340706" y="430911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66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20767" y="494061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פרקי ישעיהו</a:t>
              </a:r>
            </a:p>
          </p:txBody>
        </p:sp>
      </p:grpSp>
      <p:grpSp>
        <p:nvGrpSpPr>
          <p:cNvPr id="24" name="isaiah-fig-variants"/>
          <p:cNvGrpSpPr/>
          <p:nvPr/>
        </p:nvGrpSpPr>
        <p:grpSpPr>
          <a:xfrm>
            <a:off x="1466164" y="4309110"/>
            <a:ext cx="1734236" cy="895541"/>
            <a:chOff x="1466164" y="4309110"/>
            <a:chExt cx="1734236" cy="895541"/>
          </a:xfrm>
        </p:grpSpPr>
        <p:sp>
          <p:nvSpPr>
            <p:cNvPr id="22" name="TextBox 22"/>
            <p:cNvSpPr txBox="1"/>
            <p:nvPr/>
          </p:nvSpPr>
          <p:spPr>
            <a:xfrm>
              <a:off x="1607439" y="4309110"/>
              <a:ext cx="15929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2,600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66164" y="494061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גרסאות שונות ויותר</a:t>
              </a:r>
            </a:p>
          </p:txBody>
        </p:sp>
      </p:grpSp>
      <p:grpSp>
        <p:nvGrpSpPr>
          <p:cNvPr id="26" name="isaiah-body"/>
          <p:cNvGrpSpPr/>
          <p:nvPr/>
        </p:nvGrpSpPr>
        <p:grpSpPr>
          <a:xfrm>
            <a:off x="3661639" y="5520690"/>
            <a:ext cx="7929905" cy="352044"/>
            <a:chOff x="3661639" y="5520690"/>
            <a:chExt cx="7929905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3661639" y="5520690"/>
              <a:ext cx="79299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המגילה השלמה ביותר מבין המגילות המקראיות, ותוארכה לכ-125 לפנה"ס</a:t>
              </a:r>
            </a:p>
          </p:txBody>
        </p:sp>
      </p:grpSp>
      <p:grpSp>
        <p:nvGrpSpPr>
          <p:cNvPr id="28" name="isaiah-source"/>
          <p:cNvGrpSpPr/>
          <p:nvPr/>
        </p:nvGrpSpPr>
        <p:grpSpPr>
          <a:xfrm>
            <a:off x="5787219" y="6140768"/>
            <a:ext cx="5802039" cy="264033"/>
            <a:chOff x="5787219" y="6140768"/>
            <a:chExt cx="5802039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787219" y="6140768"/>
              <a:ext cx="5802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מוזיאון ישראל, 2026 · מגילת ישעיהו הגדולה במיזם הדיגיטלי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9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6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4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crolls-kicker"/>
          <p:cNvGrpSpPr/>
          <p:nvPr/>
        </p:nvGrpSpPr>
        <p:grpSpPr>
          <a:xfrm>
            <a:off x="8653615" y="730568"/>
            <a:ext cx="2935643" cy="264033"/>
            <a:chOff x="8653615" y="730568"/>
            <a:chExt cx="2935643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8653615" y="730568"/>
              <a:ext cx="29356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חמישי · מגילות מרכזיות</a:t>
              </a:r>
            </a:p>
          </p:txBody>
        </p:sp>
      </p:grpSp>
      <p:grpSp>
        <p:nvGrpSpPr>
          <p:cNvPr id="6" name="scrolls-title"/>
          <p:cNvGrpSpPr/>
          <p:nvPr/>
        </p:nvGrpSpPr>
        <p:grpSpPr>
          <a:xfrm>
            <a:off x="5867400" y="1028700"/>
            <a:ext cx="5730240" cy="657225"/>
            <a:chOff x="5867400" y="1028700"/>
            <a:chExt cx="573024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094857" y="1028700"/>
              <a:ext cx="550278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ארבע מגילות, ארבעה סיפורים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867400" y="16764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9" name="!!scroll-band"/>
          <p:cNvGrpSpPr/>
          <p:nvPr/>
        </p:nvGrpSpPr>
        <p:grpSpPr>
          <a:xfrm>
            <a:off x="609600" y="1866900"/>
            <a:ext cx="10972800" cy="476250"/>
            <a:chOff x="609600" y="1866900"/>
            <a:chExt cx="10972800" cy="476250"/>
          </a:xfrm>
        </p:grpSpPr>
        <p:pic>
          <p:nvPicPr>
            <p:cNvPr id="7" name="p06-scroll"/>
            <p:cNvPicPr>
              <a:picLocks noChangeAspect="1"/>
            </p:cNvPicPr>
            <p:nvPr/>
          </p:nvPicPr>
          <p:blipFill>
            <a:blip r:embed="rId2"/>
            <a:srcRect l="0" t="46232" r="0" b="46233"/>
            <a:stretch>
              <a:fillRect/>
            </a:stretch>
          </p:blipFill>
          <p:spPr>
            <a:xfrm>
              <a:off x="609600" y="1866900"/>
              <a:ext cx="10972800" cy="476250"/>
            </a:xfrm>
            <a:prstGeom prst="rect">
              <a:avLst/>
            </a:prstGeom>
          </p:spPr>
        </p:pic>
        <p:sp>
          <p:nvSpPr>
            <p:cNvPr id="8" name="p06-scroll-fade"/>
            <p:cNvSpPr/>
            <p:nvPr/>
          </p:nvSpPr>
          <p:spPr>
            <a:xfrm>
              <a:off x="609600" y="1866900"/>
              <a:ext cx="10972800" cy="476250"/>
            </a:xfrm>
            <a:prstGeom prst="rect">
              <a:avLst/>
            </a:prstGeom>
            <a:gradFill>
              <a:gsLst>
                <a:gs pos="0">
                  <a:srgbClr val="F4EEE2"/>
                </a:gs>
                <a:gs pos="9000">
                  <a:srgbClr val="F4EEE2">
                    <a:alpha val="0"/>
                  </a:srgbClr>
                </a:gs>
                <a:gs pos="91000">
                  <a:srgbClr val="F4EEE2">
                    <a:alpha val="0"/>
                  </a:srgbClr>
                </a:gs>
                <a:gs pos="100000">
                  <a:srgbClr val="F4EEE2"/>
                </a:gs>
              </a:gsLst>
              <a:lin ang="0" scaled="1"/>
            </a:gradFill>
            <a:ln>
              <a:noFill/>
            </a:ln>
          </p:spPr>
        </p:sp>
      </p:grpSp>
      <p:graphicFrame>
        <p:nvGraphicFramePr>
          <p:cNvPr id="10" name="p06-major-scrolls"/>
          <p:cNvGraphicFramePr>
            <a:graphicFrameLocks noGrp="1"/>
          </p:cNvGraphicFramePr>
          <p:nvPr/>
        </p:nvGraphicFramePr>
        <p:xfrm>
          <a:off x="609600" y="2857500"/>
          <a:ext cx="109728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2743200"/>
                <a:gridCol w="1371600"/>
                <a:gridCol w="3429000"/>
              </a:tblGrid>
              <a:tr h="457200">
                <a:tc>
                  <a:txBody>
                    <a:bodyPr/>
                    <a:lstStyle/>
                    <a:p>
                      <a:pPr algn="r" rtl="1"/>
                      <a:r>
                        <a:rPr lang="he-IL" sz="1500" b="1">
                          <a:solidFill>
                            <a:srgbClr val="1F1B16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ממדים והיקף</a:t>
                      </a:r>
                    </a:p>
                  </a:txBody>
                  <a:tcPr anchor="ctr" marL="152400" marR="1524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9A5B2B"/>
                      </a:solidFill>
                      <a:prstDash val="solid"/>
                    </a:lnB>
                    <a:solidFill>
                      <a:srgbClr val="EDE3D2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500" b="1">
                          <a:solidFill>
                            <a:srgbClr val="1F1B16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תיארוך</a:t>
                      </a:r>
                    </a:p>
                  </a:txBody>
                  <a:tcPr anchor="ctr" marL="152400" marR="1524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9A5B2B"/>
                      </a:solidFill>
                      <a:prstDash val="solid"/>
                    </a:lnB>
                    <a:solidFill>
                      <a:srgbClr val="EDE3D2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500" b="1">
                          <a:solidFill>
                            <a:srgbClr val="1F1B16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מערה</a:t>
                      </a:r>
                    </a:p>
                  </a:txBody>
                  <a:tcPr anchor="ctr" marL="152400" marR="1524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9A5B2B"/>
                      </a:solidFill>
                      <a:prstDash val="solid"/>
                    </a:lnB>
                    <a:solidFill>
                      <a:srgbClr val="EDE3D2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500" b="1">
                          <a:solidFill>
                            <a:srgbClr val="1F1B16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מגילה</a:t>
                      </a:r>
                    </a:p>
                  </a:txBody>
                  <a:tcPr anchor="ctr" marL="152400" marR="152400" marT="95250" marB="952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9A5B2B"/>
                      </a:solidFill>
                      <a:prstDash val="solid"/>
                    </a:lnB>
                    <a:solidFill>
                      <a:srgbClr val="EDE3D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אורך 734 ס"מ, 54 עמודות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כ-125 לפנה"ס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מערה 1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1">
                          <a:solidFill>
                            <a:srgbClr val="1F1B16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מגילת ישעיהו הגדולה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אורך 8.146 מ', 18 גיליונות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שלהי ימי הבית השני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מערה 11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1">
                          <a:solidFill>
                            <a:srgbClr val="1F1B16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מגילת המקדש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אחת משבע הראשונות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בין 100 ל-75 לפנה"ס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מערה 1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1">
                          <a:solidFill>
                            <a:srgbClr val="1F1B16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סרך היחד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שרדו 19 עמודות מתוך עשרים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שלהי המאה ה-1 לפנה"ס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0">
                          <a:solidFill>
                            <a:srgbClr val="332E27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מערה 1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sz="1350" b="1">
                          <a:solidFill>
                            <a:srgbClr val="1F1B16"/>
                          </a:solidFill>
                          <a:latin typeface="Segoe UI"/>
                          <a:ea typeface="Microsoft YaHei"/>
                          <a:cs typeface="Segoe UI"/>
                          <a:rtl val="1"/>
                        </a:rPr>
                        <a:t>מגילת המלחמה</a:t>
                      </a:r>
                    </a:p>
                  </a:txBody>
                  <a:tcPr anchor="ctr" marL="152400" marR="152400" marT="146685" marB="14668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DC2A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scrolls-note"/>
          <p:cNvGrpSpPr/>
          <p:nvPr/>
        </p:nvGrpSpPr>
        <p:grpSpPr>
          <a:xfrm>
            <a:off x="5841740" y="5664518"/>
            <a:ext cx="5747518" cy="264033"/>
            <a:chOff x="5841740" y="5664518"/>
            <a:chExt cx="5747518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5841740" y="5664518"/>
              <a:ext cx="5747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כל המגילות בטבלה נמצאו בקומראן, והתיארוך נתון להערכות מחודשות</a:t>
              </a:r>
            </a:p>
          </p:txBody>
        </p:sp>
      </p:grpSp>
      <p:grpSp>
        <p:nvGrpSpPr>
          <p:cNvPr id="14" name="scrolls-source"/>
          <p:cNvGrpSpPr/>
          <p:nvPr/>
        </p:nvGrpSpPr>
        <p:grpSpPr>
          <a:xfrm>
            <a:off x="6032563" y="6045518"/>
            <a:ext cx="5556695" cy="264033"/>
            <a:chOff x="6032563" y="6045518"/>
            <a:chExt cx="5556695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6032563" y="6045518"/>
              <a:ext cx="55566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מוזיאון ישראל, 2026 · המיזם הדיגיטלי של מגילות ים המלח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6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dating-kicker"/>
          <p:cNvGrpSpPr/>
          <p:nvPr/>
        </p:nvGrpSpPr>
        <p:grpSpPr>
          <a:xfrm>
            <a:off x="9689516" y="730568"/>
            <a:ext cx="1899742" cy="264033"/>
            <a:chOff x="9689516" y="730568"/>
            <a:chExt cx="189974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689516" y="730568"/>
              <a:ext cx="1899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שישי · תיארוך</a:t>
              </a:r>
            </a:p>
          </p:txBody>
        </p:sp>
      </p:grpSp>
      <p:grpSp>
        <p:nvGrpSpPr>
          <p:cNvPr id="6" name="dating-title"/>
          <p:cNvGrpSpPr/>
          <p:nvPr/>
        </p:nvGrpSpPr>
        <p:grpSpPr>
          <a:xfrm>
            <a:off x="7048500" y="1028700"/>
            <a:ext cx="4549140" cy="657225"/>
            <a:chOff x="7048500" y="1028700"/>
            <a:chExt cx="454914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7427595" y="1028700"/>
              <a:ext cx="41700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שתי שיטות, תאריך אחד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7048500" y="16764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20" name="method-paleography"/>
          <p:cNvGrpSpPr/>
          <p:nvPr/>
        </p:nvGrpSpPr>
        <p:grpSpPr>
          <a:xfrm>
            <a:off x="6667500" y="2000250"/>
            <a:ext cx="4914900" cy="1333500"/>
            <a:chOff x="6667500" y="2000250"/>
            <a:chExt cx="4914900" cy="1333500"/>
          </a:xfrm>
        </p:grpSpPr>
        <p:sp>
          <p:nvSpPr>
            <p:cNvPr id="7" name="Freeform 7"/>
            <p:cNvSpPr/>
            <p:nvPr/>
          </p:nvSpPr>
          <p:spPr>
            <a:xfrm>
              <a:off x="6667500" y="2000250"/>
              <a:ext cx="4914900" cy="1333500"/>
            </a:xfrm>
            <a:prstGeom prst="snip1Rect">
              <a:avLst/>
            </a:prstGeom>
            <a:solidFill>
              <a:srgbClr val="FBF7EF"/>
            </a:solidFill>
            <a:ln w="9525">
              <a:solidFill>
                <a:srgbClr val="CDC2AE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677525" y="2257425"/>
              <a:ext cx="295276" cy="269875"/>
              <a:chOff x="10677525" y="2257425"/>
              <a:chExt cx="295276" cy="2698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677525" y="2400300"/>
                <a:ext cx="28575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27000">
                    <a:moveTo>
                      <a:pt x="267891" y="0"/>
                    </a:moveTo>
                    <a:cubicBezTo>
                      <a:pt x="277750" y="0"/>
                      <a:pt x="285751" y="8128"/>
                      <a:pt x="285751" y="18145"/>
                    </a:cubicBezTo>
                    <a:lnTo>
                      <a:pt x="285751" y="108855"/>
                    </a:lnTo>
                    <a:cubicBezTo>
                      <a:pt x="285751" y="118872"/>
                      <a:pt x="277750" y="127000"/>
                      <a:pt x="267891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8145"/>
                    </a:lnTo>
                    <a:cubicBezTo>
                      <a:pt x="0" y="8128"/>
                      <a:pt x="8001" y="0"/>
                      <a:pt x="17859" y="0"/>
                    </a:cubicBezTo>
                    <a:lnTo>
                      <a:pt x="267891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772775" y="24003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25150" y="24003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820400" y="24003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915651" y="24003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868025" y="24003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77525" y="22574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677525" y="2289175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963276" y="22574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9500140" y="2614612"/>
              <a:ext cx="15221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פלאוגרפיה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32865" y="3016568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השוואת צורת האותיות לכתבי יד מתוארכים</a:t>
              </a:r>
            </a:p>
          </p:txBody>
        </p:sp>
      </p:grpSp>
      <p:grpSp>
        <p:nvGrpSpPr>
          <p:cNvPr id="28" name="method-carbon"/>
          <p:cNvGrpSpPr/>
          <p:nvPr/>
        </p:nvGrpSpPr>
        <p:grpSpPr>
          <a:xfrm>
            <a:off x="1333500" y="2000250"/>
            <a:ext cx="4914900" cy="1333500"/>
            <a:chOff x="1333500" y="2000250"/>
            <a:chExt cx="4914900" cy="1333500"/>
          </a:xfrm>
        </p:grpSpPr>
        <p:sp>
          <p:nvSpPr>
            <p:cNvPr id="21" name="Freeform 21"/>
            <p:cNvSpPr/>
            <p:nvPr/>
          </p:nvSpPr>
          <p:spPr>
            <a:xfrm>
              <a:off x="1333500" y="2000250"/>
              <a:ext cx="4914900" cy="1333500"/>
            </a:xfrm>
            <a:prstGeom prst="snip1Rect">
              <a:avLst/>
            </a:prstGeom>
            <a:solidFill>
              <a:srgbClr val="FBF7EF"/>
            </a:solidFill>
            <a:ln w="9525">
              <a:solidFill>
                <a:srgbClr val="CDC2AE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5349351" y="2263251"/>
              <a:ext cx="274098" cy="274098"/>
              <a:chOff x="5349351" y="2263251"/>
              <a:chExt cx="274098" cy="27409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5486400" y="2400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349351" y="2263251"/>
                <a:ext cx="274098" cy="274098"/>
              </a:xfrm>
              <a:custGeom>
                <a:avLst/>
                <a:gdLst/>
                <a:ahLst/>
                <a:cxnLst/>
                <a:rect l="l" t="t" r="r" b="b"/>
                <a:pathLst>
                  <a:path w="274098" h="274098">
                    <a:moveTo>
                      <a:pt x="249301" y="24797"/>
                    </a:moveTo>
                    <a:cubicBezTo>
                      <a:pt x="224505" y="0"/>
                      <a:pt x="154051" y="30147"/>
                      <a:pt x="92139" y="92155"/>
                    </a:cubicBezTo>
                    <a:cubicBezTo>
                      <a:pt x="30147" y="154147"/>
                      <a:pt x="0" y="224505"/>
                      <a:pt x="24797" y="249317"/>
                    </a:cubicBezTo>
                    <a:cubicBezTo>
                      <a:pt x="49594" y="274098"/>
                      <a:pt x="120047" y="243952"/>
                      <a:pt x="181960" y="181944"/>
                    </a:cubicBezTo>
                    <a:cubicBezTo>
                      <a:pt x="243952" y="119952"/>
                      <a:pt x="274098" y="49594"/>
                      <a:pt x="249301" y="24781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349351" y="2263251"/>
                <a:ext cx="274098" cy="274098"/>
              </a:xfrm>
              <a:custGeom>
                <a:avLst/>
                <a:gdLst/>
                <a:ahLst/>
                <a:cxnLst/>
                <a:rect l="l" t="t" r="r" b="b"/>
                <a:pathLst>
                  <a:path w="274098" h="274098">
                    <a:moveTo>
                      <a:pt x="24797" y="24797"/>
                    </a:moveTo>
                    <a:cubicBezTo>
                      <a:pt x="0" y="49594"/>
                      <a:pt x="30147" y="120047"/>
                      <a:pt x="92155" y="181960"/>
                    </a:cubicBezTo>
                    <a:cubicBezTo>
                      <a:pt x="154147" y="243952"/>
                      <a:pt x="224505" y="274098"/>
                      <a:pt x="249317" y="249301"/>
                    </a:cubicBezTo>
                    <a:cubicBezTo>
                      <a:pt x="274098" y="224505"/>
                      <a:pt x="243952" y="154051"/>
                      <a:pt x="181944" y="92139"/>
                    </a:cubicBezTo>
                    <a:cubicBezTo>
                      <a:pt x="119952" y="30147"/>
                      <a:pt x="49594" y="0"/>
                      <a:pt x="24781" y="24797"/>
                    </a:cubicBezTo>
                  </a:path>
                </a:pathLst>
              </a:custGeom>
              <a:noFill/>
              <a:ln w="23813">
                <a:solidFill>
                  <a:srgbClr val="9A5B2B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499324" y="2614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פחמן-14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53297" y="3016568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מדידת הפחמן הרדיואקטיבי שנותר בקלף</a:t>
              </a:r>
            </a:p>
          </p:txBody>
        </p:sp>
      </p:grpSp>
      <p:grpSp>
        <p:nvGrpSpPr>
          <p:cNvPr id="31" name="dating-links"/>
          <p:cNvGrpSpPr/>
          <p:nvPr/>
        </p:nvGrpSpPr>
        <p:grpSpPr>
          <a:xfrm>
            <a:off x="3790950" y="3409950"/>
            <a:ext cx="5334000" cy="647700"/>
            <a:chOff x="3790950" y="3409950"/>
            <a:chExt cx="5334000" cy="647700"/>
          </a:xfrm>
        </p:grpSpPr>
        <p:sp>
          <p:nvSpPr>
            <p:cNvPr id="29" name="Line 29"/>
            <p:cNvSpPr/>
            <p:nvPr/>
          </p:nvSpPr>
          <p:spPr>
            <a:xfrm flipH="1">
              <a:off x="7620000" y="3409950"/>
              <a:ext cx="1504950" cy="647700"/>
            </a:xfrm>
            <a:prstGeom prst="line">
              <a:avLst/>
            </a:prstGeom>
            <a:noFill/>
            <a:ln w="19050">
              <a:solidFill>
                <a:srgbClr val="9A5B2B"/>
              </a:solidFill>
              <a:tailEnd type="triangle" w="lg" len="lg"/>
            </a:ln>
          </p:spPr>
        </p:sp>
        <p:sp>
          <p:nvSpPr>
            <p:cNvPr id="30" name="Line 30"/>
            <p:cNvSpPr/>
            <p:nvPr/>
          </p:nvSpPr>
          <p:spPr>
            <a:xfrm>
              <a:off x="3790950" y="3409950"/>
              <a:ext cx="3162300" cy="647700"/>
            </a:xfrm>
            <a:prstGeom prst="line">
              <a:avLst/>
            </a:prstGeom>
            <a:noFill/>
            <a:ln w="19050">
              <a:solidFill>
                <a:srgbClr val="9A5B2B"/>
              </a:solidFill>
              <a:tailEnd type="triangle" w="lg" len="lg"/>
            </a:ln>
          </p:spPr>
        </p:sp>
      </p:grpSp>
      <p:grpSp>
        <p:nvGrpSpPr>
          <p:cNvPr id="34" name="!!date-marker"/>
          <p:cNvGrpSpPr/>
          <p:nvPr/>
        </p:nvGrpSpPr>
        <p:grpSpPr>
          <a:xfrm>
            <a:off x="6371653" y="4121468"/>
            <a:ext cx="1921954" cy="507682"/>
            <a:chOff x="6371653" y="4121468"/>
            <a:chExt cx="1921954" cy="507682"/>
          </a:xfrm>
        </p:grpSpPr>
        <p:sp>
          <p:nvSpPr>
            <p:cNvPr id="32" name="TextBox 32"/>
            <p:cNvSpPr txBox="1"/>
            <p:nvPr/>
          </p:nvSpPr>
          <p:spPr>
            <a:xfrm>
              <a:off x="6371653" y="41214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קהלת: 175–125 לפנה"ס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91312" y="4362450"/>
              <a:ext cx="1190625" cy="266700"/>
            </a:xfrm>
            <a:prstGeom prst="rect">
              <a:avLst/>
            </a:prstGeom>
            <a:solidFill>
              <a:srgbClr val="9A5B2B">
                <a:alpha val="85000"/>
              </a:srgbClr>
            </a:solidFill>
            <a:ln>
              <a:noFill/>
            </a:ln>
          </p:spPr>
        </p:sp>
      </p:grpSp>
      <p:grpSp>
        <p:nvGrpSpPr>
          <p:cNvPr id="46" name="!!date-axis"/>
          <p:cNvGrpSpPr/>
          <p:nvPr/>
        </p:nvGrpSpPr>
        <p:grpSpPr>
          <a:xfrm>
            <a:off x="1176709" y="4705350"/>
            <a:ext cx="9838582" cy="556451"/>
            <a:chOff x="1176709" y="4705350"/>
            <a:chExt cx="9838582" cy="556451"/>
          </a:xfrm>
        </p:grpSpPr>
        <p:sp>
          <p:nvSpPr>
            <p:cNvPr id="35" name="Line 35"/>
            <p:cNvSpPr/>
            <p:nvPr/>
          </p:nvSpPr>
          <p:spPr>
            <a:xfrm>
              <a:off x="1333500" y="4762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08585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847725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0960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71475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3335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7017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045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392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130877" y="499776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תחילת הספירה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767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</p:grpSp>
      <p:grpSp>
        <p:nvGrpSpPr>
          <p:cNvPr id="48" name="dating-note"/>
          <p:cNvGrpSpPr/>
          <p:nvPr/>
        </p:nvGrpSpPr>
        <p:grpSpPr>
          <a:xfrm>
            <a:off x="5132965" y="5474018"/>
            <a:ext cx="6456293" cy="264033"/>
            <a:chOff x="5132965" y="5474018"/>
            <a:chExt cx="6456293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5132965" y="5474018"/>
              <a:ext cx="6456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השנים שלפני הספירה מימין, ולאחריה משמאל; הרצועה מסמנת את טווח התיארוך</a:t>
              </a:r>
            </a:p>
          </p:txBody>
        </p:sp>
      </p:grpSp>
      <p:grpSp>
        <p:nvGrpSpPr>
          <p:cNvPr id="50" name="dating-source"/>
          <p:cNvGrpSpPr/>
          <p:nvPr/>
        </p:nvGrpSpPr>
        <p:grpSpPr>
          <a:xfrm>
            <a:off x="6986683" y="6045518"/>
            <a:ext cx="4602575" cy="264033"/>
            <a:chOff x="6986683" y="6045518"/>
            <a:chExt cx="4602575" cy="264033"/>
          </a:xfrm>
        </p:grpSpPr>
        <p:sp>
          <p:nvSpPr>
            <p:cNvPr id="49" name="TextBox 49"/>
            <p:cNvSpPr txBox="1"/>
            <p:nvPr/>
          </p:nvSpPr>
          <p:spPr>
            <a:xfrm>
              <a:off x="6986683" y="6045518"/>
              <a:ext cx="4602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מחקר תיארוך שפורסם ב-2025 · כתב העת פלוס ואן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3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dating-kicker"/>
          <p:cNvGrpSpPr/>
          <p:nvPr/>
        </p:nvGrpSpPr>
        <p:grpSpPr>
          <a:xfrm>
            <a:off x="9014060" y="730568"/>
            <a:ext cx="2575198" cy="264033"/>
            <a:chOff x="9014060" y="730568"/>
            <a:chExt cx="2575198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014060" y="730568"/>
              <a:ext cx="2575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שביעי · תיארוך מחדש</a:t>
              </a:r>
            </a:p>
          </p:txBody>
        </p:sp>
      </p:grpSp>
      <p:grpSp>
        <p:nvGrpSpPr>
          <p:cNvPr id="6" name="redating-title"/>
          <p:cNvGrpSpPr/>
          <p:nvPr/>
        </p:nvGrpSpPr>
        <p:grpSpPr>
          <a:xfrm>
            <a:off x="5467350" y="1028700"/>
            <a:ext cx="6130290" cy="657225"/>
            <a:chOff x="5467350" y="1028700"/>
            <a:chExt cx="613029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5529453" y="1028700"/>
              <a:ext cx="60681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המודל שהזיז את התאריכים אחורה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467350" y="1676400"/>
              <a:ext cx="6115050" cy="9525"/>
            </a:xfrm>
            <a:custGeom>
              <a:avLst/>
              <a:gdLst/>
              <a:ahLst/>
              <a:cxnLst/>
              <a:rect l="l" t="t" r="r" b="b"/>
              <a:pathLst>
                <a:path w="6115050" h="9525">
                  <a:moveTo>
                    <a:pt x="0" y="0"/>
                  </a:moveTo>
                  <a:lnTo>
                    <a:pt x="611505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9" name="enoch-fig-samples"/>
          <p:cNvGrpSpPr/>
          <p:nvPr/>
        </p:nvGrpSpPr>
        <p:grpSpPr>
          <a:xfrm>
            <a:off x="9667304" y="2118360"/>
            <a:ext cx="1934146" cy="895541"/>
            <a:chOff x="9667304" y="2118360"/>
            <a:chExt cx="1934146" cy="895541"/>
          </a:xfrm>
        </p:grpSpPr>
        <p:sp>
          <p:nvSpPr>
            <p:cNvPr id="7" name="TextBox 7"/>
            <p:cNvSpPr txBox="1"/>
            <p:nvPr/>
          </p:nvSpPr>
          <p:spPr>
            <a:xfrm>
              <a:off x="10941406" y="2118360"/>
              <a:ext cx="66004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24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667304" y="27498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דגימות שתוארכו בפחמן</a:t>
              </a:r>
            </a:p>
          </p:txBody>
        </p:sp>
      </p:grpSp>
      <p:grpSp>
        <p:nvGrpSpPr>
          <p:cNvPr id="12" name="enoch-fig-predicted"/>
          <p:cNvGrpSpPr/>
          <p:nvPr/>
        </p:nvGrpSpPr>
        <p:grpSpPr>
          <a:xfrm>
            <a:off x="7193318" y="2118360"/>
            <a:ext cx="1788757" cy="895541"/>
            <a:chOff x="7193318" y="2118360"/>
            <a:chExt cx="1788757" cy="895541"/>
          </a:xfrm>
        </p:grpSpPr>
        <p:sp>
          <p:nvSpPr>
            <p:cNvPr id="10" name="TextBox 10"/>
            <p:cNvSpPr txBox="1"/>
            <p:nvPr/>
          </p:nvSpPr>
          <p:spPr>
            <a:xfrm>
              <a:off x="8011058" y="2118360"/>
              <a:ext cx="97101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135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93318" y="274986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כתבי יד שנחזו במודל</a:t>
              </a:r>
            </a:p>
          </p:txBody>
        </p:sp>
      </p:grpSp>
      <p:grpSp>
        <p:nvGrpSpPr>
          <p:cNvPr id="15" name="enoch-fig-accuracy"/>
          <p:cNvGrpSpPr/>
          <p:nvPr/>
        </p:nvGrpSpPr>
        <p:grpSpPr>
          <a:xfrm>
            <a:off x="4274077" y="2118360"/>
            <a:ext cx="2088623" cy="895541"/>
            <a:chOff x="4274077" y="2118360"/>
            <a:chExt cx="2088623" cy="895541"/>
          </a:xfrm>
        </p:grpSpPr>
        <p:sp>
          <p:nvSpPr>
            <p:cNvPr id="13" name="TextBox 13"/>
            <p:cNvSpPr txBox="1"/>
            <p:nvPr/>
          </p:nvSpPr>
          <p:spPr>
            <a:xfrm>
              <a:off x="5278603" y="2118360"/>
              <a:ext cx="10840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85%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4077" y="27498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דיוק מול דגימות ידועות</a:t>
              </a:r>
            </a:p>
          </p:txBody>
        </p:sp>
      </p:grpSp>
      <p:grpSp>
        <p:nvGrpSpPr>
          <p:cNvPr id="18" name="enoch-fig-agreement"/>
          <p:cNvGrpSpPr/>
          <p:nvPr/>
        </p:nvGrpSpPr>
        <p:grpSpPr>
          <a:xfrm>
            <a:off x="2163566" y="2118360"/>
            <a:ext cx="1579759" cy="895541"/>
            <a:chOff x="2163566" y="2118360"/>
            <a:chExt cx="1579759" cy="895541"/>
          </a:xfrm>
        </p:grpSpPr>
        <p:sp>
          <p:nvSpPr>
            <p:cNvPr id="16" name="TextBox 16"/>
            <p:cNvSpPr txBox="1"/>
            <p:nvPr/>
          </p:nvSpPr>
          <p:spPr>
            <a:xfrm>
              <a:off x="2659228" y="2118360"/>
              <a:ext cx="10840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79%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63566" y="27498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התאמה לפלאוגרפיה</a:t>
              </a:r>
            </a:p>
          </p:txBody>
        </p:sp>
      </p:grpSp>
      <p:grpSp>
        <p:nvGrpSpPr>
          <p:cNvPr id="21" name="redating-claim"/>
          <p:cNvGrpSpPr/>
          <p:nvPr/>
        </p:nvGrpSpPr>
        <p:grpSpPr>
          <a:xfrm>
            <a:off x="2286000" y="3676650"/>
            <a:ext cx="5905500" cy="952500"/>
            <a:chOff x="2286000" y="3676650"/>
            <a:chExt cx="5905500" cy="952500"/>
          </a:xfrm>
        </p:grpSpPr>
        <p:sp>
          <p:nvSpPr>
            <p:cNvPr id="19" name="Freeform 19"/>
            <p:cNvSpPr/>
            <p:nvPr/>
          </p:nvSpPr>
          <p:spPr>
            <a:xfrm>
              <a:off x="2286000" y="3676650"/>
              <a:ext cx="5905500" cy="952500"/>
            </a:xfrm>
            <a:prstGeom prst="snip1Rect">
              <a:avLst/>
            </a:prstGeom>
            <a:solidFill>
              <a:srgbClr val="EDE3D2"/>
            </a:solidFill>
            <a:ln w="9525">
              <a:solidFill>
                <a:srgbClr val="C98A4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98214" y="3844290"/>
              <a:ext cx="3897630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התאריכים שהמודל מציע קדומים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ב-</a:t>
              </a:r>
              <a:r>
                <a:rPr lang="he-IL" sz="1800" b="1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50 עד 150 שנה</a:t>
              </a: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 xml:space="preserve"> מן ההערכה המקובלת</a:t>
              </a:r>
            </a:p>
          </p:txBody>
        </p:sp>
      </p:grpSp>
      <p:grpSp>
        <p:nvGrpSpPr>
          <p:cNvPr id="24" name="!!date-marker"/>
          <p:cNvGrpSpPr/>
          <p:nvPr/>
        </p:nvGrpSpPr>
        <p:grpSpPr>
          <a:xfrm>
            <a:off x="9172004" y="4121468"/>
            <a:ext cx="1921954" cy="507682"/>
            <a:chOff x="9172004" y="4121468"/>
            <a:chExt cx="1921954" cy="507682"/>
          </a:xfrm>
        </p:grpSpPr>
        <p:sp>
          <p:nvSpPr>
            <p:cNvPr id="22" name="TextBox 22"/>
            <p:cNvSpPr txBox="1"/>
            <p:nvPr/>
          </p:nvSpPr>
          <p:spPr>
            <a:xfrm>
              <a:off x="9172004" y="412146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1F1B16"/>
                  </a:solidFill>
                  <a:latin typeface="+mn-lt"/>
                  <a:ea typeface="+mn-ea"/>
                  <a:cs typeface="+mn-cs"/>
                  <a:rtl val="1"/>
                </a:rPr>
                <a:t>קהלת: 300–240 לפנה"ס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429750" y="4362450"/>
              <a:ext cx="1428750" cy="266700"/>
            </a:xfrm>
            <a:prstGeom prst="rect">
              <a:avLst/>
            </a:prstGeom>
            <a:solidFill>
              <a:srgbClr val="9A5B2B">
                <a:alpha val="85000"/>
              </a:srgbClr>
            </a:solidFill>
            <a:ln>
              <a:noFill/>
            </a:ln>
          </p:spPr>
        </p:sp>
      </p:grpSp>
      <p:grpSp>
        <p:nvGrpSpPr>
          <p:cNvPr id="36" name="!!date-axis"/>
          <p:cNvGrpSpPr/>
          <p:nvPr/>
        </p:nvGrpSpPr>
        <p:grpSpPr>
          <a:xfrm>
            <a:off x="1176709" y="4705350"/>
            <a:ext cx="9838582" cy="556451"/>
            <a:chOff x="1176709" y="4705350"/>
            <a:chExt cx="9838582" cy="556451"/>
          </a:xfrm>
        </p:grpSpPr>
        <p:sp>
          <p:nvSpPr>
            <p:cNvPr id="25" name="Line 25"/>
            <p:cNvSpPr/>
            <p:nvPr/>
          </p:nvSpPr>
          <p:spPr>
            <a:xfrm>
              <a:off x="1333500" y="4762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08585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47725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0960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371475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1333500" y="47053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7017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2045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200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392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30877" y="4997768"/>
              <a:ext cx="11677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תחילת הספירה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76709" y="499776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</p:grpSp>
      <p:grpSp>
        <p:nvGrpSpPr>
          <p:cNvPr id="38" name="redating-note"/>
          <p:cNvGrpSpPr/>
          <p:nvPr/>
        </p:nvGrpSpPr>
        <p:grpSpPr>
          <a:xfrm>
            <a:off x="6886727" y="5474018"/>
            <a:ext cx="4702531" cy="264033"/>
            <a:chOff x="6886727" y="5474018"/>
            <a:chExt cx="4702531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6886727" y="5474018"/>
              <a:ext cx="4702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אותו ציר, אותה מגילה — התאריך שהמודל מציע קדום יותר</a:t>
              </a:r>
            </a:p>
          </p:txBody>
        </p:sp>
      </p:grpSp>
      <p:grpSp>
        <p:nvGrpSpPr>
          <p:cNvPr id="40" name="redating-source"/>
          <p:cNvGrpSpPr/>
          <p:nvPr/>
        </p:nvGrpSpPr>
        <p:grpSpPr>
          <a:xfrm>
            <a:off x="6986683" y="6045518"/>
            <a:ext cx="4602575" cy="264033"/>
            <a:chOff x="6986683" y="6045518"/>
            <a:chExt cx="4602575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6986683" y="6045518"/>
              <a:ext cx="4602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מחקר תיארוך שפורסם ב-2025 · כתב העת פלוס ואן</a:t>
              </a:r>
            </a:p>
          </p:txBody>
        </p:sp>
      </p:grpSp>
    </p:spTree>
  </p:cSld>
  <p:clrMapOvr>
    <a:masterClrMapping/>
  </p:clrMapOvr>
  <mc:AlternateContent>
    <mc:Choice Requires="p159">
      <p:transition p14:dur="12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8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hreat-kicker"/>
          <p:cNvGrpSpPr/>
          <p:nvPr/>
        </p:nvGrpSpPr>
        <p:grpSpPr>
          <a:xfrm>
            <a:off x="9689516" y="730568"/>
            <a:ext cx="1899742" cy="264033"/>
            <a:chOff x="9689516" y="730568"/>
            <a:chExt cx="189974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689516" y="730568"/>
              <a:ext cx="1899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שמיני · הסכנה</a:t>
              </a:r>
            </a:p>
          </p:txBody>
        </p:sp>
      </p:grpSp>
      <p:grpSp>
        <p:nvGrpSpPr>
          <p:cNvPr id="6" name="threat-title"/>
          <p:cNvGrpSpPr/>
          <p:nvPr/>
        </p:nvGrpSpPr>
        <p:grpSpPr>
          <a:xfrm>
            <a:off x="6534150" y="1028700"/>
            <a:ext cx="5063490" cy="657225"/>
            <a:chOff x="6534150" y="1028700"/>
            <a:chExt cx="506349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862191" y="1028700"/>
              <a:ext cx="4735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הגילוי הוא גם רגע הסכנה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534150" y="1676400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0" y="0"/>
                  </a:moveTo>
                  <a:lnTo>
                    <a:pt x="504825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0" name="!!plate"/>
          <p:cNvGrpSpPr/>
          <p:nvPr/>
        </p:nvGrpSpPr>
        <p:grpSpPr>
          <a:xfrm>
            <a:off x="1333500" y="2000250"/>
            <a:ext cx="3435096" cy="4143756"/>
            <a:chOff x="1333500" y="2000250"/>
            <a:chExt cx="3435096" cy="4143756"/>
          </a:xfrm>
        </p:grpSpPr>
        <p:sp>
          <p:nvSpPr>
            <p:cNvPr id="7" name="p09-plate-glass"/>
            <p:cNvSpPr/>
            <p:nvPr/>
          </p:nvSpPr>
          <p:spPr>
            <a:xfrm>
              <a:off x="1333500" y="2000250"/>
              <a:ext cx="3429000" cy="381000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 w="9525">
              <a:solidFill>
                <a:srgbClr val="CDC2AE"/>
              </a:solidFill>
            </a:ln>
          </p:spPr>
        </p:sp>
        <p:pic>
          <p:nvPicPr>
            <p:cNvPr id="8" name="p09-fragmen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0200" y="2095500"/>
              <a:ext cx="2895600" cy="36195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800149" y="5909310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200" dirty="0">
                  <a:solidFill>
                    <a:srgbClr val="8C8172"/>
                  </a:solidFill>
                  <a:latin typeface="+mn-lt"/>
                  <a:ea typeface="+mn-ea"/>
                  <a:cs typeface="+mn-cs"/>
                  <a:rtl val="1"/>
                </a:rPr>
                <a:t>קטע מגילה ממערה 4, סימני בלאי ניכרים</a:t>
              </a:r>
            </a:p>
          </p:txBody>
        </p:sp>
      </p:grpSp>
      <p:grpSp>
        <p:nvGrpSpPr>
          <p:cNvPr id="12" name="threat-lead"/>
          <p:cNvGrpSpPr/>
          <p:nvPr/>
        </p:nvGrpSpPr>
        <p:grpSpPr>
          <a:xfrm>
            <a:off x="7064502" y="2059305"/>
            <a:ext cx="4528566" cy="772668"/>
            <a:chOff x="7064502" y="2059305"/>
            <a:chExt cx="4528566" cy="772668"/>
          </a:xfrm>
        </p:grpSpPr>
        <p:sp>
          <p:nvSpPr>
            <p:cNvPr id="11" name="TextBox 11"/>
            <p:cNvSpPr txBox="1"/>
            <p:nvPr/>
          </p:nvSpPr>
          <p:spPr>
            <a:xfrm>
              <a:off x="7064502" y="2059305"/>
              <a:ext cx="452856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850"/>
                </a:lnSpc>
              </a:pPr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אלפיים שנה שמרו המערות על המגילות</a:t>
              </a:r>
              <a:br/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והגילוי הוא שהפר את שיווי המשקל</a:t>
              </a:r>
            </a:p>
          </p:txBody>
        </p:sp>
      </p:grpSp>
      <p:grpSp>
        <p:nvGrpSpPr>
          <p:cNvPr id="20" name="altitude-contrast"/>
          <p:cNvGrpSpPr/>
          <p:nvPr/>
        </p:nvGrpSpPr>
        <p:grpSpPr>
          <a:xfrm>
            <a:off x="7620000" y="2864168"/>
            <a:ext cx="3714750" cy="1692783"/>
            <a:chOff x="7620000" y="2864168"/>
            <a:chExt cx="3714750" cy="1692783"/>
          </a:xfrm>
        </p:grpSpPr>
        <p:sp>
          <p:nvSpPr>
            <p:cNvPr id="13" name="Line 13"/>
            <p:cNvSpPr/>
            <p:nvPr/>
          </p:nvSpPr>
          <p:spPr>
            <a:xfrm>
              <a:off x="11239500" y="2905125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19050">
              <a:solidFill>
                <a:srgbClr val="8C8172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39052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9525">
              <a:solidFill>
                <a:srgbClr val="CDC2AE"/>
              </a:solidFill>
              <a:prstDash val="dash"/>
            </a:ln>
          </p:spPr>
        </p:sp>
        <p:sp>
          <p:nvSpPr>
            <p:cNvPr id="15" name="Ellipse 15"/>
            <p:cNvSpPr/>
            <p:nvPr/>
          </p:nvSpPr>
          <p:spPr>
            <a:xfrm>
              <a:off x="11182350" y="2895600"/>
              <a:ext cx="114300" cy="114300"/>
            </a:xfrm>
            <a:prstGeom prst="ellipse">
              <a:avLst/>
            </a:prstGeom>
            <a:solidFill>
              <a:srgbClr val="9A5B2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182350" y="4324350"/>
              <a:ext cx="114300" cy="114300"/>
            </a:xfrm>
            <a:prstGeom prst="ellipse">
              <a:avLst/>
            </a:prstGeom>
            <a:solidFill>
              <a:srgbClr val="9A5B2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570519" y="2864168"/>
              <a:ext cx="248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ירושלים, 800 מ' מעל פני הים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87889" y="3702368"/>
              <a:ext cx="6679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8C8172"/>
                  </a:solidFill>
                  <a:latin typeface="+mn-lt"/>
                  <a:ea typeface="+mn-ea"/>
                  <a:cs typeface="+mn-cs"/>
                  <a:rtl val="1"/>
                </a:rPr>
                <a:t>פני הים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61789" y="4292918"/>
              <a:ext cx="3294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אזור ים המלח, כ-400 מ' מתחת לפני הים</a:t>
              </a:r>
            </a:p>
          </p:txBody>
        </p:sp>
      </p:grpSp>
      <p:grpSp>
        <p:nvGrpSpPr>
          <p:cNvPr id="23" name="threat-plates"/>
          <p:cNvGrpSpPr/>
          <p:nvPr/>
        </p:nvGrpSpPr>
        <p:grpSpPr>
          <a:xfrm>
            <a:off x="7527036" y="4663440"/>
            <a:ext cx="4064508" cy="1026985"/>
            <a:chOff x="7527036" y="4663440"/>
            <a:chExt cx="4064508" cy="1026985"/>
          </a:xfrm>
        </p:grpSpPr>
        <p:sp>
          <p:nvSpPr>
            <p:cNvPr id="21" name="TextBox 21"/>
            <p:cNvSpPr txBox="1"/>
            <p:nvPr/>
          </p:nvSpPr>
          <p:spPr>
            <a:xfrm>
              <a:off x="7527036" y="4663440"/>
              <a:ext cx="406450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בשנות החמישים והשישים הונחו הקטעים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בלמעלה מ-</a:t>
              </a:r>
              <a:r>
                <a:rPr lang="he-IL" sz="1800" b="1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1,200 לוחות זכוכית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9844" y="5426392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נייר הדבק ולחץ הזגוגיות השחירו את הקלף</a:t>
              </a:r>
            </a:p>
          </p:txBody>
        </p:sp>
      </p:grpSp>
      <p:grpSp>
        <p:nvGrpSpPr>
          <p:cNvPr id="25" name="threat-source"/>
          <p:cNvGrpSpPr/>
          <p:nvPr/>
        </p:nvGrpSpPr>
        <p:grpSpPr>
          <a:xfrm>
            <a:off x="7849933" y="6045518"/>
            <a:ext cx="3739325" cy="264033"/>
            <a:chOff x="7849933" y="6045518"/>
            <a:chExt cx="3739325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7849933" y="6045518"/>
              <a:ext cx="3739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שימור המגילות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8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lab-kicker"/>
          <p:cNvGrpSpPr/>
          <p:nvPr/>
        </p:nvGrpSpPr>
        <p:grpSpPr>
          <a:xfrm>
            <a:off x="9689516" y="730568"/>
            <a:ext cx="1899742" cy="264033"/>
            <a:chOff x="9689516" y="730568"/>
            <a:chExt cx="1899742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689516" y="730568"/>
              <a:ext cx="18997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תשיעי · שימור</a:t>
              </a:r>
            </a:p>
          </p:txBody>
        </p:sp>
      </p:grpSp>
      <p:grpSp>
        <p:nvGrpSpPr>
          <p:cNvPr id="6" name="lab-title"/>
          <p:cNvGrpSpPr/>
          <p:nvPr/>
        </p:nvGrpSpPr>
        <p:grpSpPr>
          <a:xfrm>
            <a:off x="6562725" y="1028700"/>
            <a:ext cx="5034915" cy="657225"/>
            <a:chOff x="6562725" y="1028700"/>
            <a:chExt cx="5034915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862191" y="1028700"/>
              <a:ext cx="47354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שימור הפיך, צעד אחר צעד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6562725" y="1676400"/>
              <a:ext cx="5019675" cy="9525"/>
            </a:xfrm>
            <a:custGeom>
              <a:avLst/>
              <a:gdLst/>
              <a:ahLst/>
              <a:cxnLst/>
              <a:rect l="l" t="t" r="r" b="b"/>
              <a:pathLst>
                <a:path w="5019675" h="9525">
                  <a:moveTo>
                    <a:pt x="0" y="0"/>
                  </a:moveTo>
                  <a:lnTo>
                    <a:pt x="5019675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9" name="conservation-timeline"/>
          <p:cNvGrpSpPr/>
          <p:nvPr/>
        </p:nvGrpSpPr>
        <p:grpSpPr>
          <a:xfrm>
            <a:off x="1447800" y="2381250"/>
            <a:ext cx="10134600" cy="762000"/>
            <a:chOff x="1447800" y="2381250"/>
            <a:chExt cx="10134600" cy="762000"/>
          </a:xfrm>
        </p:grpSpPr>
        <p:sp>
          <p:nvSpPr>
            <p:cNvPr id="7" name="Freeform 7"/>
            <p:cNvSpPr/>
            <p:nvPr/>
          </p:nvSpPr>
          <p:spPr>
            <a:xfrm rot="10800000">
              <a:off x="8991600" y="2381250"/>
              <a:ext cx="2590800" cy="762000"/>
            </a:xfrm>
            <a:prstGeom prst="chevron">
              <a:avLst/>
            </a:prstGeom>
            <a:solidFill>
              <a:srgbClr val="9A5B2B"/>
            </a:solidFill>
            <a:ln w="9525">
              <a:solidFill>
                <a:srgbClr val="9A5B2B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 rot="10800000">
              <a:off x="6477000" y="2381250"/>
              <a:ext cx="2590800" cy="762000"/>
            </a:xfrm>
            <a:prstGeom prst="chevron">
              <a:avLst/>
            </a:prstGeom>
            <a:solidFill>
              <a:srgbClr val="EDE3D2"/>
            </a:solidFill>
            <a:ln w="9525">
              <a:solidFill>
                <a:srgbClr val="9A5B2B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 rot="10800000">
              <a:off x="3962400" y="2381250"/>
              <a:ext cx="2590800" cy="762000"/>
            </a:xfrm>
            <a:prstGeom prst="chevron">
              <a:avLst/>
            </a:prstGeom>
            <a:solidFill>
              <a:srgbClr val="EDE3D2"/>
            </a:solidFill>
            <a:ln w="9525">
              <a:solidFill>
                <a:srgbClr val="9A5B2B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 rot="10800000">
              <a:off x="1447800" y="2381250"/>
              <a:ext cx="2590800" cy="762000"/>
            </a:xfrm>
            <a:prstGeom prst="chevron">
              <a:avLst/>
            </a:prstGeom>
            <a:solidFill>
              <a:srgbClr val="EDE3D2"/>
            </a:solidFill>
            <a:ln w="9525">
              <a:solidFill>
                <a:srgbClr val="9A5B2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37636" y="2538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2250" dirty="0">
                  <a:solidFill>
                    <a:srgbClr val="FAF6EC"/>
                  </a:solidFill>
                  <a:latin typeface="+mj-lt"/>
                  <a:ea typeface="+mj-ea"/>
                  <a:cs typeface="+mj-cs"/>
                </a:rPr>
                <a:t>1991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07676" y="2899410"/>
              <a:ext cx="9491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200" dirty="0">
                  <a:solidFill>
                    <a:srgbClr val="EFE0CB"/>
                  </a:solidFill>
                  <a:latin typeface="+mn-lt"/>
                  <a:ea typeface="+mn-ea"/>
                  <a:cs typeface="+mn-cs"/>
                  <a:rtl val="1"/>
                </a:rPr>
                <a:t>מעבדת שימור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3035" y="2538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</a:rPr>
                <a:t>2007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37501" y="2899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ועדת דימות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008435" y="2538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</a:rPr>
                <a:t>2008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34052" y="289941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סטודיו צילום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93836" y="2538412"/>
              <a:ext cx="6892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2250" dirty="0">
                  <a:solidFill>
                    <a:srgbClr val="1F1B16"/>
                  </a:solidFill>
                  <a:latin typeface="+mj-lt"/>
                  <a:ea typeface="+mj-ea"/>
                  <a:cs typeface="+mj-cs"/>
                </a:rPr>
                <a:t>2012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319452" y="289941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20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בחינה מחודשת</a:t>
              </a:r>
            </a:p>
          </p:txBody>
        </p:sp>
      </p:grpSp>
      <p:grpSp>
        <p:nvGrpSpPr>
          <p:cNvPr id="23" name="!!plate"/>
          <p:cNvGrpSpPr/>
          <p:nvPr/>
        </p:nvGrpSpPr>
        <p:grpSpPr>
          <a:xfrm>
            <a:off x="1333500" y="3810000"/>
            <a:ext cx="2482596" cy="2181606"/>
            <a:chOff x="1333500" y="3810000"/>
            <a:chExt cx="2482596" cy="2181606"/>
          </a:xfrm>
        </p:grpSpPr>
        <p:sp>
          <p:nvSpPr>
            <p:cNvPr id="20" name="p10-plate-glass"/>
            <p:cNvSpPr/>
            <p:nvPr/>
          </p:nvSpPr>
          <p:spPr>
            <a:xfrm>
              <a:off x="1333500" y="3810000"/>
              <a:ext cx="2476500" cy="190500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 w="9525">
              <a:solidFill>
                <a:srgbClr val="CDC2AE"/>
              </a:solidFill>
            </a:ln>
          </p:spPr>
        </p:sp>
        <p:pic>
          <p:nvPicPr>
            <p:cNvPr id="21" name="p10-fragmen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1190" y="3924300"/>
              <a:ext cx="1341120" cy="16764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2285390" y="575691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200" dirty="0">
                  <a:solidFill>
                    <a:srgbClr val="8C8172"/>
                  </a:solidFill>
                  <a:latin typeface="+mn-lt"/>
                  <a:ea typeface="+mn-ea"/>
                  <a:cs typeface="+mn-cs"/>
                  <a:rtl val="1"/>
                </a:rPr>
                <a:t>בתנאי אקלים יציבים</a:t>
              </a:r>
            </a:p>
          </p:txBody>
        </p:sp>
      </p:grpSp>
      <p:grpSp>
        <p:nvGrpSpPr>
          <p:cNvPr id="25" name="lab-lead"/>
          <p:cNvGrpSpPr/>
          <p:nvPr/>
        </p:nvGrpSpPr>
        <p:grpSpPr>
          <a:xfrm>
            <a:off x="6638582" y="3678555"/>
            <a:ext cx="4954486" cy="410718"/>
            <a:chOff x="6638582" y="3678555"/>
            <a:chExt cx="4954486" cy="410718"/>
          </a:xfrm>
        </p:grpSpPr>
        <p:sp>
          <p:nvSpPr>
            <p:cNvPr id="24" name="TextBox 24"/>
            <p:cNvSpPr txBox="1"/>
            <p:nvPr/>
          </p:nvSpPr>
          <p:spPr>
            <a:xfrm>
              <a:off x="6638582" y="3678555"/>
              <a:ext cx="495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1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מאז 1991 פועלת מעבדת שימור ייעודית</a:t>
              </a:r>
            </a:p>
          </p:txBody>
        </p:sp>
      </p:grpSp>
      <p:grpSp>
        <p:nvGrpSpPr>
          <p:cNvPr id="27" name="lab-body"/>
          <p:cNvGrpSpPr/>
          <p:nvPr/>
        </p:nvGrpSpPr>
        <p:grpSpPr>
          <a:xfrm>
            <a:off x="5558218" y="4282440"/>
            <a:ext cx="6033326" cy="704469"/>
            <a:chOff x="5558218" y="4282440"/>
            <a:chExt cx="6033326" cy="704469"/>
          </a:xfrm>
        </p:grpSpPr>
        <p:sp>
          <p:nvSpPr>
            <p:cNvPr id="26" name="TextBox 26"/>
            <p:cNvSpPr txBox="1"/>
            <p:nvPr/>
          </p:nvSpPr>
          <p:spPr>
            <a:xfrm>
              <a:off x="5558218" y="4282440"/>
              <a:ext cx="6033326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 xml:space="preserve">עקרון העבודה הוא </a:t>
              </a:r>
              <a:r>
                <a:rPr lang="he-IL" sz="1800" b="1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שימור הפיך</a:t>
              </a: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, בליווי מכון גטי לשימור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והמגילות מאוחסנות במתקן מבוקר-אקלים ייעודי</a:t>
              </a:r>
            </a:p>
          </p:txBody>
        </p:sp>
      </p:grpSp>
      <p:grpSp>
        <p:nvGrpSpPr>
          <p:cNvPr id="29" name="lab-note"/>
          <p:cNvGrpSpPr/>
          <p:nvPr/>
        </p:nvGrpSpPr>
        <p:grpSpPr>
          <a:xfrm>
            <a:off x="6386951" y="5188268"/>
            <a:ext cx="5202307" cy="264033"/>
            <a:chOff x="6386951" y="5188268"/>
            <a:chExt cx="5202307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6386951" y="5188268"/>
              <a:ext cx="5202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מגילה שהוצגה שלושה חודשים נחה כשנה לפחות לפני הצגה נוספת</a:t>
              </a:r>
            </a:p>
          </p:txBody>
        </p:sp>
      </p:grpSp>
      <p:grpSp>
        <p:nvGrpSpPr>
          <p:cNvPr id="31" name="lab-source"/>
          <p:cNvGrpSpPr/>
          <p:nvPr/>
        </p:nvGrpSpPr>
        <p:grpSpPr>
          <a:xfrm>
            <a:off x="7849933" y="6045518"/>
            <a:ext cx="3739325" cy="264033"/>
            <a:chOff x="7849933" y="6045518"/>
            <a:chExt cx="3739325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7849933" y="6045518"/>
              <a:ext cx="3739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שימור המגילות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8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8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shrine"/>
          <p:cNvPicPr>
            <a:picLocks noChangeAspect="1"/>
          </p:cNvPicPr>
          <p:nvPr/>
        </p:nvPicPr>
        <p:blipFill>
          <a:blip r:embed="rId2"/>
          <a:srcRect l="13542" t="0" r="13541" b="0"/>
          <a:stretch>
            <a:fillRect/>
          </a:stretch>
        </p:blipFill>
        <p:spPr>
          <a:xfrm>
            <a:off x="0" y="0"/>
            <a:ext cx="6667500" cy="685800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66675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98A46"/>
            </a:solidFill>
          </a:ln>
        </p:spPr>
      </p:sp>
      <p:grpSp>
        <p:nvGrpSpPr>
          <p:cNvPr id="5" name="shrine-kicker"/>
          <p:cNvGrpSpPr/>
          <p:nvPr/>
        </p:nvGrpSpPr>
        <p:grpSpPr>
          <a:xfrm>
            <a:off x="9254357" y="1568768"/>
            <a:ext cx="2334901" cy="264033"/>
            <a:chOff x="9254357" y="1568768"/>
            <a:chExt cx="2334901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9254357" y="1568768"/>
              <a:ext cx="2334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עשירי · היכל הספר</a:t>
              </a:r>
            </a:p>
          </p:txBody>
        </p:sp>
      </p:grpSp>
      <p:grpSp>
        <p:nvGrpSpPr>
          <p:cNvPr id="8" name="shrine-title"/>
          <p:cNvGrpSpPr/>
          <p:nvPr/>
        </p:nvGrpSpPr>
        <p:grpSpPr>
          <a:xfrm>
            <a:off x="8677275" y="1962150"/>
            <a:ext cx="2920365" cy="1095375"/>
            <a:chOff x="8677275" y="1962150"/>
            <a:chExt cx="2920365" cy="1095375"/>
          </a:xfrm>
        </p:grpSpPr>
        <p:sp>
          <p:nvSpPr>
            <p:cNvPr id="6" name="TextBox 6"/>
            <p:cNvSpPr txBox="1"/>
            <p:nvPr/>
          </p:nvSpPr>
          <p:spPr>
            <a:xfrm>
              <a:off x="9147810" y="1962150"/>
              <a:ext cx="2449830" cy="1043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3600"/>
                </a:lnSpc>
              </a:pPr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הכיפה שמספרת</a:t>
              </a:r>
              <a:br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את הסיפור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8677275" y="3048000"/>
              <a:ext cx="2905125" cy="9525"/>
            </a:xfrm>
            <a:custGeom>
              <a:avLst/>
              <a:gdLst/>
              <a:ahLst/>
              <a:cxnLst/>
              <a:rect l="l" t="t" r="r" b="b"/>
              <a:pathLst>
                <a:path w="2905125" h="9525">
                  <a:moveTo>
                    <a:pt x="0" y="0"/>
                  </a:moveTo>
                  <a:lnTo>
                    <a:pt x="2905125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1" name="shrine-year"/>
          <p:cNvGrpSpPr/>
          <p:nvPr/>
        </p:nvGrpSpPr>
        <p:grpSpPr>
          <a:xfrm>
            <a:off x="10319461" y="3261360"/>
            <a:ext cx="1281989" cy="895541"/>
            <a:chOff x="10319461" y="3261360"/>
            <a:chExt cx="1281989" cy="895541"/>
          </a:xfrm>
        </p:grpSpPr>
        <p:sp>
          <p:nvSpPr>
            <p:cNvPr id="9" name="TextBox 9"/>
            <p:cNvSpPr txBox="1"/>
            <p:nvPr/>
          </p:nvSpPr>
          <p:spPr>
            <a:xfrm>
              <a:off x="10319461" y="3261360"/>
              <a:ext cx="128198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4200" dirty="0">
                  <a:solidFill>
                    <a:srgbClr val="9A5B2B"/>
                  </a:solidFill>
                  <a:latin typeface="+mj-lt"/>
                  <a:ea typeface="+mj-ea"/>
                  <a:cs typeface="+mj-cs"/>
                </a:rPr>
                <a:t>1965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21423" y="38928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שנת החנוכה</a:t>
              </a:r>
            </a:p>
          </p:txBody>
        </p:sp>
      </p:grpSp>
      <p:grpSp>
        <p:nvGrpSpPr>
          <p:cNvPr id="13" name="shrine-body"/>
          <p:cNvGrpSpPr/>
          <p:nvPr/>
        </p:nvGrpSpPr>
        <p:grpSpPr>
          <a:xfrm>
            <a:off x="7709916" y="4377690"/>
            <a:ext cx="3881628" cy="1409319"/>
            <a:chOff x="7709916" y="4377690"/>
            <a:chExt cx="3881628" cy="1409319"/>
          </a:xfrm>
        </p:grpSpPr>
        <p:sp>
          <p:nvSpPr>
            <p:cNvPr id="12" name="TextBox 12"/>
            <p:cNvSpPr txBox="1"/>
            <p:nvPr/>
          </p:nvSpPr>
          <p:spPr>
            <a:xfrm>
              <a:off x="7709916" y="4377690"/>
              <a:ext cx="3881628" cy="1409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הבניין נחנך בעשרים באפריל, והוקם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כדי לשמור על שבע המגילות הראשונות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הכיפה מסמלת את מכסי הכדים, והקיר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השחור מולה — בני אור ובני חושך</a:t>
              </a:r>
            </a:p>
          </p:txBody>
        </p:sp>
      </p:grpSp>
      <p:grpSp>
        <p:nvGrpSpPr>
          <p:cNvPr id="15" name="shrine-architects"/>
          <p:cNvGrpSpPr/>
          <p:nvPr/>
        </p:nvGrpSpPr>
        <p:grpSpPr>
          <a:xfrm>
            <a:off x="7650023" y="5759768"/>
            <a:ext cx="3939235" cy="264033"/>
            <a:chOff x="7650023" y="5759768"/>
            <a:chExt cx="3939235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7650023" y="5759768"/>
              <a:ext cx="393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האדריכלים: ארמנד פ' ברטוס ופרדריק ג' קיסלר</a:t>
              </a:r>
            </a:p>
          </p:txBody>
        </p:sp>
      </p:grpSp>
      <p:grpSp>
        <p:nvGrpSpPr>
          <p:cNvPr id="17" name="shrine-source"/>
          <p:cNvGrpSpPr/>
          <p:nvPr/>
        </p:nvGrpSpPr>
        <p:grpSpPr>
          <a:xfrm>
            <a:off x="8149800" y="6045518"/>
            <a:ext cx="3439458" cy="264033"/>
            <a:chOff x="8149800" y="6045518"/>
            <a:chExt cx="3439458" cy="264033"/>
          </a:xfrm>
        </p:grpSpPr>
        <p:sp>
          <p:nvSpPr>
            <p:cNvPr id="16" name="TextBox 16"/>
            <p:cNvSpPr txBox="1"/>
            <p:nvPr/>
          </p:nvSpPr>
          <p:spPr>
            <a:xfrm>
              <a:off x="8149800" y="6045518"/>
              <a:ext cx="3439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מוזיאון ישראל, 2026 · היכל הספר</a:t>
              </a:r>
            </a:p>
          </p:txBody>
        </p:sp>
      </p:grpSp>
      <p:grpSp>
        <p:nvGrpSpPr>
          <p:cNvPr id="19" name="shrine-credit"/>
          <p:cNvGrpSpPr/>
          <p:nvPr/>
        </p:nvGrpSpPr>
        <p:grpSpPr>
          <a:xfrm>
            <a:off x="8770048" y="6420802"/>
            <a:ext cx="2817686" cy="395859"/>
            <a:chOff x="8770048" y="6420802"/>
            <a:chExt cx="2817686" cy="395859"/>
          </a:xfrm>
        </p:grpSpPr>
        <p:sp>
          <p:nvSpPr>
            <p:cNvPr id="18" name="TextBox 18"/>
            <p:cNvSpPr txBox="1"/>
            <p:nvPr/>
          </p:nvSpPr>
          <p:spPr>
            <a:xfrm>
              <a:off x="8770048" y="6420802"/>
              <a:ext cx="2817686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00"/>
                </a:lnSpc>
              </a:pPr>
              <a:r>
                <a:rPr lang="en-US" sz="1050" dirty="0">
                  <a:solidFill>
                    <a:srgbClr val="8C8172"/>
                  </a:solidFill>
                  <a:latin typeface="+mn-lt"/>
                  <a:ea typeface="+mn-ea"/>
                  <a:cs typeface="+mn-cs"/>
                </a:rPr>
                <a:t>Chris Yunker from St. Louis, United States</a:t>
              </a:r>
              <a:br/>
              <a:r>
                <a:rPr lang="en-US" sz="1050" dirty="0">
                  <a:solidFill>
                    <a:srgbClr val="8C8172"/>
                  </a:solidFill>
                  <a:latin typeface="+mn-lt"/>
                  <a:ea typeface="+mn-ea"/>
                  <a:cs typeface="+mn-cs"/>
                </a:rPr>
                <a:t>Wikimedia Commons / CC BY-SA 2.0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50"/>
                            </p:stCondLst>
                            <p:childTnLst>
                              <p:par>
                                <p:cTn xmlns:p="http://schemas.openxmlformats.org/presentationml/2006/main" id="13" presetID="23" presetClass="entr" presetSubtype="27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45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5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digital-kicker"/>
          <p:cNvGrpSpPr/>
          <p:nvPr/>
        </p:nvGrpSpPr>
        <p:grpSpPr>
          <a:xfrm>
            <a:off x="9134208" y="730568"/>
            <a:ext cx="2455050" cy="264033"/>
            <a:chOff x="9134208" y="730568"/>
            <a:chExt cx="2455050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9134208" y="730568"/>
              <a:ext cx="2455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9A5B2B"/>
                  </a:solidFill>
                  <a:latin typeface="+mn-lt"/>
                  <a:ea typeface="+mn-ea"/>
                  <a:cs typeface="+mn-cs"/>
                  <a:rtl val="1"/>
                </a:rPr>
                <a:t>פרק אחד עשר · דיגיטציה</a:t>
              </a:r>
            </a:p>
          </p:txBody>
        </p:sp>
      </p:grpSp>
      <p:grpSp>
        <p:nvGrpSpPr>
          <p:cNvPr id="6" name="digital-title"/>
          <p:cNvGrpSpPr/>
          <p:nvPr/>
        </p:nvGrpSpPr>
        <p:grpSpPr>
          <a:xfrm>
            <a:off x="5905500" y="1028700"/>
            <a:ext cx="5692140" cy="657225"/>
            <a:chOff x="5905500" y="1028700"/>
            <a:chExt cx="5692140" cy="657225"/>
          </a:xfrm>
        </p:grpSpPr>
        <p:sp>
          <p:nvSpPr>
            <p:cNvPr id="4" name="TextBox 4"/>
            <p:cNvSpPr txBox="1"/>
            <p:nvPr/>
          </p:nvSpPr>
          <p:spPr>
            <a:xfrm>
              <a:off x="6296787" y="1028700"/>
              <a:ext cx="530085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1F1B16"/>
                  </a:solidFill>
                  <a:latin typeface="+mj-lt"/>
                  <a:ea typeface="+mj-ea"/>
                  <a:cs typeface="+mj-cs"/>
                  <a:rtl val="1"/>
                </a:rPr>
                <a:t>שניים עשר אורכי גל לכל קטע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905500" y="1676400"/>
              <a:ext cx="5676900" cy="9525"/>
            </a:xfrm>
            <a:custGeom>
              <a:avLst/>
              <a:gdLst/>
              <a:ahLst/>
              <a:cxnLst/>
              <a:rect l="l" t="t" r="r" b="b"/>
              <a:pathLst>
                <a:path w="5676900" h="9525">
                  <a:moveTo>
                    <a:pt x="0" y="0"/>
                  </a:moveTo>
                  <a:lnTo>
                    <a:pt x="5676900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23" name="spectrum-bars"/>
          <p:cNvGrpSpPr/>
          <p:nvPr/>
        </p:nvGrpSpPr>
        <p:grpSpPr>
          <a:xfrm>
            <a:off x="1352550" y="2286000"/>
            <a:ext cx="10229850" cy="4467225"/>
            <a:chOff x="1352550" y="2286000"/>
            <a:chExt cx="10229850" cy="4467225"/>
          </a:xfrm>
        </p:grpSpPr>
        <p:sp>
          <p:nvSpPr>
            <p:cNvPr id="7" name="Rectangle 7"/>
            <p:cNvSpPr/>
            <p:nvPr/>
          </p:nvSpPr>
          <p:spPr>
            <a:xfrm>
              <a:off x="109918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1155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2392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629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866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103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34050" y="2286000"/>
              <a:ext cx="590550" cy="1333500"/>
            </a:xfrm>
            <a:prstGeom prst="rect">
              <a:avLst/>
            </a:prstGeom>
            <a:solidFill>
              <a:srgbClr val="C8A67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8577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9814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1051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288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52550" y="2286000"/>
              <a:ext cx="590550" cy="1333500"/>
            </a:xfrm>
            <a:prstGeom prst="rect">
              <a:avLst/>
            </a:prstGeom>
            <a:solidFill>
              <a:srgbClr val="4A3B2E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 rot="5400000">
              <a:off x="8562975" y="904875"/>
              <a:ext cx="190500" cy="5848350"/>
            </a:xfrm>
            <a:prstGeom prst="leftBrace">
              <a:avLst/>
            </a:prstGeom>
            <a:noFill/>
            <a:ln w="19050">
              <a:solidFill>
                <a:srgbClr val="9A5B2B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 rot="5400000">
              <a:off x="3305175" y="1781175"/>
              <a:ext cx="190500" cy="4095750"/>
            </a:xfrm>
            <a:prstGeom prst="leftBrace">
              <a:avLst/>
            </a:prstGeom>
            <a:noFill/>
            <a:ln w="19050">
              <a:solidFill>
                <a:srgbClr val="9A5B2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97158" y="40643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שבעה בתחום הנראה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39537" y="4064318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חמישה באינפרא-אדום הקרוב</a:t>
              </a:r>
            </a:p>
          </p:txBody>
        </p:sp>
      </p:grpSp>
      <p:grpSp>
        <p:nvGrpSpPr>
          <p:cNvPr id="26" name="digital-body"/>
          <p:cNvGrpSpPr/>
          <p:nvPr/>
        </p:nvGrpSpPr>
        <p:grpSpPr>
          <a:xfrm>
            <a:off x="6189726" y="4568190"/>
            <a:ext cx="5401818" cy="1026985"/>
            <a:chOff x="6189726" y="4568190"/>
            <a:chExt cx="5401818" cy="1026985"/>
          </a:xfrm>
        </p:grpSpPr>
        <p:sp>
          <p:nvSpPr>
            <p:cNvPr id="24" name="TextBox 24"/>
            <p:cNvSpPr txBox="1"/>
            <p:nvPr/>
          </p:nvSpPr>
          <p:spPr>
            <a:xfrm>
              <a:off x="6189726" y="4568190"/>
              <a:ext cx="540181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רשות העתיקות ומרכז המחקר והפיתוח של גוגל ישראל</a:t>
              </a:r>
              <a:br/>
              <a:r>
                <a:rPr lang="he-IL" sz="180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הקימו את הספרייה המקוונת ע"ש ליאון לוי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41070" y="5331142"/>
              <a:ext cx="4248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בתרומת קרן ליאון לוי, קרן ארקדיה וקרן יד הנדיב</a:t>
              </a:r>
            </a:p>
          </p:txBody>
        </p:sp>
      </p:grpSp>
      <p:grpSp>
        <p:nvGrpSpPr>
          <p:cNvPr id="28" name="digital-ir-note"/>
          <p:cNvGrpSpPr/>
          <p:nvPr/>
        </p:nvGrpSpPr>
        <p:grpSpPr>
          <a:xfrm>
            <a:off x="1501578" y="4616768"/>
            <a:ext cx="3839280" cy="264033"/>
            <a:chOff x="1501578" y="4616768"/>
            <a:chExt cx="3839280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1501578" y="4616768"/>
              <a:ext cx="3839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332E27"/>
                  </a:solidFill>
                  <a:latin typeface="+mn-lt"/>
                  <a:ea typeface="+mn-ea"/>
                  <a:cs typeface="+mn-cs"/>
                  <a:rtl val="1"/>
                </a:rPr>
                <a:t>האינפרא-אדום משחזר כתב שדהה כמעט לבלי הכר</a:t>
              </a:r>
            </a:p>
          </p:txBody>
        </p:sp>
      </p:grpSp>
      <p:grpSp>
        <p:nvGrpSpPr>
          <p:cNvPr id="30" name="digital-source"/>
          <p:cNvGrpSpPr/>
          <p:nvPr/>
        </p:nvGrpSpPr>
        <p:grpSpPr>
          <a:xfrm>
            <a:off x="7195680" y="6045518"/>
            <a:ext cx="4393578" cy="264033"/>
            <a:chOff x="7195680" y="6045518"/>
            <a:chExt cx="4393578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7195680" y="6045518"/>
              <a:ext cx="4393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6B6156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על הספרייה הדיגיטלית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5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9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9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619500" y="1143000"/>
            <a:ext cx="7620000" cy="7620000"/>
          </a:xfrm>
          <a:prstGeom prst="arc">
            <a:avLst>
              <a:gd name="adj1" fmla="val 18900000"/>
              <a:gd name="adj2" fmla="val 8100000"/>
            </a:avLst>
          </a:prstGeom>
          <a:noFill/>
          <a:ln w="19050">
            <a:solidFill>
              <a:srgbClr val="C98A46">
                <a:alpha val="45000"/>
              </a:srgbClr>
            </a:solidFill>
          </a:ln>
        </p:spPr>
      </p:sp>
      <p:grpSp>
        <p:nvGrpSpPr>
          <p:cNvPr id="4" name="ending-kicker"/>
          <p:cNvGrpSpPr/>
          <p:nvPr/>
        </p:nvGrpSpPr>
        <p:grpSpPr>
          <a:xfrm>
            <a:off x="8578901" y="730568"/>
            <a:ext cx="3010357" cy="264033"/>
            <a:chOff x="8578901" y="730568"/>
            <a:chExt cx="3010357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8578901" y="730568"/>
              <a:ext cx="3010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spc="150" dirty="0">
                  <a:solidFill>
                    <a:srgbClr val="E2C79A"/>
                  </a:solidFill>
                  <a:latin typeface="+mn-lt"/>
                  <a:ea typeface="+mn-ea"/>
                  <a:cs typeface="+mn-cs"/>
                  <a:rtl val="1"/>
                </a:rPr>
                <a:t>פרק שנים עשר · תגליות חדשות</a:t>
              </a:r>
            </a:p>
          </p:txBody>
        </p:sp>
      </p:grpSp>
      <p:grpSp>
        <p:nvGrpSpPr>
          <p:cNvPr id="7" name="ending-title"/>
          <p:cNvGrpSpPr/>
          <p:nvPr/>
        </p:nvGrpSpPr>
        <p:grpSpPr>
          <a:xfrm>
            <a:off x="6315075" y="1028700"/>
            <a:ext cx="5282565" cy="657225"/>
            <a:chOff x="6315075" y="1028700"/>
            <a:chExt cx="5282565" cy="657225"/>
          </a:xfrm>
        </p:grpSpPr>
        <p:sp>
          <p:nvSpPr>
            <p:cNvPr id="5" name="TextBox 5"/>
            <p:cNvSpPr txBox="1"/>
            <p:nvPr/>
          </p:nvSpPr>
          <p:spPr>
            <a:xfrm>
              <a:off x="6640068" y="1028700"/>
              <a:ext cx="49575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3000" dirty="0">
                  <a:solidFill>
                    <a:srgbClr val="FAF6EC"/>
                  </a:solidFill>
                  <a:latin typeface="+mj-lt"/>
                  <a:ea typeface="+mj-ea"/>
                  <a:cs typeface="+mj-cs"/>
                  <a:rtl val="1"/>
                </a:rPr>
                <a:t>המדבר עדיין לא סיים לדבר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315075" y="1676400"/>
              <a:ext cx="5267325" cy="9525"/>
            </a:xfrm>
            <a:custGeom>
              <a:avLst/>
              <a:gdLst/>
              <a:ahLst/>
              <a:cxnLst/>
              <a:rect l="l" t="t" r="r" b="b"/>
              <a:pathLst>
                <a:path w="5267325" h="9525">
                  <a:moveTo>
                    <a:pt x="0" y="0"/>
                  </a:moveTo>
                  <a:lnTo>
                    <a:pt x="5267325" y="0"/>
                  </a:lnTo>
                </a:path>
              </a:pathLst>
            </a:custGeom>
            <a:noFill/>
            <a:ln w="19050">
              <a:solidFill>
                <a:srgbClr val="C98A46"/>
              </a:solidFill>
            </a:ln>
          </p:spPr>
        </p:sp>
      </p:grpSp>
      <p:grpSp>
        <p:nvGrpSpPr>
          <p:cNvPr id="10" name="ending-year"/>
          <p:cNvGrpSpPr/>
          <p:nvPr/>
        </p:nvGrpSpPr>
        <p:grpSpPr>
          <a:xfrm>
            <a:off x="9697517" y="2082165"/>
            <a:ext cx="1903933" cy="1219200"/>
            <a:chOff x="9697517" y="2082165"/>
            <a:chExt cx="1903933" cy="1219200"/>
          </a:xfrm>
        </p:grpSpPr>
        <p:sp>
          <p:nvSpPr>
            <p:cNvPr id="8" name="TextBox 8"/>
            <p:cNvSpPr txBox="1"/>
            <p:nvPr/>
          </p:nvSpPr>
          <p:spPr>
            <a:xfrm>
              <a:off x="9697517" y="2082165"/>
              <a:ext cx="190393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6300" dirty="0">
                  <a:solidFill>
                    <a:srgbClr val="E2C79A"/>
                  </a:solidFill>
                  <a:latin typeface="+mj-lt"/>
                  <a:ea typeface="+mj-ea"/>
                  <a:cs typeface="+mj-cs"/>
                </a:rPr>
                <a:t>2021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12738" y="299751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מערת האימים, נחל חבר</a:t>
              </a:r>
            </a:p>
          </p:txBody>
        </p:sp>
      </p:grpSp>
      <p:grpSp>
        <p:nvGrpSpPr>
          <p:cNvPr id="12" name="ending-body"/>
          <p:cNvGrpSpPr/>
          <p:nvPr/>
        </p:nvGrpSpPr>
        <p:grpSpPr>
          <a:xfrm>
            <a:off x="6063996" y="3615690"/>
            <a:ext cx="5527548" cy="704469"/>
            <a:chOff x="6063996" y="3615690"/>
            <a:chExt cx="5527548" cy="704469"/>
          </a:xfrm>
        </p:grpSpPr>
        <p:sp>
          <p:nvSpPr>
            <p:cNvPr id="11" name="TextBox 11"/>
            <p:cNvSpPr txBox="1"/>
            <p:nvPr/>
          </p:nvSpPr>
          <p:spPr>
            <a:xfrm>
              <a:off x="6063996" y="3615690"/>
              <a:ext cx="5527548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2775"/>
                </a:lnSpc>
              </a:pPr>
              <a:r>
                <a:rPr lang="he-IL" sz="1800" dirty="0">
                  <a:solidFill>
                    <a:srgbClr val="EFE6D4"/>
                  </a:solidFill>
                  <a:latin typeface="+mn-lt"/>
                  <a:ea typeface="+mn-ea"/>
                  <a:cs typeface="+mn-cs"/>
                  <a:rtl val="1"/>
                </a:rPr>
                <a:t>קטעי תרגום יווני של תרי-עשר נחשפו בחפירה</a:t>
              </a:r>
              <a:br/>
              <a:r>
                <a:rPr lang="he-IL" sz="1800" dirty="0">
                  <a:solidFill>
                    <a:srgbClr val="EFE6D4"/>
                  </a:solidFill>
                  <a:latin typeface="+mn-lt"/>
                  <a:ea typeface="+mn-ea"/>
                  <a:cs typeface="+mn-cs"/>
                  <a:rtl val="1"/>
                </a:rPr>
                <a:t>המגילות הראשונות שנמצאו כך מזה למעלה משישים שנה</a:t>
              </a:r>
            </a:p>
          </p:txBody>
        </p:sp>
      </p:grpSp>
      <p:grpSp>
        <p:nvGrpSpPr>
          <p:cNvPr id="14" name="ending-refs"/>
          <p:cNvGrpSpPr/>
          <p:nvPr/>
        </p:nvGrpSpPr>
        <p:grpSpPr>
          <a:xfrm>
            <a:off x="6920674" y="4521518"/>
            <a:ext cx="4668584" cy="1026033"/>
            <a:chOff x="6920674" y="4521518"/>
            <a:chExt cx="4668584" cy="1026033"/>
          </a:xfrm>
        </p:grpSpPr>
        <p:sp>
          <p:nvSpPr>
            <p:cNvPr id="13" name="TextBox 13"/>
            <p:cNvSpPr txBox="1"/>
            <p:nvPr/>
          </p:nvSpPr>
          <p:spPr>
            <a:xfrm>
              <a:off x="6920674" y="4521518"/>
              <a:ext cx="4668584" cy="1026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>
                <a:lnSpc>
                  <a:spcPts val="3000"/>
                </a:lnSpc>
              </a:pPr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זכריה ח:16–17 ונחום א:5–6, מתוך תרי-עשר ביוונית</a:t>
              </a:r>
              <a:br/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מאז אוקטובר 2017 נסקרו שמונים קילומטרים של מצוקי מדבר</a:t>
              </a:r>
              <a:br/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באותו מבצע נמצא גם סל שלם בן כ-10,500 שנה</a:t>
              </a:r>
            </a:p>
          </p:txBody>
        </p:sp>
      </p:grpSp>
      <p:grpSp>
        <p:nvGrpSpPr>
          <p:cNvPr id="16" name="ending-cta"/>
          <p:cNvGrpSpPr/>
          <p:nvPr/>
        </p:nvGrpSpPr>
        <p:grpSpPr>
          <a:xfrm>
            <a:off x="5465369" y="5678805"/>
            <a:ext cx="6127699" cy="410718"/>
            <a:chOff x="5465369" y="5678805"/>
            <a:chExt cx="6127699" cy="410718"/>
          </a:xfrm>
        </p:grpSpPr>
        <p:sp>
          <p:nvSpPr>
            <p:cNvPr id="15" name="TextBox 15"/>
            <p:cNvSpPr txBox="1"/>
            <p:nvPr/>
          </p:nvSpPr>
          <p:spPr>
            <a:xfrm>
              <a:off x="5465369" y="5678805"/>
              <a:ext cx="61276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2100" dirty="0">
                  <a:solidFill>
                    <a:srgbClr val="FAF6EC"/>
                  </a:solidFill>
                  <a:latin typeface="+mn-lt"/>
                  <a:ea typeface="+mn-ea"/>
                  <a:cs typeface="+mn-cs"/>
                  <a:rtl val="1"/>
                </a:rPr>
                <a:t>הספרייה המקוונת של המגילות פתוחה לכול ברשת</a:t>
              </a:r>
            </a:p>
          </p:txBody>
        </p:sp>
      </p:grpSp>
      <p:grpSp>
        <p:nvGrpSpPr>
          <p:cNvPr id="18" name="ending-source"/>
          <p:cNvGrpSpPr/>
          <p:nvPr/>
        </p:nvGrpSpPr>
        <p:grpSpPr>
          <a:xfrm>
            <a:off x="7695457" y="6255068"/>
            <a:ext cx="3893801" cy="264033"/>
            <a:chOff x="7695457" y="6255068"/>
            <a:chExt cx="3893801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7695457" y="6255068"/>
              <a:ext cx="3893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 rtl="1"/>
              <a:r>
                <a:rPr lang="he-IL" sz="1350" dirty="0">
                  <a:solidFill>
                    <a:srgbClr val="C4B6A0"/>
                  </a:solidFill>
                  <a:latin typeface="+mn-lt"/>
                  <a:ea typeface="+mn-ea"/>
                  <a:cs typeface="+mn-cs"/>
                  <a:rtl val="1"/>
                </a:rPr>
                <a:t>מקור: רשות העתיקות, 2026 · מבצע מדבר יהודה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50"/>
                            </p:stCondLst>
                            <p:childTnLst>
                              <p:par>
                                <p:cTn xmlns:p="http://schemas.openxmlformats.org/presentationml/2006/main" id="17" presetID="23" presetClass="entr" presetSubtype="27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85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85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85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dead_sea_scrolls_he_quick">
  <a:themeElements>
    <a:clrScheme name="ppt169_dead_sea_scrolls_he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169_dead_sea_scrolls_he_quick">
      <a:majorFont>
        <a:latin typeface="David"/>
        <a:ea typeface="Microsoft YaHei"/>
        <a:cs typeface="Davi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David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dead_sea_scrolls_he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he-IL</dc:language>
  <cp:lastModifiedBy/>
  <cp:revision>1</cp:revision>
  <dcterms:created xsi:type="dcterms:W3CDTF">2026-09-12T04:55:49Z</dcterms:created>
  <dcterms:modified xsi:type="dcterms:W3CDTF">2026-09-12T04:55:49Z</dcterms:modified>
  <cp:category/>
  <cp:contentStatus/>
</cp:coreProperties>
</file>