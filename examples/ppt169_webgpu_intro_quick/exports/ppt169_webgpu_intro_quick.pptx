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webgpu_intro_qui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webgpu_intro_qui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developer.mozilla.org/en-US/docs/Web/API/WebGPU_API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4"/>
            </a:gs>
            <a:gs pos="100000">
              <a:srgbClr val="0D1A3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B2942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0" y="4610100"/>
            <a:ext cx="12192000" cy="1219200"/>
          </a:xfrm>
          <a:custGeom>
            <a:avLst/>
            <a:gdLst/>
            <a:ahLst/>
            <a:cxnLst/>
            <a:rect l="l" t="t" r="r" b="b"/>
            <a:pathLst>
              <a:path w="12192000" h="1219200">
                <a:moveTo>
                  <a:pt x="0" y="1219200"/>
                </a:moveTo>
                <a:lnTo>
                  <a:pt x="3733800" y="1219200"/>
                </a:lnTo>
                <a:lnTo>
                  <a:pt x="4953000" y="0"/>
                </a:lnTo>
                <a:lnTo>
                  <a:pt x="12192000" y="0"/>
                </a:lnTo>
              </a:path>
            </a:pathLst>
          </a:custGeom>
          <a:noFill/>
          <a:ln w="23812">
            <a:gradFill>
              <a:gsLst>
                <a:gs pos="0">
                  <a:srgbClr val="38BDF8">
                    <a:alpha val="0"/>
                  </a:srgbClr>
                </a:gs>
                <a:gs pos="45000">
                  <a:srgbClr val="38BDF8">
                    <a:alpha val="85000"/>
                  </a:srgbClr>
                </a:gs>
                <a:gs pos="100000">
                  <a:srgbClr val="A78BFA">
                    <a:alpha val="10000"/>
                  </a:srgbClr>
                </a:gs>
              </a:gsLst>
              <a:lin ang="0" scaled="1"/>
            </a:gradFill>
            <a:bevel/>
          </a:ln>
        </p:spPr>
      </p:sp>
      <p:grpSp>
        <p:nvGrpSpPr>
          <p:cNvPr id="8" name="Group 8"/>
          <p:cNvGrpSpPr/>
          <p:nvPr/>
        </p:nvGrpSpPr>
        <p:grpSpPr>
          <a:xfrm>
            <a:off x="590550" y="1499235"/>
            <a:ext cx="5604167" cy="2565082"/>
            <a:chOff x="590550" y="1499235"/>
            <a:chExt cx="5604167" cy="2565082"/>
          </a:xfrm>
        </p:grpSpPr>
        <p:sp>
          <p:nvSpPr>
            <p:cNvPr id="4" name="Line 4"/>
            <p:cNvSpPr/>
            <p:nvPr/>
          </p:nvSpPr>
          <p:spPr>
            <a:xfrm>
              <a:off x="609600" y="156210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28575">
              <a:solidFill>
                <a:srgbClr val="38BDF8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441704" y="1499235"/>
              <a:ext cx="2461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180" dirty="0">
                  <a:solidFill>
                    <a:srgbClr val="8DA2C0"/>
                  </a:solidFill>
                  <a:latin typeface="Consolas"/>
                  <a:ea typeface="Consolas"/>
                  <a:cs typeface="Consolas"/>
                </a:rPr>
                <a:t>MDN / WEB API / WEBGPU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146935"/>
              <a:ext cx="5604167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E8EEF9"/>
                  </a:solidFill>
                  <a:effectLst>
                    <a:glow rad="66675">
                      <a:srgbClr val="38BDF8">
                        <a:alpha val="50000"/>
                      </a:srgbClr>
                    </a:glow>
                  </a:effectLst>
                  <a:latin typeface="Microsoft YaHei"/>
                  <a:ea typeface="Microsoft YaHei"/>
                  <a:cs typeface="Microsoft YaHei"/>
                </a:rPr>
                <a:t>WebGPU 是什么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170" y="3186112"/>
              <a:ext cx="3237548" cy="878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2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WebGL 的继任者</a:t>
              </a:r>
              <a:br/>
              <a:r>
                <a:rPr lang="zh-CN" sz="22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把现代 GPU 能力带进网页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3885" y="4800600"/>
            <a:ext cx="3880485" cy="1012984"/>
            <a:chOff x="603885" y="4800600"/>
            <a:chExt cx="3880485" cy="1012984"/>
          </a:xfrm>
        </p:grpSpPr>
        <p:sp>
          <p:nvSpPr>
            <p:cNvPr id="9" name="Rectangle 9"/>
            <p:cNvSpPr/>
            <p:nvPr/>
          </p:nvSpPr>
          <p:spPr>
            <a:xfrm>
              <a:off x="609600" y="4800600"/>
              <a:ext cx="38100" cy="4953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770" y="4919662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面向前端工程师的入门简报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3885" y="5593556"/>
              <a:ext cx="3244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事实来源:MDN Web Docs — WebGPU API 概览页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32042" y="1524000"/>
            <a:ext cx="4959858" cy="3794951"/>
            <a:chOff x="6432042" y="1524000"/>
            <a:chExt cx="4959858" cy="3794951"/>
          </a:xfrm>
        </p:grpSpPr>
        <p:sp>
          <p:nvSpPr>
            <p:cNvPr id="13" name="Rectangle 13"/>
            <p:cNvSpPr/>
            <p:nvPr/>
          </p:nvSpPr>
          <p:spPr>
            <a:xfrm>
              <a:off x="6438900" y="1524000"/>
              <a:ext cx="4953000" cy="3238500"/>
            </a:xfrm>
            <a:prstGeom prst="roundRect">
              <a:avLst>
                <a:gd name="adj" fmla="val 1765"/>
              </a:avLst>
            </a:prstGeom>
            <a:gradFill>
              <a:gsLst>
                <a:gs pos="0">
                  <a:srgbClr val="0A4E96"/>
                </a:gs>
                <a:gs pos="100000">
                  <a:srgbClr val="04294F"/>
                </a:gs>
              </a:gsLst>
              <a:lin ang="5400000" scaled="1"/>
            </a:gradFill>
            <a:ln w="14288">
              <a:solidFill>
                <a:srgbClr val="1E5A9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23304" y="1699260"/>
              <a:ext cx="2532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120" dirty="0">
                  <a:solidFill>
                    <a:srgbClr val="7FB6E8"/>
                  </a:solidFill>
                  <a:latin typeface="Consolas"/>
                  <a:ea typeface="Consolas"/>
                  <a:cs typeface="Consolas"/>
                </a:rPr>
                <a:t>&lt;canvas&gt; · webgpu context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772400" y="2057400"/>
              <a:ext cx="2286000" cy="2000250"/>
            </a:xfrm>
            <a:prstGeom prst="triangle">
              <a:avLst/>
            </a:prstGeom>
            <a:solidFill>
              <a:srgbClr val="0EA5E9"/>
            </a:solidFill>
            <a:ln>
              <a:noFill/>
            </a:ln>
            <a:effectLst>
              <a:glow rad="66675">
                <a:srgbClr val="38BDF8">
                  <a:alpha val="50000"/>
                </a:srgbClr>
              </a:glow>
            </a:effectLst>
          </p:spPr>
        </p:sp>
        <p:sp>
          <p:nvSpPr>
            <p:cNvPr id="16" name="Ellipse 16"/>
            <p:cNvSpPr/>
            <p:nvPr/>
          </p:nvSpPr>
          <p:spPr>
            <a:xfrm>
              <a:off x="8848725" y="1990725"/>
              <a:ext cx="133350" cy="13335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705725" y="3990975"/>
              <a:ext cx="133350" cy="13335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991725" y="3990975"/>
              <a:ext cx="133350" cy="1333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22161" y="4322921"/>
              <a:ext cx="30095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clearColor = { r:0, g:0.5, b:1 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2042" y="5054918"/>
              <a:ext cx="4838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三个顶点各带一种颜色,片元着色器把它们插值成整块渐变。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xmlns:p="http://schemas.openxmlformats.org/presentationml/2006/main" id="13" presetID="23" presetClass="entr" presetSubtype="16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4"/>
            </a:gs>
            <a:gs pos="100000">
              <a:srgbClr val="0C172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8253C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18160" y="746760"/>
            <a:ext cx="11140440" cy="849630"/>
            <a:chOff x="518160" y="746760"/>
            <a:chExt cx="11140440" cy="849630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7467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8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01 / 起因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009650"/>
              <a:ext cx="37981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为什么会有 WebGPU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0" y="1219200"/>
              <a:ext cx="6324600" cy="19050"/>
            </a:xfrm>
            <a:prstGeom prst="rect">
              <a:avLst/>
            </a:prstGeom>
            <a:gradFill>
              <a:gsLst>
                <a:gs pos="0">
                  <a:srgbClr val="38BDF8"/>
                </a:gs>
                <a:gs pos="100000">
                  <a:srgbClr val="A78BFA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21970" y="1757362"/>
            <a:ext cx="5345430" cy="4071938"/>
            <a:chOff x="521970" y="1757362"/>
            <a:chExt cx="5345430" cy="4071938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757362"/>
              <a:ext cx="32329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59E0B"/>
                  </a:solidFill>
                  <a:latin typeface="Microsoft YaHei"/>
                  <a:ea typeface="Microsoft YaHei"/>
                  <a:cs typeface="Microsoft YaHei"/>
                </a:rPr>
                <a:t>WebGL 的三个根本问题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2209800"/>
              <a:ext cx="5334000" cy="3619500"/>
            </a:xfrm>
            <a:prstGeom prst="bracketPair">
              <a:avLst/>
            </a:prstGeom>
            <a:noFill/>
            <a:ln w="19050">
              <a:solidFill>
                <a:srgbClr val="F59E0B">
                  <a:alpha val="75000"/>
                </a:srgbClr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05256" y="2396490"/>
              <a:ext cx="3642170" cy="912686"/>
              <a:chOff x="905256" y="2396490"/>
              <a:chExt cx="3642170" cy="912686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05256" y="2396490"/>
                <a:ext cx="302762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59E0B"/>
                    </a:solidFill>
                    <a:latin typeface="Consolas"/>
                    <a:ea typeface="Consolas"/>
                    <a:cs typeface="Consolas"/>
                  </a:rPr>
                  <a:t xml:space="preserve">01 </a:t>
                </a:r>
                <a:r>
                  <a:rPr lang="zh-CN" sz="1800" b="1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>拿不到现代 GPU 新特性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07542" y="2787968"/>
                <a:ext cx="3639884" cy="521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025"/>
                  </a:lnSpc>
                </a:pPr>
                <a:r>
                  <a:rPr lang="zh-CN" sz="1350" dirty="0">
                    <a:solidFill>
                      <a:srgbClr val="8DA2C0"/>
                    </a:solidFill>
                    <a:latin typeface="Microsoft YaHei"/>
                    <a:ea typeface="Microsoft YaHei"/>
                    <a:cs typeface="Microsoft YaHei"/>
                  </a:rPr>
                  <a:t>Direct3D 12、Metal、Vulkan 提供大量新功能;</a:t>
                </a:r>
                <a:br/>
                <a:r>
                  <a:rPr lang="zh-CN" sz="1350" dirty="0">
                    <a:solidFill>
                      <a:srgbClr val="8DA2C0"/>
                    </a:solidFill>
                    <a:latin typeface="Microsoft YaHei"/>
                    <a:ea typeface="Microsoft YaHei"/>
                    <a:cs typeface="Microsoft YaHei"/>
                  </a:rPr>
                  <a:t>OpenGL 与 WebGL 已无更新计划,不会再拿到。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905256" y="3539490"/>
              <a:ext cx="3530727" cy="912686"/>
              <a:chOff x="905256" y="3539490"/>
              <a:chExt cx="3530727" cy="912686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905256" y="3539490"/>
                <a:ext cx="25553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59E0B"/>
                    </a:solidFill>
                    <a:latin typeface="Consolas"/>
                    <a:ea typeface="Consolas"/>
                    <a:cs typeface="Consolas"/>
                  </a:rPr>
                  <a:t xml:space="preserve">02 </a:t>
                </a:r>
                <a:r>
                  <a:rPr lang="zh-CN" sz="1800" b="1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>对通用计算支持很差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07542" y="3930968"/>
                <a:ext cx="3528441" cy="521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025"/>
                  </a:lnSpc>
                </a:pPr>
                <a:r>
                  <a:rPr lang="zh-CN" sz="1350" dirty="0">
                    <a:solidFill>
                      <a:srgbClr val="8DA2C0"/>
                    </a:solidFill>
                    <a:latin typeface="Microsoft YaHei"/>
                    <a:ea typeface="Microsoft YaHei"/>
                    <a:cs typeface="Microsoft YaHei"/>
                  </a:rPr>
                  <a:t>WebGL 完全围绕“画到 canvas”这一用例设计;</a:t>
                </a:r>
                <a:br/>
                <a:r>
                  <a:rPr lang="zh-CN" sz="1350" dirty="0">
                    <a:solidFill>
                      <a:srgbClr val="8DA2C0"/>
                    </a:solidFill>
                    <a:latin typeface="Microsoft YaHei"/>
                    <a:ea typeface="Microsoft YaHei"/>
                    <a:cs typeface="Microsoft YaHei"/>
                  </a:rPr>
                  <a:t>而机器学习等 GPGPU 场景越来越重要。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05256" y="4682490"/>
              <a:ext cx="2799116" cy="912686"/>
              <a:chOff x="905256" y="4682490"/>
              <a:chExt cx="2799116" cy="912686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905256" y="4682490"/>
                <a:ext cx="27991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59E0B"/>
                    </a:solidFill>
                    <a:latin typeface="Consolas"/>
                    <a:ea typeface="Consolas"/>
                    <a:cs typeface="Consolas"/>
                  </a:rPr>
                  <a:t xml:space="preserve">03 </a:t>
                </a:r>
                <a:r>
                  <a:rPr lang="zh-CN" sz="1800" b="1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>3D 应用越来越吃资源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07542" y="5073968"/>
                <a:ext cx="2336864" cy="521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025"/>
                  </a:lnSpc>
                </a:pPr>
                <a:r>
                  <a:rPr lang="zh-CN" sz="1350" dirty="0">
                    <a:solidFill>
                      <a:srgbClr val="8DA2C0"/>
                    </a:solidFill>
                    <a:latin typeface="Microsoft YaHei"/>
                    <a:ea typeface="Microsoft YaHei"/>
                    <a:cs typeface="Microsoft YaHei"/>
                  </a:rPr>
                  <a:t>同屏需要渲染的对象越来越多,</a:t>
                </a:r>
                <a:br/>
                <a:r>
                  <a:rPr lang="zh-CN" sz="1350" dirty="0">
                    <a:solidFill>
                      <a:srgbClr val="8DA2C0"/>
                    </a:solidFill>
                    <a:latin typeface="Microsoft YaHei"/>
                    <a:ea typeface="Microsoft YaHei"/>
                    <a:cs typeface="Microsoft YaHei"/>
                  </a:rPr>
                  <a:t>新的渲染特性也在不断加码。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6198870" y="1757362"/>
            <a:ext cx="5459730" cy="4071938"/>
            <a:chOff x="6198870" y="1757362"/>
            <a:chExt cx="5459730" cy="4071938"/>
          </a:xfrm>
        </p:grpSpPr>
        <p:sp>
          <p:nvSpPr>
            <p:cNvPr id="19" name="TextBox 19"/>
            <p:cNvSpPr txBox="1"/>
            <p:nvPr/>
          </p:nvSpPr>
          <p:spPr>
            <a:xfrm>
              <a:off x="6198870" y="1757362"/>
              <a:ext cx="21602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38BDF8"/>
                  </a:solidFill>
                  <a:latin typeface="Microsoft YaHei"/>
                  <a:ea typeface="Microsoft YaHei"/>
                  <a:cs typeface="Microsoft YaHei"/>
                </a:rPr>
                <a:t>WebGPU 的回应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210300" y="2209800"/>
              <a:ext cx="5448300" cy="3619500"/>
            </a:xfrm>
            <a:prstGeom prst="snip1Rect">
              <a:avLst>
                <a:gd name="adj" fmla="val 12000"/>
              </a:avLst>
            </a:prstGeom>
            <a:solidFill>
              <a:srgbClr val="111C2F"/>
            </a:solidFill>
            <a:ln w="14288">
              <a:solidFill>
                <a:srgbClr val="1E3A5F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591300" y="2625090"/>
              <a:ext cx="4332732" cy="2866644"/>
              <a:chOff x="6591300" y="2625090"/>
              <a:chExt cx="4332732" cy="2866644"/>
            </a:xfrm>
          </p:grpSpPr>
          <p:grpSp>
            <p:nvGrpSpPr>
              <p:cNvPr id="31" name="Group 31"/>
              <p:cNvGrpSpPr/>
              <p:nvPr/>
            </p:nvGrpSpPr>
            <p:grpSpPr>
              <a:xfrm>
                <a:off x="6591300" y="2628900"/>
                <a:ext cx="228599" cy="228599"/>
                <a:chOff x="6591300" y="2628900"/>
                <a:chExt cx="228599" cy="228599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6616700" y="2654300"/>
                  <a:ext cx="1778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778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165100" y="0"/>
                      </a:lnTo>
                      <a:cubicBezTo>
                        <a:pt x="172114" y="0"/>
                        <a:pt x="177800" y="5686"/>
                        <a:pt x="177800" y="12700"/>
                      </a:cubicBezTo>
                      <a:lnTo>
                        <a:pt x="177800" y="165100"/>
                      </a:lnTo>
                      <a:cubicBezTo>
                        <a:pt x="177800" y="172114"/>
                        <a:pt x="172114" y="177800"/>
                        <a:pt x="165100" y="177800"/>
                      </a:cubicBezTo>
                      <a:lnTo>
                        <a:pt x="12700" y="177800"/>
                      </a:lnTo>
                      <a:cubicBezTo>
                        <a:pt x="5686" y="177800"/>
                        <a:pt x="0" y="172114"/>
                        <a:pt x="0" y="1651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667500" y="27051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76200" y="76200"/>
                      </a:lnTo>
                      <a:lnTo>
                        <a:pt x="0" y="762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591300" y="27178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591300" y="27686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680200" y="262890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731000" y="262890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794499" y="27178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254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794499" y="27686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254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731000" y="283209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254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680200" y="283209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254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7001256" y="2625090"/>
                <a:ext cx="35899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>与现代 GPU API 对齐的通用架构</a:t>
                </a:r>
              </a:p>
            </p:txBody>
          </p:sp>
          <p:grpSp>
            <p:nvGrpSpPr>
              <p:cNvPr id="37" name="Group 37"/>
              <p:cNvGrpSpPr/>
              <p:nvPr/>
            </p:nvGrpSpPr>
            <p:grpSpPr>
              <a:xfrm>
                <a:off x="6629400" y="3282950"/>
                <a:ext cx="152400" cy="177800"/>
                <a:chOff x="6629400" y="3282950"/>
                <a:chExt cx="152400" cy="1778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6680200" y="3282950"/>
                  <a:ext cx="1016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77800">
                      <a:moveTo>
                        <a:pt x="12700" y="63500"/>
                      </a:moveTo>
                      <a:lnTo>
                        <a:pt x="12700" y="0"/>
                      </a:lnTo>
                      <a:lnTo>
                        <a:pt x="0" y="0"/>
                      </a:lnTo>
                      <a:moveTo>
                        <a:pt x="101600" y="177800"/>
                      </a:moveTo>
                      <a:lnTo>
                        <a:pt x="101600" y="114300"/>
                      </a:lnTo>
                      <a:lnTo>
                        <a:pt x="88900" y="1143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743700" y="3282950"/>
                  <a:ext cx="381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3500">
                      <a:moveTo>
                        <a:pt x="0" y="6350"/>
                      </a:moveTo>
                      <a:cubicBezTo>
                        <a:pt x="0" y="2843"/>
                        <a:pt x="2843" y="0"/>
                        <a:pt x="6350" y="0"/>
                      </a:cubicBezTo>
                      <a:lnTo>
                        <a:pt x="31750" y="0"/>
                      </a:lnTo>
                      <a:cubicBezTo>
                        <a:pt x="35257" y="0"/>
                        <a:pt x="38100" y="2843"/>
                        <a:pt x="38100" y="6350"/>
                      </a:cubicBezTo>
                      <a:lnTo>
                        <a:pt x="38100" y="57150"/>
                      </a:lnTo>
                      <a:cubicBezTo>
                        <a:pt x="38100" y="60657"/>
                        <a:pt x="35257" y="63500"/>
                        <a:pt x="31750" y="63500"/>
                      </a:cubicBezTo>
                      <a:lnTo>
                        <a:pt x="6350" y="63500"/>
                      </a:lnTo>
                      <a:cubicBezTo>
                        <a:pt x="2843" y="63500"/>
                        <a:pt x="0" y="60657"/>
                        <a:pt x="0" y="57150"/>
                      </a:cubicBezTo>
                      <a:lnTo>
                        <a:pt x="0" y="635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680200" y="3397250"/>
                  <a:ext cx="381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3500">
                      <a:moveTo>
                        <a:pt x="0" y="6350"/>
                      </a:moveTo>
                      <a:cubicBezTo>
                        <a:pt x="0" y="2843"/>
                        <a:pt x="2843" y="0"/>
                        <a:pt x="6350" y="0"/>
                      </a:cubicBezTo>
                      <a:lnTo>
                        <a:pt x="31750" y="0"/>
                      </a:lnTo>
                      <a:cubicBezTo>
                        <a:pt x="35257" y="0"/>
                        <a:pt x="38100" y="2843"/>
                        <a:pt x="38100" y="6350"/>
                      </a:cubicBezTo>
                      <a:lnTo>
                        <a:pt x="38100" y="57150"/>
                      </a:lnTo>
                      <a:cubicBezTo>
                        <a:pt x="38100" y="60657"/>
                        <a:pt x="35257" y="63500"/>
                        <a:pt x="31750" y="63500"/>
                      </a:cubicBezTo>
                      <a:lnTo>
                        <a:pt x="6350" y="63500"/>
                      </a:lnTo>
                      <a:cubicBezTo>
                        <a:pt x="2843" y="63500"/>
                        <a:pt x="0" y="60657"/>
                        <a:pt x="0" y="57150"/>
                      </a:cubicBezTo>
                      <a:lnTo>
                        <a:pt x="0" y="635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629400" y="33464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127" y="0"/>
                      </a:lnTo>
                      <a:moveTo>
                        <a:pt x="0" y="114300"/>
                      </a:moveTo>
                      <a:lnTo>
                        <a:pt x="127" y="1143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7001256" y="3253740"/>
                <a:ext cx="31802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>一等公民的 GPGPU 计算支持</a:t>
                </a:r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6616700" y="38862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01600" y="0"/>
                    </a:moveTo>
                    <a:lnTo>
                      <a:pt x="101600" y="88900"/>
                    </a:lnTo>
                    <a:lnTo>
                      <a:pt x="177800" y="88900"/>
                    </a:lnTo>
                    <a:lnTo>
                      <a:pt x="76200" y="228599"/>
                    </a:lnTo>
                    <a:lnTo>
                      <a:pt x="76200" y="139700"/>
                    </a:lnTo>
                    <a:lnTo>
                      <a:pt x="0" y="139700"/>
                    </a:ln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rgbClr val="38BDF8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001256" y="3882390"/>
                <a:ext cx="38476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 xml:space="preserve">单个对象渲染的 </a:t>
                </a:r>
                <a:r>
                  <a:rPr lang="zh-CN" sz="1800" b="1" dirty="0">
                    <a:solidFill>
                      <a:srgbClr val="38BDF8"/>
                    </a:solidFill>
                    <a:latin typeface="Microsoft YaHei"/>
                    <a:ea typeface="Microsoft YaHei"/>
                    <a:cs typeface="Microsoft YaHei"/>
                  </a:rPr>
                  <a:t>CPU 开销显著更低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6591300" y="4514850"/>
                <a:ext cx="228599" cy="229244"/>
                <a:chOff x="6591300" y="4514850"/>
                <a:chExt cx="228599" cy="229244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591300" y="4514850"/>
                  <a:ext cx="228599" cy="229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29244">
                      <a:moveTo>
                        <a:pt x="114300" y="228599"/>
                      </a:moveTo>
                      <a:cubicBezTo>
                        <a:pt x="51174" y="228599"/>
                        <a:pt x="0" y="177426"/>
                        <a:pt x="0" y="114300"/>
                      </a:cubicBezTo>
                      <a:cubicBezTo>
                        <a:pt x="0" y="51174"/>
                        <a:pt x="51174" y="0"/>
                        <a:pt x="114300" y="0"/>
                      </a:cubicBezTo>
                      <a:cubicBezTo>
                        <a:pt x="177419" y="0"/>
                        <a:pt x="228599" y="45491"/>
                        <a:pt x="228599" y="101600"/>
                      </a:cubicBezTo>
                      <a:cubicBezTo>
                        <a:pt x="228599" y="115062"/>
                        <a:pt x="222580" y="127990"/>
                        <a:pt x="211861" y="137515"/>
                      </a:cubicBezTo>
                      <a:cubicBezTo>
                        <a:pt x="201142" y="147040"/>
                        <a:pt x="186601" y="152400"/>
                        <a:pt x="171450" y="152400"/>
                      </a:cubicBezTo>
                      <a:lnTo>
                        <a:pt x="139700" y="152400"/>
                      </a:lnTo>
                      <a:cubicBezTo>
                        <a:pt x="128041" y="152212"/>
                        <a:pt x="117752" y="159986"/>
                        <a:pt x="114748" y="171252"/>
                      </a:cubicBezTo>
                      <a:cubicBezTo>
                        <a:pt x="111744" y="182518"/>
                        <a:pt x="116796" y="194382"/>
                        <a:pt x="127000" y="200024"/>
                      </a:cubicBezTo>
                      <a:cubicBezTo>
                        <a:pt x="132199" y="204822"/>
                        <a:pt x="133764" y="212399"/>
                        <a:pt x="130890" y="218863"/>
                      </a:cubicBezTo>
                      <a:cubicBezTo>
                        <a:pt x="128017" y="225328"/>
                        <a:pt x="121345" y="229244"/>
                        <a:pt x="114300" y="228599"/>
                      </a:cubicBez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648450" y="459740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699250" y="455930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750050" y="459740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7001256" y="4511040"/>
                <a:ext cx="36530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>计算粒子、后处理滤镜等现代特性</a:t>
                </a:r>
              </a:p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6604000" y="5156200"/>
                <a:ext cx="203199" cy="203200"/>
                <a:chOff x="6604000" y="5156200"/>
                <a:chExt cx="203199" cy="203200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6604000" y="5156200"/>
                  <a:ext cx="2031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76200">
                      <a:moveTo>
                        <a:pt x="203199" y="76200"/>
                      </a:moveTo>
                      <a:lnTo>
                        <a:pt x="0" y="76200"/>
                      </a:lnTo>
                      <a:lnTo>
                        <a:pt x="69850" y="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6604000" y="5283200"/>
                  <a:ext cx="2031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76200">
                      <a:moveTo>
                        <a:pt x="0" y="0"/>
                      </a:moveTo>
                      <a:lnTo>
                        <a:pt x="203199" y="0"/>
                      </a:lnTo>
                      <a:lnTo>
                        <a:pt x="133350" y="762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7001256" y="5139690"/>
                <a:ext cx="39227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>剔除、蒙皮变换可直接在 GPU 上做</a:t>
                </a:r>
              </a:p>
            </p:txBody>
          </p:sp>
        </p:grpSp>
      </p:grpSp>
      <p:sp>
        <p:nvSpPr>
          <p:cNvPr id="53" name="TextBox 53"/>
          <p:cNvSpPr txBox="1"/>
          <p:nvPr/>
        </p:nvSpPr>
        <p:spPr>
          <a:xfrm>
            <a:off x="527685" y="6203156"/>
            <a:ext cx="32481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D7089"/>
                </a:solidFill>
                <a:latin typeface="Microsoft YaHei"/>
                <a:ea typeface="Microsoft YaHei"/>
                <a:cs typeface="Microsoft YaHei"/>
              </a:rPr>
              <a:t>来源:MDN《WebGPU API》Concepts and usage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37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4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gradFill>
          <a:gsLst>
            <a:gs pos="0">
              <a:srgbClr val="070B14"/>
            </a:gs>
            <a:gs pos="100000">
              <a:srgbClr val="0C172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8253C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18160" y="746760"/>
            <a:ext cx="11140440" cy="849630"/>
            <a:chOff x="518160" y="746760"/>
            <a:chExt cx="11140440" cy="849630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746760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8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02 / 分层模型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009650"/>
              <a:ext cx="5417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从网页到 GPU,中间隔着几层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667500" y="1219200"/>
              <a:ext cx="4991100" cy="19050"/>
            </a:xfrm>
            <a:prstGeom prst="rect">
              <a:avLst/>
            </a:prstGeom>
            <a:gradFill>
              <a:gsLst>
                <a:gs pos="0">
                  <a:srgbClr val="38BDF8"/>
                </a:gs>
                <a:gs pos="100000">
                  <a:srgbClr val="A78BFA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209800" y="1752600"/>
            <a:ext cx="6934200" cy="952500"/>
            <a:chOff x="2209800" y="1752600"/>
            <a:chExt cx="6934200" cy="952500"/>
          </a:xfrm>
        </p:grpSpPr>
        <p:sp>
          <p:nvSpPr>
            <p:cNvPr id="7" name="Rectangle 7"/>
            <p:cNvSpPr/>
            <p:nvPr/>
          </p:nvSpPr>
          <p:spPr>
            <a:xfrm>
              <a:off x="2209800" y="17526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132238"/>
            </a:solidFill>
            <a:ln w="14288">
              <a:solidFill>
                <a:srgbClr val="2A446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788430" y="1951196"/>
              <a:ext cx="7477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Web app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724400" y="17526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132238"/>
            </a:solidFill>
            <a:ln w="14288">
              <a:solidFill>
                <a:srgbClr val="2A446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303030" y="1951196"/>
              <a:ext cx="7477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Web app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39000" y="17526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132238"/>
            </a:solidFill>
            <a:ln w="14288">
              <a:solidFill>
                <a:srgbClr val="2A446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17630" y="1951196"/>
              <a:ext cx="7477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Web app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3067050" y="2362200"/>
              <a:ext cx="190500" cy="342900"/>
            </a:xfrm>
            <a:prstGeom prst="upDownArrow">
              <a:avLst/>
            </a:prstGeom>
            <a:solidFill>
              <a:srgbClr val="38BDF8">
                <a:alpha val="85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581650" y="2362200"/>
              <a:ext cx="190500" cy="342900"/>
            </a:xfrm>
            <a:prstGeom prst="upDownArrow">
              <a:avLst/>
            </a:prstGeom>
            <a:solidFill>
              <a:srgbClr val="38BDF8">
                <a:alpha val="85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096250" y="2362200"/>
              <a:ext cx="190500" cy="342900"/>
            </a:xfrm>
            <a:prstGeom prst="upDownArrow">
              <a:avLst/>
            </a:prstGeom>
            <a:solidFill>
              <a:srgbClr val="38BDF8">
                <a:alpha val="85000"/>
              </a:srgbClr>
            </a:solidFill>
            <a:ln>
              <a:noFill/>
            </a:ln>
          </p:spPr>
        </p:sp>
      </p:grpSp>
      <p:grpSp>
        <p:nvGrpSpPr>
          <p:cNvPr id="30" name="!!webgpu-layer"/>
          <p:cNvGrpSpPr/>
          <p:nvPr/>
        </p:nvGrpSpPr>
        <p:grpSpPr>
          <a:xfrm>
            <a:off x="2057400" y="2781300"/>
            <a:ext cx="7239000" cy="1790700"/>
            <a:chOff x="2057400" y="2781300"/>
            <a:chExt cx="7239000" cy="1790700"/>
          </a:xfrm>
        </p:grpSpPr>
        <p:sp>
          <p:nvSpPr>
            <p:cNvPr id="17" name="Rectangle 17"/>
            <p:cNvSpPr/>
            <p:nvPr/>
          </p:nvSpPr>
          <p:spPr>
            <a:xfrm>
              <a:off x="2057400" y="2781300"/>
              <a:ext cx="7239000" cy="1790700"/>
            </a:xfrm>
            <a:prstGeom prst="roundRect">
              <a:avLst>
                <a:gd name="adj" fmla="val 2128"/>
              </a:avLst>
            </a:prstGeom>
            <a:solidFill>
              <a:srgbClr val="0E1A2E"/>
            </a:solidFill>
            <a:ln w="14288">
              <a:solidFill>
                <a:srgbClr val="38BDF8">
                  <a:alpha val="55000"/>
                </a:srgbClr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209800" y="30480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16304F"/>
            </a:solidFill>
            <a:ln w="14288">
              <a:solidFill>
                <a:srgbClr val="3E6E9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511885" y="3132296"/>
              <a:ext cx="13008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Logical device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3311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E96B4"/>
                  </a:solidFill>
                  <a:latin typeface="Microsoft YaHei"/>
                  <a:ea typeface="Microsoft YaHei"/>
                  <a:cs typeface="Microsoft YaHei"/>
                </a:rPr>
                <a:t>逻辑设备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724400" y="30480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16304F"/>
            </a:solidFill>
            <a:ln w="14288">
              <a:solidFill>
                <a:srgbClr val="3E6E9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26485" y="3132296"/>
              <a:ext cx="13008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Logical device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4771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E96B4"/>
                  </a:solidFill>
                  <a:latin typeface="Microsoft YaHei"/>
                  <a:ea typeface="Microsoft YaHei"/>
                  <a:cs typeface="Microsoft YaHei"/>
                </a:rPr>
                <a:t>逻辑设备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239000" y="3048000"/>
              <a:ext cx="1905000" cy="571500"/>
            </a:xfrm>
            <a:prstGeom prst="roundRect">
              <a:avLst>
                <a:gd name="adj" fmla="val 13333"/>
              </a:avLst>
            </a:prstGeom>
            <a:solidFill>
              <a:srgbClr val="16304F"/>
            </a:solidFill>
            <a:ln w="14288">
              <a:solidFill>
                <a:srgbClr val="3E6E9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41085" y="3132296"/>
              <a:ext cx="13008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Logical device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231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E96B4"/>
                  </a:solidFill>
                  <a:latin typeface="Microsoft YaHei"/>
                  <a:ea typeface="Microsoft YaHei"/>
                  <a:cs typeface="Microsoft YaHei"/>
                </a:rPr>
                <a:t>逻辑设备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209800" y="3848100"/>
              <a:ext cx="6934200" cy="571500"/>
            </a:xfrm>
            <a:prstGeom prst="roundRect">
              <a:avLst>
                <a:gd name="adj" fmla="val 13333"/>
              </a:avLst>
            </a:prstGeom>
            <a:solidFill>
              <a:srgbClr val="0B3B5C"/>
            </a:solidFill>
            <a:ln w="14288">
              <a:solidFill>
                <a:srgbClr val="38BDF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98702" y="3951446"/>
              <a:ext cx="7563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E8EEF9"/>
                  </a:solidFill>
                  <a:latin typeface="Consolas"/>
                  <a:ea typeface="Consolas"/>
                  <a:cs typeface="Consolas"/>
                </a:rPr>
                <a:t>Adapter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15130" y="4194810"/>
              <a:ext cx="33235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C6EA"/>
                  </a:solidFill>
                  <a:latin typeface="Microsoft YaHei"/>
                  <a:ea typeface="Microsoft YaHei"/>
                  <a:cs typeface="Microsoft YaHei"/>
                </a:rPr>
                <a:t>适配器 · 代表系统上的一块物理 GPU 与驱动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5581650" y="4610100"/>
            <a:ext cx="190500" cy="304800"/>
          </a:xfrm>
          <a:prstGeom prst="upDownArrow">
            <a:avLst/>
          </a:prstGeom>
          <a:solidFill>
            <a:srgbClr val="A78BFA">
              <a:alpha val="90000"/>
            </a:srgbClr>
          </a:solidFill>
          <a:ln>
            <a:noFill/>
          </a:ln>
        </p:spPr>
      </p:sp>
      <p:grpSp>
        <p:nvGrpSpPr>
          <p:cNvPr id="39" name="Group 39"/>
          <p:cNvGrpSpPr/>
          <p:nvPr/>
        </p:nvGrpSpPr>
        <p:grpSpPr>
          <a:xfrm>
            <a:off x="2057400" y="4972050"/>
            <a:ext cx="7239000" cy="1428750"/>
            <a:chOff x="2057400" y="4972050"/>
            <a:chExt cx="7239000" cy="1428750"/>
          </a:xfrm>
        </p:grpSpPr>
        <p:sp>
          <p:nvSpPr>
            <p:cNvPr id="32" name="Rectangle 32"/>
            <p:cNvSpPr/>
            <p:nvPr/>
          </p:nvSpPr>
          <p:spPr>
            <a:xfrm>
              <a:off x="2057400" y="4972050"/>
              <a:ext cx="7239000" cy="1428750"/>
            </a:xfrm>
            <a:prstGeom prst="roundRect">
              <a:avLst>
                <a:gd name="adj" fmla="val 2667"/>
              </a:avLst>
            </a:prstGeom>
            <a:solidFill>
              <a:srgbClr val="0E1526"/>
            </a:solidFill>
            <a:ln w="14288">
              <a:solidFill>
                <a:srgbClr val="A78BFA">
                  <a:alpha val="45000"/>
                </a:srgbClr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209800" y="5143500"/>
              <a:ext cx="6934200" cy="685800"/>
            </a:xfrm>
            <a:prstGeom prst="roundRect">
              <a:avLst>
                <a:gd name="adj" fmla="val 11111"/>
              </a:avLst>
            </a:prstGeom>
            <a:solidFill>
              <a:srgbClr val="1A1B36"/>
            </a:solidFill>
            <a:ln w="14288">
              <a:solidFill>
                <a:srgbClr val="4B4A82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209800" y="5486400"/>
              <a:ext cx="6934200" cy="9525"/>
            </a:xfrm>
            <a:custGeom>
              <a:avLst/>
              <a:gdLst/>
              <a:ahLst/>
              <a:cxnLst/>
              <a:rect l="l" t="t" r="r" b="b"/>
              <a:pathLst>
                <a:path w="6934200" h="9525">
                  <a:moveTo>
                    <a:pt x="0" y="0"/>
                  </a:moveTo>
                  <a:lnTo>
                    <a:pt x="6934200" y="0"/>
                  </a:lnTo>
                </a:path>
              </a:pathLst>
            </a:custGeom>
            <a:noFill/>
            <a:ln w="14288">
              <a:solidFill>
                <a:srgbClr val="4B4A8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08129" y="5227796"/>
              <a:ext cx="13375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CFC9F2"/>
                  </a:solidFill>
                  <a:latin typeface="Consolas"/>
                  <a:ea typeface="Consolas"/>
                  <a:cs typeface="Consolas"/>
                </a:rPr>
                <a:t>Native GPU API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75391" y="5570696"/>
              <a:ext cx="6030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CFC9F2"/>
                  </a:solidFill>
                  <a:latin typeface="Consolas"/>
                  <a:ea typeface="Consolas"/>
                  <a:cs typeface="Consolas"/>
                </a:rPr>
                <a:t>Driver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209800" y="5924550"/>
              <a:ext cx="6934200" cy="381000"/>
            </a:xfrm>
            <a:prstGeom prst="roundRect">
              <a:avLst>
                <a:gd name="adj" fmla="val 20000"/>
              </a:avLst>
            </a:prstGeom>
            <a:solidFill>
              <a:srgbClr val="241A3B"/>
            </a:solidFill>
            <a:ln w="14288">
              <a:solidFill>
                <a:srgbClr val="6D5A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03027" y="6027896"/>
              <a:ext cx="3477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D9CFF5"/>
                  </a:solidFill>
                  <a:latin typeface="Consolas"/>
                  <a:ea typeface="Consolas"/>
                  <a:cs typeface="Consolas"/>
                </a:rPr>
                <a:t>GPU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4256" y="3539490"/>
            <a:ext cx="1146048" cy="2509266"/>
            <a:chOff x="524256" y="3539490"/>
            <a:chExt cx="1146048" cy="2509266"/>
          </a:xfrm>
        </p:grpSpPr>
        <p:sp>
          <p:nvSpPr>
            <p:cNvPr id="40" name="TextBox 40"/>
            <p:cNvSpPr txBox="1"/>
            <p:nvPr/>
          </p:nvSpPr>
          <p:spPr>
            <a:xfrm>
              <a:off x="524256" y="3539490"/>
              <a:ext cx="9424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38BDF8"/>
                  </a:solidFill>
                  <a:latin typeface="Microsoft YaHei"/>
                  <a:ea typeface="Microsoft YaHei"/>
                  <a:cs typeface="Microsoft YaHei"/>
                </a:rPr>
                <a:t>WebGPU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7304" y="3870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浏览器实现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4256" y="54825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78BFA"/>
                  </a:solidFill>
                  <a:latin typeface="Microsoft YaHei"/>
                  <a:ea typeface="Microsoft YaHei"/>
                  <a:cs typeface="Microsoft YaHei"/>
                </a:rPr>
                <a:t>底层系统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7304" y="5814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操作系统与硬件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601200" y="1866900"/>
            <a:ext cx="1440370" cy="4381500"/>
            <a:chOff x="9601200" y="1866900"/>
            <a:chExt cx="1440370" cy="4381500"/>
          </a:xfrm>
        </p:grpSpPr>
        <p:sp>
          <p:nvSpPr>
            <p:cNvPr id="45" name="Line 45"/>
            <p:cNvSpPr/>
            <p:nvPr/>
          </p:nvSpPr>
          <p:spPr>
            <a:xfrm>
              <a:off x="9601200" y="1866900"/>
              <a:ext cx="9525" cy="4381500"/>
            </a:xfrm>
            <a:custGeom>
              <a:avLst/>
              <a:gdLst/>
              <a:ahLst/>
              <a:cxnLst/>
              <a:rect l="l" t="t" r="r" b="b"/>
              <a:pathLst>
                <a:path w="9525" h="4381500">
                  <a:moveTo>
                    <a:pt x="0" y="0"/>
                  </a:moveTo>
                  <a:lnTo>
                    <a:pt x="0" y="4381500"/>
                  </a:lnTo>
                </a:path>
              </a:pathLst>
            </a:custGeom>
            <a:noFill/>
            <a:ln w="14288">
              <a:solidFill>
                <a:srgbClr val="23335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784842" y="1911668"/>
              <a:ext cx="12567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同一块 GPU 会被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多个应用和进程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并发使用。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84842" y="3207068"/>
              <a:ext cx="1213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逻辑设备提供多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路复用,让每个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应用彼此隔离。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84842" y="5207318"/>
              <a:ext cx="120529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图中按“只有一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块 GPU、一套原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生 API 和驱动”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来画。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gradFill>
          <a:gsLst>
            <a:gs pos="0">
              <a:srgbClr val="070B14"/>
            </a:gs>
            <a:gs pos="100000">
              <a:srgbClr val="0C172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8253C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18160" y="746760"/>
            <a:ext cx="11140440" cy="849630"/>
            <a:chOff x="518160" y="746760"/>
            <a:chExt cx="11140440" cy="849630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7467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8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03 / 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009650"/>
              <a:ext cx="728784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三步拿到设备:gpu → adapter → device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382000" y="1219200"/>
              <a:ext cx="3276600" cy="19050"/>
            </a:xfrm>
            <a:prstGeom prst="rect">
              <a:avLst/>
            </a:prstGeom>
            <a:gradFill>
              <a:gsLst>
                <a:gs pos="0">
                  <a:srgbClr val="38BDF8"/>
                </a:gs>
                <a:gs pos="100000">
                  <a:srgbClr val="A78BFA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!!webgpu-layer"/>
          <p:cNvGrpSpPr/>
          <p:nvPr/>
        </p:nvGrpSpPr>
        <p:grpSpPr>
          <a:xfrm>
            <a:off x="533400" y="1676400"/>
            <a:ext cx="5562600" cy="3086100"/>
            <a:chOff x="533400" y="1676400"/>
            <a:chExt cx="5562600" cy="3086100"/>
          </a:xfrm>
        </p:grpSpPr>
        <p:sp>
          <p:nvSpPr>
            <p:cNvPr id="7" name="Rectangle 7"/>
            <p:cNvSpPr/>
            <p:nvPr/>
          </p:nvSpPr>
          <p:spPr>
            <a:xfrm>
              <a:off x="533400" y="1676400"/>
              <a:ext cx="5562600" cy="3086100"/>
            </a:xfrm>
            <a:prstGeom prst="roundRect">
              <a:avLst>
                <a:gd name="adj" fmla="val 1235"/>
              </a:avLst>
            </a:prstGeom>
            <a:solidFill>
              <a:srgbClr val="0E1A2E"/>
            </a:solidFill>
            <a:ln w="14288">
              <a:solidFill>
                <a:srgbClr val="38BDF8">
                  <a:alpha val="5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962150"/>
              <a:ext cx="5105400" cy="571500"/>
            </a:xfrm>
            <a:prstGeom prst="roundRect">
              <a:avLst>
                <a:gd name="adj" fmla="val 13333"/>
              </a:avLst>
            </a:prstGeom>
            <a:solidFill>
              <a:srgbClr val="16304F"/>
            </a:solidFill>
            <a:ln w="14288">
              <a:solidFill>
                <a:srgbClr val="3E6E9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3361" y="2055971"/>
              <a:ext cx="13334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navigator.gpu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504" y="2299335"/>
              <a:ext cx="2103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E96B4"/>
                  </a:solidFill>
                  <a:latin typeface="Microsoft YaHei"/>
                  <a:ea typeface="Microsoft YaHei"/>
                  <a:cs typeface="Microsoft YaHei"/>
                </a:rPr>
                <a:t>取得当前上下文的 GPU 对象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238500" y="2590800"/>
              <a:ext cx="152400" cy="247650"/>
            </a:xfrm>
            <a:prstGeom prst="downArrow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876550"/>
              <a:ext cx="5105400" cy="571500"/>
            </a:xfrm>
            <a:prstGeom prst="roundRect">
              <a:avLst>
                <a:gd name="adj" fmla="val 13333"/>
              </a:avLst>
            </a:prstGeom>
            <a:solidFill>
              <a:srgbClr val="16304F"/>
            </a:solidFill>
            <a:ln w="14288">
              <a:solidFill>
                <a:srgbClr val="3E6E9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3361" y="2970371"/>
              <a:ext cx="21452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GPU.requestAdapter()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504" y="3213735"/>
              <a:ext cx="2524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E96B4"/>
                  </a:solidFill>
                  <a:latin typeface="Microsoft YaHei"/>
                  <a:ea typeface="Microsoft YaHei"/>
                  <a:cs typeface="Microsoft YaHei"/>
                </a:rPr>
                <a:t>取得适配器,不传参就是默认适配器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3238500" y="3505200"/>
              <a:ext cx="152400" cy="247650"/>
            </a:xfrm>
            <a:prstGeom prst="downArrow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3790950"/>
              <a:ext cx="5105400" cy="571500"/>
            </a:xfrm>
            <a:prstGeom prst="roundRect">
              <a:avLst>
                <a:gd name="adj" fmla="val 13333"/>
              </a:avLst>
            </a:prstGeom>
            <a:solidFill>
              <a:srgbClr val="0B3B5C"/>
            </a:solidFill>
            <a:ln w="14288">
              <a:solidFill>
                <a:srgbClr val="38BDF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361" y="3884771"/>
              <a:ext cx="27333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E8EEF9"/>
                  </a:solidFill>
                  <a:latin typeface="Consolas"/>
                  <a:ea typeface="Consolas"/>
                  <a:cs typeface="Consolas"/>
                </a:rPr>
                <a:t>GPUAdapter.requestDevice()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504" y="4128135"/>
              <a:ext cx="3663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C6EA"/>
                  </a:solidFill>
                  <a:latin typeface="Microsoft YaHei"/>
                  <a:ea typeface="Microsoft YaHei"/>
                  <a:cs typeface="Microsoft YaHei"/>
                </a:rPr>
                <a:t>取得逻辑设备,可用描述符指定 features 与 limits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5142" y="4464368"/>
              <a:ext cx="4657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两个方法的参数都可以省略,默认值对多数场景已经够用。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7685" y="4996815"/>
            <a:ext cx="4967402" cy="1312069"/>
            <a:chOff x="527685" y="4996815"/>
            <a:chExt cx="4967402" cy="1312069"/>
          </a:xfrm>
        </p:grpSpPr>
        <p:grpSp>
          <p:nvGrpSpPr>
            <p:cNvPr id="23" name="Group 23"/>
            <p:cNvGrpSpPr/>
            <p:nvPr/>
          </p:nvGrpSpPr>
          <p:grpSpPr>
            <a:xfrm>
              <a:off x="564356" y="5022056"/>
              <a:ext cx="185737" cy="185737"/>
              <a:chOff x="564356" y="5022056"/>
              <a:chExt cx="185737" cy="18573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64356" y="502205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rgbClr val="34D39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26268" y="509428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34D399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86206" y="4996815"/>
              <a:ext cx="3681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GPUDevice</a:t>
              </a:r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 xml:space="preserve"> 是访问一切功能的起点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74675" y="5622925"/>
              <a:ext cx="165099" cy="165099"/>
              <a:chOff x="574675" y="5622925"/>
              <a:chExt cx="165099" cy="16509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74675" y="5664200"/>
                <a:ext cx="1650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525">
                    <a:moveTo>
                      <a:pt x="0" y="0"/>
                    </a:move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8DA2C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74675" y="5622925"/>
                <a:ext cx="165099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65099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44462" y="0"/>
                    </a:lnTo>
                    <a:cubicBezTo>
                      <a:pt x="155860" y="0"/>
                      <a:pt x="165099" y="9240"/>
                      <a:pt x="165099" y="20637"/>
                    </a:cubicBezTo>
                    <a:lnTo>
                      <a:pt x="165099" y="144462"/>
                    </a:lnTo>
                    <a:cubicBezTo>
                      <a:pt x="165099" y="155860"/>
                      <a:pt x="155860" y="165099"/>
                      <a:pt x="144462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rgbClr val="8DA2C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15950" y="5622925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rgbClr val="8DA2C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86206" y="5587365"/>
              <a:ext cx="4608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 xml:space="preserve">在 Worker 里改用 </a:t>
              </a:r>
              <a:r>
                <a:rPr lang="en-US" sz="1800" dirty="0">
                  <a:solidFill>
                    <a:srgbClr val="8DA2C0"/>
                  </a:solidFill>
                  <a:latin typeface="Consolas"/>
                  <a:ea typeface="Consolas"/>
                  <a:cs typeface="Consolas"/>
                </a:rPr>
                <a:t>WorkerNavigator.gpu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7685" y="6088856"/>
              <a:ext cx="3171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D7089"/>
                  </a:solidFill>
                  <a:latin typeface="Microsoft YaHei"/>
                  <a:ea typeface="Microsoft YaHei"/>
                  <a:cs typeface="Microsoft YaHei"/>
                </a:rPr>
                <a:t>来源:MDN《WebGPU API》Accessing a device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324600" y="1676400"/>
            <a:ext cx="5334000" cy="4664678"/>
            <a:chOff x="6324600" y="1676400"/>
            <a:chExt cx="5334000" cy="4664678"/>
          </a:xfrm>
        </p:grpSpPr>
        <p:sp>
          <p:nvSpPr>
            <p:cNvPr id="32" name="Freeform 32"/>
            <p:cNvSpPr/>
            <p:nvPr/>
          </p:nvSpPr>
          <p:spPr>
            <a:xfrm>
              <a:off x="6324600" y="1676400"/>
              <a:ext cx="5334000" cy="4648200"/>
            </a:xfrm>
            <a:prstGeom prst="snip1Rect">
              <a:avLst>
                <a:gd name="adj" fmla="val 8000"/>
              </a:avLst>
            </a:prstGeom>
            <a:solidFill>
              <a:srgbClr val="0B1120"/>
            </a:solidFill>
            <a:ln w="14288">
              <a:solidFill>
                <a:srgbClr val="22354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5204" y="187071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2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js · 特性检测 + 取设备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591300" y="21526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22354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4823" y="2357914"/>
              <a:ext cx="4361434" cy="3983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async function init() 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if (!navigator.gpu) 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  throw Error("WebGPU not supported.");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}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let adapter;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try 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  adapter = await navigator.gpu.requestAdapter();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} catch (error) 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  console.error(error);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}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if (!adapter) 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  throw Error("Couldn't request WebGPU adapter.");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}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const device = await adapter.requestDevice();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4"/>
            </a:gs>
            <a:gs pos="100000">
              <a:srgbClr val="0C172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8253C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18160" y="746760"/>
            <a:ext cx="11140440" cy="849630"/>
            <a:chOff x="518160" y="746760"/>
            <a:chExt cx="11140440" cy="849630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746760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8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04 / 特性档位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009650"/>
              <a:ext cx="61630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core 与 compatibility:两档能力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0" y="1219200"/>
              <a:ext cx="4038600" cy="19050"/>
            </a:xfrm>
            <a:prstGeom prst="rect">
              <a:avLst/>
            </a:prstGeom>
            <a:gradFill>
              <a:gsLst>
                <a:gs pos="0">
                  <a:srgbClr val="38BDF8"/>
                </a:gs>
                <a:gs pos="100000">
                  <a:srgbClr val="A78BFA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33400" y="1752600"/>
            <a:ext cx="5410200" cy="3009900"/>
            <a:chOff x="533400" y="1752600"/>
            <a:chExt cx="5410200" cy="3009900"/>
          </a:xfrm>
        </p:grpSpPr>
        <p:sp>
          <p:nvSpPr>
            <p:cNvPr id="7" name="Rectangle 7"/>
            <p:cNvSpPr/>
            <p:nvPr/>
          </p:nvSpPr>
          <p:spPr>
            <a:xfrm>
              <a:off x="533400" y="1752600"/>
              <a:ext cx="5410200" cy="3009900"/>
            </a:xfrm>
            <a:prstGeom prst="roundRect">
              <a:avLst>
                <a:gd name="adj" fmla="val 1899"/>
              </a:avLst>
            </a:prstGeom>
            <a:solidFill>
              <a:srgbClr val="101B2C"/>
            </a:solidFill>
            <a:ln w="14288">
              <a:solidFill>
                <a:srgbClr val="22354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1981200"/>
              <a:ext cx="1143000" cy="419100"/>
            </a:xfrm>
            <a:prstGeom prst="plaque">
              <a:avLst/>
            </a:prstGeom>
            <a:solidFill>
              <a:srgbClr val="0B3B5C"/>
            </a:solidFill>
            <a:ln w="14288">
              <a:solidFill>
                <a:srgbClr val="38BDF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15985" y="2103596"/>
              <a:ext cx="435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E8EEF9"/>
                  </a:solidFill>
                  <a:latin typeface="Consolas"/>
                  <a:ea typeface="Consolas"/>
                  <a:cs typeface="Consolas"/>
                </a:rPr>
                <a:t>core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49780" y="20955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8BDF8"/>
                  </a:solidFill>
                  <a:latin typeface="Microsoft YaHei"/>
                  <a:ea typeface="Microsoft YaHei"/>
                  <a:cs typeface="Microsoft YaHei"/>
                </a:rPr>
                <a:t>默认档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856" y="2663190"/>
              <a:ext cx="359587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默认情况下,一个 GPUAdapter 支持</a:t>
              </a:r>
              <a:br/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全部 core WebGPU 特性与限制。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856" y="3615690"/>
              <a:ext cx="41148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面向拥有现代平台图形 API 的设备。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4178618"/>
              <a:ext cx="4829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检测方式:适配器或设备是否带 core-features-and-limits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48400" y="1752600"/>
            <a:ext cx="5410200" cy="3009900"/>
            <a:chOff x="6248400" y="1752600"/>
            <a:chExt cx="5410200" cy="3009900"/>
          </a:xfrm>
        </p:grpSpPr>
        <p:sp>
          <p:nvSpPr>
            <p:cNvPr id="15" name="Rectangle 15"/>
            <p:cNvSpPr/>
            <p:nvPr/>
          </p:nvSpPr>
          <p:spPr>
            <a:xfrm>
              <a:off x="6248400" y="1752600"/>
              <a:ext cx="5410200" cy="3009900"/>
            </a:xfrm>
            <a:prstGeom prst="roundRect">
              <a:avLst>
                <a:gd name="adj" fmla="val 1899"/>
              </a:avLst>
            </a:prstGeom>
            <a:solidFill>
              <a:srgbClr val="101B2C"/>
            </a:solidFill>
            <a:ln w="14288">
              <a:solidFill>
                <a:srgbClr val="22354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477000" y="1981200"/>
              <a:ext cx="2247900" cy="419100"/>
            </a:xfrm>
            <a:prstGeom prst="plaque">
              <a:avLst/>
            </a:prstGeom>
            <a:solidFill>
              <a:srgbClr val="2A2140"/>
            </a:solidFill>
            <a:ln w="14288">
              <a:solidFill>
                <a:srgbClr val="A78BF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86777" y="2103596"/>
              <a:ext cx="12283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E8EEF9"/>
                  </a:solidFill>
                  <a:latin typeface="Consolas"/>
                  <a:ea typeface="Consolas"/>
                  <a:cs typeface="Consolas"/>
                </a:rPr>
                <a:t>compatibility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69680" y="20955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78BFA"/>
                  </a:solidFill>
                  <a:latin typeface="Microsoft YaHei"/>
                  <a:ea typeface="Microsoft YaHei"/>
                  <a:cs typeface="Microsoft YaHei"/>
                </a:rPr>
                <a:t>可选档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7856" y="2663190"/>
              <a:ext cx="318439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只支持能在 OpenGL ES 3.1、</a:t>
              </a:r>
              <a:br/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Direct3D 11 等更老图形 API 上</a:t>
              </a:r>
              <a:br/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运行的</a:t>
              </a:r>
              <a:r>
                <a:rPr lang="zh-CN" sz="1800" b="1" dirty="0">
                  <a:solidFill>
                    <a:srgbClr val="A78BFA"/>
                  </a:solidFill>
                  <a:latin typeface="Microsoft YaHei"/>
                  <a:ea typeface="Microsoft YaHei"/>
                  <a:cs typeface="Microsoft YaHei"/>
                </a:rPr>
                <a:t>受限子集</a:t>
              </a:r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0142" y="4045268"/>
              <a:ext cx="35027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受限应用仍然是合法的 core 应用,因此在所有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支持 core WebGPU 的浏览器上都能运行。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4953000"/>
            <a:ext cx="5410200" cy="1333500"/>
            <a:chOff x="533400" y="4953000"/>
            <a:chExt cx="5410200" cy="1333500"/>
          </a:xfrm>
        </p:grpSpPr>
        <p:sp>
          <p:nvSpPr>
            <p:cNvPr id="22" name="Rectangle 22"/>
            <p:cNvSpPr/>
            <p:nvPr/>
          </p:nvSpPr>
          <p:spPr>
            <a:xfrm>
              <a:off x="533400" y="4953000"/>
              <a:ext cx="5410200" cy="1333500"/>
            </a:xfrm>
            <a:prstGeom prst="roundRect">
              <a:avLst>
                <a:gd name="adj" fmla="val 4286"/>
              </a:avLst>
            </a:prstGeom>
            <a:solidFill>
              <a:srgbClr val="0B1120"/>
            </a:solidFill>
            <a:ln w="14288">
              <a:solidFill>
                <a:srgbClr val="22354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904" y="509016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2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js · 请求兼容模式适配器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4761" y="5427821"/>
              <a:ext cx="4856607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const adapter = await navigator.gpu</a:t>
              </a:r>
              <a:br/>
              <a:r>
                <a:rPr lang="en-US" sz="142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.requestAdapter({ featureLevel: "compatibility" });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48400" y="4953000"/>
            <a:ext cx="5410200" cy="1333500"/>
            <a:chOff x="6248400" y="4953000"/>
            <a:chExt cx="5410200" cy="1333500"/>
          </a:xfrm>
        </p:grpSpPr>
        <p:sp>
          <p:nvSpPr>
            <p:cNvPr id="26" name="Rectangle 26"/>
            <p:cNvSpPr/>
            <p:nvPr/>
          </p:nvSpPr>
          <p:spPr>
            <a:xfrm>
              <a:off x="6248400" y="4953000"/>
              <a:ext cx="5410200" cy="1333500"/>
            </a:xfrm>
            <a:prstGeom prst="roundRect">
              <a:avLst>
                <a:gd name="adj" fmla="val 4286"/>
              </a:avLst>
            </a:prstGeom>
            <a:solidFill>
              <a:srgbClr val="0B1120"/>
            </a:solidFill>
            <a:ln w="14288">
              <a:solidFill>
                <a:srgbClr val="22354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70904" y="509016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2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js · 判断当前跑在哪一档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9761" y="5427821"/>
              <a:ext cx="3296666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const isCore = device.features</a:t>
              </a:r>
              <a:br/>
              <a:r>
                <a:rPr lang="en-US" sz="142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.has("core-features-and-limits");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27685" y="6488906"/>
            <a:ext cx="37813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D7089"/>
                </a:solidFill>
                <a:latin typeface="Microsoft YaHei"/>
                <a:ea typeface="Microsoft YaHei"/>
                <a:cs typeface="Microsoft YaHei"/>
              </a:rPr>
              <a:t>来源:MDN《WebGPU API》WebGPU compatibility mode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16" presetClass="entr" presetSubtype="21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gradFill>
          <a:gsLst>
            <a:gs pos="0">
              <a:srgbClr val="070B14"/>
            </a:gs>
            <a:gs pos="100000">
              <a:srgbClr val="0C172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8253C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18160" y="746760"/>
            <a:ext cx="11140440" cy="849630"/>
            <a:chOff x="518160" y="746760"/>
            <a:chExt cx="11140440" cy="849630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7467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8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05 / 管线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009650"/>
              <a:ext cx="46363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WebGPU 目前有两类管线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286500" y="1219200"/>
              <a:ext cx="5372100" cy="19050"/>
            </a:xfrm>
            <a:prstGeom prst="rect">
              <a:avLst/>
            </a:prstGeom>
            <a:gradFill>
              <a:gsLst>
                <a:gs pos="0">
                  <a:srgbClr val="38BDF8"/>
                </a:gs>
                <a:gs pos="100000">
                  <a:srgbClr val="A78BFA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21970" y="1662112"/>
            <a:ext cx="10654475" cy="440055"/>
            <a:chOff x="521970" y="1662112"/>
            <a:chExt cx="10654475" cy="44005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662112"/>
              <a:ext cx="106544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管线是一个包含若干可编程阶段的逻辑结构,这些阶段跑完,程序的活就干完了。</a:t>
              </a:r>
            </a:p>
          </p:txBody>
        </p:sp>
      </p:grpSp>
      <p:grpSp>
        <p:nvGrpSpPr>
          <p:cNvPr id="23" name="!!render-pipeline"/>
          <p:cNvGrpSpPr/>
          <p:nvPr/>
        </p:nvGrpSpPr>
        <p:grpSpPr>
          <a:xfrm>
            <a:off x="533400" y="2209800"/>
            <a:ext cx="5410200" cy="3543300"/>
            <a:chOff x="533400" y="2209800"/>
            <a:chExt cx="5410200" cy="3543300"/>
          </a:xfrm>
        </p:grpSpPr>
        <p:sp>
          <p:nvSpPr>
            <p:cNvPr id="9" name="Rectangle 9"/>
            <p:cNvSpPr/>
            <p:nvPr/>
          </p:nvSpPr>
          <p:spPr>
            <a:xfrm>
              <a:off x="533400" y="2209800"/>
              <a:ext cx="5410200" cy="3543300"/>
            </a:xfrm>
            <a:prstGeom prst="roundRect">
              <a:avLst>
                <a:gd name="adj" fmla="val 1613"/>
              </a:avLst>
            </a:prstGeom>
            <a:solidFill>
              <a:srgbClr val="101B2C"/>
            </a:solidFill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62000" y="2438400"/>
              <a:ext cx="457200" cy="457200"/>
            </a:xfrm>
            <a:prstGeom prst="hexagon">
              <a:avLst/>
            </a:prstGeom>
            <a:solidFill>
              <a:srgbClr val="0B3B5C"/>
            </a:solidFill>
            <a:ln w="14288">
              <a:solidFill>
                <a:srgbClr val="38BDF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42975" y="2590800"/>
              <a:ext cx="123825" cy="152400"/>
            </a:xfrm>
            <a:custGeom>
              <a:avLst/>
              <a:gdLst/>
              <a:ahLst/>
              <a:cxnLst/>
              <a:rect l="l" t="t" r="r" b="b"/>
              <a:pathLst>
                <a:path w="123825" h="152400">
                  <a:moveTo>
                    <a:pt x="0" y="0"/>
                  </a:moveTo>
                  <a:lnTo>
                    <a:pt x="0" y="152400"/>
                  </a:lnTo>
                  <a:lnTo>
                    <a:pt x="123825" y="7620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38BDF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00556" y="24536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渲染管线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3604" y="274701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E96B4"/>
                  </a:solidFill>
                  <a:latin typeface="Consolas"/>
                  <a:ea typeface="Consolas"/>
                  <a:cs typeface="Consolas"/>
                </a:rPr>
                <a:t>render pipeline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142" y="3111818"/>
              <a:ext cx="4339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把图形画出来,通常画进 &lt;canvas&gt;,也可以离屏渲染。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762000" y="3486150"/>
              <a:ext cx="4953000" cy="1114806"/>
              <a:chOff x="762000" y="3486150"/>
              <a:chExt cx="4953000" cy="1114806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62000" y="3486150"/>
                <a:ext cx="4953000" cy="1009650"/>
              </a:xfrm>
              <a:prstGeom prst="roundRect">
                <a:avLst>
                  <a:gd name="adj" fmla="val 7547"/>
                </a:avLst>
              </a:prstGeom>
              <a:solidFill>
                <a:srgbClr val="16304F"/>
              </a:solidFill>
              <a:ln w="14288">
                <a:solidFill>
                  <a:srgbClr val="3E6E9E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83361" y="3618071"/>
                <a:ext cx="122834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CFE0F2"/>
                    </a:solidFill>
                    <a:latin typeface="Consolas"/>
                    <a:ea typeface="Consolas"/>
                    <a:cs typeface="Consolas"/>
                  </a:rPr>
                  <a:t>vertex stage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84504" y="3909060"/>
                <a:ext cx="2945892" cy="691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顶点着色器按位置数据在 3D 空间摆放顶点,</a:t>
                </a:r>
                <a:br/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装配成三角形等图元,再由 GPU 光栅化,</a:t>
                </a:r>
                <a:br/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算出每个图元覆盖画布上的哪些像素。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62000" y="4629150"/>
              <a:ext cx="4953000" cy="895350"/>
              <a:chOff x="762000" y="4629150"/>
              <a:chExt cx="4953000" cy="8953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4629150"/>
                <a:ext cx="4953000" cy="895350"/>
              </a:xfrm>
              <a:prstGeom prst="roundRect">
                <a:avLst>
                  <a:gd name="adj" fmla="val 8511"/>
                </a:avLst>
              </a:prstGeom>
              <a:solidFill>
                <a:srgbClr val="16304F"/>
              </a:solidFill>
              <a:ln w="14288">
                <a:solidFill>
                  <a:srgbClr val="3E6E9E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83361" y="4761071"/>
                <a:ext cx="147685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CFE0F2"/>
                    </a:solidFill>
                    <a:latin typeface="Consolas"/>
                    <a:ea typeface="Consolas"/>
                    <a:cs typeface="Consolas"/>
                  </a:rPr>
                  <a:t>fragment stage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84504" y="5052060"/>
                <a:ext cx="3060192" cy="4632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片元着色器为图元覆盖的每个像素算颜色,常</a:t>
                </a:r>
                <a:br/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以纹理提供表面细节与虚拟光源的位置颜色。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6248400" y="2209800"/>
            <a:ext cx="5410200" cy="3543300"/>
            <a:chOff x="6248400" y="2209800"/>
            <a:chExt cx="5410200" cy="3543300"/>
          </a:xfrm>
        </p:grpSpPr>
        <p:sp>
          <p:nvSpPr>
            <p:cNvPr id="24" name="Rectangle 24"/>
            <p:cNvSpPr/>
            <p:nvPr/>
          </p:nvSpPr>
          <p:spPr>
            <a:xfrm>
              <a:off x="6248400" y="2209800"/>
              <a:ext cx="5410200" cy="3543300"/>
            </a:xfrm>
            <a:prstGeom prst="roundRect">
              <a:avLst>
                <a:gd name="adj" fmla="val 1613"/>
              </a:avLst>
            </a:prstGeom>
            <a:solidFill>
              <a:srgbClr val="101B2C"/>
            </a:solidFill>
            <a:ln w="14288">
              <a:solidFill>
                <a:srgbClr val="A78BFA">
                  <a:alpha val="60000"/>
                </a:srgbClr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477000" y="2438400"/>
              <a:ext cx="457200" cy="457200"/>
            </a:xfrm>
            <a:prstGeom prst="hexagon">
              <a:avLst/>
            </a:prstGeom>
            <a:solidFill>
              <a:srgbClr val="2A2140"/>
            </a:solidFill>
            <a:ln w="14288">
              <a:solidFill>
                <a:srgbClr val="A78BF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19875" y="2581275"/>
              <a:ext cx="171450" cy="171450"/>
              <a:chOff x="6619875" y="2581275"/>
              <a:chExt cx="171450" cy="1714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638925" y="26003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A78BF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77025" y="26384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78BFA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19875" y="26479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78BFA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19875" y="26860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78BF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86550" y="25812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78BF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24650" y="25812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78BF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72275" y="26479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78BFA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72275" y="26860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78BF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24650" y="27336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78BF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86550" y="27336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78BFA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115556" y="24536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计算管线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18604" y="2747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E96B4"/>
                  </a:solidFill>
                  <a:latin typeface="Consolas"/>
                  <a:ea typeface="Consolas"/>
                  <a:cs typeface="Consolas"/>
                </a:rPr>
                <a:t>compute pipeline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0142" y="3111818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用于通用计算,只包含一个阶段。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477000" y="3486150"/>
              <a:ext cx="4953000" cy="1009650"/>
              <a:chOff x="6477000" y="3486150"/>
              <a:chExt cx="4953000" cy="10096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477000" y="3486150"/>
                <a:ext cx="4953000" cy="1009650"/>
              </a:xfrm>
              <a:prstGeom prst="roundRect">
                <a:avLst>
                  <a:gd name="adj" fmla="val 7547"/>
                </a:avLst>
              </a:prstGeom>
              <a:solidFill>
                <a:srgbClr val="241A3B"/>
              </a:solidFill>
              <a:ln w="14288">
                <a:solidFill>
                  <a:srgbClr val="6D5AA8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698361" y="3618071"/>
                <a:ext cx="137171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D9CFF5"/>
                    </a:solidFill>
                    <a:latin typeface="Consolas"/>
                    <a:ea typeface="Consolas"/>
                    <a:cs typeface="Consolas"/>
                  </a:rPr>
                  <a:t>compute stage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99504" y="3909060"/>
                <a:ext cx="3235452" cy="4632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200" dirty="0">
                    <a:solidFill>
                      <a:srgbClr val="BEB2DE"/>
                    </a:solidFill>
                    <a:latin typeface="Microsoft YaHei"/>
                    <a:ea typeface="Microsoft YaHei"/>
                    <a:cs typeface="Microsoft YaHei"/>
                  </a:rPr>
                  <a:t>计算着色器拿到通用数据,按指定的工作组数</a:t>
                </a:r>
                <a:br/>
                <a:r>
                  <a:rPr lang="zh-CN" sz="1200" dirty="0">
                    <a:solidFill>
                      <a:srgbClr val="BEB2DE"/>
                    </a:solidFill>
                    <a:latin typeface="Microsoft YaHei"/>
                    <a:ea typeface="Microsoft YaHei"/>
                    <a:cs typeface="Microsoft YaHei"/>
                  </a:rPr>
                  <a:t>量并行处理,再把结果写回一个或多个 buffer。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470142" y="4777740"/>
              <a:ext cx="4511192" cy="731711"/>
              <a:chOff x="6470142" y="4777740"/>
              <a:chExt cx="4511192" cy="731711"/>
            </a:xfrm>
          </p:grpSpPr>
          <p:grpSp>
            <p:nvGrpSpPr>
              <p:cNvPr id="47" name="Group 47"/>
              <p:cNvGrpSpPr/>
              <p:nvPr/>
            </p:nvGrpSpPr>
            <p:grpSpPr>
              <a:xfrm>
                <a:off x="6521450" y="4795838"/>
                <a:ext cx="177801" cy="200025"/>
                <a:chOff x="6521450" y="4795838"/>
                <a:chExt cx="177801" cy="200025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6521450" y="4795838"/>
                  <a:ext cx="177801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66675">
                      <a:moveTo>
                        <a:pt x="0" y="33338"/>
                      </a:moveTo>
                      <a:cubicBezTo>
                        <a:pt x="0" y="51749"/>
                        <a:pt x="39802" y="66675"/>
                        <a:pt x="88900" y="66675"/>
                      </a:cubicBezTo>
                      <a:cubicBezTo>
                        <a:pt x="137999" y="66675"/>
                        <a:pt x="177801" y="51749"/>
                        <a:pt x="177801" y="33338"/>
                      </a:cubicBezTo>
                      <a:cubicBezTo>
                        <a:pt x="177801" y="14926"/>
                        <a:pt x="137999" y="0"/>
                        <a:pt x="88900" y="0"/>
                      </a:cubicBezTo>
                      <a:cubicBezTo>
                        <a:pt x="39802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rgbClr val="A78BFA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6521450" y="4829175"/>
                  <a:ext cx="177801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100013">
                      <a:moveTo>
                        <a:pt x="0" y="0"/>
                      </a:moveTo>
                      <a:lnTo>
                        <a:pt x="0" y="66675"/>
                      </a:lnTo>
                      <a:cubicBezTo>
                        <a:pt x="0" y="85087"/>
                        <a:pt x="39802" y="100013"/>
                        <a:pt x="88900" y="100013"/>
                      </a:cubicBezTo>
                      <a:cubicBezTo>
                        <a:pt x="137999" y="100013"/>
                        <a:pt x="177801" y="85087"/>
                        <a:pt x="177801" y="66675"/>
                      </a:cubicBezTo>
                      <a:lnTo>
                        <a:pt x="177801" y="0"/>
                      </a:lnTo>
                    </a:path>
                  </a:pathLst>
                </a:custGeom>
                <a:noFill/>
                <a:ln w="22225">
                  <a:solidFill>
                    <a:srgbClr val="A78BFA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6521450" y="4895850"/>
                  <a:ext cx="177801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100013">
                      <a:moveTo>
                        <a:pt x="0" y="0"/>
                      </a:moveTo>
                      <a:lnTo>
                        <a:pt x="0" y="66675"/>
                      </a:lnTo>
                      <a:cubicBezTo>
                        <a:pt x="0" y="85087"/>
                        <a:pt x="39802" y="100013"/>
                        <a:pt x="88900" y="100013"/>
                      </a:cubicBezTo>
                      <a:cubicBezTo>
                        <a:pt x="137999" y="100013"/>
                        <a:pt x="177801" y="85087"/>
                        <a:pt x="177801" y="66675"/>
                      </a:cubicBezTo>
                      <a:lnTo>
                        <a:pt x="177801" y="0"/>
                      </a:lnTo>
                    </a:path>
                  </a:pathLst>
                </a:custGeom>
                <a:noFill/>
                <a:ln w="22225">
                  <a:solidFill>
                    <a:srgbClr val="A78BFA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6867906" y="4777740"/>
                <a:ext cx="41134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>这些 buffer 可以装</a:t>
                </a:r>
                <a:r>
                  <a:rPr lang="zh-CN" sz="1800" b="1" dirty="0">
                    <a:solidFill>
                      <a:srgbClr val="A78BFA"/>
                    </a:solidFill>
                    <a:latin typeface="Microsoft YaHei"/>
                    <a:ea typeface="Microsoft YaHei"/>
                    <a:cs typeface="Microsoft YaHei"/>
                  </a:rPr>
                  <a:t>任何类型</a:t>
                </a:r>
                <a:r>
                  <a:rPr lang="zh-CN" sz="1800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>的数据。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470142" y="5245418"/>
                <a:ext cx="37484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F8399"/>
                    </a:solidFill>
                    <a:latin typeface="Microsoft YaHei"/>
                    <a:ea typeface="Microsoft YaHei"/>
                    <a:cs typeface="Microsoft YaHei"/>
                  </a:rPr>
                  <a:t>计算管线不画东西,所以不需要指定图元类型。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24256" y="5924550"/>
            <a:ext cx="11134344" cy="538734"/>
            <a:chOff x="524256" y="5924550"/>
            <a:chExt cx="11134344" cy="538734"/>
          </a:xfrm>
        </p:grpSpPr>
        <p:sp>
          <p:nvSpPr>
            <p:cNvPr id="52" name="Line 52"/>
            <p:cNvSpPr/>
            <p:nvPr/>
          </p:nvSpPr>
          <p:spPr>
            <a:xfrm>
              <a:off x="533400" y="59245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23335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4256" y="6111240"/>
              <a:ext cx="106311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 xml:space="preserve">着色器是 GPU 处理的一组指令,用类 Rust 的低级语言 </a:t>
              </a:r>
              <a:r>
                <a:rPr lang="en-US" sz="1800" b="1" dirty="0">
                  <a:solidFill>
                    <a:srgbClr val="38BDF8"/>
                  </a:solidFill>
                  <a:latin typeface="Microsoft YaHei"/>
                  <a:ea typeface="Microsoft YaHei"/>
                  <a:cs typeface="Microsoft YaHei"/>
                </a:rPr>
                <a:t>WGSL</a:t>
              </a:r>
              <a:r>
                <a:rPr lang="zh-CN" sz="180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(WebGPU Shading Language)编写。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4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50"/>
                            </p:stCondLst>
                            <p:childTnLst>
                              <p:par>
                                <p:cTn id="16" presetID="37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4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gradFill>
          <a:gsLst>
            <a:gs pos="0">
              <a:srgbClr val="070B14"/>
            </a:gs>
            <a:gs pos="100000">
              <a:srgbClr val="0C172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8253C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18160" y="746760"/>
            <a:ext cx="11140440" cy="849630"/>
            <a:chOff x="518160" y="746760"/>
            <a:chExt cx="11140440" cy="849630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746760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8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06 / 渲染管线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009650"/>
              <a:ext cx="78874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顶点阶段与片元阶段,以及写它们的 WGSL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953500" y="1219200"/>
              <a:ext cx="2705100" cy="19050"/>
            </a:xfrm>
            <a:prstGeom prst="rect">
              <a:avLst/>
            </a:prstGeom>
            <a:gradFill>
              <a:gsLst>
                <a:gs pos="0">
                  <a:srgbClr val="38BDF8"/>
                </a:gs>
                <a:gs pos="100000">
                  <a:srgbClr val="A78BFA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!!render-pipeline"/>
          <p:cNvGrpSpPr/>
          <p:nvPr/>
        </p:nvGrpSpPr>
        <p:grpSpPr>
          <a:xfrm>
            <a:off x="533400" y="1676400"/>
            <a:ext cx="4800600" cy="4800600"/>
            <a:chOff x="533400" y="1676400"/>
            <a:chExt cx="4800600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676400"/>
              <a:ext cx="4800600" cy="4800600"/>
            </a:xfrm>
            <a:prstGeom prst="roundRect">
              <a:avLst>
                <a:gd name="adj" fmla="val 1190"/>
              </a:avLst>
            </a:prstGeom>
            <a:solidFill>
              <a:srgbClr val="101B2C"/>
            </a:solidFill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1885950"/>
              <a:ext cx="457200" cy="457200"/>
            </a:xfrm>
            <a:prstGeom prst="hexagon">
              <a:avLst/>
            </a:prstGeom>
            <a:solidFill>
              <a:srgbClr val="0B3B5C"/>
            </a:solidFill>
            <a:ln w="14288">
              <a:solidFill>
                <a:srgbClr val="38BDF8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42975" y="2038350"/>
              <a:ext cx="123825" cy="152400"/>
            </a:xfrm>
            <a:custGeom>
              <a:avLst/>
              <a:gdLst/>
              <a:ahLst/>
              <a:cxnLst/>
              <a:rect l="l" t="t" r="r" b="b"/>
              <a:pathLst>
                <a:path w="123825" h="152400">
                  <a:moveTo>
                    <a:pt x="0" y="0"/>
                  </a:moveTo>
                  <a:lnTo>
                    <a:pt x="0" y="152400"/>
                  </a:lnTo>
                  <a:lnTo>
                    <a:pt x="123825" y="7620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38BDF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00556" y="1901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渲染管线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03604" y="219456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E96B4"/>
                  </a:solidFill>
                  <a:latin typeface="Consolas"/>
                  <a:ea typeface="Consolas"/>
                  <a:cs typeface="Consolas"/>
                </a:rPr>
                <a:t>render pipeline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62000" y="2667000"/>
              <a:ext cx="4343400" cy="1714500"/>
              <a:chOff x="762000" y="2667000"/>
              <a:chExt cx="4343400" cy="1714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2667000"/>
                <a:ext cx="43434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16304F"/>
              </a:solidFill>
              <a:ln w="14288">
                <a:solidFill>
                  <a:srgbClr val="3E6E9E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83361" y="2817971"/>
                <a:ext cx="122834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CFE0F2"/>
                    </a:solidFill>
                    <a:latin typeface="Consolas"/>
                    <a:ea typeface="Consolas"/>
                    <a:cs typeface="Consolas"/>
                  </a:rPr>
                  <a:t>vertex stage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84504" y="3128010"/>
                <a:ext cx="2991612" cy="1149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顶点着色器拿到喂给 GPU 的位置数据,在 3D</a:t>
                </a:r>
                <a:br/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空间里摆放一串顶点,可以施加旋转、平移、</a:t>
                </a:r>
                <a:br/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透视等效果;顶点随后被装配成三角形等图元</a:t>
                </a:r>
                <a:br/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——渲染图形的基本积木——再由 GPU 光栅化,</a:t>
                </a:r>
                <a:br/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算出每个图元覆盖画布上的哪些像素。</a:t>
                </a:r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2838450" y="4457700"/>
              <a:ext cx="190500" cy="285750"/>
            </a:xfrm>
            <a:prstGeom prst="downArrow">
              <a:avLst/>
            </a:prstGeom>
            <a:solidFill>
              <a:srgbClr val="38BDF8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62000" y="4819650"/>
              <a:ext cx="4343400" cy="1257300"/>
              <a:chOff x="762000" y="4819650"/>
              <a:chExt cx="4343400" cy="12573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62000" y="4819650"/>
                <a:ext cx="4343400" cy="1257300"/>
              </a:xfrm>
              <a:prstGeom prst="roundRect">
                <a:avLst>
                  <a:gd name="adj" fmla="val 6061"/>
                </a:avLst>
              </a:prstGeom>
              <a:solidFill>
                <a:srgbClr val="16304F"/>
              </a:solidFill>
              <a:ln w="14288">
                <a:solidFill>
                  <a:srgbClr val="3E6E9E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83361" y="4970621"/>
                <a:ext cx="147685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CFE0F2"/>
                    </a:solidFill>
                    <a:latin typeface="Consolas"/>
                    <a:ea typeface="Consolas"/>
                    <a:cs typeface="Consolas"/>
                  </a:rPr>
                  <a:t>fragment stage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4504" y="5280660"/>
                <a:ext cx="3296412" cy="691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片元着色器为上一阶段产出的图元所覆盖的每</a:t>
                </a:r>
                <a:br/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个像素计算颜色;这些计算常用到纹理形式的</a:t>
                </a:r>
                <a:br/>
                <a:r>
                  <a:rPr lang="zh-CN" sz="1200" dirty="0">
                    <a:solidFill>
                      <a:srgbClr val="A8C0DA"/>
                    </a:solidFill>
                    <a:latin typeface="Microsoft YaHei"/>
                    <a:ea typeface="Microsoft YaHei"/>
                    <a:cs typeface="Microsoft YaHei"/>
                  </a:rPr>
                  <a:t>图像输入,提供表面细节与虚拟光源的位置颜色。</a:t>
                </a: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755142" y="61788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两个阶段的入口函数名在管线描述符里指定。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00700" y="1676400"/>
            <a:ext cx="6057900" cy="4817078"/>
            <a:chOff x="5600700" y="1676400"/>
            <a:chExt cx="6057900" cy="4817078"/>
          </a:xfrm>
        </p:grpSpPr>
        <p:sp>
          <p:nvSpPr>
            <p:cNvPr id="23" name="Rectangle 23"/>
            <p:cNvSpPr/>
            <p:nvPr/>
          </p:nvSpPr>
          <p:spPr>
            <a:xfrm>
              <a:off x="5600700" y="1676400"/>
              <a:ext cx="6057900" cy="4800600"/>
            </a:xfrm>
            <a:prstGeom prst="roundRect">
              <a:avLst>
                <a:gd name="adj" fmla="val 1190"/>
              </a:avLst>
            </a:prstGeom>
            <a:solidFill>
              <a:srgbClr val="0B1120"/>
            </a:solidFill>
            <a:ln w="14288">
              <a:solidFill>
                <a:srgbClr val="22354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99404" y="1889760"/>
              <a:ext cx="29522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2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wgsl · 一个着色器模块里的两个阶段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905500" y="21717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rgbClr val="22354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99023" y="2357914"/>
              <a:ext cx="5060442" cy="41355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struct VertexOut 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@builtin(position) position : vec4f,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@location(0) color : vec4f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28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@vertex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fn vertex_main(@location(0) position: vec4f,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             @location(1) color: vec4f) -&gt; VertexOut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var output : VertexOut;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output.position = position;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output.color = color;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return output;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280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@fragment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fn fragment_main(fragData: VertexOut) -&gt; @location(0) vec4f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return fragData.color;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594985" y="6584156"/>
            <a:ext cx="58226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D7089"/>
                </a:solidFill>
                <a:latin typeface="Microsoft YaHei"/>
                <a:ea typeface="Microsoft YaHei"/>
                <a:cs typeface="Microsoft YaHei"/>
              </a:rPr>
              <a:t>着色器代码常放在模板字符串或 &lt;script&gt; 里读取;WGSL 的 mime 类型是 text/wgsl。</a:t>
            </a:r>
          </a:p>
        </p:txBody>
      </p: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4"/>
            </a:gs>
            <a:gs pos="100000">
              <a:srgbClr val="0C172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8253C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18160" y="746760"/>
            <a:ext cx="11140440" cy="849630"/>
            <a:chOff x="518160" y="746760"/>
            <a:chExt cx="11140440" cy="849630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746760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8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07 / 应用结构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009650"/>
              <a:ext cx="60257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一个 WebGPU 应用大致要走五步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048500" y="1219200"/>
              <a:ext cx="4610100" cy="19050"/>
            </a:xfrm>
            <a:prstGeom prst="rect">
              <a:avLst/>
            </a:prstGeom>
            <a:gradFill>
              <a:gsLst>
                <a:gs pos="0">
                  <a:srgbClr val="38BDF8"/>
                </a:gs>
                <a:gs pos="100000">
                  <a:srgbClr val="A78BFA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33400" y="1714500"/>
            <a:ext cx="11049000" cy="857250"/>
            <a:chOff x="533400" y="1714500"/>
            <a:chExt cx="11049000" cy="857250"/>
          </a:xfrm>
        </p:grpSpPr>
        <p:sp>
          <p:nvSpPr>
            <p:cNvPr id="7" name="Freeform 7"/>
            <p:cNvSpPr/>
            <p:nvPr/>
          </p:nvSpPr>
          <p:spPr>
            <a:xfrm>
              <a:off x="533400" y="1714500"/>
              <a:ext cx="2324100" cy="857250"/>
            </a:xfrm>
            <a:prstGeom prst="chevron">
              <a:avLst/>
            </a:prstGeom>
            <a:solidFill>
              <a:srgbClr val="0F2740"/>
            </a:solidFill>
            <a:ln w="14288">
              <a:solidFill>
                <a:srgbClr val="38BDF8">
                  <a:alpha val="50000"/>
                </a:srgb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00505" y="19278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1760" y="21840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着色器模块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714625" y="1714500"/>
              <a:ext cx="2324100" cy="857250"/>
            </a:xfrm>
            <a:prstGeom prst="chevron">
              <a:avLst/>
            </a:prstGeom>
            <a:solidFill>
              <a:srgbClr val="0F2740"/>
            </a:solidFill>
            <a:ln w="14288">
              <a:solidFill>
                <a:srgbClr val="38BDF8">
                  <a:alpha val="50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81730" y="19278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12986" y="21840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画布上下文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4895850" y="1714500"/>
              <a:ext cx="2324100" cy="857250"/>
            </a:xfrm>
            <a:prstGeom prst="chevron">
              <a:avLst/>
            </a:prstGeom>
            <a:solidFill>
              <a:srgbClr val="0F2740"/>
            </a:solidFill>
            <a:ln w="14288">
              <a:solidFill>
                <a:srgbClr val="38BDF8">
                  <a:alpha val="5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62955" y="19278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05272" y="2184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数据资源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077075" y="1714500"/>
              <a:ext cx="2324100" cy="857250"/>
            </a:xfrm>
            <a:prstGeom prst="chevron">
              <a:avLst/>
            </a:prstGeom>
            <a:solidFill>
              <a:srgbClr val="0F2740"/>
            </a:solidFill>
            <a:ln w="14288">
              <a:solidFill>
                <a:srgbClr val="38BDF8">
                  <a:alpha val="5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4180" y="19278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86497" y="2184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创建管线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9258300" y="1714500"/>
              <a:ext cx="2324100" cy="857250"/>
            </a:xfrm>
            <a:prstGeom prst="chevron">
              <a:avLst/>
            </a:prstGeom>
            <a:solidFill>
              <a:srgbClr val="0B3B5C"/>
            </a:solidFill>
            <a:ln w="19050">
              <a:solidFill>
                <a:srgbClr val="38BDF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25405" y="19278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87247" y="2184082"/>
              <a:ext cx="12662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跑一个 pass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4642" y="2902268"/>
            <a:ext cx="10110216" cy="1006983"/>
            <a:chOff x="564642" y="2902268"/>
            <a:chExt cx="10110216" cy="1006983"/>
          </a:xfrm>
        </p:grpSpPr>
        <p:sp>
          <p:nvSpPr>
            <p:cNvPr id="23" name="TextBox 23"/>
            <p:cNvSpPr txBox="1"/>
            <p:nvPr/>
          </p:nvSpPr>
          <p:spPr>
            <a:xfrm>
              <a:off x="564642" y="2902268"/>
              <a:ext cx="1385316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用 WGSL 写好着色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器代码,打包进一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个或多个 shader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module。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45867" y="2902268"/>
              <a:ext cx="1385316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拿到 &lt;canvas&gt; 的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webgpu 上下文并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配置它;纯计算的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程序不需要这步。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27092" y="2902268"/>
              <a:ext cx="1513904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要被管线处理的数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据,得先放进 GPU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buffer 或 texture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里才能被访问。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08317" y="2902268"/>
              <a:ext cx="1385316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用描述符写清数据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结构、绑定、着色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器与资源布局,再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据此创建管线。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89542" y="2902268"/>
              <a:ext cx="1385316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创建编码器、下达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命令、封装成命令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缓冲,最后提交到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设备的命令队列。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33400" y="4229100"/>
            <a:ext cx="11125200" cy="2095500"/>
            <a:chOff x="533400" y="4229100"/>
            <a:chExt cx="11125200" cy="2095500"/>
          </a:xfrm>
        </p:grpSpPr>
        <p:sp>
          <p:nvSpPr>
            <p:cNvPr id="29" name="Rectangle 29"/>
            <p:cNvSpPr/>
            <p:nvPr/>
          </p:nvSpPr>
          <p:spPr>
            <a:xfrm>
              <a:off x="533400" y="4229100"/>
              <a:ext cx="11087100" cy="2095500"/>
            </a:xfrm>
            <a:prstGeom prst="roundRect">
              <a:avLst>
                <a:gd name="adj" fmla="val 2727"/>
              </a:avLst>
            </a:prstGeom>
            <a:solidFill>
              <a:srgbClr val="101B2C"/>
            </a:solidFill>
            <a:ln w="14288">
              <a:solidFill>
                <a:srgbClr val="22354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2856" y="4434840"/>
              <a:ext cx="4210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第 05 步展开:</a:t>
              </a:r>
              <a:r>
                <a:rPr lang="zh-CN" sz="1800" b="1" dirty="0">
                  <a:solidFill>
                    <a:srgbClr val="38BDF8"/>
                  </a:solidFill>
                  <a:latin typeface="Microsoft YaHei"/>
                  <a:ea typeface="Microsoft YaHei"/>
                  <a:cs typeface="Microsoft YaHei"/>
                </a:rPr>
                <a:t>一个 pass 的五个子步骤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857750"/>
              <a:ext cx="2019300" cy="857250"/>
            </a:xfrm>
            <a:prstGeom prst="roundRect">
              <a:avLst>
                <a:gd name="adj" fmla="val 8889"/>
              </a:avLst>
            </a:prstGeom>
            <a:solidFill>
              <a:srgbClr val="16304F"/>
            </a:solidFill>
            <a:ln w="14288">
              <a:solidFill>
                <a:srgbClr val="3E6E9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8469" y="50711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command encoder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0112" y="5340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创建命令编码器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809875" y="4857750"/>
              <a:ext cx="2019300" cy="857250"/>
            </a:xfrm>
            <a:prstGeom prst="roundRect">
              <a:avLst>
                <a:gd name="adj" fmla="val 8889"/>
              </a:avLst>
            </a:prstGeom>
            <a:solidFill>
              <a:srgbClr val="16304F"/>
            </a:solidFill>
            <a:ln w="14288">
              <a:solidFill>
                <a:srgbClr val="3E6E9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300527" y="5071110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pass encoder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03893" y="5340668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创建 pass 编码器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086350" y="4857750"/>
              <a:ext cx="2019300" cy="857250"/>
            </a:xfrm>
            <a:prstGeom prst="roundRect">
              <a:avLst>
                <a:gd name="adj" fmla="val 8889"/>
              </a:avLst>
            </a:prstGeom>
            <a:solidFill>
              <a:srgbClr val="16304F"/>
            </a:solidFill>
            <a:ln w="14288">
              <a:solidFill>
                <a:srgbClr val="3E6E9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02198" y="5071110"/>
              <a:ext cx="787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commands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43931" y="5340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下达绘制命令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362825" y="4857750"/>
              <a:ext cx="2019300" cy="857250"/>
            </a:xfrm>
            <a:prstGeom prst="roundRect">
              <a:avLst>
                <a:gd name="adj" fmla="val 8889"/>
              </a:avLst>
            </a:prstGeom>
            <a:solidFill>
              <a:srgbClr val="16304F"/>
            </a:solidFill>
            <a:ln w="14288">
              <a:solidFill>
                <a:srgbClr val="3E6E9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32319" y="507111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command buffer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20406" y="5340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封装命令缓冲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639300" y="4857750"/>
              <a:ext cx="2019300" cy="857250"/>
            </a:xfrm>
            <a:prstGeom prst="roundRect">
              <a:avLst>
                <a:gd name="adj" fmla="val 8889"/>
              </a:avLst>
            </a:prstGeom>
            <a:solidFill>
              <a:srgbClr val="16304F"/>
            </a:solidFill>
            <a:ln w="14288">
              <a:solidFill>
                <a:srgbClr val="3E6E9E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024948" y="5071110"/>
              <a:ext cx="1248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queue.submit()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66833" y="5340668"/>
              <a:ext cx="964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提交给 GPU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2581275" y="5105400"/>
              <a:ext cx="190500" cy="171450"/>
            </a:xfrm>
            <a:prstGeom prst="rightArrow">
              <a:avLst/>
            </a:prstGeom>
            <a:solidFill>
              <a:srgbClr val="3E6E9E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4857750" y="5105400"/>
              <a:ext cx="190500" cy="171450"/>
            </a:xfrm>
            <a:prstGeom prst="rightArrow">
              <a:avLst/>
            </a:prstGeom>
            <a:solidFill>
              <a:srgbClr val="3E6E9E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134225" y="5105400"/>
              <a:ext cx="190500" cy="171450"/>
            </a:xfrm>
            <a:prstGeom prst="rightArrow">
              <a:avLst/>
            </a:prstGeom>
            <a:solidFill>
              <a:srgbClr val="3E6E9E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410700" y="5105400"/>
              <a:ext cx="190500" cy="171450"/>
            </a:xfrm>
            <a:prstGeom prst="rightArrow">
              <a:avLst/>
            </a:prstGeom>
            <a:solidFill>
              <a:srgbClr val="3E6E9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5142" y="5950268"/>
              <a:ext cx="5565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基础 demo 只有一条管线;复杂应用通常会为不同用途准备多条管线。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3" presetID="55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gradFill>
          <a:gsLst>
            <a:gs pos="0">
              <a:srgbClr val="070B14"/>
            </a:gs>
            <a:gs pos="100000">
              <a:srgbClr val="0C172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8253C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18160" y="746760"/>
            <a:ext cx="11140440" cy="849630"/>
            <a:chOff x="518160" y="746760"/>
            <a:chExt cx="11140440" cy="849630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7467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8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08 / 读代码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009650"/>
              <a:ext cx="49585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一趟渲染 pass,逐行读下来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477000" y="1219200"/>
              <a:ext cx="5181600" cy="19050"/>
            </a:xfrm>
            <a:prstGeom prst="rect">
              <a:avLst/>
            </a:prstGeom>
            <a:gradFill>
              <a:gsLst>
                <a:gs pos="0">
                  <a:srgbClr val="38BDF8"/>
                </a:gs>
                <a:gs pos="100000">
                  <a:srgbClr val="A78BFA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!!code-panel"/>
          <p:cNvGrpSpPr/>
          <p:nvPr/>
        </p:nvGrpSpPr>
        <p:grpSpPr>
          <a:xfrm>
            <a:off x="533400" y="1676400"/>
            <a:ext cx="7086600" cy="4838700"/>
            <a:chOff x="533400" y="1676400"/>
            <a:chExt cx="7086600" cy="4838700"/>
          </a:xfrm>
        </p:grpSpPr>
        <p:sp>
          <p:nvSpPr>
            <p:cNvPr id="7" name="Rectangle 7"/>
            <p:cNvSpPr/>
            <p:nvPr/>
          </p:nvSpPr>
          <p:spPr>
            <a:xfrm>
              <a:off x="533400" y="1676400"/>
              <a:ext cx="7086600" cy="4838700"/>
            </a:xfrm>
            <a:prstGeom prst="roundRect">
              <a:avLst>
                <a:gd name="adj" fmla="val 1181"/>
              </a:avLst>
            </a:prstGeom>
            <a:solidFill>
              <a:srgbClr val="0B1120"/>
            </a:solidFill>
            <a:ln w="14288">
              <a:solidFill>
                <a:srgbClr val="22354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4004" y="1889760"/>
              <a:ext cx="25807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2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js · 基础渲染 demo 的渲染流程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00100" y="2095500"/>
              <a:ext cx="6400800" cy="9525"/>
            </a:xfrm>
            <a:custGeom>
              <a:avLst/>
              <a:gdLst/>
              <a:ahLst/>
              <a:cxnLst/>
              <a:rect l="l" t="t" r="r" b="b"/>
              <a:pathLst>
                <a:path w="6400800" h="9525">
                  <a:moveTo>
                    <a:pt x="0" y="0"/>
                  </a:moveTo>
                  <a:lnTo>
                    <a:pt x="6400800" y="0"/>
                  </a:lnTo>
                </a:path>
              </a:pathLst>
            </a:custGeom>
            <a:noFill/>
            <a:ln w="9525">
              <a:solidFill>
                <a:srgbClr val="22354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3623" y="2072164"/>
              <a:ext cx="4832858" cy="436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const commandEncoder = device.createCommandEncoder();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const clearColor = { r: 0.0, g: 0.5, b: 1.0, a: 1.0 };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const renderPassDescriptor = 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colorAttachments: [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  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    clearValue: clearColor,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    loadOp: "clear",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    storeOp: "store",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    view: context.getCurrentTexture().createView(),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  },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],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const passEncoder =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commandEncoder.beginRenderPass(renderPassDescriptor);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passEncoder.setPipeline(renderPipeline);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passEncoder.setVertexBuffer(0, vertexBuffer);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passEncoder.draw(3);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passEncoder.end();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device.queue.submit([commandEncoder.finish()]);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286625" y="3419475"/>
              <a:ext cx="209550" cy="209550"/>
            </a:xfrm>
            <a:prstGeom prst="ellipse">
              <a:avLst/>
            </a:prstGeom>
            <a:solidFill>
              <a:srgbClr val="0B3B5C"/>
            </a:solidFill>
            <a:ln w="14288">
              <a:solidFill>
                <a:srgbClr val="38BDF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47194" y="34585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7FD4FA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496175" y="352425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286625" y="5248275"/>
              <a:ext cx="209550" cy="209550"/>
            </a:xfrm>
            <a:prstGeom prst="ellipse">
              <a:avLst/>
            </a:prstGeom>
            <a:solidFill>
              <a:srgbClr val="0B3B5C"/>
            </a:solidFill>
            <a:ln w="14288">
              <a:solidFill>
                <a:srgbClr val="38BDF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47194" y="52873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7FD4FA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496175" y="535305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286625" y="5705475"/>
              <a:ext cx="209550" cy="209550"/>
            </a:xfrm>
            <a:prstGeom prst="ellipse">
              <a:avLst/>
            </a:prstGeom>
            <a:solidFill>
              <a:srgbClr val="0B3B5C"/>
            </a:solidFill>
            <a:ln w="14288">
              <a:solidFill>
                <a:srgbClr val="38BDF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47194" y="57445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7FD4FA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496175" y="581025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286625" y="6162675"/>
              <a:ext cx="209550" cy="209550"/>
            </a:xfrm>
            <a:prstGeom prst="ellipse">
              <a:avLst/>
            </a:prstGeom>
            <a:solidFill>
              <a:srgbClr val="0B3B5C"/>
            </a:solidFill>
            <a:ln w="14288">
              <a:solidFill>
                <a:srgbClr val="38BDF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47194" y="62017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7FD4FA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496175" y="626745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924800" y="1771650"/>
            <a:ext cx="3733800" cy="4785551"/>
            <a:chOff x="7924800" y="1771650"/>
            <a:chExt cx="3733800" cy="4785551"/>
          </a:xfrm>
        </p:grpSpPr>
        <p:sp>
          <p:nvSpPr>
            <p:cNvPr id="24" name="Rectangle 24"/>
            <p:cNvSpPr/>
            <p:nvPr/>
          </p:nvSpPr>
          <p:spPr>
            <a:xfrm>
              <a:off x="7924800" y="1771650"/>
              <a:ext cx="3733800" cy="1162050"/>
            </a:xfrm>
            <a:prstGeom prst="roundRect">
              <a:avLst>
                <a:gd name="adj" fmla="val 4918"/>
              </a:avLst>
            </a:prstGeom>
            <a:solidFill>
              <a:srgbClr val="101B2C"/>
            </a:solidFill>
            <a:ln w="14288">
              <a:solidFill>
                <a:srgbClr val="22354F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048625" y="1876425"/>
              <a:ext cx="209550" cy="209550"/>
            </a:xfrm>
            <a:prstGeom prst="ellipse">
              <a:avLst/>
            </a:prstGeom>
            <a:solidFill>
              <a:srgbClr val="132238"/>
            </a:solidFill>
            <a:ln w="14288">
              <a:solidFill>
                <a:srgbClr val="3E6E9E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09194" y="19154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7FD4FA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5142" y="2025968"/>
              <a:ext cx="2474024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视图会先被清成 clearColor,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三角形背后那块纯蓝就是这么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来的;storeOp 为 "store" 表示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这一趟的结果要存下来。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924800" y="3124200"/>
              <a:ext cx="3733800" cy="1162050"/>
            </a:xfrm>
            <a:prstGeom prst="roundRect">
              <a:avLst>
                <a:gd name="adj" fmla="val 4918"/>
              </a:avLst>
            </a:prstGeom>
            <a:solidFill>
              <a:srgbClr val="101B2C"/>
            </a:solidFill>
            <a:ln w="14288">
              <a:solidFill>
                <a:srgbClr val="22354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048625" y="3228975"/>
              <a:ext cx="209550" cy="209550"/>
            </a:xfrm>
            <a:prstGeom prst="ellipse">
              <a:avLst/>
            </a:prstGeom>
            <a:solidFill>
              <a:srgbClr val="132238"/>
            </a:solidFill>
            <a:ln w="14288">
              <a:solidFill>
                <a:srgbClr val="3E6E9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09194" y="3268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7FD4FA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5142" y="3378518"/>
              <a:ext cx="2431161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setPipeline 指定这一趟用哪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条管线;setVertexBuffer 的第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一个参数是槽位,对应顶点缓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冲布局数组里的下标。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924800" y="5524500"/>
              <a:ext cx="3733800" cy="990600"/>
            </a:xfrm>
            <a:prstGeom prst="roundRect">
              <a:avLst>
                <a:gd name="adj" fmla="val 5769"/>
              </a:avLst>
            </a:prstGeom>
            <a:solidFill>
              <a:srgbClr val="101B2C"/>
            </a:solidFill>
            <a:ln w="14288">
              <a:solidFill>
                <a:srgbClr val="22354F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8048625" y="5629275"/>
              <a:ext cx="209550" cy="209550"/>
            </a:xfrm>
            <a:prstGeom prst="ellipse">
              <a:avLst/>
            </a:prstGeom>
            <a:solidFill>
              <a:srgbClr val="132238"/>
            </a:solidFill>
            <a:ln w="14288">
              <a:solidFill>
                <a:srgbClr val="3E6E9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09194" y="56683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7FD4FA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75142" y="5797868"/>
              <a:ext cx="252545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end() 结束命令列表,finish()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封装成 command buffer,再由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submit() 交给设备的命令队列。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924800" y="4476750"/>
              <a:ext cx="3733800" cy="857250"/>
            </a:xfrm>
            <a:prstGeom prst="wedgeRectCallout">
              <a:avLst>
                <a:gd name="adj1" fmla="val -55612"/>
                <a:gd name="adj2" fmla="val 105556"/>
              </a:avLst>
            </a:prstGeom>
            <a:solidFill>
              <a:srgbClr val="0B3B5C"/>
            </a:solidFill>
            <a:ln w="14288">
              <a:solidFill>
                <a:srgbClr val="38BDF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048625" y="4581525"/>
              <a:ext cx="209550" cy="209550"/>
            </a:xfrm>
            <a:prstGeom prst="ellipse">
              <a:avLst/>
            </a:prstGeom>
            <a:solidFill>
              <a:srgbClr val="132238"/>
            </a:solidFill>
            <a:ln w="14288">
              <a:solidFill>
                <a:srgbClr val="7FD4F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09194" y="46205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7FD4FA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5142" y="4654868"/>
              <a:ext cx="256832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CFE0F2"/>
                  </a:solidFill>
                  <a:latin typeface="Microsoft YaHei"/>
                  <a:ea typeface="Microsoft YaHei"/>
                  <a:cs typeface="Microsoft YaHei"/>
                </a:rPr>
                <a:t>vertexBuffer 里放着三个顶点的</a:t>
              </a:r>
              <a:br/>
              <a:r>
                <a:rPr lang="zh-CN" sz="1350" dirty="0">
                  <a:solidFill>
                    <a:srgbClr val="CFE0F2"/>
                  </a:solidFill>
                  <a:latin typeface="Microsoft YaHei"/>
                  <a:ea typeface="Microsoft YaHei"/>
                  <a:cs typeface="Microsoft YaHei"/>
                </a:rPr>
                <a:t xml:space="preserve">数据,所以这里是 </a:t>
              </a:r>
              <a:r>
                <a:rPr lang="en-US" sz="1350" b="1" dirty="0">
                  <a:solidFill>
                    <a:srgbClr val="38BDF8"/>
                  </a:solidFill>
                  <a:latin typeface="Microsoft YaHei"/>
                  <a:ea typeface="Microsoft YaHei"/>
                  <a:cs typeface="Microsoft YaHei"/>
                </a:rPr>
                <a:t>draw(3)</a:t>
              </a:r>
              <a:r>
                <a:rPr lang="zh-CN" sz="1350" dirty="0">
                  <a:solidFill>
                    <a:srgbClr val="CFE0F2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 decel="100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8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0" accel="100000" fill="hold">
                                          <p:stCondLst>
                                            <p:cond delay="48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0" accel="100000" fill="hold">
                                          <p:stCondLst>
                                            <p:cond delay="48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gradFill>
          <a:gsLst>
            <a:gs pos="0">
              <a:srgbClr val="070B14"/>
            </a:gs>
            <a:gs pos="100000">
              <a:srgbClr val="0C172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8253C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18160" y="746760"/>
            <a:ext cx="11140440" cy="849630"/>
            <a:chOff x="518160" y="746760"/>
            <a:chExt cx="11140440" cy="849630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746760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8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09 / 计算管线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009650"/>
              <a:ext cx="632237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算完的结果,怎么回到 JavaScript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0" y="1219200"/>
              <a:ext cx="4038600" cy="19050"/>
            </a:xfrm>
            <a:prstGeom prst="rect">
              <a:avLst/>
            </a:prstGeom>
            <a:gradFill>
              <a:gsLst>
                <a:gs pos="0">
                  <a:srgbClr val="A78BFA"/>
                </a:gs>
                <a:gs pos="100000">
                  <a:srgbClr val="38BDF8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!!code-panel"/>
          <p:cNvGrpSpPr/>
          <p:nvPr/>
        </p:nvGrpSpPr>
        <p:grpSpPr>
          <a:xfrm>
            <a:off x="533400" y="1676400"/>
            <a:ext cx="7086600" cy="4838700"/>
            <a:chOff x="533400" y="1676400"/>
            <a:chExt cx="7086600" cy="4838700"/>
          </a:xfrm>
        </p:grpSpPr>
        <p:sp>
          <p:nvSpPr>
            <p:cNvPr id="7" name="Rectangle 7"/>
            <p:cNvSpPr/>
            <p:nvPr/>
          </p:nvSpPr>
          <p:spPr>
            <a:xfrm>
              <a:off x="533400" y="1676400"/>
              <a:ext cx="7086600" cy="4838700"/>
            </a:xfrm>
            <a:prstGeom prst="roundRect">
              <a:avLst>
                <a:gd name="adj" fmla="val 1181"/>
              </a:avLst>
            </a:prstGeom>
            <a:solidFill>
              <a:srgbClr val="0B1120"/>
            </a:solidFill>
            <a:ln w="14288">
              <a:solidFill>
                <a:srgbClr val="22354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4004" y="1889760"/>
              <a:ext cx="3517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2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js · 基础计算 demo 的两个 buffer 与读回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00100" y="2095500"/>
              <a:ext cx="6400800" cy="9525"/>
            </a:xfrm>
            <a:custGeom>
              <a:avLst/>
              <a:gdLst/>
              <a:ahLst/>
              <a:cxnLst/>
              <a:rect l="l" t="t" r="r" b="b"/>
              <a:pathLst>
                <a:path w="6400800" h="9525">
                  <a:moveTo>
                    <a:pt x="0" y="0"/>
                  </a:moveTo>
                  <a:lnTo>
                    <a:pt x="6400800" y="0"/>
                  </a:lnTo>
                </a:path>
              </a:pathLst>
            </a:custGeom>
            <a:noFill/>
            <a:ln w="9525">
              <a:solidFill>
                <a:srgbClr val="22354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3623" y="2262664"/>
              <a:ext cx="5970778" cy="3821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const output = device.createBuffer({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size: BUFFER_SIZE,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usage: GPUBufferUsage.STORAGE | GPUBufferUsage.COPY_SRC,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});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const stagingBuffer = device.createBuffer({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size: BUFFER_SIZE,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usage: GPUBufferUsage.MAP_READ | GPUBufferUsage.COPY_DST,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});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commandEncoder.copyBufferToBuffer(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 xml:space="preserve">  output, 0, stagingBuffer, 0, BUFFER_SIZE);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device.queue.submit([commandEncoder.finish()]);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await stagingBuffer.mapAsync(GPUMapMode.READ, 0, BUFFER_SIZE);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const copyArrayBuffer = stagingBuffer.getMappedRange(0, BUFFER_SIZE);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const data = copyArrayBuffer.slice();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stagingBuffer.unmap();</a:t>
              </a:r>
              <a:br/>
              <a:r>
                <a:rPr lang="en-US" sz="1280" dirty="0">
                  <a:solidFill>
                    <a:srgbClr val="BFD6EE"/>
                  </a:solidFill>
                  <a:latin typeface="Consolas"/>
                  <a:ea typeface="Consolas"/>
                  <a:cs typeface="Consolas"/>
                </a:rPr>
                <a:t>console.log(new Float32Array(data));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3242" y="6216968"/>
              <a:ext cx="6348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GPU buffer 紧贴 GPU 核心存放,浏览器这样的主机进程读不到,所以要中转。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17942" y="1809750"/>
            <a:ext cx="3740658" cy="4576001"/>
            <a:chOff x="7917942" y="1809750"/>
            <a:chExt cx="3740658" cy="4576001"/>
          </a:xfrm>
        </p:grpSpPr>
        <p:sp>
          <p:nvSpPr>
            <p:cNvPr id="13" name="Rectangle 13"/>
            <p:cNvSpPr/>
            <p:nvPr/>
          </p:nvSpPr>
          <p:spPr>
            <a:xfrm>
              <a:off x="7924800" y="1809750"/>
              <a:ext cx="3733800" cy="685800"/>
            </a:xfrm>
            <a:prstGeom prst="roundRect">
              <a:avLst>
                <a:gd name="adj" fmla="val 11111"/>
              </a:avLst>
            </a:prstGeom>
            <a:solidFill>
              <a:srgbClr val="241A3B"/>
            </a:solidFill>
            <a:ln w="14288">
              <a:solidFill>
                <a:srgbClr val="6D5AA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46161" y="1941671"/>
              <a:ext cx="14768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D9CFF5"/>
                  </a:solidFill>
                  <a:latin typeface="Consolas"/>
                  <a:ea typeface="Consolas"/>
                  <a:cs typeface="Consolas"/>
                </a:rPr>
                <a:t>compute shader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7304" y="22136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按工作组数量并行计算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924800" y="2876550"/>
              <a:ext cx="3733800" cy="685800"/>
            </a:xfrm>
            <a:prstGeom prst="roundRect">
              <a:avLst>
                <a:gd name="adj" fmla="val 11111"/>
              </a:avLst>
            </a:prstGeom>
            <a:solidFill>
              <a:srgbClr val="1A1B36"/>
            </a:solidFill>
            <a:ln w="14288">
              <a:solidFill>
                <a:srgbClr val="4B4A8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6161" y="3008471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FC9F2"/>
                  </a:solidFill>
                  <a:latin typeface="Consolas"/>
                  <a:ea typeface="Consolas"/>
                  <a:cs typeface="Consolas"/>
                </a:rPr>
                <a:t>output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7304" y="3280410"/>
              <a:ext cx="16069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storage · COPY_SRC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24800" y="3943350"/>
              <a:ext cx="3733800" cy="685800"/>
            </a:xfrm>
            <a:prstGeom prst="roundRect">
              <a:avLst>
                <a:gd name="adj" fmla="val 11111"/>
              </a:avLst>
            </a:prstGeom>
            <a:solidFill>
              <a:srgbClr val="1A1B36"/>
            </a:solidFill>
            <a:ln w="14288">
              <a:solidFill>
                <a:srgbClr val="4B4A8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46161" y="4075271"/>
              <a:ext cx="13392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FC9F2"/>
                  </a:solidFill>
                  <a:latin typeface="Consolas"/>
                  <a:ea typeface="Consolas"/>
                  <a:cs typeface="Consolas"/>
                </a:rPr>
                <a:t>stagingBuffer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7304" y="4347210"/>
              <a:ext cx="1778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MAP_READ · COPY_DST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24800" y="5010150"/>
              <a:ext cx="3733800" cy="685800"/>
            </a:xfrm>
            <a:prstGeom prst="roundRect">
              <a:avLst>
                <a:gd name="adj" fmla="val 11111"/>
              </a:avLst>
            </a:prstGeom>
            <a:solidFill>
              <a:srgbClr val="16304F"/>
            </a:solidFill>
            <a:ln w="14288">
              <a:solidFill>
                <a:srgbClr val="3E6E9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46161" y="5142071"/>
              <a:ext cx="10294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FE0F2"/>
                  </a:solidFill>
                  <a:latin typeface="Consolas"/>
                  <a:ea typeface="Consolas"/>
                  <a:cs typeface="Consolas"/>
                </a:rPr>
                <a:t>JavaScript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7304" y="5414010"/>
              <a:ext cx="1931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new Float32Array(data)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210550" y="2552700"/>
              <a:ext cx="190500" cy="266700"/>
            </a:xfrm>
            <a:prstGeom prst="downArrow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210550" y="3619500"/>
              <a:ext cx="190500" cy="266700"/>
            </a:xfrm>
            <a:prstGeom prst="downArrow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210550" y="4686300"/>
              <a:ext cx="190500" cy="266700"/>
            </a:xfrm>
            <a:prstGeom prst="downArrow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47354" y="2727960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DA2C0"/>
                  </a:solidFill>
                  <a:latin typeface="Consolas"/>
                  <a:ea typeface="Microsoft YaHei"/>
                  <a:cs typeface="Consolas"/>
                </a:rPr>
                <a:t>写回 buffer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47354" y="3794760"/>
              <a:ext cx="1626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DA2C0"/>
                  </a:solidFill>
                  <a:latin typeface="Consolas"/>
                  <a:ea typeface="Consolas"/>
                  <a:cs typeface="Consolas"/>
                </a:rPr>
                <a:t>copyBufferToBuffer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47354" y="4861560"/>
              <a:ext cx="2234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DA2C0"/>
                  </a:solidFill>
                  <a:latin typeface="Consolas"/>
                  <a:ea typeface="Consolas"/>
                  <a:cs typeface="Consolas"/>
                </a:rPr>
                <a:t>mapAsync + getMappedRange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17942" y="5874068"/>
              <a:ext cx="23797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 xml:space="preserve">读完记得 </a:t>
              </a:r>
              <a:r>
                <a:rPr lang="en-US" sz="1350" dirty="0">
                  <a:solidFill>
                    <a:srgbClr val="A78BFA"/>
                  </a:solidFill>
                  <a:latin typeface="Consolas"/>
                  <a:ea typeface="Consolas"/>
                  <a:cs typeface="Consolas"/>
                </a:rPr>
                <a:t>unmap()</a:t>
              </a:r>
              <a:r>
                <a:rPr lang="en-US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,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把 staging buffer 交还回去。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4"/>
            </a:gs>
            <a:gs pos="100000">
              <a:srgbClr val="0C172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8253C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18160" y="746760"/>
            <a:ext cx="11140440" cy="849630"/>
            <a:chOff x="518160" y="746760"/>
            <a:chExt cx="11140440" cy="849630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746760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8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10 / 错误处理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009650"/>
              <a:ext cx="59177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错误会传染,所以要圈作用域来抓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810500" y="1219200"/>
              <a:ext cx="3848100" cy="19050"/>
            </a:xfrm>
            <a:prstGeom prst="rect">
              <a:avLst/>
            </a:prstGeom>
            <a:gradFill>
              <a:gsLst>
                <a:gs pos="0">
                  <a:srgbClr val="F87171"/>
                </a:gs>
                <a:gs pos="100000">
                  <a:srgbClr val="38BDF8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33400" y="1676400"/>
            <a:ext cx="5410200" cy="2667000"/>
            <a:chOff x="533400" y="1676400"/>
            <a:chExt cx="5410200" cy="2667000"/>
          </a:xfrm>
        </p:grpSpPr>
        <p:sp>
          <p:nvSpPr>
            <p:cNvPr id="7" name="Rectangle 7"/>
            <p:cNvSpPr/>
            <p:nvPr/>
          </p:nvSpPr>
          <p:spPr>
            <a:xfrm>
              <a:off x="533400" y="1676400"/>
              <a:ext cx="5410200" cy="2667000"/>
            </a:xfrm>
            <a:prstGeom prst="roundRect">
              <a:avLst>
                <a:gd name="adj" fmla="val 2143"/>
              </a:avLst>
            </a:prstGeom>
            <a:solidFill>
              <a:srgbClr val="101B2C"/>
            </a:solidFill>
            <a:ln w="14288">
              <a:solidFill>
                <a:srgbClr val="F87171">
                  <a:alpha val="50000"/>
                </a:srgbClr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92956" y="1918494"/>
              <a:ext cx="185737" cy="154780"/>
              <a:chOff x="792956" y="1918494"/>
              <a:chExt cx="185737" cy="15478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54868" y="1918494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41275"/>
                    </a:move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cubicBezTo>
                      <a:pt x="48053" y="0"/>
                      <a:pt x="61912" y="13860"/>
                      <a:pt x="61912" y="30956"/>
                    </a:cubicBezTo>
                    <a:lnTo>
                      <a:pt x="61912" y="41275"/>
                    </a:lnTo>
                  </a:path>
                </a:pathLst>
              </a:custGeom>
              <a:noFill/>
              <a:ln w="20637">
                <a:solidFill>
                  <a:srgbClr val="F8717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34231" y="1959768"/>
                <a:ext cx="103187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13506">
                    <a:moveTo>
                      <a:pt x="10319" y="0"/>
                    </a:moveTo>
                    <a:lnTo>
                      <a:pt x="92868" y="0"/>
                    </a:lnTo>
                    <a:cubicBezTo>
                      <a:pt x="99014" y="9210"/>
                      <a:pt x="102578" y="19900"/>
                      <a:pt x="103187" y="30956"/>
                    </a:cubicBezTo>
                    <a:lnTo>
                      <a:pt x="103187" y="61912"/>
                    </a:lnTo>
                    <a:cubicBezTo>
                      <a:pt x="103187" y="90407"/>
                      <a:pt x="80088" y="113506"/>
                      <a:pt x="51594" y="113506"/>
                    </a:cubicBezTo>
                    <a:cubicBezTo>
                      <a:pt x="23099" y="113506"/>
                      <a:pt x="0" y="90407"/>
                      <a:pt x="0" y="61912"/>
                    </a:cubicBezTo>
                    <a:lnTo>
                      <a:pt x="0" y="30956"/>
                    </a:lnTo>
                    <a:cubicBezTo>
                      <a:pt x="610" y="19900"/>
                      <a:pt x="4173" y="9210"/>
                      <a:pt x="10319" y="0"/>
                    </a:cubicBezTo>
                  </a:path>
                </a:pathLst>
              </a:custGeom>
              <a:noFill/>
              <a:ln w="20637">
                <a:solidFill>
                  <a:srgbClr val="F8717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92956" y="2001043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F8717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37418" y="2001043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F8717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5825" y="2011362"/>
                <a:ext cx="95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1912">
                    <a:moveTo>
                      <a:pt x="0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F8717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3275" y="2042318"/>
                <a:ext cx="34568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34568" h="20637">
                    <a:moveTo>
                      <a:pt x="0" y="20637"/>
                    </a:moveTo>
                    <a:lnTo>
                      <a:pt x="34568" y="0"/>
                    </a:lnTo>
                  </a:path>
                </a:pathLst>
              </a:custGeom>
              <a:noFill/>
              <a:ln w="20637">
                <a:solidFill>
                  <a:srgbClr val="F8717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33807" y="2042318"/>
                <a:ext cx="34568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34568" h="20637">
                    <a:moveTo>
                      <a:pt x="34568" y="20637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F8717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3275" y="1939131"/>
                <a:ext cx="3869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8695" h="24765">
                    <a:moveTo>
                      <a:pt x="0" y="0"/>
                    </a:moveTo>
                    <a:lnTo>
                      <a:pt x="38695" y="24765"/>
                    </a:lnTo>
                  </a:path>
                </a:pathLst>
              </a:custGeom>
              <a:noFill/>
              <a:ln w="20637">
                <a:solidFill>
                  <a:srgbClr val="F8717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29679" y="1939131"/>
                <a:ext cx="3869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8695" h="24765">
                    <a:moveTo>
                      <a:pt x="38695" y="0"/>
                    </a:moveTo>
                    <a:lnTo>
                      <a:pt x="0" y="24765"/>
                    </a:lnTo>
                  </a:path>
                </a:pathLst>
              </a:custGeom>
              <a:noFill/>
              <a:ln w="20637">
                <a:solidFill>
                  <a:srgbClr val="F8717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14806" y="1872615"/>
              <a:ext cx="19943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错误是“传染性”的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62000" y="2362200"/>
              <a:ext cx="4991100" cy="609600"/>
              <a:chOff x="762000" y="2362200"/>
              <a:chExt cx="4991100" cy="6096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2362200"/>
                <a:ext cx="140970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2B1A1F"/>
              </a:solidFill>
              <a:ln w="14288">
                <a:solidFill>
                  <a:srgbClr val="8A4247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38186" y="2491264"/>
                <a:ext cx="45732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dirty="0">
                    <a:solidFill>
                      <a:srgbClr val="F3B7B7"/>
                    </a:solidFill>
                    <a:latin typeface="Consolas"/>
                    <a:ea typeface="Consolas"/>
                    <a:cs typeface="Consolas"/>
                  </a:rPr>
                  <a:t>call A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56894" y="27089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C68A8A"/>
                    </a:solidFill>
                    <a:latin typeface="Microsoft YaHei"/>
                    <a:ea typeface="Microsoft YaHei"/>
                    <a:cs typeface="Microsoft YaHei"/>
                  </a:rPr>
                  <a:t>被判定非法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2552700" y="2362200"/>
                <a:ext cx="140970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2B1A1F"/>
              </a:solidFill>
              <a:ln w="14288">
                <a:solidFill>
                  <a:srgbClr val="8A4247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028886" y="2491264"/>
                <a:ext cx="45732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dirty="0">
                    <a:solidFill>
                      <a:srgbClr val="F3B7B7"/>
                    </a:solidFill>
                    <a:latin typeface="Consolas"/>
                    <a:ea typeface="Consolas"/>
                    <a:cs typeface="Consolas"/>
                  </a:rPr>
                  <a:t>call B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41244" y="2708910"/>
                <a:ext cx="12326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C68A8A"/>
                    </a:solidFill>
                    <a:latin typeface="Microsoft YaHei"/>
                    <a:ea typeface="Microsoft YaHei"/>
                    <a:cs typeface="Microsoft YaHei"/>
                  </a:rPr>
                  <a:t>用了 A 的返回值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4343400" y="2362200"/>
                <a:ext cx="140970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2B1A1F"/>
              </a:solidFill>
              <a:ln w="14288">
                <a:solidFill>
                  <a:srgbClr val="8A4247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819586" y="2491264"/>
                <a:ext cx="45732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dirty="0">
                    <a:solidFill>
                      <a:srgbClr val="F3B7B7"/>
                    </a:solidFill>
                    <a:latin typeface="Consolas"/>
                    <a:ea typeface="Consolas"/>
                    <a:cs typeface="Consolas"/>
                  </a:rPr>
                  <a:t>call C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431944" y="2708910"/>
                <a:ext cx="12326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C68A8A"/>
                    </a:solidFill>
                    <a:latin typeface="Microsoft YaHei"/>
                    <a:ea typeface="Microsoft YaHei"/>
                    <a:cs typeface="Microsoft YaHei"/>
                  </a:rPr>
                  <a:t>用了 B 的返回值</a:t>
                </a:r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2209800" y="2581275"/>
                <a:ext cx="190500" cy="171450"/>
              </a:xfrm>
              <a:prstGeom prst="rightArrow">
                <a:avLst/>
              </a:prstGeom>
              <a:solidFill>
                <a:srgbClr val="F87171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00500" y="2581275"/>
                <a:ext cx="190500" cy="171450"/>
              </a:xfrm>
              <a:prstGeom prst="rightArrow">
                <a:avLst/>
              </a:prstGeom>
              <a:solidFill>
                <a:srgbClr val="F87171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55142" y="3207068"/>
              <a:ext cx="405993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WebGPU 的调用在 GPU 进程里异步校验;某次调用一旦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被标记为无效,依赖它返回值的对象也会跟着无效,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一路传下去 —— 所以这类错误被称为 contagious。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48400" y="1676400"/>
            <a:ext cx="5410200" cy="2667000"/>
            <a:chOff x="6248400" y="1676400"/>
            <a:chExt cx="5410200" cy="2667000"/>
          </a:xfrm>
        </p:grpSpPr>
        <p:sp>
          <p:nvSpPr>
            <p:cNvPr id="33" name="Rectangle 33"/>
            <p:cNvSpPr/>
            <p:nvPr/>
          </p:nvSpPr>
          <p:spPr>
            <a:xfrm>
              <a:off x="6248400" y="1676400"/>
              <a:ext cx="5410200" cy="2667000"/>
            </a:xfrm>
            <a:prstGeom prst="roundRect">
              <a:avLst>
                <a:gd name="adj" fmla="val 2143"/>
              </a:avLst>
            </a:prstGeom>
            <a:solidFill>
              <a:srgbClr val="101B2C"/>
            </a:solidFill>
            <a:ln w="14288">
              <a:solidFill>
                <a:srgbClr val="38BDF8">
                  <a:alpha val="50000"/>
                </a:srgbClr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503659" y="1897856"/>
              <a:ext cx="194331" cy="185737"/>
              <a:chOff x="6503659" y="1897856"/>
              <a:chExt cx="194331" cy="18573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03659" y="1897856"/>
                <a:ext cx="194331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94331" h="185737">
                    <a:moveTo>
                      <a:pt x="97166" y="0"/>
                    </a:moveTo>
                    <a:cubicBezTo>
                      <a:pt x="121268" y="21324"/>
                      <a:pt x="152726" y="32427"/>
                      <a:pt x="184875" y="30956"/>
                    </a:cubicBezTo>
                    <a:cubicBezTo>
                      <a:pt x="194331" y="63125"/>
                      <a:pt x="190338" y="97754"/>
                      <a:pt x="173807" y="126926"/>
                    </a:cubicBezTo>
                    <a:cubicBezTo>
                      <a:pt x="157276" y="156098"/>
                      <a:pt x="129622" y="177318"/>
                      <a:pt x="97166" y="185737"/>
                    </a:cubicBezTo>
                    <a:cubicBezTo>
                      <a:pt x="64710" y="177318"/>
                      <a:pt x="37055" y="156098"/>
                      <a:pt x="20524" y="126926"/>
                    </a:cubicBezTo>
                    <a:cubicBezTo>
                      <a:pt x="3994" y="97754"/>
                      <a:pt x="0" y="63125"/>
                      <a:pt x="9457" y="30956"/>
                    </a:cubicBezTo>
                    <a:cubicBezTo>
                      <a:pt x="41605" y="32427"/>
                      <a:pt x="73063" y="21324"/>
                      <a:pt x="97166" y="0"/>
                    </a:cubicBezTo>
                  </a:path>
                </a:pathLst>
              </a:custGeom>
              <a:noFill/>
              <a:ln w="20637">
                <a:solidFill>
                  <a:srgbClr val="38BDF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90506" y="1970087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rgbClr val="38BDF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00825" y="1990725"/>
                <a:ext cx="952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797">
                    <a:moveTo>
                      <a:pt x="0" y="0"/>
                    </a:moveTo>
                    <a:lnTo>
                      <a:pt x="0" y="25797"/>
                    </a:lnTo>
                  </a:path>
                </a:pathLst>
              </a:custGeom>
              <a:noFill/>
              <a:ln w="20637">
                <a:solidFill>
                  <a:srgbClr val="38BDF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829806" y="18726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每个设备有自己的作用域栈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477000" y="2286000"/>
              <a:ext cx="4953000" cy="1066800"/>
              <a:chOff x="6477000" y="2286000"/>
              <a:chExt cx="4953000" cy="10668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477000" y="2286000"/>
                <a:ext cx="4953000" cy="1066800"/>
              </a:xfrm>
              <a:prstGeom prst="roundRect">
                <a:avLst>
                  <a:gd name="adj" fmla="val 5357"/>
                </a:avLst>
              </a:prstGeom>
              <a:solidFill>
                <a:srgbClr val="0B1120"/>
              </a:solidFill>
              <a:ln w="14288">
                <a:solidFill>
                  <a:srgbClr val="22354F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699123" y="2453164"/>
                <a:ext cx="3467354" cy="744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280" dirty="0">
                    <a:solidFill>
                      <a:srgbClr val="BFD6EE"/>
                    </a:solidFill>
                    <a:latin typeface="Consolas"/>
                    <a:ea typeface="Consolas"/>
                    <a:cs typeface="Consolas"/>
                  </a:rPr>
                  <a:t>device.pushErrorScope("validation");</a:t>
                </a:r>
                <a:br/>
                <a:r>
                  <a:rPr lang="zh-CN" sz="1280" dirty="0">
                    <a:solidFill>
                      <a:srgbClr val="6F8399"/>
                    </a:solidFill>
                    <a:latin typeface="Consolas"/>
                    <a:ea typeface="Microsoft YaHei"/>
                    <a:cs typeface="Consolas"/>
                  </a:rPr>
                  <a:t>// … 你要检查的那批调用 …</a:t>
                </a:r>
                <a:br/>
                <a:r>
                  <a:rPr lang="en-US" sz="1280" dirty="0">
                    <a:solidFill>
                      <a:srgbClr val="BFD6EE"/>
                    </a:solidFill>
                    <a:latin typeface="Consolas"/>
                    <a:ea typeface="Consolas"/>
                    <a:cs typeface="Consolas"/>
                  </a:rPr>
                  <a:t>const err = await device.popErrorScope();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6470904" y="3547110"/>
              <a:ext cx="5110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FD4FA"/>
                  </a:solidFill>
                  <a:latin typeface="Consolas"/>
                  <a:ea typeface="Consolas"/>
                  <a:cs typeface="Consolas"/>
                </a:rPr>
                <a:t>GPUValidationError · GPUOutOfMemoryError · GPUInternalError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70142" y="3816668"/>
              <a:ext cx="372560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弹出作用域后拿到的 Promise,解析成该作用域内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 xml:space="preserve">捕获到的第一个错误;没有错误则为 </a:t>
              </a:r>
              <a:r>
                <a:rPr lang="en-US" sz="1350" dirty="0">
                  <a:solidFill>
                    <a:srgbClr val="34D399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33400" y="4419600"/>
            <a:ext cx="11125200" cy="2057400"/>
            <a:chOff x="533400" y="4419600"/>
            <a:chExt cx="11125200" cy="2057400"/>
          </a:xfrm>
        </p:grpSpPr>
        <p:sp>
          <p:nvSpPr>
            <p:cNvPr id="45" name="Rectangle 45"/>
            <p:cNvSpPr/>
            <p:nvPr/>
          </p:nvSpPr>
          <p:spPr>
            <a:xfrm>
              <a:off x="533400" y="4419600"/>
              <a:ext cx="11125200" cy="2057400"/>
            </a:xfrm>
            <a:prstGeom prst="roundRect">
              <a:avLst>
                <a:gd name="adj" fmla="val 2778"/>
              </a:avLst>
            </a:prstGeom>
            <a:solidFill>
              <a:srgbClr val="0E1626"/>
            </a:solidFill>
            <a:ln w="14288">
              <a:solidFill>
                <a:srgbClr val="22354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9056" y="4663440"/>
              <a:ext cx="55127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 xml:space="preserve">对比:WebGL 历史上的做法是同步的 </a:t>
              </a:r>
              <a:r>
                <a:rPr lang="en-US" sz="180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getError()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871538" y="5158740"/>
              <a:ext cx="3545395" cy="922211"/>
              <a:chOff x="871538" y="5158740"/>
              <a:chExt cx="3545395" cy="922211"/>
            </a:xfrm>
          </p:grpSpPr>
          <p:grpSp>
            <p:nvGrpSpPr>
              <p:cNvPr id="51" name="Group 51"/>
              <p:cNvGrpSpPr/>
              <p:nvPr/>
            </p:nvGrpSpPr>
            <p:grpSpPr>
              <a:xfrm>
                <a:off x="871538" y="5176838"/>
                <a:ext cx="200026" cy="200026"/>
                <a:chOff x="871538" y="5176838"/>
                <a:chExt cx="200026" cy="200026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871538" y="5176838"/>
                  <a:ext cx="200026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200026">
                      <a:moveTo>
                        <a:pt x="0" y="100013"/>
                      </a:moveTo>
                      <a:cubicBezTo>
                        <a:pt x="0" y="155248"/>
                        <a:pt x="44777" y="200026"/>
                        <a:pt x="100013" y="200026"/>
                      </a:cubicBezTo>
                      <a:cubicBezTo>
                        <a:pt x="155248" y="200026"/>
                        <a:pt x="200026" y="155248"/>
                        <a:pt x="200026" y="100013"/>
                      </a:cubicBezTo>
                      <a:cubicBezTo>
                        <a:pt x="200026" y="44777"/>
                        <a:pt x="155248" y="0"/>
                        <a:pt x="100013" y="0"/>
                      </a:cubicBezTo>
                      <a:cubicBezTo>
                        <a:pt x="44777" y="0"/>
                        <a:pt x="0" y="44777"/>
                        <a:pt x="0" y="100013"/>
                      </a:cubicBezTo>
                    </a:path>
                  </a:pathLst>
                </a:custGeom>
                <a:noFill/>
                <a:ln w="22225">
                  <a:solidFill>
                    <a:srgbClr val="F59E0B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60438" y="5265738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3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3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3"/>
                      </a:cubicBezTo>
                    </a:path>
                  </a:pathLst>
                </a:custGeom>
                <a:noFill/>
                <a:ln w="22225">
                  <a:solidFill>
                    <a:srgbClr val="F59E0B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87219" y="5232400"/>
                  <a:ext cx="28781" cy="28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81" h="28781">
                      <a:moveTo>
                        <a:pt x="0" y="28781"/>
                      </a:moveTo>
                      <a:lnTo>
                        <a:pt x="28781" y="0"/>
                      </a:lnTo>
                    </a:path>
                  </a:pathLst>
                </a:custGeom>
                <a:noFill/>
                <a:ln w="22225">
                  <a:solidFill>
                    <a:srgbClr val="F59E0B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915988" y="5221288"/>
                  <a:ext cx="55563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55563">
                      <a:moveTo>
                        <a:pt x="0" y="55563"/>
                      </a:moveTo>
                      <a:cubicBezTo>
                        <a:pt x="0" y="24876"/>
                        <a:pt x="24876" y="0"/>
                        <a:pt x="55563" y="0"/>
                      </a:cubicBezTo>
                    </a:path>
                  </a:pathLst>
                </a:custGeom>
                <a:noFill/>
                <a:ln w="22225">
                  <a:solidFill>
                    <a:srgbClr val="F59E0B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1229106" y="5158740"/>
                <a:ext cx="18477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>同步返回,伤性能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231392" y="5569268"/>
                <a:ext cx="3185541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rgbClr val="8DA2C0"/>
                    </a:solidFill>
                    <a:latin typeface="Microsoft YaHei"/>
                    <a:ea typeface="Microsoft YaHei"/>
                    <a:cs typeface="Microsoft YaHei"/>
                  </a:rPr>
                  <a:t>每次调用都要往返一次 GPU,并且要求此前</a:t>
                </a:r>
                <a:br/>
                <a:r>
                  <a:rPr lang="zh-CN" sz="1350" dirty="0">
                    <a:solidFill>
                      <a:srgbClr val="8DA2C0"/>
                    </a:solidFill>
                    <a:latin typeface="Microsoft YaHei"/>
                    <a:ea typeface="Microsoft YaHei"/>
                    <a:cs typeface="Microsoft YaHei"/>
                  </a:rPr>
                  <a:t>发出的所有操作都已完成。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369050" y="5158740"/>
              <a:ext cx="3705733" cy="922211"/>
              <a:chOff x="6369050" y="5158740"/>
              <a:chExt cx="3705733" cy="922211"/>
            </a:xfrm>
          </p:grpSpPr>
          <p:grpSp>
            <p:nvGrpSpPr>
              <p:cNvPr id="57" name="Group 57"/>
              <p:cNvGrpSpPr/>
              <p:nvPr/>
            </p:nvGrpSpPr>
            <p:grpSpPr>
              <a:xfrm>
                <a:off x="6369050" y="5187950"/>
                <a:ext cx="177800" cy="177800"/>
                <a:chOff x="6369050" y="5187950"/>
                <a:chExt cx="177800" cy="17780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6413500" y="518795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  <a:cubicBezTo>
                        <a:pt x="133350" y="123400"/>
                        <a:pt x="123400" y="133350"/>
                        <a:pt x="111125" y="133350"/>
                      </a:cubicBezTo>
                      <a:lnTo>
                        <a:pt x="22225" y="133350"/>
                      </a:lnTo>
                      <a:cubicBezTo>
                        <a:pt x="9950" y="133350"/>
                        <a:pt x="0" y="123400"/>
                        <a:pt x="0" y="11112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rgbClr val="F59E0B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6369050" y="523240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  <a:cubicBezTo>
                        <a:pt x="133350" y="123400"/>
                        <a:pt x="123400" y="133350"/>
                        <a:pt x="111125" y="133350"/>
                      </a:cubicBezTo>
                      <a:lnTo>
                        <a:pt x="22225" y="133350"/>
                      </a:lnTo>
                      <a:cubicBezTo>
                        <a:pt x="9950" y="133350"/>
                        <a:pt x="0" y="123400"/>
                        <a:pt x="0" y="11112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rgbClr val="F59E0B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6715506" y="51587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8EEF9"/>
                    </a:solidFill>
                    <a:latin typeface="Microsoft YaHei"/>
                    <a:ea typeface="Microsoft YaHei"/>
                    <a:cs typeface="Microsoft YaHei"/>
                  </a:rPr>
                  <a:t>状态模型是扁平的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717792" y="5569268"/>
                <a:ext cx="3356991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rgbClr val="8DA2C0"/>
                    </a:solidFill>
                    <a:latin typeface="Microsoft YaHei"/>
                    <a:ea typeface="Microsoft YaHei"/>
                    <a:cs typeface="Microsoft YaHei"/>
                  </a:rPr>
                  <a:t>错误会在互不相关的代码之间泄漏。WebGPU</a:t>
                </a:r>
                <a:br/>
                <a:r>
                  <a:rPr lang="zh-CN" sz="1350" dirty="0">
                    <a:solidFill>
                      <a:srgbClr val="8DA2C0"/>
                    </a:solidFill>
                    <a:latin typeface="Microsoft YaHei"/>
                    <a:ea typeface="Microsoft YaHei"/>
                    <a:cs typeface="Microsoft YaHei"/>
                  </a:rPr>
                  <a:t>的设计者决心改掉这一点。</a:t>
                </a:r>
              </a:p>
            </p:txBody>
          </p:sp>
        </p:grpSp>
        <p:sp>
          <p:nvSpPr>
            <p:cNvPr id="61" name="Line 61"/>
            <p:cNvSpPr/>
            <p:nvPr/>
          </p:nvSpPr>
          <p:spPr>
            <a:xfrm>
              <a:off x="6096000" y="50482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14288">
              <a:solidFill>
                <a:srgbClr val="23335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4"/>
            </a:gs>
            <a:gs pos="100000">
              <a:srgbClr val="0D1A3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7620">
            <a:solidFill>
              <a:srgbClr val="18253C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18160" y="746760"/>
            <a:ext cx="11140440" cy="849630"/>
            <a:chOff x="518160" y="746760"/>
            <a:chExt cx="11140440" cy="849630"/>
          </a:xfrm>
        </p:grpSpPr>
        <p:sp>
          <p:nvSpPr>
            <p:cNvPr id="3" name="TextBox 3"/>
            <p:cNvSpPr txBox="1"/>
            <p:nvPr/>
          </p:nvSpPr>
          <p:spPr>
            <a:xfrm>
              <a:off x="527304" y="746760"/>
              <a:ext cx="1401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80" dirty="0">
                  <a:solidFill>
                    <a:srgbClr val="6F8399"/>
                  </a:solidFill>
                  <a:latin typeface="Consolas"/>
                  <a:ea typeface="Microsoft YaHei"/>
                  <a:cs typeface="Consolas"/>
                </a:rPr>
                <a:t>11 / 现状与来源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0096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今天能用到什么程度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0" y="1219200"/>
              <a:ext cx="5943600" cy="19050"/>
            </a:xfrm>
            <a:prstGeom prst="rect">
              <a:avLst/>
            </a:prstGeom>
            <a:gradFill>
              <a:gsLst>
                <a:gs pos="0">
                  <a:srgbClr val="38BDF8"/>
                </a:gs>
                <a:gs pos="100000">
                  <a:srgbClr val="A78BFA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33400" y="1771650"/>
            <a:ext cx="3467100" cy="2038350"/>
            <a:chOff x="533400" y="1771650"/>
            <a:chExt cx="3467100" cy="2038350"/>
          </a:xfrm>
        </p:grpSpPr>
        <p:sp>
          <p:nvSpPr>
            <p:cNvPr id="7" name="Rectangle 7"/>
            <p:cNvSpPr/>
            <p:nvPr/>
          </p:nvSpPr>
          <p:spPr>
            <a:xfrm>
              <a:off x="533400" y="1771650"/>
              <a:ext cx="3467100" cy="2038350"/>
            </a:xfrm>
            <a:prstGeom prst="roundRect">
              <a:avLst>
                <a:gd name="adj" fmla="val 2804"/>
              </a:avLst>
            </a:prstGeom>
            <a:solidFill>
              <a:srgbClr val="101B2C"/>
            </a:solidFill>
            <a:ln w="14288">
              <a:solidFill>
                <a:srgbClr val="F59E0B">
                  <a:alpha val="55000"/>
                </a:srgbClr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22899" y="2051063"/>
              <a:ext cx="240143" cy="206314"/>
              <a:chOff x="822899" y="2051063"/>
              <a:chExt cx="240143" cy="20631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42975" y="21264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rgbClr val="F59E0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22899" y="2051063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23812">
                <a:solidFill>
                  <a:srgbClr val="F59E0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42975" y="2209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rgbClr val="F59E0B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90956" y="2529840"/>
              <a:ext cx="23660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59E0B"/>
                  </a:solidFill>
                  <a:latin typeface="Microsoft YaHei"/>
                  <a:ea typeface="Microsoft YaHei"/>
                  <a:cs typeface="Microsoft YaHei"/>
                </a:rPr>
                <a:t>Limited availability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242" y="2883218"/>
              <a:ext cx="18996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该特性不是 Baseline,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因为它在一些使用最广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泛的浏览器里无法工作。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43400" y="1771650"/>
            <a:ext cx="3467100" cy="2038350"/>
            <a:chOff x="4343400" y="1771650"/>
            <a:chExt cx="3467100" cy="2038350"/>
          </a:xfrm>
        </p:grpSpPr>
        <p:sp>
          <p:nvSpPr>
            <p:cNvPr id="15" name="Rectangle 15"/>
            <p:cNvSpPr/>
            <p:nvPr/>
          </p:nvSpPr>
          <p:spPr>
            <a:xfrm>
              <a:off x="4343400" y="1771650"/>
              <a:ext cx="3467100" cy="2038350"/>
            </a:xfrm>
            <a:prstGeom prst="roundRect">
              <a:avLst>
                <a:gd name="adj" fmla="val 2804"/>
              </a:avLst>
            </a:prstGeom>
            <a:solidFill>
              <a:srgbClr val="101B2C"/>
            </a:solidFill>
            <a:ln w="14288">
              <a:solidFill>
                <a:srgbClr val="38BDF8">
                  <a:alpha val="55000"/>
                </a:srgbClr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669631" y="2055019"/>
              <a:ext cx="166688" cy="214312"/>
              <a:chOff x="4669631" y="2055019"/>
              <a:chExt cx="166688" cy="21431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669631" y="2150269"/>
                <a:ext cx="16668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9062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95250"/>
                    </a:lnTo>
                    <a:cubicBezTo>
                      <a:pt x="166688" y="108401"/>
                      <a:pt x="156026" y="119062"/>
                      <a:pt x="142875" y="119062"/>
                    </a:cubicBez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38BDF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741069" y="219789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rgbClr val="38BDF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705350" y="20550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23812">
                <a:solidFill>
                  <a:srgbClr val="38BDF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600956" y="2529840"/>
              <a:ext cx="1922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38BDF8"/>
                  </a:solidFill>
                  <a:latin typeface="Microsoft YaHei"/>
                  <a:ea typeface="Microsoft YaHei"/>
                  <a:cs typeface="Microsoft YaHei"/>
                </a:rPr>
                <a:t>Secure context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03242" y="2883218"/>
              <a:ext cx="18996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只在安全上下文(HTTPS)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里可用 —— 在部分或全部</a:t>
              </a:r>
              <a:br/>
              <a:r>
                <a:rPr lang="zh-CN" sz="1350" dirty="0">
                  <a:solidFill>
                    <a:srgbClr val="8DA2C0"/>
                  </a:solidFill>
                  <a:latin typeface="Microsoft YaHei"/>
                  <a:ea typeface="Microsoft YaHei"/>
                  <a:cs typeface="Microsoft YaHei"/>
                </a:rPr>
                <a:t>支持它的浏览器中如此。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3400" y="1771650"/>
            <a:ext cx="3505200" cy="2038350"/>
            <a:chOff x="8153400" y="1771650"/>
            <a:chExt cx="3505200" cy="2038350"/>
          </a:xfrm>
        </p:grpSpPr>
        <p:sp>
          <p:nvSpPr>
            <p:cNvPr id="23" name="Rectangle 23"/>
            <p:cNvSpPr/>
            <p:nvPr/>
          </p:nvSpPr>
          <p:spPr>
            <a:xfrm>
              <a:off x="8153400" y="1771650"/>
              <a:ext cx="3505200" cy="2038350"/>
            </a:xfrm>
            <a:prstGeom prst="roundRect">
              <a:avLst>
                <a:gd name="adj" fmla="val 2804"/>
              </a:avLst>
            </a:prstGeom>
            <a:solidFill>
              <a:srgbClr val="0E1626"/>
            </a:solidFill>
            <a:ln w="14288">
              <a:solidFill>
                <a:srgbClr val="3A4A63"/>
              </a:solidFill>
              <a:prstDash val="dash"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455819" y="2055019"/>
              <a:ext cx="214312" cy="214312"/>
              <a:chOff x="8455819" y="2055019"/>
              <a:chExt cx="214312" cy="21431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455819" y="20550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7E93AD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539162" y="21383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47625"/>
                    </a:lnTo>
                    <a:moveTo>
                      <a:pt x="47625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rgbClr val="7E93AD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410956" y="2529840"/>
              <a:ext cx="2467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E93AD"/>
                  </a:solidFill>
                  <a:latin typeface="Microsoft YaHei"/>
                  <a:ea typeface="Microsoft YaHei"/>
                  <a:cs typeface="Microsoft YaHei"/>
                </a:rPr>
                <a:t>具体版本号:NO DATA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13242" y="2883218"/>
              <a:ext cx="18996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MDN 的兼容性表由脚本</a:t>
              </a:r>
              <a:br/>
              <a:r>
                <a:rPr lang="zh-CN" sz="135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渲染,本次抓取到的页</a:t>
              </a:r>
              <a:br/>
              <a:r>
                <a:rPr lang="zh-CN" sz="135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面内容里没有版本数据。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6542" y="4102418"/>
            <a:ext cx="8131153" cy="264033"/>
            <a:chOff x="526542" y="4102418"/>
            <a:chExt cx="8131153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526542" y="4102418"/>
              <a:ext cx="8131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 xml:space="preserve">另一处 </a:t>
              </a:r>
              <a:r>
                <a:rPr lang="en-US" sz="1350" b="1" dirty="0">
                  <a:solidFill>
                    <a:srgbClr val="7E93AD"/>
                  </a:solidFill>
                  <a:latin typeface="Microsoft YaHei"/>
                  <a:ea typeface="Microsoft YaHei"/>
                  <a:cs typeface="Microsoft YaHei"/>
                </a:rPr>
                <a:t>NO DATA</a:t>
              </a:r>
              <a:r>
                <a:rPr lang="zh-CN" sz="135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:compatibility mode 的确切限制清单 —— 本页只给出外部文档链接,没有列出内容。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4533900"/>
            <a:ext cx="11125200" cy="914400"/>
            <a:chOff x="533400" y="4533900"/>
            <a:chExt cx="11125200" cy="914400"/>
          </a:xfrm>
        </p:grpSpPr>
        <p:sp>
          <p:nvSpPr>
            <p:cNvPr id="32" name="Freeform 32"/>
            <p:cNvSpPr/>
            <p:nvPr/>
          </p:nvSpPr>
          <p:spPr>
            <a:xfrm>
              <a:off x="533400" y="4533900"/>
              <a:ext cx="11125200" cy="914400"/>
            </a:xfrm>
            <a:prstGeom prst="snip2DiagRect">
              <a:avLst>
                <a:gd name="adj1" fmla="val 22000"/>
                <a:gd name="adj2" fmla="val 0"/>
              </a:avLst>
            </a:prstGeom>
            <a:solidFill>
              <a:srgbClr val="0B3B5C"/>
            </a:solidFill>
            <a:ln w="19050">
              <a:solidFill>
                <a:srgbClr val="38BDF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2970" y="4672012"/>
              <a:ext cx="38325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8EEF9"/>
                  </a:solidFill>
                  <a:effectLst>
                    <a:glow rad="57150">
                      <a:srgbClr val="38BDF8">
                        <a:alpha val="45000"/>
                      </a:srgbClr>
                    </a:glow>
                  </a:effectLst>
                  <a:latin typeface="Microsoft YaHei"/>
                  <a:ea typeface="Microsoft YaHei"/>
                  <a:cs typeface="Microsoft YaHei"/>
                </a:rPr>
                <a:t>先做能力检测,再写渲染代码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5256" y="5063490"/>
              <a:ext cx="97593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FD6EE"/>
                  </a:solidFill>
                  <a:latin typeface="Microsoft YaHei"/>
                  <a:ea typeface="Microsoft YaHei"/>
                  <a:cs typeface="Microsoft YaHei"/>
                </a:rPr>
                <a:t xml:space="preserve">拿不到 </a:t>
              </a:r>
              <a:r>
                <a:rPr lang="en-US" sz="180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navigator.gpu</a:t>
              </a:r>
              <a:r>
                <a:rPr lang="zh-CN" sz="1800" dirty="0">
                  <a:solidFill>
                    <a:srgbClr val="BFD6EE"/>
                  </a:solidFill>
                  <a:latin typeface="Microsoft YaHei"/>
                  <a:ea typeface="Microsoft YaHei"/>
                  <a:cs typeface="Microsoft YaHei"/>
                </a:rPr>
                <a:t xml:space="preserve"> 或适配器时直接走降级路径 —— 这是现状唯一能落到代码上的结论。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6542" y="5638800"/>
            <a:ext cx="11132058" cy="895350"/>
            <a:chOff x="526542" y="5638800"/>
            <a:chExt cx="11132058" cy="895350"/>
          </a:xfrm>
        </p:grpSpPr>
        <p:sp>
          <p:nvSpPr>
            <p:cNvPr id="36" name="Line 36"/>
            <p:cNvSpPr/>
            <p:nvPr/>
          </p:nvSpPr>
          <p:spPr>
            <a:xfrm>
              <a:off x="533400" y="5638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23335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6542" y="5835968"/>
              <a:ext cx="8757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F8399"/>
                  </a:solidFill>
                  <a:latin typeface="Microsoft YaHei"/>
                  <a:ea typeface="Microsoft YaHei"/>
                  <a:cs typeface="Microsoft YaHei"/>
                </a:rPr>
                <a:t>本篇全部事实来自单一来源:MDN Web Docs《WebGPU API》概览页(页面最后修改于 2026 年 9 月 2 日)。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533400" y="6153150"/>
              <a:ext cx="5486400" cy="381000"/>
              <a:chOff x="533400" y="6153150"/>
              <a:chExt cx="5486400" cy="381000"/>
            </a:xfrm>
          </p:grpSpPr>
          <p:sp>
            <p:nvSpPr>
              <p:cNvPr id="38" name="Rectangle 38">
                <a:hlinkClick r:id="rId2"/>
              </p:cNvPr>
              <p:cNvSpPr/>
              <p:nvPr/>
            </p:nvSpPr>
            <p:spPr>
              <a:xfrm>
                <a:off x="533400" y="6153150"/>
                <a:ext cx="54864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132238"/>
              </a:solidFill>
              <a:ln w="14288">
                <a:solidFill>
                  <a:srgbClr val="38BDF8"/>
                </a:solidFill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717549" y="6276272"/>
                <a:ext cx="130867" cy="134739"/>
                <a:chOff x="717549" y="6276272"/>
                <a:chExt cx="130867" cy="134739"/>
              </a:xfrm>
            </p:grpSpPr>
            <p:sp>
              <p:nvSpPr>
                <p:cNvPr id="39" name="Freeform 39">
                  <a:hlinkClick r:id="rId2"/>
                </p:cNvPr>
                <p:cNvSpPr/>
                <p:nvPr/>
              </p:nvSpPr>
              <p:spPr>
                <a:xfrm>
                  <a:off x="757237" y="631983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47625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38BDF8"/>
                  </a:solidFill>
                </a:ln>
              </p:spPr>
            </p:sp>
            <p:sp>
              <p:nvSpPr>
                <p:cNvPr id="40" name="Freeform 40">
                  <a:hlinkClick r:id="rId2"/>
                </p:cNvPr>
                <p:cNvSpPr/>
                <p:nvPr/>
              </p:nvSpPr>
              <p:spPr>
                <a:xfrm>
                  <a:off x="773112" y="6276272"/>
                  <a:ext cx="75304" cy="7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04" h="75316">
                      <a:moveTo>
                        <a:pt x="0" y="19753"/>
                      </a:moveTo>
                      <a:lnTo>
                        <a:pt x="3675" y="15499"/>
                      </a:lnTo>
                      <a:cubicBezTo>
                        <a:pt x="19176" y="0"/>
                        <a:pt x="44306" y="2"/>
                        <a:pt x="59805" y="15503"/>
                      </a:cubicBezTo>
                      <a:cubicBezTo>
                        <a:pt x="75304" y="31004"/>
                        <a:pt x="75302" y="56134"/>
                        <a:pt x="59801" y="71633"/>
                      </a:cubicBezTo>
                      <a:lnTo>
                        <a:pt x="55562" y="75316"/>
                      </a:lnTo>
                    </a:path>
                  </a:pathLst>
                </a:custGeom>
                <a:noFill/>
                <a:ln w="15875">
                  <a:solidFill>
                    <a:srgbClr val="38BDF8"/>
                  </a:solidFill>
                </a:ln>
              </p:spPr>
            </p:sp>
            <p:sp>
              <p:nvSpPr>
                <p:cNvPr id="41" name="Freeform 41">
                  <a:hlinkClick r:id="rId2"/>
                </p:cNvPr>
                <p:cNvSpPr/>
                <p:nvPr/>
              </p:nvSpPr>
              <p:spPr>
                <a:xfrm>
                  <a:off x="717549" y="6335712"/>
                  <a:ext cx="71439" cy="75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9" h="75299">
                      <a:moveTo>
                        <a:pt x="71439" y="55562"/>
                      </a:moveTo>
                      <a:lnTo>
                        <a:pt x="68287" y="59801"/>
                      </a:lnTo>
                      <a:cubicBezTo>
                        <a:pt x="52615" y="75299"/>
                        <a:pt x="27389" y="75299"/>
                        <a:pt x="11717" y="59801"/>
                      </a:cubicBezTo>
                      <a:cubicBezTo>
                        <a:pt x="4219" y="52388"/>
                        <a:pt x="0" y="42282"/>
                        <a:pt x="0" y="31738"/>
                      </a:cubicBezTo>
                      <a:cubicBezTo>
                        <a:pt x="0" y="21194"/>
                        <a:pt x="4219" y="11089"/>
                        <a:pt x="11717" y="3675"/>
                      </a:cubicBezTo>
                      <a:lnTo>
                        <a:pt x="15876" y="0"/>
                      </a:lnTo>
                    </a:path>
                  </a:pathLst>
                </a:custGeom>
                <a:noFill/>
                <a:ln w="15875">
                  <a:solidFill>
                    <a:srgbClr val="38BDF8"/>
                  </a:solidFill>
                </a:ln>
              </p:spPr>
            </p:sp>
          </p:grpSp>
          <p:sp>
            <p:nvSpPr>
              <p:cNvPr id="43" name="TextBox 43">
                <a:hlinkClick r:id="rId2"/>
              </p:cNvPr>
              <p:cNvSpPr txBox="1"/>
              <p:nvPr/>
            </p:nvSpPr>
            <p:spPr>
              <a:xfrm>
                <a:off x="965073" y="6272689"/>
                <a:ext cx="477323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7FD4FA"/>
                    </a:solidFill>
                    <a:latin typeface="Consolas"/>
                    <a:ea typeface="Consolas"/>
                    <a:cs typeface="Consolas"/>
                  </a:rPr>
                  <a:t>developer.mozilla.org/en-US/docs/Web/API/WebGPU_API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5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50"/>
                            </p:stCondLst>
                            <p:childTnLst>
                              <p:par>
                                <p:cTn xmlns:p="http://schemas.openxmlformats.org/presentationml/2006/main" id="12" presetID="37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5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50"/>
                            </p:stCondLst>
                            <p:childTnLst>
                              <p:par>
                                <p:cTn xmlns:p="http://schemas.openxmlformats.org/presentationml/2006/main" id="19" presetID="37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5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5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30" presetID="23" presetClass="entr" presetSubtype="16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5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webgpu_intro_quick">
  <a:themeElements>
    <a:clrScheme name="ppt169_webgpu_intro_qui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169_webgpu_intro_quic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webgpu_intro_qui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2026-09-04T04:42:46Z</dcterms:created>
  <dcterms:modified xsi:type="dcterms:W3CDTF">2026-09-04T04:42:46Z</dcterms:modified>
  <cp:category/>
  <cp:contentStatus/>
</cp:coreProperties>
</file>