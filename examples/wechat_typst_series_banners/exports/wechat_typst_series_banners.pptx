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13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x="8572500" cy="3648075" type="custom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  <Relationship Id="rId13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这是整个“Typst 入门”连载的系列头图，放在第一篇之前，也可以作为合集封面。大字“Typst 入门”后面紧跟一个红色的插入光标，它会在后面每张章节横幅上变成章节轨道下的红色标记。副题“一门简明但强大的现代排版语言”逐字取自《标记模式》开头一句，下面那句“少配置样式，也能获得排版精良的文档”是对同一章第二段设计目标的整理，所以旁边注明了整理出处。底部一行列出本系列的四篇：导引、标记语法、数学公式、中文排版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第一篇导引的横幅。左边是章节号和标题，右边先放教程里对 Typst 的定义原句：Typst 首先是一种用于排版文档的标记语言，旨在易于学习、快速且用途广泛。下面的深色排字条是教程给出的两条命令，先用 typst compile 把文件编译成 PDF，再用 typst watch 让编译器进入监视模式，边改边增量编译和预览；这一行说明是整理，不是原句。以后改字复用时，保持章节轨道和红色标记的位置不变。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第二篇讲标记语法。副题“语义先行”来自教程里的提示：Typst 总是希望先标记语义，再附加样式。右边左半是四行原样照抄的源码，一个等号开一级标题，两个等号开二级标题；右半是这段源码排出来的样子。底部的引句逐字出自教程：等于号的数量恰好对应了标题的级别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第三篇讲数学公式。教程原话是数学模式用一对美元符号进入，所以副题写成“用一对 $ 进入”。排字条里是教程中的行间公式示例，集合 A 由小于十的自然数组成；下方是同一公式在 PowerPoint 里的原生公式排版结果，可以直接编辑。最下面的引句同样逐字取自教程：美元符号内部两侧如果都有空白，就是行间公式。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四篇讲中文排版。右上是教程的判断：中文用户最常遇到的问题大致分为五类，依次是字体、空白、语义、特殊排版和参考文献。排字条里的一行是教程推荐的起步设置，把语言设为中文、区域设为中国大陆。下面的说明是整理：这两个选项会影响列表数字、日期、智能引号和标点挤压等行为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放在每篇文末的关注引导。主句请读者关注本号，副句说明这个系列会把 Typst 从标记写到公式，再写到中文。中间的四段路线就是四篇的阅读顺序，红色光标停在末端，表示系列还在继续。下面一行由浅入深的阅读建议整理自导引里推荐的阅读方法：先像写 Markdown 那样写出一篇基本文档，再往后学。最底部注明内容整理自 typst-doc-cn 的中文教程，采用 Apache 2.0 许可。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wechat_typst_series_banners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wechat_typst_series_banners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75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slide1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proof-marks"/>
          <p:cNvGrpSpPr/>
          <p:nvPr/>
        </p:nvGrpSpPr>
        <p:grpSpPr>
          <a:xfrm>
            <a:off x="133350" y="133350"/>
            <a:ext cx="8305800" cy="3381375"/>
            <a:chOff x="133350" y="133350"/>
            <a:chExt cx="8305800" cy="3381375"/>
          </a:xfrm>
        </p:grpSpPr>
        <p:sp>
          <p:nvSpPr>
            <p:cNvPr id="2" name="Line 2"/>
            <p:cNvSpPr/>
            <p:nvPr/>
          </p:nvSpPr>
          <p:spPr>
            <a:xfrm>
              <a:off x="133350" y="22860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" name="Line 3"/>
            <p:cNvSpPr/>
            <p:nvPr/>
          </p:nvSpPr>
          <p:spPr>
            <a:xfrm>
              <a:off x="228600" y="13335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8248650" y="22860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8343900" y="13335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133350" y="3419475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228600" y="3324225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8248650" y="3419475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8343900" y="3324225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685800" y="1909762"/>
              <a:ext cx="7505700" cy="9525"/>
            </a:xfrm>
            <a:custGeom>
              <a:avLst/>
              <a:gdLst/>
              <a:ahLst/>
              <a:cxnLst/>
              <a:rect l="l" t="t" r="r" b="b"/>
              <a:pathLst>
                <a:path w="7505700" h="9525">
                  <a:moveTo>
                    <a:pt x="0" y="0"/>
                  </a:moveTo>
                  <a:lnTo>
                    <a:pt x="7505700" y="0"/>
                  </a:lnTo>
                </a:path>
              </a:pathLst>
            </a:custGeom>
            <a:noFill/>
            <a:ln w="9525">
              <a:solidFill>
                <a:schemeClr val="accent6">
                  <a:alpha val="60000"/>
                </a:scheme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685800" y="2843212"/>
              <a:ext cx="7505700" cy="9525"/>
            </a:xfrm>
            <a:custGeom>
              <a:avLst/>
              <a:gdLst/>
              <a:ahLst/>
              <a:cxnLst/>
              <a:rect l="l" t="t" r="r" b="b"/>
              <a:pathLst>
                <a:path w="7505700" h="9525">
                  <a:moveTo>
                    <a:pt x="0" y="0"/>
                  </a:moveTo>
                  <a:lnTo>
                    <a:pt x="7505700" y="0"/>
                  </a:lnTo>
                </a:path>
              </a:pathLst>
            </a:custGeom>
            <a:noFill/>
            <a:ln w="9525">
              <a:solidFill>
                <a:schemeClr val="accent6">
                  <a:alpha val="60000"/>
                </a:schemeClr>
              </a:solidFill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406659" y="831056"/>
              <a:ext cx="94356" cy="2620328"/>
              <a:chOff x="406659" y="831056"/>
              <a:chExt cx="94356" cy="2620328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406659" y="831056"/>
                <a:ext cx="9435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120" dirty="0">
                    <a:solidFill>
                      <a:srgbClr val="B3A794"/>
                    </a:solidFill>
                    <a:latin typeface="Consolas"/>
                    <a:ea typeface="Consolas"/>
                    <a:cs typeface="Consolas"/>
                  </a:rPr>
                  <a:t>1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406659" y="1783556"/>
                <a:ext cx="9435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120" dirty="0">
                    <a:solidFill>
                      <a:srgbClr val="B3A794"/>
                    </a:solidFill>
                    <a:latin typeface="Consolas"/>
                    <a:ea typeface="Consolas"/>
                    <a:cs typeface="Consolas"/>
                  </a:rPr>
                  <a:t>2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06659" y="2374106"/>
                <a:ext cx="9435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120" dirty="0">
                    <a:solidFill>
                      <a:srgbClr val="B3A794"/>
                    </a:solidFill>
                    <a:latin typeface="Consolas"/>
                    <a:ea typeface="Consolas"/>
                    <a:cs typeface="Consolas"/>
                  </a:rPr>
                  <a:t>3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06659" y="2717006"/>
                <a:ext cx="9435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120" dirty="0">
                    <a:solidFill>
                      <a:srgbClr val="B3A794"/>
                    </a:solidFill>
                    <a:latin typeface="Consolas"/>
                    <a:ea typeface="Consolas"/>
                    <a:cs typeface="Consolas"/>
                  </a:rPr>
                  <a:t>4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06659" y="3231356"/>
                <a:ext cx="9435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120" dirty="0">
                    <a:solidFill>
                      <a:srgbClr val="B3A794"/>
                    </a:solidFill>
                    <a:latin typeface="Consolas"/>
                    <a:ea typeface="Consolas"/>
                    <a:cs typeface="Consolas"/>
                  </a:rPr>
                  <a:t>5</a:t>
                </a:r>
              </a:p>
            </p:txBody>
          </p:sp>
        </p:grpSp>
      </p:grpSp>
      <p:grpSp>
        <p:nvGrpSpPr>
          <p:cNvPr id="20" name="kicker"/>
          <p:cNvGrpSpPr/>
          <p:nvPr/>
        </p:nvGrpSpPr>
        <p:grpSpPr>
          <a:xfrm>
            <a:off x="678942" y="806768"/>
            <a:ext cx="2585295" cy="264033"/>
            <a:chOff x="678942" y="806768"/>
            <a:chExt cx="2585295" cy="264033"/>
          </a:xfrm>
        </p:grpSpPr>
        <p:sp>
          <p:nvSpPr>
            <p:cNvPr id="19" name="TextBox 19"/>
            <p:cNvSpPr txBox="1"/>
            <p:nvPr/>
          </p:nvSpPr>
          <p:spPr>
            <a:xfrm>
              <a:off x="678942" y="806768"/>
              <a:ext cx="25852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公众号连载 · 排版语言入门系列</a:t>
              </a:r>
            </a:p>
          </p:txBody>
        </p:sp>
      </p:grpSp>
      <p:grpSp>
        <p:nvGrpSpPr>
          <p:cNvPr id="22" name="!!series-name"/>
          <p:cNvGrpSpPr/>
          <p:nvPr/>
        </p:nvGrpSpPr>
        <p:grpSpPr>
          <a:xfrm>
            <a:off x="666750" y="1127760"/>
            <a:ext cx="5343815" cy="1390650"/>
            <a:chOff x="666750" y="1127760"/>
            <a:chExt cx="5343815" cy="1390650"/>
          </a:xfrm>
        </p:grpSpPr>
        <p:sp>
          <p:nvSpPr>
            <p:cNvPr id="21" name="TextBox 21"/>
            <p:cNvSpPr txBox="1"/>
            <p:nvPr/>
          </p:nvSpPr>
          <p:spPr>
            <a:xfrm>
              <a:off x="666750" y="1127760"/>
              <a:ext cx="5343815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Typst 入门</a:t>
              </a:r>
            </a:p>
          </p:txBody>
        </p:sp>
      </p:grpSp>
      <p:grpSp>
        <p:nvGrpSpPr>
          <p:cNvPr id="24" name="!!red-marker"/>
          <p:cNvGrpSpPr/>
          <p:nvPr/>
        </p:nvGrpSpPr>
        <p:grpSpPr>
          <a:xfrm>
            <a:off x="6115050" y="1143000"/>
            <a:ext cx="114300" cy="857250"/>
            <a:chOff x="6115050" y="1143000"/>
            <a:chExt cx="114300" cy="857250"/>
          </a:xfrm>
        </p:grpSpPr>
        <p:sp>
          <p:nvSpPr>
            <p:cNvPr id="23" name="Rectangle 23"/>
            <p:cNvSpPr/>
            <p:nvPr/>
          </p:nvSpPr>
          <p:spPr>
            <a:xfrm>
              <a:off x="6115050" y="1143000"/>
              <a:ext cx="114300" cy="8572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26" name="subtitle"/>
          <p:cNvGrpSpPr/>
          <p:nvPr/>
        </p:nvGrpSpPr>
        <p:grpSpPr>
          <a:xfrm>
            <a:off x="674370" y="2252662"/>
            <a:ext cx="4503420" cy="440055"/>
            <a:chOff x="674370" y="2252662"/>
            <a:chExt cx="4503420" cy="440055"/>
          </a:xfrm>
        </p:grpSpPr>
        <p:sp>
          <p:nvSpPr>
            <p:cNvPr id="25" name="TextBox 25"/>
            <p:cNvSpPr txBox="1"/>
            <p:nvPr/>
          </p:nvSpPr>
          <p:spPr>
            <a:xfrm>
              <a:off x="674370" y="2252662"/>
              <a:ext cx="450342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一门简明但强大的现代排版语言</a:t>
              </a:r>
            </a:p>
          </p:txBody>
        </p:sp>
      </p:grpSp>
      <p:grpSp>
        <p:nvGrpSpPr>
          <p:cNvPr id="29" name="claim"/>
          <p:cNvGrpSpPr/>
          <p:nvPr/>
        </p:nvGrpSpPr>
        <p:grpSpPr>
          <a:xfrm>
            <a:off x="676656" y="2644140"/>
            <a:ext cx="6299835" cy="352044"/>
            <a:chOff x="676656" y="2644140"/>
            <a:chExt cx="6299835" cy="352044"/>
          </a:xfrm>
        </p:grpSpPr>
        <p:sp>
          <p:nvSpPr>
            <p:cNvPr id="27" name="TextBox 27"/>
            <p:cNvSpPr txBox="1"/>
            <p:nvPr/>
          </p:nvSpPr>
          <p:spPr>
            <a:xfrm>
              <a:off x="676656" y="2644140"/>
              <a:ext cx="41376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少配置样式，也能获得</a:t>
              </a:r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排版精良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的文档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327142" y="26927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整理自《标记模式》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678942" y="3207068"/>
            <a:ext cx="49660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01 导引　·　02 标记语法　·　03 数学公式　·　04 中文排版</a:t>
            </a:r>
          </a:p>
        </p:txBody>
      </p:sp>
    </p:spTree>
  </p:cSld>
  <p:clrMapOvr>
    <a:masterClrMapping/>
  </p:clrMapOvr>
  <p:transition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proof-marks"/>
          <p:cNvGrpSpPr/>
          <p:nvPr/>
        </p:nvGrpSpPr>
        <p:grpSpPr>
          <a:xfrm>
            <a:off x="133350" y="133350"/>
            <a:ext cx="8305800" cy="3381375"/>
            <a:chOff x="133350" y="133350"/>
            <a:chExt cx="8305800" cy="3381375"/>
          </a:xfrm>
        </p:grpSpPr>
        <p:sp>
          <p:nvSpPr>
            <p:cNvPr id="2" name="Line 2"/>
            <p:cNvSpPr/>
            <p:nvPr/>
          </p:nvSpPr>
          <p:spPr>
            <a:xfrm>
              <a:off x="133350" y="22860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" name="Line 3"/>
            <p:cNvSpPr/>
            <p:nvPr/>
          </p:nvSpPr>
          <p:spPr>
            <a:xfrm>
              <a:off x="228600" y="13335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8248650" y="22860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8343900" y="13335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133350" y="3419475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228600" y="3324225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8248650" y="3419475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8343900" y="3324225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685800" y="823912"/>
              <a:ext cx="7505700" cy="9525"/>
            </a:xfrm>
            <a:custGeom>
              <a:avLst/>
              <a:gdLst/>
              <a:ahLst/>
              <a:cxnLst/>
              <a:rect l="l" t="t" r="r" b="b"/>
              <a:pathLst>
                <a:path w="7505700" h="9525">
                  <a:moveTo>
                    <a:pt x="0" y="0"/>
                  </a:moveTo>
                  <a:lnTo>
                    <a:pt x="7505700" y="0"/>
                  </a:lnTo>
                </a:path>
              </a:pathLst>
            </a:custGeom>
            <a:noFill/>
            <a:ln w="9525">
              <a:solidFill>
                <a:schemeClr val="accent6">
                  <a:alpha val="60000"/>
                </a:scheme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3109912" y="990600"/>
              <a:ext cx="9525" cy="2152650"/>
            </a:xfrm>
            <a:custGeom>
              <a:avLst/>
              <a:gdLst/>
              <a:ahLst/>
              <a:cxnLst/>
              <a:rect l="l" t="t" r="r" b="b"/>
              <a:pathLst>
                <a:path w="9525" h="2152650">
                  <a:moveTo>
                    <a:pt x="0" y="0"/>
                  </a:moveTo>
                  <a:lnTo>
                    <a:pt x="0" y="2152650"/>
                  </a:lnTo>
                </a:path>
              </a:pathLst>
            </a:custGeom>
            <a:noFill/>
            <a:ln w="9525">
              <a:solidFill>
                <a:schemeClr val="accent6">
                  <a:alpha val="60000"/>
                </a:schemeClr>
              </a:solidFill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406659" y="469106"/>
              <a:ext cx="94356" cy="2982278"/>
              <a:chOff x="406659" y="469106"/>
              <a:chExt cx="94356" cy="2982278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406659" y="469106"/>
                <a:ext cx="9435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120" dirty="0">
                    <a:solidFill>
                      <a:srgbClr val="B3A794"/>
                    </a:solidFill>
                    <a:latin typeface="Consolas"/>
                    <a:ea typeface="Consolas"/>
                    <a:cs typeface="Consolas"/>
                  </a:rPr>
                  <a:t>1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406659" y="1593056"/>
                <a:ext cx="9435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120" dirty="0">
                    <a:solidFill>
                      <a:srgbClr val="B3A794"/>
                    </a:solidFill>
                    <a:latin typeface="Consolas"/>
                    <a:ea typeface="Consolas"/>
                    <a:cs typeface="Consolas"/>
                  </a:rPr>
                  <a:t>2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06659" y="2202656"/>
                <a:ext cx="9435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120" dirty="0">
                    <a:solidFill>
                      <a:srgbClr val="B3A794"/>
                    </a:solidFill>
                    <a:latin typeface="Consolas"/>
                    <a:ea typeface="Consolas"/>
                    <a:cs typeface="Consolas"/>
                  </a:rPr>
                  <a:t>3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06659" y="2621756"/>
                <a:ext cx="9435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120" dirty="0">
                    <a:solidFill>
                      <a:srgbClr val="B3A794"/>
                    </a:solidFill>
                    <a:latin typeface="Consolas"/>
                    <a:ea typeface="Consolas"/>
                    <a:cs typeface="Consolas"/>
                  </a:rPr>
                  <a:t>4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06659" y="3231356"/>
                <a:ext cx="9435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120" dirty="0">
                    <a:solidFill>
                      <a:srgbClr val="B3A794"/>
                    </a:solidFill>
                    <a:latin typeface="Consolas"/>
                    <a:ea typeface="Consolas"/>
                    <a:cs typeface="Consolas"/>
                  </a:rPr>
                  <a:t>5</a:t>
                </a:r>
              </a:p>
            </p:txBody>
          </p:sp>
        </p:grpSp>
      </p:grpSp>
      <p:grpSp>
        <p:nvGrpSpPr>
          <p:cNvPr id="20" name="!!series-name"/>
          <p:cNvGrpSpPr/>
          <p:nvPr/>
        </p:nvGrpSpPr>
        <p:grpSpPr>
          <a:xfrm>
            <a:off x="674370" y="347662"/>
            <a:ext cx="1680896" cy="440055"/>
            <a:chOff x="674370" y="347662"/>
            <a:chExt cx="1680896" cy="440055"/>
          </a:xfrm>
        </p:grpSpPr>
        <p:sp>
          <p:nvSpPr>
            <p:cNvPr id="19" name="TextBox 19"/>
            <p:cNvSpPr txBox="1"/>
            <p:nvPr/>
          </p:nvSpPr>
          <p:spPr>
            <a:xfrm>
              <a:off x="674370" y="347662"/>
              <a:ext cx="168089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Typst 入门</a:t>
              </a:r>
            </a:p>
          </p:txBody>
        </p:sp>
      </p:grpSp>
      <p:grpSp>
        <p:nvGrpSpPr>
          <p:cNvPr id="25" name="chapter-rail"/>
          <p:cNvGrpSpPr/>
          <p:nvPr/>
        </p:nvGrpSpPr>
        <p:grpSpPr>
          <a:xfrm>
            <a:off x="3984117" y="444818"/>
            <a:ext cx="4195496" cy="264033"/>
            <a:chOff x="3984117" y="444818"/>
            <a:chExt cx="4195496" cy="264033"/>
          </a:xfrm>
        </p:grpSpPr>
        <p:sp>
          <p:nvSpPr>
            <p:cNvPr id="21" name="TextBox 21"/>
            <p:cNvSpPr txBox="1"/>
            <p:nvPr/>
          </p:nvSpPr>
          <p:spPr>
            <a:xfrm>
              <a:off x="3984117" y="444818"/>
              <a:ext cx="6443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 导引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803267" y="444818"/>
              <a:ext cx="9950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标记语法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993892" y="444818"/>
              <a:ext cx="9950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 数学公式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184517" y="444818"/>
              <a:ext cx="9950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 中文排版</a:t>
              </a:r>
            </a:p>
          </p:txBody>
        </p:sp>
      </p:grpSp>
      <p:grpSp>
        <p:nvGrpSpPr>
          <p:cNvPr id="27" name="!!red-marker"/>
          <p:cNvGrpSpPr/>
          <p:nvPr/>
        </p:nvGrpSpPr>
        <p:grpSpPr>
          <a:xfrm>
            <a:off x="3990975" y="704850"/>
            <a:ext cx="628650" cy="38100"/>
            <a:chOff x="3990975" y="704850"/>
            <a:chExt cx="628650" cy="38100"/>
          </a:xfrm>
        </p:grpSpPr>
        <p:sp>
          <p:nvSpPr>
            <p:cNvPr id="26" name="Rectangle 26"/>
            <p:cNvSpPr/>
            <p:nvPr/>
          </p:nvSpPr>
          <p:spPr>
            <a:xfrm>
              <a:off x="3990975" y="704850"/>
              <a:ext cx="62865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31" name="chapter-head"/>
          <p:cNvGrpSpPr/>
          <p:nvPr/>
        </p:nvGrpSpPr>
        <p:grpSpPr>
          <a:xfrm>
            <a:off x="666750" y="937260"/>
            <a:ext cx="2008556" cy="2003107"/>
            <a:chOff x="666750" y="937260"/>
            <a:chExt cx="2008556" cy="2003107"/>
          </a:xfrm>
        </p:grpSpPr>
        <p:sp>
          <p:nvSpPr>
            <p:cNvPr id="28" name="TextBox 28"/>
            <p:cNvSpPr txBox="1"/>
            <p:nvPr/>
          </p:nvSpPr>
          <p:spPr>
            <a:xfrm>
              <a:off x="666750" y="937260"/>
              <a:ext cx="1164641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01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66750" y="1919288"/>
              <a:ext cx="1104900" cy="7334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7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导引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74370" y="2500312"/>
              <a:ext cx="200093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5"/>
                  </a:solidFill>
                  <a:latin typeface="+mj-lt"/>
                  <a:ea typeface="+mj-ea"/>
                  <a:cs typeface="+mj-cs"/>
                </a:rPr>
                <a:t>Typst 是什么</a:t>
              </a:r>
            </a:p>
          </p:txBody>
        </p:sp>
      </p:grpSp>
      <p:grpSp>
        <p:nvGrpSpPr>
          <p:cNvPr id="34" name="definition"/>
          <p:cNvGrpSpPr/>
          <p:nvPr/>
        </p:nvGrpSpPr>
        <p:grpSpPr>
          <a:xfrm>
            <a:off x="3333750" y="1005840"/>
            <a:ext cx="3533394" cy="999744"/>
            <a:chOff x="3333750" y="1005840"/>
            <a:chExt cx="3533394" cy="999744"/>
          </a:xfrm>
        </p:grpSpPr>
        <p:sp>
          <p:nvSpPr>
            <p:cNvPr id="32" name="Rectangle 32"/>
            <p:cNvSpPr/>
            <p:nvPr/>
          </p:nvSpPr>
          <p:spPr>
            <a:xfrm>
              <a:off x="3333750" y="1009650"/>
              <a:ext cx="28575" cy="8953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477006" y="1005840"/>
              <a:ext cx="3390138" cy="9997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Typst首先是一种用于排版文档的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标记语言，它旨在易于学习、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快速且用途广泛。</a:t>
              </a:r>
            </a:p>
          </p:txBody>
        </p:sp>
      </p:grpSp>
      <p:grpSp>
        <p:nvGrpSpPr>
          <p:cNvPr id="41" name="code-strip"/>
          <p:cNvGrpSpPr/>
          <p:nvPr/>
        </p:nvGrpSpPr>
        <p:grpSpPr>
          <a:xfrm>
            <a:off x="3333750" y="2038350"/>
            <a:ext cx="4857750" cy="781050"/>
            <a:chOff x="3333750" y="2038350"/>
            <a:chExt cx="4857750" cy="781050"/>
          </a:xfrm>
        </p:grpSpPr>
        <p:sp>
          <p:nvSpPr>
            <p:cNvPr id="35" name="Rectangle 35"/>
            <p:cNvSpPr/>
            <p:nvPr/>
          </p:nvSpPr>
          <p:spPr>
            <a:xfrm>
              <a:off x="3333750" y="2038350"/>
              <a:ext cx="4857750" cy="781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3568959" y="2148840"/>
              <a:ext cx="3182209" cy="656844"/>
              <a:chOff x="3568959" y="2148840"/>
              <a:chExt cx="3182209" cy="656844"/>
            </a:xfrm>
          </p:grpSpPr>
          <p:sp>
            <p:nvSpPr>
              <p:cNvPr id="36" name="TextBox 36"/>
              <p:cNvSpPr txBox="1"/>
              <p:nvPr/>
            </p:nvSpPr>
            <p:spPr>
              <a:xfrm>
                <a:off x="3568959" y="2221706"/>
                <a:ext cx="9435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120" dirty="0">
                    <a:solidFill>
                      <a:schemeClr val="accent3"/>
                    </a:solidFill>
                    <a:latin typeface="Consolas"/>
                    <a:ea typeface="Consolas"/>
                    <a:cs typeface="Consolas"/>
                  </a:rPr>
                  <a:t>1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3568959" y="2526506"/>
                <a:ext cx="9435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120" dirty="0">
                    <a:solidFill>
                      <a:schemeClr val="accent3"/>
                    </a:solidFill>
                    <a:latin typeface="Consolas"/>
                    <a:ea typeface="Consolas"/>
                    <a:cs typeface="Consolas"/>
                  </a:rPr>
                  <a:t>2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3800856" y="2148840"/>
                <a:ext cx="295031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dirty="0">
                    <a:solidFill>
                      <a:srgbClr val="F3EEE3"/>
                    </a:solidFill>
                    <a:latin typeface="Consolas"/>
                    <a:ea typeface="Consolas"/>
                    <a:cs typeface="Consolas"/>
                  </a:rPr>
                  <a:t>typst compile file.typ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3800856" y="2453640"/>
                <a:ext cx="268376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dirty="0">
                    <a:solidFill>
                      <a:srgbClr val="F3EEE3"/>
                    </a:solidFill>
                    <a:latin typeface="Consolas"/>
                    <a:ea typeface="Consolas"/>
                    <a:cs typeface="Consolas"/>
                  </a:rPr>
                  <a:t>typst watch file.typ</a:t>
                </a:r>
              </a:p>
            </p:txBody>
          </p:sp>
        </p:grpSp>
      </p:grpSp>
      <p:grpSp>
        <p:nvGrpSpPr>
          <p:cNvPr id="43" name="code-note"/>
          <p:cNvGrpSpPr/>
          <p:nvPr/>
        </p:nvGrpSpPr>
        <p:grpSpPr>
          <a:xfrm>
            <a:off x="3326892" y="2940368"/>
            <a:ext cx="4502620" cy="264033"/>
            <a:chOff x="3326892" y="2940368"/>
            <a:chExt cx="4502620" cy="264033"/>
          </a:xfrm>
        </p:grpSpPr>
        <p:sp>
          <p:nvSpPr>
            <p:cNvPr id="42" name="TextBox 42"/>
            <p:cNvSpPr txBox="1"/>
            <p:nvPr/>
          </p:nvSpPr>
          <p:spPr>
            <a:xfrm>
              <a:off x="3326892" y="2940368"/>
              <a:ext cx="45026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compile → file.pdf；watch → 增量编译与预览（整理）</a:t>
              </a: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680085" y="3231356"/>
            <a:ext cx="359986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整理自 typst-doc-cn/tutorial · introduction.typ</a:t>
            </a:r>
          </a:p>
        </p:txBody>
      </p:sp>
    </p:spTree>
  </p:cSld>
  <p:clrMapOvr>
    <a:masterClrMapping/>
  </p:clrMapOvr>
  <mc:AlternateContent>
    <mc:Choice Requires="p159">
      <p:transition p14:dur="8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3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proof-marks"/>
          <p:cNvGrpSpPr/>
          <p:nvPr/>
        </p:nvGrpSpPr>
        <p:grpSpPr>
          <a:xfrm>
            <a:off x="133350" y="133350"/>
            <a:ext cx="8305800" cy="3381375"/>
            <a:chOff x="133350" y="133350"/>
            <a:chExt cx="8305800" cy="3381375"/>
          </a:xfrm>
        </p:grpSpPr>
        <p:sp>
          <p:nvSpPr>
            <p:cNvPr id="2" name="Line 2"/>
            <p:cNvSpPr/>
            <p:nvPr/>
          </p:nvSpPr>
          <p:spPr>
            <a:xfrm>
              <a:off x="133350" y="22860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" name="Line 3"/>
            <p:cNvSpPr/>
            <p:nvPr/>
          </p:nvSpPr>
          <p:spPr>
            <a:xfrm>
              <a:off x="228600" y="13335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8248650" y="22860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8343900" y="13335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133350" y="3419475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228600" y="3324225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8248650" y="3419475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8343900" y="3324225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685800" y="823912"/>
              <a:ext cx="7505700" cy="9525"/>
            </a:xfrm>
            <a:custGeom>
              <a:avLst/>
              <a:gdLst/>
              <a:ahLst/>
              <a:cxnLst/>
              <a:rect l="l" t="t" r="r" b="b"/>
              <a:pathLst>
                <a:path w="7505700" h="9525">
                  <a:moveTo>
                    <a:pt x="0" y="0"/>
                  </a:moveTo>
                  <a:lnTo>
                    <a:pt x="7505700" y="0"/>
                  </a:lnTo>
                </a:path>
              </a:pathLst>
            </a:custGeom>
            <a:noFill/>
            <a:ln w="9525">
              <a:solidFill>
                <a:schemeClr val="accent6">
                  <a:alpha val="60000"/>
                </a:scheme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3109912" y="990600"/>
              <a:ext cx="9525" cy="2152650"/>
            </a:xfrm>
            <a:custGeom>
              <a:avLst/>
              <a:gdLst/>
              <a:ahLst/>
              <a:cxnLst/>
              <a:rect l="l" t="t" r="r" b="b"/>
              <a:pathLst>
                <a:path w="9525" h="2152650">
                  <a:moveTo>
                    <a:pt x="0" y="0"/>
                  </a:moveTo>
                  <a:lnTo>
                    <a:pt x="0" y="2152650"/>
                  </a:lnTo>
                </a:path>
              </a:pathLst>
            </a:custGeom>
            <a:noFill/>
            <a:ln w="9525">
              <a:solidFill>
                <a:schemeClr val="accent6">
                  <a:alpha val="60000"/>
                </a:schemeClr>
              </a:solidFill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406659" y="469106"/>
              <a:ext cx="94356" cy="2982278"/>
              <a:chOff x="406659" y="469106"/>
              <a:chExt cx="94356" cy="2982278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406659" y="469106"/>
                <a:ext cx="9435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120" dirty="0">
                    <a:solidFill>
                      <a:srgbClr val="B3A794"/>
                    </a:solidFill>
                    <a:latin typeface="Consolas"/>
                    <a:ea typeface="Consolas"/>
                    <a:cs typeface="Consolas"/>
                  </a:rPr>
                  <a:t>1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406659" y="1593056"/>
                <a:ext cx="9435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120" dirty="0">
                    <a:solidFill>
                      <a:srgbClr val="B3A794"/>
                    </a:solidFill>
                    <a:latin typeface="Consolas"/>
                    <a:ea typeface="Consolas"/>
                    <a:cs typeface="Consolas"/>
                  </a:rPr>
                  <a:t>2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06659" y="2202656"/>
                <a:ext cx="9435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120" dirty="0">
                    <a:solidFill>
                      <a:srgbClr val="B3A794"/>
                    </a:solidFill>
                    <a:latin typeface="Consolas"/>
                    <a:ea typeface="Consolas"/>
                    <a:cs typeface="Consolas"/>
                  </a:rPr>
                  <a:t>3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06659" y="2621756"/>
                <a:ext cx="9435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120" dirty="0">
                    <a:solidFill>
                      <a:srgbClr val="B3A794"/>
                    </a:solidFill>
                    <a:latin typeface="Consolas"/>
                    <a:ea typeface="Consolas"/>
                    <a:cs typeface="Consolas"/>
                  </a:rPr>
                  <a:t>4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06659" y="3231356"/>
                <a:ext cx="9435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120" dirty="0">
                    <a:solidFill>
                      <a:srgbClr val="B3A794"/>
                    </a:solidFill>
                    <a:latin typeface="Consolas"/>
                    <a:ea typeface="Consolas"/>
                    <a:cs typeface="Consolas"/>
                  </a:rPr>
                  <a:t>5</a:t>
                </a:r>
              </a:p>
            </p:txBody>
          </p:sp>
        </p:grpSp>
      </p:grpSp>
      <p:grpSp>
        <p:nvGrpSpPr>
          <p:cNvPr id="20" name="!!series-name"/>
          <p:cNvGrpSpPr/>
          <p:nvPr/>
        </p:nvGrpSpPr>
        <p:grpSpPr>
          <a:xfrm>
            <a:off x="674370" y="347662"/>
            <a:ext cx="1680896" cy="440055"/>
            <a:chOff x="674370" y="347662"/>
            <a:chExt cx="1680896" cy="440055"/>
          </a:xfrm>
        </p:grpSpPr>
        <p:sp>
          <p:nvSpPr>
            <p:cNvPr id="19" name="TextBox 19"/>
            <p:cNvSpPr txBox="1"/>
            <p:nvPr/>
          </p:nvSpPr>
          <p:spPr>
            <a:xfrm>
              <a:off x="674370" y="347662"/>
              <a:ext cx="168089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Typst 入门</a:t>
              </a:r>
            </a:p>
          </p:txBody>
        </p:sp>
      </p:grpSp>
      <p:grpSp>
        <p:nvGrpSpPr>
          <p:cNvPr id="25" name="chapter-rail"/>
          <p:cNvGrpSpPr/>
          <p:nvPr/>
        </p:nvGrpSpPr>
        <p:grpSpPr>
          <a:xfrm>
            <a:off x="3984117" y="444818"/>
            <a:ext cx="4195496" cy="264033"/>
            <a:chOff x="3984117" y="444818"/>
            <a:chExt cx="4195496" cy="264033"/>
          </a:xfrm>
        </p:grpSpPr>
        <p:sp>
          <p:nvSpPr>
            <p:cNvPr id="21" name="TextBox 21"/>
            <p:cNvSpPr txBox="1"/>
            <p:nvPr/>
          </p:nvSpPr>
          <p:spPr>
            <a:xfrm>
              <a:off x="3984117" y="444818"/>
              <a:ext cx="631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 导引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803267" y="444818"/>
              <a:ext cx="10078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 标记语法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993892" y="444818"/>
              <a:ext cx="9950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 数学公式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184517" y="444818"/>
              <a:ext cx="9950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 中文排版</a:t>
              </a:r>
            </a:p>
          </p:txBody>
        </p:sp>
      </p:grpSp>
      <p:grpSp>
        <p:nvGrpSpPr>
          <p:cNvPr id="27" name="!!red-marker"/>
          <p:cNvGrpSpPr/>
          <p:nvPr/>
        </p:nvGrpSpPr>
        <p:grpSpPr>
          <a:xfrm>
            <a:off x="4810125" y="704850"/>
            <a:ext cx="1000125" cy="38100"/>
            <a:chOff x="4810125" y="704850"/>
            <a:chExt cx="1000125" cy="38100"/>
          </a:xfrm>
        </p:grpSpPr>
        <p:sp>
          <p:nvSpPr>
            <p:cNvPr id="26" name="Rectangle 26"/>
            <p:cNvSpPr/>
            <p:nvPr/>
          </p:nvSpPr>
          <p:spPr>
            <a:xfrm>
              <a:off x="4810125" y="704850"/>
              <a:ext cx="1000125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31" name="chapter-head"/>
          <p:cNvGrpSpPr/>
          <p:nvPr/>
        </p:nvGrpSpPr>
        <p:grpSpPr>
          <a:xfrm>
            <a:off x="666750" y="937260"/>
            <a:ext cx="2171700" cy="2003107"/>
            <a:chOff x="666750" y="937260"/>
            <a:chExt cx="2171700" cy="2003107"/>
          </a:xfrm>
        </p:grpSpPr>
        <p:sp>
          <p:nvSpPr>
            <p:cNvPr id="28" name="TextBox 28"/>
            <p:cNvSpPr txBox="1"/>
            <p:nvPr/>
          </p:nvSpPr>
          <p:spPr>
            <a:xfrm>
              <a:off x="666750" y="937260"/>
              <a:ext cx="1164641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02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66750" y="1919288"/>
              <a:ext cx="2171700" cy="7334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7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标记语法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74370" y="2500312"/>
              <a:ext cx="130302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5"/>
                  </a:solidFill>
                  <a:latin typeface="+mj-lt"/>
                  <a:ea typeface="+mj-ea"/>
                  <a:cs typeface="+mj-cs"/>
                </a:rPr>
                <a:t>语义先行</a:t>
              </a:r>
            </a:p>
          </p:txBody>
        </p:sp>
      </p:grpSp>
      <p:grpSp>
        <p:nvGrpSpPr>
          <p:cNvPr id="43" name="code-panel"/>
          <p:cNvGrpSpPr/>
          <p:nvPr/>
        </p:nvGrpSpPr>
        <p:grpSpPr>
          <a:xfrm>
            <a:off x="3333750" y="990600"/>
            <a:ext cx="2247900" cy="1524000"/>
            <a:chOff x="3333750" y="990600"/>
            <a:chExt cx="2247900" cy="1524000"/>
          </a:xfrm>
        </p:grpSpPr>
        <p:sp>
          <p:nvSpPr>
            <p:cNvPr id="32" name="Rectangle 32"/>
            <p:cNvSpPr/>
            <p:nvPr/>
          </p:nvSpPr>
          <p:spPr>
            <a:xfrm>
              <a:off x="3333750" y="990600"/>
              <a:ext cx="2247900" cy="1524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3511809" y="1158240"/>
              <a:ext cx="1600220" cy="1266444"/>
              <a:chOff x="3511809" y="1158240"/>
              <a:chExt cx="1600220" cy="1266444"/>
            </a:xfrm>
          </p:grpSpPr>
          <p:grpSp>
            <p:nvGrpSpPr>
              <p:cNvPr id="37" name="Group 37"/>
              <p:cNvGrpSpPr/>
              <p:nvPr/>
            </p:nvGrpSpPr>
            <p:grpSpPr>
              <a:xfrm>
                <a:off x="3511809" y="1231106"/>
                <a:ext cx="94356" cy="1134428"/>
                <a:chOff x="3511809" y="1231106"/>
                <a:chExt cx="94356" cy="1134428"/>
              </a:xfrm>
            </p:grpSpPr>
            <p:sp>
              <p:nvSpPr>
                <p:cNvPr id="33" name="TextBox 33"/>
                <p:cNvSpPr txBox="1"/>
                <p:nvPr/>
              </p:nvSpPr>
              <p:spPr>
                <a:xfrm>
                  <a:off x="3511809" y="1231106"/>
                  <a:ext cx="94356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120" dirty="0">
                      <a:solidFill>
                        <a:schemeClr val="accent3"/>
                      </a:solidFill>
                      <a:latin typeface="Consolas"/>
                      <a:ea typeface="Consolas"/>
                      <a:cs typeface="Consolas"/>
                    </a:rPr>
                    <a:t>1</a:t>
                  </a:r>
                </a:p>
              </p:txBody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3511809" y="1535906"/>
                  <a:ext cx="94356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120" dirty="0">
                      <a:solidFill>
                        <a:schemeClr val="accent3"/>
                      </a:solidFill>
                      <a:latin typeface="Consolas"/>
                      <a:ea typeface="Consolas"/>
                      <a:cs typeface="Consolas"/>
                    </a:rPr>
                    <a:t>2</a:t>
                  </a:r>
                </a:p>
              </p:txBody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3511809" y="1840706"/>
                  <a:ext cx="94356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120" dirty="0">
                      <a:solidFill>
                        <a:schemeClr val="accent3"/>
                      </a:solidFill>
                      <a:latin typeface="Consolas"/>
                      <a:ea typeface="Consolas"/>
                      <a:cs typeface="Consolas"/>
                    </a:rPr>
                    <a:t>3</a:t>
                  </a:r>
                </a:p>
              </p:txBody>
            </p:sp>
            <p:sp>
              <p:nvSpPr>
                <p:cNvPr id="36" name="TextBox 36"/>
                <p:cNvSpPr txBox="1"/>
                <p:nvPr/>
              </p:nvSpPr>
              <p:spPr>
                <a:xfrm>
                  <a:off x="3511809" y="2145506"/>
                  <a:ext cx="94356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120" dirty="0">
                      <a:solidFill>
                        <a:schemeClr val="accent3"/>
                      </a:solidFill>
                      <a:latin typeface="Consolas"/>
                      <a:ea typeface="Consolas"/>
                      <a:cs typeface="Consolas"/>
                    </a:rPr>
                    <a:t>4</a:t>
                  </a:r>
                </a:p>
              </p:txBody>
            </p:sp>
          </p:grpSp>
          <p:sp>
            <p:nvSpPr>
              <p:cNvPr id="38" name="TextBox 38"/>
              <p:cNvSpPr txBox="1"/>
              <p:nvPr/>
            </p:nvSpPr>
            <p:spPr>
              <a:xfrm>
                <a:off x="3724656" y="1158240"/>
                <a:ext cx="125410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E0A94A"/>
                    </a:solidFill>
                    <a:latin typeface="Consolas"/>
                    <a:ea typeface="Consolas"/>
                    <a:cs typeface="Consolas"/>
                  </a:rPr>
                  <a:t>=</a:t>
                </a:r>
                <a:r>
                  <a:rPr lang="zh-CN" sz="1800" dirty="0">
                    <a:solidFill>
                      <a:srgbClr val="F3EEE3"/>
                    </a:solidFill>
                    <a:latin typeface="Consolas"/>
                    <a:ea typeface="Microsoft YaHei"/>
                    <a:cs typeface="Consolas"/>
                  </a:rPr>
                  <a:t xml:space="preserve"> 一级标题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3724656" y="1463040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F3EEE3"/>
                    </a:solidFill>
                    <a:latin typeface="Consolas"/>
                    <a:ea typeface="Microsoft YaHei"/>
                    <a:cs typeface="Consolas"/>
                  </a:rPr>
                  <a:t>我走了。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3724656" y="1767840"/>
                <a:ext cx="138737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E0A94A"/>
                    </a:solidFill>
                    <a:latin typeface="Consolas"/>
                    <a:ea typeface="Consolas"/>
                    <a:cs typeface="Consolas"/>
                  </a:rPr>
                  <a:t>==</a:t>
                </a:r>
                <a:r>
                  <a:rPr lang="zh-CN" sz="1800" dirty="0">
                    <a:solidFill>
                      <a:srgbClr val="F3EEE3"/>
                    </a:solidFill>
                    <a:latin typeface="Consolas"/>
                    <a:ea typeface="Microsoft YaHei"/>
                    <a:cs typeface="Consolas"/>
                  </a:rPr>
                  <a:t xml:space="preserve"> 二级标题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3724656" y="2072640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F3EEE3"/>
                    </a:solidFill>
                    <a:latin typeface="Consolas"/>
                    <a:ea typeface="Microsoft YaHei"/>
                    <a:cs typeface="Consolas"/>
                  </a:rPr>
                  <a:t>我来了。</a:t>
                </a:r>
              </a:p>
            </p:txBody>
          </p:sp>
        </p:grpSp>
      </p:grpSp>
      <p:grpSp>
        <p:nvGrpSpPr>
          <p:cNvPr id="51" name="result-panel"/>
          <p:cNvGrpSpPr/>
          <p:nvPr/>
        </p:nvGrpSpPr>
        <p:grpSpPr>
          <a:xfrm>
            <a:off x="5657850" y="995362"/>
            <a:ext cx="2524125" cy="1514475"/>
            <a:chOff x="5657850" y="995362"/>
            <a:chExt cx="2524125" cy="1514475"/>
          </a:xfrm>
        </p:grpSpPr>
        <p:sp>
          <p:nvSpPr>
            <p:cNvPr id="44" name="Freeform 44"/>
            <p:cNvSpPr/>
            <p:nvPr/>
          </p:nvSpPr>
          <p:spPr>
            <a:xfrm>
              <a:off x="5657850" y="1619250"/>
              <a:ext cx="209550" cy="190500"/>
            </a:xfrm>
            <a:prstGeom prst="rightArrow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5943600" y="995362"/>
              <a:ext cx="2238375" cy="1514475"/>
            </a:xfrm>
            <a:prstGeom prst="rect">
              <a:avLst/>
            </a:pr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6122670" y="1147762"/>
              <a:ext cx="1303020" cy="1294639"/>
              <a:chOff x="6122670" y="1147762"/>
              <a:chExt cx="1303020" cy="1294639"/>
            </a:xfrm>
          </p:grpSpPr>
          <p:sp>
            <p:nvSpPr>
              <p:cNvPr id="46" name="TextBox 46"/>
              <p:cNvSpPr txBox="1"/>
              <p:nvPr/>
            </p:nvSpPr>
            <p:spPr>
              <a:xfrm>
                <a:off x="6122670" y="1147762"/>
                <a:ext cx="1303020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25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一级标题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6127242" y="1530668"/>
                <a:ext cx="78181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j-lt"/>
                    <a:ea typeface="+mj-ea"/>
                    <a:cs typeface="+mj-cs"/>
                  </a:rPr>
                  <a:t>我走了。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6124956" y="1863090"/>
                <a:ext cx="104241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二级标题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6127242" y="2178368"/>
                <a:ext cx="78181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j-lt"/>
                    <a:ea typeface="+mj-ea"/>
                    <a:cs typeface="+mj-cs"/>
                  </a:rPr>
                  <a:t>我来了。</a:t>
                </a:r>
              </a:p>
            </p:txBody>
          </p:sp>
        </p:grpSp>
      </p:grpSp>
      <p:grpSp>
        <p:nvGrpSpPr>
          <p:cNvPr id="54" name="rule-quote"/>
          <p:cNvGrpSpPr/>
          <p:nvPr/>
        </p:nvGrpSpPr>
        <p:grpSpPr>
          <a:xfrm>
            <a:off x="3333750" y="2667000"/>
            <a:ext cx="4280916" cy="367284"/>
            <a:chOff x="3333750" y="2667000"/>
            <a:chExt cx="4280916" cy="367284"/>
          </a:xfrm>
        </p:grpSpPr>
        <p:sp>
          <p:nvSpPr>
            <p:cNvPr id="52" name="Rectangle 52"/>
            <p:cNvSpPr/>
            <p:nvPr/>
          </p:nvSpPr>
          <p:spPr>
            <a:xfrm>
              <a:off x="3333750" y="2667000"/>
              <a:ext cx="28575" cy="2667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3477006" y="2682240"/>
              <a:ext cx="41376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等于号的数量恰好对应了标题的级别。</a:t>
              </a:r>
            </a:p>
          </p:txBody>
        </p:sp>
      </p:grpSp>
      <p:sp>
        <p:nvSpPr>
          <p:cNvPr id="55" name="TextBox 55"/>
          <p:cNvSpPr txBox="1"/>
          <p:nvPr/>
        </p:nvSpPr>
        <p:spPr>
          <a:xfrm>
            <a:off x="680085" y="3231356"/>
            <a:ext cx="382602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整理自 typst-doc-cn/tutorial · writing-markup.typ</a:t>
            </a:r>
          </a:p>
        </p:txBody>
      </p:sp>
    </p:spTree>
  </p:cSld>
  <p:clrMapOvr>
    <a:masterClrMapping/>
  </p:clrMapOvr>
  <mc:AlternateContent>
    <mc:Choice Requires="p159">
      <p:transition p14:dur="8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4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a14="http://schemas.microsoft.com/office/drawing/2010/main" xmlns:m="http://schemas.openxmlformats.org/officeDocument/2006/math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proof-marks"/>
          <p:cNvGrpSpPr/>
          <p:nvPr/>
        </p:nvGrpSpPr>
        <p:grpSpPr>
          <a:xfrm>
            <a:off x="133350" y="133350"/>
            <a:ext cx="8305800" cy="3381375"/>
            <a:chOff x="133350" y="133350"/>
            <a:chExt cx="8305800" cy="3381375"/>
          </a:xfrm>
        </p:grpSpPr>
        <p:sp>
          <p:nvSpPr>
            <p:cNvPr id="2" name="Line 2"/>
            <p:cNvSpPr/>
            <p:nvPr/>
          </p:nvSpPr>
          <p:spPr>
            <a:xfrm>
              <a:off x="133350" y="22860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" name="Line 3"/>
            <p:cNvSpPr/>
            <p:nvPr/>
          </p:nvSpPr>
          <p:spPr>
            <a:xfrm>
              <a:off x="228600" y="13335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8248650" y="22860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8343900" y="13335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133350" y="3419475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228600" y="3324225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8248650" y="3419475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8343900" y="3324225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685800" y="823912"/>
              <a:ext cx="7505700" cy="9525"/>
            </a:xfrm>
            <a:custGeom>
              <a:avLst/>
              <a:gdLst/>
              <a:ahLst/>
              <a:cxnLst/>
              <a:rect l="l" t="t" r="r" b="b"/>
              <a:pathLst>
                <a:path w="7505700" h="9525">
                  <a:moveTo>
                    <a:pt x="0" y="0"/>
                  </a:moveTo>
                  <a:lnTo>
                    <a:pt x="7505700" y="0"/>
                  </a:lnTo>
                </a:path>
              </a:pathLst>
            </a:custGeom>
            <a:noFill/>
            <a:ln w="9525">
              <a:solidFill>
                <a:schemeClr val="accent6">
                  <a:alpha val="60000"/>
                </a:scheme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3109912" y="990600"/>
              <a:ext cx="9525" cy="2152650"/>
            </a:xfrm>
            <a:custGeom>
              <a:avLst/>
              <a:gdLst/>
              <a:ahLst/>
              <a:cxnLst/>
              <a:rect l="l" t="t" r="r" b="b"/>
              <a:pathLst>
                <a:path w="9525" h="2152650">
                  <a:moveTo>
                    <a:pt x="0" y="0"/>
                  </a:moveTo>
                  <a:lnTo>
                    <a:pt x="0" y="2152650"/>
                  </a:lnTo>
                </a:path>
              </a:pathLst>
            </a:custGeom>
            <a:noFill/>
            <a:ln w="9525">
              <a:solidFill>
                <a:schemeClr val="accent6">
                  <a:alpha val="60000"/>
                </a:scheme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3333750" y="2519362"/>
              <a:ext cx="4857750" cy="9525"/>
            </a:xfrm>
            <a:custGeom>
              <a:avLst/>
              <a:gdLst/>
              <a:ahLst/>
              <a:cxnLst/>
              <a:rect l="l" t="t" r="r" b="b"/>
              <a:pathLst>
                <a:path w="4857750" h="9525">
                  <a:moveTo>
                    <a:pt x="0" y="0"/>
                  </a:moveTo>
                  <a:lnTo>
                    <a:pt x="4857750" y="0"/>
                  </a:lnTo>
                </a:path>
              </a:pathLst>
            </a:custGeom>
            <a:noFill/>
            <a:ln w="9525">
              <a:solidFill>
                <a:schemeClr val="accent6">
                  <a:alpha val="60000"/>
                </a:schemeClr>
              </a:solidFill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406659" y="469106"/>
              <a:ext cx="94356" cy="2982278"/>
              <a:chOff x="406659" y="469106"/>
              <a:chExt cx="94356" cy="2982278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406659" y="469106"/>
                <a:ext cx="9435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120" dirty="0">
                    <a:solidFill>
                      <a:srgbClr val="B3A794"/>
                    </a:solidFill>
                    <a:latin typeface="Consolas"/>
                    <a:ea typeface="Consolas"/>
                    <a:cs typeface="Consolas"/>
                  </a:rPr>
                  <a:t>1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06659" y="1593056"/>
                <a:ext cx="9435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120" dirty="0">
                    <a:solidFill>
                      <a:srgbClr val="B3A794"/>
                    </a:solidFill>
                    <a:latin typeface="Consolas"/>
                    <a:ea typeface="Consolas"/>
                    <a:cs typeface="Consolas"/>
                  </a:rPr>
                  <a:t>2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06659" y="2202656"/>
                <a:ext cx="9435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120" dirty="0">
                    <a:solidFill>
                      <a:srgbClr val="B3A794"/>
                    </a:solidFill>
                    <a:latin typeface="Consolas"/>
                    <a:ea typeface="Consolas"/>
                    <a:cs typeface="Consolas"/>
                  </a:rPr>
                  <a:t>3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06659" y="2621756"/>
                <a:ext cx="9435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120" dirty="0">
                    <a:solidFill>
                      <a:srgbClr val="B3A794"/>
                    </a:solidFill>
                    <a:latin typeface="Consolas"/>
                    <a:ea typeface="Consolas"/>
                    <a:cs typeface="Consolas"/>
                  </a:rPr>
                  <a:t>4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06659" y="3231356"/>
                <a:ext cx="9435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120" dirty="0">
                    <a:solidFill>
                      <a:srgbClr val="B3A794"/>
                    </a:solidFill>
                    <a:latin typeface="Consolas"/>
                    <a:ea typeface="Consolas"/>
                    <a:cs typeface="Consolas"/>
                  </a:rPr>
                  <a:t>5</a:t>
                </a:r>
              </a:p>
            </p:txBody>
          </p:sp>
        </p:grpSp>
      </p:grpSp>
      <p:grpSp>
        <p:nvGrpSpPr>
          <p:cNvPr id="21" name="!!series-name"/>
          <p:cNvGrpSpPr/>
          <p:nvPr/>
        </p:nvGrpSpPr>
        <p:grpSpPr>
          <a:xfrm>
            <a:off x="674370" y="347662"/>
            <a:ext cx="1680896" cy="440055"/>
            <a:chOff x="674370" y="347662"/>
            <a:chExt cx="1680896" cy="440055"/>
          </a:xfrm>
        </p:grpSpPr>
        <p:sp>
          <p:nvSpPr>
            <p:cNvPr id="20" name="TextBox 20"/>
            <p:cNvSpPr txBox="1"/>
            <p:nvPr/>
          </p:nvSpPr>
          <p:spPr>
            <a:xfrm>
              <a:off x="674370" y="347662"/>
              <a:ext cx="168089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Typst 入门</a:t>
              </a:r>
            </a:p>
          </p:txBody>
        </p:sp>
      </p:grpSp>
      <p:grpSp>
        <p:nvGrpSpPr>
          <p:cNvPr id="26" name="chapter-rail"/>
          <p:cNvGrpSpPr/>
          <p:nvPr/>
        </p:nvGrpSpPr>
        <p:grpSpPr>
          <a:xfrm>
            <a:off x="3984117" y="444818"/>
            <a:ext cx="4195496" cy="264033"/>
            <a:chOff x="3984117" y="444818"/>
            <a:chExt cx="4195496" cy="264033"/>
          </a:xfrm>
        </p:grpSpPr>
        <p:sp>
          <p:nvSpPr>
            <p:cNvPr id="22" name="TextBox 22"/>
            <p:cNvSpPr txBox="1"/>
            <p:nvPr/>
          </p:nvSpPr>
          <p:spPr>
            <a:xfrm>
              <a:off x="3984117" y="444818"/>
              <a:ext cx="631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 导引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803267" y="444818"/>
              <a:ext cx="9950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标记语法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993892" y="444818"/>
              <a:ext cx="10078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 数学公式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184517" y="444818"/>
              <a:ext cx="9950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 中文排版</a:t>
              </a:r>
            </a:p>
          </p:txBody>
        </p:sp>
      </p:grpSp>
      <p:grpSp>
        <p:nvGrpSpPr>
          <p:cNvPr id="28" name="!!red-marker"/>
          <p:cNvGrpSpPr/>
          <p:nvPr/>
        </p:nvGrpSpPr>
        <p:grpSpPr>
          <a:xfrm>
            <a:off x="6000750" y="704850"/>
            <a:ext cx="1000125" cy="38100"/>
            <a:chOff x="6000750" y="704850"/>
            <a:chExt cx="1000125" cy="38100"/>
          </a:xfrm>
        </p:grpSpPr>
        <p:sp>
          <p:nvSpPr>
            <p:cNvPr id="27" name="Rectangle 27"/>
            <p:cNvSpPr/>
            <p:nvPr/>
          </p:nvSpPr>
          <p:spPr>
            <a:xfrm>
              <a:off x="6000750" y="704850"/>
              <a:ext cx="1000125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32" name="chapter-head"/>
          <p:cNvGrpSpPr/>
          <p:nvPr/>
        </p:nvGrpSpPr>
        <p:grpSpPr>
          <a:xfrm>
            <a:off x="666750" y="937260"/>
            <a:ext cx="2171700" cy="2003107"/>
            <a:chOff x="666750" y="937260"/>
            <a:chExt cx="2171700" cy="2003107"/>
          </a:xfrm>
        </p:grpSpPr>
        <p:sp>
          <p:nvSpPr>
            <p:cNvPr id="29" name="TextBox 29"/>
            <p:cNvSpPr txBox="1"/>
            <p:nvPr/>
          </p:nvSpPr>
          <p:spPr>
            <a:xfrm>
              <a:off x="666750" y="937260"/>
              <a:ext cx="1164641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03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66750" y="1919288"/>
              <a:ext cx="2171700" cy="7334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7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数学公式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74370" y="2500312"/>
              <a:ext cx="199110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5"/>
                  </a:solidFill>
                  <a:latin typeface="+mj-lt"/>
                  <a:ea typeface="+mj-ea"/>
                  <a:cs typeface="+mj-cs"/>
                </a:rPr>
                <a:t>用一对 $ 进入</a:t>
              </a:r>
            </a:p>
          </p:txBody>
        </p:sp>
      </p:grpSp>
      <p:grpSp>
        <p:nvGrpSpPr>
          <p:cNvPr id="37" name="code-strip"/>
          <p:cNvGrpSpPr/>
          <p:nvPr/>
        </p:nvGrpSpPr>
        <p:grpSpPr>
          <a:xfrm>
            <a:off x="3333750" y="990600"/>
            <a:ext cx="4857750" cy="533400"/>
            <a:chOff x="3333750" y="990600"/>
            <a:chExt cx="4857750" cy="533400"/>
          </a:xfrm>
        </p:grpSpPr>
        <p:sp>
          <p:nvSpPr>
            <p:cNvPr id="33" name="Rectangle 33"/>
            <p:cNvSpPr/>
            <p:nvPr/>
          </p:nvSpPr>
          <p:spPr>
            <a:xfrm>
              <a:off x="3333750" y="990600"/>
              <a:ext cx="4857750" cy="533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3492759" y="1155382"/>
              <a:ext cx="4196316" cy="322707"/>
              <a:chOff x="3492759" y="1155382"/>
              <a:chExt cx="4196316" cy="322707"/>
            </a:xfrm>
          </p:grpSpPr>
          <p:sp>
            <p:nvSpPr>
              <p:cNvPr id="34" name="TextBox 34"/>
              <p:cNvSpPr txBox="1"/>
              <p:nvPr/>
            </p:nvSpPr>
            <p:spPr>
              <a:xfrm>
                <a:off x="3492759" y="1212056"/>
                <a:ext cx="9435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120" dirty="0">
                    <a:solidFill>
                      <a:schemeClr val="accent3"/>
                    </a:solidFill>
                    <a:latin typeface="Consolas"/>
                    <a:ea typeface="Consolas"/>
                    <a:cs typeface="Consolas"/>
                  </a:rPr>
                  <a:t>1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3706368" y="1155382"/>
                <a:ext cx="398270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E0A94A"/>
                    </a:solidFill>
                    <a:latin typeface="Consolas"/>
                    <a:ea typeface="Consolas"/>
                    <a:cs typeface="Consolas"/>
                  </a:rPr>
                  <a:t>$</a:t>
                </a:r>
                <a:r>
                  <a:rPr lang="en-US" sz="1650" dirty="0">
                    <a:solidFill>
                      <a:srgbClr val="F3EEE3"/>
                    </a:solidFill>
                    <a:latin typeface="Consolas"/>
                    <a:ea typeface="Consolas"/>
                    <a:cs typeface="Consolas"/>
                  </a:rPr>
                  <a:t xml:space="preserve"> A = {x | x in NN and x &lt; 10} </a:t>
                </a:r>
                <a:r>
                  <a:rPr lang="zh-CN" sz="1650" dirty="0">
                    <a:solidFill>
                      <a:srgbClr val="E0A94A"/>
                    </a:solidFill>
                    <a:latin typeface="Consolas"/>
                    <a:ea typeface="Consolas"/>
                    <a:cs typeface="Consolas"/>
                  </a:rPr>
                  <a:t>$</a:t>
                </a:r>
              </a:p>
            </p:txBody>
          </p:sp>
        </p:grpSp>
      </p:grpSp>
      <p:grpSp>
        <p:nvGrpSpPr>
          <p:cNvPr id="40" name="result-link"/>
          <p:cNvGrpSpPr/>
          <p:nvPr/>
        </p:nvGrpSpPr>
        <p:grpSpPr>
          <a:xfrm>
            <a:off x="5676900" y="1571625"/>
            <a:ext cx="875513" cy="250984"/>
            <a:chOff x="5676900" y="1571625"/>
            <a:chExt cx="875513" cy="250984"/>
          </a:xfrm>
        </p:grpSpPr>
        <p:sp>
          <p:nvSpPr>
            <p:cNvPr id="38" name="Freeform 38"/>
            <p:cNvSpPr/>
            <p:nvPr/>
          </p:nvSpPr>
          <p:spPr>
            <a:xfrm>
              <a:off x="5676900" y="1571625"/>
              <a:ext cx="171450" cy="190500"/>
            </a:xfrm>
            <a:prstGeom prst="downArrow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937885" y="160258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排版结果</a:t>
              </a:r>
            </a:p>
          </p:txBody>
        </p:sp>
      </p:grpSp>
      <mc:AlternateContent>
        <mc:Choice Requires="a14">
          <p:sp>
            <p:nvSpPr>
              <p:cNvPr id="41" name="set-formula"/>
              <p:cNvSpPr txBox="1">
                <a:spLocks noGrp="1"/>
              </p:cNvSpPr>
              <p:nvPr/>
            </p:nvSpPr>
            <p:spPr>
              <a:xfrm>
                <a:off x="3333750" y="1809750"/>
                <a:ext cx="4857750" cy="64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>
                    <m:oMathParaPr>
                      <m:jc m:val="center"/>
                    </m:oMathParaPr>
                    <m:oMath>
                      <m:r>
                        <a:rPr lang="zh-CN" sz="2400" dirty="0">
                          <a:solidFill>
                            <a:srgbClr val="1D1A1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zh-CN" sz="2400" dirty="0">
                          <a:solidFill>
                            <a:srgbClr val="1D1A1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{"/>
                          <m:sepChr m:val=""/>
                          <m:endChr m:val="}"/>
                          <m:grow m:val="on"/>
                          <m:ctrlPr>
                            <a:rPr lang="zh-CN" sz="2400" dirty="0">
                              <a:solidFill>
                                <a:srgbClr val="1D1A1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2400" dirty="0">
                              <a:solidFill>
                                <a:srgbClr val="1D1A1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zh-CN" sz="2400" dirty="0">
                              <a:solidFill>
                                <a:srgbClr val="1D1A1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∣</m:t>
                          </m:r>
                          <m:r>
                            <a:rPr lang="zh-CN" sz="2400" dirty="0">
                              <a:solidFill>
                                <a:srgbClr val="1D1A1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zh-CN" sz="2400" dirty="0">
                              <a:solidFill>
                                <a:srgbClr val="1D1A1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∈</m:t>
                          </m:r>
                          <m:r>
                            <m:rPr>
                              <m:scr m:val="double-struck"/>
                              <m:sty m:val="p"/>
                            </m:rPr>
                            <a:rPr lang="zh-CN" sz="2400" dirty="0">
                              <a:solidFill>
                                <a:srgbClr val="1D1A1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2400" dirty="0">
                              <a:solidFill>
                                <a:srgbClr val="1D1A1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∧</m:t>
                          </m:r>
                          <m:r>
                            <a:rPr lang="zh-CN" sz="2400" dirty="0">
                              <a:solidFill>
                                <a:srgbClr val="1D1A1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zh-CN" sz="2400" dirty="0">
                              <a:solidFill>
                                <a:srgbClr val="1D1A1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&lt;</m:t>
                          </m:r>
                          <m:r>
                            <a:rPr lang="zh-CN" sz="2400" dirty="0">
                              <a:solidFill>
                                <a:srgbClr val="1D1A1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10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44" name="display-note"/>
          <p:cNvGrpSpPr/>
          <p:nvPr/>
        </p:nvGrpSpPr>
        <p:grpSpPr>
          <a:xfrm>
            <a:off x="3333750" y="2686050"/>
            <a:ext cx="4663169" cy="367284"/>
            <a:chOff x="3333750" y="2686050"/>
            <a:chExt cx="4663169" cy="367284"/>
          </a:xfrm>
        </p:grpSpPr>
        <p:sp>
          <p:nvSpPr>
            <p:cNvPr id="42" name="Rectangle 42"/>
            <p:cNvSpPr/>
            <p:nvPr/>
          </p:nvSpPr>
          <p:spPr>
            <a:xfrm>
              <a:off x="3333750" y="2686050"/>
              <a:ext cx="28575" cy="2667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3477006" y="2701290"/>
              <a:ext cx="451991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$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内部两侧如果都有空白那么就是行间公式</a:t>
              </a:r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680085" y="3231356"/>
            <a:ext cx="366017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整理自 typst-doc-cn/tutorial · writing-math.typ</a:t>
            </a:r>
          </a:p>
        </p:txBody>
      </p:sp>
    </p:spTree>
  </p:cSld>
  <p:clrMapOvr>
    <a:masterClrMapping/>
  </p:clrMapOvr>
  <mc:AlternateContent>
    <mc:Choice Requires="p159">
      <p:transition p14:dur="8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2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2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proof-marks"/>
          <p:cNvGrpSpPr/>
          <p:nvPr/>
        </p:nvGrpSpPr>
        <p:grpSpPr>
          <a:xfrm>
            <a:off x="133350" y="133350"/>
            <a:ext cx="8305800" cy="3381375"/>
            <a:chOff x="133350" y="133350"/>
            <a:chExt cx="8305800" cy="3381375"/>
          </a:xfrm>
        </p:grpSpPr>
        <p:sp>
          <p:nvSpPr>
            <p:cNvPr id="2" name="Line 2"/>
            <p:cNvSpPr/>
            <p:nvPr/>
          </p:nvSpPr>
          <p:spPr>
            <a:xfrm>
              <a:off x="133350" y="22860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" name="Line 3"/>
            <p:cNvSpPr/>
            <p:nvPr/>
          </p:nvSpPr>
          <p:spPr>
            <a:xfrm>
              <a:off x="228600" y="13335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8248650" y="22860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8343900" y="13335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133350" y="3419475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228600" y="3324225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8248650" y="3419475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8343900" y="3324225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685800" y="823912"/>
              <a:ext cx="7505700" cy="9525"/>
            </a:xfrm>
            <a:custGeom>
              <a:avLst/>
              <a:gdLst/>
              <a:ahLst/>
              <a:cxnLst/>
              <a:rect l="l" t="t" r="r" b="b"/>
              <a:pathLst>
                <a:path w="7505700" h="9525">
                  <a:moveTo>
                    <a:pt x="0" y="0"/>
                  </a:moveTo>
                  <a:lnTo>
                    <a:pt x="7505700" y="0"/>
                  </a:lnTo>
                </a:path>
              </a:pathLst>
            </a:custGeom>
            <a:noFill/>
            <a:ln w="9525">
              <a:solidFill>
                <a:schemeClr val="accent6">
                  <a:alpha val="60000"/>
                </a:scheme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3109912" y="990600"/>
              <a:ext cx="9525" cy="2152650"/>
            </a:xfrm>
            <a:custGeom>
              <a:avLst/>
              <a:gdLst/>
              <a:ahLst/>
              <a:cxnLst/>
              <a:rect l="l" t="t" r="r" b="b"/>
              <a:pathLst>
                <a:path w="9525" h="2152650">
                  <a:moveTo>
                    <a:pt x="0" y="0"/>
                  </a:moveTo>
                  <a:lnTo>
                    <a:pt x="0" y="2152650"/>
                  </a:lnTo>
                </a:path>
              </a:pathLst>
            </a:custGeom>
            <a:noFill/>
            <a:ln w="9525">
              <a:solidFill>
                <a:schemeClr val="accent6">
                  <a:alpha val="60000"/>
                </a:schemeClr>
              </a:solidFill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406659" y="469106"/>
              <a:ext cx="94356" cy="2982278"/>
              <a:chOff x="406659" y="469106"/>
              <a:chExt cx="94356" cy="2982278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406659" y="469106"/>
                <a:ext cx="9435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120" dirty="0">
                    <a:solidFill>
                      <a:srgbClr val="B3A794"/>
                    </a:solidFill>
                    <a:latin typeface="Consolas"/>
                    <a:ea typeface="Consolas"/>
                    <a:cs typeface="Consolas"/>
                  </a:rPr>
                  <a:t>1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406659" y="1593056"/>
                <a:ext cx="9435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120" dirty="0">
                    <a:solidFill>
                      <a:srgbClr val="B3A794"/>
                    </a:solidFill>
                    <a:latin typeface="Consolas"/>
                    <a:ea typeface="Consolas"/>
                    <a:cs typeface="Consolas"/>
                  </a:rPr>
                  <a:t>2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06659" y="2202656"/>
                <a:ext cx="9435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120" dirty="0">
                    <a:solidFill>
                      <a:srgbClr val="B3A794"/>
                    </a:solidFill>
                    <a:latin typeface="Consolas"/>
                    <a:ea typeface="Consolas"/>
                    <a:cs typeface="Consolas"/>
                  </a:rPr>
                  <a:t>3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06659" y="2621756"/>
                <a:ext cx="9435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120" dirty="0">
                    <a:solidFill>
                      <a:srgbClr val="B3A794"/>
                    </a:solidFill>
                    <a:latin typeface="Consolas"/>
                    <a:ea typeface="Consolas"/>
                    <a:cs typeface="Consolas"/>
                  </a:rPr>
                  <a:t>4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06659" y="3231356"/>
                <a:ext cx="9435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120" dirty="0">
                    <a:solidFill>
                      <a:srgbClr val="B3A794"/>
                    </a:solidFill>
                    <a:latin typeface="Consolas"/>
                    <a:ea typeface="Consolas"/>
                    <a:cs typeface="Consolas"/>
                  </a:rPr>
                  <a:t>5</a:t>
                </a:r>
              </a:p>
            </p:txBody>
          </p:sp>
        </p:grpSp>
      </p:grpSp>
      <p:grpSp>
        <p:nvGrpSpPr>
          <p:cNvPr id="20" name="!!series-name"/>
          <p:cNvGrpSpPr/>
          <p:nvPr/>
        </p:nvGrpSpPr>
        <p:grpSpPr>
          <a:xfrm>
            <a:off x="674370" y="347662"/>
            <a:ext cx="1680896" cy="440055"/>
            <a:chOff x="674370" y="347662"/>
            <a:chExt cx="1680896" cy="440055"/>
          </a:xfrm>
        </p:grpSpPr>
        <p:sp>
          <p:nvSpPr>
            <p:cNvPr id="19" name="TextBox 19"/>
            <p:cNvSpPr txBox="1"/>
            <p:nvPr/>
          </p:nvSpPr>
          <p:spPr>
            <a:xfrm>
              <a:off x="674370" y="347662"/>
              <a:ext cx="168089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Typst 入门</a:t>
              </a:r>
            </a:p>
          </p:txBody>
        </p:sp>
      </p:grpSp>
      <p:grpSp>
        <p:nvGrpSpPr>
          <p:cNvPr id="25" name="chapter-rail"/>
          <p:cNvGrpSpPr/>
          <p:nvPr/>
        </p:nvGrpSpPr>
        <p:grpSpPr>
          <a:xfrm>
            <a:off x="3984117" y="444818"/>
            <a:ext cx="4208217" cy="264033"/>
            <a:chOff x="3984117" y="444818"/>
            <a:chExt cx="4208217" cy="264033"/>
          </a:xfrm>
        </p:grpSpPr>
        <p:sp>
          <p:nvSpPr>
            <p:cNvPr id="21" name="TextBox 21"/>
            <p:cNvSpPr txBox="1"/>
            <p:nvPr/>
          </p:nvSpPr>
          <p:spPr>
            <a:xfrm>
              <a:off x="3984117" y="444818"/>
              <a:ext cx="631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 导引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803267" y="444818"/>
              <a:ext cx="9950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标记语法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993892" y="444818"/>
              <a:ext cx="9950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 数学公式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184517" y="444818"/>
              <a:ext cx="10078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04 中文排版</a:t>
              </a:r>
            </a:p>
          </p:txBody>
        </p:sp>
      </p:grpSp>
      <p:grpSp>
        <p:nvGrpSpPr>
          <p:cNvPr id="27" name="!!red-marker"/>
          <p:cNvGrpSpPr/>
          <p:nvPr/>
        </p:nvGrpSpPr>
        <p:grpSpPr>
          <a:xfrm>
            <a:off x="7191375" y="704850"/>
            <a:ext cx="1000125" cy="38100"/>
            <a:chOff x="7191375" y="704850"/>
            <a:chExt cx="1000125" cy="38100"/>
          </a:xfrm>
        </p:grpSpPr>
        <p:sp>
          <p:nvSpPr>
            <p:cNvPr id="26" name="Rectangle 26"/>
            <p:cNvSpPr/>
            <p:nvPr/>
          </p:nvSpPr>
          <p:spPr>
            <a:xfrm>
              <a:off x="7191375" y="704850"/>
              <a:ext cx="1000125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31" name="chapter-head"/>
          <p:cNvGrpSpPr/>
          <p:nvPr/>
        </p:nvGrpSpPr>
        <p:grpSpPr>
          <a:xfrm>
            <a:off x="666750" y="937260"/>
            <a:ext cx="2270760" cy="2003107"/>
            <a:chOff x="666750" y="937260"/>
            <a:chExt cx="2270760" cy="2003107"/>
          </a:xfrm>
        </p:grpSpPr>
        <p:sp>
          <p:nvSpPr>
            <p:cNvPr id="28" name="TextBox 28"/>
            <p:cNvSpPr txBox="1"/>
            <p:nvPr/>
          </p:nvSpPr>
          <p:spPr>
            <a:xfrm>
              <a:off x="666750" y="937260"/>
              <a:ext cx="1164641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04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66750" y="1919288"/>
              <a:ext cx="2171700" cy="7334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7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中文排版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74370" y="2500312"/>
              <a:ext cx="22631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5"/>
                  </a:solidFill>
                  <a:latin typeface="+mj-lt"/>
                  <a:ea typeface="+mj-ea"/>
                  <a:cs typeface="+mj-cs"/>
                </a:rPr>
                <a:t>先设语言与区域</a:t>
              </a:r>
            </a:p>
          </p:txBody>
        </p:sp>
      </p:grpSp>
      <p:grpSp>
        <p:nvGrpSpPr>
          <p:cNvPr id="34" name="five-kinds-quote"/>
          <p:cNvGrpSpPr/>
          <p:nvPr/>
        </p:nvGrpSpPr>
        <p:grpSpPr>
          <a:xfrm>
            <a:off x="3333750" y="1028700"/>
            <a:ext cx="4280916" cy="367284"/>
            <a:chOff x="3333750" y="1028700"/>
            <a:chExt cx="4280916" cy="367284"/>
          </a:xfrm>
        </p:grpSpPr>
        <p:sp>
          <p:nvSpPr>
            <p:cNvPr id="32" name="Rectangle 32"/>
            <p:cNvSpPr/>
            <p:nvPr/>
          </p:nvSpPr>
          <p:spPr>
            <a:xfrm>
              <a:off x="3333750" y="1028700"/>
              <a:ext cx="28575" cy="2667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477006" y="1043940"/>
              <a:ext cx="41376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中文用户最常遇到的问题大致分为五类</a:t>
              </a:r>
            </a:p>
          </p:txBody>
        </p:sp>
      </p:grpSp>
      <p:grpSp>
        <p:nvGrpSpPr>
          <p:cNvPr id="45" name="five-kinds"/>
          <p:cNvGrpSpPr/>
          <p:nvPr/>
        </p:nvGrpSpPr>
        <p:grpSpPr>
          <a:xfrm>
            <a:off x="3333750" y="1447800"/>
            <a:ext cx="4076700" cy="327851"/>
            <a:chOff x="3333750" y="1447800"/>
            <a:chExt cx="4076700" cy="327851"/>
          </a:xfrm>
        </p:grpSpPr>
        <p:sp>
          <p:nvSpPr>
            <p:cNvPr id="35" name="Rectangle 35"/>
            <p:cNvSpPr/>
            <p:nvPr/>
          </p:nvSpPr>
          <p:spPr>
            <a:xfrm>
              <a:off x="3333750" y="1447800"/>
              <a:ext cx="590550" cy="304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441192" y="15116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字体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4019550" y="1447800"/>
              <a:ext cx="590550" cy="304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126992" y="15116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空白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4705350" y="1447800"/>
              <a:ext cx="590550" cy="304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812792" y="15116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语义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91150" y="1447800"/>
              <a:ext cx="962025" cy="304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498592" y="1511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特殊排版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448425" y="1447800"/>
              <a:ext cx="962025" cy="304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555867" y="1511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参考文献</a:t>
              </a:r>
            </a:p>
          </p:txBody>
        </p:sp>
      </p:grpSp>
      <p:grpSp>
        <p:nvGrpSpPr>
          <p:cNvPr id="50" name="code-strip"/>
          <p:cNvGrpSpPr/>
          <p:nvPr/>
        </p:nvGrpSpPr>
        <p:grpSpPr>
          <a:xfrm>
            <a:off x="3333750" y="1924050"/>
            <a:ext cx="4857750" cy="533400"/>
            <a:chOff x="3333750" y="1924050"/>
            <a:chExt cx="4857750" cy="533400"/>
          </a:xfrm>
        </p:grpSpPr>
        <p:sp>
          <p:nvSpPr>
            <p:cNvPr id="46" name="Rectangle 46"/>
            <p:cNvSpPr/>
            <p:nvPr/>
          </p:nvSpPr>
          <p:spPr>
            <a:xfrm>
              <a:off x="3333750" y="1924050"/>
              <a:ext cx="4857750" cy="533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3473709" y="2088832"/>
              <a:ext cx="4487191" cy="322707"/>
              <a:chOff x="3473709" y="2088832"/>
              <a:chExt cx="4487191" cy="322707"/>
            </a:xfrm>
          </p:grpSpPr>
          <p:sp>
            <p:nvSpPr>
              <p:cNvPr id="47" name="TextBox 47"/>
              <p:cNvSpPr txBox="1"/>
              <p:nvPr/>
            </p:nvSpPr>
            <p:spPr>
              <a:xfrm>
                <a:off x="3473709" y="2145506"/>
                <a:ext cx="9435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120" dirty="0">
                    <a:solidFill>
                      <a:schemeClr val="accent3"/>
                    </a:solidFill>
                    <a:latin typeface="Consolas"/>
                    <a:ea typeface="Consolas"/>
                    <a:cs typeface="Consolas"/>
                  </a:rPr>
                  <a:t>1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3668268" y="2088832"/>
                <a:ext cx="429263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dirty="0">
                    <a:solidFill>
                      <a:srgbClr val="E0A94A"/>
                    </a:solidFill>
                    <a:latin typeface="Consolas"/>
                    <a:ea typeface="Consolas"/>
                    <a:cs typeface="Consolas"/>
                  </a:rPr>
                  <a:t>#set</a:t>
                </a:r>
                <a:r>
                  <a:rPr lang="en-US" sz="1650" dirty="0">
                    <a:solidFill>
                      <a:srgbClr val="F3EEE3"/>
                    </a:solidFill>
                    <a:latin typeface="Consolas"/>
                    <a:ea typeface="Consolas"/>
                    <a:cs typeface="Consolas"/>
                  </a:rPr>
                  <a:t xml:space="preserve"> text(lang: "zh", region: "cn")</a:t>
                </a:r>
              </a:p>
            </p:txBody>
          </p:sp>
        </p:grpSp>
      </p:grpSp>
      <p:grpSp>
        <p:nvGrpSpPr>
          <p:cNvPr id="52" name="code-note"/>
          <p:cNvGrpSpPr/>
          <p:nvPr/>
        </p:nvGrpSpPr>
        <p:grpSpPr>
          <a:xfrm>
            <a:off x="3326892" y="2616518"/>
            <a:ext cx="4193667" cy="264033"/>
            <a:chOff x="3326892" y="2616518"/>
            <a:chExt cx="4193667" cy="264033"/>
          </a:xfrm>
        </p:grpSpPr>
        <p:sp>
          <p:nvSpPr>
            <p:cNvPr id="51" name="TextBox 51"/>
            <p:cNvSpPr txBox="1"/>
            <p:nvPr/>
          </p:nvSpPr>
          <p:spPr>
            <a:xfrm>
              <a:off x="3326892" y="2616518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影响列表数字、日期、智能引号与标点挤压（整理）</a:t>
              </a:r>
            </a:p>
          </p:txBody>
        </p:sp>
      </p:grpSp>
      <p:sp>
        <p:nvSpPr>
          <p:cNvPr id="53" name="TextBox 53"/>
          <p:cNvSpPr txBox="1"/>
          <p:nvPr/>
        </p:nvSpPr>
        <p:spPr>
          <a:xfrm>
            <a:off x="680085" y="3231356"/>
            <a:ext cx="384110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整理自 typst-doc-cn/tutorial · writing-chinese.typ</a:t>
            </a:r>
          </a:p>
        </p:txBody>
      </p:sp>
    </p:spTree>
  </p:cSld>
  <p:clrMapOvr>
    <a:masterClrMapping/>
  </p:clrMapOvr>
  <mc:AlternateContent>
    <mc:Choice Requires="p159">
      <p:transition p14:dur="8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6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40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4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proof-marks"/>
          <p:cNvGrpSpPr/>
          <p:nvPr/>
        </p:nvGrpSpPr>
        <p:grpSpPr>
          <a:xfrm>
            <a:off x="133350" y="133350"/>
            <a:ext cx="8305800" cy="3381375"/>
            <a:chOff x="133350" y="133350"/>
            <a:chExt cx="8305800" cy="3381375"/>
          </a:xfrm>
        </p:grpSpPr>
        <p:sp>
          <p:nvSpPr>
            <p:cNvPr id="2" name="Line 2"/>
            <p:cNvSpPr/>
            <p:nvPr/>
          </p:nvSpPr>
          <p:spPr>
            <a:xfrm>
              <a:off x="133350" y="22860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" name="Line 3"/>
            <p:cNvSpPr/>
            <p:nvPr/>
          </p:nvSpPr>
          <p:spPr>
            <a:xfrm>
              <a:off x="228600" y="13335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8248650" y="22860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8343900" y="13335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133350" y="3419475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228600" y="3324225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8248650" y="3419475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8343900" y="3324225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685800" y="823912"/>
              <a:ext cx="7505700" cy="9525"/>
            </a:xfrm>
            <a:custGeom>
              <a:avLst/>
              <a:gdLst/>
              <a:ahLst/>
              <a:cxnLst/>
              <a:rect l="l" t="t" r="r" b="b"/>
              <a:pathLst>
                <a:path w="7505700" h="9525">
                  <a:moveTo>
                    <a:pt x="0" y="0"/>
                  </a:moveTo>
                  <a:lnTo>
                    <a:pt x="7505700" y="0"/>
                  </a:lnTo>
                </a:path>
              </a:pathLst>
            </a:custGeom>
            <a:noFill/>
            <a:ln w="9525">
              <a:solidFill>
                <a:schemeClr val="accent6">
                  <a:alpha val="60000"/>
                </a:schemeClr>
              </a:solidFill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406659" y="469106"/>
              <a:ext cx="94356" cy="2982278"/>
              <a:chOff x="406659" y="469106"/>
              <a:chExt cx="94356" cy="2982278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406659" y="469106"/>
                <a:ext cx="9435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120" dirty="0">
                    <a:solidFill>
                      <a:srgbClr val="B3A794"/>
                    </a:solidFill>
                    <a:latin typeface="Consolas"/>
                    <a:ea typeface="Consolas"/>
                    <a:cs typeface="Consolas"/>
                  </a:rPr>
                  <a:t>1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406659" y="1231106"/>
                <a:ext cx="9435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120" dirty="0">
                    <a:solidFill>
                      <a:srgbClr val="B3A794"/>
                    </a:solidFill>
                    <a:latin typeface="Consolas"/>
                    <a:ea typeface="Consolas"/>
                    <a:cs typeface="Consolas"/>
                  </a:rPr>
                  <a:t>2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406659" y="1650206"/>
                <a:ext cx="9435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120" dirty="0">
                    <a:solidFill>
                      <a:srgbClr val="B3A794"/>
                    </a:solidFill>
                    <a:latin typeface="Consolas"/>
                    <a:ea typeface="Consolas"/>
                    <a:cs typeface="Consolas"/>
                  </a:rPr>
                  <a:t>3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06659" y="2221706"/>
                <a:ext cx="9435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120" dirty="0">
                    <a:solidFill>
                      <a:srgbClr val="B3A794"/>
                    </a:solidFill>
                    <a:latin typeface="Consolas"/>
                    <a:ea typeface="Consolas"/>
                    <a:cs typeface="Consolas"/>
                  </a:rPr>
                  <a:t>4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06659" y="2774156"/>
                <a:ext cx="9435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120" dirty="0">
                    <a:solidFill>
                      <a:srgbClr val="B3A794"/>
                    </a:solidFill>
                    <a:latin typeface="Consolas"/>
                    <a:ea typeface="Consolas"/>
                    <a:cs typeface="Consolas"/>
                  </a:rPr>
                  <a:t>5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06659" y="3231356"/>
                <a:ext cx="9435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120" dirty="0">
                    <a:solidFill>
                      <a:srgbClr val="B3A794"/>
                    </a:solidFill>
                    <a:latin typeface="Consolas"/>
                    <a:ea typeface="Consolas"/>
                    <a:cs typeface="Consolas"/>
                  </a:rPr>
                  <a:t>6</a:t>
                </a:r>
              </a:p>
            </p:txBody>
          </p:sp>
        </p:grpSp>
      </p:grpSp>
      <p:grpSp>
        <p:nvGrpSpPr>
          <p:cNvPr id="20" name="!!series-name"/>
          <p:cNvGrpSpPr/>
          <p:nvPr/>
        </p:nvGrpSpPr>
        <p:grpSpPr>
          <a:xfrm>
            <a:off x="674370" y="347662"/>
            <a:ext cx="1680896" cy="440055"/>
            <a:chOff x="674370" y="347662"/>
            <a:chExt cx="1680896" cy="440055"/>
          </a:xfrm>
        </p:grpSpPr>
        <p:sp>
          <p:nvSpPr>
            <p:cNvPr id="19" name="TextBox 19"/>
            <p:cNvSpPr txBox="1"/>
            <p:nvPr/>
          </p:nvSpPr>
          <p:spPr>
            <a:xfrm>
              <a:off x="674370" y="347662"/>
              <a:ext cx="168089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Typst 入门</a:t>
              </a:r>
            </a:p>
          </p:txBody>
        </p:sp>
      </p:grpSp>
      <p:grpSp>
        <p:nvGrpSpPr>
          <p:cNvPr id="23" name="cta-head"/>
          <p:cNvGrpSpPr/>
          <p:nvPr/>
        </p:nvGrpSpPr>
        <p:grpSpPr>
          <a:xfrm>
            <a:off x="666750" y="947738"/>
            <a:ext cx="5629123" cy="1021079"/>
            <a:chOff x="666750" y="947738"/>
            <a:chExt cx="5629123" cy="1021079"/>
          </a:xfrm>
        </p:grpSpPr>
        <p:sp>
          <p:nvSpPr>
            <p:cNvPr id="21" name="TextBox 21"/>
            <p:cNvSpPr txBox="1"/>
            <p:nvPr/>
          </p:nvSpPr>
          <p:spPr>
            <a:xfrm>
              <a:off x="666750" y="947738"/>
              <a:ext cx="2171700" cy="7334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7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关注本号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74370" y="1528762"/>
              <a:ext cx="562150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把 Typst 从标记写到公式，再写到中文</a:t>
              </a:r>
            </a:p>
          </p:txBody>
        </p:sp>
      </p:grpSp>
      <p:grpSp>
        <p:nvGrpSpPr>
          <p:cNvPr id="33" name="route"/>
          <p:cNvGrpSpPr/>
          <p:nvPr/>
        </p:nvGrpSpPr>
        <p:grpSpPr>
          <a:xfrm>
            <a:off x="685800" y="2019300"/>
            <a:ext cx="7258050" cy="495300"/>
            <a:chOff x="685800" y="2019300"/>
            <a:chExt cx="7258050" cy="495300"/>
          </a:xfrm>
        </p:grpSpPr>
        <p:sp>
          <p:nvSpPr>
            <p:cNvPr id="24" name="Freeform 24"/>
            <p:cNvSpPr/>
            <p:nvPr/>
          </p:nvSpPr>
          <p:spPr>
            <a:xfrm>
              <a:off x="685800" y="2019300"/>
              <a:ext cx="1714500" cy="495300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2533650" y="2019300"/>
              <a:ext cx="1714500" cy="495300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4381500" y="2019300"/>
              <a:ext cx="1714500" cy="495300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6229350" y="2019300"/>
              <a:ext cx="1714500" cy="495300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848106" y="2148840"/>
              <a:ext cx="6870344" cy="352044"/>
              <a:chOff x="848106" y="2148840"/>
              <a:chExt cx="6870344" cy="352044"/>
            </a:xfrm>
          </p:grpSpPr>
          <p:sp>
            <p:nvSpPr>
              <p:cNvPr id="28" name="TextBox 28"/>
              <p:cNvSpPr txBox="1"/>
              <p:nvPr/>
            </p:nvSpPr>
            <p:spPr>
              <a:xfrm>
                <a:off x="848106" y="2148840"/>
                <a:ext cx="84216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E0A94A"/>
                    </a:solidFill>
                    <a:latin typeface="+mn-lt"/>
                    <a:ea typeface="+mn-ea"/>
                    <a:cs typeface="+mn-cs"/>
                  </a:rPr>
                  <a:t>01</a:t>
                </a:r>
                <a:r>
                  <a:rPr lang="zh-CN" sz="1800" dirty="0">
                    <a:solidFill>
                      <a:srgbClr val="F3EEE3"/>
                    </a:solidFill>
                    <a:latin typeface="+mn-lt"/>
                    <a:ea typeface="+mn-ea"/>
                    <a:cs typeface="+mn-cs"/>
                  </a:rPr>
                  <a:t xml:space="preserve"> 导引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2695956" y="2148840"/>
                <a:ext cx="132679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E0A94A"/>
                    </a:solidFill>
                    <a:latin typeface="+mn-lt"/>
                    <a:ea typeface="+mn-ea"/>
                    <a:cs typeface="+mn-cs"/>
                  </a:rPr>
                  <a:t>02</a:t>
                </a:r>
                <a:r>
                  <a:rPr lang="zh-CN" sz="1800" dirty="0">
                    <a:solidFill>
                      <a:srgbClr val="F3EEE3"/>
                    </a:solidFill>
                    <a:latin typeface="+mn-lt"/>
                    <a:ea typeface="+mn-ea"/>
                    <a:cs typeface="+mn-cs"/>
                  </a:rPr>
                  <a:t xml:space="preserve"> 标记语法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4543806" y="2148840"/>
                <a:ext cx="132679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E0A94A"/>
                    </a:solidFill>
                    <a:latin typeface="+mn-lt"/>
                    <a:ea typeface="+mn-ea"/>
                    <a:cs typeface="+mn-cs"/>
                  </a:rPr>
                  <a:t>03</a:t>
                </a:r>
                <a:r>
                  <a:rPr lang="zh-CN" sz="1800" dirty="0">
                    <a:solidFill>
                      <a:srgbClr val="F3EEE3"/>
                    </a:solidFill>
                    <a:latin typeface="+mn-lt"/>
                    <a:ea typeface="+mn-ea"/>
                    <a:cs typeface="+mn-cs"/>
                  </a:rPr>
                  <a:t xml:space="preserve"> 数学公式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6391656" y="2148840"/>
                <a:ext cx="132679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E0A94A"/>
                    </a:solidFill>
                    <a:latin typeface="+mn-lt"/>
                    <a:ea typeface="+mn-ea"/>
                    <a:cs typeface="+mn-cs"/>
                  </a:rPr>
                  <a:t>04</a:t>
                </a:r>
                <a:r>
                  <a:rPr lang="zh-CN" sz="1800" dirty="0">
                    <a:solidFill>
                      <a:srgbClr val="F3EEE3"/>
                    </a:solidFill>
                    <a:latin typeface="+mn-lt"/>
                    <a:ea typeface="+mn-ea"/>
                    <a:cs typeface="+mn-cs"/>
                  </a:rPr>
                  <a:t xml:space="preserve"> 中文排版</a:t>
                </a:r>
              </a:p>
            </p:txBody>
          </p:sp>
        </p:grpSp>
      </p:grpSp>
      <p:grpSp>
        <p:nvGrpSpPr>
          <p:cNvPr id="35" name="!!red-marker"/>
          <p:cNvGrpSpPr/>
          <p:nvPr/>
        </p:nvGrpSpPr>
        <p:grpSpPr>
          <a:xfrm>
            <a:off x="8039100" y="2019300"/>
            <a:ext cx="95250" cy="495300"/>
            <a:chOff x="8039100" y="2019300"/>
            <a:chExt cx="95250" cy="495300"/>
          </a:xfrm>
        </p:grpSpPr>
        <p:sp>
          <p:nvSpPr>
            <p:cNvPr id="34" name="Rectangle 34"/>
            <p:cNvSpPr/>
            <p:nvPr/>
          </p:nvSpPr>
          <p:spPr>
            <a:xfrm>
              <a:off x="8039100" y="2019300"/>
              <a:ext cx="95250" cy="495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37" name="reading-order"/>
          <p:cNvGrpSpPr/>
          <p:nvPr/>
        </p:nvGrpSpPr>
        <p:grpSpPr>
          <a:xfrm>
            <a:off x="678942" y="2749868"/>
            <a:ext cx="6454150" cy="264033"/>
            <a:chOff x="678942" y="2749868"/>
            <a:chExt cx="6454150" cy="264033"/>
          </a:xfrm>
        </p:grpSpPr>
        <p:sp>
          <p:nvSpPr>
            <p:cNvPr id="36" name="TextBox 36"/>
            <p:cNvSpPr txBox="1"/>
            <p:nvPr/>
          </p:nvSpPr>
          <p:spPr>
            <a:xfrm>
              <a:off x="678942" y="2749868"/>
              <a:ext cx="64541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由浅入深：先像写 Markdown 那样写出一篇文档，再学公式与中文排版（整理）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680085" y="3231356"/>
            <a:ext cx="627639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内容整理自 typst-doc-cn/tutorial（Apache-2.0）· 代码与引句逐字出自各章 .typ 源文件</a:t>
            </a:r>
          </a:p>
        </p:txBody>
      </p:sp>
    </p:spTree>
  </p:cSld>
  <p:clrMapOvr>
    <a:masterClrMapping/>
  </p:clrMapOvr>
  <mc:AlternateContent>
    <mc:Choice Requires="p159">
      <p:transition p14:dur="8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6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wechat_typst_series_banners">
  <a:themeElements>
    <a:clrScheme name="wechat_typst_series_banners">
      <a:dk1>
        <a:srgbClr val="27231F"/>
      </a:dk1>
      <a:lt1>
        <a:srgbClr val="F3EEE3"/>
      </a:lt1>
      <a:dk2>
        <a:srgbClr val="1F497D"/>
      </a:dk2>
      <a:lt2>
        <a:srgbClr val="E6DECD"/>
      </a:lt2>
      <a:accent1>
        <a:srgbClr val="1D1A17"/>
      </a:accent1>
      <a:accent2>
        <a:srgbClr val="CF3B2A"/>
      </a:accent2>
      <a:accent3>
        <a:srgbClr val="A87A2A"/>
      </a:accent3>
      <a:accent4>
        <a:srgbClr val="1D1A17"/>
      </a:accent4>
      <a:accent5>
        <a:srgbClr val="6B6358"/>
      </a:accent5>
      <a:accent6>
        <a:srgbClr val="CBC0AC"/>
      </a:accent6>
      <a:hlink>
        <a:srgbClr val="CF3B2A"/>
      </a:hlink>
      <a:folHlink>
        <a:srgbClr val="A87A2A"/>
      </a:folHlink>
    </a:clrScheme>
    <a:fontScheme name="wechat_typst_series_banners">
      <a:majorFont>
        <a:latin typeface="Cambria"/>
        <a:ea typeface="SimSun"/>
        <a:cs typeface="Cambria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echat_typst_series_banner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wechat_typst_series_banners">
  <a:themeElements>
    <a:clrScheme name="wechat_typst_series_banners">
      <a:dk1>
        <a:srgbClr val="27231F"/>
      </a:dk1>
      <a:lt1>
        <a:srgbClr val="F3EEE3"/>
      </a:lt1>
      <a:dk2>
        <a:srgbClr val="1F497D"/>
      </a:dk2>
      <a:lt2>
        <a:srgbClr val="E6DECD"/>
      </a:lt2>
      <a:accent1>
        <a:srgbClr val="1D1A17"/>
      </a:accent1>
      <a:accent2>
        <a:srgbClr val="CF3B2A"/>
      </a:accent2>
      <a:accent3>
        <a:srgbClr val="A87A2A"/>
      </a:accent3>
      <a:accent4>
        <a:srgbClr val="1D1A17"/>
      </a:accent4>
      <a:accent5>
        <a:srgbClr val="6B6358"/>
      </a:accent5>
      <a:accent6>
        <a:srgbClr val="CBC0AC"/>
      </a:accent6>
      <a:hlink>
        <a:srgbClr val="CF3B2A"/>
      </a:hlink>
      <a:folHlink>
        <a:srgbClr val="A87A2A"/>
      </a:folHlink>
    </a:clrScheme>
    <a:fontScheme name="wechat_typst_series_banners">
      <a:majorFont>
        <a:latin typeface="Cambria"/>
        <a:ea typeface="SimSun"/>
        <a:cs typeface="Cambria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echat_typst_series_banner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Custom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2026-09-23T05:47:55Z</dcterms:created>
  <dcterms:modified xsi:type="dcterms:W3CDTF">2026-09-23T05:47:55Z</dcterms:modified>
  <cp:category/>
  <cp:contentStatus/>
</cp:coreProperties>
</file>