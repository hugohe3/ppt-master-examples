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16x9"/>
  <p:notesSz cx="6858000" cy="9144000"/>
  <p:defaultTex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这份材料回答一个问题:二零二六到二零二八年,车企的电动车增量投入应该投向哪里。封面上的数字是二零二五年全球新车销量中电动车的占比,百分之二十五,也就是每四辆新车里有一辆是电动车。它来自 IEA《Global EV Outlook 2025》数据浏览器,渗透率的口径是纯电加插混占乘用车新车销量的比例。接下来十三页先给结论,再逐页用同一套数据证明,最后请管理层做三个决定。</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答案。全球电动车的增量重心已经从欧美转向新兴市场,二零二六到二零二八年应当分级投入,并用插电混动打开低渗透市场。支撑这个答案的是三个事实判断。第一,成熟市场见顶:美国二零二五年销量从一百六十万辆降到一百五十万辆,是二零一五年以来首次下滑,渗透率连续两年停在百分之十,日本仍在百分之三。第二,欧洲反弹到百分之二十八靠的是英国和德国,英国渗透率两年上升十二个百分点到百分之三十五,德国上升六个百分点到百分之三十,而法国持平在百分之二十六。第三,新兴市场进入加速段,东南亚渗透率从百分之八点四升到百分之十八,中国、欧洲、美国之外的市场贡献了一百一十万辆增量,首次超过欧洲的一百万辆。由这些事实推出一个产品结论:插电混动占全球电动车销量的百分之三十四,在中国三年增长三点四倍,它是低渗透市场的破冰产品。本次请管理层决定的三件事写在页面底部,后面第十、十一、十三页分别展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这一页要读者记住两个锚点数:二零二五年全球电动车销量两千一百万辆,渗透率百分之二十五。面板 A 的柱是各年销量,单位百万辆,数据直接取自工作簿「销量」表 World 行,括注的年均增速百分之四十八按二零二零到二零二五年五年复合计算;面板 B 是各年渗透率,取自「渗透率」表 World 行。面板 C 的小表把二零二零、二零二一、二零二三、二零二五四个关键年份的销量、增量、同比和渗透率排在一起,二零二一年同比一百二十是拐点。右栏的七倍是二零二五年两千一百万除以二零二零年三百万,四舍五入到一位小数。二零二五年是 IEA 对全年的估计值。从二零二零年的百分之四点四走到百分之二十五只用了五年,电动车已经是主流市场,不再是需要论证是否会到来的利基品类。</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存量地图和增量地图不一样。面板 A 把全球销量按中国、欧洲、美国和其他市场堆叠,柱顶是当年合计;面板 B 是二零二五年各地区的增量,美国是唯一的负值;右下的小表把存量占比和增量占比并排;面板 A 下面是二零二零到二零二五的销量倍数,中国十一点八倍、其他市场十一点五倍,但只有其他市场的增量占比在上升。其他市场等于全球减去中国、欧洲、美国,是本报告的计算值,不是 IEA 单列的数字。右侧增量拆分用二零二五年减二零二四年:中国一千三百万减一千一百万得正两百万,欧洲四百二十万减三百二十万得正一百万,美国一百五十万减一百六十万得负十万,其他市场二百三十万减一百二十万得正一百一十万,合计正四百万。占比用各地区二零二五年销量除以两千一百万:中国约百分之六十二,欧洲百分之二十,美国百分之七,其他市场百分之十一。要读者看的是最后一行:中美欧之外的市场增量首次超过欧洲,而美国转为负数。</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这一页证明第一个判断,成熟市场不再提供确定的增量。面板 A 是欧洲、美国、日本三条渗透率曲线,取自「渗透率」表二零一九到二零二五年;面板 B 是美国、日本、韩国三年的销量,韩国从十三万辆到二十二万辆增长百分之六十九,是成熟市场里唯一起量的。面板 C 把美国、日本、韩国、欧洲整体的销量、两年变化、渗透率和优先级判断列成一张小表。美国二零二四年和二零二五年都是百分之十,销量从一百六十万辆降到一百五十万辆,下降百分之六,计算方式是十万除以一百六十万。日本销量十万辆持平,渗透率百分之三。作为对照,欧洲从百分之二十一升到百分之二十八。由此得出的推论是:把美国当作确定增量来源的假设已经失效,二零二六到二零二八年对美国只能按守势规划。</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欧洲是一组分化的国家市场,不是一个市场。面板 A 按二零二五年渗透率排序:挪威百分之九十七,英国百分之三十五,德国百分之三十,欧洲整体百分之二十八,法国百分之二十六;灰色数字是较二零二三年的百分点变化,用二零二五年值减二零二三年值,英国从二十三到三十五是正十二个点,德国从二十四到三十是正六个点,法国从二十五到二十六只有正一个点。面板 C 是英国、德国、法国、挪威的概览小表,英德列一级、法国三级、挪威饱和不投入。面板 B 的销量来自「销量」表:英国从四十六万辆到七十万辆,德国从七十万辆到八十六万辆,法国从四十七万辆降到四十五万辆,欧洲整体从三百二十万辆到四百二十万辆。欧洲的一百万辆增量集中在英国和德国,所以进入欧洲要按国家排序,英德优先,法国观望。</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这一页证明第三个判断,新兴市场已经从还早变成正在发生。面板 A 对比二零二三年和二零二五年的渗透率:东南亚从百分之五点二到百分之十八,泰国从百分之十一到百分之二十三,巴西从百分之三到百分之九,墨西哥从百分之一点五到百分之七,印度从百分之二点一到百分之四。面板 C 把五个新兴市场的销量、倍数、渗透率、二零三五情景和进入方式列成小表。面板 B 的销量倍数用二零二五年销量除以二零二三年销量:东南亚五十四万除以十六万是三点四倍,巴西十八万除以五点二万是三点五倍,墨西哥九万除以一点七万是五点三倍,印度十七万除以八点二万是二点一倍。东南亚、印度、巴西、墨西哥四个市场合计从三十一万辆到九十八万辆,三点二倍。窗口期就是二零二六到二零二八年。</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产品组合决定能否进入低渗透市场。面板 A 是全球纯电与插混销量的堆叠面积,取自「动力类型」表 World 行,二零二五年纯电一千四百万辆,插混七百二十万辆。面板 B 的插混占比用插混除以纯电加插混:全球七百二十万除以两千一百二十万约百分之三十四,中国五百一十万除以一千三百三十万约百分之三十八,欧洲一百四十万除以四百三十万约百分之三十三,美国三十三万除以一百五十三万约百分之二十二。面板 C 里中国从二零二二年到二零二五年,插混从一百五十万辆增长到五百一十万辆,三点四倍,纯电从四百五十万辆到八百二十万辆,一点八倍。因此进入渗透率低于百分之十的市场,应以插混先行,纯电跟进。</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用增量而不是存量排优先级。面板 B 的小表列出增量前五地区二零二五和二零三五的销量与渗透率对照。面板 A 是 IEA 既定政策情景下二零二五年到二零三五年的年销量增量分解,起点两千一百万辆,终点五千五百万辆,总增量三千四百万辆。各项增量用二零三五年情景值减二零二五年销量:中国两千六百万减一千三百万得一千三百万,欧洲一千四百万减四百二十万得九百八十万,东南亚两百七十万减五十四万得二百一十六万,印度两百一十万减十七万得一百九十三万,美国三百一十万减一百五十万得一百六十万,韩国八十八万减二十二万得六十六万,日本七十万减十万得六十万,其他四百二十五万是总增量减去以上各项的计算值。占比是各项除以三千四百万:中国百分之三十八,欧洲百分之二十九,印度与东南亚合计约百分之十二,美国只有百分之五。要提醒的是,情景值来自 IEA 的既定政策情景,只作参照,不是本报告的预测。</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前面的证据变成一张决定表,增加了二零二三到二零二五年的销量倍数和每个市场的依据页码。三个层级的划分依据是第四到第九页的增量、渗透率和二零三五年情景。一级市场是二零二六到二零二八年增量投入的主战场:中国深耕,东南亚以插混抢滩,英国和德国重点投入并补齐纯电车型。二级市场以插混试点择机放量:巴西、墨西哥、印度,以及以渠道试点为主的韩国。三级市场维持布局、不新增投入:美国、日本、法国。表中的销量和渗透率来自工作簿二零二五年列,二零三五年情景来自「STEPS情景2035」表,IEA 未单列的市场以短横表示。</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节奏是先试点、再放量、最后决定守势市场是否加码。二零二六年,东南亚插混试点上市,泰国首发;英国、德国补齐纯电车型;巴西、墨西哥搭建渠道;中国维持纯电加插混双线。二零二七年,按试点渗透率数据在东南亚放量,印度启动插混试点,美国不新增产能。二零二八年,复盘美国渗透率是否突破百分之十,决定是否加码,印度按试点结果放量,东南亚补齐纯电车型。每年十二月以 IEA 同口径数据复盘,通过决策门再进入下一阶段。这一页是建议的行动节奏,不含新的数据事实。</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三项风险各有可监测的触发指标,所以它们不构成不行动的理由。第一项是新兴市场增速回落,触发指标是东南亚二零二六年渗透率低于百分之十八,也就是低于二零二五年水平,影响是二级市场放量推迟,应对是二零二六年试点规模受控,二零二七年初复盘后再放量。第二项是欧洲政策反复,触发指标是德国渗透率回落到百分之二十五以下,二零二四年德国曾从百分之二十四降到百分之二十,影响是英德投入回报期拉长,应对是英国优先、德国按季度评估。第三项是插混需求提前见顶,触发指标是中国插混占比连续两个季度下降,二零二五年为百分之三十八,影响是破冰产品失效,应对是二级市场同步准备纯电版本。触发指标的基准值来自工作簿,阈值是本报告的建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请管理层本季度决定三件事。第一,批准三级市场优先级,决定后九十天内由海外业务部按层级重排二零二六年预算与人员。第二,批准插混先行的产品节奏,九十天内由产品部提交东南亚插混首发车型清单。第三,指定东南亚试点负责人,九十天内成立试点小组,确定泰国为首发市场。下一次复盘定在二零二六年十二月,用 IEA 下一版数据浏览器的同口径数据复核三项触发指标,决定二零二七年是否放量。</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附录给出本报告用到的全部数字和口径。面板 A 是各地区二零二零到二零二五年的电动车销量和二零二五年渗透率,面板 B 是 IEA 既定政策情景的二零三五年值,数值直接取自工作簿,IEA 给出的是取整后的估计值。口径说明:电动车等于纯电加插混,燃料电池车数量极小可以忽略;范围是乘用车;二零二五年为全年估计值;二零三五年情景来自既定政策情景,仅供参照。欧洲包含欧盟二十七国、英国和挪威等,东南亚为 IEA 的区域汇总。数据来源是 IEA 二零二五年发布的 Global EV Outlook 2025 数据浏览器,许可为 CC BY 4.0,二零二六年九月五日经官方接口取数,未修改任何数值。</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ev_market_prioritie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ev_market_prioritie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18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0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9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8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zh-CN"/>
      </a:defPPr>
      <a:lvl1pPr marL="0" algn="l" defTabSz="457200" rtl="0" eaLnBrk="1" latinLnBrk="0" hangingPunct="1">
        <a:defRPr sz="1050" kern="1200">
          <a:solidFill>
            <a:schemeClr val="tx1"/>
          </a:solidFill>
          <a:latin typeface="+mn-lt"/>
          <a:ea typeface="+mn-ea"/>
          <a:cs typeface="+mn-cs"/>
        </a:defRPr>
      </a:lvl1pPr>
      <a:lvl2pPr marL="457200" algn="l" defTabSz="457200" rtl="0" eaLnBrk="1" latinLnBrk="0" hangingPunct="1">
        <a:defRPr sz="1000" kern="1200">
          <a:solidFill>
            <a:schemeClr val="tx1"/>
          </a:solidFill>
          <a:latin typeface="+mn-lt"/>
          <a:ea typeface="+mn-ea"/>
          <a:cs typeface="+mn-cs"/>
        </a:defRPr>
      </a:lvl2pPr>
      <a:lvl3pPr marL="914400" algn="l" defTabSz="457200" rtl="0" eaLnBrk="1" latinLnBrk="0" hangingPunct="1">
        <a:defRPr sz="900" kern="1200">
          <a:solidFill>
            <a:schemeClr val="tx1"/>
          </a:solidFill>
          <a:latin typeface="+mn-lt"/>
          <a:ea typeface="+mn-ea"/>
          <a:cs typeface="+mn-cs"/>
        </a:defRPr>
      </a:lvl3pPr>
      <a:lvl4pPr marL="1371600" algn="l" defTabSz="457200" rtl="0" eaLnBrk="1" latinLnBrk="0" hangingPunct="1">
        <a:defRPr sz="850" kern="1200">
          <a:solidFill>
            <a:schemeClr val="tx1"/>
          </a:solidFill>
          <a:latin typeface="+mn-lt"/>
          <a:ea typeface="+mn-ea"/>
          <a:cs typeface="+mn-cs"/>
        </a:defRPr>
      </a:lvl4pPr>
      <a:lvl5pPr marL="1828800" algn="l" defTabSz="457200" rtl="0" eaLnBrk="1" latinLnBrk="0" hangingPunct="1">
        <a:defRPr sz="80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www.iea.org/data-and-statistics/data-tools/global-ev-data-explorer" TargetMode="External"/>
  <Relationship Id="rId3"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cover-meta"/>
          <p:cNvGrpSpPr/>
          <p:nvPr/>
        </p:nvGrpSpPr>
        <p:grpSpPr>
          <a:xfrm>
            <a:off x="452438" y="285750"/>
            <a:ext cx="11282362" cy="225266"/>
            <a:chOff x="452438" y="285750"/>
            <a:chExt cx="11282362" cy="225266"/>
          </a:xfrm>
        </p:grpSpPr>
        <p:sp>
          <p:nvSpPr>
            <p:cNvPr id="2" name="TextBox 2"/>
            <p:cNvSpPr txBox="1"/>
            <p:nvPr/>
          </p:nvSpPr>
          <p:spPr>
            <a:xfrm>
              <a:off x="452438" y="349091"/>
              <a:ext cx="4227501" cy="161925"/>
            </a:xfrm>
            <a:prstGeom prst="rect">
              <a:avLst/>
            </a:prstGeom>
            <a:noFill/>
            <a:ln>
              <a:noFill/>
            </a:ln>
          </p:spPr>
          <p:txBody>
            <a:bodyPr wrap="none" lIns="0" tIns="0" rIns="0" bIns="0" anchor="t" anchorCtr="0">
              <a:spAutoFit/>
            </a:bodyPr>
            <a:lstStyle/>
            <a:p>
              <a:pPr algn="l"/>
              <a:r>
                <a:rPr lang="zh-CN" sz="820" spc="150" dirty="0">
                  <a:solidFill>
                    <a:schemeClr val="accent3"/>
                  </a:solidFill>
                  <a:latin typeface="+mn-lt"/>
                  <a:ea typeface="+mn-ea"/>
                  <a:cs typeface="+mn-cs"/>
                </a:rPr>
                <a:t>管理层讨论稿 · 2026 年 9 月 · 基于 IEA Global EV Outlook 2025</a:t>
              </a:r>
            </a:p>
          </p:txBody>
        </p:sp>
        <p:sp>
          <p:nvSpPr>
            <p:cNvPr id="3" name="Rectangle 3"/>
            <p:cNvSpPr/>
            <p:nvPr/>
          </p:nvSpPr>
          <p:spPr>
            <a:xfrm>
              <a:off x="10953750" y="285750"/>
              <a:ext cx="781050" cy="171450"/>
            </a:xfrm>
            <a:prstGeom prst="rect">
              <a:avLst/>
            </a:prstGeom>
            <a:noFill/>
            <a:ln w="7144">
              <a:solidFill>
                <a:schemeClr val="accent3"/>
              </a:solidFill>
            </a:ln>
          </p:spPr>
        </p:sp>
        <p:sp>
          <p:nvSpPr>
            <p:cNvPr id="4" name="TextBox 4"/>
            <p:cNvSpPr txBox="1"/>
            <p:nvPr/>
          </p:nvSpPr>
          <p:spPr>
            <a:xfrm>
              <a:off x="11177968" y="328612"/>
              <a:ext cx="332613" cy="147638"/>
            </a:xfrm>
            <a:prstGeom prst="rect">
              <a:avLst/>
            </a:prstGeom>
            <a:noFill/>
            <a:ln>
              <a:noFill/>
            </a:ln>
          </p:spPr>
          <p:txBody>
            <a:bodyPr wrap="none" lIns="0" tIns="0" rIns="0" bIns="0" anchor="t" anchorCtr="0">
              <a:spAutoFit/>
            </a:bodyPr>
            <a:lstStyle/>
            <a:p>
              <a:pPr algn="ctr"/>
              <a:r>
                <a:rPr lang="zh-CN" sz="750" spc="75" dirty="0">
                  <a:solidFill>
                    <a:schemeClr val="accent3"/>
                  </a:solidFill>
                  <a:latin typeface="+mn-lt"/>
                  <a:ea typeface="+mn-ea"/>
                  <a:cs typeface="+mn-cs"/>
                </a:rPr>
                <a:t>讨论稿</a:t>
              </a:r>
            </a:p>
          </p:txBody>
        </p:sp>
      </p:grpSp>
      <p:grpSp>
        <p:nvGrpSpPr>
          <p:cNvPr id="10" name="cover-title-stack"/>
          <p:cNvGrpSpPr/>
          <p:nvPr/>
        </p:nvGrpSpPr>
        <p:grpSpPr>
          <a:xfrm>
            <a:off x="440436" y="1320165"/>
            <a:ext cx="4031742" cy="1553146"/>
            <a:chOff x="440436" y="1320165"/>
            <a:chExt cx="4031742" cy="1553146"/>
          </a:xfrm>
        </p:grpSpPr>
        <p:sp>
          <p:nvSpPr>
            <p:cNvPr id="6" name="TextBox 6"/>
            <p:cNvSpPr txBox="1"/>
            <p:nvPr/>
          </p:nvSpPr>
          <p:spPr>
            <a:xfrm>
              <a:off x="440436" y="1320165"/>
              <a:ext cx="4031742" cy="645414"/>
            </a:xfrm>
            <a:prstGeom prst="rect">
              <a:avLst/>
            </a:prstGeom>
            <a:noFill/>
            <a:ln>
              <a:noFill/>
            </a:ln>
          </p:spPr>
          <p:txBody>
            <a:bodyPr wrap="none" lIns="0" tIns="0" rIns="0" bIns="0" anchor="t" anchorCtr="0">
              <a:spAutoFit/>
            </a:bodyPr>
            <a:lstStyle/>
            <a:p>
              <a:pPr algn="l"/>
              <a:r>
                <a:rPr lang="zh-CN" sz="3300" b="1" dirty="0">
                  <a:solidFill>
                    <a:srgbClr val="FFFFFF"/>
                  </a:solidFill>
                  <a:latin typeface="+mn-lt"/>
                  <a:ea typeface="+mn-ea"/>
                  <a:cs typeface="+mn-cs"/>
                </a:rPr>
                <a:t>电动车增长的下一站</a:t>
              </a:r>
            </a:p>
          </p:txBody>
        </p:sp>
        <p:sp>
          <p:nvSpPr>
            <p:cNvPr id="7" name="TextBox 7"/>
            <p:cNvSpPr txBox="1"/>
            <p:nvPr/>
          </p:nvSpPr>
          <p:spPr>
            <a:xfrm>
              <a:off x="449580" y="1876425"/>
              <a:ext cx="3902393" cy="293370"/>
            </a:xfrm>
            <a:prstGeom prst="rect">
              <a:avLst/>
            </a:prstGeom>
            <a:noFill/>
            <a:ln>
              <a:noFill/>
            </a:ln>
          </p:spPr>
          <p:txBody>
            <a:bodyPr wrap="none" lIns="0" tIns="0" rIns="0" bIns="0" anchor="t" anchorCtr="0">
              <a:spAutoFit/>
            </a:bodyPr>
            <a:lstStyle/>
            <a:p>
              <a:pPr algn="l"/>
              <a:r>
                <a:rPr lang="zh-CN" sz="1500" dirty="0">
                  <a:solidFill>
                    <a:schemeClr val="accent3"/>
                  </a:solidFill>
                  <a:latin typeface="+mn-lt"/>
                  <a:ea typeface="+mn-ea"/>
                  <a:cs typeface="+mn-cs"/>
                </a:rPr>
                <a:t>2026–2028 车企市场优先级与产品组合决策</a:t>
              </a:r>
            </a:p>
          </p:txBody>
        </p:sp>
        <p:sp>
          <p:nvSpPr>
            <p:cNvPr id="8" name="Line 8"/>
            <p:cNvSpPr/>
            <p:nvPr/>
          </p:nvSpPr>
          <p:spPr>
            <a:xfrm>
              <a:off x="457200" y="2286000"/>
              <a:ext cx="2971800" cy="9525"/>
            </a:xfrm>
            <a:custGeom>
              <a:avLst/>
              <a:gdLst/>
              <a:ahLst/>
              <a:cxnLst/>
              <a:rect l="l" t="t" r="r" b="b"/>
              <a:pathLst>
                <a:path w="2971800" h="9525">
                  <a:moveTo>
                    <a:pt x="0" y="0"/>
                  </a:moveTo>
                  <a:lnTo>
                    <a:pt x="2971800" y="0"/>
                  </a:lnTo>
                </a:path>
              </a:pathLst>
            </a:custGeom>
            <a:noFill/>
            <a:ln w="9525">
              <a:solidFill>
                <a:schemeClr val="accent3"/>
              </a:solidFill>
            </a:ln>
          </p:spPr>
        </p:sp>
        <p:sp>
          <p:nvSpPr>
            <p:cNvPr id="9" name="TextBox 9"/>
            <p:cNvSpPr txBox="1"/>
            <p:nvPr/>
          </p:nvSpPr>
          <p:spPr>
            <a:xfrm>
              <a:off x="451866" y="2477452"/>
              <a:ext cx="3777806"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FFFFFF"/>
                  </a:solidFill>
                  <a:latin typeface="+mn-lt"/>
                  <a:ea typeface="+mn-ea"/>
                  <a:cs typeface="+mn-cs"/>
                </a:rPr>
                <a:t>2025 年全球每四辆新车就有一辆是电动车,</a:t>
              </a:r>
              <a:br/>
              <a:r>
                <a:rPr lang="zh-CN" sz="1050" dirty="0">
                  <a:solidFill>
                    <a:srgbClr val="FFFFFF"/>
                  </a:solidFill>
                  <a:latin typeface="+mn-lt"/>
                  <a:ea typeface="+mn-ea"/>
                  <a:cs typeface="+mn-cs"/>
                </a:rPr>
                <a:t>但 400 万辆增量里美国为负、中美欧之外的市场首次超过欧洲。</a:t>
              </a:r>
            </a:p>
          </p:txBody>
        </p:sp>
      </p:grpSp>
      <p:grpSp>
        <p:nvGrpSpPr>
          <p:cNvPr id="21" name="cover-questions"/>
          <p:cNvGrpSpPr/>
          <p:nvPr/>
        </p:nvGrpSpPr>
        <p:grpSpPr>
          <a:xfrm>
            <a:off x="452438" y="3225641"/>
            <a:ext cx="5666574" cy="1019270"/>
            <a:chOff x="452438" y="3225641"/>
            <a:chExt cx="5666574" cy="1019270"/>
          </a:xfrm>
        </p:grpSpPr>
        <p:sp>
          <p:nvSpPr>
            <p:cNvPr id="11" name="TextBox 11"/>
            <p:cNvSpPr txBox="1"/>
            <p:nvPr/>
          </p:nvSpPr>
          <p:spPr>
            <a:xfrm>
              <a:off x="452438" y="3225641"/>
              <a:ext cx="1164565" cy="161925"/>
            </a:xfrm>
            <a:prstGeom prst="rect">
              <a:avLst/>
            </a:prstGeom>
            <a:noFill/>
            <a:ln>
              <a:noFill/>
            </a:ln>
          </p:spPr>
          <p:txBody>
            <a:bodyPr wrap="none" lIns="0" tIns="0" rIns="0" bIns="0" anchor="t" anchorCtr="0">
              <a:spAutoFit/>
            </a:bodyPr>
            <a:lstStyle/>
            <a:p>
              <a:pPr algn="l"/>
              <a:r>
                <a:rPr lang="zh-CN" sz="820" b="1" spc="150" dirty="0">
                  <a:solidFill>
                    <a:schemeClr val="accent3"/>
                  </a:solidFill>
                  <a:latin typeface="+mn-lt"/>
                  <a:ea typeface="+mn-ea"/>
                  <a:cs typeface="+mn-cs"/>
                </a:rPr>
                <a:t>本文档回答三个问题</a:t>
              </a:r>
            </a:p>
          </p:txBody>
        </p:sp>
        <p:sp>
          <p:nvSpPr>
            <p:cNvPr id="12" name="Ellipse 12"/>
            <p:cNvSpPr/>
            <p:nvPr/>
          </p:nvSpPr>
          <p:spPr>
            <a:xfrm>
              <a:off x="457200" y="3457575"/>
              <a:ext cx="152400" cy="152400"/>
            </a:xfrm>
            <a:prstGeom prst="ellipse">
              <a:avLst/>
            </a:prstGeom>
            <a:solidFill>
              <a:schemeClr val="accent3"/>
            </a:solidFill>
            <a:ln>
              <a:noFill/>
            </a:ln>
          </p:spPr>
        </p:sp>
        <p:sp>
          <p:nvSpPr>
            <p:cNvPr id="13" name="TextBox 13"/>
            <p:cNvSpPr txBox="1"/>
            <p:nvPr/>
          </p:nvSpPr>
          <p:spPr>
            <a:xfrm>
              <a:off x="500559" y="348615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1</a:t>
              </a:r>
            </a:p>
          </p:txBody>
        </p:sp>
        <p:sp>
          <p:nvSpPr>
            <p:cNvPr id="14" name="TextBox 14"/>
            <p:cNvSpPr txBox="1"/>
            <p:nvPr/>
          </p:nvSpPr>
          <p:spPr>
            <a:xfrm>
              <a:off x="680466" y="3468052"/>
              <a:ext cx="5438546"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增量在哪里:中国、欧洲、美国和新兴市场 2025 年各贡献了多少,2035 年还会是这样吗</a:t>
              </a:r>
            </a:p>
          </p:txBody>
        </p:sp>
        <p:sp>
          <p:nvSpPr>
            <p:cNvPr id="15" name="Ellipse 15"/>
            <p:cNvSpPr/>
            <p:nvPr/>
          </p:nvSpPr>
          <p:spPr>
            <a:xfrm>
              <a:off x="457200" y="3743325"/>
              <a:ext cx="152400" cy="152400"/>
            </a:xfrm>
            <a:prstGeom prst="ellipse">
              <a:avLst/>
            </a:prstGeom>
            <a:solidFill>
              <a:schemeClr val="accent3"/>
            </a:solidFill>
            <a:ln>
              <a:noFill/>
            </a:ln>
          </p:spPr>
        </p:sp>
        <p:sp>
          <p:nvSpPr>
            <p:cNvPr id="16" name="TextBox 16"/>
            <p:cNvSpPr txBox="1"/>
            <p:nvPr/>
          </p:nvSpPr>
          <p:spPr>
            <a:xfrm>
              <a:off x="500559" y="377190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2</a:t>
              </a:r>
            </a:p>
          </p:txBody>
        </p:sp>
        <p:sp>
          <p:nvSpPr>
            <p:cNvPr id="17" name="TextBox 17"/>
            <p:cNvSpPr txBox="1"/>
            <p:nvPr/>
          </p:nvSpPr>
          <p:spPr>
            <a:xfrm>
              <a:off x="680466" y="3753802"/>
              <a:ext cx="3717265"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用什么产品进入:PHEV 在低渗透市场的角色是过渡还是破冰</a:t>
              </a:r>
            </a:p>
          </p:txBody>
        </p:sp>
        <p:sp>
          <p:nvSpPr>
            <p:cNvPr id="18" name="Ellipse 18"/>
            <p:cNvSpPr/>
            <p:nvPr/>
          </p:nvSpPr>
          <p:spPr>
            <a:xfrm>
              <a:off x="457200" y="4029075"/>
              <a:ext cx="152400" cy="152400"/>
            </a:xfrm>
            <a:prstGeom prst="ellipse">
              <a:avLst/>
            </a:prstGeom>
            <a:solidFill>
              <a:schemeClr val="accent3"/>
            </a:solidFill>
            <a:ln>
              <a:noFill/>
            </a:ln>
          </p:spPr>
        </p:sp>
        <p:sp>
          <p:nvSpPr>
            <p:cNvPr id="19" name="TextBox 19"/>
            <p:cNvSpPr txBox="1"/>
            <p:nvPr/>
          </p:nvSpPr>
          <p:spPr>
            <a:xfrm>
              <a:off x="500559" y="405765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3</a:t>
              </a:r>
            </a:p>
          </p:txBody>
        </p:sp>
        <p:sp>
          <p:nvSpPr>
            <p:cNvPr id="20" name="TextBox 20"/>
            <p:cNvSpPr txBox="1"/>
            <p:nvPr/>
          </p:nvSpPr>
          <p:spPr>
            <a:xfrm>
              <a:off x="680466" y="4039552"/>
              <a:ext cx="4300671" cy="205359"/>
            </a:xfrm>
            <a:prstGeom prst="rect">
              <a:avLst/>
            </a:prstGeom>
            <a:noFill/>
            <a:ln>
              <a:noFill/>
            </a:ln>
          </p:spPr>
          <p:txBody>
            <a:bodyPr wrap="none" lIns="0" tIns="0" rIns="0" bIns="0" anchor="t" anchorCtr="0">
              <a:spAutoFit/>
            </a:bodyPr>
            <a:lstStyle/>
            <a:p>
              <a:pPr algn="l"/>
              <a:r>
                <a:rPr lang="zh-CN" sz="1050" dirty="0">
                  <a:solidFill>
                    <a:srgbClr val="FFFFFF"/>
                  </a:solidFill>
                  <a:latin typeface="+mn-lt"/>
                  <a:ea typeface="+mn-ea"/>
                  <a:cs typeface="+mn-cs"/>
                </a:rPr>
                <a:t>怎么排优先级:2026–2028 三年,增量投入按什么层级、什么节奏分配</a:t>
              </a:r>
            </a:p>
          </p:txBody>
        </p:sp>
      </p:grpSp>
      <p:grpSp>
        <p:nvGrpSpPr>
          <p:cNvPr id="31" name="cover-figures"/>
          <p:cNvGrpSpPr/>
          <p:nvPr/>
        </p:nvGrpSpPr>
        <p:grpSpPr>
          <a:xfrm>
            <a:off x="7795260" y="1238250"/>
            <a:ext cx="3939540" cy="2879407"/>
            <a:chOff x="7795260" y="1238250"/>
            <a:chExt cx="3939540" cy="2879407"/>
          </a:xfrm>
        </p:grpSpPr>
        <p:sp>
          <p:nvSpPr>
            <p:cNvPr id="22" name="Line 22"/>
            <p:cNvSpPr/>
            <p:nvPr/>
          </p:nvSpPr>
          <p:spPr>
            <a:xfrm>
              <a:off x="7810500" y="1238250"/>
              <a:ext cx="3924300" cy="9525"/>
            </a:xfrm>
            <a:custGeom>
              <a:avLst/>
              <a:gdLst/>
              <a:ahLst/>
              <a:cxnLst/>
              <a:rect l="l" t="t" r="r" b="b"/>
              <a:pathLst>
                <a:path w="3924300" h="9525">
                  <a:moveTo>
                    <a:pt x="0" y="0"/>
                  </a:moveTo>
                  <a:lnTo>
                    <a:pt x="3924300" y="0"/>
                  </a:lnTo>
                </a:path>
              </a:pathLst>
            </a:custGeom>
            <a:noFill/>
            <a:ln w="7144">
              <a:solidFill>
                <a:schemeClr val="accent3"/>
              </a:solidFill>
            </a:ln>
          </p:spPr>
        </p:sp>
        <p:sp>
          <p:nvSpPr>
            <p:cNvPr id="23" name="TextBox 23"/>
            <p:cNvSpPr txBox="1"/>
            <p:nvPr/>
          </p:nvSpPr>
          <p:spPr>
            <a:xfrm>
              <a:off x="7795260" y="1543050"/>
              <a:ext cx="1366287" cy="58674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Arial"/>
                  <a:cs typeface="Arial"/>
                </a:rPr>
                <a:t>2,100</a:t>
              </a:r>
              <a:r>
                <a:rPr lang="zh-CN" sz="1050" dirty="0">
                  <a:solidFill>
                    <a:schemeClr val="accent3"/>
                  </a:solidFill>
                  <a:latin typeface="+mn-lt"/>
                  <a:ea typeface="+mn-ea"/>
                  <a:cs typeface="+mn-cs"/>
                </a:rPr>
                <a:t xml:space="preserve"> 万辆</a:t>
              </a:r>
            </a:p>
          </p:txBody>
        </p:sp>
        <p:sp>
          <p:nvSpPr>
            <p:cNvPr id="24" name="TextBox 24"/>
            <p:cNvSpPr txBox="1"/>
            <p:nvPr/>
          </p:nvSpPr>
          <p:spPr>
            <a:xfrm>
              <a:off x="7805738" y="1960245"/>
              <a:ext cx="2323643" cy="176212"/>
            </a:xfrm>
            <a:prstGeom prst="rect">
              <a:avLst/>
            </a:prstGeom>
            <a:noFill/>
            <a:ln>
              <a:noFill/>
            </a:ln>
          </p:spPr>
          <p:txBody>
            <a:bodyPr wrap="none" lIns="0" tIns="0" rIns="0" bIns="0" anchor="t" anchorCtr="0">
              <a:spAutoFit/>
            </a:bodyPr>
            <a:lstStyle/>
            <a:p>
              <a:pPr algn="l"/>
              <a:r>
                <a:rPr lang="zh-CN" sz="900" dirty="0">
                  <a:solidFill>
                    <a:schemeClr val="accent3"/>
                  </a:solidFill>
                  <a:latin typeface="+mn-lt"/>
                  <a:ea typeface="+mn-ea"/>
                  <a:cs typeface="+mn-cs"/>
                </a:rPr>
                <a:t>2025 年全球电动车销量,较 2020 年 7.0 倍</a:t>
              </a:r>
            </a:p>
          </p:txBody>
        </p:sp>
        <p:sp>
          <p:nvSpPr>
            <p:cNvPr id="25" name="Line 25"/>
            <p:cNvSpPr/>
            <p:nvPr/>
          </p:nvSpPr>
          <p:spPr>
            <a:xfrm>
              <a:off x="7810500" y="2228850"/>
              <a:ext cx="3924300" cy="9525"/>
            </a:xfrm>
            <a:custGeom>
              <a:avLst/>
              <a:gdLst/>
              <a:ahLst/>
              <a:cxnLst/>
              <a:rect l="l" t="t" r="r" b="b"/>
              <a:pathLst>
                <a:path w="3924300" h="9525">
                  <a:moveTo>
                    <a:pt x="0" y="0"/>
                  </a:moveTo>
                  <a:lnTo>
                    <a:pt x="3924300" y="0"/>
                  </a:lnTo>
                </a:path>
              </a:pathLst>
            </a:custGeom>
            <a:noFill/>
            <a:ln w="7144">
              <a:solidFill>
                <a:schemeClr val="accent3">
                  <a:alpha val="50000"/>
                </a:schemeClr>
              </a:solidFill>
            </a:ln>
          </p:spPr>
        </p:sp>
        <p:sp>
          <p:nvSpPr>
            <p:cNvPr id="26" name="TextBox 26"/>
            <p:cNvSpPr txBox="1"/>
            <p:nvPr/>
          </p:nvSpPr>
          <p:spPr>
            <a:xfrm>
              <a:off x="7795260" y="2533650"/>
              <a:ext cx="838846" cy="58674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Arial"/>
                  <a:cs typeface="Arial"/>
                </a:rPr>
                <a:t>25%</a:t>
              </a:r>
            </a:p>
          </p:txBody>
        </p:sp>
        <p:sp>
          <p:nvSpPr>
            <p:cNvPr id="27" name="TextBox 27"/>
            <p:cNvSpPr txBox="1"/>
            <p:nvPr/>
          </p:nvSpPr>
          <p:spPr>
            <a:xfrm>
              <a:off x="7805738" y="2950845"/>
              <a:ext cx="1978342" cy="176212"/>
            </a:xfrm>
            <a:prstGeom prst="rect">
              <a:avLst/>
            </a:prstGeom>
            <a:noFill/>
            <a:ln>
              <a:noFill/>
            </a:ln>
          </p:spPr>
          <p:txBody>
            <a:bodyPr wrap="none" lIns="0" tIns="0" rIns="0" bIns="0" anchor="t" anchorCtr="0">
              <a:spAutoFit/>
            </a:bodyPr>
            <a:lstStyle/>
            <a:p>
              <a:pPr algn="l"/>
              <a:r>
                <a:rPr lang="zh-CN" sz="900" dirty="0">
                  <a:solidFill>
                    <a:schemeClr val="accent3"/>
                  </a:solidFill>
                  <a:latin typeface="+mn-lt"/>
                  <a:ea typeface="+mn-ea"/>
                  <a:cs typeface="+mn-cs"/>
                </a:rPr>
                <a:t>2025 年全球渗透率,2020 年为 4.4%</a:t>
              </a:r>
            </a:p>
          </p:txBody>
        </p:sp>
        <p:sp>
          <p:nvSpPr>
            <p:cNvPr id="28" name="Line 28"/>
            <p:cNvSpPr/>
            <p:nvPr/>
          </p:nvSpPr>
          <p:spPr>
            <a:xfrm>
              <a:off x="7810500" y="3219450"/>
              <a:ext cx="3924300" cy="9525"/>
            </a:xfrm>
            <a:custGeom>
              <a:avLst/>
              <a:gdLst/>
              <a:ahLst/>
              <a:cxnLst/>
              <a:rect l="l" t="t" r="r" b="b"/>
              <a:pathLst>
                <a:path w="3924300" h="9525">
                  <a:moveTo>
                    <a:pt x="0" y="0"/>
                  </a:moveTo>
                  <a:lnTo>
                    <a:pt x="3924300" y="0"/>
                  </a:lnTo>
                </a:path>
              </a:pathLst>
            </a:custGeom>
            <a:noFill/>
            <a:ln w="7144">
              <a:solidFill>
                <a:schemeClr val="accent3">
                  <a:alpha val="50000"/>
                </a:schemeClr>
              </a:solidFill>
            </a:ln>
          </p:spPr>
        </p:sp>
        <p:sp>
          <p:nvSpPr>
            <p:cNvPr id="29" name="TextBox 29"/>
            <p:cNvSpPr txBox="1"/>
            <p:nvPr/>
          </p:nvSpPr>
          <p:spPr>
            <a:xfrm>
              <a:off x="7795260" y="3524250"/>
              <a:ext cx="1040695" cy="586740"/>
            </a:xfrm>
            <a:prstGeom prst="rect">
              <a:avLst/>
            </a:prstGeom>
            <a:noFill/>
            <a:ln>
              <a:noFill/>
            </a:ln>
          </p:spPr>
          <p:txBody>
            <a:bodyPr wrap="none" lIns="0" tIns="0" rIns="0" bIns="0" anchor="t" anchorCtr="0">
              <a:spAutoFit/>
            </a:bodyPr>
            <a:lstStyle/>
            <a:p>
              <a:pPr algn="l"/>
              <a:r>
                <a:rPr lang="zh-CN" sz="3000" b="1" dirty="0">
                  <a:solidFill>
                    <a:srgbClr val="FFFFFF"/>
                  </a:solidFill>
                  <a:latin typeface="Arial"/>
                  <a:ea typeface="Arial"/>
                  <a:cs typeface="Arial"/>
                </a:rPr>
                <a:t>−10</a:t>
              </a:r>
              <a:r>
                <a:rPr lang="zh-CN" sz="1050" dirty="0">
                  <a:solidFill>
                    <a:schemeClr val="accent3"/>
                  </a:solidFill>
                  <a:latin typeface="+mn-lt"/>
                  <a:ea typeface="+mn-ea"/>
                  <a:cs typeface="+mn-cs"/>
                </a:rPr>
                <a:t xml:space="preserve"> 万辆</a:t>
              </a:r>
            </a:p>
          </p:txBody>
        </p:sp>
        <p:sp>
          <p:nvSpPr>
            <p:cNvPr id="30" name="TextBox 30"/>
            <p:cNvSpPr txBox="1"/>
            <p:nvPr/>
          </p:nvSpPr>
          <p:spPr>
            <a:xfrm>
              <a:off x="7805738" y="3941445"/>
              <a:ext cx="2378164" cy="176212"/>
            </a:xfrm>
            <a:prstGeom prst="rect">
              <a:avLst/>
            </a:prstGeom>
            <a:noFill/>
            <a:ln>
              <a:noFill/>
            </a:ln>
          </p:spPr>
          <p:txBody>
            <a:bodyPr wrap="none" lIns="0" tIns="0" rIns="0" bIns="0" anchor="t" anchorCtr="0">
              <a:spAutoFit/>
            </a:bodyPr>
            <a:lstStyle/>
            <a:p>
              <a:pPr algn="l"/>
              <a:r>
                <a:rPr lang="zh-CN" sz="900" dirty="0">
                  <a:solidFill>
                    <a:schemeClr val="accent3"/>
                  </a:solidFill>
                  <a:latin typeface="+mn-lt"/>
                  <a:ea typeface="+mn-ea"/>
                  <a:cs typeface="+mn-cs"/>
                </a:rPr>
                <a:t>2025 年美国销量变化,2015 年以来首次下滑</a:t>
              </a:r>
            </a:p>
          </p:txBody>
        </p:sp>
      </p:grpSp>
      <p:grpSp>
        <p:nvGrpSpPr>
          <p:cNvPr id="40" name="cover-structure"/>
          <p:cNvGrpSpPr/>
          <p:nvPr/>
        </p:nvGrpSpPr>
        <p:grpSpPr>
          <a:xfrm>
            <a:off x="451866" y="4762500"/>
            <a:ext cx="11282934" cy="993457"/>
            <a:chOff x="451866" y="4762500"/>
            <a:chExt cx="11282934" cy="993457"/>
          </a:xfrm>
        </p:grpSpPr>
        <p:sp>
          <p:nvSpPr>
            <p:cNvPr id="32" name="Line 32"/>
            <p:cNvSpPr/>
            <p:nvPr/>
          </p:nvSpPr>
          <p:spPr>
            <a:xfrm>
              <a:off x="457200" y="4762500"/>
              <a:ext cx="11277600" cy="9525"/>
            </a:xfrm>
            <a:custGeom>
              <a:avLst/>
              <a:gdLst/>
              <a:ahLst/>
              <a:cxnLst/>
              <a:rect l="l" t="t" r="r" b="b"/>
              <a:pathLst>
                <a:path w="11277600" h="9525">
                  <a:moveTo>
                    <a:pt x="0" y="0"/>
                  </a:moveTo>
                  <a:lnTo>
                    <a:pt x="11277600" y="0"/>
                  </a:lnTo>
                </a:path>
              </a:pathLst>
            </a:custGeom>
            <a:noFill/>
            <a:ln w="7144">
              <a:solidFill>
                <a:schemeClr val="accent3"/>
              </a:solidFill>
            </a:ln>
          </p:spPr>
        </p:sp>
        <p:sp>
          <p:nvSpPr>
            <p:cNvPr id="33" name="TextBox 33"/>
            <p:cNvSpPr txBox="1"/>
            <p:nvPr/>
          </p:nvSpPr>
          <p:spPr>
            <a:xfrm>
              <a:off x="452438" y="49020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3"/>
                  </a:solidFill>
                  <a:latin typeface="+mn-lt"/>
                  <a:ea typeface="+mn-ea"/>
                  <a:cs typeface="+mn-cs"/>
                </a:rPr>
                <a:t>文档结构</a:t>
              </a:r>
            </a:p>
          </p:txBody>
        </p:sp>
        <p:sp>
          <p:nvSpPr>
            <p:cNvPr id="34" name="TextBox 34"/>
            <p:cNvSpPr txBox="1"/>
            <p:nvPr/>
          </p:nvSpPr>
          <p:spPr>
            <a:xfrm>
              <a:off x="451866" y="5182552"/>
              <a:ext cx="929732"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诊断</a:t>
              </a:r>
              <a:r>
                <a:rPr lang="zh-CN" sz="1050" dirty="0">
                  <a:solidFill>
                    <a:schemeClr val="accent3"/>
                  </a:solidFill>
                  <a:latin typeface="Arial"/>
                  <a:ea typeface="Microsoft YaHei"/>
                  <a:cs typeface="Arial"/>
                </a:rPr>
                <a:t xml:space="preserve"> 第 3–9 页</a:t>
              </a:r>
            </a:p>
          </p:txBody>
        </p:sp>
        <p:sp>
          <p:nvSpPr>
            <p:cNvPr id="35" name="TextBox 35"/>
            <p:cNvSpPr txBox="1"/>
            <p:nvPr/>
          </p:nvSpPr>
          <p:spPr>
            <a:xfrm>
              <a:off x="452438" y="5408295"/>
              <a:ext cx="3221355" cy="34766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全球总量与地区增量拆分;成熟市场、欧洲、新兴市场逐一诊断;</a:t>
              </a:r>
              <a:br/>
              <a:r>
                <a:rPr lang="zh-CN" sz="900" dirty="0">
                  <a:solidFill>
                    <a:schemeClr val="accent3"/>
                  </a:solidFill>
                  <a:latin typeface="+mn-lt"/>
                  <a:ea typeface="+mn-ea"/>
                  <a:cs typeface="+mn-cs"/>
                </a:rPr>
                <a:t>PHEV 产品组合;2035 年 IEA 情景下的增量地图</a:t>
              </a:r>
            </a:p>
          </p:txBody>
        </p:sp>
        <p:sp>
          <p:nvSpPr>
            <p:cNvPr id="36" name="TextBox 36"/>
            <p:cNvSpPr txBox="1"/>
            <p:nvPr/>
          </p:nvSpPr>
          <p:spPr>
            <a:xfrm>
              <a:off x="4261866" y="5182552"/>
              <a:ext cx="1086971"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建议</a:t>
              </a:r>
              <a:r>
                <a:rPr lang="zh-CN" sz="1050" dirty="0">
                  <a:solidFill>
                    <a:schemeClr val="accent3"/>
                  </a:solidFill>
                  <a:latin typeface="Arial"/>
                  <a:ea typeface="Microsoft YaHei"/>
                  <a:cs typeface="Arial"/>
                </a:rPr>
                <a:t xml:space="preserve"> 第 10–12 页</a:t>
              </a:r>
            </a:p>
          </p:txBody>
        </p:sp>
        <p:sp>
          <p:nvSpPr>
            <p:cNvPr id="37" name="TextBox 37"/>
            <p:cNvSpPr txBox="1"/>
            <p:nvPr/>
          </p:nvSpPr>
          <p:spPr>
            <a:xfrm>
              <a:off x="4262438" y="5408295"/>
              <a:ext cx="2792730" cy="34766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三级市场优先级表;2026–2028 三年行动节奏与决策门;</a:t>
              </a:r>
              <a:br/>
              <a:r>
                <a:rPr lang="zh-CN" sz="900" dirty="0">
                  <a:solidFill>
                    <a:schemeClr val="accent3"/>
                  </a:solidFill>
                  <a:latin typeface="+mn-lt"/>
                  <a:ea typeface="+mn-ea"/>
                  <a:cs typeface="+mn-cs"/>
                </a:rPr>
                <a:t>三项风险的触发指标、影响与应对</a:t>
              </a:r>
            </a:p>
          </p:txBody>
        </p:sp>
        <p:sp>
          <p:nvSpPr>
            <p:cNvPr id="38" name="TextBox 38"/>
            <p:cNvSpPr txBox="1"/>
            <p:nvPr/>
          </p:nvSpPr>
          <p:spPr>
            <a:xfrm>
              <a:off x="8071866" y="5182552"/>
              <a:ext cx="1086971"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决策</a:t>
              </a:r>
              <a:r>
                <a:rPr lang="zh-CN" sz="1050" dirty="0">
                  <a:solidFill>
                    <a:schemeClr val="accent3"/>
                  </a:solidFill>
                  <a:latin typeface="Arial"/>
                  <a:ea typeface="Microsoft YaHei"/>
                  <a:cs typeface="Arial"/>
                </a:rPr>
                <a:t xml:space="preserve"> 第 13–14 页</a:t>
              </a:r>
            </a:p>
          </p:txBody>
        </p:sp>
        <p:sp>
          <p:nvSpPr>
            <p:cNvPr id="39" name="TextBox 39"/>
            <p:cNvSpPr txBox="1"/>
            <p:nvPr/>
          </p:nvSpPr>
          <p:spPr>
            <a:xfrm>
              <a:off x="8072438" y="5408295"/>
              <a:ext cx="2861310" cy="34766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本季度请管理层决定的三件事、90 天内动作与负责角色;</a:t>
              </a:r>
              <a:br/>
              <a:r>
                <a:rPr lang="zh-CN" sz="900" dirty="0">
                  <a:solidFill>
                    <a:schemeClr val="accent3"/>
                  </a:solidFill>
                  <a:latin typeface="+mn-lt"/>
                  <a:ea typeface="+mn-ea"/>
                  <a:cs typeface="+mn-cs"/>
                </a:rPr>
                <a:t>附录列出全部数据、口径与来源链接</a:t>
              </a:r>
            </a:p>
          </p:txBody>
        </p:sp>
      </p:grpSp>
      <p:sp>
        <p:nvSpPr>
          <p:cNvPr id="41" name="TextBox 41"/>
          <p:cNvSpPr txBox="1"/>
          <p:nvPr/>
        </p:nvSpPr>
        <p:spPr>
          <a:xfrm>
            <a:off x="452438" y="6167438"/>
            <a:ext cx="7586662" cy="300038"/>
          </a:xfrm>
          <a:prstGeom prst="rect">
            <a:avLst/>
          </a:prstGeom>
          <a:noFill/>
          <a:ln>
            <a:noFill/>
          </a:ln>
        </p:spPr>
        <p:txBody>
          <a:bodyPr wrap="none" lIns="0" tIns="0" rIns="0" bIns="0" anchor="t" anchorCtr="0">
            <a:spAutoFit/>
          </a:bodyPr>
          <a:lstStyle/>
          <a:p>
            <a:pPr algn="l">
              <a:lnSpc>
                <a:spcPts val="1200"/>
              </a:lnSpc>
            </a:pPr>
            <a:r>
              <a:rPr lang="zh-CN" sz="750" dirty="0">
                <a:solidFill>
                  <a:schemeClr val="accent3"/>
                </a:solidFill>
                <a:latin typeface="+mn-lt"/>
                <a:ea typeface="+mn-ea"/>
                <a:cs typeface="+mn-cs"/>
              </a:rPr>
              <a:t>电动车 = 纯电(BEV)+ 插电混动(PHEV),乘用车口径;渗透率 = 电动车占新车销量的比例</a:t>
            </a:r>
            <a:br/>
            <a:r>
              <a:rPr lang="zh-CN" sz="750" dirty="0">
                <a:solidFill>
                  <a:schemeClr val="accent3"/>
                </a:solidFill>
                <a:latin typeface="+mn-lt"/>
                <a:ea typeface="+mn-ea"/>
                <a:cs typeface="+mn-cs"/>
              </a:rPr>
              <a:t>资料来源:IEA (2025), Global EV Outlook 2025, Global EV Data Explorer(CC BY 4.0);2025 年为 IEA 全年估计;本报告分析;数据通过官方接口于 2026-09-05 取得,未做数值修改</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400"/>
                                        <p:tgtEl>
                                          <p:spTgt spid="21"/>
                                        </p:tgtEl>
                                      </p:cBhvr>
                                    </p:animEffect>
                                  </p:childTnLst>
                                </p:cTn>
                              </p:par>
                            </p:childTnLst>
                          </p:cTn>
                        </p:par>
                        <p:par>
                          <p:cTn id="12" fill="hold">
                            <p:stCondLst>
                              <p:cond delay="14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par>
                          <p:cTn id="16" fill="hold">
                            <p:stCondLst>
                              <p:cond delay="24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324744" y="247650"/>
            <a:ext cx="1410056" cy="206216"/>
            <a:chOff x="10324744" y="247650"/>
            <a:chExt cx="1410056" cy="206216"/>
          </a:xfrm>
        </p:grpSpPr>
        <p:sp>
          <p:nvSpPr>
            <p:cNvPr id="2" name="TextBox 2"/>
            <p:cNvSpPr txBox="1"/>
            <p:nvPr/>
          </p:nvSpPr>
          <p:spPr>
            <a:xfrm>
              <a:off x="10324744" y="291941"/>
              <a:ext cx="48136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执行摘要</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5885878" cy="637794"/>
            <a:chOff x="448056" y="472440"/>
            <a:chExt cx="5885878" cy="637794"/>
          </a:xfrm>
        </p:grpSpPr>
        <p:sp>
          <p:nvSpPr>
            <p:cNvPr id="6" name="TextBox 6"/>
            <p:cNvSpPr txBox="1"/>
            <p:nvPr/>
          </p:nvSpPr>
          <p:spPr>
            <a:xfrm>
              <a:off x="448056" y="472440"/>
              <a:ext cx="5885878"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增量重心已从欧美转向新兴市场,2026–2028 应分级投入,</a:t>
              </a:r>
              <a:br/>
              <a:r>
                <a:rPr lang="zh-CN" sz="1800" b="1" dirty="0">
                  <a:solidFill>
                    <a:schemeClr val="accent1"/>
                  </a:solidFill>
                  <a:latin typeface="+mn-lt"/>
                  <a:ea typeface="+mn-ea"/>
                  <a:cs typeface="+mn-cs"/>
                </a:rPr>
                <a:t>并以 PHEV 打开低渗透市场</a:t>
              </a:r>
            </a:p>
          </p:txBody>
        </p:sp>
      </p:grpSp>
      <p:grpSp>
        <p:nvGrpSpPr>
          <p:cNvPr id="9" name="unit-line"/>
          <p:cNvGrpSpPr/>
          <p:nvPr/>
        </p:nvGrpSpPr>
        <p:grpSpPr>
          <a:xfrm>
            <a:off x="452438" y="1160145"/>
            <a:ext cx="3832060" cy="176212"/>
            <a:chOff x="452438" y="1160145"/>
            <a:chExt cx="3832060" cy="176212"/>
          </a:xfrm>
        </p:grpSpPr>
        <p:sp>
          <p:nvSpPr>
            <p:cNvPr id="8" name="TextBox 8"/>
            <p:cNvSpPr txBox="1"/>
            <p:nvPr/>
          </p:nvSpPr>
          <p:spPr>
            <a:xfrm>
              <a:off x="452438" y="1160145"/>
              <a:ext cx="3832060"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执行摘要:三个事实判断、一个产品推论、四个基础数字、三项决策请求</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finding-1"/>
          <p:cNvGrpSpPr/>
          <p:nvPr/>
        </p:nvGrpSpPr>
        <p:grpSpPr>
          <a:xfrm>
            <a:off x="457200" y="1647825"/>
            <a:ext cx="6721412" cy="634936"/>
            <a:chOff x="457200" y="1647825"/>
            <a:chExt cx="6721412" cy="634936"/>
          </a:xfrm>
        </p:grpSpPr>
        <p:sp>
          <p:nvSpPr>
            <p:cNvPr id="11" name="Ellipse 11"/>
            <p:cNvSpPr/>
            <p:nvPr/>
          </p:nvSpPr>
          <p:spPr>
            <a:xfrm>
              <a:off x="457200" y="1647825"/>
              <a:ext cx="152400" cy="152400"/>
            </a:xfrm>
            <a:prstGeom prst="ellipse">
              <a:avLst/>
            </a:prstGeom>
            <a:solidFill>
              <a:schemeClr val="accent1"/>
            </a:solidFill>
            <a:ln>
              <a:noFill/>
            </a:ln>
          </p:spPr>
        </p:sp>
        <p:sp>
          <p:nvSpPr>
            <p:cNvPr id="12" name="TextBox 12"/>
            <p:cNvSpPr txBox="1"/>
            <p:nvPr/>
          </p:nvSpPr>
          <p:spPr>
            <a:xfrm>
              <a:off x="500559" y="16764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13" name="TextBox 13"/>
            <p:cNvSpPr txBox="1"/>
            <p:nvPr/>
          </p:nvSpPr>
          <p:spPr>
            <a:xfrm>
              <a:off x="680085" y="1650206"/>
              <a:ext cx="4699383"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成熟市场见顶:美国销量首次下滑、渗透率两年停在 10%,日本仍在 3%</a:t>
              </a:r>
            </a:p>
          </p:txBody>
        </p:sp>
        <p:sp>
          <p:nvSpPr>
            <p:cNvPr id="14" name="TextBox 14"/>
            <p:cNvSpPr txBox="1"/>
            <p:nvPr/>
          </p:nvSpPr>
          <p:spPr>
            <a:xfrm>
              <a:off x="680466" y="1886902"/>
              <a:ext cx="6498146"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美国 2025 年销量 160 万→150 万辆(−6%),是 2015 年以来首次下滑;渗透率 2024、2025 两年都是 10%;</a:t>
              </a:r>
              <a:br/>
              <a:r>
                <a:rPr lang="zh-CN" sz="1050" dirty="0">
                  <a:solidFill>
                    <a:schemeClr val="dk1"/>
                  </a:solidFill>
                  <a:latin typeface="+mn-lt"/>
                  <a:ea typeface="+mn-ea"/>
                  <a:cs typeface="+mn-cs"/>
                </a:rPr>
                <a:t>日本销量 10 万辆持平、渗透率 3%。成熟市场里只有韩国起量:13 万→22 万辆(+69%),渗透率 11%。(第 5 页)</a:t>
              </a:r>
            </a:p>
          </p:txBody>
        </p:sp>
      </p:grpSp>
      <p:grpSp>
        <p:nvGrpSpPr>
          <p:cNvPr id="20" name="finding-2"/>
          <p:cNvGrpSpPr/>
          <p:nvPr/>
        </p:nvGrpSpPr>
        <p:grpSpPr>
          <a:xfrm>
            <a:off x="457200" y="2638425"/>
            <a:ext cx="6674739" cy="634936"/>
            <a:chOff x="457200" y="2638425"/>
            <a:chExt cx="6674739" cy="634936"/>
          </a:xfrm>
        </p:grpSpPr>
        <p:sp>
          <p:nvSpPr>
            <p:cNvPr id="16" name="Ellipse 16"/>
            <p:cNvSpPr/>
            <p:nvPr/>
          </p:nvSpPr>
          <p:spPr>
            <a:xfrm>
              <a:off x="457200" y="2638425"/>
              <a:ext cx="152400" cy="152400"/>
            </a:xfrm>
            <a:prstGeom prst="ellipse">
              <a:avLst/>
            </a:prstGeom>
            <a:solidFill>
              <a:schemeClr val="accent1"/>
            </a:solidFill>
            <a:ln>
              <a:noFill/>
            </a:ln>
          </p:spPr>
        </p:sp>
        <p:sp>
          <p:nvSpPr>
            <p:cNvPr id="17" name="TextBox 17"/>
            <p:cNvSpPr txBox="1"/>
            <p:nvPr/>
          </p:nvSpPr>
          <p:spPr>
            <a:xfrm>
              <a:off x="500559" y="2667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18" name="TextBox 18"/>
            <p:cNvSpPr txBox="1"/>
            <p:nvPr/>
          </p:nvSpPr>
          <p:spPr>
            <a:xfrm>
              <a:off x="680085" y="2640806"/>
              <a:ext cx="4882197"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欧洲反弹到 28% 靠英国和德国,法国两年零增长——进入欧洲要按国家排序</a:t>
              </a:r>
            </a:p>
          </p:txBody>
        </p:sp>
        <p:sp>
          <p:nvSpPr>
            <p:cNvPr id="19" name="TextBox 19"/>
            <p:cNvSpPr txBox="1"/>
            <p:nvPr/>
          </p:nvSpPr>
          <p:spPr>
            <a:xfrm>
              <a:off x="680466" y="2877502"/>
              <a:ext cx="6451473"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英国渗透率两年 +12 个百分点到 35%、销量 46 万→70 万辆;德国 2024 年曾回落到 20%,2025 年反弹到 30%;</a:t>
              </a:r>
              <a:br/>
              <a:r>
                <a:rPr lang="zh-CN" sz="1050" dirty="0">
                  <a:solidFill>
                    <a:schemeClr val="dk1"/>
                  </a:solidFill>
                  <a:latin typeface="+mn-lt"/>
                  <a:ea typeface="+mn-ea"/>
                  <a:cs typeface="+mn-cs"/>
                </a:rPr>
                <a:t>法国持平在 26%、销量 47 万→45 万辆。欧洲 100 万辆增量集中在英德两国。(第 6 页)</a:t>
              </a:r>
            </a:p>
          </p:txBody>
        </p:sp>
      </p:grpSp>
      <p:grpSp>
        <p:nvGrpSpPr>
          <p:cNvPr id="25" name="finding-3"/>
          <p:cNvGrpSpPr/>
          <p:nvPr/>
        </p:nvGrpSpPr>
        <p:grpSpPr>
          <a:xfrm>
            <a:off x="457200" y="3629025"/>
            <a:ext cx="7221474" cy="634936"/>
            <a:chOff x="457200" y="3629025"/>
            <a:chExt cx="7221474" cy="634936"/>
          </a:xfrm>
        </p:grpSpPr>
        <p:sp>
          <p:nvSpPr>
            <p:cNvPr id="21" name="Ellipse 21"/>
            <p:cNvSpPr/>
            <p:nvPr/>
          </p:nvSpPr>
          <p:spPr>
            <a:xfrm>
              <a:off x="457200" y="3629025"/>
              <a:ext cx="152400" cy="152400"/>
            </a:xfrm>
            <a:prstGeom prst="ellipse">
              <a:avLst/>
            </a:prstGeom>
            <a:solidFill>
              <a:schemeClr val="accent1"/>
            </a:solidFill>
            <a:ln>
              <a:noFill/>
            </a:ln>
          </p:spPr>
        </p:sp>
        <p:sp>
          <p:nvSpPr>
            <p:cNvPr id="22" name="TextBox 22"/>
            <p:cNvSpPr txBox="1"/>
            <p:nvPr/>
          </p:nvSpPr>
          <p:spPr>
            <a:xfrm>
              <a:off x="500559" y="36576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23" name="TextBox 23"/>
            <p:cNvSpPr txBox="1"/>
            <p:nvPr/>
          </p:nvSpPr>
          <p:spPr>
            <a:xfrm>
              <a:off x="680085" y="3631406"/>
              <a:ext cx="5666978"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新兴市场进入加速段:东南亚渗透率 8.4%→18%,中美欧之外的市场增量首次超过欧洲</a:t>
              </a:r>
            </a:p>
          </p:txBody>
        </p:sp>
        <p:sp>
          <p:nvSpPr>
            <p:cNvPr id="24" name="TextBox 24"/>
            <p:cNvSpPr txBox="1"/>
            <p:nvPr/>
          </p:nvSpPr>
          <p:spPr>
            <a:xfrm>
              <a:off x="680466" y="3868102"/>
              <a:ext cx="6998208"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2025 年全球 400 万辆增量:中国 +200 万、欧洲 +100 万、美国 −10 万、其他市场 +110 万;</a:t>
              </a:r>
              <a:br/>
              <a:r>
                <a:rPr lang="zh-CN" sz="1050" dirty="0">
                  <a:solidFill>
                    <a:schemeClr val="dk1"/>
                  </a:solidFill>
                  <a:latin typeface="+mn-lt"/>
                  <a:ea typeface="+mn-ea"/>
                  <a:cs typeface="+mn-cs"/>
                </a:rPr>
                <a:t>东南亚销量 16 万→54 万辆(3.4 倍),泰国渗透率 23%;东南亚、印度、巴西、墨西哥合计 31 万→98 万辆。(第 4、7 页)</a:t>
              </a:r>
            </a:p>
          </p:txBody>
        </p:sp>
      </p:grpSp>
      <p:grpSp>
        <p:nvGrpSpPr>
          <p:cNvPr id="30" name="inference"/>
          <p:cNvGrpSpPr/>
          <p:nvPr/>
        </p:nvGrpSpPr>
        <p:grpSpPr>
          <a:xfrm>
            <a:off x="457200" y="4476750"/>
            <a:ext cx="7810500" cy="663511"/>
            <a:chOff x="457200" y="4476750"/>
            <a:chExt cx="7810500" cy="663511"/>
          </a:xfrm>
        </p:grpSpPr>
        <p:sp>
          <p:nvSpPr>
            <p:cNvPr id="26" name="Rectangle 26"/>
            <p:cNvSpPr/>
            <p:nvPr/>
          </p:nvSpPr>
          <p:spPr>
            <a:xfrm>
              <a:off x="457200" y="4476750"/>
              <a:ext cx="7810500" cy="628650"/>
            </a:xfrm>
            <a:prstGeom prst="rect">
              <a:avLst/>
            </a:prstGeom>
            <a:solidFill>
              <a:srgbClr val="F7F7F7"/>
            </a:solidFill>
            <a:ln>
              <a:noFill/>
            </a:ln>
          </p:spPr>
        </p:sp>
        <p:sp>
          <p:nvSpPr>
            <p:cNvPr id="27" name="Rectangle 27"/>
            <p:cNvSpPr/>
            <p:nvPr/>
          </p:nvSpPr>
          <p:spPr>
            <a:xfrm>
              <a:off x="457200" y="4476750"/>
              <a:ext cx="38100" cy="628650"/>
            </a:xfrm>
            <a:prstGeom prst="rect">
              <a:avLst/>
            </a:prstGeom>
            <a:solidFill>
              <a:schemeClr val="accent2"/>
            </a:solidFill>
            <a:ln>
              <a:noFill/>
            </a:ln>
          </p:spPr>
        </p:sp>
        <p:sp>
          <p:nvSpPr>
            <p:cNvPr id="28" name="TextBox 28"/>
            <p:cNvSpPr txBox="1"/>
            <p:nvPr/>
          </p:nvSpPr>
          <p:spPr>
            <a:xfrm>
              <a:off x="604838" y="4589145"/>
              <a:ext cx="494157"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产品推论</a:t>
              </a:r>
            </a:p>
          </p:txBody>
        </p:sp>
        <p:sp>
          <p:nvSpPr>
            <p:cNvPr id="29" name="TextBox 29"/>
            <p:cNvSpPr txBox="1"/>
            <p:nvPr/>
          </p:nvSpPr>
          <p:spPr>
            <a:xfrm>
              <a:off x="604266" y="4763452"/>
              <a:ext cx="5331333" cy="376809"/>
            </a:xfrm>
            <a:prstGeom prst="rect">
              <a:avLst/>
            </a:prstGeom>
            <a:noFill/>
            <a:ln>
              <a:noFill/>
            </a:ln>
          </p:spPr>
          <p:txBody>
            <a:bodyPr wrap="none" lIns="0" tIns="0" rIns="0" bIns="0" anchor="t" anchorCtr="0">
              <a:spAutoFit/>
            </a:bodyPr>
            <a:lstStyle/>
            <a:p>
              <a:pPr algn="l">
                <a:lnSpc>
                  <a:spcPts val="1350"/>
                </a:lnSpc>
              </a:pPr>
              <a:r>
                <a:rPr lang="zh-CN" sz="1050" dirty="0">
                  <a:solidFill>
                    <a:schemeClr val="dk1"/>
                  </a:solidFill>
                  <a:latin typeface="+mn-lt"/>
                  <a:ea typeface="+mn-ea"/>
                  <a:cs typeface="+mn-cs"/>
                </a:rPr>
                <a:t>PHEV 占全球电动车销量 34%、占中国 38%,中国 PHEV 三年增长 3.4 倍而 BEV 只有 1.8 倍</a:t>
              </a:r>
              <a:br/>
              <a:r>
                <a:rPr lang="zh-CN" sz="1050" dirty="0">
                  <a:solidFill>
                    <a:schemeClr val="dk1"/>
                  </a:solidFill>
                  <a:latin typeface="+mn-lt"/>
                  <a:ea typeface="+mn-ea"/>
                  <a:cs typeface="+mn-cs"/>
                </a:rPr>
                <a:t>——PHEV 是低渗透市场的破冰产品,不是过渡产品。(第 8 页)</a:t>
              </a:r>
            </a:p>
          </p:txBody>
        </p:sp>
      </p:grpSp>
      <p:grpSp>
        <p:nvGrpSpPr>
          <p:cNvPr id="41" name="data-basis"/>
          <p:cNvGrpSpPr/>
          <p:nvPr/>
        </p:nvGrpSpPr>
        <p:grpSpPr>
          <a:xfrm>
            <a:off x="447294" y="5283041"/>
            <a:ext cx="7820406" cy="752475"/>
            <a:chOff x="447294" y="5283041"/>
            <a:chExt cx="7820406" cy="752475"/>
          </a:xfrm>
        </p:grpSpPr>
        <p:sp>
          <p:nvSpPr>
            <p:cNvPr id="31" name="TextBox 31"/>
            <p:cNvSpPr txBox="1"/>
            <p:nvPr/>
          </p:nvSpPr>
          <p:spPr>
            <a:xfrm>
              <a:off x="452438" y="5283041"/>
              <a:ext cx="772820"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四个基础数字</a:t>
              </a:r>
            </a:p>
          </p:txBody>
        </p:sp>
        <p:sp>
          <p:nvSpPr>
            <p:cNvPr id="32" name="Line 32"/>
            <p:cNvSpPr/>
            <p:nvPr/>
          </p:nvSpPr>
          <p:spPr>
            <a:xfrm>
              <a:off x="457200" y="5448300"/>
              <a:ext cx="7810500" cy="9525"/>
            </a:xfrm>
            <a:custGeom>
              <a:avLst/>
              <a:gdLst/>
              <a:ahLst/>
              <a:cxnLst/>
              <a:rect l="l" t="t" r="r" b="b"/>
              <a:pathLst>
                <a:path w="7810500" h="9525">
                  <a:moveTo>
                    <a:pt x="0" y="0"/>
                  </a:moveTo>
                  <a:lnTo>
                    <a:pt x="7810500" y="0"/>
                  </a:lnTo>
                </a:path>
              </a:pathLst>
            </a:custGeom>
            <a:noFill/>
            <a:ln w="7144">
              <a:solidFill>
                <a:schemeClr val="accent1"/>
              </a:solidFill>
            </a:ln>
          </p:spPr>
        </p:sp>
        <p:sp>
          <p:nvSpPr>
            <p:cNvPr id="33" name="TextBox 33"/>
            <p:cNvSpPr txBox="1"/>
            <p:nvPr/>
          </p:nvSpPr>
          <p:spPr>
            <a:xfrm>
              <a:off x="447294" y="5561648"/>
              <a:ext cx="955430"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Arial"/>
                  <a:ea typeface="Arial"/>
                  <a:cs typeface="Arial"/>
                </a:rPr>
                <a:t>2,100</a:t>
              </a:r>
              <a:r>
                <a:rPr lang="zh-CN" sz="900" dirty="0">
                  <a:solidFill>
                    <a:schemeClr val="accent5"/>
                  </a:solidFill>
                  <a:latin typeface="+mn-lt"/>
                  <a:ea typeface="+mn-ea"/>
                  <a:cs typeface="+mn-cs"/>
                </a:rPr>
                <a:t xml:space="preserve"> 万辆</a:t>
              </a:r>
            </a:p>
          </p:txBody>
        </p:sp>
        <p:sp>
          <p:nvSpPr>
            <p:cNvPr id="34" name="TextBox 34"/>
            <p:cNvSpPr txBox="1"/>
            <p:nvPr/>
          </p:nvSpPr>
          <p:spPr>
            <a:xfrm>
              <a:off x="452438" y="5873591"/>
              <a:ext cx="227800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2025 年全球电动车销量,五年 7.0 倍(第 3 页)</a:t>
              </a:r>
            </a:p>
          </p:txBody>
        </p:sp>
        <p:sp>
          <p:nvSpPr>
            <p:cNvPr id="35" name="TextBox 35"/>
            <p:cNvSpPr txBox="1"/>
            <p:nvPr/>
          </p:nvSpPr>
          <p:spPr>
            <a:xfrm>
              <a:off x="2447544" y="5561648"/>
              <a:ext cx="545250"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Arial"/>
                  <a:ea typeface="Arial"/>
                  <a:cs typeface="Arial"/>
                </a:rPr>
                <a:t>25%</a:t>
              </a:r>
            </a:p>
          </p:txBody>
        </p:sp>
        <p:sp>
          <p:nvSpPr>
            <p:cNvPr id="36" name="TextBox 36"/>
            <p:cNvSpPr txBox="1"/>
            <p:nvPr/>
          </p:nvSpPr>
          <p:spPr>
            <a:xfrm>
              <a:off x="2452688" y="5873591"/>
              <a:ext cx="227248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2025 年全球渗透率,2020 年为 4.4%(第 3 页)</a:t>
              </a:r>
            </a:p>
          </p:txBody>
        </p:sp>
        <p:sp>
          <p:nvSpPr>
            <p:cNvPr id="37" name="TextBox 37"/>
            <p:cNvSpPr txBox="1"/>
            <p:nvPr/>
          </p:nvSpPr>
          <p:spPr>
            <a:xfrm>
              <a:off x="4447794" y="5561648"/>
              <a:ext cx="889803" cy="381381"/>
            </a:xfrm>
            <a:prstGeom prst="rect">
              <a:avLst/>
            </a:prstGeom>
            <a:noFill/>
            <a:ln>
              <a:noFill/>
            </a:ln>
          </p:spPr>
          <p:txBody>
            <a:bodyPr wrap="none" lIns="0" tIns="0" rIns="0" bIns="0" anchor="t" anchorCtr="0">
              <a:spAutoFit/>
            </a:bodyPr>
            <a:lstStyle/>
            <a:p>
              <a:pPr algn="l"/>
              <a:r>
                <a:rPr lang="zh-CN" sz="1950" b="1" dirty="0">
                  <a:solidFill>
                    <a:schemeClr val="accent2"/>
                  </a:solidFill>
                  <a:latin typeface="Arial"/>
                  <a:ea typeface="Arial"/>
                  <a:cs typeface="Arial"/>
                </a:rPr>
                <a:t>+400</a:t>
              </a:r>
              <a:r>
                <a:rPr lang="zh-CN" sz="900" dirty="0">
                  <a:solidFill>
                    <a:schemeClr val="accent5"/>
                  </a:solidFill>
                  <a:latin typeface="+mn-lt"/>
                  <a:ea typeface="+mn-ea"/>
                  <a:cs typeface="+mn-cs"/>
                </a:rPr>
                <a:t xml:space="preserve"> 万辆</a:t>
              </a:r>
            </a:p>
          </p:txBody>
        </p:sp>
        <p:sp>
          <p:nvSpPr>
            <p:cNvPr id="38" name="TextBox 38"/>
            <p:cNvSpPr txBox="1"/>
            <p:nvPr/>
          </p:nvSpPr>
          <p:spPr>
            <a:xfrm>
              <a:off x="4452938" y="5873591"/>
              <a:ext cx="1946841"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2025 年增量,其中美国 −10 万(第 4 页)</a:t>
              </a:r>
            </a:p>
          </p:txBody>
        </p:sp>
        <p:sp>
          <p:nvSpPr>
            <p:cNvPr id="39" name="TextBox 39"/>
            <p:cNvSpPr txBox="1"/>
            <p:nvPr/>
          </p:nvSpPr>
          <p:spPr>
            <a:xfrm>
              <a:off x="6448044" y="5561648"/>
              <a:ext cx="955430" cy="381381"/>
            </a:xfrm>
            <a:prstGeom prst="rect">
              <a:avLst/>
            </a:prstGeom>
            <a:noFill/>
            <a:ln>
              <a:noFill/>
            </a:ln>
          </p:spPr>
          <p:txBody>
            <a:bodyPr wrap="none" lIns="0" tIns="0" rIns="0" bIns="0" anchor="t" anchorCtr="0">
              <a:spAutoFit/>
            </a:bodyPr>
            <a:lstStyle/>
            <a:p>
              <a:pPr algn="l"/>
              <a:r>
                <a:rPr lang="zh-CN" sz="1950" b="1" dirty="0">
                  <a:solidFill>
                    <a:schemeClr val="accent1"/>
                  </a:solidFill>
                  <a:latin typeface="Arial"/>
                  <a:ea typeface="Arial"/>
                  <a:cs typeface="Arial"/>
                </a:rPr>
                <a:t>3,400</a:t>
              </a:r>
              <a:r>
                <a:rPr lang="zh-CN" sz="900" dirty="0">
                  <a:solidFill>
                    <a:schemeClr val="accent5"/>
                  </a:solidFill>
                  <a:latin typeface="+mn-lt"/>
                  <a:ea typeface="+mn-ea"/>
                  <a:cs typeface="+mn-cs"/>
                </a:rPr>
                <a:t xml:space="preserve"> 万辆</a:t>
              </a:r>
            </a:p>
          </p:txBody>
        </p:sp>
        <p:sp>
          <p:nvSpPr>
            <p:cNvPr id="40" name="TextBox 40"/>
            <p:cNvSpPr txBox="1"/>
            <p:nvPr/>
          </p:nvSpPr>
          <p:spPr>
            <a:xfrm>
              <a:off x="6453188" y="5873591"/>
              <a:ext cx="127899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2025→2035 增量(第 9 页)</a:t>
              </a:r>
            </a:p>
          </p:txBody>
        </p:sp>
      </p:grpSp>
      <p:grpSp>
        <p:nvGrpSpPr>
          <p:cNvPr id="60" name="decision-ask"/>
          <p:cNvGrpSpPr/>
          <p:nvPr/>
        </p:nvGrpSpPr>
        <p:grpSpPr>
          <a:xfrm>
            <a:off x="8572500" y="1524000"/>
            <a:ext cx="3162300" cy="4495800"/>
            <a:chOff x="8572500" y="1524000"/>
            <a:chExt cx="3162300" cy="4495800"/>
          </a:xfrm>
        </p:grpSpPr>
        <p:sp>
          <p:nvSpPr>
            <p:cNvPr id="42" name="Rectangle 42"/>
            <p:cNvSpPr/>
            <p:nvPr/>
          </p:nvSpPr>
          <p:spPr>
            <a:xfrm>
              <a:off x="8572500" y="1524000"/>
              <a:ext cx="3162300" cy="4495800"/>
            </a:xfrm>
            <a:prstGeom prst="rect">
              <a:avLst/>
            </a:prstGeom>
            <a:solidFill>
              <a:schemeClr val="accent1"/>
            </a:solidFill>
            <a:ln>
              <a:noFill/>
            </a:ln>
          </p:spPr>
        </p:sp>
        <p:sp>
          <p:nvSpPr>
            <p:cNvPr id="43" name="TextBox 43"/>
            <p:cNvSpPr txBox="1"/>
            <p:nvPr/>
          </p:nvSpPr>
          <p:spPr>
            <a:xfrm>
              <a:off x="8758238" y="1720691"/>
              <a:ext cx="1033983" cy="161925"/>
            </a:xfrm>
            <a:prstGeom prst="rect">
              <a:avLst/>
            </a:prstGeom>
            <a:noFill/>
            <a:ln>
              <a:noFill/>
            </a:ln>
          </p:spPr>
          <p:txBody>
            <a:bodyPr wrap="none" lIns="0" tIns="0" rIns="0" bIns="0" anchor="t" anchorCtr="0">
              <a:spAutoFit/>
            </a:bodyPr>
            <a:lstStyle/>
            <a:p>
              <a:pPr algn="l"/>
              <a:r>
                <a:rPr lang="zh-CN" sz="820" b="1" spc="150" dirty="0">
                  <a:solidFill>
                    <a:schemeClr val="accent3"/>
                  </a:solidFill>
                  <a:latin typeface="+mn-lt"/>
                  <a:ea typeface="+mn-ea"/>
                  <a:cs typeface="+mn-cs"/>
                </a:rPr>
                <a:t>本次请管理层决定</a:t>
              </a:r>
            </a:p>
          </p:txBody>
        </p:sp>
        <p:sp>
          <p:nvSpPr>
            <p:cNvPr id="44" name="Line 44"/>
            <p:cNvSpPr/>
            <p:nvPr/>
          </p:nvSpPr>
          <p:spPr>
            <a:xfrm>
              <a:off x="8763000" y="1905000"/>
              <a:ext cx="2781300" cy="9525"/>
            </a:xfrm>
            <a:custGeom>
              <a:avLst/>
              <a:gdLst/>
              <a:ahLst/>
              <a:cxnLst/>
              <a:rect l="l" t="t" r="r" b="b"/>
              <a:pathLst>
                <a:path w="2781300" h="9525">
                  <a:moveTo>
                    <a:pt x="0" y="0"/>
                  </a:moveTo>
                  <a:lnTo>
                    <a:pt x="2781300" y="0"/>
                  </a:lnTo>
                </a:path>
              </a:pathLst>
            </a:custGeom>
            <a:noFill/>
            <a:ln w="7144">
              <a:solidFill>
                <a:schemeClr val="accent3"/>
              </a:solidFill>
            </a:ln>
          </p:spPr>
        </p:sp>
        <p:sp>
          <p:nvSpPr>
            <p:cNvPr id="45" name="Ellipse 45"/>
            <p:cNvSpPr/>
            <p:nvPr/>
          </p:nvSpPr>
          <p:spPr>
            <a:xfrm>
              <a:off x="8763000" y="2124075"/>
              <a:ext cx="152400" cy="152400"/>
            </a:xfrm>
            <a:prstGeom prst="ellipse">
              <a:avLst/>
            </a:prstGeom>
            <a:solidFill>
              <a:schemeClr val="accent3"/>
            </a:solidFill>
            <a:ln>
              <a:noFill/>
            </a:ln>
          </p:spPr>
        </p:sp>
        <p:sp>
          <p:nvSpPr>
            <p:cNvPr id="46" name="TextBox 46"/>
            <p:cNvSpPr txBox="1"/>
            <p:nvPr/>
          </p:nvSpPr>
          <p:spPr>
            <a:xfrm>
              <a:off x="8806359" y="215265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1</a:t>
              </a:r>
            </a:p>
          </p:txBody>
        </p:sp>
        <p:sp>
          <p:nvSpPr>
            <p:cNvPr id="47" name="TextBox 47"/>
            <p:cNvSpPr txBox="1"/>
            <p:nvPr/>
          </p:nvSpPr>
          <p:spPr>
            <a:xfrm>
              <a:off x="8986266" y="2134552"/>
              <a:ext cx="1282827"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批准三级市场优先级</a:t>
              </a:r>
            </a:p>
          </p:txBody>
        </p:sp>
        <p:sp>
          <p:nvSpPr>
            <p:cNvPr id="48" name="TextBox 48"/>
            <p:cNvSpPr txBox="1"/>
            <p:nvPr/>
          </p:nvSpPr>
          <p:spPr>
            <a:xfrm>
              <a:off x="8986838" y="2379345"/>
              <a:ext cx="2358390" cy="51911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中国深耕、东南亚与英德重点,巴西、墨西哥、</a:t>
              </a:r>
              <a:br/>
              <a:r>
                <a:rPr lang="zh-CN" sz="900" dirty="0">
                  <a:solidFill>
                    <a:schemeClr val="accent3"/>
                  </a:solidFill>
                  <a:latin typeface="+mn-lt"/>
                  <a:ea typeface="+mn-ea"/>
                  <a:cs typeface="+mn-cs"/>
                </a:rPr>
                <a:t>印度、韩国以 PHEV 试点择机,美国、日本、</a:t>
              </a:r>
              <a:br/>
              <a:r>
                <a:rPr lang="zh-CN" sz="900" dirty="0">
                  <a:solidFill>
                    <a:schemeClr val="accent3"/>
                  </a:solidFill>
                  <a:latin typeface="+mn-lt"/>
                  <a:ea typeface="+mn-ea"/>
                  <a:cs typeface="+mn-cs"/>
                </a:rPr>
                <a:t>法国守势(第 10 页)</a:t>
              </a:r>
            </a:p>
          </p:txBody>
        </p:sp>
        <p:sp>
          <p:nvSpPr>
            <p:cNvPr id="49" name="Ellipse 49"/>
            <p:cNvSpPr/>
            <p:nvPr/>
          </p:nvSpPr>
          <p:spPr>
            <a:xfrm>
              <a:off x="8763000" y="3228975"/>
              <a:ext cx="152400" cy="152400"/>
            </a:xfrm>
            <a:prstGeom prst="ellipse">
              <a:avLst/>
            </a:prstGeom>
            <a:solidFill>
              <a:schemeClr val="accent3"/>
            </a:solidFill>
            <a:ln>
              <a:noFill/>
            </a:ln>
          </p:spPr>
        </p:sp>
        <p:sp>
          <p:nvSpPr>
            <p:cNvPr id="50" name="TextBox 50"/>
            <p:cNvSpPr txBox="1"/>
            <p:nvPr/>
          </p:nvSpPr>
          <p:spPr>
            <a:xfrm>
              <a:off x="8806359" y="325755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2</a:t>
              </a:r>
            </a:p>
          </p:txBody>
        </p:sp>
        <p:sp>
          <p:nvSpPr>
            <p:cNvPr id="51" name="TextBox 51"/>
            <p:cNvSpPr txBox="1"/>
            <p:nvPr/>
          </p:nvSpPr>
          <p:spPr>
            <a:xfrm>
              <a:off x="8986266" y="3239452"/>
              <a:ext cx="1721922"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批准 PHEV 先行的产品节奏</a:t>
              </a:r>
            </a:p>
          </p:txBody>
        </p:sp>
        <p:sp>
          <p:nvSpPr>
            <p:cNvPr id="52" name="TextBox 52"/>
            <p:cNvSpPr txBox="1"/>
            <p:nvPr/>
          </p:nvSpPr>
          <p:spPr>
            <a:xfrm>
              <a:off x="8986838" y="3484245"/>
              <a:ext cx="2061210" cy="34766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2026 试点、2027 放量并补齐英德 BEV、</a:t>
              </a:r>
              <a:br/>
              <a:r>
                <a:rPr lang="zh-CN" sz="900" dirty="0">
                  <a:solidFill>
                    <a:schemeClr val="accent3"/>
                  </a:solidFill>
                  <a:latin typeface="+mn-lt"/>
                  <a:ea typeface="+mn-ea"/>
                  <a:cs typeface="+mn-cs"/>
                </a:rPr>
                <a:t>2028 复盘美国后再决定加码(第 11 页)</a:t>
              </a:r>
            </a:p>
          </p:txBody>
        </p:sp>
        <p:sp>
          <p:nvSpPr>
            <p:cNvPr id="53" name="Ellipse 53"/>
            <p:cNvSpPr/>
            <p:nvPr/>
          </p:nvSpPr>
          <p:spPr>
            <a:xfrm>
              <a:off x="8763000" y="4162425"/>
              <a:ext cx="152400" cy="152400"/>
            </a:xfrm>
            <a:prstGeom prst="ellipse">
              <a:avLst/>
            </a:prstGeom>
            <a:solidFill>
              <a:schemeClr val="accent3"/>
            </a:solidFill>
            <a:ln>
              <a:noFill/>
            </a:ln>
          </p:spPr>
        </p:sp>
        <p:sp>
          <p:nvSpPr>
            <p:cNvPr id="54" name="TextBox 54"/>
            <p:cNvSpPr txBox="1"/>
            <p:nvPr/>
          </p:nvSpPr>
          <p:spPr>
            <a:xfrm>
              <a:off x="8806359" y="4191000"/>
              <a:ext cx="65682" cy="147638"/>
            </a:xfrm>
            <a:prstGeom prst="rect">
              <a:avLst/>
            </a:prstGeom>
            <a:noFill/>
            <a:ln>
              <a:noFill/>
            </a:ln>
          </p:spPr>
          <p:txBody>
            <a:bodyPr wrap="none" lIns="0" tIns="0" rIns="0" bIns="0" anchor="t" anchorCtr="0">
              <a:spAutoFit/>
            </a:bodyPr>
            <a:lstStyle/>
            <a:p>
              <a:pPr algn="ctr"/>
              <a:r>
                <a:rPr lang="zh-CN" sz="750" b="1" dirty="0">
                  <a:solidFill>
                    <a:schemeClr val="accent1"/>
                  </a:solidFill>
                  <a:latin typeface="Arial"/>
                  <a:ea typeface="Arial"/>
                  <a:cs typeface="Arial"/>
                </a:rPr>
                <a:t>3</a:t>
              </a:r>
            </a:p>
          </p:txBody>
        </p:sp>
        <p:sp>
          <p:nvSpPr>
            <p:cNvPr id="55" name="TextBox 55"/>
            <p:cNvSpPr txBox="1"/>
            <p:nvPr/>
          </p:nvSpPr>
          <p:spPr>
            <a:xfrm>
              <a:off x="8986266" y="4172902"/>
              <a:ext cx="1424178"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mn-lt"/>
                  <a:ea typeface="+mn-ea"/>
                  <a:cs typeface="+mn-cs"/>
                </a:rPr>
                <a:t>指定东南亚试点负责人</a:t>
              </a:r>
            </a:p>
          </p:txBody>
        </p:sp>
        <p:sp>
          <p:nvSpPr>
            <p:cNvPr id="56" name="TextBox 56"/>
            <p:cNvSpPr txBox="1"/>
            <p:nvPr/>
          </p:nvSpPr>
          <p:spPr>
            <a:xfrm>
              <a:off x="8986838" y="4417695"/>
              <a:ext cx="1946910" cy="519112"/>
            </a:xfrm>
            <a:prstGeom prst="rect">
              <a:avLst/>
            </a:prstGeom>
            <a:noFill/>
            <a:ln>
              <a:noFill/>
            </a:ln>
          </p:spPr>
          <p:txBody>
            <a:bodyPr wrap="none" lIns="0" tIns="0" rIns="0" bIns="0" anchor="t" anchorCtr="0">
              <a:spAutoFit/>
            </a:bodyPr>
            <a:lstStyle/>
            <a:p>
              <a:pPr algn="l">
                <a:lnSpc>
                  <a:spcPts val="1350"/>
                </a:lnSpc>
              </a:pPr>
              <a:r>
                <a:rPr lang="zh-CN" sz="900" dirty="0">
                  <a:solidFill>
                    <a:schemeClr val="accent3"/>
                  </a:solidFill>
                  <a:latin typeface="+mn-lt"/>
                  <a:ea typeface="+mn-ea"/>
                  <a:cs typeface="+mn-cs"/>
                </a:rPr>
                <a:t>90 天内成立试点小组、确定泰国首发;</a:t>
              </a:r>
              <a:br/>
              <a:r>
                <a:rPr lang="zh-CN" sz="900" dirty="0">
                  <a:solidFill>
                    <a:schemeClr val="accent3"/>
                  </a:solidFill>
                  <a:latin typeface="+mn-lt"/>
                  <a:ea typeface="+mn-ea"/>
                  <a:cs typeface="+mn-cs"/>
                </a:rPr>
                <a:t>2026 年 12 月以 IEA 同口径数据复盘</a:t>
              </a:r>
              <a:br/>
              <a:r>
                <a:rPr lang="zh-CN" sz="900" dirty="0">
                  <a:solidFill>
                    <a:schemeClr val="accent3"/>
                  </a:solidFill>
                  <a:latin typeface="+mn-lt"/>
                  <a:ea typeface="+mn-ea"/>
                  <a:cs typeface="+mn-cs"/>
                </a:rPr>
                <a:t>三项风险触发指标(第 12–13 页)</a:t>
              </a:r>
            </a:p>
          </p:txBody>
        </p:sp>
        <p:sp>
          <p:nvSpPr>
            <p:cNvPr id="57" name="Line 57"/>
            <p:cNvSpPr/>
            <p:nvPr/>
          </p:nvSpPr>
          <p:spPr>
            <a:xfrm>
              <a:off x="8763000" y="5295900"/>
              <a:ext cx="2781300" cy="9525"/>
            </a:xfrm>
            <a:custGeom>
              <a:avLst/>
              <a:gdLst/>
              <a:ahLst/>
              <a:cxnLst/>
              <a:rect l="l" t="t" r="r" b="b"/>
              <a:pathLst>
                <a:path w="2781300" h="9525">
                  <a:moveTo>
                    <a:pt x="0" y="0"/>
                  </a:moveTo>
                  <a:lnTo>
                    <a:pt x="2781300" y="0"/>
                  </a:lnTo>
                </a:path>
              </a:pathLst>
            </a:custGeom>
            <a:noFill/>
            <a:ln w="7144">
              <a:solidFill>
                <a:schemeClr val="accent3">
                  <a:alpha val="50000"/>
                </a:schemeClr>
              </a:solidFill>
            </a:ln>
          </p:spPr>
        </p:sp>
        <p:sp>
          <p:nvSpPr>
            <p:cNvPr id="58" name="TextBox 58"/>
            <p:cNvSpPr txBox="1"/>
            <p:nvPr/>
          </p:nvSpPr>
          <p:spPr>
            <a:xfrm>
              <a:off x="8758238" y="5427345"/>
              <a:ext cx="2078355" cy="347662"/>
            </a:xfrm>
            <a:prstGeom prst="rect">
              <a:avLst/>
            </a:prstGeom>
            <a:noFill/>
            <a:ln>
              <a:noFill/>
            </a:ln>
          </p:spPr>
          <p:txBody>
            <a:bodyPr wrap="none" lIns="0" tIns="0" rIns="0" bIns="0" anchor="t" anchorCtr="0">
              <a:spAutoFit/>
            </a:bodyPr>
            <a:lstStyle/>
            <a:p>
              <a:pPr algn="l">
                <a:lnSpc>
                  <a:spcPts val="1350"/>
                </a:lnSpc>
              </a:pPr>
              <a:r>
                <a:rPr lang="zh-CN" sz="900" dirty="0">
                  <a:solidFill>
                    <a:srgbClr val="FFFFFF"/>
                  </a:solidFill>
                  <a:latin typeface="+mn-lt"/>
                  <a:ea typeface="+mn-ea"/>
                  <a:cs typeface="+mn-cs"/>
                </a:rPr>
                <a:t>不决定的后果:预算继续按存量地图分配,</a:t>
              </a:r>
              <a:br/>
              <a:r>
                <a:rPr lang="zh-CN" sz="900" dirty="0">
                  <a:solidFill>
                    <a:srgbClr val="FFFFFF"/>
                  </a:solidFill>
                  <a:latin typeface="+mn-lt"/>
                  <a:ea typeface="+mn-ea"/>
                  <a:cs typeface="+mn-cs"/>
                </a:rPr>
                <a:t>错过东南亚 2026–28 窗口期(第 13 页)</a:t>
              </a:r>
            </a:p>
          </p:txBody>
        </p:sp>
        <p:sp>
          <p:nvSpPr>
            <p:cNvPr id="59" name="TextBox 59"/>
            <p:cNvSpPr txBox="1"/>
            <p:nvPr/>
          </p:nvSpPr>
          <p:spPr>
            <a:xfrm>
              <a:off x="8758238" y="5816441"/>
              <a:ext cx="1952361" cy="161925"/>
            </a:xfrm>
            <a:prstGeom prst="rect">
              <a:avLst/>
            </a:prstGeom>
            <a:noFill/>
            <a:ln>
              <a:noFill/>
            </a:ln>
          </p:spPr>
          <p:txBody>
            <a:bodyPr wrap="none" lIns="0" tIns="0" rIns="0" bIns="0" anchor="t" anchorCtr="0">
              <a:spAutoFit/>
            </a:bodyPr>
            <a:lstStyle/>
            <a:p>
              <a:pPr algn="l"/>
              <a:r>
                <a:rPr lang="zh-CN" sz="820" dirty="0">
                  <a:solidFill>
                    <a:schemeClr val="accent3"/>
                  </a:solidFill>
                  <a:latin typeface="+mn-lt"/>
                  <a:ea typeface="+mn-ea"/>
                  <a:cs typeface="+mn-cs"/>
                </a:rPr>
                <a:t>证据链:第 3–9 页;方法与口径:第 14 页</a:t>
              </a:r>
            </a:p>
          </p:txBody>
        </p:sp>
      </p:grpSp>
      <p:grpSp>
        <p:nvGrpSpPr>
          <p:cNvPr id="64" name="footer"/>
          <p:cNvGrpSpPr/>
          <p:nvPr/>
        </p:nvGrpSpPr>
        <p:grpSpPr>
          <a:xfrm>
            <a:off x="452438" y="6205538"/>
            <a:ext cx="11287125" cy="300038"/>
            <a:chOff x="452438" y="6205538"/>
            <a:chExt cx="11287125" cy="300038"/>
          </a:xfrm>
        </p:grpSpPr>
        <p:sp>
          <p:nvSpPr>
            <p:cNvPr id="61" name="TextBox 61"/>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62" name="TextBox 62"/>
            <p:cNvSpPr txBox="1"/>
            <p:nvPr/>
          </p:nvSpPr>
          <p:spPr>
            <a:xfrm>
              <a:off x="452438" y="635793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63" name="TextBox 63"/>
            <p:cNvSpPr txBox="1"/>
            <p:nvPr/>
          </p:nvSpPr>
          <p:spPr>
            <a:xfrm>
              <a:off x="11673881" y="635793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00"/>
                                        <p:tgtEl>
                                          <p:spTgt spid="15"/>
                                        </p:tgtEl>
                                      </p:cBhvr>
                                    </p:animEffect>
                                  </p:childTnLst>
                                </p:cTn>
                              </p:par>
                            </p:childTnLst>
                          </p:cTn>
                        </p:par>
                        <p:par>
                          <p:cTn id="12" fill="hold">
                            <p:stCondLst>
                              <p:cond delay="1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300"/>
                                        <p:tgtEl>
                                          <p:spTgt spid="20"/>
                                        </p:tgtEl>
                                      </p:cBhvr>
                                    </p:animEffect>
                                  </p:childTnLst>
                                </p:cTn>
                              </p:par>
                            </p:childTnLst>
                          </p:cTn>
                        </p:par>
                        <p:par>
                          <p:cTn id="16" fill="hold">
                            <p:stCondLst>
                              <p:cond delay="19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300"/>
                                        <p:tgtEl>
                                          <p:spTgt spid="25"/>
                                        </p:tgtEl>
                                      </p:cBhvr>
                                    </p:animEffect>
                                  </p:childTnLst>
                                </p:cTn>
                              </p:par>
                            </p:childTnLst>
                          </p:cTn>
                        </p:par>
                        <p:par>
                          <p:cTn id="20" fill="hold">
                            <p:stCondLst>
                              <p:cond delay="27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300"/>
                                        <p:tgtEl>
                                          <p:spTgt spid="30"/>
                                        </p:tgtEl>
                                      </p:cBhvr>
                                    </p:animEffect>
                                  </p:childTnLst>
                                </p:cTn>
                              </p:par>
                            </p:childTnLst>
                          </p:cTn>
                        </p:par>
                        <p:par>
                          <p:cTn id="24" fill="hold">
                            <p:stCondLst>
                              <p:cond delay="35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400"/>
                                        <p:tgtEl>
                                          <p:spTgt spid="41"/>
                                        </p:tgtEl>
                                      </p:cBhvr>
                                    </p:animEffect>
                                  </p:childTnLst>
                                </p:cTn>
                              </p:par>
                            </p:childTnLst>
                          </p:cTn>
                        </p:par>
                        <p:par>
                          <p:cTn id="28" fill="hold">
                            <p:stCondLst>
                              <p:cond delay="44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60"/>
                                        </p:tgtEl>
                                        <p:attrNameLst>
                                          <p:attrName>style.visibility</p:attrName>
                                        </p:attrNameLst>
                                      </p:cBhvr>
                                      <p:to>
                                        <p:strVal val="visible"/>
                                      </p:to>
                                    </p:set>
                                    <p:animEffect transition="in" filter="fade">
                                      <p:cBhvr>
                                        <p:cTn id="31"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204260" y="247650"/>
            <a:ext cx="1530540" cy="206216"/>
            <a:chOff x="10204260" y="247650"/>
            <a:chExt cx="1530540" cy="206216"/>
          </a:xfrm>
        </p:grpSpPr>
        <p:sp>
          <p:nvSpPr>
            <p:cNvPr id="2" name="TextBox 2"/>
            <p:cNvSpPr txBox="1"/>
            <p:nvPr/>
          </p:nvSpPr>
          <p:spPr>
            <a:xfrm>
              <a:off x="10204260" y="291941"/>
              <a:ext cx="601853"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现状与张力</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6642544" cy="637794"/>
            <a:chOff x="448056" y="472440"/>
            <a:chExt cx="6642544" cy="637794"/>
          </a:xfrm>
        </p:grpSpPr>
        <p:sp>
          <p:nvSpPr>
            <p:cNvPr id="6" name="TextBox 6"/>
            <p:cNvSpPr txBox="1"/>
            <p:nvPr/>
          </p:nvSpPr>
          <p:spPr>
            <a:xfrm>
              <a:off x="448056" y="472440"/>
              <a:ext cx="6642544"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2025 年全球电动车销量 2,100 万辆、渗透率 25%,五年增长七倍</a:t>
              </a:r>
              <a:br/>
              <a:r>
                <a:rPr lang="zh-CN" sz="1800" b="1" dirty="0">
                  <a:solidFill>
                    <a:schemeClr val="accent1"/>
                  </a:solidFill>
                  <a:latin typeface="+mn-lt"/>
                  <a:ea typeface="+mn-ea"/>
                  <a:cs typeface="+mn-cs"/>
                </a:rPr>
                <a:t>——电动车已是主流市场,不是利基</a:t>
              </a:r>
            </a:p>
          </p:txBody>
        </p:sp>
      </p:grpSp>
      <p:grpSp>
        <p:nvGrpSpPr>
          <p:cNvPr id="9" name="unit-line"/>
          <p:cNvGrpSpPr/>
          <p:nvPr/>
        </p:nvGrpSpPr>
        <p:grpSpPr>
          <a:xfrm>
            <a:off x="452438" y="1160145"/>
            <a:ext cx="3190608" cy="176212"/>
            <a:chOff x="452438" y="1160145"/>
            <a:chExt cx="3190608" cy="176212"/>
          </a:xfrm>
        </p:grpSpPr>
        <p:sp>
          <p:nvSpPr>
            <p:cNvPr id="8" name="TextBox 8"/>
            <p:cNvSpPr txBox="1"/>
            <p:nvPr/>
          </p:nvSpPr>
          <p:spPr>
            <a:xfrm>
              <a:off x="452438" y="1160145"/>
              <a:ext cx="319060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A:全球电动车销量,百万辆;B:电动车渗透率,%;2015–2025</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1572979" cy="349091"/>
            <a:chOff x="452438" y="1552575"/>
            <a:chExt cx="1572979"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933399"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全球电动车销量</a:t>
              </a:r>
            </a:p>
          </p:txBody>
        </p:sp>
        <p:sp>
          <p:nvSpPr>
            <p:cNvPr id="14" name="TextBox 14"/>
            <p:cNvSpPr txBox="1"/>
            <p:nvPr/>
          </p:nvSpPr>
          <p:spPr>
            <a:xfrm>
              <a:off x="452438" y="1739741"/>
              <a:ext cx="1572979"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百万辆;2025 年为 IEA 全年估计</a:t>
              </a:r>
            </a:p>
          </p:txBody>
        </p:sp>
      </p:grpSp>
      <p:grpSp>
        <p:nvGrpSpPr>
          <p:cNvPr id="52" name="world-sales"/>
          <p:cNvGrpSpPr/>
          <p:nvPr/>
        </p:nvGrpSpPr>
        <p:grpSpPr>
          <a:xfrm>
            <a:off x="533400" y="2158841"/>
            <a:ext cx="3695700" cy="2190750"/>
            <a:chOff x="533400" y="2158841"/>
            <a:chExt cx="3695700" cy="2190750"/>
          </a:xfrm>
        </p:grpSpPr>
        <p:grpSp>
          <p:nvGrpSpPr>
            <p:cNvPr id="51" name="world-sales-chartArea"/>
            <p:cNvGrpSpPr/>
            <p:nvPr/>
          </p:nvGrpSpPr>
          <p:grpSpPr>
            <a:xfrm>
              <a:off x="533400" y="2158841"/>
              <a:ext cx="3695700" cy="2190750"/>
              <a:chOff x="533400" y="2158841"/>
              <a:chExt cx="3695700" cy="2190750"/>
            </a:xfrm>
          </p:grpSpPr>
          <p:sp>
            <p:nvSpPr>
              <p:cNvPr id="16" name="Line 16"/>
              <p:cNvSpPr/>
              <p:nvPr/>
            </p:nvSpPr>
            <p:spPr>
              <a:xfrm>
                <a:off x="533400" y="4133850"/>
                <a:ext cx="3695700" cy="9525"/>
              </a:xfrm>
              <a:custGeom>
                <a:avLst/>
                <a:gdLst/>
                <a:ahLst/>
                <a:cxnLst/>
                <a:rect l="l" t="t" r="r" b="b"/>
                <a:pathLst>
                  <a:path w="3695700" h="9525">
                    <a:moveTo>
                      <a:pt x="0" y="0"/>
                    </a:moveTo>
                    <a:lnTo>
                      <a:pt x="3695700" y="0"/>
                    </a:lnTo>
                  </a:path>
                </a:pathLst>
              </a:custGeom>
              <a:noFill/>
              <a:ln w="7144">
                <a:solidFill>
                  <a:schemeClr val="accent6"/>
                </a:solidFill>
              </a:ln>
            </p:spPr>
          </p:sp>
          <p:sp>
            <p:nvSpPr>
              <p:cNvPr id="17" name="Rectangle 17"/>
              <p:cNvSpPr/>
              <p:nvPr/>
            </p:nvSpPr>
            <p:spPr>
              <a:xfrm>
                <a:off x="583787" y="4093464"/>
                <a:ext cx="235172" cy="40386"/>
              </a:xfrm>
              <a:prstGeom prst="rect">
                <a:avLst/>
              </a:prstGeom>
              <a:solidFill>
                <a:schemeClr val="accent1"/>
              </a:solidFill>
              <a:ln>
                <a:noFill/>
              </a:ln>
            </p:spPr>
          </p:sp>
          <p:sp>
            <p:nvSpPr>
              <p:cNvPr id="18" name="TextBox 18"/>
              <p:cNvSpPr txBox="1"/>
              <p:nvPr/>
            </p:nvSpPr>
            <p:spPr>
              <a:xfrm>
                <a:off x="619928" y="3956780"/>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0.5</a:t>
                </a:r>
              </a:p>
            </p:txBody>
          </p:sp>
          <p:sp>
            <p:nvSpPr>
              <p:cNvPr id="19" name="TextBox 19"/>
              <p:cNvSpPr txBox="1"/>
              <p:nvPr/>
            </p:nvSpPr>
            <p:spPr>
              <a:xfrm>
                <a:off x="573862"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2015</a:t>
                </a:r>
              </a:p>
            </p:txBody>
          </p:sp>
          <p:sp>
            <p:nvSpPr>
              <p:cNvPr id="20" name="Rectangle 20"/>
              <p:cNvSpPr/>
              <p:nvPr/>
            </p:nvSpPr>
            <p:spPr>
              <a:xfrm>
                <a:off x="919734" y="4074414"/>
                <a:ext cx="235172" cy="59436"/>
              </a:xfrm>
              <a:prstGeom prst="rect">
                <a:avLst/>
              </a:prstGeom>
              <a:solidFill>
                <a:schemeClr val="accent1"/>
              </a:solidFill>
              <a:ln>
                <a:noFill/>
              </a:ln>
            </p:spPr>
          </p:sp>
          <p:sp>
            <p:nvSpPr>
              <p:cNvPr id="21" name="TextBox 21"/>
              <p:cNvSpPr txBox="1"/>
              <p:nvPr/>
            </p:nvSpPr>
            <p:spPr>
              <a:xfrm>
                <a:off x="955874" y="3937730"/>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0.8</a:t>
                </a:r>
              </a:p>
            </p:txBody>
          </p:sp>
          <p:sp>
            <p:nvSpPr>
              <p:cNvPr id="22" name="TextBox 22"/>
              <p:cNvSpPr txBox="1"/>
              <p:nvPr/>
            </p:nvSpPr>
            <p:spPr>
              <a:xfrm>
                <a:off x="909809"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2016</a:t>
                </a:r>
              </a:p>
            </p:txBody>
          </p:sp>
          <p:sp>
            <p:nvSpPr>
              <p:cNvPr id="23" name="Rectangle 23"/>
              <p:cNvSpPr/>
              <p:nvPr/>
            </p:nvSpPr>
            <p:spPr>
              <a:xfrm>
                <a:off x="1255776" y="4042410"/>
                <a:ext cx="235172" cy="91440"/>
              </a:xfrm>
              <a:prstGeom prst="rect">
                <a:avLst/>
              </a:prstGeom>
              <a:solidFill>
                <a:schemeClr val="accent1"/>
              </a:solidFill>
              <a:ln>
                <a:noFill/>
              </a:ln>
            </p:spPr>
          </p:sp>
          <p:sp>
            <p:nvSpPr>
              <p:cNvPr id="24" name="TextBox 24"/>
              <p:cNvSpPr txBox="1"/>
              <p:nvPr/>
            </p:nvSpPr>
            <p:spPr>
              <a:xfrm>
                <a:off x="1291821" y="3905726"/>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1.2</a:t>
                </a:r>
              </a:p>
            </p:txBody>
          </p:sp>
          <p:sp>
            <p:nvSpPr>
              <p:cNvPr id="25" name="TextBox 25"/>
              <p:cNvSpPr txBox="1"/>
              <p:nvPr/>
            </p:nvSpPr>
            <p:spPr>
              <a:xfrm>
                <a:off x="1245756"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2017</a:t>
                </a:r>
              </a:p>
            </p:txBody>
          </p:sp>
          <p:sp>
            <p:nvSpPr>
              <p:cNvPr id="26" name="Rectangle 26"/>
              <p:cNvSpPr/>
              <p:nvPr/>
            </p:nvSpPr>
            <p:spPr>
              <a:xfrm>
                <a:off x="1591723" y="3981450"/>
                <a:ext cx="235172" cy="152400"/>
              </a:xfrm>
              <a:prstGeom prst="rect">
                <a:avLst/>
              </a:prstGeom>
              <a:solidFill>
                <a:schemeClr val="accent1"/>
              </a:solidFill>
              <a:ln>
                <a:noFill/>
              </a:ln>
            </p:spPr>
          </p:sp>
          <p:sp>
            <p:nvSpPr>
              <p:cNvPr id="27" name="TextBox 27"/>
              <p:cNvSpPr txBox="1"/>
              <p:nvPr/>
            </p:nvSpPr>
            <p:spPr>
              <a:xfrm>
                <a:off x="1627768" y="3844766"/>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2.0</a:t>
                </a:r>
              </a:p>
            </p:txBody>
          </p:sp>
          <p:sp>
            <p:nvSpPr>
              <p:cNvPr id="28" name="TextBox 28"/>
              <p:cNvSpPr txBox="1"/>
              <p:nvPr/>
            </p:nvSpPr>
            <p:spPr>
              <a:xfrm>
                <a:off x="1581703"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2018</a:t>
                </a:r>
              </a:p>
            </p:txBody>
          </p:sp>
          <p:sp>
            <p:nvSpPr>
              <p:cNvPr id="29" name="Rectangle 29"/>
              <p:cNvSpPr/>
              <p:nvPr/>
            </p:nvSpPr>
            <p:spPr>
              <a:xfrm>
                <a:off x="1927670" y="3973830"/>
                <a:ext cx="235172" cy="160020"/>
              </a:xfrm>
              <a:prstGeom prst="rect">
                <a:avLst/>
              </a:prstGeom>
              <a:solidFill>
                <a:schemeClr val="accent1"/>
              </a:solidFill>
              <a:ln>
                <a:noFill/>
              </a:ln>
            </p:spPr>
          </p:sp>
          <p:sp>
            <p:nvSpPr>
              <p:cNvPr id="30" name="TextBox 30"/>
              <p:cNvSpPr txBox="1"/>
              <p:nvPr/>
            </p:nvSpPr>
            <p:spPr>
              <a:xfrm>
                <a:off x="1963810" y="3837146"/>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2.1</a:t>
                </a:r>
              </a:p>
            </p:txBody>
          </p:sp>
          <p:sp>
            <p:nvSpPr>
              <p:cNvPr id="31" name="TextBox 31"/>
              <p:cNvSpPr txBox="1"/>
              <p:nvPr/>
            </p:nvSpPr>
            <p:spPr>
              <a:xfrm>
                <a:off x="1917745"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2019</a:t>
                </a:r>
              </a:p>
            </p:txBody>
          </p:sp>
          <p:sp>
            <p:nvSpPr>
              <p:cNvPr id="32" name="Rectangle 32"/>
              <p:cNvSpPr/>
              <p:nvPr/>
            </p:nvSpPr>
            <p:spPr>
              <a:xfrm>
                <a:off x="2263616" y="3905250"/>
                <a:ext cx="235172" cy="228600"/>
              </a:xfrm>
              <a:prstGeom prst="rect">
                <a:avLst/>
              </a:prstGeom>
              <a:solidFill>
                <a:schemeClr val="accent1"/>
              </a:solidFill>
              <a:ln>
                <a:noFill/>
              </a:ln>
            </p:spPr>
          </p:sp>
          <p:sp>
            <p:nvSpPr>
              <p:cNvPr id="33" name="TextBox 33"/>
              <p:cNvSpPr txBox="1"/>
              <p:nvPr/>
            </p:nvSpPr>
            <p:spPr>
              <a:xfrm>
                <a:off x="2299757" y="3768566"/>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3.0</a:t>
                </a:r>
              </a:p>
            </p:txBody>
          </p:sp>
          <p:sp>
            <p:nvSpPr>
              <p:cNvPr id="34" name="TextBox 34"/>
              <p:cNvSpPr txBox="1"/>
              <p:nvPr/>
            </p:nvSpPr>
            <p:spPr>
              <a:xfrm>
                <a:off x="2253691"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2020</a:t>
                </a:r>
              </a:p>
            </p:txBody>
          </p:sp>
          <p:sp>
            <p:nvSpPr>
              <p:cNvPr id="35" name="Rectangle 35"/>
              <p:cNvSpPr/>
              <p:nvPr/>
            </p:nvSpPr>
            <p:spPr>
              <a:xfrm>
                <a:off x="2599658" y="3630930"/>
                <a:ext cx="235172" cy="502920"/>
              </a:xfrm>
              <a:prstGeom prst="rect">
                <a:avLst/>
              </a:prstGeom>
              <a:solidFill>
                <a:schemeClr val="accent1"/>
              </a:solidFill>
              <a:ln>
                <a:noFill/>
              </a:ln>
            </p:spPr>
          </p:sp>
          <p:sp>
            <p:nvSpPr>
              <p:cNvPr id="36" name="TextBox 36"/>
              <p:cNvSpPr txBox="1"/>
              <p:nvPr/>
            </p:nvSpPr>
            <p:spPr>
              <a:xfrm>
                <a:off x="2635703" y="3494246"/>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6.6</a:t>
                </a:r>
              </a:p>
            </p:txBody>
          </p:sp>
          <p:sp>
            <p:nvSpPr>
              <p:cNvPr id="37" name="TextBox 37"/>
              <p:cNvSpPr txBox="1"/>
              <p:nvPr/>
            </p:nvSpPr>
            <p:spPr>
              <a:xfrm>
                <a:off x="2589638"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2021</a:t>
                </a:r>
              </a:p>
            </p:txBody>
          </p:sp>
          <p:sp>
            <p:nvSpPr>
              <p:cNvPr id="38" name="Rectangle 38"/>
              <p:cNvSpPr/>
              <p:nvPr/>
            </p:nvSpPr>
            <p:spPr>
              <a:xfrm>
                <a:off x="2935605" y="3371850"/>
                <a:ext cx="235172" cy="762000"/>
              </a:xfrm>
              <a:prstGeom prst="rect">
                <a:avLst/>
              </a:prstGeom>
              <a:solidFill>
                <a:schemeClr val="accent1"/>
              </a:solidFill>
              <a:ln>
                <a:noFill/>
              </a:ln>
            </p:spPr>
          </p:sp>
          <p:sp>
            <p:nvSpPr>
              <p:cNvPr id="39" name="TextBox 39"/>
              <p:cNvSpPr txBox="1"/>
              <p:nvPr/>
            </p:nvSpPr>
            <p:spPr>
              <a:xfrm>
                <a:off x="2941046" y="3235166"/>
                <a:ext cx="224385"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10.0</a:t>
                </a:r>
              </a:p>
            </p:txBody>
          </p:sp>
          <p:sp>
            <p:nvSpPr>
              <p:cNvPr id="40" name="TextBox 40"/>
              <p:cNvSpPr txBox="1"/>
              <p:nvPr/>
            </p:nvSpPr>
            <p:spPr>
              <a:xfrm>
                <a:off x="2925680"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2022</a:t>
                </a:r>
              </a:p>
            </p:txBody>
          </p:sp>
          <p:sp>
            <p:nvSpPr>
              <p:cNvPr id="41" name="Rectangle 41"/>
              <p:cNvSpPr/>
              <p:nvPr/>
            </p:nvSpPr>
            <p:spPr>
              <a:xfrm>
                <a:off x="3271552" y="3067050"/>
                <a:ext cx="235172" cy="1066800"/>
              </a:xfrm>
              <a:prstGeom prst="rect">
                <a:avLst/>
              </a:prstGeom>
              <a:solidFill>
                <a:schemeClr val="accent1"/>
              </a:solidFill>
              <a:ln>
                <a:noFill/>
              </a:ln>
            </p:spPr>
          </p:sp>
          <p:sp>
            <p:nvSpPr>
              <p:cNvPr id="42" name="TextBox 42"/>
              <p:cNvSpPr txBox="1"/>
              <p:nvPr/>
            </p:nvSpPr>
            <p:spPr>
              <a:xfrm>
                <a:off x="3276993" y="2930366"/>
                <a:ext cx="224385"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14.0</a:t>
                </a:r>
              </a:p>
            </p:txBody>
          </p:sp>
          <p:sp>
            <p:nvSpPr>
              <p:cNvPr id="43" name="TextBox 43"/>
              <p:cNvSpPr txBox="1"/>
              <p:nvPr/>
            </p:nvSpPr>
            <p:spPr>
              <a:xfrm>
                <a:off x="3261627"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2023</a:t>
                </a:r>
              </a:p>
            </p:txBody>
          </p:sp>
          <p:sp>
            <p:nvSpPr>
              <p:cNvPr id="44" name="Rectangle 44"/>
              <p:cNvSpPr/>
              <p:nvPr/>
            </p:nvSpPr>
            <p:spPr>
              <a:xfrm>
                <a:off x="3607594" y="2838450"/>
                <a:ext cx="235172" cy="1295400"/>
              </a:xfrm>
              <a:prstGeom prst="rect">
                <a:avLst/>
              </a:prstGeom>
              <a:solidFill>
                <a:schemeClr val="accent1"/>
              </a:solidFill>
              <a:ln>
                <a:noFill/>
              </a:ln>
            </p:spPr>
          </p:sp>
          <p:sp>
            <p:nvSpPr>
              <p:cNvPr id="45" name="TextBox 45"/>
              <p:cNvSpPr txBox="1"/>
              <p:nvPr/>
            </p:nvSpPr>
            <p:spPr>
              <a:xfrm>
                <a:off x="3612940" y="2701766"/>
                <a:ext cx="224385"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17.0</a:t>
                </a:r>
              </a:p>
            </p:txBody>
          </p:sp>
          <p:sp>
            <p:nvSpPr>
              <p:cNvPr id="46" name="TextBox 46"/>
              <p:cNvSpPr txBox="1"/>
              <p:nvPr/>
            </p:nvSpPr>
            <p:spPr>
              <a:xfrm>
                <a:off x="3597574"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2024</a:t>
                </a:r>
              </a:p>
            </p:txBody>
          </p:sp>
          <p:sp>
            <p:nvSpPr>
              <p:cNvPr id="47" name="Rectangle 47"/>
              <p:cNvSpPr/>
              <p:nvPr/>
            </p:nvSpPr>
            <p:spPr>
              <a:xfrm>
                <a:off x="3943540" y="2533650"/>
                <a:ext cx="235172" cy="1600200"/>
              </a:xfrm>
              <a:prstGeom prst="rect">
                <a:avLst/>
              </a:prstGeom>
              <a:solidFill>
                <a:schemeClr val="accent2"/>
              </a:solidFill>
              <a:ln>
                <a:noFill/>
              </a:ln>
            </p:spPr>
          </p:sp>
          <p:sp>
            <p:nvSpPr>
              <p:cNvPr id="48" name="TextBox 48"/>
              <p:cNvSpPr txBox="1"/>
              <p:nvPr/>
            </p:nvSpPr>
            <p:spPr>
              <a:xfrm>
                <a:off x="3948887" y="2396966"/>
                <a:ext cx="224385"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21.0</a:t>
                </a:r>
              </a:p>
            </p:txBody>
          </p:sp>
          <p:sp>
            <p:nvSpPr>
              <p:cNvPr id="49" name="TextBox 49"/>
              <p:cNvSpPr txBox="1"/>
              <p:nvPr/>
            </p:nvSpPr>
            <p:spPr>
              <a:xfrm>
                <a:off x="3933520"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2025</a:t>
                </a:r>
              </a:p>
            </p:txBody>
          </p:sp>
          <p:sp>
            <p:nvSpPr>
              <p:cNvPr id="50" name="TextBox 50"/>
              <p:cNvSpPr txBox="1"/>
              <p:nvPr/>
            </p:nvSpPr>
            <p:spPr>
              <a:xfrm>
                <a:off x="566738" y="2158841"/>
                <a:ext cx="986462" cy="161925"/>
              </a:xfrm>
              <a:prstGeom prst="rect">
                <a:avLst/>
              </a:prstGeom>
              <a:noFill/>
              <a:ln>
                <a:noFill/>
              </a:ln>
            </p:spPr>
            <p:txBody>
              <a:bodyPr wrap="none" lIns="0" tIns="0" rIns="0" bIns="0" anchor="t" anchorCtr="0">
                <a:spAutoFit/>
              </a:bodyPr>
              <a:lstStyle/>
              <a:p>
                <a:pPr algn="l"/>
                <a:r>
                  <a:rPr lang="zh-CN" sz="820" dirty="0">
                    <a:solidFill>
                      <a:schemeClr val="accent2"/>
                    </a:solidFill>
                    <a:latin typeface="+mn-lt"/>
                    <a:ea typeface="+mn-ea"/>
                    <a:cs typeface="+mn-cs"/>
                  </a:rPr>
                  <a:t>2020–25 年均 +48%</a:t>
                </a:r>
              </a:p>
            </p:txBody>
          </p:sp>
        </p:grpSp>
      </p:grpSp>
      <p:grpSp>
        <p:nvGrpSpPr>
          <p:cNvPr id="57" name="exhibit-b-head"/>
          <p:cNvGrpSpPr/>
          <p:nvPr/>
        </p:nvGrpSpPr>
        <p:grpSpPr>
          <a:xfrm>
            <a:off x="4529138" y="1552575"/>
            <a:ext cx="1118928" cy="349091"/>
            <a:chOff x="4529138" y="1552575"/>
            <a:chExt cx="1118928" cy="349091"/>
          </a:xfrm>
        </p:grpSpPr>
        <p:sp>
          <p:nvSpPr>
            <p:cNvPr id="53" name="Ellipse 53"/>
            <p:cNvSpPr/>
            <p:nvPr/>
          </p:nvSpPr>
          <p:spPr>
            <a:xfrm>
              <a:off x="4533900" y="1552575"/>
              <a:ext cx="152400" cy="152400"/>
            </a:xfrm>
            <a:prstGeom prst="ellipse">
              <a:avLst/>
            </a:prstGeom>
            <a:solidFill>
              <a:schemeClr val="accent1"/>
            </a:solidFill>
            <a:ln>
              <a:noFill/>
            </a:ln>
          </p:spPr>
        </p:sp>
        <p:sp>
          <p:nvSpPr>
            <p:cNvPr id="54" name="TextBox 54"/>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55" name="TextBox 55"/>
            <p:cNvSpPr txBox="1"/>
            <p:nvPr/>
          </p:nvSpPr>
          <p:spPr>
            <a:xfrm>
              <a:off x="4738497" y="1571149"/>
              <a:ext cx="801472"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电动车渗透率</a:t>
              </a:r>
            </a:p>
          </p:txBody>
        </p:sp>
        <p:sp>
          <p:nvSpPr>
            <p:cNvPr id="56" name="TextBox 56"/>
            <p:cNvSpPr txBox="1"/>
            <p:nvPr/>
          </p:nvSpPr>
          <p:spPr>
            <a:xfrm>
              <a:off x="4529138" y="1739741"/>
              <a:ext cx="1118928"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电动车占新车销量的 %</a:t>
              </a:r>
            </a:p>
          </p:txBody>
        </p:sp>
      </p:grpSp>
      <p:grpSp>
        <p:nvGrpSpPr>
          <p:cNvPr id="86" name="world-share"/>
          <p:cNvGrpSpPr/>
          <p:nvPr/>
        </p:nvGrpSpPr>
        <p:grpSpPr>
          <a:xfrm>
            <a:off x="4517696" y="2158841"/>
            <a:ext cx="3752782" cy="2190750"/>
            <a:chOff x="4517696" y="2158841"/>
            <a:chExt cx="3752782" cy="2190750"/>
          </a:xfrm>
        </p:grpSpPr>
        <p:grpSp>
          <p:nvGrpSpPr>
            <p:cNvPr id="85" name="world-share-chartArea"/>
            <p:cNvGrpSpPr/>
            <p:nvPr/>
          </p:nvGrpSpPr>
          <p:grpSpPr>
            <a:xfrm>
              <a:off x="4517696" y="2158841"/>
              <a:ext cx="3752782" cy="2190750"/>
              <a:chOff x="4517696" y="2158841"/>
              <a:chExt cx="3752782" cy="2190750"/>
            </a:xfrm>
          </p:grpSpPr>
          <p:sp>
            <p:nvSpPr>
              <p:cNvPr id="58" name="Line 58"/>
              <p:cNvSpPr/>
              <p:nvPr/>
            </p:nvSpPr>
            <p:spPr>
              <a:xfrm>
                <a:off x="4610100" y="4133850"/>
                <a:ext cx="3257550" cy="9525"/>
              </a:xfrm>
              <a:custGeom>
                <a:avLst/>
                <a:gdLst/>
                <a:ahLst/>
                <a:cxnLst/>
                <a:rect l="l" t="t" r="r" b="b"/>
                <a:pathLst>
                  <a:path w="3257550" h="9525">
                    <a:moveTo>
                      <a:pt x="0" y="0"/>
                    </a:moveTo>
                    <a:lnTo>
                      <a:pt x="3257550" y="0"/>
                    </a:lnTo>
                  </a:path>
                </a:pathLst>
              </a:custGeom>
              <a:noFill/>
              <a:ln w="7144">
                <a:solidFill>
                  <a:schemeClr val="accent6"/>
                </a:solidFill>
              </a:ln>
            </p:spPr>
          </p:sp>
          <p:sp>
            <p:nvSpPr>
              <p:cNvPr id="59" name="Polyline 59"/>
              <p:cNvSpPr/>
              <p:nvPr/>
            </p:nvSpPr>
            <p:spPr>
              <a:xfrm>
                <a:off x="4758214" y="2482882"/>
                <a:ext cx="2961323" cy="1604772"/>
              </a:xfrm>
              <a:custGeom>
                <a:avLst/>
                <a:gdLst/>
                <a:ahLst/>
                <a:cxnLst/>
                <a:rect l="l" t="t" r="r" b="b"/>
                <a:pathLst>
                  <a:path w="2961323" h="1604772">
                    <a:moveTo>
                      <a:pt x="0" y="1604772"/>
                    </a:moveTo>
                    <a:lnTo>
                      <a:pt x="296132" y="1591532"/>
                    </a:lnTo>
                    <a:lnTo>
                      <a:pt x="592265" y="1558480"/>
                    </a:lnTo>
                    <a:lnTo>
                      <a:pt x="888397" y="1485900"/>
                    </a:lnTo>
                    <a:lnTo>
                      <a:pt x="1184529" y="1472660"/>
                    </a:lnTo>
                    <a:lnTo>
                      <a:pt x="1480661" y="1360360"/>
                    </a:lnTo>
                    <a:lnTo>
                      <a:pt x="1776794" y="1036796"/>
                    </a:lnTo>
                    <a:lnTo>
                      <a:pt x="2072926" y="660368"/>
                    </a:lnTo>
                    <a:lnTo>
                      <a:pt x="2369058" y="462248"/>
                    </a:lnTo>
                    <a:lnTo>
                      <a:pt x="2665190" y="264128"/>
                    </a:lnTo>
                    <a:lnTo>
                      <a:pt x="2961323" y="0"/>
                    </a:lnTo>
                  </a:path>
                </a:pathLst>
              </a:custGeom>
              <a:noFill/>
              <a:ln w="19050">
                <a:solidFill>
                  <a:schemeClr val="accent2"/>
                </a:solidFill>
                <a:round/>
              </a:ln>
            </p:spPr>
          </p:sp>
          <p:sp>
            <p:nvSpPr>
              <p:cNvPr id="60" name="Ellipse 60"/>
              <p:cNvSpPr/>
              <p:nvPr/>
            </p:nvSpPr>
            <p:spPr>
              <a:xfrm>
                <a:off x="4729639" y="4059079"/>
                <a:ext cx="57150" cy="57150"/>
              </a:xfrm>
              <a:prstGeom prst="ellipse">
                <a:avLst/>
              </a:prstGeom>
              <a:solidFill>
                <a:schemeClr val="accent2"/>
              </a:solidFill>
              <a:ln>
                <a:noFill/>
              </a:ln>
            </p:spPr>
          </p:sp>
          <p:sp>
            <p:nvSpPr>
              <p:cNvPr id="61" name="Ellipse 61"/>
              <p:cNvSpPr/>
              <p:nvPr/>
            </p:nvSpPr>
            <p:spPr>
              <a:xfrm>
                <a:off x="5025771" y="4045839"/>
                <a:ext cx="57150" cy="57150"/>
              </a:xfrm>
              <a:prstGeom prst="ellipse">
                <a:avLst/>
              </a:prstGeom>
              <a:solidFill>
                <a:schemeClr val="accent2"/>
              </a:solidFill>
              <a:ln>
                <a:noFill/>
              </a:ln>
            </p:spPr>
          </p:sp>
          <p:sp>
            <p:nvSpPr>
              <p:cNvPr id="62" name="Ellipse 62"/>
              <p:cNvSpPr/>
              <p:nvPr/>
            </p:nvSpPr>
            <p:spPr>
              <a:xfrm>
                <a:off x="5321903" y="4012787"/>
                <a:ext cx="57150" cy="57150"/>
              </a:xfrm>
              <a:prstGeom prst="ellipse">
                <a:avLst/>
              </a:prstGeom>
              <a:solidFill>
                <a:schemeClr val="accent2"/>
              </a:solidFill>
              <a:ln>
                <a:noFill/>
              </a:ln>
            </p:spPr>
          </p:sp>
          <p:sp>
            <p:nvSpPr>
              <p:cNvPr id="63" name="Ellipse 63"/>
              <p:cNvSpPr/>
              <p:nvPr/>
            </p:nvSpPr>
            <p:spPr>
              <a:xfrm>
                <a:off x="5618036" y="3940207"/>
                <a:ext cx="57150" cy="57150"/>
              </a:xfrm>
              <a:prstGeom prst="ellipse">
                <a:avLst/>
              </a:prstGeom>
              <a:solidFill>
                <a:schemeClr val="accent2"/>
              </a:solidFill>
              <a:ln>
                <a:noFill/>
              </a:ln>
            </p:spPr>
          </p:sp>
          <p:sp>
            <p:nvSpPr>
              <p:cNvPr id="64" name="Ellipse 64"/>
              <p:cNvSpPr/>
              <p:nvPr/>
            </p:nvSpPr>
            <p:spPr>
              <a:xfrm>
                <a:off x="5914168" y="3926967"/>
                <a:ext cx="57150" cy="57150"/>
              </a:xfrm>
              <a:prstGeom prst="ellipse">
                <a:avLst/>
              </a:prstGeom>
              <a:solidFill>
                <a:schemeClr val="accent2"/>
              </a:solidFill>
              <a:ln>
                <a:noFill/>
              </a:ln>
            </p:spPr>
          </p:sp>
          <p:sp>
            <p:nvSpPr>
              <p:cNvPr id="65" name="Ellipse 65"/>
              <p:cNvSpPr/>
              <p:nvPr/>
            </p:nvSpPr>
            <p:spPr>
              <a:xfrm>
                <a:off x="6210300" y="3814667"/>
                <a:ext cx="57150" cy="57150"/>
              </a:xfrm>
              <a:prstGeom prst="ellipse">
                <a:avLst/>
              </a:prstGeom>
              <a:solidFill>
                <a:schemeClr val="accent2"/>
              </a:solidFill>
              <a:ln>
                <a:noFill/>
              </a:ln>
            </p:spPr>
          </p:sp>
          <p:sp>
            <p:nvSpPr>
              <p:cNvPr id="66" name="Ellipse 66"/>
              <p:cNvSpPr/>
              <p:nvPr/>
            </p:nvSpPr>
            <p:spPr>
              <a:xfrm>
                <a:off x="6506432" y="3491103"/>
                <a:ext cx="57150" cy="57150"/>
              </a:xfrm>
              <a:prstGeom prst="ellipse">
                <a:avLst/>
              </a:prstGeom>
              <a:solidFill>
                <a:schemeClr val="accent2"/>
              </a:solidFill>
              <a:ln>
                <a:noFill/>
              </a:ln>
            </p:spPr>
          </p:sp>
          <p:sp>
            <p:nvSpPr>
              <p:cNvPr id="67" name="Ellipse 67"/>
              <p:cNvSpPr/>
              <p:nvPr/>
            </p:nvSpPr>
            <p:spPr>
              <a:xfrm>
                <a:off x="6802564" y="3114675"/>
                <a:ext cx="57150" cy="57150"/>
              </a:xfrm>
              <a:prstGeom prst="ellipse">
                <a:avLst/>
              </a:prstGeom>
              <a:solidFill>
                <a:schemeClr val="accent2"/>
              </a:solidFill>
              <a:ln>
                <a:noFill/>
              </a:ln>
            </p:spPr>
          </p:sp>
          <p:sp>
            <p:nvSpPr>
              <p:cNvPr id="68" name="Ellipse 68"/>
              <p:cNvSpPr/>
              <p:nvPr/>
            </p:nvSpPr>
            <p:spPr>
              <a:xfrm>
                <a:off x="7098697" y="2916555"/>
                <a:ext cx="57150" cy="57150"/>
              </a:xfrm>
              <a:prstGeom prst="ellipse">
                <a:avLst/>
              </a:prstGeom>
              <a:solidFill>
                <a:schemeClr val="accent2"/>
              </a:solidFill>
              <a:ln>
                <a:noFill/>
              </a:ln>
            </p:spPr>
          </p:sp>
          <p:sp>
            <p:nvSpPr>
              <p:cNvPr id="69" name="Ellipse 69"/>
              <p:cNvSpPr/>
              <p:nvPr/>
            </p:nvSpPr>
            <p:spPr>
              <a:xfrm>
                <a:off x="7394829" y="2718435"/>
                <a:ext cx="57150" cy="57150"/>
              </a:xfrm>
              <a:prstGeom prst="ellipse">
                <a:avLst/>
              </a:prstGeom>
              <a:solidFill>
                <a:schemeClr val="accent2"/>
              </a:solidFill>
              <a:ln>
                <a:noFill/>
              </a:ln>
            </p:spPr>
          </p:sp>
          <p:sp>
            <p:nvSpPr>
              <p:cNvPr id="70" name="Ellipse 70"/>
              <p:cNvSpPr/>
              <p:nvPr/>
            </p:nvSpPr>
            <p:spPr>
              <a:xfrm>
                <a:off x="7690961" y="2454307"/>
                <a:ext cx="57150" cy="57150"/>
              </a:xfrm>
              <a:prstGeom prst="ellipse">
                <a:avLst/>
              </a:prstGeom>
              <a:solidFill>
                <a:schemeClr val="accent2"/>
              </a:solidFill>
              <a:ln>
                <a:noFill/>
              </a:ln>
            </p:spPr>
          </p:sp>
          <p:sp>
            <p:nvSpPr>
              <p:cNvPr id="71" name="TextBox 71"/>
              <p:cNvSpPr txBox="1"/>
              <p:nvPr/>
            </p:nvSpPr>
            <p:spPr>
              <a:xfrm>
                <a:off x="7790974" y="2431923"/>
                <a:ext cx="479504" cy="161925"/>
              </a:xfrm>
              <a:prstGeom prst="rect">
                <a:avLst/>
              </a:prstGeom>
              <a:noFill/>
              <a:ln>
                <a:noFill/>
              </a:ln>
            </p:spPr>
            <p:txBody>
              <a:bodyPr wrap="none" lIns="0" tIns="0" rIns="0" bIns="0" anchor="t" anchorCtr="0">
                <a:spAutoFit/>
              </a:bodyPr>
              <a:lstStyle/>
              <a:p>
                <a:pPr algn="l"/>
                <a:r>
                  <a:rPr lang="zh-CN" sz="820" b="1" dirty="0">
                    <a:solidFill>
                      <a:schemeClr val="accent2"/>
                    </a:solidFill>
                    <a:latin typeface="+mn-lt"/>
                    <a:ea typeface="+mn-ea"/>
                    <a:cs typeface="+mn-cs"/>
                  </a:rPr>
                  <a:t>全球 25%</a:t>
                </a:r>
              </a:p>
            </p:txBody>
          </p:sp>
          <p:sp>
            <p:nvSpPr>
              <p:cNvPr id="72" name="TextBox 72"/>
              <p:cNvSpPr txBox="1"/>
              <p:nvPr/>
            </p:nvSpPr>
            <p:spPr>
              <a:xfrm>
                <a:off x="4517696" y="4036695"/>
                <a:ext cx="169080" cy="161925"/>
              </a:xfrm>
              <a:prstGeom prst="rect">
                <a:avLst/>
              </a:prstGeom>
              <a:noFill/>
              <a:ln>
                <a:noFill/>
              </a:ln>
            </p:spPr>
            <p:txBody>
              <a:bodyPr wrap="none" lIns="0" tIns="0" rIns="0" bIns="0" anchor="t" anchorCtr="0">
                <a:spAutoFit/>
              </a:bodyPr>
              <a:lstStyle/>
              <a:p>
                <a:pPr algn="r"/>
                <a:r>
                  <a:rPr lang="zh-CN" sz="820" dirty="0">
                    <a:solidFill>
                      <a:schemeClr val="accent2"/>
                    </a:solidFill>
                    <a:latin typeface="Arial"/>
                    <a:ea typeface="Arial"/>
                    <a:cs typeface="Arial"/>
                  </a:rPr>
                  <a:t>1%</a:t>
                </a:r>
              </a:p>
            </p:txBody>
          </p:sp>
          <p:sp>
            <p:nvSpPr>
              <p:cNvPr id="73" name="TextBox 73"/>
              <p:cNvSpPr txBox="1"/>
              <p:nvPr/>
            </p:nvSpPr>
            <p:spPr>
              <a:xfrm>
                <a:off x="4630655"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2015</a:t>
                </a:r>
              </a:p>
            </p:txBody>
          </p:sp>
          <p:sp>
            <p:nvSpPr>
              <p:cNvPr id="74" name="TextBox 74"/>
              <p:cNvSpPr txBox="1"/>
              <p:nvPr/>
            </p:nvSpPr>
            <p:spPr>
              <a:xfrm>
                <a:off x="4926787"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2016</a:t>
                </a:r>
              </a:p>
            </p:txBody>
          </p:sp>
          <p:sp>
            <p:nvSpPr>
              <p:cNvPr id="75" name="TextBox 75"/>
              <p:cNvSpPr txBox="1"/>
              <p:nvPr/>
            </p:nvSpPr>
            <p:spPr>
              <a:xfrm>
                <a:off x="5222920"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2017</a:t>
                </a:r>
              </a:p>
            </p:txBody>
          </p:sp>
          <p:sp>
            <p:nvSpPr>
              <p:cNvPr id="76" name="TextBox 76"/>
              <p:cNvSpPr txBox="1"/>
              <p:nvPr/>
            </p:nvSpPr>
            <p:spPr>
              <a:xfrm>
                <a:off x="5519052"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2018</a:t>
                </a:r>
              </a:p>
            </p:txBody>
          </p:sp>
          <p:sp>
            <p:nvSpPr>
              <p:cNvPr id="77" name="TextBox 77"/>
              <p:cNvSpPr txBox="1"/>
              <p:nvPr/>
            </p:nvSpPr>
            <p:spPr>
              <a:xfrm>
                <a:off x="5815184"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2019</a:t>
                </a:r>
              </a:p>
            </p:txBody>
          </p:sp>
          <p:sp>
            <p:nvSpPr>
              <p:cNvPr id="78" name="TextBox 78"/>
              <p:cNvSpPr txBox="1"/>
              <p:nvPr/>
            </p:nvSpPr>
            <p:spPr>
              <a:xfrm>
                <a:off x="6111316"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2020</a:t>
                </a:r>
              </a:p>
            </p:txBody>
          </p:sp>
          <p:sp>
            <p:nvSpPr>
              <p:cNvPr id="79" name="TextBox 79"/>
              <p:cNvSpPr txBox="1"/>
              <p:nvPr/>
            </p:nvSpPr>
            <p:spPr>
              <a:xfrm>
                <a:off x="6407449"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2021</a:t>
                </a:r>
              </a:p>
            </p:txBody>
          </p:sp>
          <p:sp>
            <p:nvSpPr>
              <p:cNvPr id="80" name="TextBox 80"/>
              <p:cNvSpPr txBox="1"/>
              <p:nvPr/>
            </p:nvSpPr>
            <p:spPr>
              <a:xfrm>
                <a:off x="6703581"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2022</a:t>
                </a:r>
              </a:p>
            </p:txBody>
          </p:sp>
          <p:sp>
            <p:nvSpPr>
              <p:cNvPr id="81" name="TextBox 81"/>
              <p:cNvSpPr txBox="1"/>
              <p:nvPr/>
            </p:nvSpPr>
            <p:spPr>
              <a:xfrm>
                <a:off x="6999713"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2023</a:t>
                </a:r>
              </a:p>
            </p:txBody>
          </p:sp>
          <p:sp>
            <p:nvSpPr>
              <p:cNvPr id="82" name="TextBox 82"/>
              <p:cNvSpPr txBox="1"/>
              <p:nvPr/>
            </p:nvSpPr>
            <p:spPr>
              <a:xfrm>
                <a:off x="7295845"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2024</a:t>
                </a:r>
              </a:p>
            </p:txBody>
          </p:sp>
          <p:sp>
            <p:nvSpPr>
              <p:cNvPr id="83" name="TextBox 83"/>
              <p:cNvSpPr txBox="1"/>
              <p:nvPr/>
            </p:nvSpPr>
            <p:spPr>
              <a:xfrm>
                <a:off x="7591978"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2025</a:t>
                </a:r>
              </a:p>
            </p:txBody>
          </p:sp>
          <p:sp>
            <p:nvSpPr>
              <p:cNvPr id="84" name="TextBox 84"/>
              <p:cNvSpPr txBox="1"/>
              <p:nvPr/>
            </p:nvSpPr>
            <p:spPr>
              <a:xfrm>
                <a:off x="5329238" y="2158841"/>
                <a:ext cx="1444574"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2020 年 4.4% → 2025 年 25%</a:t>
                </a:r>
              </a:p>
            </p:txBody>
          </p:sp>
        </p:grpSp>
      </p:grpSp>
      <p:grpSp>
        <p:nvGrpSpPr>
          <p:cNvPr id="91" name="exhibit-c-head"/>
          <p:cNvGrpSpPr/>
          <p:nvPr/>
        </p:nvGrpSpPr>
        <p:grpSpPr>
          <a:xfrm>
            <a:off x="452438" y="4581525"/>
            <a:ext cx="1819895" cy="349091"/>
            <a:chOff x="452438" y="4581525"/>
            <a:chExt cx="1819895" cy="349091"/>
          </a:xfrm>
        </p:grpSpPr>
        <p:sp>
          <p:nvSpPr>
            <p:cNvPr id="87" name="Ellipse 87"/>
            <p:cNvSpPr/>
            <p:nvPr/>
          </p:nvSpPr>
          <p:spPr>
            <a:xfrm>
              <a:off x="457200" y="4581525"/>
              <a:ext cx="152400" cy="152400"/>
            </a:xfrm>
            <a:prstGeom prst="ellipse">
              <a:avLst/>
            </a:prstGeom>
            <a:solidFill>
              <a:schemeClr val="accent1"/>
            </a:solidFill>
            <a:ln>
              <a:noFill/>
            </a:ln>
          </p:spPr>
        </p:sp>
        <p:sp>
          <p:nvSpPr>
            <p:cNvPr id="88" name="TextBox 88"/>
            <p:cNvSpPr txBox="1"/>
            <p:nvPr/>
          </p:nvSpPr>
          <p:spPr>
            <a:xfrm>
              <a:off x="490115" y="46101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C</a:t>
              </a:r>
            </a:p>
          </p:txBody>
        </p:sp>
        <p:sp>
          <p:nvSpPr>
            <p:cNvPr id="89" name="TextBox 89"/>
            <p:cNvSpPr txBox="1"/>
            <p:nvPr/>
          </p:nvSpPr>
          <p:spPr>
            <a:xfrm>
              <a:off x="661797" y="4600099"/>
              <a:ext cx="801472"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关键年份对照</a:t>
              </a:r>
            </a:p>
          </p:txBody>
        </p:sp>
        <p:sp>
          <p:nvSpPr>
            <p:cNvPr id="90" name="TextBox 90"/>
            <p:cNvSpPr txBox="1"/>
            <p:nvPr/>
          </p:nvSpPr>
          <p:spPr>
            <a:xfrm>
              <a:off x="452438" y="4768691"/>
              <a:ext cx="1819895"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销量与增量:百万辆;同比与渗透率:%</a:t>
              </a:r>
            </a:p>
          </p:txBody>
        </p:sp>
      </p:grpSp>
      <p:grpSp>
        <p:nvGrpSpPr>
          <p:cNvPr id="122" name="key-years"/>
          <p:cNvGrpSpPr/>
          <p:nvPr/>
        </p:nvGrpSpPr>
        <p:grpSpPr>
          <a:xfrm>
            <a:off x="457200" y="5006816"/>
            <a:ext cx="8001000" cy="951548"/>
            <a:chOff x="457200" y="5006816"/>
            <a:chExt cx="8001000" cy="951548"/>
          </a:xfrm>
        </p:grpSpPr>
        <p:sp>
          <p:nvSpPr>
            <p:cNvPr id="92" name="Line 92"/>
            <p:cNvSpPr/>
            <p:nvPr/>
          </p:nvSpPr>
          <p:spPr>
            <a:xfrm>
              <a:off x="457200" y="5181600"/>
              <a:ext cx="8001000" cy="9525"/>
            </a:xfrm>
            <a:custGeom>
              <a:avLst/>
              <a:gdLst/>
              <a:ahLst/>
              <a:cxnLst/>
              <a:rect l="l" t="t" r="r" b="b"/>
              <a:pathLst>
                <a:path w="8001000" h="9525">
                  <a:moveTo>
                    <a:pt x="0" y="0"/>
                  </a:moveTo>
                  <a:lnTo>
                    <a:pt x="8001000" y="0"/>
                  </a:lnTo>
                </a:path>
              </a:pathLst>
            </a:custGeom>
            <a:noFill/>
            <a:ln w="9525">
              <a:solidFill>
                <a:schemeClr val="accent1"/>
              </a:solidFill>
            </a:ln>
          </p:spPr>
        </p:sp>
        <p:sp>
          <p:nvSpPr>
            <p:cNvPr id="93" name="TextBox 93"/>
            <p:cNvSpPr txBox="1"/>
            <p:nvPr/>
          </p:nvSpPr>
          <p:spPr>
            <a:xfrm>
              <a:off x="528638" y="500681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年份</a:t>
              </a:r>
            </a:p>
          </p:txBody>
        </p:sp>
        <p:sp>
          <p:nvSpPr>
            <p:cNvPr id="94" name="TextBox 94"/>
            <p:cNvSpPr txBox="1"/>
            <p:nvPr/>
          </p:nvSpPr>
          <p:spPr>
            <a:xfrm>
              <a:off x="3012961" y="5006816"/>
              <a:ext cx="230302"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销量</a:t>
              </a:r>
            </a:p>
          </p:txBody>
        </p:sp>
        <p:sp>
          <p:nvSpPr>
            <p:cNvPr id="95" name="TextBox 95"/>
            <p:cNvSpPr txBox="1"/>
            <p:nvPr/>
          </p:nvSpPr>
          <p:spPr>
            <a:xfrm>
              <a:off x="4268797" y="5006816"/>
              <a:ext cx="688966"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增量(较上年)</a:t>
              </a:r>
            </a:p>
          </p:txBody>
        </p:sp>
        <p:sp>
          <p:nvSpPr>
            <p:cNvPr id="96" name="TextBox 96"/>
            <p:cNvSpPr txBox="1"/>
            <p:nvPr/>
          </p:nvSpPr>
          <p:spPr>
            <a:xfrm>
              <a:off x="6441961" y="5006816"/>
              <a:ext cx="230302"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同比</a:t>
              </a:r>
            </a:p>
          </p:txBody>
        </p:sp>
        <p:sp>
          <p:nvSpPr>
            <p:cNvPr id="97" name="TextBox 97"/>
            <p:cNvSpPr txBox="1"/>
            <p:nvPr/>
          </p:nvSpPr>
          <p:spPr>
            <a:xfrm>
              <a:off x="8046072" y="5006816"/>
              <a:ext cx="340690"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渗透率</a:t>
              </a:r>
            </a:p>
          </p:txBody>
        </p:sp>
        <p:sp>
          <p:nvSpPr>
            <p:cNvPr id="98" name="Line 98"/>
            <p:cNvSpPr/>
            <p:nvPr/>
          </p:nvSpPr>
          <p:spPr>
            <a:xfrm>
              <a:off x="457200" y="53721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99" name="TextBox 99"/>
            <p:cNvSpPr txBox="1"/>
            <p:nvPr/>
          </p:nvSpPr>
          <p:spPr>
            <a:xfrm>
              <a:off x="528638" y="5224939"/>
              <a:ext cx="26452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2020</a:t>
              </a:r>
            </a:p>
          </p:txBody>
        </p:sp>
        <p:sp>
          <p:nvSpPr>
            <p:cNvPr id="100" name="TextBox 100"/>
            <p:cNvSpPr txBox="1"/>
            <p:nvPr/>
          </p:nvSpPr>
          <p:spPr>
            <a:xfrm>
              <a:off x="3080276" y="5224939"/>
              <a:ext cx="162987"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3.0</a:t>
              </a:r>
            </a:p>
          </p:txBody>
        </p:sp>
        <p:sp>
          <p:nvSpPr>
            <p:cNvPr id="101" name="TextBox 101"/>
            <p:cNvSpPr txBox="1"/>
            <p:nvPr/>
          </p:nvSpPr>
          <p:spPr>
            <a:xfrm>
              <a:off x="4730309" y="5224939"/>
              <a:ext cx="227454"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+0.9</a:t>
              </a:r>
            </a:p>
          </p:txBody>
        </p:sp>
        <p:sp>
          <p:nvSpPr>
            <p:cNvPr id="102" name="TextBox 102"/>
            <p:cNvSpPr txBox="1"/>
            <p:nvPr/>
          </p:nvSpPr>
          <p:spPr>
            <a:xfrm>
              <a:off x="6377317" y="5224939"/>
              <a:ext cx="294945"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+43%</a:t>
              </a:r>
            </a:p>
          </p:txBody>
        </p:sp>
        <p:sp>
          <p:nvSpPr>
            <p:cNvPr id="103" name="TextBox 103"/>
            <p:cNvSpPr txBox="1"/>
            <p:nvPr/>
          </p:nvSpPr>
          <p:spPr>
            <a:xfrm>
              <a:off x="8125618" y="5224939"/>
              <a:ext cx="261144"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4.4%</a:t>
              </a:r>
            </a:p>
          </p:txBody>
        </p:sp>
        <p:sp>
          <p:nvSpPr>
            <p:cNvPr id="104" name="Line 104"/>
            <p:cNvSpPr/>
            <p:nvPr/>
          </p:nvSpPr>
          <p:spPr>
            <a:xfrm>
              <a:off x="457200" y="55626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05" name="TextBox 105"/>
            <p:cNvSpPr txBox="1"/>
            <p:nvPr/>
          </p:nvSpPr>
          <p:spPr>
            <a:xfrm>
              <a:off x="528638" y="5415439"/>
              <a:ext cx="26452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2021</a:t>
              </a:r>
            </a:p>
          </p:txBody>
        </p:sp>
        <p:sp>
          <p:nvSpPr>
            <p:cNvPr id="106" name="TextBox 106"/>
            <p:cNvSpPr txBox="1"/>
            <p:nvPr/>
          </p:nvSpPr>
          <p:spPr>
            <a:xfrm>
              <a:off x="3080276" y="5415439"/>
              <a:ext cx="162987"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6.6</a:t>
              </a:r>
            </a:p>
          </p:txBody>
        </p:sp>
        <p:sp>
          <p:nvSpPr>
            <p:cNvPr id="107" name="TextBox 107"/>
            <p:cNvSpPr txBox="1"/>
            <p:nvPr/>
          </p:nvSpPr>
          <p:spPr>
            <a:xfrm>
              <a:off x="4730309" y="5415439"/>
              <a:ext cx="227454"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+3.6</a:t>
              </a:r>
            </a:p>
          </p:txBody>
        </p:sp>
        <p:sp>
          <p:nvSpPr>
            <p:cNvPr id="108" name="TextBox 108"/>
            <p:cNvSpPr txBox="1"/>
            <p:nvPr/>
          </p:nvSpPr>
          <p:spPr>
            <a:xfrm>
              <a:off x="6315919" y="5415439"/>
              <a:ext cx="356343"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+120%</a:t>
              </a:r>
            </a:p>
          </p:txBody>
        </p:sp>
        <p:sp>
          <p:nvSpPr>
            <p:cNvPr id="109" name="TextBox 109"/>
            <p:cNvSpPr txBox="1"/>
            <p:nvPr/>
          </p:nvSpPr>
          <p:spPr>
            <a:xfrm>
              <a:off x="8125618" y="5415439"/>
              <a:ext cx="261144"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9.3%</a:t>
              </a:r>
            </a:p>
          </p:txBody>
        </p:sp>
        <p:sp>
          <p:nvSpPr>
            <p:cNvPr id="110" name="Line 110"/>
            <p:cNvSpPr/>
            <p:nvPr/>
          </p:nvSpPr>
          <p:spPr>
            <a:xfrm>
              <a:off x="457200" y="57531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11" name="TextBox 111"/>
            <p:cNvSpPr txBox="1"/>
            <p:nvPr/>
          </p:nvSpPr>
          <p:spPr>
            <a:xfrm>
              <a:off x="528638" y="5605939"/>
              <a:ext cx="26452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2023</a:t>
              </a:r>
            </a:p>
          </p:txBody>
        </p:sp>
        <p:sp>
          <p:nvSpPr>
            <p:cNvPr id="112" name="TextBox 112"/>
            <p:cNvSpPr txBox="1"/>
            <p:nvPr/>
          </p:nvSpPr>
          <p:spPr>
            <a:xfrm>
              <a:off x="3110941" y="56059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14</a:t>
              </a:r>
            </a:p>
          </p:txBody>
        </p:sp>
        <p:sp>
          <p:nvSpPr>
            <p:cNvPr id="113" name="TextBox 113"/>
            <p:cNvSpPr txBox="1"/>
            <p:nvPr/>
          </p:nvSpPr>
          <p:spPr>
            <a:xfrm>
              <a:off x="4730309" y="5605939"/>
              <a:ext cx="227454"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+4.0</a:t>
              </a:r>
            </a:p>
          </p:txBody>
        </p:sp>
        <p:sp>
          <p:nvSpPr>
            <p:cNvPr id="114" name="TextBox 114"/>
            <p:cNvSpPr txBox="1"/>
            <p:nvPr/>
          </p:nvSpPr>
          <p:spPr>
            <a:xfrm>
              <a:off x="6377317" y="5605939"/>
              <a:ext cx="294945"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+40%</a:t>
              </a:r>
            </a:p>
          </p:txBody>
        </p:sp>
        <p:sp>
          <p:nvSpPr>
            <p:cNvPr id="115" name="TextBox 115"/>
            <p:cNvSpPr txBox="1"/>
            <p:nvPr/>
          </p:nvSpPr>
          <p:spPr>
            <a:xfrm>
              <a:off x="8156284" y="5605939"/>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18%</a:t>
              </a:r>
            </a:p>
          </p:txBody>
        </p:sp>
        <p:sp>
          <p:nvSpPr>
            <p:cNvPr id="116" name="Line 116"/>
            <p:cNvSpPr/>
            <p:nvPr/>
          </p:nvSpPr>
          <p:spPr>
            <a:xfrm>
              <a:off x="457200" y="59436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17" name="TextBox 117"/>
            <p:cNvSpPr txBox="1"/>
            <p:nvPr/>
          </p:nvSpPr>
          <p:spPr>
            <a:xfrm>
              <a:off x="528638" y="5796439"/>
              <a:ext cx="26452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2025</a:t>
              </a:r>
            </a:p>
          </p:txBody>
        </p:sp>
        <p:sp>
          <p:nvSpPr>
            <p:cNvPr id="118" name="TextBox 118"/>
            <p:cNvSpPr txBox="1"/>
            <p:nvPr/>
          </p:nvSpPr>
          <p:spPr>
            <a:xfrm>
              <a:off x="3110941" y="5796439"/>
              <a:ext cx="132321"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Arial"/>
                  <a:ea typeface="Arial"/>
                  <a:cs typeface="Arial"/>
                </a:rPr>
                <a:t>21</a:t>
              </a:r>
            </a:p>
          </p:txBody>
        </p:sp>
        <p:sp>
          <p:nvSpPr>
            <p:cNvPr id="119" name="TextBox 119"/>
            <p:cNvSpPr txBox="1"/>
            <p:nvPr/>
          </p:nvSpPr>
          <p:spPr>
            <a:xfrm>
              <a:off x="4730309" y="5796439"/>
              <a:ext cx="227454"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Arial"/>
                  <a:ea typeface="Arial"/>
                  <a:cs typeface="Arial"/>
                </a:rPr>
                <a:t>+4.0</a:t>
              </a:r>
            </a:p>
          </p:txBody>
        </p:sp>
        <p:sp>
          <p:nvSpPr>
            <p:cNvPr id="120" name="TextBox 120"/>
            <p:cNvSpPr txBox="1"/>
            <p:nvPr/>
          </p:nvSpPr>
          <p:spPr>
            <a:xfrm>
              <a:off x="6377317" y="5796439"/>
              <a:ext cx="294945"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Arial"/>
                  <a:ea typeface="Arial"/>
                  <a:cs typeface="Arial"/>
                </a:rPr>
                <a:t>+24%</a:t>
              </a:r>
            </a:p>
          </p:txBody>
        </p:sp>
        <p:sp>
          <p:nvSpPr>
            <p:cNvPr id="121" name="TextBox 121"/>
            <p:cNvSpPr txBox="1"/>
            <p:nvPr/>
          </p:nvSpPr>
          <p:spPr>
            <a:xfrm>
              <a:off x="8156284" y="5796439"/>
              <a:ext cx="230478"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Arial"/>
                  <a:ea typeface="Arial"/>
                  <a:cs typeface="Arial"/>
                </a:rPr>
                <a:t>25%</a:t>
              </a:r>
            </a:p>
          </p:txBody>
        </p:sp>
      </p:grpSp>
      <p:grpSp>
        <p:nvGrpSpPr>
          <p:cNvPr id="138" name="insights"/>
          <p:cNvGrpSpPr/>
          <p:nvPr/>
        </p:nvGrpSpPr>
        <p:grpSpPr>
          <a:xfrm>
            <a:off x="8720138" y="1587341"/>
            <a:ext cx="3014662" cy="4432459"/>
            <a:chOff x="8720138" y="1587341"/>
            <a:chExt cx="3014662" cy="4432459"/>
          </a:xfrm>
        </p:grpSpPr>
        <p:sp>
          <p:nvSpPr>
            <p:cNvPr id="123" name="TextBox 123"/>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124" name="Line 124"/>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125" name="Ellipse 125"/>
            <p:cNvSpPr/>
            <p:nvPr/>
          </p:nvSpPr>
          <p:spPr>
            <a:xfrm>
              <a:off x="8724900" y="1876425"/>
              <a:ext cx="152400" cy="152400"/>
            </a:xfrm>
            <a:prstGeom prst="ellipse">
              <a:avLst/>
            </a:prstGeom>
            <a:solidFill>
              <a:schemeClr val="accent1"/>
            </a:solidFill>
            <a:ln>
              <a:noFill/>
            </a:ln>
          </p:spPr>
        </p:sp>
        <p:sp>
          <p:nvSpPr>
            <p:cNvPr id="126" name="TextBox 126"/>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127" name="TextBox 127"/>
            <p:cNvSpPr txBox="1"/>
            <p:nvPr/>
          </p:nvSpPr>
          <p:spPr>
            <a:xfrm>
              <a:off x="8948166" y="1886902"/>
              <a:ext cx="237763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销量五年增长 7.0 倍:2020 年 300 万辆</a:t>
              </a:r>
              <a:br/>
              <a:r>
                <a:rPr lang="zh-CN" sz="1050" dirty="0">
                  <a:solidFill>
                    <a:schemeClr val="dk1"/>
                  </a:solidFill>
                  <a:latin typeface="+mn-lt"/>
                  <a:ea typeface="+mn-ea"/>
                  <a:cs typeface="+mn-cs"/>
                </a:rPr>
                <a:t>→ 2025 年 2,100 万辆,年均增速 48%¹;</a:t>
              </a:r>
              <a:br/>
              <a:r>
                <a:rPr lang="zh-CN" sz="1050" dirty="0">
                  <a:solidFill>
                    <a:schemeClr val="dk1"/>
                  </a:solidFill>
                  <a:latin typeface="+mn-lt"/>
                  <a:ea typeface="+mn-ea"/>
                  <a:cs typeface="+mn-cs"/>
                </a:rPr>
                <a:t>2021 年起每年增量都不低于 300 万辆。</a:t>
              </a:r>
            </a:p>
          </p:txBody>
        </p:sp>
        <p:sp>
          <p:nvSpPr>
            <p:cNvPr id="128" name="Ellipse 128"/>
            <p:cNvSpPr/>
            <p:nvPr/>
          </p:nvSpPr>
          <p:spPr>
            <a:xfrm>
              <a:off x="8724900" y="2600325"/>
              <a:ext cx="152400" cy="152400"/>
            </a:xfrm>
            <a:prstGeom prst="ellipse">
              <a:avLst/>
            </a:prstGeom>
            <a:solidFill>
              <a:schemeClr val="accent1"/>
            </a:solidFill>
            <a:ln>
              <a:noFill/>
            </a:ln>
          </p:spPr>
        </p:sp>
        <p:sp>
          <p:nvSpPr>
            <p:cNvPr id="129" name="TextBox 129"/>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130" name="TextBox 130"/>
            <p:cNvSpPr txBox="1"/>
            <p:nvPr/>
          </p:nvSpPr>
          <p:spPr>
            <a:xfrm>
              <a:off x="8948166" y="2610802"/>
              <a:ext cx="235096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渗透率从 4.4% 升到 25%:每四辆新车</a:t>
              </a:r>
              <a:br/>
              <a:r>
                <a:rPr lang="zh-CN" sz="1050" dirty="0">
                  <a:solidFill>
                    <a:schemeClr val="dk1"/>
                  </a:solidFill>
                  <a:latin typeface="+mn-lt"/>
                  <a:ea typeface="+mn-ea"/>
                  <a:cs typeface="+mn-cs"/>
                </a:rPr>
                <a:t>就有一辆是电动车;2021 年翻倍(9.3%)</a:t>
              </a:r>
              <a:br/>
              <a:r>
                <a:rPr lang="zh-CN" sz="1050" dirty="0">
                  <a:solidFill>
                    <a:schemeClr val="dk1"/>
                  </a:solidFill>
                  <a:latin typeface="+mn-lt"/>
                  <a:ea typeface="+mn-ea"/>
                  <a:cs typeface="+mn-cs"/>
                </a:rPr>
                <a:t>是拐点,此后逐年抬升未回落。</a:t>
              </a:r>
            </a:p>
          </p:txBody>
        </p:sp>
        <p:sp>
          <p:nvSpPr>
            <p:cNvPr id="131" name="Ellipse 131"/>
            <p:cNvSpPr/>
            <p:nvPr/>
          </p:nvSpPr>
          <p:spPr>
            <a:xfrm>
              <a:off x="8724900" y="3324225"/>
              <a:ext cx="152400" cy="152400"/>
            </a:xfrm>
            <a:prstGeom prst="ellipse">
              <a:avLst/>
            </a:prstGeom>
            <a:solidFill>
              <a:schemeClr val="accent1"/>
            </a:solidFill>
            <a:ln>
              <a:noFill/>
            </a:ln>
          </p:spPr>
        </p:sp>
        <p:sp>
          <p:nvSpPr>
            <p:cNvPr id="132" name="TextBox 132"/>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133" name="TextBox 133"/>
            <p:cNvSpPr txBox="1"/>
            <p:nvPr/>
          </p:nvSpPr>
          <p:spPr>
            <a:xfrm>
              <a:off x="8948166" y="3334702"/>
              <a:ext cx="196424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基数已经不是"是否会来"的问题:</a:t>
              </a:r>
              <a:br/>
              <a:r>
                <a:rPr lang="zh-CN" sz="1050" dirty="0">
                  <a:solidFill>
                    <a:schemeClr val="dk1"/>
                  </a:solidFill>
                  <a:latin typeface="+mn-lt"/>
                  <a:ea typeface="+mn-ea"/>
                  <a:cs typeface="+mn-cs"/>
                </a:rPr>
                <a:t>2,100 万辆的存量市场足以支撑</a:t>
              </a:r>
              <a:br/>
              <a:r>
                <a:rPr lang="zh-CN" sz="1050" dirty="0">
                  <a:solidFill>
                    <a:schemeClr val="dk1"/>
                  </a:solidFill>
                  <a:latin typeface="+mn-lt"/>
                  <a:ea typeface="+mn-ea"/>
                  <a:cs typeface="+mn-cs"/>
                </a:rPr>
                <a:t>按地区分级的差异化投入决策。</a:t>
              </a:r>
            </a:p>
          </p:txBody>
        </p:sp>
        <p:sp>
          <p:nvSpPr>
            <p:cNvPr id="134" name="Rectangle 134"/>
            <p:cNvSpPr/>
            <p:nvPr/>
          </p:nvSpPr>
          <p:spPr>
            <a:xfrm>
              <a:off x="8724900" y="4914900"/>
              <a:ext cx="3009900" cy="1104900"/>
            </a:xfrm>
            <a:prstGeom prst="rect">
              <a:avLst/>
            </a:prstGeom>
            <a:solidFill>
              <a:srgbClr val="F7F7F7"/>
            </a:solidFill>
            <a:ln>
              <a:noFill/>
            </a:ln>
          </p:spPr>
        </p:sp>
        <p:sp>
          <p:nvSpPr>
            <p:cNvPr id="135" name="Rectangle 135"/>
            <p:cNvSpPr/>
            <p:nvPr/>
          </p:nvSpPr>
          <p:spPr>
            <a:xfrm>
              <a:off x="8724900" y="4914900"/>
              <a:ext cx="38100" cy="1104900"/>
            </a:xfrm>
            <a:prstGeom prst="rect">
              <a:avLst/>
            </a:prstGeom>
            <a:solidFill>
              <a:schemeClr val="accent2"/>
            </a:solidFill>
            <a:ln>
              <a:noFill/>
            </a:ln>
          </p:spPr>
        </p:sp>
        <p:sp>
          <p:nvSpPr>
            <p:cNvPr id="136" name="TextBox 136"/>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137" name="TextBox 137"/>
            <p:cNvSpPr txBox="1"/>
            <p:nvPr/>
          </p:nvSpPr>
          <p:spPr>
            <a:xfrm>
              <a:off x="8871966" y="5220652"/>
              <a:ext cx="221761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市场规模已不是投入前提;剩下的问题</a:t>
              </a:r>
              <a:br/>
              <a:r>
                <a:rPr lang="zh-CN" sz="1050" dirty="0">
                  <a:solidFill>
                    <a:schemeClr val="dk1"/>
                  </a:solidFill>
                  <a:latin typeface="+mn-lt"/>
                  <a:ea typeface="+mn-ea"/>
                  <a:cs typeface="+mn-cs"/>
                </a:rPr>
                <a:t>只有'投在哪'和'用什么产品进'——</a:t>
              </a:r>
              <a:br/>
              <a:r>
                <a:rPr lang="zh-CN" sz="1050" dirty="0">
                  <a:solidFill>
                    <a:schemeClr val="dk1"/>
                  </a:solidFill>
                  <a:latin typeface="+mn-lt"/>
                  <a:ea typeface="+mn-ea"/>
                  <a:cs typeface="+mn-cs"/>
                </a:rPr>
                <a:t>下两页按地区拆分增量。</a:t>
              </a:r>
            </a:p>
          </p:txBody>
        </p:sp>
      </p:grpSp>
      <p:grpSp>
        <p:nvGrpSpPr>
          <p:cNvPr id="143" name="footer"/>
          <p:cNvGrpSpPr/>
          <p:nvPr/>
        </p:nvGrpSpPr>
        <p:grpSpPr>
          <a:xfrm>
            <a:off x="452438" y="6205538"/>
            <a:ext cx="11287125" cy="433388"/>
            <a:chOff x="452438" y="6205538"/>
            <a:chExt cx="11287125" cy="433388"/>
          </a:xfrm>
        </p:grpSpPr>
        <p:sp>
          <p:nvSpPr>
            <p:cNvPr id="139" name="TextBox 139"/>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140" name="TextBox 140"/>
            <p:cNvSpPr txBox="1"/>
            <p:nvPr/>
          </p:nvSpPr>
          <p:spPr>
            <a:xfrm>
              <a:off x="452438" y="6338888"/>
              <a:ext cx="3481388"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年均增速(CAGR)按 2020–2025 五年复合计算:(21÷3)^(1/5) − 1 = 47.6%</a:t>
              </a:r>
            </a:p>
          </p:txBody>
        </p:sp>
        <p:sp>
          <p:nvSpPr>
            <p:cNvPr id="141" name="TextBox 141"/>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142" name="TextBox 142"/>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xmlns:p="http://schemas.openxmlformats.org/presentationml/2006/main" id="13" presetID="22" presetClass="entr" presetSubtype="1" fill="hold" grpId="0" nodeType="afterEffect">
                                  <p:stCondLst>
                                    <p:cond delay="500"/>
                                  </p:stCondLst>
                                  <p:childTnLst>
                                    <p:set>
                                      <p:cBhvr>
                                        <p:cTn id="14" dur="1" fill="hold">
                                          <p:stCondLst>
                                            <p:cond delay="0"/>
                                          </p:stCondLst>
                                        </p:cTn>
                                        <p:tgtEl>
                                          <p:spTgt spid="52"/>
                                        </p:tgtEl>
                                        <p:attrNameLst>
                                          <p:attrName>style.visibility</p:attrName>
                                        </p:attrNameLst>
                                      </p:cBhvr>
                                      <p:to>
                                        <p:strVal val="visible"/>
                                      </p:to>
                                    </p:set>
                                    <p:animEffect transition="in" filter="wipe(up)">
                                      <p:cBhvr>
                                        <p:cTn id="15" dur="600"/>
                                        <p:tgtEl>
                                          <p:spTgt spid="52"/>
                                        </p:tgtEl>
                                      </p:cBhvr>
                                    </p:animEffect>
                                  </p:childTnLst>
                                </p:cTn>
                              </p:par>
                            </p:childTnLst>
                          </p:cTn>
                        </p:par>
                        <p:par>
                          <p:cTn id="16" fill="hold">
                            <p:stCondLst>
                              <p:cond delay="21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200"/>
                                        <p:tgtEl>
                                          <p:spTgt spid="57"/>
                                        </p:tgtEl>
                                      </p:cBhvr>
                                    </p:animEffect>
                                  </p:childTnLst>
                                </p:cTn>
                              </p:par>
                            </p:childTnLst>
                          </p:cTn>
                        </p:par>
                        <p:par>
                          <p:cTn id="20" fill="hold">
                            <p:stCondLst>
                              <p:cond delay="2800"/>
                            </p:stCondLst>
                            <p:childTnLst>
                              <p:par>
                                <p:cTn xmlns:p="http://schemas.openxmlformats.org/presentationml/2006/main" id="21" presetID="22" presetClass="entr" presetSubtype="2" fill="hold" grpId="0" nodeType="afterEffect">
                                  <p:stCondLst>
                                    <p:cond delay="500"/>
                                  </p:stCondLst>
                                  <p:childTnLst>
                                    <p:set>
                                      <p:cBhvr>
                                        <p:cTn id="22" dur="1" fill="hold">
                                          <p:stCondLst>
                                            <p:cond delay="0"/>
                                          </p:stCondLst>
                                        </p:cTn>
                                        <p:tgtEl>
                                          <p:spTgt spid="86"/>
                                        </p:tgtEl>
                                        <p:attrNameLst>
                                          <p:attrName>style.visibility</p:attrName>
                                        </p:attrNameLst>
                                      </p:cBhvr>
                                      <p:to>
                                        <p:strVal val="visible"/>
                                      </p:to>
                                    </p:set>
                                    <p:animEffect transition="in" filter="wipe(right)">
                                      <p:cBhvr>
                                        <p:cTn id="23" dur="600"/>
                                        <p:tgtEl>
                                          <p:spTgt spid="86"/>
                                        </p:tgtEl>
                                      </p:cBhvr>
                                    </p:animEffect>
                                  </p:childTnLst>
                                </p:cTn>
                              </p:par>
                            </p:childTnLst>
                          </p:cTn>
                        </p:par>
                        <p:par>
                          <p:cTn id="24" fill="hold">
                            <p:stCondLst>
                              <p:cond delay="39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91"/>
                                        </p:tgtEl>
                                        <p:attrNameLst>
                                          <p:attrName>style.visibility</p:attrName>
                                        </p:attrNameLst>
                                      </p:cBhvr>
                                      <p:to>
                                        <p:strVal val="visible"/>
                                      </p:to>
                                    </p:set>
                                    <p:animEffect transition="in" filter="fade">
                                      <p:cBhvr>
                                        <p:cTn id="27" dur="200"/>
                                        <p:tgtEl>
                                          <p:spTgt spid="91"/>
                                        </p:tgtEl>
                                      </p:cBhvr>
                                    </p:animEffect>
                                  </p:childTnLst>
                                </p:cTn>
                              </p:par>
                            </p:childTnLst>
                          </p:cTn>
                        </p:par>
                        <p:par>
                          <p:cTn id="28" fill="hold">
                            <p:stCondLst>
                              <p:cond delay="4600"/>
                            </p:stCondLst>
                            <p:childTnLst>
                              <p:par>
                                <p:cTn xmlns:p="http://schemas.openxmlformats.org/presentationml/2006/main" id="29" presetID="22" presetClass="entr" presetSubtype="4" fill="hold" grpId="0" nodeType="afterEffect">
                                  <p:stCondLst>
                                    <p:cond delay="500"/>
                                  </p:stCondLst>
                                  <p:childTnLst>
                                    <p:set>
                                      <p:cBhvr>
                                        <p:cTn id="30" dur="1" fill="hold">
                                          <p:stCondLst>
                                            <p:cond delay="0"/>
                                          </p:stCondLst>
                                        </p:cTn>
                                        <p:tgtEl>
                                          <p:spTgt spid="122"/>
                                        </p:tgtEl>
                                        <p:attrNameLst>
                                          <p:attrName>style.visibility</p:attrName>
                                        </p:attrNameLst>
                                      </p:cBhvr>
                                      <p:to>
                                        <p:strVal val="visible"/>
                                      </p:to>
                                    </p:set>
                                    <p:animEffect transition="in" filter="wipe(down)">
                                      <p:cBhvr>
                                        <p:cTn id="31" dur="500"/>
                                        <p:tgtEl>
                                          <p:spTgt spid="122"/>
                                        </p:tgtEl>
                                      </p:cBhvr>
                                    </p:animEffect>
                                  </p:childTnLst>
                                </p:cTn>
                              </p:par>
                            </p:childTnLst>
                          </p:cTn>
                        </p:par>
                        <p:par>
                          <p:cTn id="32" fill="hold">
                            <p:stCondLst>
                              <p:cond delay="5600"/>
                            </p:stCondLst>
                            <p:childTnLst>
                              <p:par>
                                <p:cTn xmlns:p="http://schemas.openxmlformats.org/presentationml/2006/main" id="33" presetID="10" presetClass="entr" presetSubtype="0" fill="hold" grpId="0" nodeType="afterEffect">
                                  <p:stCondLst>
                                    <p:cond delay="500"/>
                                  </p:stCondLst>
                                  <p:childTnLst>
                                    <p:set>
                                      <p:cBhvr>
                                        <p:cTn id="34" dur="1" fill="hold">
                                          <p:stCondLst>
                                            <p:cond delay="0"/>
                                          </p:stCondLst>
                                        </p:cTn>
                                        <p:tgtEl>
                                          <p:spTgt spid="138"/>
                                        </p:tgtEl>
                                        <p:attrNameLst>
                                          <p:attrName>style.visibility</p:attrName>
                                        </p:attrNameLst>
                                      </p:cBhvr>
                                      <p:to>
                                        <p:strVal val="visible"/>
                                      </p:to>
                                    </p:set>
                                    <p:animEffect transition="in" filter="fade">
                                      <p:cBhvr>
                                        <p:cTn id="35" dur="400"/>
                                        <p:tgtEl>
                                          <p:spTgt spid="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204260" y="247650"/>
            <a:ext cx="1530540" cy="206216"/>
            <a:chOff x="10204260" y="247650"/>
            <a:chExt cx="1530540" cy="206216"/>
          </a:xfrm>
        </p:grpSpPr>
        <p:sp>
          <p:nvSpPr>
            <p:cNvPr id="2" name="TextBox 2"/>
            <p:cNvSpPr txBox="1"/>
            <p:nvPr/>
          </p:nvSpPr>
          <p:spPr>
            <a:xfrm>
              <a:off x="10204260" y="291941"/>
              <a:ext cx="601853"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现状与张力</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5212080" cy="637794"/>
            <a:chOff x="448056" y="472440"/>
            <a:chExt cx="5212080" cy="637794"/>
          </a:xfrm>
        </p:grpSpPr>
        <p:sp>
          <p:nvSpPr>
            <p:cNvPr id="6" name="TextBox 6"/>
            <p:cNvSpPr txBox="1"/>
            <p:nvPr/>
          </p:nvSpPr>
          <p:spPr>
            <a:xfrm>
              <a:off x="448056" y="472440"/>
              <a:ext cx="5212080"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2025 年 400 万辆增量中,中国贡献一半,美国转负,</a:t>
              </a:r>
              <a:br/>
              <a:r>
                <a:rPr lang="zh-CN" sz="1800" b="1" dirty="0">
                  <a:solidFill>
                    <a:schemeClr val="accent1"/>
                  </a:solidFill>
                  <a:latin typeface="+mn-lt"/>
                  <a:ea typeface="+mn-ea"/>
                  <a:cs typeface="+mn-cs"/>
                </a:rPr>
                <a:t>中美欧之外的市场增量首次超过欧洲</a:t>
              </a:r>
            </a:p>
          </p:txBody>
        </p:sp>
      </p:grpSp>
      <p:grpSp>
        <p:nvGrpSpPr>
          <p:cNvPr id="9" name="unit-line"/>
          <p:cNvGrpSpPr/>
          <p:nvPr/>
        </p:nvGrpSpPr>
        <p:grpSpPr>
          <a:xfrm>
            <a:off x="452438" y="1160145"/>
            <a:ext cx="4184447" cy="176212"/>
            <a:chOff x="452438" y="1160145"/>
            <a:chExt cx="4184447" cy="176212"/>
          </a:xfrm>
        </p:grpSpPr>
        <p:sp>
          <p:nvSpPr>
            <p:cNvPr id="8" name="TextBox 8"/>
            <p:cNvSpPr txBox="1"/>
            <p:nvPr/>
          </p:nvSpPr>
          <p:spPr>
            <a:xfrm>
              <a:off x="452438" y="1160145"/>
              <a:ext cx="4184447"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A:全球电动车销量按地区,百万辆,2020–2025;B:2025 年增量按地区,百万辆</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1538541" cy="349091"/>
            <a:chOff x="452438" y="1552575"/>
            <a:chExt cx="1538541"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329182"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全球电动车销量按地区</a:t>
              </a:r>
            </a:p>
          </p:txBody>
        </p:sp>
        <p:sp>
          <p:nvSpPr>
            <p:cNvPr id="14" name="TextBox 14"/>
            <p:cNvSpPr txBox="1"/>
            <p:nvPr/>
          </p:nvSpPr>
          <p:spPr>
            <a:xfrm>
              <a:off x="452438" y="1739741"/>
              <a:ext cx="117412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百万辆;柱顶为当年合计</a:t>
              </a:r>
            </a:p>
          </p:txBody>
        </p:sp>
      </p:grpSp>
      <p:grpSp>
        <p:nvGrpSpPr>
          <p:cNvPr id="62" name="regional-mix"/>
          <p:cNvGrpSpPr/>
          <p:nvPr/>
        </p:nvGrpSpPr>
        <p:grpSpPr>
          <a:xfrm>
            <a:off x="533400" y="2387441"/>
            <a:ext cx="3695700" cy="2114550"/>
            <a:chOff x="533400" y="2387441"/>
            <a:chExt cx="3695700" cy="2114550"/>
          </a:xfrm>
        </p:grpSpPr>
        <p:grpSp>
          <p:nvGrpSpPr>
            <p:cNvPr id="61" name="regional-mix-chartArea"/>
            <p:cNvGrpSpPr/>
            <p:nvPr/>
          </p:nvGrpSpPr>
          <p:grpSpPr>
            <a:xfrm>
              <a:off x="533400" y="2387441"/>
              <a:ext cx="3695700" cy="2114550"/>
              <a:chOff x="533400" y="2387441"/>
              <a:chExt cx="3695700" cy="2114550"/>
            </a:xfrm>
          </p:grpSpPr>
          <p:sp>
            <p:nvSpPr>
              <p:cNvPr id="16" name="Line 16"/>
              <p:cNvSpPr/>
              <p:nvPr/>
            </p:nvSpPr>
            <p:spPr>
              <a:xfrm>
                <a:off x="533400" y="4133850"/>
                <a:ext cx="3695700" cy="9525"/>
              </a:xfrm>
              <a:custGeom>
                <a:avLst/>
                <a:gdLst/>
                <a:ahLst/>
                <a:cxnLst/>
                <a:rect l="l" t="t" r="r" b="b"/>
                <a:pathLst>
                  <a:path w="3695700" h="9525">
                    <a:moveTo>
                      <a:pt x="0" y="0"/>
                    </a:moveTo>
                    <a:lnTo>
                      <a:pt x="3695700" y="0"/>
                    </a:lnTo>
                  </a:path>
                </a:pathLst>
              </a:custGeom>
              <a:noFill/>
              <a:ln w="7144">
                <a:solidFill>
                  <a:schemeClr val="accent6"/>
                </a:solidFill>
              </a:ln>
            </p:spPr>
          </p:sp>
          <p:sp>
            <p:nvSpPr>
              <p:cNvPr id="17" name="Rectangle 17"/>
              <p:cNvSpPr/>
              <p:nvPr/>
            </p:nvSpPr>
            <p:spPr>
              <a:xfrm>
                <a:off x="669893" y="4050030"/>
                <a:ext cx="342900" cy="83820"/>
              </a:xfrm>
              <a:prstGeom prst="rect">
                <a:avLst/>
              </a:prstGeom>
              <a:solidFill>
                <a:schemeClr val="accent1"/>
              </a:solidFill>
              <a:ln>
                <a:noFill/>
              </a:ln>
            </p:spPr>
          </p:sp>
          <p:sp>
            <p:nvSpPr>
              <p:cNvPr id="18" name="Rectangle 18"/>
              <p:cNvSpPr/>
              <p:nvPr/>
            </p:nvSpPr>
            <p:spPr>
              <a:xfrm>
                <a:off x="669893" y="3943350"/>
                <a:ext cx="342900" cy="106680"/>
              </a:xfrm>
              <a:prstGeom prst="rect">
                <a:avLst/>
              </a:prstGeom>
              <a:solidFill>
                <a:schemeClr val="accent3"/>
              </a:solidFill>
              <a:ln>
                <a:noFill/>
              </a:ln>
            </p:spPr>
          </p:sp>
          <p:sp>
            <p:nvSpPr>
              <p:cNvPr id="19" name="Rectangle 19"/>
              <p:cNvSpPr/>
              <p:nvPr/>
            </p:nvSpPr>
            <p:spPr>
              <a:xfrm>
                <a:off x="669893" y="3920490"/>
                <a:ext cx="342900" cy="22860"/>
              </a:xfrm>
              <a:prstGeom prst="rect">
                <a:avLst/>
              </a:prstGeom>
              <a:solidFill>
                <a:schemeClr val="accent6"/>
              </a:solidFill>
              <a:ln>
                <a:noFill/>
              </a:ln>
            </p:spPr>
          </p:sp>
          <p:sp>
            <p:nvSpPr>
              <p:cNvPr id="20" name="Rectangle 20"/>
              <p:cNvSpPr/>
              <p:nvPr/>
            </p:nvSpPr>
            <p:spPr>
              <a:xfrm>
                <a:off x="669893" y="3905250"/>
                <a:ext cx="342900" cy="15240"/>
              </a:xfrm>
              <a:prstGeom prst="rect">
                <a:avLst/>
              </a:prstGeom>
              <a:solidFill>
                <a:schemeClr val="accent2"/>
              </a:solidFill>
              <a:ln>
                <a:noFill/>
              </a:ln>
            </p:spPr>
          </p:sp>
          <p:sp>
            <p:nvSpPr>
              <p:cNvPr id="21" name="TextBox 21"/>
              <p:cNvSpPr txBox="1"/>
              <p:nvPr/>
            </p:nvSpPr>
            <p:spPr>
              <a:xfrm>
                <a:off x="759850" y="3759041"/>
                <a:ext cx="162987"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3.0</a:t>
                </a:r>
              </a:p>
            </p:txBody>
          </p:sp>
          <p:sp>
            <p:nvSpPr>
              <p:cNvPr id="22" name="TextBox 22"/>
              <p:cNvSpPr txBox="1"/>
              <p:nvPr/>
            </p:nvSpPr>
            <p:spPr>
              <a:xfrm>
                <a:off x="713785"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2020</a:t>
                </a:r>
              </a:p>
            </p:txBody>
          </p:sp>
          <p:sp>
            <p:nvSpPr>
              <p:cNvPr id="23" name="Rectangle 23"/>
              <p:cNvSpPr/>
              <p:nvPr/>
            </p:nvSpPr>
            <p:spPr>
              <a:xfrm>
                <a:off x="1285875" y="3882390"/>
                <a:ext cx="342900" cy="251460"/>
              </a:xfrm>
              <a:prstGeom prst="rect">
                <a:avLst/>
              </a:prstGeom>
              <a:solidFill>
                <a:schemeClr val="accent1"/>
              </a:solidFill>
              <a:ln>
                <a:noFill/>
              </a:ln>
            </p:spPr>
          </p:sp>
          <p:sp>
            <p:nvSpPr>
              <p:cNvPr id="24" name="Rectangle 24"/>
              <p:cNvSpPr/>
              <p:nvPr/>
            </p:nvSpPr>
            <p:spPr>
              <a:xfrm>
                <a:off x="1285875" y="3707130"/>
                <a:ext cx="342900" cy="175260"/>
              </a:xfrm>
              <a:prstGeom prst="rect">
                <a:avLst/>
              </a:prstGeom>
              <a:solidFill>
                <a:schemeClr val="accent3"/>
              </a:solidFill>
              <a:ln>
                <a:noFill/>
              </a:ln>
            </p:spPr>
          </p:sp>
          <p:sp>
            <p:nvSpPr>
              <p:cNvPr id="25" name="Rectangle 25"/>
              <p:cNvSpPr/>
              <p:nvPr/>
            </p:nvSpPr>
            <p:spPr>
              <a:xfrm>
                <a:off x="1285875" y="3659124"/>
                <a:ext cx="342900" cy="48006"/>
              </a:xfrm>
              <a:prstGeom prst="rect">
                <a:avLst/>
              </a:prstGeom>
              <a:solidFill>
                <a:schemeClr val="accent6"/>
              </a:solidFill>
              <a:ln>
                <a:noFill/>
              </a:ln>
            </p:spPr>
          </p:sp>
          <p:sp>
            <p:nvSpPr>
              <p:cNvPr id="26" name="Rectangle 26"/>
              <p:cNvSpPr/>
              <p:nvPr/>
            </p:nvSpPr>
            <p:spPr>
              <a:xfrm>
                <a:off x="1285875" y="3630930"/>
                <a:ext cx="342900" cy="28194"/>
              </a:xfrm>
              <a:prstGeom prst="rect">
                <a:avLst/>
              </a:prstGeom>
              <a:solidFill>
                <a:schemeClr val="accent2"/>
              </a:solidFill>
              <a:ln>
                <a:noFill/>
              </a:ln>
            </p:spPr>
          </p:sp>
          <p:sp>
            <p:nvSpPr>
              <p:cNvPr id="27" name="TextBox 27"/>
              <p:cNvSpPr txBox="1"/>
              <p:nvPr/>
            </p:nvSpPr>
            <p:spPr>
              <a:xfrm>
                <a:off x="1375832" y="3484721"/>
                <a:ext cx="162987"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6.6</a:t>
                </a:r>
              </a:p>
            </p:txBody>
          </p:sp>
          <p:sp>
            <p:nvSpPr>
              <p:cNvPr id="28" name="TextBox 28"/>
              <p:cNvSpPr txBox="1"/>
              <p:nvPr/>
            </p:nvSpPr>
            <p:spPr>
              <a:xfrm>
                <a:off x="1329766"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2021</a:t>
                </a:r>
              </a:p>
            </p:txBody>
          </p:sp>
          <p:sp>
            <p:nvSpPr>
              <p:cNvPr id="29" name="Rectangle 29"/>
              <p:cNvSpPr/>
              <p:nvPr/>
            </p:nvSpPr>
            <p:spPr>
              <a:xfrm>
                <a:off x="1901857" y="3676650"/>
                <a:ext cx="342900" cy="457200"/>
              </a:xfrm>
              <a:prstGeom prst="rect">
                <a:avLst/>
              </a:prstGeom>
              <a:solidFill>
                <a:schemeClr val="accent1"/>
              </a:solidFill>
              <a:ln>
                <a:noFill/>
              </a:ln>
            </p:spPr>
          </p:sp>
          <p:sp>
            <p:nvSpPr>
              <p:cNvPr id="30" name="Rectangle 30"/>
              <p:cNvSpPr/>
              <p:nvPr/>
            </p:nvSpPr>
            <p:spPr>
              <a:xfrm>
                <a:off x="1901857" y="3470910"/>
                <a:ext cx="342900" cy="205740"/>
              </a:xfrm>
              <a:prstGeom prst="rect">
                <a:avLst/>
              </a:prstGeom>
              <a:solidFill>
                <a:schemeClr val="accent3"/>
              </a:solidFill>
              <a:ln>
                <a:noFill/>
              </a:ln>
            </p:spPr>
          </p:sp>
          <p:sp>
            <p:nvSpPr>
              <p:cNvPr id="31" name="Rectangle 31"/>
              <p:cNvSpPr/>
              <p:nvPr/>
            </p:nvSpPr>
            <p:spPr>
              <a:xfrm>
                <a:off x="1901857" y="3395472"/>
                <a:ext cx="342900" cy="75438"/>
              </a:xfrm>
              <a:prstGeom prst="rect">
                <a:avLst/>
              </a:prstGeom>
              <a:solidFill>
                <a:schemeClr val="accent6"/>
              </a:solidFill>
              <a:ln>
                <a:noFill/>
              </a:ln>
            </p:spPr>
          </p:sp>
          <p:sp>
            <p:nvSpPr>
              <p:cNvPr id="32" name="Rectangle 32"/>
              <p:cNvSpPr/>
              <p:nvPr/>
            </p:nvSpPr>
            <p:spPr>
              <a:xfrm>
                <a:off x="1901857" y="3371850"/>
                <a:ext cx="342900" cy="23622"/>
              </a:xfrm>
              <a:prstGeom prst="rect">
                <a:avLst/>
              </a:prstGeom>
              <a:solidFill>
                <a:schemeClr val="accent2"/>
              </a:solidFill>
              <a:ln>
                <a:noFill/>
              </a:ln>
            </p:spPr>
          </p:sp>
          <p:sp>
            <p:nvSpPr>
              <p:cNvPr id="33" name="TextBox 33"/>
              <p:cNvSpPr txBox="1"/>
              <p:nvPr/>
            </p:nvSpPr>
            <p:spPr>
              <a:xfrm>
                <a:off x="1961114" y="3225641"/>
                <a:ext cx="224385"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10.0</a:t>
                </a:r>
              </a:p>
            </p:txBody>
          </p:sp>
          <p:sp>
            <p:nvSpPr>
              <p:cNvPr id="34" name="TextBox 34"/>
              <p:cNvSpPr txBox="1"/>
              <p:nvPr/>
            </p:nvSpPr>
            <p:spPr>
              <a:xfrm>
                <a:off x="1945748"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2022</a:t>
                </a:r>
              </a:p>
            </p:txBody>
          </p:sp>
          <p:sp>
            <p:nvSpPr>
              <p:cNvPr id="35" name="Rectangle 35"/>
              <p:cNvSpPr/>
              <p:nvPr/>
            </p:nvSpPr>
            <p:spPr>
              <a:xfrm>
                <a:off x="2517743" y="3516630"/>
                <a:ext cx="342900" cy="617220"/>
              </a:xfrm>
              <a:prstGeom prst="rect">
                <a:avLst/>
              </a:prstGeom>
              <a:solidFill>
                <a:schemeClr val="accent1"/>
              </a:solidFill>
              <a:ln>
                <a:noFill/>
              </a:ln>
            </p:spPr>
          </p:sp>
          <p:sp>
            <p:nvSpPr>
              <p:cNvPr id="36" name="Rectangle 36"/>
              <p:cNvSpPr/>
              <p:nvPr/>
            </p:nvSpPr>
            <p:spPr>
              <a:xfrm>
                <a:off x="2517743" y="3272790"/>
                <a:ext cx="342900" cy="243840"/>
              </a:xfrm>
              <a:prstGeom prst="rect">
                <a:avLst/>
              </a:prstGeom>
              <a:solidFill>
                <a:schemeClr val="accent3"/>
              </a:solidFill>
              <a:ln>
                <a:noFill/>
              </a:ln>
            </p:spPr>
          </p:sp>
          <p:sp>
            <p:nvSpPr>
              <p:cNvPr id="37" name="Rectangle 37"/>
              <p:cNvSpPr/>
              <p:nvPr/>
            </p:nvSpPr>
            <p:spPr>
              <a:xfrm>
                <a:off x="2517743" y="3166110"/>
                <a:ext cx="342900" cy="106680"/>
              </a:xfrm>
              <a:prstGeom prst="rect">
                <a:avLst/>
              </a:prstGeom>
              <a:solidFill>
                <a:schemeClr val="accent6"/>
              </a:solidFill>
              <a:ln>
                <a:noFill/>
              </a:ln>
            </p:spPr>
          </p:sp>
          <p:sp>
            <p:nvSpPr>
              <p:cNvPr id="38" name="Rectangle 38"/>
              <p:cNvSpPr/>
              <p:nvPr/>
            </p:nvSpPr>
            <p:spPr>
              <a:xfrm>
                <a:off x="2517743" y="3067050"/>
                <a:ext cx="342900" cy="99060"/>
              </a:xfrm>
              <a:prstGeom prst="rect">
                <a:avLst/>
              </a:prstGeom>
              <a:solidFill>
                <a:schemeClr val="accent2"/>
              </a:solidFill>
              <a:ln>
                <a:noFill/>
              </a:ln>
            </p:spPr>
          </p:sp>
          <p:sp>
            <p:nvSpPr>
              <p:cNvPr id="39" name="TextBox 39"/>
              <p:cNvSpPr txBox="1"/>
              <p:nvPr/>
            </p:nvSpPr>
            <p:spPr>
              <a:xfrm>
                <a:off x="2577001" y="2920841"/>
                <a:ext cx="224385"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14.0</a:t>
                </a:r>
              </a:p>
            </p:txBody>
          </p:sp>
          <p:sp>
            <p:nvSpPr>
              <p:cNvPr id="40" name="TextBox 40"/>
              <p:cNvSpPr txBox="1"/>
              <p:nvPr/>
            </p:nvSpPr>
            <p:spPr>
              <a:xfrm>
                <a:off x="2561635"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2023</a:t>
                </a:r>
              </a:p>
            </p:txBody>
          </p:sp>
          <p:sp>
            <p:nvSpPr>
              <p:cNvPr id="41" name="Rectangle 41"/>
              <p:cNvSpPr/>
              <p:nvPr/>
            </p:nvSpPr>
            <p:spPr>
              <a:xfrm>
                <a:off x="3133725" y="3295650"/>
                <a:ext cx="342900" cy="838200"/>
              </a:xfrm>
              <a:prstGeom prst="rect">
                <a:avLst/>
              </a:prstGeom>
              <a:solidFill>
                <a:schemeClr val="accent1"/>
              </a:solidFill>
              <a:ln>
                <a:noFill/>
              </a:ln>
            </p:spPr>
          </p:sp>
          <p:sp>
            <p:nvSpPr>
              <p:cNvPr id="42" name="Rectangle 42"/>
              <p:cNvSpPr/>
              <p:nvPr/>
            </p:nvSpPr>
            <p:spPr>
              <a:xfrm>
                <a:off x="3133725" y="3051810"/>
                <a:ext cx="342900" cy="243840"/>
              </a:xfrm>
              <a:prstGeom prst="rect">
                <a:avLst/>
              </a:prstGeom>
              <a:solidFill>
                <a:schemeClr val="accent3"/>
              </a:solidFill>
              <a:ln>
                <a:noFill/>
              </a:ln>
            </p:spPr>
          </p:sp>
          <p:sp>
            <p:nvSpPr>
              <p:cNvPr id="43" name="Rectangle 43"/>
              <p:cNvSpPr/>
              <p:nvPr/>
            </p:nvSpPr>
            <p:spPr>
              <a:xfrm>
                <a:off x="3133725" y="2929890"/>
                <a:ext cx="342900" cy="121920"/>
              </a:xfrm>
              <a:prstGeom prst="rect">
                <a:avLst/>
              </a:prstGeom>
              <a:solidFill>
                <a:schemeClr val="accent6"/>
              </a:solidFill>
              <a:ln>
                <a:noFill/>
              </a:ln>
            </p:spPr>
          </p:sp>
          <p:sp>
            <p:nvSpPr>
              <p:cNvPr id="44" name="Rectangle 44"/>
              <p:cNvSpPr/>
              <p:nvPr/>
            </p:nvSpPr>
            <p:spPr>
              <a:xfrm>
                <a:off x="3133725" y="2838450"/>
                <a:ext cx="342900" cy="91440"/>
              </a:xfrm>
              <a:prstGeom prst="rect">
                <a:avLst/>
              </a:prstGeom>
              <a:solidFill>
                <a:schemeClr val="accent2"/>
              </a:solidFill>
              <a:ln>
                <a:noFill/>
              </a:ln>
            </p:spPr>
          </p:sp>
          <p:sp>
            <p:nvSpPr>
              <p:cNvPr id="45" name="TextBox 45"/>
              <p:cNvSpPr txBox="1"/>
              <p:nvPr/>
            </p:nvSpPr>
            <p:spPr>
              <a:xfrm>
                <a:off x="3192983" y="2692241"/>
                <a:ext cx="224385"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17.0</a:t>
                </a:r>
              </a:p>
            </p:txBody>
          </p:sp>
          <p:sp>
            <p:nvSpPr>
              <p:cNvPr id="46" name="TextBox 46"/>
              <p:cNvSpPr txBox="1"/>
              <p:nvPr/>
            </p:nvSpPr>
            <p:spPr>
              <a:xfrm>
                <a:off x="3177616"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2024</a:t>
                </a:r>
              </a:p>
            </p:txBody>
          </p:sp>
          <p:sp>
            <p:nvSpPr>
              <p:cNvPr id="47" name="Rectangle 47"/>
              <p:cNvSpPr/>
              <p:nvPr/>
            </p:nvSpPr>
            <p:spPr>
              <a:xfrm>
                <a:off x="3749707" y="3143250"/>
                <a:ext cx="342900" cy="990600"/>
              </a:xfrm>
              <a:prstGeom prst="rect">
                <a:avLst/>
              </a:prstGeom>
              <a:solidFill>
                <a:schemeClr val="accent1"/>
              </a:solidFill>
              <a:ln>
                <a:noFill/>
              </a:ln>
            </p:spPr>
          </p:sp>
          <p:sp>
            <p:nvSpPr>
              <p:cNvPr id="48" name="Rectangle 48"/>
              <p:cNvSpPr/>
              <p:nvPr/>
            </p:nvSpPr>
            <p:spPr>
              <a:xfrm>
                <a:off x="3749707" y="2823210"/>
                <a:ext cx="342900" cy="320040"/>
              </a:xfrm>
              <a:prstGeom prst="rect">
                <a:avLst/>
              </a:prstGeom>
              <a:solidFill>
                <a:schemeClr val="accent3"/>
              </a:solidFill>
              <a:ln>
                <a:noFill/>
              </a:ln>
            </p:spPr>
          </p:sp>
          <p:sp>
            <p:nvSpPr>
              <p:cNvPr id="49" name="Rectangle 49"/>
              <p:cNvSpPr/>
              <p:nvPr/>
            </p:nvSpPr>
            <p:spPr>
              <a:xfrm>
                <a:off x="3749707" y="2708910"/>
                <a:ext cx="342900" cy="114300"/>
              </a:xfrm>
              <a:prstGeom prst="rect">
                <a:avLst/>
              </a:prstGeom>
              <a:solidFill>
                <a:schemeClr val="accent6"/>
              </a:solidFill>
              <a:ln>
                <a:noFill/>
              </a:ln>
            </p:spPr>
          </p:sp>
          <p:sp>
            <p:nvSpPr>
              <p:cNvPr id="50" name="Rectangle 50"/>
              <p:cNvSpPr/>
              <p:nvPr/>
            </p:nvSpPr>
            <p:spPr>
              <a:xfrm>
                <a:off x="3749707" y="2533650"/>
                <a:ext cx="342900" cy="175260"/>
              </a:xfrm>
              <a:prstGeom prst="rect">
                <a:avLst/>
              </a:prstGeom>
              <a:solidFill>
                <a:schemeClr val="accent2"/>
              </a:solidFill>
              <a:ln>
                <a:noFill/>
              </a:ln>
            </p:spPr>
          </p:sp>
          <p:sp>
            <p:nvSpPr>
              <p:cNvPr id="51" name="TextBox 51"/>
              <p:cNvSpPr txBox="1"/>
              <p:nvPr/>
            </p:nvSpPr>
            <p:spPr>
              <a:xfrm>
                <a:off x="3808964" y="2387441"/>
                <a:ext cx="224385"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21.0</a:t>
                </a:r>
              </a:p>
            </p:txBody>
          </p:sp>
          <p:sp>
            <p:nvSpPr>
              <p:cNvPr id="52" name="TextBox 52"/>
              <p:cNvSpPr txBox="1"/>
              <p:nvPr/>
            </p:nvSpPr>
            <p:spPr>
              <a:xfrm>
                <a:off x="3793598"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2025</a:t>
                </a:r>
              </a:p>
            </p:txBody>
          </p:sp>
          <p:sp>
            <p:nvSpPr>
              <p:cNvPr id="53" name="Rectangle 53"/>
              <p:cNvSpPr/>
              <p:nvPr/>
            </p:nvSpPr>
            <p:spPr>
              <a:xfrm>
                <a:off x="533400" y="4343400"/>
                <a:ext cx="95250" cy="95250"/>
              </a:xfrm>
              <a:prstGeom prst="rect">
                <a:avLst/>
              </a:prstGeom>
              <a:solidFill>
                <a:schemeClr val="accent1"/>
              </a:solidFill>
              <a:ln>
                <a:noFill/>
              </a:ln>
            </p:spPr>
          </p:sp>
          <p:sp>
            <p:nvSpPr>
              <p:cNvPr id="54" name="TextBox 54"/>
              <p:cNvSpPr txBox="1"/>
              <p:nvPr/>
            </p:nvSpPr>
            <p:spPr>
              <a:xfrm>
                <a:off x="661988" y="4340066"/>
                <a:ext cx="230302"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中国</a:t>
                </a:r>
              </a:p>
            </p:txBody>
          </p:sp>
          <p:sp>
            <p:nvSpPr>
              <p:cNvPr id="55" name="Rectangle 55"/>
              <p:cNvSpPr/>
              <p:nvPr/>
            </p:nvSpPr>
            <p:spPr>
              <a:xfrm>
                <a:off x="1104900" y="4343400"/>
                <a:ext cx="95250" cy="95250"/>
              </a:xfrm>
              <a:prstGeom prst="rect">
                <a:avLst/>
              </a:prstGeom>
              <a:solidFill>
                <a:schemeClr val="accent3"/>
              </a:solidFill>
              <a:ln>
                <a:noFill/>
              </a:ln>
            </p:spPr>
          </p:sp>
          <p:sp>
            <p:nvSpPr>
              <p:cNvPr id="56" name="TextBox 56"/>
              <p:cNvSpPr txBox="1"/>
              <p:nvPr/>
            </p:nvSpPr>
            <p:spPr>
              <a:xfrm>
                <a:off x="1233488" y="4340066"/>
                <a:ext cx="230302"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欧洲</a:t>
                </a:r>
              </a:p>
            </p:txBody>
          </p:sp>
          <p:sp>
            <p:nvSpPr>
              <p:cNvPr id="57" name="Rectangle 57"/>
              <p:cNvSpPr/>
              <p:nvPr/>
            </p:nvSpPr>
            <p:spPr>
              <a:xfrm>
                <a:off x="1676400" y="4343400"/>
                <a:ext cx="95250" cy="95250"/>
              </a:xfrm>
              <a:prstGeom prst="rect">
                <a:avLst/>
              </a:prstGeom>
              <a:solidFill>
                <a:schemeClr val="accent6"/>
              </a:solidFill>
              <a:ln>
                <a:noFill/>
              </a:ln>
            </p:spPr>
          </p:sp>
          <p:sp>
            <p:nvSpPr>
              <p:cNvPr id="58" name="TextBox 58"/>
              <p:cNvSpPr txBox="1"/>
              <p:nvPr/>
            </p:nvSpPr>
            <p:spPr>
              <a:xfrm>
                <a:off x="1804988" y="4340066"/>
                <a:ext cx="230302"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美国</a:t>
                </a:r>
              </a:p>
            </p:txBody>
          </p:sp>
          <p:sp>
            <p:nvSpPr>
              <p:cNvPr id="59" name="Rectangle 59"/>
              <p:cNvSpPr/>
              <p:nvPr/>
            </p:nvSpPr>
            <p:spPr>
              <a:xfrm>
                <a:off x="2247900" y="4343400"/>
                <a:ext cx="95250" cy="95250"/>
              </a:xfrm>
              <a:prstGeom prst="rect">
                <a:avLst/>
              </a:prstGeom>
              <a:solidFill>
                <a:schemeClr val="accent2"/>
              </a:solidFill>
              <a:ln>
                <a:noFill/>
              </a:ln>
            </p:spPr>
          </p:sp>
          <p:sp>
            <p:nvSpPr>
              <p:cNvPr id="60" name="TextBox 60"/>
              <p:cNvSpPr txBox="1"/>
              <p:nvPr/>
            </p:nvSpPr>
            <p:spPr>
              <a:xfrm>
                <a:off x="2376488" y="4340066"/>
                <a:ext cx="451079"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其他市场</a:t>
                </a:r>
              </a:p>
            </p:txBody>
          </p:sp>
        </p:grpSp>
      </p:grpSp>
      <p:grpSp>
        <p:nvGrpSpPr>
          <p:cNvPr id="73" name="growth-multiples"/>
          <p:cNvGrpSpPr/>
          <p:nvPr/>
        </p:nvGrpSpPr>
        <p:grpSpPr>
          <a:xfrm>
            <a:off x="448818" y="4673441"/>
            <a:ext cx="3856482" cy="619125"/>
            <a:chOff x="448818" y="4673441"/>
            <a:chExt cx="3856482" cy="619125"/>
          </a:xfrm>
        </p:grpSpPr>
        <p:sp>
          <p:nvSpPr>
            <p:cNvPr id="63" name="TextBox 63"/>
            <p:cNvSpPr txBox="1"/>
            <p:nvPr/>
          </p:nvSpPr>
          <p:spPr>
            <a:xfrm>
              <a:off x="452438" y="4673441"/>
              <a:ext cx="1877160"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2020→2025 销量倍数(百万辆)</a:t>
              </a:r>
            </a:p>
          </p:txBody>
        </p:sp>
        <p:sp>
          <p:nvSpPr>
            <p:cNvPr id="64" name="Line 64"/>
            <p:cNvSpPr/>
            <p:nvPr/>
          </p:nvSpPr>
          <p:spPr>
            <a:xfrm>
              <a:off x="457200" y="4838700"/>
              <a:ext cx="3848100" cy="9525"/>
            </a:xfrm>
            <a:custGeom>
              <a:avLst/>
              <a:gdLst/>
              <a:ahLst/>
              <a:cxnLst/>
              <a:rect l="l" t="t" r="r" b="b"/>
              <a:pathLst>
                <a:path w="3848100" h="9525">
                  <a:moveTo>
                    <a:pt x="0" y="0"/>
                  </a:moveTo>
                  <a:lnTo>
                    <a:pt x="3848100" y="0"/>
                  </a:lnTo>
                </a:path>
              </a:pathLst>
            </a:custGeom>
            <a:noFill/>
            <a:ln w="7144">
              <a:solidFill>
                <a:schemeClr val="accent1"/>
              </a:solidFill>
            </a:ln>
          </p:spPr>
        </p:sp>
        <p:sp>
          <p:nvSpPr>
            <p:cNvPr id="65" name="TextBox 65"/>
            <p:cNvSpPr txBox="1"/>
            <p:nvPr/>
          </p:nvSpPr>
          <p:spPr>
            <a:xfrm>
              <a:off x="448818" y="4889182"/>
              <a:ext cx="57882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11.8×</a:t>
              </a:r>
            </a:p>
          </p:txBody>
        </p:sp>
        <p:sp>
          <p:nvSpPr>
            <p:cNvPr id="66" name="TextBox 66"/>
            <p:cNvSpPr txBox="1"/>
            <p:nvPr/>
          </p:nvSpPr>
          <p:spPr>
            <a:xfrm>
              <a:off x="452438" y="5130641"/>
              <a:ext cx="74912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中国 1.1→13.0</a:t>
              </a:r>
            </a:p>
          </p:txBody>
        </p:sp>
        <p:sp>
          <p:nvSpPr>
            <p:cNvPr id="67" name="TextBox 67"/>
            <p:cNvSpPr txBox="1"/>
            <p:nvPr/>
          </p:nvSpPr>
          <p:spPr>
            <a:xfrm>
              <a:off x="1410843" y="4889182"/>
              <a:ext cx="45527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3.0×</a:t>
              </a:r>
            </a:p>
          </p:txBody>
        </p:sp>
        <p:sp>
          <p:nvSpPr>
            <p:cNvPr id="68" name="TextBox 68"/>
            <p:cNvSpPr txBox="1"/>
            <p:nvPr/>
          </p:nvSpPr>
          <p:spPr>
            <a:xfrm>
              <a:off x="1414462" y="5130641"/>
              <a:ext cx="688414"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欧洲 1.4→4.2</a:t>
              </a:r>
            </a:p>
          </p:txBody>
        </p:sp>
        <p:sp>
          <p:nvSpPr>
            <p:cNvPr id="69" name="TextBox 69"/>
            <p:cNvSpPr txBox="1"/>
            <p:nvPr/>
          </p:nvSpPr>
          <p:spPr>
            <a:xfrm>
              <a:off x="2372868" y="4889182"/>
              <a:ext cx="45527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5.0×</a:t>
              </a:r>
            </a:p>
          </p:txBody>
        </p:sp>
        <p:sp>
          <p:nvSpPr>
            <p:cNvPr id="70" name="TextBox 70"/>
            <p:cNvSpPr txBox="1"/>
            <p:nvPr/>
          </p:nvSpPr>
          <p:spPr>
            <a:xfrm>
              <a:off x="2376488" y="5130641"/>
              <a:ext cx="688414"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美国 0.3→1.5</a:t>
              </a:r>
            </a:p>
          </p:txBody>
        </p:sp>
        <p:sp>
          <p:nvSpPr>
            <p:cNvPr id="71" name="TextBox 71"/>
            <p:cNvSpPr txBox="1"/>
            <p:nvPr/>
          </p:nvSpPr>
          <p:spPr>
            <a:xfrm>
              <a:off x="3334893" y="4889182"/>
              <a:ext cx="57882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Arial"/>
                  <a:ea typeface="Arial"/>
                  <a:cs typeface="Arial"/>
                </a:rPr>
                <a:t>11.5×</a:t>
              </a:r>
            </a:p>
          </p:txBody>
        </p:sp>
        <p:sp>
          <p:nvSpPr>
            <p:cNvPr id="72" name="TextBox 72"/>
            <p:cNvSpPr txBox="1"/>
            <p:nvPr/>
          </p:nvSpPr>
          <p:spPr>
            <a:xfrm>
              <a:off x="3338512" y="5130641"/>
              <a:ext cx="688414"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其他 0.2→2.3</a:t>
              </a:r>
            </a:p>
          </p:txBody>
        </p:sp>
      </p:grpSp>
      <p:grpSp>
        <p:nvGrpSpPr>
          <p:cNvPr id="75" name="mix-note"/>
          <p:cNvGrpSpPr/>
          <p:nvPr/>
        </p:nvGrpSpPr>
        <p:grpSpPr>
          <a:xfrm>
            <a:off x="452438" y="5530691"/>
            <a:ext cx="2618232" cy="466725"/>
            <a:chOff x="452438" y="5530691"/>
            <a:chExt cx="2618232" cy="466725"/>
          </a:xfrm>
        </p:grpSpPr>
        <p:sp>
          <p:nvSpPr>
            <p:cNvPr id="74" name="TextBox 74"/>
            <p:cNvSpPr txBox="1"/>
            <p:nvPr/>
          </p:nvSpPr>
          <p:spPr>
            <a:xfrm>
              <a:off x="452438" y="5530691"/>
              <a:ext cx="2618232" cy="466725"/>
            </a:xfrm>
            <a:prstGeom prst="rect">
              <a:avLst/>
            </a:prstGeom>
            <a:noFill/>
            <a:ln>
              <a:noFill/>
            </a:ln>
          </p:spPr>
          <p:txBody>
            <a:bodyPr wrap="none" lIns="0" tIns="0" rIns="0" bIns="0" anchor="t" anchorCtr="0">
              <a:spAutoFit/>
            </a:bodyPr>
            <a:lstStyle/>
            <a:p>
              <a:pPr algn="l">
                <a:lnSpc>
                  <a:spcPts val="1200"/>
                </a:lnSpc>
              </a:pPr>
              <a:r>
                <a:rPr lang="zh-CN" sz="820" dirty="0">
                  <a:solidFill>
                    <a:schemeClr val="accent5"/>
                  </a:solidFill>
                  <a:latin typeface="+mn-lt"/>
                  <a:ea typeface="+mn-ea"/>
                  <a:cs typeface="+mn-cs"/>
                </a:rPr>
                <a:t>中国倍数最高但份额已从 2024 年 65% 回落到 62%;</a:t>
              </a:r>
              <a:br/>
              <a:r>
                <a:rPr lang="zh-CN" sz="820" dirty="0">
                  <a:solidFill>
                    <a:schemeClr val="accent5"/>
                  </a:solidFill>
                  <a:latin typeface="+mn-lt"/>
                  <a:ea typeface="+mn-ea"/>
                  <a:cs typeface="+mn-cs"/>
                </a:rPr>
                <a:t>其他市场倍数与中国相当,且 2025 年增量占比升到 28%,</a:t>
              </a:r>
              <a:br/>
              <a:r>
                <a:rPr lang="zh-CN" sz="820" dirty="0">
                  <a:solidFill>
                    <a:schemeClr val="accent5"/>
                  </a:solidFill>
                  <a:latin typeface="+mn-lt"/>
                  <a:ea typeface="+mn-ea"/>
                  <a:cs typeface="+mn-cs"/>
                </a:rPr>
                <a:t>是唯一"倍数高、份额低、增量占比上升"的分区。</a:t>
              </a:r>
            </a:p>
          </p:txBody>
        </p:sp>
      </p:grpSp>
      <p:grpSp>
        <p:nvGrpSpPr>
          <p:cNvPr id="80" name="exhibit-b-head"/>
          <p:cNvGrpSpPr/>
          <p:nvPr/>
        </p:nvGrpSpPr>
        <p:grpSpPr>
          <a:xfrm>
            <a:off x="4529138" y="1552575"/>
            <a:ext cx="1620996" cy="349091"/>
            <a:chOff x="4529138" y="1552575"/>
            <a:chExt cx="1620996" cy="349091"/>
          </a:xfrm>
        </p:grpSpPr>
        <p:sp>
          <p:nvSpPr>
            <p:cNvPr id="76" name="Ellipse 76"/>
            <p:cNvSpPr/>
            <p:nvPr/>
          </p:nvSpPr>
          <p:spPr>
            <a:xfrm>
              <a:off x="4533900" y="1552575"/>
              <a:ext cx="152400" cy="152400"/>
            </a:xfrm>
            <a:prstGeom prst="ellipse">
              <a:avLst/>
            </a:prstGeom>
            <a:solidFill>
              <a:schemeClr val="accent1"/>
            </a:solidFill>
            <a:ln>
              <a:noFill/>
            </a:ln>
          </p:spPr>
        </p:sp>
        <p:sp>
          <p:nvSpPr>
            <p:cNvPr id="77" name="TextBox 77"/>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78" name="TextBox 78"/>
            <p:cNvSpPr txBox="1"/>
            <p:nvPr/>
          </p:nvSpPr>
          <p:spPr>
            <a:xfrm>
              <a:off x="4738497" y="1571149"/>
              <a:ext cx="1411637"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2025 年销量增量按地区</a:t>
              </a:r>
            </a:p>
          </p:txBody>
        </p:sp>
        <p:sp>
          <p:nvSpPr>
            <p:cNvPr id="79" name="TextBox 79"/>
            <p:cNvSpPr txBox="1"/>
            <p:nvPr/>
          </p:nvSpPr>
          <p:spPr>
            <a:xfrm>
              <a:off x="4529138" y="1739741"/>
              <a:ext cx="99198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百万辆,较 2024 年²</a:t>
              </a:r>
            </a:p>
          </p:txBody>
        </p:sp>
      </p:grpSp>
      <p:grpSp>
        <p:nvGrpSpPr>
          <p:cNvPr id="95" name="increment-2025"/>
          <p:cNvGrpSpPr/>
          <p:nvPr/>
        </p:nvGrpSpPr>
        <p:grpSpPr>
          <a:xfrm>
            <a:off x="4678134" y="2114550"/>
            <a:ext cx="2838153" cy="1847850"/>
            <a:chOff x="4678134" y="2114550"/>
            <a:chExt cx="2838153" cy="1847850"/>
          </a:xfrm>
        </p:grpSpPr>
        <p:grpSp>
          <p:nvGrpSpPr>
            <p:cNvPr id="94" name="increment-2025-chartArea"/>
            <p:cNvGrpSpPr/>
            <p:nvPr/>
          </p:nvGrpSpPr>
          <p:grpSpPr>
            <a:xfrm>
              <a:off x="4678134" y="2114550"/>
              <a:ext cx="2838153" cy="1847850"/>
              <a:chOff x="4678134" y="2114550"/>
              <a:chExt cx="2838153" cy="1847850"/>
            </a:xfrm>
          </p:grpSpPr>
          <p:sp>
            <p:nvSpPr>
              <p:cNvPr id="81" name="Line 81"/>
              <p:cNvSpPr/>
              <p:nvPr/>
            </p:nvSpPr>
            <p:spPr>
              <a:xfrm>
                <a:off x="5300662" y="2114550"/>
                <a:ext cx="9525" cy="1847850"/>
              </a:xfrm>
              <a:custGeom>
                <a:avLst/>
                <a:gdLst/>
                <a:ahLst/>
                <a:cxnLst/>
                <a:rect l="l" t="t" r="r" b="b"/>
                <a:pathLst>
                  <a:path w="9525" h="1847850">
                    <a:moveTo>
                      <a:pt x="0" y="0"/>
                    </a:moveTo>
                    <a:lnTo>
                      <a:pt x="0" y="1847850"/>
                    </a:lnTo>
                  </a:path>
                </a:pathLst>
              </a:custGeom>
              <a:noFill/>
              <a:ln w="7144">
                <a:solidFill>
                  <a:schemeClr val="accent6"/>
                </a:solidFill>
              </a:ln>
            </p:spPr>
          </p:sp>
          <p:sp>
            <p:nvSpPr>
              <p:cNvPr id="82" name="Rectangle 82"/>
              <p:cNvSpPr/>
              <p:nvPr/>
            </p:nvSpPr>
            <p:spPr>
              <a:xfrm>
                <a:off x="5300662" y="2240756"/>
                <a:ext cx="2000250" cy="209550"/>
              </a:xfrm>
              <a:prstGeom prst="rect">
                <a:avLst/>
              </a:prstGeom>
              <a:solidFill>
                <a:schemeClr val="accent1"/>
              </a:solidFill>
              <a:ln>
                <a:noFill/>
              </a:ln>
            </p:spPr>
          </p:sp>
          <p:sp>
            <p:nvSpPr>
              <p:cNvPr id="83" name="TextBox 83"/>
              <p:cNvSpPr txBox="1"/>
              <p:nvPr/>
            </p:nvSpPr>
            <p:spPr>
              <a:xfrm>
                <a:off x="7353300" y="2294572"/>
                <a:ext cx="162987"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2.0</a:t>
                </a:r>
              </a:p>
            </p:txBody>
          </p:sp>
          <p:sp>
            <p:nvSpPr>
              <p:cNvPr id="84" name="TextBox 84"/>
              <p:cNvSpPr txBox="1"/>
              <p:nvPr/>
            </p:nvSpPr>
            <p:spPr>
              <a:xfrm>
                <a:off x="4898911" y="2294572"/>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中国</a:t>
                </a:r>
              </a:p>
            </p:txBody>
          </p:sp>
          <p:sp>
            <p:nvSpPr>
              <p:cNvPr id="85" name="Rectangle 85"/>
              <p:cNvSpPr/>
              <p:nvPr/>
            </p:nvSpPr>
            <p:spPr>
              <a:xfrm>
                <a:off x="5300662" y="2702719"/>
                <a:ext cx="1100138" cy="209550"/>
              </a:xfrm>
              <a:prstGeom prst="rect">
                <a:avLst/>
              </a:prstGeom>
              <a:solidFill>
                <a:schemeClr val="accent2"/>
              </a:solidFill>
              <a:ln>
                <a:noFill/>
              </a:ln>
            </p:spPr>
          </p:sp>
          <p:sp>
            <p:nvSpPr>
              <p:cNvPr id="86" name="TextBox 86"/>
              <p:cNvSpPr txBox="1"/>
              <p:nvPr/>
            </p:nvSpPr>
            <p:spPr>
              <a:xfrm>
                <a:off x="6453188" y="2756535"/>
                <a:ext cx="162987"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1.1</a:t>
                </a:r>
              </a:p>
            </p:txBody>
          </p:sp>
          <p:sp>
            <p:nvSpPr>
              <p:cNvPr id="87" name="TextBox 87"/>
              <p:cNvSpPr txBox="1"/>
              <p:nvPr/>
            </p:nvSpPr>
            <p:spPr>
              <a:xfrm>
                <a:off x="4678134" y="2756535"/>
                <a:ext cx="451079"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其他市场</a:t>
                </a:r>
              </a:p>
            </p:txBody>
          </p:sp>
          <p:sp>
            <p:nvSpPr>
              <p:cNvPr id="88" name="Rectangle 88"/>
              <p:cNvSpPr/>
              <p:nvPr/>
            </p:nvSpPr>
            <p:spPr>
              <a:xfrm>
                <a:off x="5300662" y="3164681"/>
                <a:ext cx="1000125" cy="209550"/>
              </a:xfrm>
              <a:prstGeom prst="rect">
                <a:avLst/>
              </a:prstGeom>
              <a:solidFill>
                <a:schemeClr val="accent3"/>
              </a:solidFill>
              <a:ln>
                <a:noFill/>
              </a:ln>
            </p:spPr>
          </p:sp>
          <p:sp>
            <p:nvSpPr>
              <p:cNvPr id="89" name="TextBox 89"/>
              <p:cNvSpPr txBox="1"/>
              <p:nvPr/>
            </p:nvSpPr>
            <p:spPr>
              <a:xfrm>
                <a:off x="6353175" y="3218498"/>
                <a:ext cx="162987"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1.0</a:t>
                </a:r>
              </a:p>
            </p:txBody>
          </p:sp>
          <p:sp>
            <p:nvSpPr>
              <p:cNvPr id="90" name="TextBox 90"/>
              <p:cNvSpPr txBox="1"/>
              <p:nvPr/>
            </p:nvSpPr>
            <p:spPr>
              <a:xfrm>
                <a:off x="4898911" y="3218498"/>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欧洲</a:t>
                </a:r>
              </a:p>
            </p:txBody>
          </p:sp>
          <p:sp>
            <p:nvSpPr>
              <p:cNvPr id="91" name="Rectangle 91"/>
              <p:cNvSpPr/>
              <p:nvPr/>
            </p:nvSpPr>
            <p:spPr>
              <a:xfrm>
                <a:off x="5200650" y="3626644"/>
                <a:ext cx="100012" cy="209550"/>
              </a:xfrm>
              <a:prstGeom prst="rect">
                <a:avLst/>
              </a:prstGeom>
              <a:solidFill>
                <a:srgbClr val="B3261E"/>
              </a:solidFill>
              <a:ln>
                <a:noFill/>
              </a:ln>
            </p:spPr>
          </p:sp>
          <p:sp>
            <p:nvSpPr>
              <p:cNvPr id="92" name="TextBox 92"/>
              <p:cNvSpPr txBox="1"/>
              <p:nvPr/>
            </p:nvSpPr>
            <p:spPr>
              <a:xfrm>
                <a:off x="5353050" y="3680460"/>
                <a:ext cx="199746" cy="161925"/>
              </a:xfrm>
              <a:prstGeom prst="rect">
                <a:avLst/>
              </a:prstGeom>
              <a:noFill/>
              <a:ln>
                <a:noFill/>
              </a:ln>
            </p:spPr>
            <p:txBody>
              <a:bodyPr wrap="none" lIns="0" tIns="0" rIns="0" bIns="0" anchor="t" anchorCtr="0">
                <a:spAutoFit/>
              </a:bodyPr>
              <a:lstStyle/>
              <a:p>
                <a:pPr algn="l"/>
                <a:r>
                  <a:rPr lang="zh-CN" sz="820" b="1" dirty="0">
                    <a:solidFill>
                      <a:srgbClr val="B3261E"/>
                    </a:solidFill>
                    <a:latin typeface="Arial"/>
                    <a:ea typeface="Arial"/>
                    <a:cs typeface="Arial"/>
                  </a:rPr>
                  <a:t>-0.1</a:t>
                </a:r>
              </a:p>
            </p:txBody>
          </p:sp>
          <p:sp>
            <p:nvSpPr>
              <p:cNvPr id="93" name="TextBox 93"/>
              <p:cNvSpPr txBox="1"/>
              <p:nvPr/>
            </p:nvSpPr>
            <p:spPr>
              <a:xfrm>
                <a:off x="4898911" y="3680460"/>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美国</a:t>
                </a:r>
              </a:p>
            </p:txBody>
          </p:sp>
        </p:grpSp>
      </p:grpSp>
      <p:grpSp>
        <p:nvGrpSpPr>
          <p:cNvPr id="114" name="share-2025"/>
          <p:cNvGrpSpPr/>
          <p:nvPr/>
        </p:nvGrpSpPr>
        <p:grpSpPr>
          <a:xfrm>
            <a:off x="4528566" y="4295299"/>
            <a:ext cx="3929634" cy="1359312"/>
            <a:chOff x="4528566" y="4295299"/>
            <a:chExt cx="3929634" cy="1359312"/>
          </a:xfrm>
        </p:grpSpPr>
        <p:sp>
          <p:nvSpPr>
            <p:cNvPr id="96" name="TextBox 96"/>
            <p:cNvSpPr txBox="1"/>
            <p:nvPr/>
          </p:nvSpPr>
          <p:spPr>
            <a:xfrm>
              <a:off x="4528947" y="4295299"/>
              <a:ext cx="1779055"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2025 年销量占比 vs 增量占比</a:t>
              </a:r>
            </a:p>
          </p:txBody>
        </p:sp>
        <p:sp>
          <p:nvSpPr>
            <p:cNvPr id="97" name="Line 97"/>
            <p:cNvSpPr/>
            <p:nvPr/>
          </p:nvSpPr>
          <p:spPr>
            <a:xfrm>
              <a:off x="4533900" y="4495800"/>
              <a:ext cx="3924300" cy="9525"/>
            </a:xfrm>
            <a:custGeom>
              <a:avLst/>
              <a:gdLst/>
              <a:ahLst/>
              <a:cxnLst/>
              <a:rect l="l" t="t" r="r" b="b"/>
              <a:pathLst>
                <a:path w="3924300" h="9525">
                  <a:moveTo>
                    <a:pt x="0" y="0"/>
                  </a:moveTo>
                  <a:lnTo>
                    <a:pt x="3924300" y="0"/>
                  </a:lnTo>
                </a:path>
              </a:pathLst>
            </a:custGeom>
            <a:noFill/>
            <a:ln w="7144">
              <a:solidFill>
                <a:schemeClr val="accent1"/>
              </a:solidFill>
            </a:ln>
          </p:spPr>
        </p:sp>
        <p:sp>
          <p:nvSpPr>
            <p:cNvPr id="98" name="TextBox 98"/>
            <p:cNvSpPr txBox="1"/>
            <p:nvPr/>
          </p:nvSpPr>
          <p:spPr>
            <a:xfrm>
              <a:off x="4529138" y="4597241"/>
              <a:ext cx="23030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地区</a:t>
              </a:r>
            </a:p>
          </p:txBody>
        </p:sp>
        <p:sp>
          <p:nvSpPr>
            <p:cNvPr id="99" name="TextBox 99"/>
            <p:cNvSpPr txBox="1"/>
            <p:nvPr/>
          </p:nvSpPr>
          <p:spPr>
            <a:xfrm>
              <a:off x="6221184" y="4597241"/>
              <a:ext cx="451079" cy="161925"/>
            </a:xfrm>
            <a:prstGeom prst="rect">
              <a:avLst/>
            </a:prstGeom>
            <a:noFill/>
            <a:ln>
              <a:noFill/>
            </a:ln>
          </p:spPr>
          <p:txBody>
            <a:bodyPr wrap="none" lIns="0" tIns="0" rIns="0" bIns="0" anchor="t" anchorCtr="0">
              <a:spAutoFit/>
            </a:bodyPr>
            <a:lstStyle/>
            <a:p>
              <a:pPr algn="r"/>
              <a:r>
                <a:rPr lang="zh-CN" sz="820" dirty="0">
                  <a:solidFill>
                    <a:schemeClr val="accent5"/>
                  </a:solidFill>
                  <a:latin typeface="+mn-lt"/>
                  <a:ea typeface="+mn-ea"/>
                  <a:cs typeface="+mn-cs"/>
                </a:rPr>
                <a:t>存量占比</a:t>
              </a:r>
            </a:p>
          </p:txBody>
        </p:sp>
        <p:sp>
          <p:nvSpPr>
            <p:cNvPr id="100" name="TextBox 100"/>
            <p:cNvSpPr txBox="1"/>
            <p:nvPr/>
          </p:nvSpPr>
          <p:spPr>
            <a:xfrm>
              <a:off x="7935684" y="4597241"/>
              <a:ext cx="451079" cy="161925"/>
            </a:xfrm>
            <a:prstGeom prst="rect">
              <a:avLst/>
            </a:prstGeom>
            <a:noFill/>
            <a:ln>
              <a:noFill/>
            </a:ln>
          </p:spPr>
          <p:txBody>
            <a:bodyPr wrap="none" lIns="0" tIns="0" rIns="0" bIns="0" anchor="t" anchorCtr="0">
              <a:spAutoFit/>
            </a:bodyPr>
            <a:lstStyle/>
            <a:p>
              <a:pPr algn="r"/>
              <a:r>
                <a:rPr lang="zh-CN" sz="820" dirty="0">
                  <a:solidFill>
                    <a:schemeClr val="accent5"/>
                  </a:solidFill>
                  <a:latin typeface="+mn-lt"/>
                  <a:ea typeface="+mn-ea"/>
                  <a:cs typeface="+mn-cs"/>
                </a:rPr>
                <a:t>增量占比</a:t>
              </a:r>
            </a:p>
          </p:txBody>
        </p:sp>
        <p:sp>
          <p:nvSpPr>
            <p:cNvPr id="101" name="Line 101"/>
            <p:cNvSpPr/>
            <p:nvPr/>
          </p:nvSpPr>
          <p:spPr>
            <a:xfrm>
              <a:off x="4533900" y="4743450"/>
              <a:ext cx="3924300" cy="9525"/>
            </a:xfrm>
            <a:custGeom>
              <a:avLst/>
              <a:gdLst/>
              <a:ahLst/>
              <a:cxnLst/>
              <a:rect l="l" t="t" r="r" b="b"/>
              <a:pathLst>
                <a:path w="3924300" h="9525">
                  <a:moveTo>
                    <a:pt x="0" y="0"/>
                  </a:moveTo>
                  <a:lnTo>
                    <a:pt x="3924300" y="0"/>
                  </a:lnTo>
                </a:path>
              </a:pathLst>
            </a:custGeom>
            <a:noFill/>
            <a:ln w="7144">
              <a:solidFill>
                <a:srgbClr val="E3E3E3"/>
              </a:solidFill>
            </a:ln>
          </p:spPr>
        </p:sp>
        <p:sp>
          <p:nvSpPr>
            <p:cNvPr id="102" name="TextBox 102"/>
            <p:cNvSpPr txBox="1"/>
            <p:nvPr/>
          </p:nvSpPr>
          <p:spPr>
            <a:xfrm>
              <a:off x="4528566" y="4820602"/>
              <a:ext cx="293370"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中国</a:t>
              </a:r>
            </a:p>
          </p:txBody>
        </p:sp>
        <p:sp>
          <p:nvSpPr>
            <p:cNvPr id="103" name="TextBox 103"/>
            <p:cNvSpPr txBox="1"/>
            <p:nvPr/>
          </p:nvSpPr>
          <p:spPr>
            <a:xfrm>
              <a:off x="6379238" y="4820602"/>
              <a:ext cx="293596" cy="205359"/>
            </a:xfrm>
            <a:prstGeom prst="rect">
              <a:avLst/>
            </a:prstGeom>
            <a:noFill/>
            <a:ln>
              <a:noFill/>
            </a:ln>
          </p:spPr>
          <p:txBody>
            <a:bodyPr wrap="none" lIns="0" tIns="0" rIns="0" bIns="0" anchor="t" anchorCtr="0">
              <a:spAutoFit/>
            </a:bodyPr>
            <a:lstStyle/>
            <a:p>
              <a:pPr algn="r"/>
              <a:r>
                <a:rPr lang="zh-CN" sz="1050" dirty="0">
                  <a:solidFill>
                    <a:schemeClr val="dk1"/>
                  </a:solidFill>
                  <a:latin typeface="Arial"/>
                  <a:ea typeface="Arial"/>
                  <a:cs typeface="Arial"/>
                </a:rPr>
                <a:t>62%</a:t>
              </a:r>
            </a:p>
          </p:txBody>
        </p:sp>
        <p:sp>
          <p:nvSpPr>
            <p:cNvPr id="104" name="TextBox 104"/>
            <p:cNvSpPr txBox="1"/>
            <p:nvPr/>
          </p:nvSpPr>
          <p:spPr>
            <a:xfrm>
              <a:off x="8093738" y="4820602"/>
              <a:ext cx="293596" cy="205359"/>
            </a:xfrm>
            <a:prstGeom prst="rect">
              <a:avLst/>
            </a:prstGeom>
            <a:noFill/>
            <a:ln>
              <a:noFill/>
            </a:ln>
          </p:spPr>
          <p:txBody>
            <a:bodyPr wrap="none" lIns="0" tIns="0" rIns="0" bIns="0" anchor="t" anchorCtr="0">
              <a:spAutoFit/>
            </a:bodyPr>
            <a:lstStyle/>
            <a:p>
              <a:pPr algn="r"/>
              <a:r>
                <a:rPr lang="zh-CN" sz="1050" b="1" dirty="0">
                  <a:solidFill>
                    <a:schemeClr val="accent1"/>
                  </a:solidFill>
                  <a:latin typeface="Arial"/>
                  <a:ea typeface="Arial"/>
                  <a:cs typeface="Arial"/>
                </a:rPr>
                <a:t>50%</a:t>
              </a:r>
            </a:p>
          </p:txBody>
        </p:sp>
        <p:sp>
          <p:nvSpPr>
            <p:cNvPr id="105" name="TextBox 105"/>
            <p:cNvSpPr txBox="1"/>
            <p:nvPr/>
          </p:nvSpPr>
          <p:spPr>
            <a:xfrm>
              <a:off x="4528566" y="5030152"/>
              <a:ext cx="293370"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欧洲</a:t>
              </a:r>
            </a:p>
          </p:txBody>
        </p:sp>
        <p:sp>
          <p:nvSpPr>
            <p:cNvPr id="106" name="TextBox 106"/>
            <p:cNvSpPr txBox="1"/>
            <p:nvPr/>
          </p:nvSpPr>
          <p:spPr>
            <a:xfrm>
              <a:off x="6379238" y="5030152"/>
              <a:ext cx="293596" cy="205359"/>
            </a:xfrm>
            <a:prstGeom prst="rect">
              <a:avLst/>
            </a:prstGeom>
            <a:noFill/>
            <a:ln>
              <a:noFill/>
            </a:ln>
          </p:spPr>
          <p:txBody>
            <a:bodyPr wrap="none" lIns="0" tIns="0" rIns="0" bIns="0" anchor="t" anchorCtr="0">
              <a:spAutoFit/>
            </a:bodyPr>
            <a:lstStyle/>
            <a:p>
              <a:pPr algn="r"/>
              <a:r>
                <a:rPr lang="zh-CN" sz="1050" dirty="0">
                  <a:solidFill>
                    <a:schemeClr val="dk1"/>
                  </a:solidFill>
                  <a:latin typeface="Arial"/>
                  <a:ea typeface="Arial"/>
                  <a:cs typeface="Arial"/>
                </a:rPr>
                <a:t>20%</a:t>
              </a:r>
            </a:p>
          </p:txBody>
        </p:sp>
        <p:sp>
          <p:nvSpPr>
            <p:cNvPr id="107" name="TextBox 107"/>
            <p:cNvSpPr txBox="1"/>
            <p:nvPr/>
          </p:nvSpPr>
          <p:spPr>
            <a:xfrm>
              <a:off x="8093738" y="5030152"/>
              <a:ext cx="293596" cy="205359"/>
            </a:xfrm>
            <a:prstGeom prst="rect">
              <a:avLst/>
            </a:prstGeom>
            <a:noFill/>
            <a:ln>
              <a:noFill/>
            </a:ln>
          </p:spPr>
          <p:txBody>
            <a:bodyPr wrap="none" lIns="0" tIns="0" rIns="0" bIns="0" anchor="t" anchorCtr="0">
              <a:spAutoFit/>
            </a:bodyPr>
            <a:lstStyle/>
            <a:p>
              <a:pPr algn="r"/>
              <a:r>
                <a:rPr lang="zh-CN" sz="1050" dirty="0">
                  <a:solidFill>
                    <a:schemeClr val="dk1"/>
                  </a:solidFill>
                  <a:latin typeface="Arial"/>
                  <a:ea typeface="Arial"/>
                  <a:cs typeface="Arial"/>
                </a:rPr>
                <a:t>25%</a:t>
              </a:r>
            </a:p>
          </p:txBody>
        </p:sp>
        <p:sp>
          <p:nvSpPr>
            <p:cNvPr id="108" name="TextBox 108"/>
            <p:cNvSpPr txBox="1"/>
            <p:nvPr/>
          </p:nvSpPr>
          <p:spPr>
            <a:xfrm>
              <a:off x="4528566" y="5239702"/>
              <a:ext cx="293370"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美国</a:t>
              </a:r>
            </a:p>
          </p:txBody>
        </p:sp>
        <p:sp>
          <p:nvSpPr>
            <p:cNvPr id="109" name="TextBox 109"/>
            <p:cNvSpPr txBox="1"/>
            <p:nvPr/>
          </p:nvSpPr>
          <p:spPr>
            <a:xfrm>
              <a:off x="6457857" y="5239702"/>
              <a:ext cx="214977" cy="205359"/>
            </a:xfrm>
            <a:prstGeom prst="rect">
              <a:avLst/>
            </a:prstGeom>
            <a:noFill/>
            <a:ln>
              <a:noFill/>
            </a:ln>
          </p:spPr>
          <p:txBody>
            <a:bodyPr wrap="none" lIns="0" tIns="0" rIns="0" bIns="0" anchor="t" anchorCtr="0">
              <a:spAutoFit/>
            </a:bodyPr>
            <a:lstStyle/>
            <a:p>
              <a:pPr algn="r"/>
              <a:r>
                <a:rPr lang="zh-CN" sz="1050" dirty="0">
                  <a:solidFill>
                    <a:schemeClr val="dk1"/>
                  </a:solidFill>
                  <a:latin typeface="Arial"/>
                  <a:ea typeface="Arial"/>
                  <a:cs typeface="Arial"/>
                </a:rPr>
                <a:t>7%</a:t>
              </a:r>
            </a:p>
          </p:txBody>
        </p:sp>
        <p:sp>
          <p:nvSpPr>
            <p:cNvPr id="110" name="TextBox 110"/>
            <p:cNvSpPr txBox="1"/>
            <p:nvPr/>
          </p:nvSpPr>
          <p:spPr>
            <a:xfrm>
              <a:off x="8089808" y="5239702"/>
              <a:ext cx="297526" cy="205359"/>
            </a:xfrm>
            <a:prstGeom prst="rect">
              <a:avLst/>
            </a:prstGeom>
            <a:noFill/>
            <a:ln>
              <a:noFill/>
            </a:ln>
          </p:spPr>
          <p:txBody>
            <a:bodyPr wrap="none" lIns="0" tIns="0" rIns="0" bIns="0" anchor="t" anchorCtr="0">
              <a:spAutoFit/>
            </a:bodyPr>
            <a:lstStyle/>
            <a:p>
              <a:pPr algn="r"/>
              <a:r>
                <a:rPr lang="zh-CN" sz="1050" b="1" dirty="0">
                  <a:solidFill>
                    <a:srgbClr val="B3261E"/>
                  </a:solidFill>
                  <a:latin typeface="Arial"/>
                  <a:ea typeface="Arial"/>
                  <a:cs typeface="Arial"/>
                </a:rPr>
                <a:t>−3%</a:t>
              </a:r>
            </a:p>
          </p:txBody>
        </p:sp>
        <p:sp>
          <p:nvSpPr>
            <p:cNvPr id="111" name="TextBox 111"/>
            <p:cNvSpPr txBox="1"/>
            <p:nvPr/>
          </p:nvSpPr>
          <p:spPr>
            <a:xfrm>
              <a:off x="4528566" y="5449252"/>
              <a:ext cx="576072"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其他市场</a:t>
              </a:r>
            </a:p>
          </p:txBody>
        </p:sp>
        <p:sp>
          <p:nvSpPr>
            <p:cNvPr id="112" name="TextBox 112"/>
            <p:cNvSpPr txBox="1"/>
            <p:nvPr/>
          </p:nvSpPr>
          <p:spPr>
            <a:xfrm>
              <a:off x="6379238" y="5449252"/>
              <a:ext cx="293596" cy="205359"/>
            </a:xfrm>
            <a:prstGeom prst="rect">
              <a:avLst/>
            </a:prstGeom>
            <a:noFill/>
            <a:ln>
              <a:noFill/>
            </a:ln>
          </p:spPr>
          <p:txBody>
            <a:bodyPr wrap="none" lIns="0" tIns="0" rIns="0" bIns="0" anchor="t" anchorCtr="0">
              <a:spAutoFit/>
            </a:bodyPr>
            <a:lstStyle/>
            <a:p>
              <a:pPr algn="r"/>
              <a:r>
                <a:rPr lang="zh-CN" sz="1050" dirty="0">
                  <a:solidFill>
                    <a:schemeClr val="dk1"/>
                  </a:solidFill>
                  <a:latin typeface="Arial"/>
                  <a:ea typeface="Arial"/>
                  <a:cs typeface="Arial"/>
                </a:rPr>
                <a:t>11%</a:t>
              </a:r>
            </a:p>
          </p:txBody>
        </p:sp>
        <p:sp>
          <p:nvSpPr>
            <p:cNvPr id="113" name="TextBox 113"/>
            <p:cNvSpPr txBox="1"/>
            <p:nvPr/>
          </p:nvSpPr>
          <p:spPr>
            <a:xfrm>
              <a:off x="8093738" y="5449252"/>
              <a:ext cx="293596" cy="205359"/>
            </a:xfrm>
            <a:prstGeom prst="rect">
              <a:avLst/>
            </a:prstGeom>
            <a:noFill/>
            <a:ln>
              <a:noFill/>
            </a:ln>
          </p:spPr>
          <p:txBody>
            <a:bodyPr wrap="none" lIns="0" tIns="0" rIns="0" bIns="0" anchor="t" anchorCtr="0">
              <a:spAutoFit/>
            </a:bodyPr>
            <a:lstStyle/>
            <a:p>
              <a:pPr algn="r"/>
              <a:r>
                <a:rPr lang="zh-CN" sz="1050" b="1" dirty="0">
                  <a:solidFill>
                    <a:schemeClr val="accent2"/>
                  </a:solidFill>
                  <a:latin typeface="Arial"/>
                  <a:ea typeface="Arial"/>
                  <a:cs typeface="Arial"/>
                </a:rPr>
                <a:t>28%</a:t>
              </a:r>
            </a:p>
          </p:txBody>
        </p:sp>
      </p:grpSp>
      <p:grpSp>
        <p:nvGrpSpPr>
          <p:cNvPr id="133" name="insights"/>
          <p:cNvGrpSpPr/>
          <p:nvPr/>
        </p:nvGrpSpPr>
        <p:grpSpPr>
          <a:xfrm>
            <a:off x="8720138" y="1587341"/>
            <a:ext cx="3014662" cy="4432459"/>
            <a:chOff x="8720138" y="1587341"/>
            <a:chExt cx="3014662" cy="4432459"/>
          </a:xfrm>
        </p:grpSpPr>
        <p:sp>
          <p:nvSpPr>
            <p:cNvPr id="115" name="TextBox 115"/>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116" name="Line 116"/>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117" name="Ellipse 117"/>
            <p:cNvSpPr/>
            <p:nvPr/>
          </p:nvSpPr>
          <p:spPr>
            <a:xfrm>
              <a:off x="8724900" y="1876425"/>
              <a:ext cx="152400" cy="152400"/>
            </a:xfrm>
            <a:prstGeom prst="ellipse">
              <a:avLst/>
            </a:prstGeom>
            <a:solidFill>
              <a:schemeClr val="accent1"/>
            </a:solidFill>
            <a:ln>
              <a:noFill/>
            </a:ln>
          </p:spPr>
        </p:sp>
        <p:sp>
          <p:nvSpPr>
            <p:cNvPr id="118" name="TextBox 118"/>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119" name="TextBox 119"/>
            <p:cNvSpPr txBox="1"/>
            <p:nvPr/>
          </p:nvSpPr>
          <p:spPr>
            <a:xfrm>
              <a:off x="8948166" y="1886902"/>
              <a:ext cx="251764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中国占存量 62%、占增量 50%:</a:t>
              </a:r>
              <a:br/>
              <a:r>
                <a:rPr lang="zh-CN" sz="1050" dirty="0">
                  <a:solidFill>
                    <a:schemeClr val="dk1"/>
                  </a:solidFill>
                  <a:latin typeface="+mn-lt"/>
                  <a:ea typeface="+mn-ea"/>
                  <a:cs typeface="+mn-cs"/>
                </a:rPr>
                <a:t>1,100 万→1,300 万辆,仍是最大单一</a:t>
              </a:r>
              <a:br/>
              <a:r>
                <a:rPr lang="zh-CN" sz="1050" dirty="0">
                  <a:solidFill>
                    <a:schemeClr val="dk1"/>
                  </a:solidFill>
                  <a:latin typeface="+mn-lt"/>
                  <a:ea typeface="+mn-ea"/>
                  <a:cs typeface="+mn-cs"/>
                </a:rPr>
                <a:t>增量来源,但份额已从 2024 年 65% 回落。</a:t>
              </a:r>
            </a:p>
          </p:txBody>
        </p:sp>
        <p:sp>
          <p:nvSpPr>
            <p:cNvPr id="120" name="Ellipse 120"/>
            <p:cNvSpPr/>
            <p:nvPr/>
          </p:nvSpPr>
          <p:spPr>
            <a:xfrm>
              <a:off x="8724900" y="2600325"/>
              <a:ext cx="152400" cy="152400"/>
            </a:xfrm>
            <a:prstGeom prst="ellipse">
              <a:avLst/>
            </a:prstGeom>
            <a:solidFill>
              <a:schemeClr val="accent1"/>
            </a:solidFill>
            <a:ln>
              <a:noFill/>
            </a:ln>
          </p:spPr>
        </p:sp>
        <p:sp>
          <p:nvSpPr>
            <p:cNvPr id="121" name="TextBox 121"/>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122" name="TextBox 122"/>
            <p:cNvSpPr txBox="1"/>
            <p:nvPr/>
          </p:nvSpPr>
          <p:spPr>
            <a:xfrm>
              <a:off x="8948166" y="2610802"/>
              <a:ext cx="225094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其他市场增量 110 万辆,首次超过欧洲</a:t>
              </a:r>
              <a:br/>
              <a:r>
                <a:rPr lang="zh-CN" sz="1050" dirty="0">
                  <a:solidFill>
                    <a:schemeClr val="dk1"/>
                  </a:solidFill>
                  <a:latin typeface="+mn-lt"/>
                  <a:ea typeface="+mn-ea"/>
                  <a:cs typeface="+mn-cs"/>
                </a:rPr>
                <a:t>的 100 万辆:存量占比只有 11%,</a:t>
              </a:r>
              <a:br/>
              <a:r>
                <a:rPr lang="zh-CN" sz="1050" dirty="0">
                  <a:solidFill>
                    <a:schemeClr val="dk1"/>
                  </a:solidFill>
                  <a:latin typeface="+mn-lt"/>
                  <a:ea typeface="+mn-ea"/>
                  <a:cs typeface="+mn-cs"/>
                </a:rPr>
                <a:t>增量占比却有 28%(B、右表)。</a:t>
              </a:r>
            </a:p>
          </p:txBody>
        </p:sp>
        <p:sp>
          <p:nvSpPr>
            <p:cNvPr id="123" name="Ellipse 123"/>
            <p:cNvSpPr/>
            <p:nvPr/>
          </p:nvSpPr>
          <p:spPr>
            <a:xfrm>
              <a:off x="8724900" y="3324225"/>
              <a:ext cx="152400" cy="152400"/>
            </a:xfrm>
            <a:prstGeom prst="ellipse">
              <a:avLst/>
            </a:prstGeom>
            <a:solidFill>
              <a:schemeClr val="accent1"/>
            </a:solidFill>
            <a:ln>
              <a:noFill/>
            </a:ln>
          </p:spPr>
        </p:sp>
        <p:sp>
          <p:nvSpPr>
            <p:cNvPr id="124" name="TextBox 124"/>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125" name="TextBox 125"/>
            <p:cNvSpPr txBox="1"/>
            <p:nvPr/>
          </p:nvSpPr>
          <p:spPr>
            <a:xfrm>
              <a:off x="8948166" y="3334702"/>
              <a:ext cx="198424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美国 −10 万辆,是四个分区里唯一</a:t>
              </a:r>
              <a:br/>
              <a:r>
                <a:rPr lang="zh-CN" sz="1050" dirty="0">
                  <a:solidFill>
                    <a:schemeClr val="dk1"/>
                  </a:solidFill>
                  <a:latin typeface="+mn-lt"/>
                  <a:ea typeface="+mn-ea"/>
                  <a:cs typeface="+mn-cs"/>
                </a:rPr>
                <a:t>为负的:2020 年以来它从未贡献</a:t>
              </a:r>
              <a:br/>
              <a:r>
                <a:rPr lang="zh-CN" sz="1050" dirty="0">
                  <a:solidFill>
                    <a:schemeClr val="dk1"/>
                  </a:solidFill>
                  <a:latin typeface="+mn-lt"/>
                  <a:ea typeface="+mn-ea"/>
                  <a:cs typeface="+mn-cs"/>
                </a:rPr>
                <a:t>超过 10% 的年度增量。</a:t>
              </a:r>
            </a:p>
          </p:txBody>
        </p:sp>
        <p:sp>
          <p:nvSpPr>
            <p:cNvPr id="126" name="Ellipse 126"/>
            <p:cNvSpPr/>
            <p:nvPr/>
          </p:nvSpPr>
          <p:spPr>
            <a:xfrm>
              <a:off x="8724900" y="4048125"/>
              <a:ext cx="152400" cy="152400"/>
            </a:xfrm>
            <a:prstGeom prst="ellipse">
              <a:avLst/>
            </a:prstGeom>
            <a:solidFill>
              <a:schemeClr val="accent1"/>
            </a:solidFill>
            <a:ln>
              <a:noFill/>
            </a:ln>
          </p:spPr>
        </p:sp>
        <p:sp>
          <p:nvSpPr>
            <p:cNvPr id="127" name="TextBox 127"/>
            <p:cNvSpPr txBox="1"/>
            <p:nvPr/>
          </p:nvSpPr>
          <p:spPr>
            <a:xfrm>
              <a:off x="87682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128" name="TextBox 128"/>
            <p:cNvSpPr txBox="1"/>
            <p:nvPr/>
          </p:nvSpPr>
          <p:spPr>
            <a:xfrm>
              <a:off x="8948166" y="4058602"/>
              <a:ext cx="193757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结论:按存量地图分配预算会把</a:t>
              </a:r>
              <a:br/>
              <a:r>
                <a:rPr lang="zh-CN" sz="1050" dirty="0">
                  <a:solidFill>
                    <a:schemeClr val="dk1"/>
                  </a:solidFill>
                  <a:latin typeface="+mn-lt"/>
                  <a:ea typeface="+mn-ea"/>
                  <a:cs typeface="+mn-cs"/>
                </a:rPr>
                <a:t>一半以上投向增速放缓的市场;</a:t>
              </a:r>
              <a:br/>
              <a:r>
                <a:rPr lang="zh-CN" sz="1050" dirty="0">
                  <a:solidFill>
                    <a:schemeClr val="dk1"/>
                  </a:solidFill>
                  <a:latin typeface="+mn-lt"/>
                  <a:ea typeface="+mn-ea"/>
                  <a:cs typeface="+mn-cs"/>
                </a:rPr>
                <a:t>增量地图才是 2026–28 的依据。</a:t>
              </a:r>
            </a:p>
          </p:txBody>
        </p:sp>
        <p:sp>
          <p:nvSpPr>
            <p:cNvPr id="129" name="Rectangle 129"/>
            <p:cNvSpPr/>
            <p:nvPr/>
          </p:nvSpPr>
          <p:spPr>
            <a:xfrm>
              <a:off x="8724900" y="4914900"/>
              <a:ext cx="3009900" cy="1104900"/>
            </a:xfrm>
            <a:prstGeom prst="rect">
              <a:avLst/>
            </a:prstGeom>
            <a:solidFill>
              <a:srgbClr val="F7F7F7"/>
            </a:solidFill>
            <a:ln>
              <a:noFill/>
            </a:ln>
          </p:spPr>
        </p:sp>
        <p:sp>
          <p:nvSpPr>
            <p:cNvPr id="130" name="Rectangle 130"/>
            <p:cNvSpPr/>
            <p:nvPr/>
          </p:nvSpPr>
          <p:spPr>
            <a:xfrm>
              <a:off x="8724900" y="4914900"/>
              <a:ext cx="38100" cy="1104900"/>
            </a:xfrm>
            <a:prstGeom prst="rect">
              <a:avLst/>
            </a:prstGeom>
            <a:solidFill>
              <a:schemeClr val="accent2"/>
            </a:solidFill>
            <a:ln>
              <a:noFill/>
            </a:ln>
          </p:spPr>
        </p:sp>
        <p:sp>
          <p:nvSpPr>
            <p:cNvPr id="131" name="TextBox 131"/>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132" name="TextBox 132"/>
            <p:cNvSpPr txBox="1"/>
            <p:nvPr/>
          </p:nvSpPr>
          <p:spPr>
            <a:xfrm>
              <a:off x="8871966" y="5220652"/>
              <a:ext cx="221761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预算依据从存量地图切换到增量地图:</a:t>
              </a:r>
              <a:br/>
              <a:r>
                <a:rPr lang="zh-CN" sz="1050" dirty="0">
                  <a:solidFill>
                    <a:schemeClr val="dk1"/>
                  </a:solidFill>
                  <a:latin typeface="+mn-lt"/>
                  <a:ea typeface="+mn-ea"/>
                  <a:cs typeface="+mn-cs"/>
                </a:rPr>
                <a:t>中国保份额、其他市场抢增量、美国</a:t>
              </a:r>
              <a:br/>
              <a:r>
                <a:rPr lang="zh-CN" sz="1050" dirty="0">
                  <a:solidFill>
                    <a:schemeClr val="dk1"/>
                  </a:solidFill>
                  <a:latin typeface="+mn-lt"/>
                  <a:ea typeface="+mn-ea"/>
                  <a:cs typeface="+mn-cs"/>
                </a:rPr>
                <a:t>不追加(第 10 页分级)。</a:t>
              </a:r>
            </a:p>
          </p:txBody>
        </p:sp>
      </p:grpSp>
      <p:grpSp>
        <p:nvGrpSpPr>
          <p:cNvPr id="138" name="footer"/>
          <p:cNvGrpSpPr/>
          <p:nvPr/>
        </p:nvGrpSpPr>
        <p:grpSpPr>
          <a:xfrm>
            <a:off x="452438" y="6205538"/>
            <a:ext cx="11287125" cy="433388"/>
            <a:chOff x="452438" y="6205538"/>
            <a:chExt cx="11287125" cy="433388"/>
          </a:xfrm>
        </p:grpSpPr>
        <p:sp>
          <p:nvSpPr>
            <p:cNvPr id="134" name="TextBox 134"/>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135" name="TextBox 135"/>
            <p:cNvSpPr txBox="1"/>
            <p:nvPr/>
          </p:nvSpPr>
          <p:spPr>
            <a:xfrm>
              <a:off x="452438" y="6338888"/>
              <a:ext cx="4361116"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「其他市场」= 全球 − 中国 − 欧洲 − 美国,为本报告计算值;增量 = 2025 年销量 − 2024 年销量</a:t>
              </a:r>
            </a:p>
          </p:txBody>
        </p:sp>
        <p:sp>
          <p:nvSpPr>
            <p:cNvPr id="136" name="TextBox 136"/>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137" name="TextBox 137"/>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xmlns:p="http://schemas.openxmlformats.org/presentationml/2006/main" id="13" presetID="22" presetClass="entr" presetSubtype="1" fill="hold" grpId="0" nodeType="afterEffect">
                                  <p:stCondLst>
                                    <p:cond delay="500"/>
                                  </p:stCondLst>
                                  <p:childTnLst>
                                    <p:set>
                                      <p:cBhvr>
                                        <p:cTn id="14" dur="1" fill="hold">
                                          <p:stCondLst>
                                            <p:cond delay="0"/>
                                          </p:stCondLst>
                                        </p:cTn>
                                        <p:tgtEl>
                                          <p:spTgt spid="62"/>
                                        </p:tgtEl>
                                        <p:attrNameLst>
                                          <p:attrName>style.visibility</p:attrName>
                                        </p:attrNameLst>
                                      </p:cBhvr>
                                      <p:to>
                                        <p:strVal val="visible"/>
                                      </p:to>
                                    </p:set>
                                    <p:animEffect transition="in" filter="wipe(up)">
                                      <p:cBhvr>
                                        <p:cTn id="15" dur="600"/>
                                        <p:tgtEl>
                                          <p:spTgt spid="62"/>
                                        </p:tgtEl>
                                      </p:cBhvr>
                                    </p:animEffect>
                                  </p:childTnLst>
                                </p:cTn>
                              </p:par>
                            </p:childTnLst>
                          </p:cTn>
                        </p:par>
                        <p:par>
                          <p:cTn id="16" fill="hold">
                            <p:stCondLst>
                              <p:cond delay="21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73"/>
                                        </p:tgtEl>
                                        <p:attrNameLst>
                                          <p:attrName>style.visibility</p:attrName>
                                        </p:attrNameLst>
                                      </p:cBhvr>
                                      <p:to>
                                        <p:strVal val="visible"/>
                                      </p:to>
                                    </p:set>
                                    <p:animEffect transition="in" filter="fade">
                                      <p:cBhvr>
                                        <p:cTn id="19" dur="300"/>
                                        <p:tgtEl>
                                          <p:spTgt spid="73"/>
                                        </p:tgtEl>
                                      </p:cBhvr>
                                    </p:animEffect>
                                  </p:childTnLst>
                                </p:cTn>
                              </p:par>
                            </p:childTnLst>
                          </p:cTn>
                        </p:par>
                        <p:par>
                          <p:cTn id="20" fill="hold">
                            <p:stCondLst>
                              <p:cond delay="29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75"/>
                                        </p:tgtEl>
                                        <p:attrNameLst>
                                          <p:attrName>style.visibility</p:attrName>
                                        </p:attrNameLst>
                                      </p:cBhvr>
                                      <p:to>
                                        <p:strVal val="visible"/>
                                      </p:to>
                                    </p:set>
                                    <p:animEffect transition="in" filter="fade">
                                      <p:cBhvr>
                                        <p:cTn id="23" dur="300"/>
                                        <p:tgtEl>
                                          <p:spTgt spid="75"/>
                                        </p:tgtEl>
                                      </p:cBhvr>
                                    </p:animEffect>
                                  </p:childTnLst>
                                </p:cTn>
                              </p:par>
                            </p:childTnLst>
                          </p:cTn>
                        </p:par>
                        <p:par>
                          <p:cTn id="24" fill="hold">
                            <p:stCondLst>
                              <p:cond delay="37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80"/>
                                        </p:tgtEl>
                                        <p:attrNameLst>
                                          <p:attrName>style.visibility</p:attrName>
                                        </p:attrNameLst>
                                      </p:cBhvr>
                                      <p:to>
                                        <p:strVal val="visible"/>
                                      </p:to>
                                    </p:set>
                                    <p:animEffect transition="in" filter="fade">
                                      <p:cBhvr>
                                        <p:cTn id="27" dur="200"/>
                                        <p:tgtEl>
                                          <p:spTgt spid="80"/>
                                        </p:tgtEl>
                                      </p:cBhvr>
                                    </p:animEffect>
                                  </p:childTnLst>
                                </p:cTn>
                              </p:par>
                            </p:childTnLst>
                          </p:cTn>
                        </p:par>
                        <p:par>
                          <p:cTn id="28" fill="hold">
                            <p:stCondLst>
                              <p:cond delay="4400"/>
                            </p:stCondLst>
                            <p:childTnLst>
                              <p:par>
                                <p:cTn xmlns:p="http://schemas.openxmlformats.org/presentationml/2006/main" id="29" presetID="22" presetClass="entr" presetSubtype="2" fill="hold" grpId="0" nodeType="afterEffect">
                                  <p:stCondLst>
                                    <p:cond delay="500"/>
                                  </p:stCondLst>
                                  <p:childTnLst>
                                    <p:set>
                                      <p:cBhvr>
                                        <p:cTn id="30" dur="1" fill="hold">
                                          <p:stCondLst>
                                            <p:cond delay="0"/>
                                          </p:stCondLst>
                                        </p:cTn>
                                        <p:tgtEl>
                                          <p:spTgt spid="95"/>
                                        </p:tgtEl>
                                        <p:attrNameLst>
                                          <p:attrName>style.visibility</p:attrName>
                                        </p:attrNameLst>
                                      </p:cBhvr>
                                      <p:to>
                                        <p:strVal val="visible"/>
                                      </p:to>
                                    </p:set>
                                    <p:animEffect transition="in" filter="wipe(right)">
                                      <p:cBhvr>
                                        <p:cTn id="31" dur="600"/>
                                        <p:tgtEl>
                                          <p:spTgt spid="95"/>
                                        </p:tgtEl>
                                      </p:cBhvr>
                                    </p:animEffect>
                                  </p:childTnLst>
                                </p:cTn>
                              </p:par>
                            </p:childTnLst>
                          </p:cTn>
                        </p:par>
                        <p:par>
                          <p:cTn id="32" fill="hold">
                            <p:stCondLst>
                              <p:cond delay="5500"/>
                            </p:stCondLst>
                            <p:childTnLst>
                              <p:par>
                                <p:cTn xmlns:p="http://schemas.openxmlformats.org/presentationml/2006/main" id="33" presetID="10" presetClass="entr" presetSubtype="0" fill="hold" grpId="0" nodeType="afterEffect">
                                  <p:stCondLst>
                                    <p:cond delay="500"/>
                                  </p:stCondLst>
                                  <p:childTnLst>
                                    <p:set>
                                      <p:cBhvr>
                                        <p:cTn id="34" dur="1" fill="hold">
                                          <p:stCondLst>
                                            <p:cond delay="0"/>
                                          </p:stCondLst>
                                        </p:cTn>
                                        <p:tgtEl>
                                          <p:spTgt spid="114"/>
                                        </p:tgtEl>
                                        <p:attrNameLst>
                                          <p:attrName>style.visibility</p:attrName>
                                        </p:attrNameLst>
                                      </p:cBhvr>
                                      <p:to>
                                        <p:strVal val="visible"/>
                                      </p:to>
                                    </p:set>
                                    <p:animEffect transition="in" filter="fade">
                                      <p:cBhvr>
                                        <p:cTn id="35" dur="300"/>
                                        <p:tgtEl>
                                          <p:spTgt spid="114"/>
                                        </p:tgtEl>
                                      </p:cBhvr>
                                    </p:animEffect>
                                  </p:childTnLst>
                                </p:cTn>
                              </p:par>
                            </p:childTnLst>
                          </p:cTn>
                        </p:par>
                        <p:par>
                          <p:cTn id="36" fill="hold">
                            <p:stCondLst>
                              <p:cond delay="6300"/>
                            </p:stCondLst>
                            <p:childTnLst>
                              <p:par>
                                <p:cTn xmlns:p="http://schemas.openxmlformats.org/presentationml/2006/main" id="37" presetID="10" presetClass="entr" presetSubtype="0" fill="hold" grpId="0" nodeType="afterEffect">
                                  <p:stCondLst>
                                    <p:cond delay="500"/>
                                  </p:stCondLst>
                                  <p:childTnLst>
                                    <p:set>
                                      <p:cBhvr>
                                        <p:cTn id="38" dur="1" fill="hold">
                                          <p:stCondLst>
                                            <p:cond delay="0"/>
                                          </p:stCondLst>
                                        </p:cTn>
                                        <p:tgtEl>
                                          <p:spTgt spid="133"/>
                                        </p:tgtEl>
                                        <p:attrNameLst>
                                          <p:attrName>style.visibility</p:attrName>
                                        </p:attrNameLst>
                                      </p:cBhvr>
                                      <p:to>
                                        <p:strVal val="visible"/>
                                      </p:to>
                                    </p:set>
                                    <p:animEffect transition="in" filter="fade">
                                      <p:cBhvr>
                                        <p:cTn id="39" dur="4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9927681" y="247650"/>
            <a:ext cx="1807119" cy="206216"/>
            <a:chOff x="9927681" y="247650"/>
            <a:chExt cx="1807119" cy="206216"/>
          </a:xfrm>
        </p:grpSpPr>
        <p:sp>
          <p:nvSpPr>
            <p:cNvPr id="2" name="TextBox 2"/>
            <p:cNvSpPr txBox="1"/>
            <p:nvPr/>
          </p:nvSpPr>
          <p:spPr>
            <a:xfrm>
              <a:off x="9927681" y="291941"/>
              <a:ext cx="878431"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诊断 · 成熟市场</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6079617" cy="637794"/>
            <a:chOff x="448056" y="472440"/>
            <a:chExt cx="6079617" cy="637794"/>
          </a:xfrm>
        </p:grpSpPr>
        <p:sp>
          <p:nvSpPr>
            <p:cNvPr id="6" name="TextBox 6"/>
            <p:cNvSpPr txBox="1"/>
            <p:nvPr/>
          </p:nvSpPr>
          <p:spPr>
            <a:xfrm>
              <a:off x="448056" y="472440"/>
              <a:ext cx="6079617"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美国渗透率连续两年停在 10%、销量首次下滑,日本仍在 3%</a:t>
              </a:r>
              <a:br/>
              <a:r>
                <a:rPr lang="zh-CN" sz="1800" b="1" dirty="0">
                  <a:solidFill>
                    <a:schemeClr val="accent1"/>
                  </a:solidFill>
                  <a:latin typeface="+mn-lt"/>
                  <a:ea typeface="+mn-ea"/>
                  <a:cs typeface="+mn-cs"/>
                </a:rPr>
                <a:t>——成熟市场里只有韩国还在起量</a:t>
              </a:r>
            </a:p>
          </p:txBody>
        </p:sp>
      </p:grpSp>
      <p:grpSp>
        <p:nvGrpSpPr>
          <p:cNvPr id="9" name="unit-line"/>
          <p:cNvGrpSpPr/>
          <p:nvPr/>
        </p:nvGrpSpPr>
        <p:grpSpPr>
          <a:xfrm>
            <a:off x="452438" y="1160145"/>
            <a:ext cx="3540138" cy="176212"/>
            <a:chOff x="452438" y="1160145"/>
            <a:chExt cx="3540138" cy="176212"/>
          </a:xfrm>
        </p:grpSpPr>
        <p:sp>
          <p:nvSpPr>
            <p:cNvPr id="8" name="TextBox 8"/>
            <p:cNvSpPr txBox="1"/>
            <p:nvPr/>
          </p:nvSpPr>
          <p:spPr>
            <a:xfrm>
              <a:off x="452438" y="1160145"/>
              <a:ext cx="354013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A:电动车渗透率,%,2019–2025;B:电动车销量,万辆,2023–2025</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2010512" cy="349091"/>
            <a:chOff x="452438" y="1552575"/>
            <a:chExt cx="2010512"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801153"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渗透率走势:欧洲、美国、日本</a:t>
              </a:r>
            </a:p>
          </p:txBody>
        </p:sp>
        <p:sp>
          <p:nvSpPr>
            <p:cNvPr id="14" name="TextBox 14"/>
            <p:cNvSpPr txBox="1"/>
            <p:nvPr/>
          </p:nvSpPr>
          <p:spPr>
            <a:xfrm>
              <a:off x="452438" y="1739741"/>
              <a:ext cx="1118928"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电动车占新车销量的 %</a:t>
              </a:r>
            </a:p>
          </p:txBody>
        </p:sp>
      </p:grpSp>
      <p:grpSp>
        <p:nvGrpSpPr>
          <p:cNvPr id="53" name="mature-share"/>
          <p:cNvGrpSpPr/>
          <p:nvPr/>
        </p:nvGrpSpPr>
        <p:grpSpPr>
          <a:xfrm>
            <a:off x="533400" y="2158841"/>
            <a:ext cx="3505025" cy="2190750"/>
            <a:chOff x="533400" y="2158841"/>
            <a:chExt cx="3505025" cy="2190750"/>
          </a:xfrm>
        </p:grpSpPr>
        <p:grpSp>
          <p:nvGrpSpPr>
            <p:cNvPr id="52" name="mature-share-chartArea"/>
            <p:cNvGrpSpPr/>
            <p:nvPr/>
          </p:nvGrpSpPr>
          <p:grpSpPr>
            <a:xfrm>
              <a:off x="533400" y="2158841"/>
              <a:ext cx="3505025" cy="2190750"/>
              <a:chOff x="533400" y="2158841"/>
              <a:chExt cx="3505025" cy="2190750"/>
            </a:xfrm>
          </p:grpSpPr>
          <p:sp>
            <p:nvSpPr>
              <p:cNvPr id="16" name="Line 16"/>
              <p:cNvSpPr/>
              <p:nvPr/>
            </p:nvSpPr>
            <p:spPr>
              <a:xfrm>
                <a:off x="533400" y="4133850"/>
                <a:ext cx="3181350" cy="9525"/>
              </a:xfrm>
              <a:custGeom>
                <a:avLst/>
                <a:gdLst/>
                <a:ahLst/>
                <a:cxnLst/>
                <a:rect l="l" t="t" r="r" b="b"/>
                <a:pathLst>
                  <a:path w="3181350" h="9525">
                    <a:moveTo>
                      <a:pt x="0" y="0"/>
                    </a:moveTo>
                    <a:lnTo>
                      <a:pt x="3181350" y="0"/>
                    </a:lnTo>
                  </a:path>
                </a:pathLst>
              </a:custGeom>
              <a:noFill/>
              <a:ln w="7144">
                <a:solidFill>
                  <a:schemeClr val="accent6"/>
                </a:solidFill>
              </a:ln>
            </p:spPr>
          </p:sp>
          <p:sp>
            <p:nvSpPr>
              <p:cNvPr id="17" name="Polyline 17"/>
              <p:cNvSpPr/>
              <p:nvPr/>
            </p:nvSpPr>
            <p:spPr>
              <a:xfrm>
                <a:off x="760666" y="2400300"/>
                <a:ext cx="2726817" cy="1523047"/>
              </a:xfrm>
              <a:custGeom>
                <a:avLst/>
                <a:gdLst/>
                <a:ahLst/>
                <a:cxnLst/>
                <a:rect l="l" t="t" r="r" b="b"/>
                <a:pathLst>
                  <a:path w="2726817" h="1523047">
                    <a:moveTo>
                      <a:pt x="0" y="1523047"/>
                    </a:moveTo>
                    <a:lnTo>
                      <a:pt x="454438" y="1114425"/>
                    </a:lnTo>
                    <a:lnTo>
                      <a:pt x="908971" y="681038"/>
                    </a:lnTo>
                    <a:lnTo>
                      <a:pt x="1363408" y="433388"/>
                    </a:lnTo>
                    <a:lnTo>
                      <a:pt x="1817846" y="371475"/>
                    </a:lnTo>
                    <a:lnTo>
                      <a:pt x="2272379" y="433388"/>
                    </a:lnTo>
                    <a:lnTo>
                      <a:pt x="2726817" y="0"/>
                    </a:lnTo>
                  </a:path>
                </a:pathLst>
              </a:custGeom>
              <a:noFill/>
              <a:ln w="19050">
                <a:solidFill>
                  <a:schemeClr val="accent3"/>
                </a:solidFill>
                <a:round/>
              </a:ln>
            </p:spPr>
          </p:sp>
          <p:sp>
            <p:nvSpPr>
              <p:cNvPr id="18" name="Ellipse 18"/>
              <p:cNvSpPr/>
              <p:nvPr/>
            </p:nvSpPr>
            <p:spPr>
              <a:xfrm>
                <a:off x="732092" y="3894772"/>
                <a:ext cx="57150" cy="57150"/>
              </a:xfrm>
              <a:prstGeom prst="ellipse">
                <a:avLst/>
              </a:prstGeom>
              <a:solidFill>
                <a:schemeClr val="accent3"/>
              </a:solidFill>
              <a:ln>
                <a:noFill/>
              </a:ln>
            </p:spPr>
          </p:sp>
          <p:sp>
            <p:nvSpPr>
              <p:cNvPr id="19" name="Ellipse 19"/>
              <p:cNvSpPr/>
              <p:nvPr/>
            </p:nvSpPr>
            <p:spPr>
              <a:xfrm>
                <a:off x="1186529" y="3486150"/>
                <a:ext cx="57150" cy="57150"/>
              </a:xfrm>
              <a:prstGeom prst="ellipse">
                <a:avLst/>
              </a:prstGeom>
              <a:solidFill>
                <a:schemeClr val="accent3"/>
              </a:solidFill>
              <a:ln>
                <a:noFill/>
              </a:ln>
            </p:spPr>
          </p:sp>
          <p:sp>
            <p:nvSpPr>
              <p:cNvPr id="20" name="Ellipse 20"/>
              <p:cNvSpPr/>
              <p:nvPr/>
            </p:nvSpPr>
            <p:spPr>
              <a:xfrm>
                <a:off x="1641062" y="3052762"/>
                <a:ext cx="57150" cy="57150"/>
              </a:xfrm>
              <a:prstGeom prst="ellipse">
                <a:avLst/>
              </a:prstGeom>
              <a:solidFill>
                <a:schemeClr val="accent3"/>
              </a:solidFill>
              <a:ln>
                <a:noFill/>
              </a:ln>
            </p:spPr>
          </p:sp>
          <p:sp>
            <p:nvSpPr>
              <p:cNvPr id="21" name="Ellipse 21"/>
              <p:cNvSpPr/>
              <p:nvPr/>
            </p:nvSpPr>
            <p:spPr>
              <a:xfrm>
                <a:off x="2095500" y="2805112"/>
                <a:ext cx="57150" cy="57150"/>
              </a:xfrm>
              <a:prstGeom prst="ellipse">
                <a:avLst/>
              </a:prstGeom>
              <a:solidFill>
                <a:schemeClr val="accent3"/>
              </a:solidFill>
              <a:ln>
                <a:noFill/>
              </a:ln>
            </p:spPr>
          </p:sp>
          <p:sp>
            <p:nvSpPr>
              <p:cNvPr id="22" name="Ellipse 22"/>
              <p:cNvSpPr/>
              <p:nvPr/>
            </p:nvSpPr>
            <p:spPr>
              <a:xfrm>
                <a:off x="2549938" y="2743200"/>
                <a:ext cx="57150" cy="57150"/>
              </a:xfrm>
              <a:prstGeom prst="ellipse">
                <a:avLst/>
              </a:prstGeom>
              <a:solidFill>
                <a:schemeClr val="accent3"/>
              </a:solidFill>
              <a:ln>
                <a:noFill/>
              </a:ln>
            </p:spPr>
          </p:sp>
          <p:sp>
            <p:nvSpPr>
              <p:cNvPr id="23" name="Ellipse 23"/>
              <p:cNvSpPr/>
              <p:nvPr/>
            </p:nvSpPr>
            <p:spPr>
              <a:xfrm>
                <a:off x="3004471" y="2805112"/>
                <a:ext cx="57150" cy="57150"/>
              </a:xfrm>
              <a:prstGeom prst="ellipse">
                <a:avLst/>
              </a:prstGeom>
              <a:solidFill>
                <a:schemeClr val="accent3"/>
              </a:solidFill>
              <a:ln>
                <a:noFill/>
              </a:ln>
            </p:spPr>
          </p:sp>
          <p:sp>
            <p:nvSpPr>
              <p:cNvPr id="24" name="Ellipse 24"/>
              <p:cNvSpPr/>
              <p:nvPr/>
            </p:nvSpPr>
            <p:spPr>
              <a:xfrm>
                <a:off x="3458908" y="2371725"/>
                <a:ext cx="57150" cy="57150"/>
              </a:xfrm>
              <a:prstGeom prst="ellipse">
                <a:avLst/>
              </a:prstGeom>
              <a:solidFill>
                <a:schemeClr val="accent3"/>
              </a:solidFill>
              <a:ln>
                <a:noFill/>
              </a:ln>
            </p:spPr>
          </p:sp>
          <p:sp>
            <p:nvSpPr>
              <p:cNvPr id="25" name="TextBox 25"/>
              <p:cNvSpPr txBox="1"/>
              <p:nvPr/>
            </p:nvSpPr>
            <p:spPr>
              <a:xfrm>
                <a:off x="3558921" y="2349341"/>
                <a:ext cx="479504" cy="161925"/>
              </a:xfrm>
              <a:prstGeom prst="rect">
                <a:avLst/>
              </a:prstGeom>
              <a:noFill/>
              <a:ln>
                <a:noFill/>
              </a:ln>
            </p:spPr>
            <p:txBody>
              <a:bodyPr wrap="none" lIns="0" tIns="0" rIns="0" bIns="0" anchor="t" anchorCtr="0">
                <a:spAutoFit/>
              </a:bodyPr>
              <a:lstStyle/>
              <a:p>
                <a:pPr algn="l"/>
                <a:r>
                  <a:rPr lang="zh-CN" sz="820" b="1" dirty="0">
                    <a:solidFill>
                      <a:schemeClr val="accent3"/>
                    </a:solidFill>
                    <a:latin typeface="+mn-lt"/>
                    <a:ea typeface="+mn-ea"/>
                    <a:cs typeface="+mn-cs"/>
                  </a:rPr>
                  <a:t>欧洲 28%</a:t>
                </a:r>
              </a:p>
            </p:txBody>
          </p:sp>
          <p:sp>
            <p:nvSpPr>
              <p:cNvPr id="26" name="Polyline 26"/>
              <p:cNvSpPr/>
              <p:nvPr/>
            </p:nvSpPr>
            <p:spPr>
              <a:xfrm>
                <a:off x="760666" y="3514725"/>
                <a:ext cx="2726817" cy="489109"/>
              </a:xfrm>
              <a:custGeom>
                <a:avLst/>
                <a:gdLst/>
                <a:ahLst/>
                <a:cxnLst/>
                <a:rect l="l" t="t" r="r" b="b"/>
                <a:pathLst>
                  <a:path w="2726817" h="489109">
                    <a:moveTo>
                      <a:pt x="0" y="489109"/>
                    </a:moveTo>
                    <a:lnTo>
                      <a:pt x="454438" y="476726"/>
                    </a:lnTo>
                    <a:lnTo>
                      <a:pt x="908971" y="328136"/>
                    </a:lnTo>
                    <a:lnTo>
                      <a:pt x="1363408" y="142399"/>
                    </a:lnTo>
                    <a:lnTo>
                      <a:pt x="1817846" y="18574"/>
                    </a:lnTo>
                    <a:lnTo>
                      <a:pt x="2272379" y="0"/>
                    </a:lnTo>
                    <a:lnTo>
                      <a:pt x="2726817" y="0"/>
                    </a:lnTo>
                  </a:path>
                </a:pathLst>
              </a:custGeom>
              <a:noFill/>
              <a:ln w="19050">
                <a:solidFill>
                  <a:srgbClr val="B3261E"/>
                </a:solidFill>
                <a:round/>
              </a:ln>
            </p:spPr>
          </p:sp>
          <p:sp>
            <p:nvSpPr>
              <p:cNvPr id="27" name="Ellipse 27"/>
              <p:cNvSpPr/>
              <p:nvPr/>
            </p:nvSpPr>
            <p:spPr>
              <a:xfrm>
                <a:off x="732092" y="3975259"/>
                <a:ext cx="57150" cy="57150"/>
              </a:xfrm>
              <a:prstGeom prst="ellipse">
                <a:avLst/>
              </a:prstGeom>
              <a:solidFill>
                <a:srgbClr val="B3261E"/>
              </a:solidFill>
              <a:ln>
                <a:noFill/>
              </a:ln>
            </p:spPr>
          </p:sp>
          <p:sp>
            <p:nvSpPr>
              <p:cNvPr id="28" name="Ellipse 28"/>
              <p:cNvSpPr/>
              <p:nvPr/>
            </p:nvSpPr>
            <p:spPr>
              <a:xfrm>
                <a:off x="1186529" y="3962876"/>
                <a:ext cx="57150" cy="57150"/>
              </a:xfrm>
              <a:prstGeom prst="ellipse">
                <a:avLst/>
              </a:prstGeom>
              <a:solidFill>
                <a:srgbClr val="B3261E"/>
              </a:solidFill>
              <a:ln>
                <a:noFill/>
              </a:ln>
            </p:spPr>
          </p:sp>
          <p:sp>
            <p:nvSpPr>
              <p:cNvPr id="29" name="Ellipse 29"/>
              <p:cNvSpPr/>
              <p:nvPr/>
            </p:nvSpPr>
            <p:spPr>
              <a:xfrm>
                <a:off x="1641062" y="3814286"/>
                <a:ext cx="57150" cy="57150"/>
              </a:xfrm>
              <a:prstGeom prst="ellipse">
                <a:avLst/>
              </a:prstGeom>
              <a:solidFill>
                <a:srgbClr val="B3261E"/>
              </a:solidFill>
              <a:ln>
                <a:noFill/>
              </a:ln>
            </p:spPr>
          </p:sp>
          <p:sp>
            <p:nvSpPr>
              <p:cNvPr id="30" name="Ellipse 30"/>
              <p:cNvSpPr/>
              <p:nvPr/>
            </p:nvSpPr>
            <p:spPr>
              <a:xfrm>
                <a:off x="2095500" y="3628549"/>
                <a:ext cx="57150" cy="57150"/>
              </a:xfrm>
              <a:prstGeom prst="ellipse">
                <a:avLst/>
              </a:prstGeom>
              <a:solidFill>
                <a:srgbClr val="B3261E"/>
              </a:solidFill>
              <a:ln>
                <a:noFill/>
              </a:ln>
            </p:spPr>
          </p:sp>
          <p:sp>
            <p:nvSpPr>
              <p:cNvPr id="31" name="Ellipse 31"/>
              <p:cNvSpPr/>
              <p:nvPr/>
            </p:nvSpPr>
            <p:spPr>
              <a:xfrm>
                <a:off x="2549938" y="3504724"/>
                <a:ext cx="57150" cy="57150"/>
              </a:xfrm>
              <a:prstGeom prst="ellipse">
                <a:avLst/>
              </a:prstGeom>
              <a:solidFill>
                <a:srgbClr val="B3261E"/>
              </a:solidFill>
              <a:ln>
                <a:noFill/>
              </a:ln>
            </p:spPr>
          </p:sp>
          <p:sp>
            <p:nvSpPr>
              <p:cNvPr id="32" name="Ellipse 32"/>
              <p:cNvSpPr/>
              <p:nvPr/>
            </p:nvSpPr>
            <p:spPr>
              <a:xfrm>
                <a:off x="3004471" y="3486150"/>
                <a:ext cx="57150" cy="57150"/>
              </a:xfrm>
              <a:prstGeom prst="ellipse">
                <a:avLst/>
              </a:prstGeom>
              <a:solidFill>
                <a:srgbClr val="B3261E"/>
              </a:solidFill>
              <a:ln>
                <a:noFill/>
              </a:ln>
            </p:spPr>
          </p:sp>
          <p:sp>
            <p:nvSpPr>
              <p:cNvPr id="33" name="Ellipse 33"/>
              <p:cNvSpPr/>
              <p:nvPr/>
            </p:nvSpPr>
            <p:spPr>
              <a:xfrm>
                <a:off x="3458908" y="3486150"/>
                <a:ext cx="57150" cy="57150"/>
              </a:xfrm>
              <a:prstGeom prst="ellipse">
                <a:avLst/>
              </a:prstGeom>
              <a:solidFill>
                <a:srgbClr val="B3261E"/>
              </a:solidFill>
              <a:ln>
                <a:noFill/>
              </a:ln>
            </p:spPr>
          </p:sp>
          <p:sp>
            <p:nvSpPr>
              <p:cNvPr id="34" name="TextBox 34"/>
              <p:cNvSpPr txBox="1"/>
              <p:nvPr/>
            </p:nvSpPr>
            <p:spPr>
              <a:xfrm>
                <a:off x="3558921" y="3463766"/>
                <a:ext cx="479504" cy="161925"/>
              </a:xfrm>
              <a:prstGeom prst="rect">
                <a:avLst/>
              </a:prstGeom>
              <a:noFill/>
              <a:ln>
                <a:noFill/>
              </a:ln>
            </p:spPr>
            <p:txBody>
              <a:bodyPr wrap="none" lIns="0" tIns="0" rIns="0" bIns="0" anchor="t" anchorCtr="0">
                <a:spAutoFit/>
              </a:bodyPr>
              <a:lstStyle/>
              <a:p>
                <a:pPr algn="l"/>
                <a:r>
                  <a:rPr lang="zh-CN" sz="820" b="1" dirty="0">
                    <a:solidFill>
                      <a:srgbClr val="B3261E"/>
                    </a:solidFill>
                    <a:latin typeface="+mn-lt"/>
                    <a:ea typeface="+mn-ea"/>
                    <a:cs typeface="+mn-cs"/>
                  </a:rPr>
                  <a:t>美国 10%</a:t>
                </a:r>
              </a:p>
            </p:txBody>
          </p:sp>
          <p:sp>
            <p:nvSpPr>
              <p:cNvPr id="35" name="Polyline 35"/>
              <p:cNvSpPr/>
              <p:nvPr/>
            </p:nvSpPr>
            <p:spPr>
              <a:xfrm>
                <a:off x="760666" y="3917156"/>
                <a:ext cx="2726817" cy="167164"/>
              </a:xfrm>
              <a:custGeom>
                <a:avLst/>
                <a:gdLst/>
                <a:ahLst/>
                <a:cxnLst/>
                <a:rect l="l" t="t" r="r" b="b"/>
                <a:pathLst>
                  <a:path w="2726817" h="167164">
                    <a:moveTo>
                      <a:pt x="0" y="160972"/>
                    </a:moveTo>
                    <a:lnTo>
                      <a:pt x="454438" y="167164"/>
                    </a:lnTo>
                    <a:lnTo>
                      <a:pt x="908971" y="142399"/>
                    </a:lnTo>
                    <a:lnTo>
                      <a:pt x="1363408" y="43339"/>
                    </a:lnTo>
                    <a:lnTo>
                      <a:pt x="1817846" y="0"/>
                    </a:lnTo>
                    <a:lnTo>
                      <a:pt x="2272379" y="43339"/>
                    </a:lnTo>
                    <a:lnTo>
                      <a:pt x="2726817" y="30956"/>
                    </a:lnTo>
                  </a:path>
                </a:pathLst>
              </a:custGeom>
              <a:noFill/>
              <a:ln w="19050">
                <a:solidFill>
                  <a:schemeClr val="accent6"/>
                </a:solidFill>
                <a:round/>
              </a:ln>
            </p:spPr>
          </p:sp>
          <p:sp>
            <p:nvSpPr>
              <p:cNvPr id="36" name="Ellipse 36"/>
              <p:cNvSpPr/>
              <p:nvPr/>
            </p:nvSpPr>
            <p:spPr>
              <a:xfrm>
                <a:off x="732092" y="4049554"/>
                <a:ext cx="57150" cy="57150"/>
              </a:xfrm>
              <a:prstGeom prst="ellipse">
                <a:avLst/>
              </a:prstGeom>
              <a:solidFill>
                <a:schemeClr val="accent6"/>
              </a:solidFill>
              <a:ln>
                <a:noFill/>
              </a:ln>
            </p:spPr>
          </p:sp>
          <p:sp>
            <p:nvSpPr>
              <p:cNvPr id="37" name="Ellipse 37"/>
              <p:cNvSpPr/>
              <p:nvPr/>
            </p:nvSpPr>
            <p:spPr>
              <a:xfrm>
                <a:off x="1186529" y="4055745"/>
                <a:ext cx="57150" cy="57150"/>
              </a:xfrm>
              <a:prstGeom prst="ellipse">
                <a:avLst/>
              </a:prstGeom>
              <a:solidFill>
                <a:schemeClr val="accent6"/>
              </a:solidFill>
              <a:ln>
                <a:noFill/>
              </a:ln>
            </p:spPr>
          </p:sp>
          <p:sp>
            <p:nvSpPr>
              <p:cNvPr id="38" name="Ellipse 38"/>
              <p:cNvSpPr/>
              <p:nvPr/>
            </p:nvSpPr>
            <p:spPr>
              <a:xfrm>
                <a:off x="1641062" y="4030980"/>
                <a:ext cx="57150" cy="57150"/>
              </a:xfrm>
              <a:prstGeom prst="ellipse">
                <a:avLst/>
              </a:prstGeom>
              <a:solidFill>
                <a:schemeClr val="accent6"/>
              </a:solidFill>
              <a:ln>
                <a:noFill/>
              </a:ln>
            </p:spPr>
          </p:sp>
          <p:sp>
            <p:nvSpPr>
              <p:cNvPr id="39" name="Ellipse 39"/>
              <p:cNvSpPr/>
              <p:nvPr/>
            </p:nvSpPr>
            <p:spPr>
              <a:xfrm>
                <a:off x="2095500" y="3931920"/>
                <a:ext cx="57150" cy="57150"/>
              </a:xfrm>
              <a:prstGeom prst="ellipse">
                <a:avLst/>
              </a:prstGeom>
              <a:solidFill>
                <a:schemeClr val="accent6"/>
              </a:solidFill>
              <a:ln>
                <a:noFill/>
              </a:ln>
            </p:spPr>
          </p:sp>
          <p:sp>
            <p:nvSpPr>
              <p:cNvPr id="40" name="Ellipse 40"/>
              <p:cNvSpPr/>
              <p:nvPr/>
            </p:nvSpPr>
            <p:spPr>
              <a:xfrm>
                <a:off x="2549938" y="3888581"/>
                <a:ext cx="57150" cy="57150"/>
              </a:xfrm>
              <a:prstGeom prst="ellipse">
                <a:avLst/>
              </a:prstGeom>
              <a:solidFill>
                <a:schemeClr val="accent6"/>
              </a:solidFill>
              <a:ln>
                <a:noFill/>
              </a:ln>
            </p:spPr>
          </p:sp>
          <p:sp>
            <p:nvSpPr>
              <p:cNvPr id="41" name="Ellipse 41"/>
              <p:cNvSpPr/>
              <p:nvPr/>
            </p:nvSpPr>
            <p:spPr>
              <a:xfrm>
                <a:off x="3004471" y="3931920"/>
                <a:ext cx="57150" cy="57150"/>
              </a:xfrm>
              <a:prstGeom prst="ellipse">
                <a:avLst/>
              </a:prstGeom>
              <a:solidFill>
                <a:schemeClr val="accent6"/>
              </a:solidFill>
              <a:ln>
                <a:noFill/>
              </a:ln>
            </p:spPr>
          </p:sp>
          <p:sp>
            <p:nvSpPr>
              <p:cNvPr id="42" name="Ellipse 42"/>
              <p:cNvSpPr/>
              <p:nvPr/>
            </p:nvSpPr>
            <p:spPr>
              <a:xfrm>
                <a:off x="3458908" y="3919538"/>
                <a:ext cx="57150" cy="57150"/>
              </a:xfrm>
              <a:prstGeom prst="ellipse">
                <a:avLst/>
              </a:prstGeom>
              <a:solidFill>
                <a:schemeClr val="accent6"/>
              </a:solidFill>
              <a:ln>
                <a:noFill/>
              </a:ln>
            </p:spPr>
          </p:sp>
          <p:sp>
            <p:nvSpPr>
              <p:cNvPr id="43" name="TextBox 43"/>
              <p:cNvSpPr txBox="1"/>
              <p:nvPr/>
            </p:nvSpPr>
            <p:spPr>
              <a:xfrm>
                <a:off x="3558921" y="3897154"/>
                <a:ext cx="415754" cy="161925"/>
              </a:xfrm>
              <a:prstGeom prst="rect">
                <a:avLst/>
              </a:prstGeom>
              <a:noFill/>
              <a:ln>
                <a:noFill/>
              </a:ln>
            </p:spPr>
            <p:txBody>
              <a:bodyPr wrap="none" lIns="0" tIns="0" rIns="0" bIns="0" anchor="t" anchorCtr="0">
                <a:spAutoFit/>
              </a:bodyPr>
              <a:lstStyle/>
              <a:p>
                <a:pPr algn="l"/>
                <a:r>
                  <a:rPr lang="zh-CN" sz="820" b="1" dirty="0">
                    <a:solidFill>
                      <a:schemeClr val="accent6"/>
                    </a:solidFill>
                    <a:latin typeface="+mn-lt"/>
                    <a:ea typeface="+mn-ea"/>
                    <a:cs typeface="+mn-cs"/>
                  </a:rPr>
                  <a:t>日本 3%</a:t>
                </a:r>
              </a:p>
            </p:txBody>
          </p:sp>
          <p:sp>
            <p:nvSpPr>
              <p:cNvPr id="44" name="TextBox 44"/>
              <p:cNvSpPr txBox="1"/>
              <p:nvPr/>
            </p:nvSpPr>
            <p:spPr>
              <a:xfrm>
                <a:off x="633108"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2019</a:t>
                </a:r>
              </a:p>
            </p:txBody>
          </p:sp>
          <p:sp>
            <p:nvSpPr>
              <p:cNvPr id="45" name="TextBox 45"/>
              <p:cNvSpPr txBox="1"/>
              <p:nvPr/>
            </p:nvSpPr>
            <p:spPr>
              <a:xfrm>
                <a:off x="1087546"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2020</a:t>
                </a:r>
              </a:p>
            </p:txBody>
          </p:sp>
          <p:sp>
            <p:nvSpPr>
              <p:cNvPr id="46" name="TextBox 46"/>
              <p:cNvSpPr txBox="1"/>
              <p:nvPr/>
            </p:nvSpPr>
            <p:spPr>
              <a:xfrm>
                <a:off x="1542079"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2021</a:t>
                </a:r>
              </a:p>
            </p:txBody>
          </p:sp>
          <p:sp>
            <p:nvSpPr>
              <p:cNvPr id="47" name="TextBox 47"/>
              <p:cNvSpPr txBox="1"/>
              <p:nvPr/>
            </p:nvSpPr>
            <p:spPr>
              <a:xfrm>
                <a:off x="1996516"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2022</a:t>
                </a:r>
              </a:p>
            </p:txBody>
          </p:sp>
          <p:sp>
            <p:nvSpPr>
              <p:cNvPr id="48" name="TextBox 48"/>
              <p:cNvSpPr txBox="1"/>
              <p:nvPr/>
            </p:nvSpPr>
            <p:spPr>
              <a:xfrm>
                <a:off x="2450954"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2023</a:t>
                </a:r>
              </a:p>
            </p:txBody>
          </p:sp>
          <p:sp>
            <p:nvSpPr>
              <p:cNvPr id="49" name="TextBox 49"/>
              <p:cNvSpPr txBox="1"/>
              <p:nvPr/>
            </p:nvSpPr>
            <p:spPr>
              <a:xfrm>
                <a:off x="2905487"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2024</a:t>
                </a:r>
              </a:p>
            </p:txBody>
          </p:sp>
          <p:sp>
            <p:nvSpPr>
              <p:cNvPr id="50" name="TextBox 50"/>
              <p:cNvSpPr txBox="1"/>
              <p:nvPr/>
            </p:nvSpPr>
            <p:spPr>
              <a:xfrm>
                <a:off x="3359925"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2025</a:t>
                </a:r>
              </a:p>
            </p:txBody>
          </p:sp>
          <p:sp>
            <p:nvSpPr>
              <p:cNvPr id="51" name="TextBox 51"/>
              <p:cNvSpPr txBox="1"/>
              <p:nvPr/>
            </p:nvSpPr>
            <p:spPr>
              <a:xfrm>
                <a:off x="1423988" y="2158841"/>
                <a:ext cx="942307" cy="161925"/>
              </a:xfrm>
              <a:prstGeom prst="rect">
                <a:avLst/>
              </a:prstGeom>
              <a:noFill/>
              <a:ln>
                <a:noFill/>
              </a:ln>
            </p:spPr>
            <p:txBody>
              <a:bodyPr wrap="none" lIns="0" tIns="0" rIns="0" bIns="0" anchor="t" anchorCtr="0">
                <a:spAutoFit/>
              </a:bodyPr>
              <a:lstStyle/>
              <a:p>
                <a:pPr algn="l"/>
                <a:r>
                  <a:rPr lang="zh-CN" sz="820" dirty="0">
                    <a:solidFill>
                      <a:srgbClr val="B3261E"/>
                    </a:solidFill>
                    <a:latin typeface="+mn-lt"/>
                    <a:ea typeface="+mn-ea"/>
                    <a:cs typeface="+mn-cs"/>
                  </a:rPr>
                  <a:t>美国 2024→25 持平</a:t>
                </a:r>
              </a:p>
            </p:txBody>
          </p:sp>
        </p:grpSp>
      </p:grpSp>
      <p:grpSp>
        <p:nvGrpSpPr>
          <p:cNvPr id="58" name="exhibit-b-head"/>
          <p:cNvGrpSpPr/>
          <p:nvPr/>
        </p:nvGrpSpPr>
        <p:grpSpPr>
          <a:xfrm>
            <a:off x="4529138" y="1552575"/>
            <a:ext cx="1614729" cy="349091"/>
            <a:chOff x="4529138" y="1552575"/>
            <a:chExt cx="1614729" cy="349091"/>
          </a:xfrm>
        </p:grpSpPr>
        <p:sp>
          <p:nvSpPr>
            <p:cNvPr id="54" name="Ellipse 54"/>
            <p:cNvSpPr/>
            <p:nvPr/>
          </p:nvSpPr>
          <p:spPr>
            <a:xfrm>
              <a:off x="4533900" y="1552575"/>
              <a:ext cx="152400" cy="152400"/>
            </a:xfrm>
            <a:prstGeom prst="ellipse">
              <a:avLst/>
            </a:prstGeom>
            <a:solidFill>
              <a:schemeClr val="accent1"/>
            </a:solidFill>
            <a:ln>
              <a:noFill/>
            </a:ln>
          </p:spPr>
        </p:sp>
        <p:sp>
          <p:nvSpPr>
            <p:cNvPr id="55" name="TextBox 55"/>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56" name="TextBox 56"/>
            <p:cNvSpPr txBox="1"/>
            <p:nvPr/>
          </p:nvSpPr>
          <p:spPr>
            <a:xfrm>
              <a:off x="4738497" y="1571149"/>
              <a:ext cx="1405370"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销量:美国、日本、韩国</a:t>
              </a:r>
            </a:p>
          </p:txBody>
        </p:sp>
        <p:sp>
          <p:nvSpPr>
            <p:cNvPr id="57" name="TextBox 57"/>
            <p:cNvSpPr txBox="1"/>
            <p:nvPr/>
          </p:nvSpPr>
          <p:spPr>
            <a:xfrm>
              <a:off x="4529138" y="1739741"/>
              <a:ext cx="127347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万辆;2023 / 2024 / 2025</a:t>
              </a:r>
            </a:p>
          </p:txBody>
        </p:sp>
      </p:grpSp>
      <p:grpSp>
        <p:nvGrpSpPr>
          <p:cNvPr id="88" name="mature-sales"/>
          <p:cNvGrpSpPr/>
          <p:nvPr/>
        </p:nvGrpSpPr>
        <p:grpSpPr>
          <a:xfrm>
            <a:off x="4610100" y="2328767"/>
            <a:ext cx="3771900" cy="2173224"/>
            <a:chOff x="4610100" y="2328767"/>
            <a:chExt cx="3771900" cy="2173224"/>
          </a:xfrm>
        </p:grpSpPr>
        <p:grpSp>
          <p:nvGrpSpPr>
            <p:cNvPr id="87" name="mature-sales-chartArea"/>
            <p:cNvGrpSpPr/>
            <p:nvPr/>
          </p:nvGrpSpPr>
          <p:grpSpPr>
            <a:xfrm>
              <a:off x="4610100" y="2328767"/>
              <a:ext cx="3771900" cy="2173224"/>
              <a:chOff x="4610100" y="2328767"/>
              <a:chExt cx="3771900" cy="2173224"/>
            </a:xfrm>
          </p:grpSpPr>
          <p:sp>
            <p:nvSpPr>
              <p:cNvPr id="59" name="Line 59"/>
              <p:cNvSpPr/>
              <p:nvPr/>
            </p:nvSpPr>
            <p:spPr>
              <a:xfrm>
                <a:off x="4610100" y="4133850"/>
                <a:ext cx="3771900" cy="9525"/>
              </a:xfrm>
              <a:custGeom>
                <a:avLst/>
                <a:gdLst/>
                <a:ahLst/>
                <a:cxnLst/>
                <a:rect l="l" t="t" r="r" b="b"/>
                <a:pathLst>
                  <a:path w="3771900" h="9525">
                    <a:moveTo>
                      <a:pt x="0" y="0"/>
                    </a:moveTo>
                    <a:lnTo>
                      <a:pt x="3771900" y="0"/>
                    </a:lnTo>
                  </a:path>
                </a:pathLst>
              </a:custGeom>
              <a:noFill/>
              <a:ln w="7144">
                <a:solidFill>
                  <a:schemeClr val="accent6"/>
                </a:solidFill>
              </a:ln>
            </p:spPr>
          </p:sp>
          <p:sp>
            <p:nvSpPr>
              <p:cNvPr id="60" name="Rectangle 60"/>
              <p:cNvSpPr/>
              <p:nvPr/>
            </p:nvSpPr>
            <p:spPr>
              <a:xfrm>
                <a:off x="4714875" y="2674048"/>
                <a:ext cx="323850" cy="1459802"/>
              </a:xfrm>
              <a:prstGeom prst="rect">
                <a:avLst/>
              </a:prstGeom>
              <a:solidFill>
                <a:schemeClr val="accent6"/>
              </a:solidFill>
              <a:ln>
                <a:noFill/>
              </a:ln>
            </p:spPr>
          </p:sp>
          <p:sp>
            <p:nvSpPr>
              <p:cNvPr id="61" name="TextBox 61"/>
              <p:cNvSpPr txBox="1"/>
              <p:nvPr/>
            </p:nvSpPr>
            <p:spPr>
              <a:xfrm>
                <a:off x="4779940" y="2537365"/>
                <a:ext cx="193719"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140</a:t>
                </a:r>
              </a:p>
            </p:txBody>
          </p:sp>
          <p:sp>
            <p:nvSpPr>
              <p:cNvPr id="62" name="Rectangle 62"/>
              <p:cNvSpPr/>
              <p:nvPr/>
            </p:nvSpPr>
            <p:spPr>
              <a:xfrm>
                <a:off x="5076825" y="2465451"/>
                <a:ext cx="323850" cy="1668399"/>
              </a:xfrm>
              <a:prstGeom prst="rect">
                <a:avLst/>
              </a:prstGeom>
              <a:solidFill>
                <a:schemeClr val="accent3"/>
              </a:solidFill>
              <a:ln>
                <a:noFill/>
              </a:ln>
            </p:spPr>
          </p:sp>
          <p:sp>
            <p:nvSpPr>
              <p:cNvPr id="63" name="TextBox 63"/>
              <p:cNvSpPr txBox="1"/>
              <p:nvPr/>
            </p:nvSpPr>
            <p:spPr>
              <a:xfrm>
                <a:off x="5141890" y="2328767"/>
                <a:ext cx="193719"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160</a:t>
                </a:r>
              </a:p>
            </p:txBody>
          </p:sp>
          <p:sp>
            <p:nvSpPr>
              <p:cNvPr id="64" name="Rectangle 64"/>
              <p:cNvSpPr/>
              <p:nvPr/>
            </p:nvSpPr>
            <p:spPr>
              <a:xfrm>
                <a:off x="5438775" y="2569750"/>
                <a:ext cx="323850" cy="1564100"/>
              </a:xfrm>
              <a:prstGeom prst="rect">
                <a:avLst/>
              </a:prstGeom>
              <a:solidFill>
                <a:srgbClr val="B3261E"/>
              </a:solidFill>
              <a:ln>
                <a:noFill/>
              </a:ln>
            </p:spPr>
          </p:sp>
          <p:sp>
            <p:nvSpPr>
              <p:cNvPr id="65" name="TextBox 65"/>
              <p:cNvSpPr txBox="1"/>
              <p:nvPr/>
            </p:nvSpPr>
            <p:spPr>
              <a:xfrm>
                <a:off x="5503840" y="2433066"/>
                <a:ext cx="193719"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150</a:t>
                </a:r>
              </a:p>
            </p:txBody>
          </p:sp>
          <p:sp>
            <p:nvSpPr>
              <p:cNvPr id="66" name="TextBox 66"/>
              <p:cNvSpPr txBox="1"/>
              <p:nvPr/>
            </p:nvSpPr>
            <p:spPr>
              <a:xfrm>
                <a:off x="5123599" y="4187666"/>
                <a:ext cx="230302"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美国</a:t>
                </a:r>
              </a:p>
            </p:txBody>
          </p:sp>
          <p:sp>
            <p:nvSpPr>
              <p:cNvPr id="67" name="Rectangle 67"/>
              <p:cNvSpPr/>
              <p:nvPr/>
            </p:nvSpPr>
            <p:spPr>
              <a:xfrm>
                <a:off x="5972175" y="3987832"/>
                <a:ext cx="323850" cy="146018"/>
              </a:xfrm>
              <a:prstGeom prst="rect">
                <a:avLst/>
              </a:prstGeom>
              <a:solidFill>
                <a:schemeClr val="accent6"/>
              </a:solidFill>
              <a:ln>
                <a:noFill/>
              </a:ln>
            </p:spPr>
          </p:sp>
          <p:sp>
            <p:nvSpPr>
              <p:cNvPr id="68" name="TextBox 68"/>
              <p:cNvSpPr txBox="1"/>
              <p:nvPr/>
            </p:nvSpPr>
            <p:spPr>
              <a:xfrm>
                <a:off x="6067939" y="3851148"/>
                <a:ext cx="132321"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14</a:t>
                </a:r>
              </a:p>
            </p:txBody>
          </p:sp>
          <p:sp>
            <p:nvSpPr>
              <p:cNvPr id="69" name="Rectangle 69"/>
              <p:cNvSpPr/>
              <p:nvPr/>
            </p:nvSpPr>
            <p:spPr>
              <a:xfrm>
                <a:off x="6334125" y="4029551"/>
                <a:ext cx="323850" cy="104299"/>
              </a:xfrm>
              <a:prstGeom prst="rect">
                <a:avLst/>
              </a:prstGeom>
              <a:solidFill>
                <a:schemeClr val="accent3"/>
              </a:solidFill>
              <a:ln>
                <a:noFill/>
              </a:ln>
            </p:spPr>
          </p:sp>
          <p:sp>
            <p:nvSpPr>
              <p:cNvPr id="70" name="TextBox 70"/>
              <p:cNvSpPr txBox="1"/>
              <p:nvPr/>
            </p:nvSpPr>
            <p:spPr>
              <a:xfrm>
                <a:off x="6429889" y="3892868"/>
                <a:ext cx="132321"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10</a:t>
                </a:r>
              </a:p>
            </p:txBody>
          </p:sp>
          <p:sp>
            <p:nvSpPr>
              <p:cNvPr id="71" name="Rectangle 71"/>
              <p:cNvSpPr/>
              <p:nvPr/>
            </p:nvSpPr>
            <p:spPr>
              <a:xfrm>
                <a:off x="6696075" y="4029551"/>
                <a:ext cx="323850" cy="104299"/>
              </a:xfrm>
              <a:prstGeom prst="rect">
                <a:avLst/>
              </a:prstGeom>
              <a:solidFill>
                <a:srgbClr val="7F7F7F"/>
              </a:solidFill>
              <a:ln>
                <a:noFill/>
              </a:ln>
            </p:spPr>
          </p:sp>
          <p:sp>
            <p:nvSpPr>
              <p:cNvPr id="72" name="TextBox 72"/>
              <p:cNvSpPr txBox="1"/>
              <p:nvPr/>
            </p:nvSpPr>
            <p:spPr>
              <a:xfrm>
                <a:off x="6791839" y="3892868"/>
                <a:ext cx="132321"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10</a:t>
                </a:r>
              </a:p>
            </p:txBody>
          </p:sp>
          <p:sp>
            <p:nvSpPr>
              <p:cNvPr id="73" name="TextBox 73"/>
              <p:cNvSpPr txBox="1"/>
              <p:nvPr/>
            </p:nvSpPr>
            <p:spPr>
              <a:xfrm>
                <a:off x="6380899" y="4187666"/>
                <a:ext cx="230302"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日本</a:t>
                </a:r>
              </a:p>
            </p:txBody>
          </p:sp>
          <p:sp>
            <p:nvSpPr>
              <p:cNvPr id="74" name="Rectangle 74"/>
              <p:cNvSpPr/>
              <p:nvPr/>
            </p:nvSpPr>
            <p:spPr>
              <a:xfrm>
                <a:off x="7229475" y="3998309"/>
                <a:ext cx="323850" cy="135541"/>
              </a:xfrm>
              <a:prstGeom prst="rect">
                <a:avLst/>
              </a:prstGeom>
              <a:solidFill>
                <a:schemeClr val="accent6"/>
              </a:solidFill>
              <a:ln>
                <a:noFill/>
              </a:ln>
            </p:spPr>
          </p:sp>
          <p:sp>
            <p:nvSpPr>
              <p:cNvPr id="75" name="TextBox 75"/>
              <p:cNvSpPr txBox="1"/>
              <p:nvPr/>
            </p:nvSpPr>
            <p:spPr>
              <a:xfrm>
                <a:off x="7325239" y="3861625"/>
                <a:ext cx="132321"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13</a:t>
                </a:r>
              </a:p>
            </p:txBody>
          </p:sp>
          <p:sp>
            <p:nvSpPr>
              <p:cNvPr id="76" name="Rectangle 76"/>
              <p:cNvSpPr/>
              <p:nvPr/>
            </p:nvSpPr>
            <p:spPr>
              <a:xfrm>
                <a:off x="7591425" y="3998309"/>
                <a:ext cx="323850" cy="135541"/>
              </a:xfrm>
              <a:prstGeom prst="rect">
                <a:avLst/>
              </a:prstGeom>
              <a:solidFill>
                <a:schemeClr val="accent3"/>
              </a:solidFill>
              <a:ln>
                <a:noFill/>
              </a:ln>
            </p:spPr>
          </p:sp>
          <p:sp>
            <p:nvSpPr>
              <p:cNvPr id="77" name="TextBox 77"/>
              <p:cNvSpPr txBox="1"/>
              <p:nvPr/>
            </p:nvSpPr>
            <p:spPr>
              <a:xfrm>
                <a:off x="7687189" y="3861625"/>
                <a:ext cx="132321"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13</a:t>
                </a:r>
              </a:p>
            </p:txBody>
          </p:sp>
          <p:sp>
            <p:nvSpPr>
              <p:cNvPr id="78" name="Rectangle 78"/>
              <p:cNvSpPr/>
              <p:nvPr/>
            </p:nvSpPr>
            <p:spPr>
              <a:xfrm>
                <a:off x="7953375" y="3904488"/>
                <a:ext cx="323850" cy="229362"/>
              </a:xfrm>
              <a:prstGeom prst="rect">
                <a:avLst/>
              </a:prstGeom>
              <a:solidFill>
                <a:schemeClr val="accent2"/>
              </a:solidFill>
              <a:ln>
                <a:noFill/>
              </a:ln>
            </p:spPr>
          </p:sp>
          <p:sp>
            <p:nvSpPr>
              <p:cNvPr id="79" name="TextBox 79"/>
              <p:cNvSpPr txBox="1"/>
              <p:nvPr/>
            </p:nvSpPr>
            <p:spPr>
              <a:xfrm>
                <a:off x="8049139" y="3767804"/>
                <a:ext cx="132321"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22</a:t>
                </a:r>
              </a:p>
            </p:txBody>
          </p:sp>
          <p:sp>
            <p:nvSpPr>
              <p:cNvPr id="80" name="TextBox 80"/>
              <p:cNvSpPr txBox="1"/>
              <p:nvPr/>
            </p:nvSpPr>
            <p:spPr>
              <a:xfrm>
                <a:off x="7638199" y="4187666"/>
                <a:ext cx="230302"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韩国</a:t>
                </a:r>
              </a:p>
            </p:txBody>
          </p:sp>
          <p:sp>
            <p:nvSpPr>
              <p:cNvPr id="81" name="Rectangle 81"/>
              <p:cNvSpPr/>
              <p:nvPr/>
            </p:nvSpPr>
            <p:spPr>
              <a:xfrm>
                <a:off x="4610100" y="4343400"/>
                <a:ext cx="95250" cy="95250"/>
              </a:xfrm>
              <a:prstGeom prst="rect">
                <a:avLst/>
              </a:prstGeom>
              <a:solidFill>
                <a:schemeClr val="accent6"/>
              </a:solidFill>
              <a:ln>
                <a:noFill/>
              </a:ln>
            </p:spPr>
          </p:sp>
          <p:sp>
            <p:nvSpPr>
              <p:cNvPr id="82" name="TextBox 82"/>
              <p:cNvSpPr txBox="1"/>
              <p:nvPr/>
            </p:nvSpPr>
            <p:spPr>
              <a:xfrm>
                <a:off x="4738688" y="4340066"/>
                <a:ext cx="252379"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2023</a:t>
                </a:r>
              </a:p>
            </p:txBody>
          </p:sp>
          <p:sp>
            <p:nvSpPr>
              <p:cNvPr id="83" name="Rectangle 83"/>
              <p:cNvSpPr/>
              <p:nvPr/>
            </p:nvSpPr>
            <p:spPr>
              <a:xfrm>
                <a:off x="5391150" y="4343400"/>
                <a:ext cx="95250" cy="95250"/>
              </a:xfrm>
              <a:prstGeom prst="rect">
                <a:avLst/>
              </a:prstGeom>
              <a:solidFill>
                <a:schemeClr val="accent3"/>
              </a:solidFill>
              <a:ln>
                <a:noFill/>
              </a:ln>
            </p:spPr>
          </p:sp>
          <p:sp>
            <p:nvSpPr>
              <p:cNvPr id="84" name="TextBox 84"/>
              <p:cNvSpPr txBox="1"/>
              <p:nvPr/>
            </p:nvSpPr>
            <p:spPr>
              <a:xfrm>
                <a:off x="5519738" y="4340066"/>
                <a:ext cx="252379"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2024</a:t>
                </a:r>
              </a:p>
            </p:txBody>
          </p:sp>
          <p:sp>
            <p:nvSpPr>
              <p:cNvPr id="85" name="Rectangle 85"/>
              <p:cNvSpPr/>
              <p:nvPr/>
            </p:nvSpPr>
            <p:spPr>
              <a:xfrm>
                <a:off x="6172200" y="4343400"/>
                <a:ext cx="95250" cy="95250"/>
              </a:xfrm>
              <a:prstGeom prst="rect">
                <a:avLst/>
              </a:prstGeom>
              <a:solidFill>
                <a:srgbClr val="B3261E"/>
              </a:solidFill>
              <a:ln>
                <a:noFill/>
              </a:ln>
            </p:spPr>
          </p:sp>
          <p:sp>
            <p:nvSpPr>
              <p:cNvPr id="86" name="TextBox 86"/>
              <p:cNvSpPr txBox="1"/>
              <p:nvPr/>
            </p:nvSpPr>
            <p:spPr>
              <a:xfrm>
                <a:off x="6300788" y="4340066"/>
                <a:ext cx="252379"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2025</a:t>
                </a:r>
              </a:p>
            </p:txBody>
          </p:sp>
        </p:grpSp>
      </p:grpSp>
      <p:grpSp>
        <p:nvGrpSpPr>
          <p:cNvPr id="93" name="exhibit-c-head"/>
          <p:cNvGrpSpPr/>
          <p:nvPr/>
        </p:nvGrpSpPr>
        <p:grpSpPr>
          <a:xfrm>
            <a:off x="452438" y="4581525"/>
            <a:ext cx="2609172" cy="349091"/>
            <a:chOff x="452438" y="4581525"/>
            <a:chExt cx="2609172" cy="349091"/>
          </a:xfrm>
        </p:grpSpPr>
        <p:sp>
          <p:nvSpPr>
            <p:cNvPr id="89" name="Ellipse 89"/>
            <p:cNvSpPr/>
            <p:nvPr/>
          </p:nvSpPr>
          <p:spPr>
            <a:xfrm>
              <a:off x="457200" y="4581525"/>
              <a:ext cx="152400" cy="152400"/>
            </a:xfrm>
            <a:prstGeom prst="ellipse">
              <a:avLst/>
            </a:prstGeom>
            <a:solidFill>
              <a:schemeClr val="accent1"/>
            </a:solidFill>
            <a:ln>
              <a:noFill/>
            </a:ln>
          </p:spPr>
        </p:sp>
        <p:sp>
          <p:nvSpPr>
            <p:cNvPr id="90" name="TextBox 90"/>
            <p:cNvSpPr txBox="1"/>
            <p:nvPr/>
          </p:nvSpPr>
          <p:spPr>
            <a:xfrm>
              <a:off x="490115" y="46101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C</a:t>
              </a:r>
            </a:p>
          </p:txBody>
        </p:sp>
        <p:sp>
          <p:nvSpPr>
            <p:cNvPr id="91" name="TextBox 91"/>
            <p:cNvSpPr txBox="1"/>
            <p:nvPr/>
          </p:nvSpPr>
          <p:spPr>
            <a:xfrm>
              <a:off x="661797" y="4600099"/>
              <a:ext cx="1321266"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成熟市场 2025 年概览</a:t>
              </a:r>
            </a:p>
          </p:txBody>
        </p:sp>
        <p:sp>
          <p:nvSpPr>
            <p:cNvPr id="92" name="TextBox 92"/>
            <p:cNvSpPr txBox="1"/>
            <p:nvPr/>
          </p:nvSpPr>
          <p:spPr>
            <a:xfrm>
              <a:off x="452438" y="4768691"/>
              <a:ext cx="260917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销量:万辆;渗透率:%;销量变化为 2025 年较 2023 年</a:t>
              </a:r>
            </a:p>
          </p:txBody>
        </p:sp>
      </p:grpSp>
      <p:grpSp>
        <p:nvGrpSpPr>
          <p:cNvPr id="124" name="mature-overview"/>
          <p:cNvGrpSpPr/>
          <p:nvPr/>
        </p:nvGrpSpPr>
        <p:grpSpPr>
          <a:xfrm>
            <a:off x="457200" y="5006816"/>
            <a:ext cx="8001000" cy="951548"/>
            <a:chOff x="457200" y="5006816"/>
            <a:chExt cx="8001000" cy="951548"/>
          </a:xfrm>
        </p:grpSpPr>
        <p:sp>
          <p:nvSpPr>
            <p:cNvPr id="94" name="Line 94"/>
            <p:cNvSpPr/>
            <p:nvPr/>
          </p:nvSpPr>
          <p:spPr>
            <a:xfrm>
              <a:off x="457200" y="5181600"/>
              <a:ext cx="8001000" cy="9525"/>
            </a:xfrm>
            <a:custGeom>
              <a:avLst/>
              <a:gdLst/>
              <a:ahLst/>
              <a:cxnLst/>
              <a:rect l="l" t="t" r="r" b="b"/>
              <a:pathLst>
                <a:path w="8001000" h="9525">
                  <a:moveTo>
                    <a:pt x="0" y="0"/>
                  </a:moveTo>
                  <a:lnTo>
                    <a:pt x="8001000" y="0"/>
                  </a:lnTo>
                </a:path>
              </a:pathLst>
            </a:custGeom>
            <a:noFill/>
            <a:ln w="9525">
              <a:solidFill>
                <a:schemeClr val="accent1"/>
              </a:solidFill>
            </a:ln>
          </p:spPr>
        </p:sp>
        <p:sp>
          <p:nvSpPr>
            <p:cNvPr id="95" name="TextBox 95"/>
            <p:cNvSpPr txBox="1"/>
            <p:nvPr/>
          </p:nvSpPr>
          <p:spPr>
            <a:xfrm>
              <a:off x="528638" y="500681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市场</a:t>
              </a:r>
            </a:p>
          </p:txBody>
        </p:sp>
        <p:sp>
          <p:nvSpPr>
            <p:cNvPr id="96" name="TextBox 96"/>
            <p:cNvSpPr txBox="1"/>
            <p:nvPr/>
          </p:nvSpPr>
          <p:spPr>
            <a:xfrm>
              <a:off x="2913691" y="5006816"/>
              <a:ext cx="520071"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销量</a:t>
              </a:r>
            </a:p>
          </p:txBody>
        </p:sp>
        <p:sp>
          <p:nvSpPr>
            <p:cNvPr id="97" name="TextBox 97"/>
            <p:cNvSpPr txBox="1"/>
            <p:nvPr/>
          </p:nvSpPr>
          <p:spPr>
            <a:xfrm>
              <a:off x="4120916" y="5006816"/>
              <a:ext cx="932096"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2023→25 销量变化</a:t>
              </a:r>
            </a:p>
          </p:txBody>
        </p:sp>
        <p:sp>
          <p:nvSpPr>
            <p:cNvPr id="98" name="TextBox 98"/>
            <p:cNvSpPr txBox="1"/>
            <p:nvPr/>
          </p:nvSpPr>
          <p:spPr>
            <a:xfrm>
              <a:off x="6041803" y="5006816"/>
              <a:ext cx="630460"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渗透率</a:t>
              </a:r>
            </a:p>
          </p:txBody>
        </p:sp>
        <p:sp>
          <p:nvSpPr>
            <p:cNvPr id="99" name="TextBox 99"/>
            <p:cNvSpPr txBox="1"/>
            <p:nvPr/>
          </p:nvSpPr>
          <p:spPr>
            <a:xfrm>
              <a:off x="6815138" y="5006816"/>
              <a:ext cx="561467"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优先级判断</a:t>
              </a:r>
            </a:p>
          </p:txBody>
        </p:sp>
        <p:sp>
          <p:nvSpPr>
            <p:cNvPr id="100" name="Line 100"/>
            <p:cNvSpPr/>
            <p:nvPr/>
          </p:nvSpPr>
          <p:spPr>
            <a:xfrm>
              <a:off x="457200" y="53721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01" name="TextBox 101"/>
            <p:cNvSpPr txBox="1"/>
            <p:nvPr/>
          </p:nvSpPr>
          <p:spPr>
            <a:xfrm>
              <a:off x="528638" y="5224939"/>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美国</a:t>
              </a:r>
            </a:p>
          </p:txBody>
        </p:sp>
        <p:sp>
          <p:nvSpPr>
            <p:cNvPr id="102" name="TextBox 102"/>
            <p:cNvSpPr txBox="1"/>
            <p:nvPr/>
          </p:nvSpPr>
          <p:spPr>
            <a:xfrm>
              <a:off x="3240043" y="5224939"/>
              <a:ext cx="193719"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150</a:t>
              </a:r>
            </a:p>
          </p:txBody>
        </p:sp>
        <p:sp>
          <p:nvSpPr>
            <p:cNvPr id="103" name="TextBox 103"/>
            <p:cNvSpPr txBox="1"/>
            <p:nvPr/>
          </p:nvSpPr>
          <p:spPr>
            <a:xfrm>
              <a:off x="4819465" y="5224939"/>
              <a:ext cx="233547"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+7%</a:t>
              </a:r>
            </a:p>
          </p:txBody>
        </p:sp>
        <p:sp>
          <p:nvSpPr>
            <p:cNvPr id="104" name="TextBox 104"/>
            <p:cNvSpPr txBox="1"/>
            <p:nvPr/>
          </p:nvSpPr>
          <p:spPr>
            <a:xfrm>
              <a:off x="6441784" y="5224939"/>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10%</a:t>
              </a:r>
            </a:p>
          </p:txBody>
        </p:sp>
        <p:sp>
          <p:nvSpPr>
            <p:cNvPr id="105" name="TextBox 105"/>
            <p:cNvSpPr txBox="1"/>
            <p:nvPr/>
          </p:nvSpPr>
          <p:spPr>
            <a:xfrm>
              <a:off x="6815138" y="5224939"/>
              <a:ext cx="1200064" cy="161925"/>
            </a:xfrm>
            <a:prstGeom prst="rect">
              <a:avLst/>
            </a:prstGeom>
            <a:noFill/>
            <a:ln>
              <a:noFill/>
            </a:ln>
          </p:spPr>
          <p:txBody>
            <a:bodyPr wrap="none" lIns="0" tIns="0" rIns="0" bIns="0" anchor="t" anchorCtr="0">
              <a:spAutoFit/>
            </a:bodyPr>
            <a:lstStyle/>
            <a:p>
              <a:pPr algn="l"/>
              <a:r>
                <a:rPr lang="zh-CN" sz="820" b="1" dirty="0">
                  <a:solidFill>
                    <a:schemeClr val="accent5"/>
                  </a:solidFill>
                  <a:latin typeface="+mn-lt"/>
                  <a:ea typeface="+mn-ea"/>
                  <a:cs typeface="+mn-cs"/>
                </a:rPr>
                <a:t>三级 · 守势,不新增产能</a:t>
              </a:r>
            </a:p>
          </p:txBody>
        </p:sp>
        <p:sp>
          <p:nvSpPr>
            <p:cNvPr id="106" name="Line 106"/>
            <p:cNvSpPr/>
            <p:nvPr/>
          </p:nvSpPr>
          <p:spPr>
            <a:xfrm>
              <a:off x="457200" y="55626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07" name="TextBox 107"/>
            <p:cNvSpPr txBox="1"/>
            <p:nvPr/>
          </p:nvSpPr>
          <p:spPr>
            <a:xfrm>
              <a:off x="528638" y="5415439"/>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日本</a:t>
              </a:r>
            </a:p>
          </p:txBody>
        </p:sp>
        <p:sp>
          <p:nvSpPr>
            <p:cNvPr id="108" name="TextBox 108"/>
            <p:cNvSpPr txBox="1"/>
            <p:nvPr/>
          </p:nvSpPr>
          <p:spPr>
            <a:xfrm>
              <a:off x="3301441" y="54154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10</a:t>
              </a:r>
            </a:p>
          </p:txBody>
        </p:sp>
        <p:sp>
          <p:nvSpPr>
            <p:cNvPr id="109" name="TextBox 109"/>
            <p:cNvSpPr txBox="1"/>
            <p:nvPr/>
          </p:nvSpPr>
          <p:spPr>
            <a:xfrm>
              <a:off x="4758067" y="5415439"/>
              <a:ext cx="294945"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−29%</a:t>
              </a:r>
            </a:p>
          </p:txBody>
        </p:sp>
        <p:sp>
          <p:nvSpPr>
            <p:cNvPr id="110" name="TextBox 110"/>
            <p:cNvSpPr txBox="1"/>
            <p:nvPr/>
          </p:nvSpPr>
          <p:spPr>
            <a:xfrm>
              <a:off x="6503182" y="5415439"/>
              <a:ext cx="169080"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3%</a:t>
              </a:r>
            </a:p>
          </p:txBody>
        </p:sp>
        <p:sp>
          <p:nvSpPr>
            <p:cNvPr id="111" name="TextBox 111"/>
            <p:cNvSpPr txBox="1"/>
            <p:nvPr/>
          </p:nvSpPr>
          <p:spPr>
            <a:xfrm>
              <a:off x="6815138" y="5415439"/>
              <a:ext cx="584373" cy="161925"/>
            </a:xfrm>
            <a:prstGeom prst="rect">
              <a:avLst/>
            </a:prstGeom>
            <a:noFill/>
            <a:ln>
              <a:noFill/>
            </a:ln>
          </p:spPr>
          <p:txBody>
            <a:bodyPr wrap="none" lIns="0" tIns="0" rIns="0" bIns="0" anchor="t" anchorCtr="0">
              <a:spAutoFit/>
            </a:bodyPr>
            <a:lstStyle/>
            <a:p>
              <a:pPr algn="l"/>
              <a:r>
                <a:rPr lang="zh-CN" sz="820" b="1" dirty="0">
                  <a:solidFill>
                    <a:schemeClr val="accent5"/>
                  </a:solidFill>
                  <a:latin typeface="+mn-lt"/>
                  <a:ea typeface="+mn-ea"/>
                  <a:cs typeface="+mn-cs"/>
                </a:rPr>
                <a:t>三级 · 守势</a:t>
              </a:r>
            </a:p>
          </p:txBody>
        </p:sp>
        <p:sp>
          <p:nvSpPr>
            <p:cNvPr id="112" name="Line 112"/>
            <p:cNvSpPr/>
            <p:nvPr/>
          </p:nvSpPr>
          <p:spPr>
            <a:xfrm>
              <a:off x="457200" y="57531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13" name="TextBox 113"/>
            <p:cNvSpPr txBox="1"/>
            <p:nvPr/>
          </p:nvSpPr>
          <p:spPr>
            <a:xfrm>
              <a:off x="528638" y="5605939"/>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韩国</a:t>
              </a:r>
            </a:p>
          </p:txBody>
        </p:sp>
        <p:sp>
          <p:nvSpPr>
            <p:cNvPr id="114" name="TextBox 114"/>
            <p:cNvSpPr txBox="1"/>
            <p:nvPr/>
          </p:nvSpPr>
          <p:spPr>
            <a:xfrm>
              <a:off x="3301441" y="56059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22</a:t>
              </a:r>
            </a:p>
          </p:txBody>
        </p:sp>
        <p:sp>
          <p:nvSpPr>
            <p:cNvPr id="115" name="TextBox 115"/>
            <p:cNvSpPr txBox="1"/>
            <p:nvPr/>
          </p:nvSpPr>
          <p:spPr>
            <a:xfrm>
              <a:off x="4758067" y="5605939"/>
              <a:ext cx="294945"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+69%</a:t>
              </a:r>
            </a:p>
          </p:txBody>
        </p:sp>
        <p:sp>
          <p:nvSpPr>
            <p:cNvPr id="116" name="TextBox 116"/>
            <p:cNvSpPr txBox="1"/>
            <p:nvPr/>
          </p:nvSpPr>
          <p:spPr>
            <a:xfrm>
              <a:off x="6441784" y="5605939"/>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11%</a:t>
              </a:r>
            </a:p>
          </p:txBody>
        </p:sp>
        <p:sp>
          <p:nvSpPr>
            <p:cNvPr id="117" name="TextBox 117"/>
            <p:cNvSpPr txBox="1"/>
            <p:nvPr/>
          </p:nvSpPr>
          <p:spPr>
            <a:xfrm>
              <a:off x="6815138" y="5605939"/>
              <a:ext cx="805149"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二级 · 渠道试点</a:t>
              </a:r>
            </a:p>
          </p:txBody>
        </p:sp>
        <p:sp>
          <p:nvSpPr>
            <p:cNvPr id="118" name="Line 118"/>
            <p:cNvSpPr/>
            <p:nvPr/>
          </p:nvSpPr>
          <p:spPr>
            <a:xfrm>
              <a:off x="457200" y="59436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19" name="TextBox 119"/>
            <p:cNvSpPr txBox="1"/>
            <p:nvPr/>
          </p:nvSpPr>
          <p:spPr>
            <a:xfrm>
              <a:off x="528638" y="5796439"/>
              <a:ext cx="451079"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欧洲整体</a:t>
              </a:r>
            </a:p>
          </p:txBody>
        </p:sp>
        <p:sp>
          <p:nvSpPr>
            <p:cNvPr id="120" name="TextBox 120"/>
            <p:cNvSpPr txBox="1"/>
            <p:nvPr/>
          </p:nvSpPr>
          <p:spPr>
            <a:xfrm>
              <a:off x="3240043" y="5796439"/>
              <a:ext cx="193719"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420</a:t>
              </a:r>
            </a:p>
          </p:txBody>
        </p:sp>
        <p:sp>
          <p:nvSpPr>
            <p:cNvPr id="121" name="TextBox 121"/>
            <p:cNvSpPr txBox="1"/>
            <p:nvPr/>
          </p:nvSpPr>
          <p:spPr>
            <a:xfrm>
              <a:off x="4758067" y="5796439"/>
              <a:ext cx="294945"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+31%</a:t>
              </a:r>
            </a:p>
          </p:txBody>
        </p:sp>
        <p:sp>
          <p:nvSpPr>
            <p:cNvPr id="122" name="TextBox 122"/>
            <p:cNvSpPr txBox="1"/>
            <p:nvPr/>
          </p:nvSpPr>
          <p:spPr>
            <a:xfrm>
              <a:off x="6441784" y="5796439"/>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28%</a:t>
              </a:r>
            </a:p>
          </p:txBody>
        </p:sp>
        <p:sp>
          <p:nvSpPr>
            <p:cNvPr id="123" name="TextBox 123"/>
            <p:cNvSpPr txBox="1"/>
            <p:nvPr/>
          </p:nvSpPr>
          <p:spPr>
            <a:xfrm>
              <a:off x="6815138" y="5796439"/>
              <a:ext cx="1043036" cy="161925"/>
            </a:xfrm>
            <a:prstGeom prst="rect">
              <a:avLst/>
            </a:prstGeom>
            <a:noFill/>
            <a:ln>
              <a:noFill/>
            </a:ln>
          </p:spPr>
          <p:txBody>
            <a:bodyPr wrap="none" lIns="0" tIns="0" rIns="0" bIns="0" anchor="t" anchorCtr="0">
              <a:spAutoFit/>
            </a:bodyPr>
            <a:lstStyle/>
            <a:p>
              <a:pPr algn="l"/>
              <a:r>
                <a:rPr lang="zh-CN" sz="820" b="1" dirty="0">
                  <a:solidFill>
                    <a:schemeClr val="accent2"/>
                  </a:solidFill>
                  <a:latin typeface="+mn-lt"/>
                  <a:ea typeface="+mn-ea"/>
                  <a:cs typeface="+mn-cs"/>
                </a:rPr>
                <a:t>按国家选点(第 6 页)</a:t>
              </a:r>
            </a:p>
          </p:txBody>
        </p:sp>
      </p:grpSp>
      <p:grpSp>
        <p:nvGrpSpPr>
          <p:cNvPr id="143" name="!!insight-column"/>
          <p:cNvGrpSpPr/>
          <p:nvPr/>
        </p:nvGrpSpPr>
        <p:grpSpPr>
          <a:xfrm>
            <a:off x="8720138" y="1587341"/>
            <a:ext cx="3014662" cy="4432459"/>
            <a:chOff x="8720138" y="1587341"/>
            <a:chExt cx="3014662" cy="4432459"/>
          </a:xfrm>
        </p:grpSpPr>
        <p:sp>
          <p:nvSpPr>
            <p:cNvPr id="125" name="TextBox 125"/>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126" name="Line 126"/>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127" name="Ellipse 127"/>
            <p:cNvSpPr/>
            <p:nvPr/>
          </p:nvSpPr>
          <p:spPr>
            <a:xfrm>
              <a:off x="8724900" y="1876425"/>
              <a:ext cx="152400" cy="152400"/>
            </a:xfrm>
            <a:prstGeom prst="ellipse">
              <a:avLst/>
            </a:prstGeom>
            <a:solidFill>
              <a:schemeClr val="accent1"/>
            </a:solidFill>
            <a:ln>
              <a:noFill/>
            </a:ln>
          </p:spPr>
        </p:sp>
        <p:sp>
          <p:nvSpPr>
            <p:cNvPr id="128" name="TextBox 128"/>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129" name="TextBox 129"/>
            <p:cNvSpPr txBox="1"/>
            <p:nvPr/>
          </p:nvSpPr>
          <p:spPr>
            <a:xfrm>
              <a:off x="8948166" y="1886902"/>
              <a:ext cx="244430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美国:渗透率 2024、2025 两年都是 10%,</a:t>
              </a:r>
              <a:br/>
              <a:r>
                <a:rPr lang="zh-CN" sz="1050" dirty="0">
                  <a:solidFill>
                    <a:schemeClr val="dk1"/>
                  </a:solidFill>
                  <a:latin typeface="+mn-lt"/>
                  <a:ea typeface="+mn-ea"/>
                  <a:cs typeface="+mn-cs"/>
                </a:rPr>
                <a:t>销量 160 万→150 万辆(−6%)²,</a:t>
              </a:r>
              <a:br/>
              <a:r>
                <a:rPr lang="zh-CN" sz="1050" dirty="0">
                  <a:solidFill>
                    <a:schemeClr val="dk1"/>
                  </a:solidFill>
                  <a:latin typeface="+mn-lt"/>
                  <a:ea typeface="+mn-ea"/>
                  <a:cs typeface="+mn-cs"/>
                </a:rPr>
                <a:t>2015 年以来首次下滑。</a:t>
              </a:r>
            </a:p>
          </p:txBody>
        </p:sp>
        <p:sp>
          <p:nvSpPr>
            <p:cNvPr id="130" name="Ellipse 130"/>
            <p:cNvSpPr/>
            <p:nvPr/>
          </p:nvSpPr>
          <p:spPr>
            <a:xfrm>
              <a:off x="8724900" y="2600325"/>
              <a:ext cx="152400" cy="152400"/>
            </a:xfrm>
            <a:prstGeom prst="ellipse">
              <a:avLst/>
            </a:prstGeom>
            <a:solidFill>
              <a:schemeClr val="accent1"/>
            </a:solidFill>
            <a:ln>
              <a:noFill/>
            </a:ln>
          </p:spPr>
        </p:sp>
        <p:sp>
          <p:nvSpPr>
            <p:cNvPr id="131" name="TextBox 131"/>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132" name="TextBox 132"/>
            <p:cNvSpPr txBox="1"/>
            <p:nvPr/>
          </p:nvSpPr>
          <p:spPr>
            <a:xfrm>
              <a:off x="8948166" y="2610802"/>
              <a:ext cx="2297620"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日本:销量 10 万辆持平,渗透率 3%,</a:t>
              </a:r>
              <a:br/>
              <a:r>
                <a:rPr lang="zh-CN" sz="1050" dirty="0">
                  <a:solidFill>
                    <a:schemeClr val="dk1"/>
                  </a:solidFill>
                  <a:latin typeface="+mn-lt"/>
                  <a:ea typeface="+mn-ea"/>
                  <a:cs typeface="+mn-cs"/>
                </a:rPr>
                <a:t>连续七年低于 4%,尚未进入起量区间。</a:t>
              </a:r>
            </a:p>
          </p:txBody>
        </p:sp>
        <p:sp>
          <p:nvSpPr>
            <p:cNvPr id="133" name="Ellipse 133"/>
            <p:cNvSpPr/>
            <p:nvPr/>
          </p:nvSpPr>
          <p:spPr>
            <a:xfrm>
              <a:off x="8724900" y="3133725"/>
              <a:ext cx="152400" cy="152400"/>
            </a:xfrm>
            <a:prstGeom prst="ellipse">
              <a:avLst/>
            </a:prstGeom>
            <a:solidFill>
              <a:schemeClr val="accent1"/>
            </a:solidFill>
            <a:ln>
              <a:noFill/>
            </a:ln>
          </p:spPr>
        </p:sp>
        <p:sp>
          <p:nvSpPr>
            <p:cNvPr id="134" name="TextBox 134"/>
            <p:cNvSpPr txBox="1"/>
            <p:nvPr/>
          </p:nvSpPr>
          <p:spPr>
            <a:xfrm>
              <a:off x="8768259" y="31623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135" name="TextBox 135"/>
            <p:cNvSpPr txBox="1"/>
            <p:nvPr/>
          </p:nvSpPr>
          <p:spPr>
            <a:xfrm>
              <a:off x="8948166" y="3144202"/>
              <a:ext cx="2157603"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韩国是成熟市场里唯一的例外:</a:t>
              </a:r>
              <a:br/>
              <a:r>
                <a:rPr lang="zh-CN" sz="1050" dirty="0">
                  <a:solidFill>
                    <a:schemeClr val="dk1"/>
                  </a:solidFill>
                  <a:latin typeface="+mn-lt"/>
                  <a:ea typeface="+mn-ea"/>
                  <a:cs typeface="+mn-cs"/>
                </a:rPr>
                <a:t>13 万→22 万辆(+69%),渗透率 11%,</a:t>
              </a:r>
              <a:br/>
              <a:r>
                <a:rPr lang="zh-CN" sz="1050" dirty="0">
                  <a:solidFill>
                    <a:schemeClr val="dk1"/>
                  </a:solidFill>
                  <a:latin typeface="+mn-lt"/>
                  <a:ea typeface="+mn-ea"/>
                  <a:cs typeface="+mn-cs"/>
                </a:rPr>
                <a:t>可作为二级市场的渠道试点。</a:t>
              </a:r>
            </a:p>
          </p:txBody>
        </p:sp>
        <p:sp>
          <p:nvSpPr>
            <p:cNvPr id="136" name="Ellipse 136"/>
            <p:cNvSpPr/>
            <p:nvPr/>
          </p:nvSpPr>
          <p:spPr>
            <a:xfrm>
              <a:off x="8724900" y="3857625"/>
              <a:ext cx="152400" cy="152400"/>
            </a:xfrm>
            <a:prstGeom prst="ellipse">
              <a:avLst/>
            </a:prstGeom>
            <a:solidFill>
              <a:schemeClr val="accent1"/>
            </a:solidFill>
            <a:ln>
              <a:noFill/>
            </a:ln>
          </p:spPr>
        </p:sp>
        <p:sp>
          <p:nvSpPr>
            <p:cNvPr id="137" name="TextBox 137"/>
            <p:cNvSpPr txBox="1"/>
            <p:nvPr/>
          </p:nvSpPr>
          <p:spPr>
            <a:xfrm>
              <a:off x="8768259" y="38862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138" name="TextBox 138"/>
            <p:cNvSpPr txBox="1"/>
            <p:nvPr/>
          </p:nvSpPr>
          <p:spPr>
            <a:xfrm>
              <a:off x="8948166" y="3868102"/>
              <a:ext cx="195091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推论:把美国当作确定增量来源的</a:t>
              </a:r>
              <a:br/>
              <a:r>
                <a:rPr lang="zh-CN" sz="1050" dirty="0">
                  <a:solidFill>
                    <a:schemeClr val="dk1"/>
                  </a:solidFill>
                  <a:latin typeface="+mn-lt"/>
                  <a:ea typeface="+mn-ea"/>
                  <a:cs typeface="+mn-cs"/>
                </a:rPr>
                <a:t>假设已经失效;2026–28 对美国</a:t>
              </a:r>
              <a:br/>
              <a:r>
                <a:rPr lang="zh-CN" sz="1050" dirty="0">
                  <a:solidFill>
                    <a:schemeClr val="dk1"/>
                  </a:solidFill>
                  <a:latin typeface="+mn-lt"/>
                  <a:ea typeface="+mn-ea"/>
                  <a:cs typeface="+mn-cs"/>
                </a:rPr>
                <a:t>只能按守势规划,不新增产能。</a:t>
              </a:r>
            </a:p>
          </p:txBody>
        </p:sp>
        <p:sp>
          <p:nvSpPr>
            <p:cNvPr id="139" name="Rectangle 139"/>
            <p:cNvSpPr/>
            <p:nvPr/>
          </p:nvSpPr>
          <p:spPr>
            <a:xfrm>
              <a:off x="8724900" y="4914900"/>
              <a:ext cx="3009900" cy="1104900"/>
            </a:xfrm>
            <a:prstGeom prst="rect">
              <a:avLst/>
            </a:prstGeom>
            <a:solidFill>
              <a:srgbClr val="F7F7F7"/>
            </a:solidFill>
            <a:ln>
              <a:noFill/>
            </a:ln>
          </p:spPr>
        </p:sp>
        <p:sp>
          <p:nvSpPr>
            <p:cNvPr id="140" name="Rectangle 140"/>
            <p:cNvSpPr/>
            <p:nvPr/>
          </p:nvSpPr>
          <p:spPr>
            <a:xfrm>
              <a:off x="8724900" y="4914900"/>
              <a:ext cx="38100" cy="1104900"/>
            </a:xfrm>
            <a:prstGeom prst="rect">
              <a:avLst/>
            </a:prstGeom>
            <a:solidFill>
              <a:schemeClr val="accent2"/>
            </a:solidFill>
            <a:ln>
              <a:noFill/>
            </a:ln>
          </p:spPr>
        </p:sp>
        <p:sp>
          <p:nvSpPr>
            <p:cNvPr id="141" name="TextBox 141"/>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142" name="TextBox 142"/>
            <p:cNvSpPr txBox="1"/>
            <p:nvPr/>
          </p:nvSpPr>
          <p:spPr>
            <a:xfrm>
              <a:off x="8871966" y="5220652"/>
              <a:ext cx="236429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美国、日本从'增量来源'改列守势市场;</a:t>
              </a:r>
              <a:br/>
              <a:r>
                <a:rPr lang="zh-CN" sz="1050" dirty="0">
                  <a:solidFill>
                    <a:schemeClr val="dk1"/>
                  </a:solidFill>
                  <a:latin typeface="+mn-lt"/>
                  <a:ea typeface="+mn-ea"/>
                  <a:cs typeface="+mn-cs"/>
                </a:rPr>
                <a:t>韩国以渠道试点验证二级市场打法</a:t>
              </a:r>
              <a:br/>
              <a:r>
                <a:rPr lang="zh-CN" sz="1050" dirty="0">
                  <a:solidFill>
                    <a:schemeClr val="dk1"/>
                  </a:solidFill>
                  <a:latin typeface="+mn-lt"/>
                  <a:ea typeface="+mn-ea"/>
                  <a:cs typeface="+mn-cs"/>
                </a:rPr>
                <a:t>(第 10、11 页)。</a:t>
              </a:r>
            </a:p>
          </p:txBody>
        </p:sp>
      </p:grpSp>
      <p:grpSp>
        <p:nvGrpSpPr>
          <p:cNvPr id="148" name="footer"/>
          <p:cNvGrpSpPr/>
          <p:nvPr/>
        </p:nvGrpSpPr>
        <p:grpSpPr>
          <a:xfrm>
            <a:off x="452438" y="6205538"/>
            <a:ext cx="11287125" cy="433388"/>
            <a:chOff x="452438" y="6205538"/>
            <a:chExt cx="11287125" cy="433388"/>
          </a:xfrm>
        </p:grpSpPr>
        <p:sp>
          <p:nvSpPr>
            <p:cNvPr id="144" name="TextBox 144"/>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145" name="TextBox 145"/>
            <p:cNvSpPr txBox="1"/>
            <p:nvPr/>
          </p:nvSpPr>
          <p:spPr>
            <a:xfrm>
              <a:off x="452438" y="6338888"/>
              <a:ext cx="3810857"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美国 2025 年销量变化 = (150 − 160) ÷ 160 = −6%;韩国 = (22 − 13) ÷ 13 = +69%</a:t>
              </a:r>
            </a:p>
          </p:txBody>
        </p:sp>
        <p:sp>
          <p:nvSpPr>
            <p:cNvPr id="146" name="TextBox 146"/>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147" name="TextBox 147"/>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5</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id="13" presetID="22" presetClass="entr" presetSubtype="2" fill="hold" grpId="0" nodeType="afterEffect">
                                  <p:stCondLst>
                                    <p:cond delay="500"/>
                                  </p:stCondLst>
                                  <p:childTnLst>
                                    <p:set>
                                      <p:cBhvr>
                                        <p:cTn id="14" dur="1" fill="hold">
                                          <p:stCondLst>
                                            <p:cond delay="0"/>
                                          </p:stCondLst>
                                        </p:cTn>
                                        <p:tgtEl>
                                          <p:spTgt spid="53"/>
                                        </p:tgtEl>
                                        <p:attrNameLst>
                                          <p:attrName>style.visibility</p:attrName>
                                        </p:attrNameLst>
                                      </p:cBhvr>
                                      <p:to>
                                        <p:strVal val="visible"/>
                                      </p:to>
                                    </p:set>
                                    <p:animEffect transition="in" filter="wipe(right)">
                                      <p:cBhvr>
                                        <p:cTn id="15" dur="800"/>
                                        <p:tgtEl>
                                          <p:spTgt spid="53"/>
                                        </p:tgtEl>
                                      </p:cBhvr>
                                    </p:animEffect>
                                  </p:childTnLst>
                                </p:cTn>
                              </p:par>
                            </p:childTnLst>
                          </p:cTn>
                        </p:par>
                        <p:par>
                          <p:cTn id="16" fill="hold">
                            <p:stCondLst>
                              <p:cond delay="2300"/>
                            </p:stCondLst>
                            <p:childTnLst>
                              <p:par>
                                <p:cTn id="17" presetID="10" presetClass="entr" presetSubtype="0" fill="hold" grpId="0" nodeType="afterEffect">
                                  <p:stCondLst>
                                    <p:cond delay="50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200"/>
                                        <p:tgtEl>
                                          <p:spTgt spid="58"/>
                                        </p:tgtEl>
                                      </p:cBhvr>
                                    </p:animEffect>
                                  </p:childTnLst>
                                </p:cTn>
                              </p:par>
                            </p:childTnLst>
                          </p:cTn>
                        </p:par>
                        <p:par>
                          <p:cTn id="20" fill="hold">
                            <p:stCondLst>
                              <p:cond delay="3000"/>
                            </p:stCondLst>
                            <p:childTnLst>
                              <p:par>
                                <p:cTn id="21" presetID="22" presetClass="entr" presetSubtype="1" fill="hold" grpId="0" nodeType="afterEffect">
                                  <p:stCondLst>
                                    <p:cond delay="500"/>
                                  </p:stCondLst>
                                  <p:childTnLst>
                                    <p:set>
                                      <p:cBhvr>
                                        <p:cTn id="22" dur="1" fill="hold">
                                          <p:stCondLst>
                                            <p:cond delay="0"/>
                                          </p:stCondLst>
                                        </p:cTn>
                                        <p:tgtEl>
                                          <p:spTgt spid="88"/>
                                        </p:tgtEl>
                                        <p:attrNameLst>
                                          <p:attrName>style.visibility</p:attrName>
                                        </p:attrNameLst>
                                      </p:cBhvr>
                                      <p:to>
                                        <p:strVal val="visible"/>
                                      </p:to>
                                    </p:set>
                                    <p:animEffect transition="in" filter="wipe(up)">
                                      <p:cBhvr>
                                        <p:cTn id="23" dur="600"/>
                                        <p:tgtEl>
                                          <p:spTgt spid="88"/>
                                        </p:tgtEl>
                                      </p:cBhvr>
                                    </p:animEffect>
                                  </p:childTnLst>
                                </p:cTn>
                              </p:par>
                            </p:childTnLst>
                          </p:cTn>
                        </p:par>
                        <p:par>
                          <p:cTn id="24" fill="hold">
                            <p:stCondLst>
                              <p:cond delay="4100"/>
                            </p:stCondLst>
                            <p:childTnLst>
                              <p:par>
                                <p:cTn id="25" presetID="10" presetClass="entr" presetSubtype="0" fill="hold" grpId="0" nodeType="afterEffect">
                                  <p:stCondLst>
                                    <p:cond delay="500"/>
                                  </p:stCondLst>
                                  <p:childTnLst>
                                    <p:set>
                                      <p:cBhvr>
                                        <p:cTn id="26" dur="1" fill="hold">
                                          <p:stCondLst>
                                            <p:cond delay="0"/>
                                          </p:stCondLst>
                                        </p:cTn>
                                        <p:tgtEl>
                                          <p:spTgt spid="93"/>
                                        </p:tgtEl>
                                        <p:attrNameLst>
                                          <p:attrName>style.visibility</p:attrName>
                                        </p:attrNameLst>
                                      </p:cBhvr>
                                      <p:to>
                                        <p:strVal val="visible"/>
                                      </p:to>
                                    </p:set>
                                    <p:animEffect transition="in" filter="fade">
                                      <p:cBhvr>
                                        <p:cTn id="27" dur="200"/>
                                        <p:tgtEl>
                                          <p:spTgt spid="93"/>
                                        </p:tgtEl>
                                      </p:cBhvr>
                                    </p:animEffect>
                                  </p:childTnLst>
                                </p:cTn>
                              </p:par>
                            </p:childTnLst>
                          </p:cTn>
                        </p:par>
                        <p:par>
                          <p:cTn id="28" fill="hold">
                            <p:stCondLst>
                              <p:cond delay="4800"/>
                            </p:stCondLst>
                            <p:childTnLst>
                              <p:par>
                                <p:cTn id="29" presetID="22" presetClass="entr" presetSubtype="4" fill="hold" grpId="0" nodeType="afterEffect">
                                  <p:stCondLst>
                                    <p:cond delay="500"/>
                                  </p:stCondLst>
                                  <p:childTnLst>
                                    <p:set>
                                      <p:cBhvr>
                                        <p:cTn id="30" dur="1" fill="hold">
                                          <p:stCondLst>
                                            <p:cond delay="0"/>
                                          </p:stCondLst>
                                        </p:cTn>
                                        <p:tgtEl>
                                          <p:spTgt spid="124"/>
                                        </p:tgtEl>
                                        <p:attrNameLst>
                                          <p:attrName>style.visibility</p:attrName>
                                        </p:attrNameLst>
                                      </p:cBhvr>
                                      <p:to>
                                        <p:strVal val="visible"/>
                                      </p:to>
                                    </p:set>
                                    <p:animEffect transition="in" filter="wipe(down)">
                                      <p:cBhvr>
                                        <p:cTn id="31" dur="500"/>
                                        <p:tgtEl>
                                          <p:spTgt spid="124"/>
                                        </p:tgtEl>
                                      </p:cBhvr>
                                    </p:animEffect>
                                  </p:childTnLst>
                                </p:cTn>
                              </p:par>
                            </p:childTnLst>
                          </p:cTn>
                        </p:par>
                        <p:par>
                          <p:cTn id="32" fill="hold">
                            <p:stCondLst>
                              <p:cond delay="5800"/>
                            </p:stCondLst>
                            <p:childTnLst>
                              <p:par>
                                <p:cTn id="33" presetID="10" presetClass="entr" presetSubtype="0" fill="hold" grpId="0" nodeType="afterEffect">
                                  <p:stCondLst>
                                    <p:cond delay="500"/>
                                  </p:stCondLst>
                                  <p:childTnLst>
                                    <p:set>
                                      <p:cBhvr>
                                        <p:cTn id="34" dur="1" fill="hold">
                                          <p:stCondLst>
                                            <p:cond delay="0"/>
                                          </p:stCondLst>
                                        </p:cTn>
                                        <p:tgtEl>
                                          <p:spTgt spid="143"/>
                                        </p:tgtEl>
                                        <p:attrNameLst>
                                          <p:attrName>style.visibility</p:attrName>
                                        </p:attrNameLst>
                                      </p:cBhvr>
                                      <p:to>
                                        <p:strVal val="visible"/>
                                      </p:to>
                                    </p:set>
                                    <p:animEffect transition="in" filter="fade">
                                      <p:cBhvr>
                                        <p:cTn id="35" dur="4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168651" y="247650"/>
            <a:ext cx="1566149" cy="206216"/>
            <a:chOff x="10168651" y="247650"/>
            <a:chExt cx="1566149" cy="206216"/>
          </a:xfrm>
        </p:grpSpPr>
        <p:sp>
          <p:nvSpPr>
            <p:cNvPr id="2" name="TextBox 2"/>
            <p:cNvSpPr txBox="1"/>
            <p:nvPr/>
          </p:nvSpPr>
          <p:spPr>
            <a:xfrm>
              <a:off x="10168651" y="291941"/>
              <a:ext cx="637461"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诊断 · 欧洲</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6726555" cy="637794"/>
            <a:chOff x="448056" y="472440"/>
            <a:chExt cx="6726555" cy="637794"/>
          </a:xfrm>
        </p:grpSpPr>
        <p:sp>
          <p:nvSpPr>
            <p:cNvPr id="6" name="TextBox 6"/>
            <p:cNvSpPr txBox="1"/>
            <p:nvPr/>
          </p:nvSpPr>
          <p:spPr>
            <a:xfrm>
              <a:off x="448056" y="472440"/>
              <a:ext cx="6726555"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欧洲反弹到 28% 靠英国(35%)和德国(30%)拉动,法国两年零增长</a:t>
              </a:r>
              <a:br/>
              <a:r>
                <a:rPr lang="zh-CN" sz="1800" b="1" dirty="0">
                  <a:solidFill>
                    <a:schemeClr val="accent1"/>
                  </a:solidFill>
                  <a:latin typeface="+mn-lt"/>
                  <a:ea typeface="+mn-ea"/>
                  <a:cs typeface="+mn-cs"/>
                </a:rPr>
                <a:t>——进入欧洲要选国家,而不是选大区</a:t>
              </a:r>
            </a:p>
          </p:txBody>
        </p:sp>
      </p:grpSp>
      <p:grpSp>
        <p:nvGrpSpPr>
          <p:cNvPr id="9" name="unit-line"/>
          <p:cNvGrpSpPr/>
          <p:nvPr/>
        </p:nvGrpSpPr>
        <p:grpSpPr>
          <a:xfrm>
            <a:off x="452438" y="1160145"/>
            <a:ext cx="4903965" cy="176212"/>
            <a:chOff x="452438" y="1160145"/>
            <a:chExt cx="4903965" cy="176212"/>
          </a:xfrm>
        </p:grpSpPr>
        <p:sp>
          <p:nvSpPr>
            <p:cNvPr id="8" name="TextBox 8"/>
            <p:cNvSpPr txBox="1"/>
            <p:nvPr/>
          </p:nvSpPr>
          <p:spPr>
            <a:xfrm>
              <a:off x="452438" y="1160145"/>
              <a:ext cx="490396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A:2025 年电动车渗透率,%,及较 2023 年的百分点变化;B:电动车销量,万辆,2023 vs 2025</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2763716" cy="349091"/>
            <a:chOff x="452438" y="1552575"/>
            <a:chExt cx="2763716"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543564"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2025 年渗透率与两年变化</a:t>
              </a:r>
            </a:p>
          </p:txBody>
        </p:sp>
        <p:sp>
          <p:nvSpPr>
            <p:cNvPr id="14" name="TextBox 14"/>
            <p:cNvSpPr txBox="1"/>
            <p:nvPr/>
          </p:nvSpPr>
          <p:spPr>
            <a:xfrm>
              <a:off x="452438" y="1739741"/>
              <a:ext cx="276371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电动车占新车销量的 %;右侧为较 2023 年的百分点变化²</a:t>
              </a:r>
            </a:p>
          </p:txBody>
        </p:sp>
      </p:grpSp>
      <p:grpSp>
        <p:nvGrpSpPr>
          <p:cNvPr id="38" name="europe-share"/>
          <p:cNvGrpSpPr/>
          <p:nvPr/>
        </p:nvGrpSpPr>
        <p:grpSpPr>
          <a:xfrm>
            <a:off x="525234" y="2114550"/>
            <a:ext cx="3606898" cy="2247900"/>
            <a:chOff x="525234" y="2114550"/>
            <a:chExt cx="3606898" cy="2247900"/>
          </a:xfrm>
        </p:grpSpPr>
        <p:grpSp>
          <p:nvGrpSpPr>
            <p:cNvPr id="37" name="europe-share-chartArea"/>
            <p:cNvGrpSpPr/>
            <p:nvPr/>
          </p:nvGrpSpPr>
          <p:grpSpPr>
            <a:xfrm>
              <a:off x="525234" y="2114550"/>
              <a:ext cx="3606898" cy="2247900"/>
              <a:chOff x="525234" y="2114550"/>
              <a:chExt cx="3606898" cy="2247900"/>
            </a:xfrm>
          </p:grpSpPr>
          <p:sp>
            <p:nvSpPr>
              <p:cNvPr id="16" name="Line 16"/>
              <p:cNvSpPr/>
              <p:nvPr/>
            </p:nvSpPr>
            <p:spPr>
              <a:xfrm>
                <a:off x="1047750" y="2114550"/>
                <a:ext cx="9525" cy="2247900"/>
              </a:xfrm>
              <a:custGeom>
                <a:avLst/>
                <a:gdLst/>
                <a:ahLst/>
                <a:cxnLst/>
                <a:rect l="l" t="t" r="r" b="b"/>
                <a:pathLst>
                  <a:path w="9525" h="2247900">
                    <a:moveTo>
                      <a:pt x="0" y="0"/>
                    </a:moveTo>
                    <a:lnTo>
                      <a:pt x="0" y="2247900"/>
                    </a:lnTo>
                  </a:path>
                </a:pathLst>
              </a:custGeom>
              <a:noFill/>
              <a:ln w="7144">
                <a:solidFill>
                  <a:schemeClr val="accent6"/>
                </a:solidFill>
              </a:ln>
            </p:spPr>
          </p:sp>
          <p:sp>
            <p:nvSpPr>
              <p:cNvPr id="17" name="Rectangle 17"/>
              <p:cNvSpPr/>
              <p:nvPr/>
            </p:nvSpPr>
            <p:spPr>
              <a:xfrm>
                <a:off x="1047750" y="2234565"/>
                <a:ext cx="2328291" cy="209550"/>
              </a:xfrm>
              <a:prstGeom prst="rect">
                <a:avLst/>
              </a:prstGeom>
              <a:solidFill>
                <a:schemeClr val="accent6"/>
              </a:solidFill>
              <a:ln>
                <a:noFill/>
              </a:ln>
            </p:spPr>
          </p:sp>
          <p:sp>
            <p:nvSpPr>
              <p:cNvPr id="18" name="TextBox 18"/>
              <p:cNvSpPr txBox="1"/>
              <p:nvPr/>
            </p:nvSpPr>
            <p:spPr>
              <a:xfrm>
                <a:off x="3428428" y="2288381"/>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97</a:t>
                </a:r>
              </a:p>
            </p:txBody>
          </p:sp>
          <p:sp>
            <p:nvSpPr>
              <p:cNvPr id="19" name="TextBox 19"/>
              <p:cNvSpPr txBox="1"/>
              <p:nvPr/>
            </p:nvSpPr>
            <p:spPr>
              <a:xfrm>
                <a:off x="746011" y="2288381"/>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挪威</a:t>
                </a:r>
              </a:p>
            </p:txBody>
          </p:sp>
          <p:sp>
            <p:nvSpPr>
              <p:cNvPr id="20" name="TextBox 20"/>
              <p:cNvSpPr txBox="1"/>
              <p:nvPr/>
            </p:nvSpPr>
            <p:spPr>
              <a:xfrm>
                <a:off x="3904678" y="2288381"/>
                <a:ext cx="227454"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Arial"/>
                    <a:ea typeface="Arial"/>
                    <a:cs typeface="Arial"/>
                  </a:rPr>
                  <a:t>+7pt</a:t>
                </a:r>
              </a:p>
            </p:txBody>
          </p:sp>
          <p:sp>
            <p:nvSpPr>
              <p:cNvPr id="21" name="Rectangle 21"/>
              <p:cNvSpPr/>
              <p:nvPr/>
            </p:nvSpPr>
            <p:spPr>
              <a:xfrm>
                <a:off x="1047750" y="2684145"/>
                <a:ext cx="840105" cy="209550"/>
              </a:xfrm>
              <a:prstGeom prst="rect">
                <a:avLst/>
              </a:prstGeom>
              <a:solidFill>
                <a:schemeClr val="accent2"/>
              </a:solidFill>
              <a:ln>
                <a:noFill/>
              </a:ln>
            </p:spPr>
          </p:sp>
          <p:sp>
            <p:nvSpPr>
              <p:cNvPr id="22" name="TextBox 22"/>
              <p:cNvSpPr txBox="1"/>
              <p:nvPr/>
            </p:nvSpPr>
            <p:spPr>
              <a:xfrm>
                <a:off x="1940242" y="2737961"/>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35</a:t>
                </a:r>
              </a:p>
            </p:txBody>
          </p:sp>
          <p:sp>
            <p:nvSpPr>
              <p:cNvPr id="23" name="TextBox 23"/>
              <p:cNvSpPr txBox="1"/>
              <p:nvPr/>
            </p:nvSpPr>
            <p:spPr>
              <a:xfrm>
                <a:off x="746011" y="2737961"/>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英国</a:t>
                </a:r>
              </a:p>
            </p:txBody>
          </p:sp>
          <p:sp>
            <p:nvSpPr>
              <p:cNvPr id="24" name="TextBox 24"/>
              <p:cNvSpPr txBox="1"/>
              <p:nvPr/>
            </p:nvSpPr>
            <p:spPr>
              <a:xfrm>
                <a:off x="2416492" y="2737961"/>
                <a:ext cx="288852" cy="161925"/>
              </a:xfrm>
              <a:prstGeom prst="rect">
                <a:avLst/>
              </a:prstGeom>
              <a:noFill/>
              <a:ln>
                <a:noFill/>
              </a:ln>
            </p:spPr>
            <p:txBody>
              <a:bodyPr wrap="none" lIns="0" tIns="0" rIns="0" bIns="0" anchor="t" anchorCtr="0">
                <a:spAutoFit/>
              </a:bodyPr>
              <a:lstStyle/>
              <a:p>
                <a:pPr algn="l"/>
                <a:r>
                  <a:rPr lang="en-US" sz="820" dirty="0">
                    <a:solidFill>
                      <a:schemeClr val="accent2"/>
                    </a:solidFill>
                    <a:latin typeface="Arial"/>
                    <a:ea typeface="Arial"/>
                    <a:cs typeface="Arial"/>
                  </a:rPr>
                  <a:t>+12pt</a:t>
                </a:r>
              </a:p>
            </p:txBody>
          </p:sp>
          <p:sp>
            <p:nvSpPr>
              <p:cNvPr id="25" name="Rectangle 25"/>
              <p:cNvSpPr/>
              <p:nvPr/>
            </p:nvSpPr>
            <p:spPr>
              <a:xfrm>
                <a:off x="1047750" y="3133725"/>
                <a:ext cx="720090" cy="209550"/>
              </a:xfrm>
              <a:prstGeom prst="rect">
                <a:avLst/>
              </a:prstGeom>
              <a:solidFill>
                <a:schemeClr val="accent2"/>
              </a:solidFill>
              <a:ln>
                <a:noFill/>
              </a:ln>
            </p:spPr>
          </p:sp>
          <p:sp>
            <p:nvSpPr>
              <p:cNvPr id="26" name="TextBox 26"/>
              <p:cNvSpPr txBox="1"/>
              <p:nvPr/>
            </p:nvSpPr>
            <p:spPr>
              <a:xfrm>
                <a:off x="1820228" y="3187541"/>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30</a:t>
                </a:r>
              </a:p>
            </p:txBody>
          </p:sp>
          <p:sp>
            <p:nvSpPr>
              <p:cNvPr id="27" name="TextBox 27"/>
              <p:cNvSpPr txBox="1"/>
              <p:nvPr/>
            </p:nvSpPr>
            <p:spPr>
              <a:xfrm>
                <a:off x="746011" y="3187541"/>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德国</a:t>
                </a:r>
              </a:p>
            </p:txBody>
          </p:sp>
          <p:sp>
            <p:nvSpPr>
              <p:cNvPr id="28" name="TextBox 28"/>
              <p:cNvSpPr txBox="1"/>
              <p:nvPr/>
            </p:nvSpPr>
            <p:spPr>
              <a:xfrm>
                <a:off x="2296478" y="3187541"/>
                <a:ext cx="227454" cy="161925"/>
              </a:xfrm>
              <a:prstGeom prst="rect">
                <a:avLst/>
              </a:prstGeom>
              <a:noFill/>
              <a:ln>
                <a:noFill/>
              </a:ln>
            </p:spPr>
            <p:txBody>
              <a:bodyPr wrap="none" lIns="0" tIns="0" rIns="0" bIns="0" anchor="t" anchorCtr="0">
                <a:spAutoFit/>
              </a:bodyPr>
              <a:lstStyle/>
              <a:p>
                <a:pPr algn="l"/>
                <a:r>
                  <a:rPr lang="en-US" sz="820" dirty="0">
                    <a:solidFill>
                      <a:schemeClr val="accent2"/>
                    </a:solidFill>
                    <a:latin typeface="Arial"/>
                    <a:ea typeface="Arial"/>
                    <a:cs typeface="Arial"/>
                  </a:rPr>
                  <a:t>+6pt</a:t>
                </a:r>
              </a:p>
            </p:txBody>
          </p:sp>
          <p:sp>
            <p:nvSpPr>
              <p:cNvPr id="29" name="Rectangle 29"/>
              <p:cNvSpPr/>
              <p:nvPr/>
            </p:nvSpPr>
            <p:spPr>
              <a:xfrm>
                <a:off x="1047750" y="3583305"/>
                <a:ext cx="672084" cy="209550"/>
              </a:xfrm>
              <a:prstGeom prst="rect">
                <a:avLst/>
              </a:prstGeom>
              <a:solidFill>
                <a:schemeClr val="accent1"/>
              </a:solidFill>
              <a:ln>
                <a:noFill/>
              </a:ln>
            </p:spPr>
          </p:sp>
          <p:sp>
            <p:nvSpPr>
              <p:cNvPr id="30" name="TextBox 30"/>
              <p:cNvSpPr txBox="1"/>
              <p:nvPr/>
            </p:nvSpPr>
            <p:spPr>
              <a:xfrm>
                <a:off x="1772222" y="3637121"/>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28</a:t>
                </a:r>
              </a:p>
            </p:txBody>
          </p:sp>
          <p:sp>
            <p:nvSpPr>
              <p:cNvPr id="31" name="TextBox 31"/>
              <p:cNvSpPr txBox="1"/>
              <p:nvPr/>
            </p:nvSpPr>
            <p:spPr>
              <a:xfrm>
                <a:off x="525234" y="3637121"/>
                <a:ext cx="451079"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欧洲整体</a:t>
                </a:r>
              </a:p>
            </p:txBody>
          </p:sp>
          <p:sp>
            <p:nvSpPr>
              <p:cNvPr id="32" name="TextBox 32"/>
              <p:cNvSpPr txBox="1"/>
              <p:nvPr/>
            </p:nvSpPr>
            <p:spPr>
              <a:xfrm>
                <a:off x="2248472" y="3637121"/>
                <a:ext cx="227454" cy="161925"/>
              </a:xfrm>
              <a:prstGeom prst="rect">
                <a:avLst/>
              </a:prstGeom>
              <a:noFill/>
              <a:ln>
                <a:noFill/>
              </a:ln>
            </p:spPr>
            <p:txBody>
              <a:bodyPr wrap="none" lIns="0" tIns="0" rIns="0" bIns="0" anchor="t" anchorCtr="0">
                <a:spAutoFit/>
              </a:bodyPr>
              <a:lstStyle/>
              <a:p>
                <a:pPr algn="l"/>
                <a:r>
                  <a:rPr lang="en-US" sz="820" dirty="0">
                    <a:solidFill>
                      <a:schemeClr val="accent1"/>
                    </a:solidFill>
                    <a:latin typeface="Arial"/>
                    <a:ea typeface="Arial"/>
                    <a:cs typeface="Arial"/>
                  </a:rPr>
                  <a:t>+6pt</a:t>
                </a:r>
              </a:p>
            </p:txBody>
          </p:sp>
          <p:sp>
            <p:nvSpPr>
              <p:cNvPr id="33" name="Rectangle 33"/>
              <p:cNvSpPr/>
              <p:nvPr/>
            </p:nvSpPr>
            <p:spPr>
              <a:xfrm>
                <a:off x="1047750" y="4032885"/>
                <a:ext cx="624078" cy="209550"/>
              </a:xfrm>
              <a:prstGeom prst="rect">
                <a:avLst/>
              </a:prstGeom>
              <a:solidFill>
                <a:schemeClr val="accent6"/>
              </a:solidFill>
              <a:ln>
                <a:noFill/>
              </a:ln>
            </p:spPr>
          </p:sp>
          <p:sp>
            <p:nvSpPr>
              <p:cNvPr id="34" name="TextBox 34"/>
              <p:cNvSpPr txBox="1"/>
              <p:nvPr/>
            </p:nvSpPr>
            <p:spPr>
              <a:xfrm>
                <a:off x="1724216" y="4086701"/>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26</a:t>
                </a:r>
              </a:p>
            </p:txBody>
          </p:sp>
          <p:sp>
            <p:nvSpPr>
              <p:cNvPr id="35" name="TextBox 35"/>
              <p:cNvSpPr txBox="1"/>
              <p:nvPr/>
            </p:nvSpPr>
            <p:spPr>
              <a:xfrm>
                <a:off x="746011" y="4086701"/>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法国</a:t>
                </a:r>
              </a:p>
            </p:txBody>
          </p:sp>
          <p:sp>
            <p:nvSpPr>
              <p:cNvPr id="36" name="TextBox 36"/>
              <p:cNvSpPr txBox="1"/>
              <p:nvPr/>
            </p:nvSpPr>
            <p:spPr>
              <a:xfrm>
                <a:off x="2200466" y="4086701"/>
                <a:ext cx="227454" cy="161925"/>
              </a:xfrm>
              <a:prstGeom prst="rect">
                <a:avLst/>
              </a:prstGeom>
              <a:noFill/>
              <a:ln>
                <a:noFill/>
              </a:ln>
            </p:spPr>
            <p:txBody>
              <a:bodyPr wrap="none" lIns="0" tIns="0" rIns="0" bIns="0" anchor="t" anchorCtr="0">
                <a:spAutoFit/>
              </a:bodyPr>
              <a:lstStyle/>
              <a:p>
                <a:pPr algn="l"/>
                <a:r>
                  <a:rPr lang="en-US" sz="820" dirty="0">
                    <a:solidFill>
                      <a:schemeClr val="accent5"/>
                    </a:solidFill>
                    <a:latin typeface="Arial"/>
                    <a:ea typeface="Arial"/>
                    <a:cs typeface="Arial"/>
                  </a:rPr>
                  <a:t>+1pt</a:t>
                </a:r>
              </a:p>
            </p:txBody>
          </p:sp>
        </p:grpSp>
      </p:grpSp>
      <p:grpSp>
        <p:nvGrpSpPr>
          <p:cNvPr id="43" name="exhibit-b-head"/>
          <p:cNvGrpSpPr/>
          <p:nvPr/>
        </p:nvGrpSpPr>
        <p:grpSpPr>
          <a:xfrm>
            <a:off x="4529138" y="1552575"/>
            <a:ext cx="1404305" cy="349091"/>
            <a:chOff x="4529138" y="1552575"/>
            <a:chExt cx="1404305" cy="349091"/>
          </a:xfrm>
        </p:grpSpPr>
        <p:sp>
          <p:nvSpPr>
            <p:cNvPr id="39" name="Ellipse 39"/>
            <p:cNvSpPr/>
            <p:nvPr/>
          </p:nvSpPr>
          <p:spPr>
            <a:xfrm>
              <a:off x="4533900" y="1552575"/>
              <a:ext cx="152400" cy="152400"/>
            </a:xfrm>
            <a:prstGeom prst="ellipse">
              <a:avLst/>
            </a:prstGeom>
            <a:solidFill>
              <a:schemeClr val="accent1"/>
            </a:solidFill>
            <a:ln>
              <a:noFill/>
            </a:ln>
          </p:spPr>
        </p:sp>
        <p:sp>
          <p:nvSpPr>
            <p:cNvPr id="40" name="TextBox 40"/>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41" name="TextBox 41"/>
            <p:cNvSpPr txBox="1"/>
            <p:nvPr/>
          </p:nvSpPr>
          <p:spPr>
            <a:xfrm>
              <a:off x="4738497" y="1571149"/>
              <a:ext cx="1194946"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销量:2023 vs 2025</a:t>
              </a:r>
            </a:p>
          </p:txBody>
        </p:sp>
        <p:sp>
          <p:nvSpPr>
            <p:cNvPr id="42" name="TextBox 42"/>
            <p:cNvSpPr txBox="1"/>
            <p:nvPr/>
          </p:nvSpPr>
          <p:spPr>
            <a:xfrm>
              <a:off x="4529138" y="1739741"/>
              <a:ext cx="230302"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万辆</a:t>
              </a:r>
            </a:p>
          </p:txBody>
        </p:sp>
      </p:grpSp>
      <p:grpSp>
        <p:nvGrpSpPr>
          <p:cNvPr id="70" name="europe-sales"/>
          <p:cNvGrpSpPr/>
          <p:nvPr/>
        </p:nvGrpSpPr>
        <p:grpSpPr>
          <a:xfrm>
            <a:off x="4610100" y="2293334"/>
            <a:ext cx="3771900" cy="2208657"/>
            <a:chOff x="4610100" y="2293334"/>
            <a:chExt cx="3771900" cy="2208657"/>
          </a:xfrm>
        </p:grpSpPr>
        <p:grpSp>
          <p:nvGrpSpPr>
            <p:cNvPr id="69" name="europe-sales-chartArea"/>
            <p:cNvGrpSpPr/>
            <p:nvPr/>
          </p:nvGrpSpPr>
          <p:grpSpPr>
            <a:xfrm>
              <a:off x="4610100" y="2293334"/>
              <a:ext cx="3771900" cy="2208657"/>
              <a:chOff x="4610100" y="2293334"/>
              <a:chExt cx="3771900" cy="2208657"/>
            </a:xfrm>
          </p:grpSpPr>
          <p:sp>
            <p:nvSpPr>
              <p:cNvPr id="44" name="Line 44"/>
              <p:cNvSpPr/>
              <p:nvPr/>
            </p:nvSpPr>
            <p:spPr>
              <a:xfrm>
                <a:off x="4610100" y="4133850"/>
                <a:ext cx="3771900" cy="9525"/>
              </a:xfrm>
              <a:custGeom>
                <a:avLst/>
                <a:gdLst/>
                <a:ahLst/>
                <a:cxnLst/>
                <a:rect l="l" t="t" r="r" b="b"/>
                <a:pathLst>
                  <a:path w="3771900" h="9525">
                    <a:moveTo>
                      <a:pt x="0" y="0"/>
                    </a:moveTo>
                    <a:lnTo>
                      <a:pt x="3771900" y="0"/>
                    </a:lnTo>
                  </a:path>
                </a:pathLst>
              </a:custGeom>
              <a:noFill/>
              <a:ln w="7144">
                <a:solidFill>
                  <a:schemeClr val="accent6"/>
                </a:solidFill>
              </a:ln>
            </p:spPr>
          </p:sp>
          <p:sp>
            <p:nvSpPr>
              <p:cNvPr id="45" name="Rectangle 45"/>
              <p:cNvSpPr/>
              <p:nvPr/>
            </p:nvSpPr>
            <p:spPr>
              <a:xfrm>
                <a:off x="4700588" y="3222498"/>
                <a:ext cx="361950" cy="911352"/>
              </a:xfrm>
              <a:prstGeom prst="rect">
                <a:avLst/>
              </a:prstGeom>
              <a:solidFill>
                <a:schemeClr val="accent6"/>
              </a:solidFill>
              <a:ln>
                <a:noFill/>
              </a:ln>
            </p:spPr>
          </p:sp>
          <p:sp>
            <p:nvSpPr>
              <p:cNvPr id="46" name="TextBox 46"/>
              <p:cNvSpPr txBox="1"/>
              <p:nvPr/>
            </p:nvSpPr>
            <p:spPr>
              <a:xfrm>
                <a:off x="4815402" y="3085814"/>
                <a:ext cx="132321"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46</a:t>
                </a:r>
              </a:p>
            </p:txBody>
          </p:sp>
          <p:sp>
            <p:nvSpPr>
              <p:cNvPr id="47" name="Rectangle 47"/>
              <p:cNvSpPr/>
              <p:nvPr/>
            </p:nvSpPr>
            <p:spPr>
              <a:xfrm>
                <a:off x="5100638" y="2747010"/>
                <a:ext cx="361950" cy="1386840"/>
              </a:xfrm>
              <a:prstGeom prst="rect">
                <a:avLst/>
              </a:prstGeom>
              <a:solidFill>
                <a:schemeClr val="accent2"/>
              </a:solidFill>
              <a:ln>
                <a:noFill/>
              </a:ln>
            </p:spPr>
          </p:sp>
          <p:sp>
            <p:nvSpPr>
              <p:cNvPr id="48" name="TextBox 48"/>
              <p:cNvSpPr txBox="1"/>
              <p:nvPr/>
            </p:nvSpPr>
            <p:spPr>
              <a:xfrm>
                <a:off x="5215452" y="2610326"/>
                <a:ext cx="132321"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70</a:t>
                </a:r>
              </a:p>
            </p:txBody>
          </p:sp>
          <p:sp>
            <p:nvSpPr>
              <p:cNvPr id="49" name="TextBox 49"/>
              <p:cNvSpPr txBox="1"/>
              <p:nvPr/>
            </p:nvSpPr>
            <p:spPr>
              <a:xfrm>
                <a:off x="4966437" y="4187666"/>
                <a:ext cx="230302"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英国</a:t>
                </a:r>
              </a:p>
            </p:txBody>
          </p:sp>
          <p:sp>
            <p:nvSpPr>
              <p:cNvPr id="50" name="Rectangle 50"/>
              <p:cNvSpPr/>
              <p:nvPr/>
            </p:nvSpPr>
            <p:spPr>
              <a:xfrm>
                <a:off x="5643562" y="2747010"/>
                <a:ext cx="361950" cy="1386840"/>
              </a:xfrm>
              <a:prstGeom prst="rect">
                <a:avLst/>
              </a:prstGeom>
              <a:solidFill>
                <a:schemeClr val="accent6"/>
              </a:solidFill>
              <a:ln>
                <a:noFill/>
              </a:ln>
            </p:spPr>
          </p:sp>
          <p:sp>
            <p:nvSpPr>
              <p:cNvPr id="51" name="TextBox 51"/>
              <p:cNvSpPr txBox="1"/>
              <p:nvPr/>
            </p:nvSpPr>
            <p:spPr>
              <a:xfrm>
                <a:off x="5758377" y="2610326"/>
                <a:ext cx="132321"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70</a:t>
                </a:r>
              </a:p>
            </p:txBody>
          </p:sp>
          <p:sp>
            <p:nvSpPr>
              <p:cNvPr id="52" name="Rectangle 52"/>
              <p:cNvSpPr/>
              <p:nvPr/>
            </p:nvSpPr>
            <p:spPr>
              <a:xfrm>
                <a:off x="6043612" y="2430018"/>
                <a:ext cx="361950" cy="1703832"/>
              </a:xfrm>
              <a:prstGeom prst="rect">
                <a:avLst/>
              </a:prstGeom>
              <a:solidFill>
                <a:schemeClr val="accent2"/>
              </a:solidFill>
              <a:ln>
                <a:noFill/>
              </a:ln>
            </p:spPr>
          </p:sp>
          <p:sp>
            <p:nvSpPr>
              <p:cNvPr id="53" name="TextBox 53"/>
              <p:cNvSpPr txBox="1"/>
              <p:nvPr/>
            </p:nvSpPr>
            <p:spPr>
              <a:xfrm>
                <a:off x="6158427" y="2293334"/>
                <a:ext cx="132321"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86</a:t>
                </a:r>
              </a:p>
            </p:txBody>
          </p:sp>
          <p:sp>
            <p:nvSpPr>
              <p:cNvPr id="54" name="TextBox 54"/>
              <p:cNvSpPr txBox="1"/>
              <p:nvPr/>
            </p:nvSpPr>
            <p:spPr>
              <a:xfrm>
                <a:off x="5909412" y="4187666"/>
                <a:ext cx="230302"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德国</a:t>
                </a:r>
              </a:p>
            </p:txBody>
          </p:sp>
          <p:sp>
            <p:nvSpPr>
              <p:cNvPr id="55" name="Rectangle 55"/>
              <p:cNvSpPr/>
              <p:nvPr/>
            </p:nvSpPr>
            <p:spPr>
              <a:xfrm>
                <a:off x="6586538" y="3202686"/>
                <a:ext cx="361950" cy="931164"/>
              </a:xfrm>
              <a:prstGeom prst="rect">
                <a:avLst/>
              </a:prstGeom>
              <a:solidFill>
                <a:schemeClr val="accent6"/>
              </a:solidFill>
              <a:ln>
                <a:noFill/>
              </a:ln>
            </p:spPr>
          </p:sp>
          <p:sp>
            <p:nvSpPr>
              <p:cNvPr id="56" name="TextBox 56"/>
              <p:cNvSpPr txBox="1"/>
              <p:nvPr/>
            </p:nvSpPr>
            <p:spPr>
              <a:xfrm>
                <a:off x="6701352" y="3066002"/>
                <a:ext cx="132321"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47</a:t>
                </a:r>
              </a:p>
            </p:txBody>
          </p:sp>
          <p:sp>
            <p:nvSpPr>
              <p:cNvPr id="57" name="Rectangle 57"/>
              <p:cNvSpPr/>
              <p:nvPr/>
            </p:nvSpPr>
            <p:spPr>
              <a:xfrm>
                <a:off x="6986588" y="3242310"/>
                <a:ext cx="361950" cy="891540"/>
              </a:xfrm>
              <a:prstGeom prst="rect">
                <a:avLst/>
              </a:prstGeom>
              <a:solidFill>
                <a:srgbClr val="7F7F7F"/>
              </a:solidFill>
              <a:ln>
                <a:noFill/>
              </a:ln>
            </p:spPr>
          </p:sp>
          <p:sp>
            <p:nvSpPr>
              <p:cNvPr id="58" name="TextBox 58"/>
              <p:cNvSpPr txBox="1"/>
              <p:nvPr/>
            </p:nvSpPr>
            <p:spPr>
              <a:xfrm>
                <a:off x="7101402" y="3105626"/>
                <a:ext cx="132321"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45</a:t>
                </a:r>
              </a:p>
            </p:txBody>
          </p:sp>
          <p:sp>
            <p:nvSpPr>
              <p:cNvPr id="59" name="TextBox 59"/>
              <p:cNvSpPr txBox="1"/>
              <p:nvPr/>
            </p:nvSpPr>
            <p:spPr>
              <a:xfrm>
                <a:off x="6852387" y="4187666"/>
                <a:ext cx="230302"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法国</a:t>
                </a:r>
              </a:p>
            </p:txBody>
          </p:sp>
          <p:sp>
            <p:nvSpPr>
              <p:cNvPr id="60" name="Rectangle 60"/>
              <p:cNvSpPr/>
              <p:nvPr/>
            </p:nvSpPr>
            <p:spPr>
              <a:xfrm>
                <a:off x="7529512" y="3915918"/>
                <a:ext cx="361950" cy="217932"/>
              </a:xfrm>
              <a:prstGeom prst="rect">
                <a:avLst/>
              </a:prstGeom>
              <a:solidFill>
                <a:schemeClr val="accent6"/>
              </a:solidFill>
              <a:ln>
                <a:noFill/>
              </a:ln>
            </p:spPr>
          </p:sp>
          <p:sp>
            <p:nvSpPr>
              <p:cNvPr id="61" name="TextBox 61"/>
              <p:cNvSpPr txBox="1"/>
              <p:nvPr/>
            </p:nvSpPr>
            <p:spPr>
              <a:xfrm>
                <a:off x="7644327" y="3779234"/>
                <a:ext cx="132321"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11</a:t>
                </a:r>
              </a:p>
            </p:txBody>
          </p:sp>
          <p:sp>
            <p:nvSpPr>
              <p:cNvPr id="62" name="Rectangle 62"/>
              <p:cNvSpPr/>
              <p:nvPr/>
            </p:nvSpPr>
            <p:spPr>
              <a:xfrm>
                <a:off x="7929562" y="3797046"/>
                <a:ext cx="361950" cy="336804"/>
              </a:xfrm>
              <a:prstGeom prst="rect">
                <a:avLst/>
              </a:prstGeom>
              <a:solidFill>
                <a:srgbClr val="7F7F7F"/>
              </a:solidFill>
              <a:ln>
                <a:noFill/>
              </a:ln>
            </p:spPr>
          </p:sp>
          <p:sp>
            <p:nvSpPr>
              <p:cNvPr id="63" name="TextBox 63"/>
              <p:cNvSpPr txBox="1"/>
              <p:nvPr/>
            </p:nvSpPr>
            <p:spPr>
              <a:xfrm>
                <a:off x="8044377" y="3660362"/>
                <a:ext cx="132321"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17</a:t>
                </a:r>
              </a:p>
            </p:txBody>
          </p:sp>
          <p:sp>
            <p:nvSpPr>
              <p:cNvPr id="64" name="TextBox 64"/>
              <p:cNvSpPr txBox="1"/>
              <p:nvPr/>
            </p:nvSpPr>
            <p:spPr>
              <a:xfrm>
                <a:off x="7795362" y="4187666"/>
                <a:ext cx="230302"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挪威</a:t>
                </a:r>
              </a:p>
            </p:txBody>
          </p:sp>
          <p:sp>
            <p:nvSpPr>
              <p:cNvPr id="65" name="Rectangle 65"/>
              <p:cNvSpPr/>
              <p:nvPr/>
            </p:nvSpPr>
            <p:spPr>
              <a:xfrm>
                <a:off x="4610100" y="4343400"/>
                <a:ext cx="95250" cy="95250"/>
              </a:xfrm>
              <a:prstGeom prst="rect">
                <a:avLst/>
              </a:prstGeom>
              <a:solidFill>
                <a:schemeClr val="accent6"/>
              </a:solidFill>
              <a:ln>
                <a:noFill/>
              </a:ln>
            </p:spPr>
          </p:sp>
          <p:sp>
            <p:nvSpPr>
              <p:cNvPr id="66" name="TextBox 66"/>
              <p:cNvSpPr txBox="1"/>
              <p:nvPr/>
            </p:nvSpPr>
            <p:spPr>
              <a:xfrm>
                <a:off x="4738688" y="4340066"/>
                <a:ext cx="252379"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2023</a:t>
                </a:r>
              </a:p>
            </p:txBody>
          </p:sp>
          <p:sp>
            <p:nvSpPr>
              <p:cNvPr id="67" name="Rectangle 67"/>
              <p:cNvSpPr/>
              <p:nvPr/>
            </p:nvSpPr>
            <p:spPr>
              <a:xfrm>
                <a:off x="5391150" y="4343400"/>
                <a:ext cx="95250" cy="95250"/>
              </a:xfrm>
              <a:prstGeom prst="rect">
                <a:avLst/>
              </a:prstGeom>
              <a:solidFill>
                <a:schemeClr val="accent2"/>
              </a:solidFill>
              <a:ln>
                <a:noFill/>
              </a:ln>
            </p:spPr>
          </p:sp>
          <p:sp>
            <p:nvSpPr>
              <p:cNvPr id="68" name="TextBox 68"/>
              <p:cNvSpPr txBox="1"/>
              <p:nvPr/>
            </p:nvSpPr>
            <p:spPr>
              <a:xfrm>
                <a:off x="5519738" y="4340066"/>
                <a:ext cx="252379"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2025</a:t>
                </a:r>
              </a:p>
            </p:txBody>
          </p:sp>
        </p:grpSp>
      </p:grpSp>
      <p:grpSp>
        <p:nvGrpSpPr>
          <p:cNvPr id="75" name="exhibit-c-head"/>
          <p:cNvGrpSpPr/>
          <p:nvPr/>
        </p:nvGrpSpPr>
        <p:grpSpPr>
          <a:xfrm>
            <a:off x="452438" y="4581525"/>
            <a:ext cx="2498783" cy="349091"/>
            <a:chOff x="452438" y="4581525"/>
            <a:chExt cx="2498783" cy="349091"/>
          </a:xfrm>
        </p:grpSpPr>
        <p:sp>
          <p:nvSpPr>
            <p:cNvPr id="71" name="Ellipse 71"/>
            <p:cNvSpPr/>
            <p:nvPr/>
          </p:nvSpPr>
          <p:spPr>
            <a:xfrm>
              <a:off x="457200" y="4581525"/>
              <a:ext cx="152400" cy="152400"/>
            </a:xfrm>
            <a:prstGeom prst="ellipse">
              <a:avLst/>
            </a:prstGeom>
            <a:solidFill>
              <a:schemeClr val="accent1"/>
            </a:solidFill>
            <a:ln>
              <a:noFill/>
            </a:ln>
          </p:spPr>
        </p:sp>
        <p:sp>
          <p:nvSpPr>
            <p:cNvPr id="72" name="TextBox 72"/>
            <p:cNvSpPr txBox="1"/>
            <p:nvPr/>
          </p:nvSpPr>
          <p:spPr>
            <a:xfrm>
              <a:off x="490115" y="46101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C</a:t>
              </a:r>
            </a:p>
          </p:txBody>
        </p:sp>
        <p:sp>
          <p:nvSpPr>
            <p:cNvPr id="73" name="TextBox 73"/>
            <p:cNvSpPr txBox="1"/>
            <p:nvPr/>
          </p:nvSpPr>
          <p:spPr>
            <a:xfrm>
              <a:off x="661797" y="4600099"/>
              <a:ext cx="1321266"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欧洲四国 2025 年概览</a:t>
              </a:r>
            </a:p>
          </p:txBody>
        </p:sp>
        <p:sp>
          <p:nvSpPr>
            <p:cNvPr id="74" name="TextBox 74"/>
            <p:cNvSpPr txBox="1"/>
            <p:nvPr/>
          </p:nvSpPr>
          <p:spPr>
            <a:xfrm>
              <a:off x="452438" y="4768691"/>
              <a:ext cx="249878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销量:万辆;渗透率:%;变化均为 2025 年较 2023 年</a:t>
              </a:r>
            </a:p>
          </p:txBody>
        </p:sp>
      </p:grpSp>
      <p:grpSp>
        <p:nvGrpSpPr>
          <p:cNvPr id="111" name="europe-overview"/>
          <p:cNvGrpSpPr/>
          <p:nvPr/>
        </p:nvGrpSpPr>
        <p:grpSpPr>
          <a:xfrm>
            <a:off x="457200" y="5006816"/>
            <a:ext cx="8001000" cy="951548"/>
            <a:chOff x="457200" y="5006816"/>
            <a:chExt cx="8001000" cy="951548"/>
          </a:xfrm>
        </p:grpSpPr>
        <p:sp>
          <p:nvSpPr>
            <p:cNvPr id="76" name="Line 76"/>
            <p:cNvSpPr/>
            <p:nvPr/>
          </p:nvSpPr>
          <p:spPr>
            <a:xfrm>
              <a:off x="457200" y="5181600"/>
              <a:ext cx="8001000" cy="9525"/>
            </a:xfrm>
            <a:custGeom>
              <a:avLst/>
              <a:gdLst/>
              <a:ahLst/>
              <a:cxnLst/>
              <a:rect l="l" t="t" r="r" b="b"/>
              <a:pathLst>
                <a:path w="8001000" h="9525">
                  <a:moveTo>
                    <a:pt x="0" y="0"/>
                  </a:moveTo>
                  <a:lnTo>
                    <a:pt x="8001000" y="0"/>
                  </a:lnTo>
                </a:path>
              </a:pathLst>
            </a:custGeom>
            <a:noFill/>
            <a:ln w="9525">
              <a:solidFill>
                <a:schemeClr val="accent1"/>
              </a:solidFill>
            </a:ln>
          </p:spPr>
        </p:sp>
        <p:sp>
          <p:nvSpPr>
            <p:cNvPr id="77" name="TextBox 77"/>
            <p:cNvSpPr txBox="1"/>
            <p:nvPr/>
          </p:nvSpPr>
          <p:spPr>
            <a:xfrm>
              <a:off x="528638" y="500681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国家</a:t>
              </a:r>
            </a:p>
          </p:txBody>
        </p:sp>
        <p:sp>
          <p:nvSpPr>
            <p:cNvPr id="78" name="TextBox 78"/>
            <p:cNvSpPr txBox="1"/>
            <p:nvPr/>
          </p:nvSpPr>
          <p:spPr>
            <a:xfrm>
              <a:off x="2437441" y="5006816"/>
              <a:ext cx="520071"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销量</a:t>
              </a:r>
            </a:p>
          </p:txBody>
        </p:sp>
        <p:sp>
          <p:nvSpPr>
            <p:cNvPr id="79" name="TextBox 79"/>
            <p:cNvSpPr txBox="1"/>
            <p:nvPr/>
          </p:nvSpPr>
          <p:spPr>
            <a:xfrm>
              <a:off x="3935184" y="5006816"/>
              <a:ext cx="451079"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销量变化</a:t>
              </a:r>
            </a:p>
          </p:txBody>
        </p:sp>
        <p:sp>
          <p:nvSpPr>
            <p:cNvPr id="80" name="TextBox 80"/>
            <p:cNvSpPr txBox="1"/>
            <p:nvPr/>
          </p:nvSpPr>
          <p:spPr>
            <a:xfrm>
              <a:off x="5089303" y="5006816"/>
              <a:ext cx="630460"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渗透率</a:t>
              </a:r>
            </a:p>
          </p:txBody>
        </p:sp>
        <p:sp>
          <p:nvSpPr>
            <p:cNvPr id="81" name="TextBox 81"/>
            <p:cNvSpPr txBox="1"/>
            <p:nvPr/>
          </p:nvSpPr>
          <p:spPr>
            <a:xfrm>
              <a:off x="6396546" y="5006816"/>
              <a:ext cx="561467"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渗透率变化</a:t>
              </a:r>
            </a:p>
          </p:txBody>
        </p:sp>
        <p:sp>
          <p:nvSpPr>
            <p:cNvPr id="82" name="TextBox 82"/>
            <p:cNvSpPr txBox="1"/>
            <p:nvPr/>
          </p:nvSpPr>
          <p:spPr>
            <a:xfrm>
              <a:off x="7100888" y="5006816"/>
              <a:ext cx="340690"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优先级</a:t>
              </a:r>
            </a:p>
          </p:txBody>
        </p:sp>
        <p:sp>
          <p:nvSpPr>
            <p:cNvPr id="83" name="Line 83"/>
            <p:cNvSpPr/>
            <p:nvPr/>
          </p:nvSpPr>
          <p:spPr>
            <a:xfrm>
              <a:off x="457200" y="53721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84" name="TextBox 84"/>
            <p:cNvSpPr txBox="1"/>
            <p:nvPr/>
          </p:nvSpPr>
          <p:spPr>
            <a:xfrm>
              <a:off x="528638" y="5224939"/>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英国</a:t>
              </a:r>
            </a:p>
          </p:txBody>
        </p:sp>
        <p:sp>
          <p:nvSpPr>
            <p:cNvPr id="85" name="TextBox 85"/>
            <p:cNvSpPr txBox="1"/>
            <p:nvPr/>
          </p:nvSpPr>
          <p:spPr>
            <a:xfrm>
              <a:off x="2825191" y="52249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70</a:t>
              </a:r>
            </a:p>
          </p:txBody>
        </p:sp>
        <p:sp>
          <p:nvSpPr>
            <p:cNvPr id="86" name="TextBox 86"/>
            <p:cNvSpPr txBox="1"/>
            <p:nvPr/>
          </p:nvSpPr>
          <p:spPr>
            <a:xfrm>
              <a:off x="4091317" y="5224939"/>
              <a:ext cx="294945"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+52%</a:t>
              </a:r>
            </a:p>
          </p:txBody>
        </p:sp>
        <p:sp>
          <p:nvSpPr>
            <p:cNvPr id="87" name="TextBox 87"/>
            <p:cNvSpPr txBox="1"/>
            <p:nvPr/>
          </p:nvSpPr>
          <p:spPr>
            <a:xfrm>
              <a:off x="5489284" y="5224939"/>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35%</a:t>
              </a:r>
            </a:p>
          </p:txBody>
        </p:sp>
        <p:sp>
          <p:nvSpPr>
            <p:cNvPr id="88" name="TextBox 88"/>
            <p:cNvSpPr txBox="1"/>
            <p:nvPr/>
          </p:nvSpPr>
          <p:spPr>
            <a:xfrm>
              <a:off x="6669161" y="5224939"/>
              <a:ext cx="288852" cy="161925"/>
            </a:xfrm>
            <a:prstGeom prst="rect">
              <a:avLst/>
            </a:prstGeom>
            <a:noFill/>
            <a:ln>
              <a:noFill/>
            </a:ln>
          </p:spPr>
          <p:txBody>
            <a:bodyPr wrap="none" lIns="0" tIns="0" rIns="0" bIns="0" anchor="t" anchorCtr="0">
              <a:spAutoFit/>
            </a:bodyPr>
            <a:lstStyle/>
            <a:p>
              <a:pPr algn="r"/>
              <a:r>
                <a:rPr lang="en-US" sz="820" dirty="0">
                  <a:solidFill>
                    <a:schemeClr val="dk1"/>
                  </a:solidFill>
                  <a:latin typeface="Arial"/>
                  <a:ea typeface="Arial"/>
                  <a:cs typeface="Arial"/>
                </a:rPr>
                <a:t>+12pt</a:t>
              </a:r>
            </a:p>
          </p:txBody>
        </p:sp>
        <p:sp>
          <p:nvSpPr>
            <p:cNvPr id="89" name="TextBox 89"/>
            <p:cNvSpPr txBox="1"/>
            <p:nvPr/>
          </p:nvSpPr>
          <p:spPr>
            <a:xfrm>
              <a:off x="7100888" y="5224939"/>
              <a:ext cx="584373" cy="161925"/>
            </a:xfrm>
            <a:prstGeom prst="rect">
              <a:avLst/>
            </a:prstGeom>
            <a:noFill/>
            <a:ln>
              <a:noFill/>
            </a:ln>
          </p:spPr>
          <p:txBody>
            <a:bodyPr wrap="none" lIns="0" tIns="0" rIns="0" bIns="0" anchor="t" anchorCtr="0">
              <a:spAutoFit/>
            </a:bodyPr>
            <a:lstStyle/>
            <a:p>
              <a:pPr algn="l"/>
              <a:r>
                <a:rPr lang="zh-CN" sz="820" b="1" dirty="0">
                  <a:solidFill>
                    <a:schemeClr val="accent2"/>
                  </a:solidFill>
                  <a:latin typeface="+mn-lt"/>
                  <a:ea typeface="+mn-ea"/>
                  <a:cs typeface="+mn-cs"/>
                </a:rPr>
                <a:t>一级 · 重点</a:t>
              </a:r>
            </a:p>
          </p:txBody>
        </p:sp>
        <p:sp>
          <p:nvSpPr>
            <p:cNvPr id="90" name="Line 90"/>
            <p:cNvSpPr/>
            <p:nvPr/>
          </p:nvSpPr>
          <p:spPr>
            <a:xfrm>
              <a:off x="457200" y="55626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91" name="TextBox 91"/>
            <p:cNvSpPr txBox="1"/>
            <p:nvPr/>
          </p:nvSpPr>
          <p:spPr>
            <a:xfrm>
              <a:off x="528638" y="5415439"/>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德国</a:t>
              </a:r>
            </a:p>
          </p:txBody>
        </p:sp>
        <p:sp>
          <p:nvSpPr>
            <p:cNvPr id="92" name="TextBox 92"/>
            <p:cNvSpPr txBox="1"/>
            <p:nvPr/>
          </p:nvSpPr>
          <p:spPr>
            <a:xfrm>
              <a:off x="2825191" y="54154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86</a:t>
              </a:r>
            </a:p>
          </p:txBody>
        </p:sp>
        <p:sp>
          <p:nvSpPr>
            <p:cNvPr id="93" name="TextBox 93"/>
            <p:cNvSpPr txBox="1"/>
            <p:nvPr/>
          </p:nvSpPr>
          <p:spPr>
            <a:xfrm>
              <a:off x="4091317" y="5415439"/>
              <a:ext cx="294945"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+23%</a:t>
              </a:r>
            </a:p>
          </p:txBody>
        </p:sp>
        <p:sp>
          <p:nvSpPr>
            <p:cNvPr id="94" name="TextBox 94"/>
            <p:cNvSpPr txBox="1"/>
            <p:nvPr/>
          </p:nvSpPr>
          <p:spPr>
            <a:xfrm>
              <a:off x="5489284" y="5415439"/>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30%</a:t>
              </a:r>
            </a:p>
          </p:txBody>
        </p:sp>
        <p:sp>
          <p:nvSpPr>
            <p:cNvPr id="95" name="TextBox 95"/>
            <p:cNvSpPr txBox="1"/>
            <p:nvPr/>
          </p:nvSpPr>
          <p:spPr>
            <a:xfrm>
              <a:off x="6730559" y="5415439"/>
              <a:ext cx="227454" cy="161925"/>
            </a:xfrm>
            <a:prstGeom prst="rect">
              <a:avLst/>
            </a:prstGeom>
            <a:noFill/>
            <a:ln>
              <a:noFill/>
            </a:ln>
          </p:spPr>
          <p:txBody>
            <a:bodyPr wrap="none" lIns="0" tIns="0" rIns="0" bIns="0" anchor="t" anchorCtr="0">
              <a:spAutoFit/>
            </a:bodyPr>
            <a:lstStyle/>
            <a:p>
              <a:pPr algn="r"/>
              <a:r>
                <a:rPr lang="en-US" sz="820" dirty="0">
                  <a:solidFill>
                    <a:schemeClr val="dk1"/>
                  </a:solidFill>
                  <a:latin typeface="Arial"/>
                  <a:ea typeface="Arial"/>
                  <a:cs typeface="Arial"/>
                </a:rPr>
                <a:t>+6pt</a:t>
              </a:r>
            </a:p>
          </p:txBody>
        </p:sp>
        <p:sp>
          <p:nvSpPr>
            <p:cNvPr id="96" name="TextBox 96"/>
            <p:cNvSpPr txBox="1"/>
            <p:nvPr/>
          </p:nvSpPr>
          <p:spPr>
            <a:xfrm>
              <a:off x="7100888" y="5415439"/>
              <a:ext cx="1089675" cy="161925"/>
            </a:xfrm>
            <a:prstGeom prst="rect">
              <a:avLst/>
            </a:prstGeom>
            <a:noFill/>
            <a:ln>
              <a:noFill/>
            </a:ln>
          </p:spPr>
          <p:txBody>
            <a:bodyPr wrap="none" lIns="0" tIns="0" rIns="0" bIns="0" anchor="t" anchorCtr="0">
              <a:spAutoFit/>
            </a:bodyPr>
            <a:lstStyle/>
            <a:p>
              <a:pPr algn="l"/>
              <a:r>
                <a:rPr lang="zh-CN" sz="820" b="1" dirty="0">
                  <a:solidFill>
                    <a:schemeClr val="accent2"/>
                  </a:solidFill>
                  <a:latin typeface="+mn-lt"/>
                  <a:ea typeface="+mn-ea"/>
                  <a:cs typeface="+mn-cs"/>
                </a:rPr>
                <a:t>一级 · 重点,按季评估</a:t>
              </a:r>
            </a:p>
          </p:txBody>
        </p:sp>
        <p:sp>
          <p:nvSpPr>
            <p:cNvPr id="97" name="Line 97"/>
            <p:cNvSpPr/>
            <p:nvPr/>
          </p:nvSpPr>
          <p:spPr>
            <a:xfrm>
              <a:off x="457200" y="57531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98" name="TextBox 98"/>
            <p:cNvSpPr txBox="1"/>
            <p:nvPr/>
          </p:nvSpPr>
          <p:spPr>
            <a:xfrm>
              <a:off x="528638" y="5605939"/>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法国</a:t>
              </a:r>
            </a:p>
          </p:txBody>
        </p:sp>
        <p:sp>
          <p:nvSpPr>
            <p:cNvPr id="99" name="TextBox 99"/>
            <p:cNvSpPr txBox="1"/>
            <p:nvPr/>
          </p:nvSpPr>
          <p:spPr>
            <a:xfrm>
              <a:off x="2825191" y="56059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45</a:t>
              </a:r>
            </a:p>
          </p:txBody>
        </p:sp>
        <p:sp>
          <p:nvSpPr>
            <p:cNvPr id="100" name="TextBox 100"/>
            <p:cNvSpPr txBox="1"/>
            <p:nvPr/>
          </p:nvSpPr>
          <p:spPr>
            <a:xfrm>
              <a:off x="4152715" y="5605939"/>
              <a:ext cx="233547"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−4%</a:t>
              </a:r>
            </a:p>
          </p:txBody>
        </p:sp>
        <p:sp>
          <p:nvSpPr>
            <p:cNvPr id="101" name="TextBox 101"/>
            <p:cNvSpPr txBox="1"/>
            <p:nvPr/>
          </p:nvSpPr>
          <p:spPr>
            <a:xfrm>
              <a:off x="5489284" y="5605939"/>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26%</a:t>
              </a:r>
            </a:p>
          </p:txBody>
        </p:sp>
        <p:sp>
          <p:nvSpPr>
            <p:cNvPr id="102" name="TextBox 102"/>
            <p:cNvSpPr txBox="1"/>
            <p:nvPr/>
          </p:nvSpPr>
          <p:spPr>
            <a:xfrm>
              <a:off x="6730559" y="5605939"/>
              <a:ext cx="227454" cy="161925"/>
            </a:xfrm>
            <a:prstGeom prst="rect">
              <a:avLst/>
            </a:prstGeom>
            <a:noFill/>
            <a:ln>
              <a:noFill/>
            </a:ln>
          </p:spPr>
          <p:txBody>
            <a:bodyPr wrap="none" lIns="0" tIns="0" rIns="0" bIns="0" anchor="t" anchorCtr="0">
              <a:spAutoFit/>
            </a:bodyPr>
            <a:lstStyle/>
            <a:p>
              <a:pPr algn="r"/>
              <a:r>
                <a:rPr lang="en-US" sz="820" dirty="0">
                  <a:solidFill>
                    <a:schemeClr val="dk1"/>
                  </a:solidFill>
                  <a:latin typeface="Arial"/>
                  <a:ea typeface="Arial"/>
                  <a:cs typeface="Arial"/>
                </a:rPr>
                <a:t>+1pt</a:t>
              </a:r>
            </a:p>
          </p:txBody>
        </p:sp>
        <p:sp>
          <p:nvSpPr>
            <p:cNvPr id="103" name="TextBox 103"/>
            <p:cNvSpPr txBox="1"/>
            <p:nvPr/>
          </p:nvSpPr>
          <p:spPr>
            <a:xfrm>
              <a:off x="7100888" y="5605939"/>
              <a:ext cx="584373" cy="161925"/>
            </a:xfrm>
            <a:prstGeom prst="rect">
              <a:avLst/>
            </a:prstGeom>
            <a:noFill/>
            <a:ln>
              <a:noFill/>
            </a:ln>
          </p:spPr>
          <p:txBody>
            <a:bodyPr wrap="none" lIns="0" tIns="0" rIns="0" bIns="0" anchor="t" anchorCtr="0">
              <a:spAutoFit/>
            </a:bodyPr>
            <a:lstStyle/>
            <a:p>
              <a:pPr algn="l"/>
              <a:r>
                <a:rPr lang="zh-CN" sz="820" b="1" dirty="0">
                  <a:solidFill>
                    <a:schemeClr val="accent5"/>
                  </a:solidFill>
                  <a:latin typeface="+mn-lt"/>
                  <a:ea typeface="+mn-ea"/>
                  <a:cs typeface="+mn-cs"/>
                </a:rPr>
                <a:t>三级 · 守势</a:t>
              </a:r>
            </a:p>
          </p:txBody>
        </p:sp>
        <p:sp>
          <p:nvSpPr>
            <p:cNvPr id="104" name="Line 104"/>
            <p:cNvSpPr/>
            <p:nvPr/>
          </p:nvSpPr>
          <p:spPr>
            <a:xfrm>
              <a:off x="457200" y="59436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05" name="TextBox 105"/>
            <p:cNvSpPr txBox="1"/>
            <p:nvPr/>
          </p:nvSpPr>
          <p:spPr>
            <a:xfrm>
              <a:off x="528638" y="5796439"/>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挪威</a:t>
              </a:r>
            </a:p>
          </p:txBody>
        </p:sp>
        <p:sp>
          <p:nvSpPr>
            <p:cNvPr id="106" name="TextBox 106"/>
            <p:cNvSpPr txBox="1"/>
            <p:nvPr/>
          </p:nvSpPr>
          <p:spPr>
            <a:xfrm>
              <a:off x="2825191" y="57964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17</a:t>
              </a:r>
            </a:p>
          </p:txBody>
        </p:sp>
        <p:sp>
          <p:nvSpPr>
            <p:cNvPr id="107" name="TextBox 107"/>
            <p:cNvSpPr txBox="1"/>
            <p:nvPr/>
          </p:nvSpPr>
          <p:spPr>
            <a:xfrm>
              <a:off x="4091317" y="5796439"/>
              <a:ext cx="294945"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+55%</a:t>
              </a:r>
            </a:p>
          </p:txBody>
        </p:sp>
        <p:sp>
          <p:nvSpPr>
            <p:cNvPr id="108" name="TextBox 108"/>
            <p:cNvSpPr txBox="1"/>
            <p:nvPr/>
          </p:nvSpPr>
          <p:spPr>
            <a:xfrm>
              <a:off x="5489284" y="5796439"/>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97%</a:t>
              </a:r>
            </a:p>
          </p:txBody>
        </p:sp>
        <p:sp>
          <p:nvSpPr>
            <p:cNvPr id="109" name="TextBox 109"/>
            <p:cNvSpPr txBox="1"/>
            <p:nvPr/>
          </p:nvSpPr>
          <p:spPr>
            <a:xfrm>
              <a:off x="6730559" y="5796439"/>
              <a:ext cx="227454" cy="161925"/>
            </a:xfrm>
            <a:prstGeom prst="rect">
              <a:avLst/>
            </a:prstGeom>
            <a:noFill/>
            <a:ln>
              <a:noFill/>
            </a:ln>
          </p:spPr>
          <p:txBody>
            <a:bodyPr wrap="none" lIns="0" tIns="0" rIns="0" bIns="0" anchor="t" anchorCtr="0">
              <a:spAutoFit/>
            </a:bodyPr>
            <a:lstStyle/>
            <a:p>
              <a:pPr algn="r"/>
              <a:r>
                <a:rPr lang="en-US" sz="820" dirty="0">
                  <a:solidFill>
                    <a:schemeClr val="dk1"/>
                  </a:solidFill>
                  <a:latin typeface="Arial"/>
                  <a:ea typeface="Arial"/>
                  <a:cs typeface="Arial"/>
                </a:rPr>
                <a:t>+7pt</a:t>
              </a:r>
            </a:p>
          </p:txBody>
        </p:sp>
        <p:sp>
          <p:nvSpPr>
            <p:cNvPr id="110" name="TextBox 110"/>
            <p:cNvSpPr txBox="1"/>
            <p:nvPr/>
          </p:nvSpPr>
          <p:spPr>
            <a:xfrm>
              <a:off x="7100888" y="5796439"/>
              <a:ext cx="845993" cy="161925"/>
            </a:xfrm>
            <a:prstGeom prst="rect">
              <a:avLst/>
            </a:prstGeom>
            <a:noFill/>
            <a:ln>
              <a:noFill/>
            </a:ln>
          </p:spPr>
          <p:txBody>
            <a:bodyPr wrap="none" lIns="0" tIns="0" rIns="0" bIns="0" anchor="t" anchorCtr="0">
              <a:spAutoFit/>
            </a:bodyPr>
            <a:lstStyle/>
            <a:p>
              <a:pPr algn="l"/>
              <a:r>
                <a:rPr lang="zh-CN" sz="820" b="1" dirty="0">
                  <a:solidFill>
                    <a:schemeClr val="accent5"/>
                  </a:solidFill>
                  <a:latin typeface="+mn-lt"/>
                  <a:ea typeface="+mn-ea"/>
                  <a:cs typeface="+mn-cs"/>
                </a:rPr>
                <a:t>饱和,不新增投入</a:t>
              </a:r>
            </a:p>
          </p:txBody>
        </p:sp>
      </p:grpSp>
      <p:grpSp>
        <p:nvGrpSpPr>
          <p:cNvPr id="130" name="!!insight-column"/>
          <p:cNvGrpSpPr/>
          <p:nvPr/>
        </p:nvGrpSpPr>
        <p:grpSpPr>
          <a:xfrm>
            <a:off x="8720138" y="1587341"/>
            <a:ext cx="3014662" cy="4432459"/>
            <a:chOff x="8720138" y="1587341"/>
            <a:chExt cx="3014662" cy="4432459"/>
          </a:xfrm>
        </p:grpSpPr>
        <p:sp>
          <p:nvSpPr>
            <p:cNvPr id="112" name="TextBox 112"/>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113" name="Line 113"/>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114" name="Ellipse 114"/>
            <p:cNvSpPr/>
            <p:nvPr/>
          </p:nvSpPr>
          <p:spPr>
            <a:xfrm>
              <a:off x="8724900" y="1876425"/>
              <a:ext cx="152400" cy="152400"/>
            </a:xfrm>
            <a:prstGeom prst="ellipse">
              <a:avLst/>
            </a:prstGeom>
            <a:solidFill>
              <a:schemeClr val="accent1"/>
            </a:solidFill>
            <a:ln>
              <a:noFill/>
            </a:ln>
          </p:spPr>
        </p:sp>
        <p:sp>
          <p:nvSpPr>
            <p:cNvPr id="115" name="TextBox 115"/>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116" name="TextBox 116"/>
            <p:cNvSpPr txBox="1"/>
            <p:nvPr/>
          </p:nvSpPr>
          <p:spPr>
            <a:xfrm>
              <a:off x="8948166" y="1886902"/>
              <a:ext cx="1944243"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英国:渗透率 23%→35%(+12pt),</a:t>
              </a:r>
              <a:br/>
              <a:r>
                <a:rPr lang="zh-CN" sz="1050" dirty="0">
                  <a:solidFill>
                    <a:schemeClr val="dk1"/>
                  </a:solidFill>
                  <a:latin typeface="+mn-lt"/>
                  <a:ea typeface="+mn-ea"/>
                  <a:cs typeface="+mn-cs"/>
                </a:rPr>
                <a:t>销量 46 万→70 万辆(+52%),</a:t>
              </a:r>
              <a:br/>
              <a:r>
                <a:rPr lang="zh-CN" sz="1050" dirty="0">
                  <a:solidFill>
                    <a:schemeClr val="dk1"/>
                  </a:solidFill>
                  <a:latin typeface="+mn-lt"/>
                  <a:ea typeface="+mn-ea"/>
                  <a:cs typeface="+mn-cs"/>
                </a:rPr>
                <a:t>是欧洲增量最确定的国家。</a:t>
              </a:r>
            </a:p>
          </p:txBody>
        </p:sp>
        <p:sp>
          <p:nvSpPr>
            <p:cNvPr id="117" name="Ellipse 117"/>
            <p:cNvSpPr/>
            <p:nvPr/>
          </p:nvSpPr>
          <p:spPr>
            <a:xfrm>
              <a:off x="8724900" y="2600325"/>
              <a:ext cx="152400" cy="152400"/>
            </a:xfrm>
            <a:prstGeom prst="ellipse">
              <a:avLst/>
            </a:prstGeom>
            <a:solidFill>
              <a:schemeClr val="accent1"/>
            </a:solidFill>
            <a:ln>
              <a:noFill/>
            </a:ln>
          </p:spPr>
        </p:sp>
        <p:sp>
          <p:nvSpPr>
            <p:cNvPr id="118" name="TextBox 118"/>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119" name="TextBox 119"/>
            <p:cNvSpPr txBox="1"/>
            <p:nvPr/>
          </p:nvSpPr>
          <p:spPr>
            <a:xfrm>
              <a:off x="8948166" y="2610802"/>
              <a:ext cx="246430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德国:2024 年从 24% 回落到 20%,</a:t>
              </a:r>
              <a:br/>
              <a:r>
                <a:rPr lang="zh-CN" sz="1050" dirty="0">
                  <a:solidFill>
                    <a:schemeClr val="dk1"/>
                  </a:solidFill>
                  <a:latin typeface="+mn-lt"/>
                  <a:ea typeface="+mn-ea"/>
                  <a:cs typeface="+mn-cs"/>
                </a:rPr>
                <a:t>2025 年反弹到 30%,销量 70 万→86 万辆;</a:t>
              </a:r>
              <a:br/>
              <a:r>
                <a:rPr lang="zh-CN" sz="1050" dirty="0">
                  <a:solidFill>
                    <a:schemeClr val="dk1"/>
                  </a:solidFill>
                  <a:latin typeface="+mn-lt"/>
                  <a:ea typeface="+mn-ea"/>
                  <a:cs typeface="+mn-cs"/>
                </a:rPr>
                <a:t>政策反复是主要波动来源(第 12 页)。</a:t>
              </a:r>
            </a:p>
          </p:txBody>
        </p:sp>
        <p:sp>
          <p:nvSpPr>
            <p:cNvPr id="120" name="Ellipse 120"/>
            <p:cNvSpPr/>
            <p:nvPr/>
          </p:nvSpPr>
          <p:spPr>
            <a:xfrm>
              <a:off x="8724900" y="3324225"/>
              <a:ext cx="152400" cy="152400"/>
            </a:xfrm>
            <a:prstGeom prst="ellipse">
              <a:avLst/>
            </a:prstGeom>
            <a:solidFill>
              <a:schemeClr val="accent1"/>
            </a:solidFill>
            <a:ln>
              <a:noFill/>
            </a:ln>
          </p:spPr>
        </p:sp>
        <p:sp>
          <p:nvSpPr>
            <p:cNvPr id="121" name="TextBox 121"/>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122" name="TextBox 122"/>
            <p:cNvSpPr txBox="1"/>
            <p:nvPr/>
          </p:nvSpPr>
          <p:spPr>
            <a:xfrm>
              <a:off x="8948166" y="3334702"/>
              <a:ext cx="1944243"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法国:26% 两年持平,销量 47 万→</a:t>
              </a:r>
              <a:br/>
              <a:r>
                <a:rPr lang="zh-CN" sz="1050" dirty="0">
                  <a:solidFill>
                    <a:schemeClr val="dk1"/>
                  </a:solidFill>
                  <a:latin typeface="+mn-lt"/>
                  <a:ea typeface="+mn-ea"/>
                  <a:cs typeface="+mn-cs"/>
                </a:rPr>
                <a:t>45 万辆(−4%),欧洲第三大市场</a:t>
              </a:r>
              <a:br/>
              <a:r>
                <a:rPr lang="zh-CN" sz="1050" dirty="0">
                  <a:solidFill>
                    <a:schemeClr val="dk1"/>
                  </a:solidFill>
                  <a:latin typeface="+mn-lt"/>
                  <a:ea typeface="+mn-ea"/>
                  <a:cs typeface="+mn-cs"/>
                </a:rPr>
                <a:t>没有贡献增量。</a:t>
              </a:r>
            </a:p>
          </p:txBody>
        </p:sp>
        <p:sp>
          <p:nvSpPr>
            <p:cNvPr id="123" name="Ellipse 123"/>
            <p:cNvSpPr/>
            <p:nvPr/>
          </p:nvSpPr>
          <p:spPr>
            <a:xfrm>
              <a:off x="8724900" y="4048125"/>
              <a:ext cx="152400" cy="152400"/>
            </a:xfrm>
            <a:prstGeom prst="ellipse">
              <a:avLst/>
            </a:prstGeom>
            <a:solidFill>
              <a:schemeClr val="accent1"/>
            </a:solidFill>
            <a:ln>
              <a:noFill/>
            </a:ln>
          </p:spPr>
        </p:sp>
        <p:sp>
          <p:nvSpPr>
            <p:cNvPr id="124" name="TextBox 124"/>
            <p:cNvSpPr txBox="1"/>
            <p:nvPr/>
          </p:nvSpPr>
          <p:spPr>
            <a:xfrm>
              <a:off x="87682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125" name="TextBox 125"/>
            <p:cNvSpPr txBox="1"/>
            <p:nvPr/>
          </p:nvSpPr>
          <p:spPr>
            <a:xfrm>
              <a:off x="8948166" y="4058602"/>
              <a:ext cx="201091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挪威 97% 已接近饱和,增量有限。</a:t>
              </a:r>
              <a:br/>
              <a:r>
                <a:rPr lang="zh-CN" sz="1050" dirty="0">
                  <a:solidFill>
                    <a:schemeClr val="dk1"/>
                  </a:solidFill>
                  <a:latin typeface="+mn-lt"/>
                  <a:ea typeface="+mn-ea"/>
                  <a:cs typeface="+mn-cs"/>
                </a:rPr>
                <a:t>结论:英德优先,法国观望,</a:t>
              </a:r>
              <a:br/>
              <a:r>
                <a:rPr lang="zh-CN" sz="1050" dirty="0">
                  <a:solidFill>
                    <a:schemeClr val="dk1"/>
                  </a:solidFill>
                  <a:latin typeface="+mn-lt"/>
                  <a:ea typeface="+mn-ea"/>
                  <a:cs typeface="+mn-cs"/>
                </a:rPr>
                <a:t>不按"欧洲"整体做预算。</a:t>
              </a:r>
            </a:p>
          </p:txBody>
        </p:sp>
        <p:sp>
          <p:nvSpPr>
            <p:cNvPr id="126" name="Rectangle 126"/>
            <p:cNvSpPr/>
            <p:nvPr/>
          </p:nvSpPr>
          <p:spPr>
            <a:xfrm>
              <a:off x="8724900" y="4914900"/>
              <a:ext cx="3009900" cy="1104900"/>
            </a:xfrm>
            <a:prstGeom prst="rect">
              <a:avLst/>
            </a:prstGeom>
            <a:solidFill>
              <a:srgbClr val="F7F7F7"/>
            </a:solidFill>
            <a:ln>
              <a:noFill/>
            </a:ln>
          </p:spPr>
        </p:sp>
        <p:sp>
          <p:nvSpPr>
            <p:cNvPr id="127" name="Rectangle 127"/>
            <p:cNvSpPr/>
            <p:nvPr/>
          </p:nvSpPr>
          <p:spPr>
            <a:xfrm>
              <a:off x="8724900" y="4914900"/>
              <a:ext cx="38100" cy="1104900"/>
            </a:xfrm>
            <a:prstGeom prst="rect">
              <a:avLst/>
            </a:prstGeom>
            <a:solidFill>
              <a:schemeClr val="accent2"/>
            </a:solidFill>
            <a:ln>
              <a:noFill/>
            </a:ln>
          </p:spPr>
        </p:sp>
        <p:sp>
          <p:nvSpPr>
            <p:cNvPr id="128" name="TextBox 128"/>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129" name="TextBox 129"/>
            <p:cNvSpPr txBox="1"/>
            <p:nvPr/>
          </p:nvSpPr>
          <p:spPr>
            <a:xfrm>
              <a:off x="8871966" y="5220652"/>
              <a:ext cx="221761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英德列一级、法国列三级;欧洲预算按</a:t>
              </a:r>
              <a:br/>
              <a:r>
                <a:rPr lang="zh-CN" sz="1050" dirty="0">
                  <a:solidFill>
                    <a:schemeClr val="dk1"/>
                  </a:solidFill>
                  <a:latin typeface="+mn-lt"/>
                  <a:ea typeface="+mn-ea"/>
                  <a:cs typeface="+mn-cs"/>
                </a:rPr>
                <a:t>国家而非大区分配,德国按季评估</a:t>
              </a:r>
              <a:br/>
              <a:r>
                <a:rPr lang="zh-CN" sz="1050" dirty="0">
                  <a:solidFill>
                    <a:schemeClr val="dk1"/>
                  </a:solidFill>
                  <a:latin typeface="+mn-lt"/>
                  <a:ea typeface="+mn-ea"/>
                  <a:cs typeface="+mn-cs"/>
                </a:rPr>
                <a:t>(第 10、12 页)。</a:t>
              </a:r>
            </a:p>
          </p:txBody>
        </p:sp>
      </p:grpSp>
      <p:grpSp>
        <p:nvGrpSpPr>
          <p:cNvPr id="135" name="footer"/>
          <p:cNvGrpSpPr/>
          <p:nvPr/>
        </p:nvGrpSpPr>
        <p:grpSpPr>
          <a:xfrm>
            <a:off x="452438" y="6205538"/>
            <a:ext cx="11287125" cy="433388"/>
            <a:chOff x="452438" y="6205538"/>
            <a:chExt cx="11287125" cy="433388"/>
          </a:xfrm>
        </p:grpSpPr>
        <p:sp>
          <p:nvSpPr>
            <p:cNvPr id="131" name="TextBox 131"/>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132" name="TextBox 132"/>
            <p:cNvSpPr txBox="1"/>
            <p:nvPr/>
          </p:nvSpPr>
          <p:spPr>
            <a:xfrm>
              <a:off x="452438" y="6338888"/>
              <a:ext cx="4056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欧洲 = EU27 + 英国 + 挪威等(IEA 定义);百分点变化 = 2025 年渗透率 − 2023 年渗透率</a:t>
              </a:r>
            </a:p>
          </p:txBody>
        </p:sp>
        <p:sp>
          <p:nvSpPr>
            <p:cNvPr id="133" name="TextBox 133"/>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134" name="TextBox 134"/>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6</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id="13" presetID="22" presetClass="entr" presetSubtype="2" fill="hold" grpId="0" nodeType="afterEffect">
                                  <p:stCondLst>
                                    <p:cond delay="500"/>
                                  </p:stCondLst>
                                  <p:childTnLst>
                                    <p:set>
                                      <p:cBhvr>
                                        <p:cTn id="14" dur="1" fill="hold">
                                          <p:stCondLst>
                                            <p:cond delay="0"/>
                                          </p:stCondLst>
                                        </p:cTn>
                                        <p:tgtEl>
                                          <p:spTgt spid="38"/>
                                        </p:tgtEl>
                                        <p:attrNameLst>
                                          <p:attrName>style.visibility</p:attrName>
                                        </p:attrNameLst>
                                      </p:cBhvr>
                                      <p:to>
                                        <p:strVal val="visible"/>
                                      </p:to>
                                    </p:set>
                                    <p:animEffect transition="in" filter="wipe(right)">
                                      <p:cBhvr>
                                        <p:cTn id="15" dur="600"/>
                                        <p:tgtEl>
                                          <p:spTgt spid="38"/>
                                        </p:tgtEl>
                                      </p:cBhvr>
                                    </p:animEffect>
                                  </p:childTnLst>
                                </p:cTn>
                              </p:par>
                            </p:childTnLst>
                          </p:cTn>
                        </p:par>
                        <p:par>
                          <p:cTn id="16" fill="hold">
                            <p:stCondLst>
                              <p:cond delay="2100"/>
                            </p:stCondLst>
                            <p:childTnLst>
                              <p:par>
                                <p:cTn id="17" presetID="10" presetClass="entr" presetSubtype="0" fill="hold" grpId="0" nodeType="afterEffect">
                                  <p:stCondLst>
                                    <p:cond delay="50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200"/>
                                        <p:tgtEl>
                                          <p:spTgt spid="43"/>
                                        </p:tgtEl>
                                      </p:cBhvr>
                                    </p:animEffect>
                                  </p:childTnLst>
                                </p:cTn>
                              </p:par>
                            </p:childTnLst>
                          </p:cTn>
                        </p:par>
                        <p:par>
                          <p:cTn id="20" fill="hold">
                            <p:stCondLst>
                              <p:cond delay="2800"/>
                            </p:stCondLst>
                            <p:childTnLst>
                              <p:par>
                                <p:cTn id="21" presetID="22" presetClass="entr" presetSubtype="1" fill="hold" grpId="0" nodeType="afterEffect">
                                  <p:stCondLst>
                                    <p:cond delay="500"/>
                                  </p:stCondLst>
                                  <p:childTnLst>
                                    <p:set>
                                      <p:cBhvr>
                                        <p:cTn id="22" dur="1" fill="hold">
                                          <p:stCondLst>
                                            <p:cond delay="0"/>
                                          </p:stCondLst>
                                        </p:cTn>
                                        <p:tgtEl>
                                          <p:spTgt spid="70"/>
                                        </p:tgtEl>
                                        <p:attrNameLst>
                                          <p:attrName>style.visibility</p:attrName>
                                        </p:attrNameLst>
                                      </p:cBhvr>
                                      <p:to>
                                        <p:strVal val="visible"/>
                                      </p:to>
                                    </p:set>
                                    <p:animEffect transition="in" filter="wipe(up)">
                                      <p:cBhvr>
                                        <p:cTn id="23" dur="600"/>
                                        <p:tgtEl>
                                          <p:spTgt spid="70"/>
                                        </p:tgtEl>
                                      </p:cBhvr>
                                    </p:animEffect>
                                  </p:childTnLst>
                                </p:cTn>
                              </p:par>
                            </p:childTnLst>
                          </p:cTn>
                        </p:par>
                        <p:par>
                          <p:cTn id="24" fill="hold">
                            <p:stCondLst>
                              <p:cond delay="3900"/>
                            </p:stCondLst>
                            <p:childTnLst>
                              <p:par>
                                <p:cTn id="25" presetID="10" presetClass="entr" presetSubtype="0" fill="hold" grpId="0" nodeType="afterEffect">
                                  <p:stCondLst>
                                    <p:cond delay="500"/>
                                  </p:stCondLst>
                                  <p:childTnLst>
                                    <p:set>
                                      <p:cBhvr>
                                        <p:cTn id="26" dur="1" fill="hold">
                                          <p:stCondLst>
                                            <p:cond delay="0"/>
                                          </p:stCondLst>
                                        </p:cTn>
                                        <p:tgtEl>
                                          <p:spTgt spid="75"/>
                                        </p:tgtEl>
                                        <p:attrNameLst>
                                          <p:attrName>style.visibility</p:attrName>
                                        </p:attrNameLst>
                                      </p:cBhvr>
                                      <p:to>
                                        <p:strVal val="visible"/>
                                      </p:to>
                                    </p:set>
                                    <p:animEffect transition="in" filter="fade">
                                      <p:cBhvr>
                                        <p:cTn id="27" dur="200"/>
                                        <p:tgtEl>
                                          <p:spTgt spid="75"/>
                                        </p:tgtEl>
                                      </p:cBhvr>
                                    </p:animEffect>
                                  </p:childTnLst>
                                </p:cTn>
                              </p:par>
                            </p:childTnLst>
                          </p:cTn>
                        </p:par>
                        <p:par>
                          <p:cTn id="28" fill="hold">
                            <p:stCondLst>
                              <p:cond delay="4600"/>
                            </p:stCondLst>
                            <p:childTnLst>
                              <p:par>
                                <p:cTn id="29" presetID="22" presetClass="entr" presetSubtype="4" fill="hold" grpId="0" nodeType="afterEffect">
                                  <p:stCondLst>
                                    <p:cond delay="500"/>
                                  </p:stCondLst>
                                  <p:childTnLst>
                                    <p:set>
                                      <p:cBhvr>
                                        <p:cTn id="30" dur="1" fill="hold">
                                          <p:stCondLst>
                                            <p:cond delay="0"/>
                                          </p:stCondLst>
                                        </p:cTn>
                                        <p:tgtEl>
                                          <p:spTgt spid="111"/>
                                        </p:tgtEl>
                                        <p:attrNameLst>
                                          <p:attrName>style.visibility</p:attrName>
                                        </p:attrNameLst>
                                      </p:cBhvr>
                                      <p:to>
                                        <p:strVal val="visible"/>
                                      </p:to>
                                    </p:set>
                                    <p:animEffect transition="in" filter="wipe(down)">
                                      <p:cBhvr>
                                        <p:cTn id="31" dur="500"/>
                                        <p:tgtEl>
                                          <p:spTgt spid="111"/>
                                        </p:tgtEl>
                                      </p:cBhvr>
                                    </p:animEffect>
                                  </p:childTnLst>
                                </p:cTn>
                              </p:par>
                            </p:childTnLst>
                          </p:cTn>
                        </p:par>
                        <p:par>
                          <p:cTn id="32" fill="hold">
                            <p:stCondLst>
                              <p:cond delay="5600"/>
                            </p:stCondLst>
                            <p:childTnLst>
                              <p:par>
                                <p:cTn id="33" presetID="10" presetClass="entr" presetSubtype="0" fill="hold" grpId="0" nodeType="afterEffect">
                                  <p:stCondLst>
                                    <p:cond delay="500"/>
                                  </p:stCondLst>
                                  <p:childTnLst>
                                    <p:set>
                                      <p:cBhvr>
                                        <p:cTn id="34" dur="1" fill="hold">
                                          <p:stCondLst>
                                            <p:cond delay="0"/>
                                          </p:stCondLst>
                                        </p:cTn>
                                        <p:tgtEl>
                                          <p:spTgt spid="130"/>
                                        </p:tgtEl>
                                        <p:attrNameLst>
                                          <p:attrName>style.visibility</p:attrName>
                                        </p:attrNameLst>
                                      </p:cBhvr>
                                      <p:to>
                                        <p:strVal val="visible"/>
                                      </p:to>
                                    </p:set>
                                    <p:animEffect transition="in" filter="fade">
                                      <p:cBhvr>
                                        <p:cTn id="35" dur="4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9927681" y="247650"/>
            <a:ext cx="1807119" cy="206216"/>
            <a:chOff x="9927681" y="247650"/>
            <a:chExt cx="1807119" cy="206216"/>
          </a:xfrm>
        </p:grpSpPr>
        <p:sp>
          <p:nvSpPr>
            <p:cNvPr id="2" name="TextBox 2"/>
            <p:cNvSpPr txBox="1"/>
            <p:nvPr/>
          </p:nvSpPr>
          <p:spPr>
            <a:xfrm>
              <a:off x="9927681" y="291941"/>
              <a:ext cx="878431"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诊断 · 新兴市场</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8303324" cy="637794"/>
            <a:chOff x="448056" y="472440"/>
            <a:chExt cx="8303324" cy="637794"/>
          </a:xfrm>
        </p:grpSpPr>
        <p:sp>
          <p:nvSpPr>
            <p:cNvPr id="6" name="TextBox 6"/>
            <p:cNvSpPr txBox="1"/>
            <p:nvPr/>
          </p:nvSpPr>
          <p:spPr>
            <a:xfrm>
              <a:off x="448056" y="472440"/>
              <a:ext cx="8303324"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东南亚渗透率两年从 8.4% 升到 18%、泰国达 23%,巴西、墨西哥、印度同步起量</a:t>
              </a:r>
              <a:br/>
              <a:r>
                <a:rPr lang="zh-CN" sz="1800" b="1" dirty="0">
                  <a:solidFill>
                    <a:schemeClr val="accent1"/>
                  </a:solidFill>
                  <a:latin typeface="+mn-lt"/>
                  <a:ea typeface="+mn-ea"/>
                  <a:cs typeface="+mn-cs"/>
                </a:rPr>
                <a:t>——新兴市场已经进入加速段</a:t>
              </a:r>
            </a:p>
          </p:txBody>
        </p:sp>
      </p:grpSp>
      <p:grpSp>
        <p:nvGrpSpPr>
          <p:cNvPr id="9" name="unit-line"/>
          <p:cNvGrpSpPr/>
          <p:nvPr/>
        </p:nvGrpSpPr>
        <p:grpSpPr>
          <a:xfrm>
            <a:off x="452438" y="1160145"/>
            <a:ext cx="4509402" cy="176212"/>
            <a:chOff x="452438" y="1160145"/>
            <a:chExt cx="4509402" cy="176212"/>
          </a:xfrm>
        </p:grpSpPr>
        <p:sp>
          <p:nvSpPr>
            <p:cNvPr id="8" name="TextBox 8"/>
            <p:cNvSpPr txBox="1"/>
            <p:nvPr/>
          </p:nvSpPr>
          <p:spPr>
            <a:xfrm>
              <a:off x="452438" y="1160145"/>
              <a:ext cx="4509402"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A:电动车渗透率,%,2023 vs 2025;B:2025 年电动车销量,万辆,及 2023→2025 倍数</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1536232" cy="349091"/>
            <a:chOff x="452438" y="1552575"/>
            <a:chExt cx="1536232"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326873"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渗透率:2023 vs 2025</a:t>
              </a:r>
            </a:p>
          </p:txBody>
        </p:sp>
        <p:sp>
          <p:nvSpPr>
            <p:cNvPr id="14" name="TextBox 14"/>
            <p:cNvSpPr txBox="1"/>
            <p:nvPr/>
          </p:nvSpPr>
          <p:spPr>
            <a:xfrm>
              <a:off x="452438" y="1739741"/>
              <a:ext cx="1118928"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电动车占新车销量的 %</a:t>
              </a:r>
            </a:p>
          </p:txBody>
        </p:sp>
      </p:grpSp>
      <p:grpSp>
        <p:nvGrpSpPr>
          <p:cNvPr id="47" name="emerging-share"/>
          <p:cNvGrpSpPr/>
          <p:nvPr/>
        </p:nvGrpSpPr>
        <p:grpSpPr>
          <a:xfrm>
            <a:off x="533400" y="2309432"/>
            <a:ext cx="3695700" cy="2192559"/>
            <a:chOff x="533400" y="2309432"/>
            <a:chExt cx="3695700" cy="2192559"/>
          </a:xfrm>
        </p:grpSpPr>
        <p:grpSp>
          <p:nvGrpSpPr>
            <p:cNvPr id="46" name="emerging-share-chartArea"/>
            <p:cNvGrpSpPr/>
            <p:nvPr/>
          </p:nvGrpSpPr>
          <p:grpSpPr>
            <a:xfrm>
              <a:off x="533400" y="2309432"/>
              <a:ext cx="3695700" cy="2192559"/>
              <a:chOff x="533400" y="2309432"/>
              <a:chExt cx="3695700" cy="2192559"/>
            </a:xfrm>
          </p:grpSpPr>
          <p:sp>
            <p:nvSpPr>
              <p:cNvPr id="16" name="Line 16"/>
              <p:cNvSpPr/>
              <p:nvPr/>
            </p:nvSpPr>
            <p:spPr>
              <a:xfrm>
                <a:off x="533400" y="4133850"/>
                <a:ext cx="3695700" cy="9525"/>
              </a:xfrm>
              <a:custGeom>
                <a:avLst/>
                <a:gdLst/>
                <a:ahLst/>
                <a:cxnLst/>
                <a:rect l="l" t="t" r="r" b="b"/>
                <a:pathLst>
                  <a:path w="3695700" h="9525">
                    <a:moveTo>
                      <a:pt x="0" y="0"/>
                    </a:moveTo>
                    <a:lnTo>
                      <a:pt x="3695700" y="0"/>
                    </a:lnTo>
                  </a:path>
                </a:pathLst>
              </a:custGeom>
              <a:noFill/>
              <a:ln w="7144">
                <a:solidFill>
                  <a:schemeClr val="accent6"/>
                </a:solidFill>
              </a:ln>
            </p:spPr>
          </p:sp>
          <p:sp>
            <p:nvSpPr>
              <p:cNvPr id="17" name="Rectangle 17"/>
              <p:cNvSpPr/>
              <p:nvPr/>
            </p:nvSpPr>
            <p:spPr>
              <a:xfrm>
                <a:off x="598170" y="3752278"/>
                <a:ext cx="285750" cy="381572"/>
              </a:xfrm>
              <a:prstGeom prst="rect">
                <a:avLst/>
              </a:prstGeom>
              <a:solidFill>
                <a:schemeClr val="accent6"/>
              </a:solidFill>
              <a:ln>
                <a:noFill/>
              </a:ln>
            </p:spPr>
          </p:sp>
          <p:sp>
            <p:nvSpPr>
              <p:cNvPr id="18" name="TextBox 18"/>
              <p:cNvSpPr txBox="1"/>
              <p:nvPr/>
            </p:nvSpPr>
            <p:spPr>
              <a:xfrm>
                <a:off x="659552" y="3615595"/>
                <a:ext cx="16298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5.2</a:t>
                </a:r>
              </a:p>
            </p:txBody>
          </p:sp>
          <p:sp>
            <p:nvSpPr>
              <p:cNvPr id="19" name="Rectangle 19"/>
              <p:cNvSpPr/>
              <p:nvPr/>
            </p:nvSpPr>
            <p:spPr>
              <a:xfrm>
                <a:off x="922020" y="2813018"/>
                <a:ext cx="285750" cy="1320832"/>
              </a:xfrm>
              <a:prstGeom prst="rect">
                <a:avLst/>
              </a:prstGeom>
              <a:solidFill>
                <a:schemeClr val="accent2"/>
              </a:solidFill>
              <a:ln>
                <a:noFill/>
              </a:ln>
            </p:spPr>
          </p:sp>
          <p:sp>
            <p:nvSpPr>
              <p:cNvPr id="20" name="TextBox 20"/>
              <p:cNvSpPr txBox="1"/>
              <p:nvPr/>
            </p:nvSpPr>
            <p:spPr>
              <a:xfrm>
                <a:off x="998734" y="2676334"/>
                <a:ext cx="132321"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18</a:t>
                </a:r>
              </a:p>
            </p:txBody>
          </p:sp>
          <p:sp>
            <p:nvSpPr>
              <p:cNvPr id="21" name="TextBox 21"/>
              <p:cNvSpPr txBox="1"/>
              <p:nvPr/>
            </p:nvSpPr>
            <p:spPr>
              <a:xfrm>
                <a:off x="732625" y="4187666"/>
                <a:ext cx="340690"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东南亚</a:t>
                </a:r>
              </a:p>
            </p:txBody>
          </p:sp>
          <p:sp>
            <p:nvSpPr>
              <p:cNvPr id="22" name="Rectangle 22"/>
              <p:cNvSpPr/>
              <p:nvPr/>
            </p:nvSpPr>
            <p:spPr>
              <a:xfrm>
                <a:off x="1337310" y="3326702"/>
                <a:ext cx="285750" cy="807148"/>
              </a:xfrm>
              <a:prstGeom prst="rect">
                <a:avLst/>
              </a:prstGeom>
              <a:solidFill>
                <a:schemeClr val="accent6"/>
              </a:solidFill>
              <a:ln>
                <a:noFill/>
              </a:ln>
            </p:spPr>
          </p:sp>
          <p:sp>
            <p:nvSpPr>
              <p:cNvPr id="23" name="TextBox 23"/>
              <p:cNvSpPr txBox="1"/>
              <p:nvPr/>
            </p:nvSpPr>
            <p:spPr>
              <a:xfrm>
                <a:off x="1414024" y="3190018"/>
                <a:ext cx="132321"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11</a:t>
                </a:r>
              </a:p>
            </p:txBody>
          </p:sp>
          <p:sp>
            <p:nvSpPr>
              <p:cNvPr id="24" name="Rectangle 24"/>
              <p:cNvSpPr/>
              <p:nvPr/>
            </p:nvSpPr>
            <p:spPr>
              <a:xfrm>
                <a:off x="1661160" y="2446115"/>
                <a:ext cx="285750" cy="1687735"/>
              </a:xfrm>
              <a:prstGeom prst="rect">
                <a:avLst/>
              </a:prstGeom>
              <a:solidFill>
                <a:schemeClr val="accent2"/>
              </a:solidFill>
              <a:ln>
                <a:noFill/>
              </a:ln>
            </p:spPr>
          </p:sp>
          <p:sp>
            <p:nvSpPr>
              <p:cNvPr id="25" name="TextBox 25"/>
              <p:cNvSpPr txBox="1"/>
              <p:nvPr/>
            </p:nvSpPr>
            <p:spPr>
              <a:xfrm>
                <a:off x="1737874" y="2309432"/>
                <a:ext cx="132321"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23</a:t>
                </a:r>
              </a:p>
            </p:txBody>
          </p:sp>
          <p:sp>
            <p:nvSpPr>
              <p:cNvPr id="26" name="TextBox 26"/>
              <p:cNvSpPr txBox="1"/>
              <p:nvPr/>
            </p:nvSpPr>
            <p:spPr>
              <a:xfrm>
                <a:off x="1526959" y="4187666"/>
                <a:ext cx="230302"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泰国</a:t>
                </a:r>
              </a:p>
            </p:txBody>
          </p:sp>
          <p:sp>
            <p:nvSpPr>
              <p:cNvPr id="27" name="Rectangle 27"/>
              <p:cNvSpPr/>
              <p:nvPr/>
            </p:nvSpPr>
            <p:spPr>
              <a:xfrm>
                <a:off x="2076450" y="3913727"/>
                <a:ext cx="285750" cy="220123"/>
              </a:xfrm>
              <a:prstGeom prst="rect">
                <a:avLst/>
              </a:prstGeom>
              <a:solidFill>
                <a:schemeClr val="accent6"/>
              </a:solidFill>
              <a:ln>
                <a:noFill/>
              </a:ln>
            </p:spPr>
          </p:sp>
          <p:sp>
            <p:nvSpPr>
              <p:cNvPr id="28" name="TextBox 28"/>
              <p:cNvSpPr txBox="1"/>
              <p:nvPr/>
            </p:nvSpPr>
            <p:spPr>
              <a:xfrm>
                <a:off x="2183863" y="3777043"/>
                <a:ext cx="70923"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3</a:t>
                </a:r>
              </a:p>
            </p:txBody>
          </p:sp>
          <p:sp>
            <p:nvSpPr>
              <p:cNvPr id="29" name="Rectangle 29"/>
              <p:cNvSpPr/>
              <p:nvPr/>
            </p:nvSpPr>
            <p:spPr>
              <a:xfrm>
                <a:off x="2400300" y="3473482"/>
                <a:ext cx="285750" cy="660368"/>
              </a:xfrm>
              <a:prstGeom prst="rect">
                <a:avLst/>
              </a:prstGeom>
              <a:solidFill>
                <a:schemeClr val="accent2"/>
              </a:solidFill>
              <a:ln>
                <a:noFill/>
              </a:ln>
            </p:spPr>
          </p:sp>
          <p:sp>
            <p:nvSpPr>
              <p:cNvPr id="30" name="TextBox 30"/>
              <p:cNvSpPr txBox="1"/>
              <p:nvPr/>
            </p:nvSpPr>
            <p:spPr>
              <a:xfrm>
                <a:off x="2507713" y="3336798"/>
                <a:ext cx="70923"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9</a:t>
                </a:r>
              </a:p>
            </p:txBody>
          </p:sp>
          <p:sp>
            <p:nvSpPr>
              <p:cNvPr id="31" name="TextBox 31"/>
              <p:cNvSpPr txBox="1"/>
              <p:nvPr/>
            </p:nvSpPr>
            <p:spPr>
              <a:xfrm>
                <a:off x="2266099" y="4187666"/>
                <a:ext cx="230302"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巴西</a:t>
                </a:r>
              </a:p>
            </p:txBody>
          </p:sp>
          <p:sp>
            <p:nvSpPr>
              <p:cNvPr id="32" name="Rectangle 32"/>
              <p:cNvSpPr/>
              <p:nvPr/>
            </p:nvSpPr>
            <p:spPr>
              <a:xfrm>
                <a:off x="2815590" y="4023741"/>
                <a:ext cx="285750" cy="110109"/>
              </a:xfrm>
              <a:prstGeom prst="rect">
                <a:avLst/>
              </a:prstGeom>
              <a:solidFill>
                <a:schemeClr val="accent6"/>
              </a:solidFill>
              <a:ln>
                <a:noFill/>
              </a:ln>
            </p:spPr>
          </p:sp>
          <p:sp>
            <p:nvSpPr>
              <p:cNvPr id="33" name="TextBox 33"/>
              <p:cNvSpPr txBox="1"/>
              <p:nvPr/>
            </p:nvSpPr>
            <p:spPr>
              <a:xfrm>
                <a:off x="2876972" y="3887057"/>
                <a:ext cx="16298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1.5</a:t>
                </a:r>
              </a:p>
            </p:txBody>
          </p:sp>
          <p:sp>
            <p:nvSpPr>
              <p:cNvPr id="34" name="Rectangle 34"/>
              <p:cNvSpPr/>
              <p:nvPr/>
            </p:nvSpPr>
            <p:spPr>
              <a:xfrm>
                <a:off x="3139440" y="3620167"/>
                <a:ext cx="285750" cy="513683"/>
              </a:xfrm>
              <a:prstGeom prst="rect">
                <a:avLst/>
              </a:prstGeom>
              <a:solidFill>
                <a:schemeClr val="accent2"/>
              </a:solidFill>
              <a:ln>
                <a:noFill/>
              </a:ln>
            </p:spPr>
          </p:sp>
          <p:sp>
            <p:nvSpPr>
              <p:cNvPr id="35" name="TextBox 35"/>
              <p:cNvSpPr txBox="1"/>
              <p:nvPr/>
            </p:nvSpPr>
            <p:spPr>
              <a:xfrm>
                <a:off x="3246853" y="3483483"/>
                <a:ext cx="70923"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7</a:t>
                </a:r>
              </a:p>
            </p:txBody>
          </p:sp>
          <p:sp>
            <p:nvSpPr>
              <p:cNvPr id="36" name="TextBox 36"/>
              <p:cNvSpPr txBox="1"/>
              <p:nvPr/>
            </p:nvSpPr>
            <p:spPr>
              <a:xfrm>
                <a:off x="2950045" y="4187666"/>
                <a:ext cx="340690"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墨西哥</a:t>
                </a:r>
              </a:p>
            </p:txBody>
          </p:sp>
          <p:sp>
            <p:nvSpPr>
              <p:cNvPr id="37" name="Rectangle 37"/>
              <p:cNvSpPr/>
              <p:nvPr/>
            </p:nvSpPr>
            <p:spPr>
              <a:xfrm>
                <a:off x="3554730" y="3979736"/>
                <a:ext cx="285750" cy="154114"/>
              </a:xfrm>
              <a:prstGeom prst="rect">
                <a:avLst/>
              </a:prstGeom>
              <a:solidFill>
                <a:schemeClr val="accent6"/>
              </a:solidFill>
              <a:ln>
                <a:noFill/>
              </a:ln>
            </p:spPr>
          </p:sp>
          <p:sp>
            <p:nvSpPr>
              <p:cNvPr id="38" name="TextBox 38"/>
              <p:cNvSpPr txBox="1"/>
              <p:nvPr/>
            </p:nvSpPr>
            <p:spPr>
              <a:xfrm>
                <a:off x="3616112" y="3843052"/>
                <a:ext cx="16298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2.1</a:t>
                </a:r>
              </a:p>
            </p:txBody>
          </p:sp>
          <p:sp>
            <p:nvSpPr>
              <p:cNvPr id="39" name="Rectangle 39"/>
              <p:cNvSpPr/>
              <p:nvPr/>
            </p:nvSpPr>
            <p:spPr>
              <a:xfrm>
                <a:off x="3878580" y="3840385"/>
                <a:ext cx="285750" cy="293465"/>
              </a:xfrm>
              <a:prstGeom prst="rect">
                <a:avLst/>
              </a:prstGeom>
              <a:solidFill>
                <a:schemeClr val="accent2"/>
              </a:solidFill>
              <a:ln>
                <a:noFill/>
              </a:ln>
            </p:spPr>
          </p:sp>
          <p:sp>
            <p:nvSpPr>
              <p:cNvPr id="40" name="TextBox 40"/>
              <p:cNvSpPr txBox="1"/>
              <p:nvPr/>
            </p:nvSpPr>
            <p:spPr>
              <a:xfrm>
                <a:off x="3985993" y="3703701"/>
                <a:ext cx="70923"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4</a:t>
                </a:r>
              </a:p>
            </p:txBody>
          </p:sp>
          <p:sp>
            <p:nvSpPr>
              <p:cNvPr id="41" name="TextBox 41"/>
              <p:cNvSpPr txBox="1"/>
              <p:nvPr/>
            </p:nvSpPr>
            <p:spPr>
              <a:xfrm>
                <a:off x="3744379" y="4187666"/>
                <a:ext cx="230302"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mn-lt"/>
                    <a:ea typeface="+mn-ea"/>
                    <a:cs typeface="+mn-cs"/>
                  </a:rPr>
                  <a:t>印度</a:t>
                </a:r>
              </a:p>
            </p:txBody>
          </p:sp>
          <p:sp>
            <p:nvSpPr>
              <p:cNvPr id="42" name="Rectangle 42"/>
              <p:cNvSpPr/>
              <p:nvPr/>
            </p:nvSpPr>
            <p:spPr>
              <a:xfrm>
                <a:off x="533400" y="4343400"/>
                <a:ext cx="95250" cy="95250"/>
              </a:xfrm>
              <a:prstGeom prst="rect">
                <a:avLst/>
              </a:prstGeom>
              <a:solidFill>
                <a:schemeClr val="accent6"/>
              </a:solidFill>
              <a:ln>
                <a:noFill/>
              </a:ln>
            </p:spPr>
          </p:sp>
          <p:sp>
            <p:nvSpPr>
              <p:cNvPr id="43" name="TextBox 43"/>
              <p:cNvSpPr txBox="1"/>
              <p:nvPr/>
            </p:nvSpPr>
            <p:spPr>
              <a:xfrm>
                <a:off x="661988" y="4340066"/>
                <a:ext cx="252379"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2023</a:t>
                </a:r>
              </a:p>
            </p:txBody>
          </p:sp>
          <p:sp>
            <p:nvSpPr>
              <p:cNvPr id="44" name="Rectangle 44"/>
              <p:cNvSpPr/>
              <p:nvPr/>
            </p:nvSpPr>
            <p:spPr>
              <a:xfrm>
                <a:off x="1314450" y="4343400"/>
                <a:ext cx="95250" cy="95250"/>
              </a:xfrm>
              <a:prstGeom prst="rect">
                <a:avLst/>
              </a:prstGeom>
              <a:solidFill>
                <a:schemeClr val="accent2"/>
              </a:solidFill>
              <a:ln>
                <a:noFill/>
              </a:ln>
            </p:spPr>
          </p:sp>
          <p:sp>
            <p:nvSpPr>
              <p:cNvPr id="45" name="TextBox 45"/>
              <p:cNvSpPr txBox="1"/>
              <p:nvPr/>
            </p:nvSpPr>
            <p:spPr>
              <a:xfrm>
                <a:off x="1443038" y="4340066"/>
                <a:ext cx="252379" cy="161925"/>
              </a:xfrm>
              <a:prstGeom prst="rect">
                <a:avLst/>
              </a:prstGeom>
              <a:noFill/>
              <a:ln>
                <a:noFill/>
              </a:ln>
            </p:spPr>
            <p:txBody>
              <a:bodyPr wrap="none" lIns="0" tIns="0" rIns="0" bIns="0" anchor="t" anchorCtr="0">
                <a:spAutoFit/>
              </a:bodyPr>
              <a:lstStyle/>
              <a:p>
                <a:pPr algn="l"/>
                <a:r>
                  <a:rPr lang="zh-CN" sz="820" dirty="0">
                    <a:solidFill>
                      <a:schemeClr val="dk1"/>
                    </a:solidFill>
                    <a:latin typeface="+mn-lt"/>
                    <a:ea typeface="+mn-ea"/>
                    <a:cs typeface="+mn-cs"/>
                  </a:rPr>
                  <a:t>2025</a:t>
                </a:r>
              </a:p>
            </p:txBody>
          </p:sp>
        </p:grpSp>
      </p:grpSp>
      <p:grpSp>
        <p:nvGrpSpPr>
          <p:cNvPr id="52" name="exhibit-b-head"/>
          <p:cNvGrpSpPr/>
          <p:nvPr/>
        </p:nvGrpSpPr>
        <p:grpSpPr>
          <a:xfrm>
            <a:off x="4529138" y="1552575"/>
            <a:ext cx="1620996" cy="349091"/>
            <a:chOff x="4529138" y="1552575"/>
            <a:chExt cx="1620996" cy="349091"/>
          </a:xfrm>
        </p:grpSpPr>
        <p:sp>
          <p:nvSpPr>
            <p:cNvPr id="48" name="Ellipse 48"/>
            <p:cNvSpPr/>
            <p:nvPr/>
          </p:nvSpPr>
          <p:spPr>
            <a:xfrm>
              <a:off x="4533900" y="1552575"/>
              <a:ext cx="152400" cy="152400"/>
            </a:xfrm>
            <a:prstGeom prst="ellipse">
              <a:avLst/>
            </a:prstGeom>
            <a:solidFill>
              <a:schemeClr val="accent1"/>
            </a:solidFill>
            <a:ln>
              <a:noFill/>
            </a:ln>
          </p:spPr>
        </p:sp>
        <p:sp>
          <p:nvSpPr>
            <p:cNvPr id="49" name="TextBox 49"/>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50" name="TextBox 50"/>
            <p:cNvSpPr txBox="1"/>
            <p:nvPr/>
          </p:nvSpPr>
          <p:spPr>
            <a:xfrm>
              <a:off x="4738497" y="1571149"/>
              <a:ext cx="1411637"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2025 年销量与两年倍数</a:t>
              </a:r>
            </a:p>
          </p:txBody>
        </p:sp>
        <p:sp>
          <p:nvSpPr>
            <p:cNvPr id="51" name="TextBox 51"/>
            <p:cNvSpPr txBox="1"/>
            <p:nvPr/>
          </p:nvSpPr>
          <p:spPr>
            <a:xfrm>
              <a:off x="4529138" y="1739741"/>
              <a:ext cx="151632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万辆;右侧为 2023→2025 倍数²</a:t>
              </a:r>
            </a:p>
          </p:txBody>
        </p:sp>
      </p:grpSp>
      <p:grpSp>
        <p:nvGrpSpPr>
          <p:cNvPr id="75" name="emerging-sales"/>
          <p:cNvGrpSpPr/>
          <p:nvPr/>
        </p:nvGrpSpPr>
        <p:grpSpPr>
          <a:xfrm>
            <a:off x="4712322" y="2114550"/>
            <a:ext cx="3397070" cy="2247900"/>
            <a:chOff x="4712322" y="2114550"/>
            <a:chExt cx="3397070" cy="2247900"/>
          </a:xfrm>
        </p:grpSpPr>
        <p:grpSp>
          <p:nvGrpSpPr>
            <p:cNvPr id="74" name="emerging-sales-chartArea"/>
            <p:cNvGrpSpPr/>
            <p:nvPr/>
          </p:nvGrpSpPr>
          <p:grpSpPr>
            <a:xfrm>
              <a:off x="4712322" y="2114550"/>
              <a:ext cx="3397070" cy="2247900"/>
              <a:chOff x="4712322" y="2114550"/>
              <a:chExt cx="3397070" cy="2247900"/>
            </a:xfrm>
          </p:grpSpPr>
          <p:sp>
            <p:nvSpPr>
              <p:cNvPr id="53" name="Line 53"/>
              <p:cNvSpPr/>
              <p:nvPr/>
            </p:nvSpPr>
            <p:spPr>
              <a:xfrm>
                <a:off x="5124450" y="2114550"/>
                <a:ext cx="9525" cy="2247900"/>
              </a:xfrm>
              <a:custGeom>
                <a:avLst/>
                <a:gdLst/>
                <a:ahLst/>
                <a:cxnLst/>
                <a:rect l="l" t="t" r="r" b="b"/>
                <a:pathLst>
                  <a:path w="9525" h="2247900">
                    <a:moveTo>
                      <a:pt x="0" y="0"/>
                    </a:moveTo>
                    <a:lnTo>
                      <a:pt x="0" y="2247900"/>
                    </a:lnTo>
                  </a:path>
                </a:pathLst>
              </a:custGeom>
              <a:noFill/>
              <a:ln w="7144">
                <a:solidFill>
                  <a:schemeClr val="accent6"/>
                </a:solidFill>
              </a:ln>
            </p:spPr>
          </p:sp>
          <p:sp>
            <p:nvSpPr>
              <p:cNvPr id="54" name="Rectangle 54"/>
              <p:cNvSpPr/>
              <p:nvPr/>
            </p:nvSpPr>
            <p:spPr>
              <a:xfrm>
                <a:off x="5124450" y="2234565"/>
                <a:ext cx="2228850" cy="209550"/>
              </a:xfrm>
              <a:prstGeom prst="rect">
                <a:avLst/>
              </a:prstGeom>
              <a:solidFill>
                <a:schemeClr val="accent2"/>
              </a:solidFill>
              <a:ln>
                <a:noFill/>
              </a:ln>
            </p:spPr>
          </p:sp>
          <p:sp>
            <p:nvSpPr>
              <p:cNvPr id="55" name="TextBox 55"/>
              <p:cNvSpPr txBox="1"/>
              <p:nvPr/>
            </p:nvSpPr>
            <p:spPr>
              <a:xfrm>
                <a:off x="7405688" y="2288381"/>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54</a:t>
                </a:r>
              </a:p>
            </p:txBody>
          </p:sp>
          <p:sp>
            <p:nvSpPr>
              <p:cNvPr id="56" name="TextBox 56"/>
              <p:cNvSpPr txBox="1"/>
              <p:nvPr/>
            </p:nvSpPr>
            <p:spPr>
              <a:xfrm>
                <a:off x="4712322" y="2288381"/>
                <a:ext cx="340690"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东南亚</a:t>
                </a:r>
              </a:p>
            </p:txBody>
          </p:sp>
          <p:sp>
            <p:nvSpPr>
              <p:cNvPr id="57" name="TextBox 57"/>
              <p:cNvSpPr txBox="1"/>
              <p:nvPr/>
            </p:nvSpPr>
            <p:spPr>
              <a:xfrm>
                <a:off x="7881938" y="2288381"/>
                <a:ext cx="227454" cy="161925"/>
              </a:xfrm>
              <a:prstGeom prst="rect">
                <a:avLst/>
              </a:prstGeom>
              <a:noFill/>
              <a:ln>
                <a:noFill/>
              </a:ln>
            </p:spPr>
            <p:txBody>
              <a:bodyPr wrap="none" lIns="0" tIns="0" rIns="0" bIns="0" anchor="t" anchorCtr="0">
                <a:spAutoFit/>
              </a:bodyPr>
              <a:lstStyle/>
              <a:p>
                <a:pPr algn="l"/>
                <a:r>
                  <a:rPr lang="zh-CN" sz="820" dirty="0">
                    <a:solidFill>
                      <a:schemeClr val="accent2"/>
                    </a:solidFill>
                    <a:latin typeface="Arial"/>
                    <a:ea typeface="Arial"/>
                    <a:cs typeface="Arial"/>
                  </a:rPr>
                  <a:t>3.4×</a:t>
                </a:r>
              </a:p>
            </p:txBody>
          </p:sp>
          <p:sp>
            <p:nvSpPr>
              <p:cNvPr id="58" name="Rectangle 58"/>
              <p:cNvSpPr/>
              <p:nvPr/>
            </p:nvSpPr>
            <p:spPr>
              <a:xfrm>
                <a:off x="5124450" y="2684145"/>
                <a:ext cx="742950" cy="209550"/>
              </a:xfrm>
              <a:prstGeom prst="rect">
                <a:avLst/>
              </a:prstGeom>
              <a:solidFill>
                <a:schemeClr val="accent2"/>
              </a:solidFill>
              <a:ln>
                <a:noFill/>
              </a:ln>
            </p:spPr>
          </p:sp>
          <p:sp>
            <p:nvSpPr>
              <p:cNvPr id="59" name="TextBox 59"/>
              <p:cNvSpPr txBox="1"/>
              <p:nvPr/>
            </p:nvSpPr>
            <p:spPr>
              <a:xfrm>
                <a:off x="5919788" y="2737961"/>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18</a:t>
                </a:r>
              </a:p>
            </p:txBody>
          </p:sp>
          <p:sp>
            <p:nvSpPr>
              <p:cNvPr id="60" name="TextBox 60"/>
              <p:cNvSpPr txBox="1"/>
              <p:nvPr/>
            </p:nvSpPr>
            <p:spPr>
              <a:xfrm>
                <a:off x="4822711" y="2737961"/>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巴西</a:t>
                </a:r>
              </a:p>
            </p:txBody>
          </p:sp>
          <p:sp>
            <p:nvSpPr>
              <p:cNvPr id="61" name="TextBox 61"/>
              <p:cNvSpPr txBox="1"/>
              <p:nvPr/>
            </p:nvSpPr>
            <p:spPr>
              <a:xfrm>
                <a:off x="6396038" y="2737961"/>
                <a:ext cx="227454" cy="161925"/>
              </a:xfrm>
              <a:prstGeom prst="rect">
                <a:avLst/>
              </a:prstGeom>
              <a:noFill/>
              <a:ln>
                <a:noFill/>
              </a:ln>
            </p:spPr>
            <p:txBody>
              <a:bodyPr wrap="none" lIns="0" tIns="0" rIns="0" bIns="0" anchor="t" anchorCtr="0">
                <a:spAutoFit/>
              </a:bodyPr>
              <a:lstStyle/>
              <a:p>
                <a:pPr algn="l"/>
                <a:r>
                  <a:rPr lang="zh-CN" sz="820" dirty="0">
                    <a:solidFill>
                      <a:schemeClr val="accent2"/>
                    </a:solidFill>
                    <a:latin typeface="Arial"/>
                    <a:ea typeface="Arial"/>
                    <a:cs typeface="Arial"/>
                  </a:rPr>
                  <a:t>3.5×</a:t>
                </a:r>
              </a:p>
            </p:txBody>
          </p:sp>
          <p:sp>
            <p:nvSpPr>
              <p:cNvPr id="62" name="Rectangle 62"/>
              <p:cNvSpPr/>
              <p:nvPr/>
            </p:nvSpPr>
            <p:spPr>
              <a:xfrm>
                <a:off x="5124450" y="3133725"/>
                <a:ext cx="701707" cy="209550"/>
              </a:xfrm>
              <a:prstGeom prst="rect">
                <a:avLst/>
              </a:prstGeom>
              <a:solidFill>
                <a:schemeClr val="accent1"/>
              </a:solidFill>
              <a:ln>
                <a:noFill/>
              </a:ln>
            </p:spPr>
          </p:sp>
          <p:sp>
            <p:nvSpPr>
              <p:cNvPr id="63" name="TextBox 63"/>
              <p:cNvSpPr txBox="1"/>
              <p:nvPr/>
            </p:nvSpPr>
            <p:spPr>
              <a:xfrm>
                <a:off x="5878544" y="3187541"/>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17</a:t>
                </a:r>
              </a:p>
            </p:txBody>
          </p:sp>
          <p:sp>
            <p:nvSpPr>
              <p:cNvPr id="64" name="TextBox 64"/>
              <p:cNvSpPr txBox="1"/>
              <p:nvPr/>
            </p:nvSpPr>
            <p:spPr>
              <a:xfrm>
                <a:off x="4822711" y="3187541"/>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印度</a:t>
                </a:r>
              </a:p>
            </p:txBody>
          </p:sp>
          <p:sp>
            <p:nvSpPr>
              <p:cNvPr id="65" name="TextBox 65"/>
              <p:cNvSpPr txBox="1"/>
              <p:nvPr/>
            </p:nvSpPr>
            <p:spPr>
              <a:xfrm>
                <a:off x="6354794" y="3187541"/>
                <a:ext cx="227454" cy="161925"/>
              </a:xfrm>
              <a:prstGeom prst="rect">
                <a:avLst/>
              </a:prstGeom>
              <a:noFill/>
              <a:ln>
                <a:noFill/>
              </a:ln>
            </p:spPr>
            <p:txBody>
              <a:bodyPr wrap="none" lIns="0" tIns="0" rIns="0" bIns="0" anchor="t" anchorCtr="0">
                <a:spAutoFit/>
              </a:bodyPr>
              <a:lstStyle/>
              <a:p>
                <a:pPr algn="l"/>
                <a:r>
                  <a:rPr lang="zh-CN" sz="820" dirty="0">
                    <a:solidFill>
                      <a:schemeClr val="accent1"/>
                    </a:solidFill>
                    <a:latin typeface="Arial"/>
                    <a:ea typeface="Arial"/>
                    <a:cs typeface="Arial"/>
                  </a:rPr>
                  <a:t>2.1×</a:t>
                </a:r>
              </a:p>
            </p:txBody>
          </p:sp>
          <p:sp>
            <p:nvSpPr>
              <p:cNvPr id="66" name="Rectangle 66"/>
              <p:cNvSpPr/>
              <p:nvPr/>
            </p:nvSpPr>
            <p:spPr>
              <a:xfrm>
                <a:off x="5124450" y="3583305"/>
                <a:ext cx="577882" cy="209550"/>
              </a:xfrm>
              <a:prstGeom prst="rect">
                <a:avLst/>
              </a:prstGeom>
              <a:solidFill>
                <a:schemeClr val="accent1"/>
              </a:solidFill>
              <a:ln>
                <a:noFill/>
              </a:ln>
            </p:spPr>
          </p:sp>
          <p:sp>
            <p:nvSpPr>
              <p:cNvPr id="67" name="TextBox 67"/>
              <p:cNvSpPr txBox="1"/>
              <p:nvPr/>
            </p:nvSpPr>
            <p:spPr>
              <a:xfrm>
                <a:off x="5754719" y="3637121"/>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14</a:t>
                </a:r>
              </a:p>
            </p:txBody>
          </p:sp>
          <p:sp>
            <p:nvSpPr>
              <p:cNvPr id="68" name="TextBox 68"/>
              <p:cNvSpPr txBox="1"/>
              <p:nvPr/>
            </p:nvSpPr>
            <p:spPr>
              <a:xfrm>
                <a:off x="4822711" y="3637121"/>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泰国</a:t>
                </a:r>
              </a:p>
            </p:txBody>
          </p:sp>
          <p:sp>
            <p:nvSpPr>
              <p:cNvPr id="69" name="TextBox 69"/>
              <p:cNvSpPr txBox="1"/>
              <p:nvPr/>
            </p:nvSpPr>
            <p:spPr>
              <a:xfrm>
                <a:off x="6230969" y="3637121"/>
                <a:ext cx="227454" cy="161925"/>
              </a:xfrm>
              <a:prstGeom prst="rect">
                <a:avLst/>
              </a:prstGeom>
              <a:noFill/>
              <a:ln>
                <a:noFill/>
              </a:ln>
            </p:spPr>
            <p:txBody>
              <a:bodyPr wrap="none" lIns="0" tIns="0" rIns="0" bIns="0" anchor="t" anchorCtr="0">
                <a:spAutoFit/>
              </a:bodyPr>
              <a:lstStyle/>
              <a:p>
                <a:pPr algn="l"/>
                <a:r>
                  <a:rPr lang="zh-CN" sz="820" dirty="0">
                    <a:solidFill>
                      <a:schemeClr val="accent1"/>
                    </a:solidFill>
                    <a:latin typeface="Arial"/>
                    <a:ea typeface="Arial"/>
                    <a:cs typeface="Arial"/>
                  </a:rPr>
                  <a:t>1.6×</a:t>
                </a:r>
              </a:p>
            </p:txBody>
          </p:sp>
          <p:sp>
            <p:nvSpPr>
              <p:cNvPr id="70" name="Rectangle 70"/>
              <p:cNvSpPr/>
              <p:nvPr/>
            </p:nvSpPr>
            <p:spPr>
              <a:xfrm>
                <a:off x="5124450" y="4032885"/>
                <a:ext cx="371475" cy="209550"/>
              </a:xfrm>
              <a:prstGeom prst="rect">
                <a:avLst/>
              </a:prstGeom>
              <a:solidFill>
                <a:schemeClr val="accent2"/>
              </a:solidFill>
              <a:ln>
                <a:noFill/>
              </a:ln>
            </p:spPr>
          </p:sp>
          <p:sp>
            <p:nvSpPr>
              <p:cNvPr id="71" name="TextBox 71"/>
              <p:cNvSpPr txBox="1"/>
              <p:nvPr/>
            </p:nvSpPr>
            <p:spPr>
              <a:xfrm>
                <a:off x="5548312" y="4086701"/>
                <a:ext cx="70923"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9</a:t>
                </a:r>
              </a:p>
            </p:txBody>
          </p:sp>
          <p:sp>
            <p:nvSpPr>
              <p:cNvPr id="72" name="TextBox 72"/>
              <p:cNvSpPr txBox="1"/>
              <p:nvPr/>
            </p:nvSpPr>
            <p:spPr>
              <a:xfrm>
                <a:off x="4712322" y="4086701"/>
                <a:ext cx="340690"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墨西哥</a:t>
                </a:r>
              </a:p>
            </p:txBody>
          </p:sp>
          <p:sp>
            <p:nvSpPr>
              <p:cNvPr id="73" name="TextBox 73"/>
              <p:cNvSpPr txBox="1"/>
              <p:nvPr/>
            </p:nvSpPr>
            <p:spPr>
              <a:xfrm>
                <a:off x="6024562" y="4086701"/>
                <a:ext cx="227454" cy="161925"/>
              </a:xfrm>
              <a:prstGeom prst="rect">
                <a:avLst/>
              </a:prstGeom>
              <a:noFill/>
              <a:ln>
                <a:noFill/>
              </a:ln>
            </p:spPr>
            <p:txBody>
              <a:bodyPr wrap="none" lIns="0" tIns="0" rIns="0" bIns="0" anchor="t" anchorCtr="0">
                <a:spAutoFit/>
              </a:bodyPr>
              <a:lstStyle/>
              <a:p>
                <a:pPr algn="l"/>
                <a:r>
                  <a:rPr lang="zh-CN" sz="820" dirty="0">
                    <a:solidFill>
                      <a:schemeClr val="accent2"/>
                    </a:solidFill>
                    <a:latin typeface="Arial"/>
                    <a:ea typeface="Arial"/>
                    <a:cs typeface="Arial"/>
                  </a:rPr>
                  <a:t>5.3×</a:t>
                </a:r>
              </a:p>
            </p:txBody>
          </p:sp>
        </p:grpSp>
      </p:grpSp>
      <p:grpSp>
        <p:nvGrpSpPr>
          <p:cNvPr id="80" name="exhibit-c-head"/>
          <p:cNvGrpSpPr/>
          <p:nvPr/>
        </p:nvGrpSpPr>
        <p:grpSpPr>
          <a:xfrm>
            <a:off x="452438" y="4581525"/>
            <a:ext cx="3056245" cy="349091"/>
            <a:chOff x="452438" y="4581525"/>
            <a:chExt cx="3056245" cy="349091"/>
          </a:xfrm>
        </p:grpSpPr>
        <p:sp>
          <p:nvSpPr>
            <p:cNvPr id="76" name="Ellipse 76"/>
            <p:cNvSpPr/>
            <p:nvPr/>
          </p:nvSpPr>
          <p:spPr>
            <a:xfrm>
              <a:off x="457200" y="4581525"/>
              <a:ext cx="152400" cy="152400"/>
            </a:xfrm>
            <a:prstGeom prst="ellipse">
              <a:avLst/>
            </a:prstGeom>
            <a:solidFill>
              <a:schemeClr val="accent1"/>
            </a:solidFill>
            <a:ln>
              <a:noFill/>
            </a:ln>
          </p:spPr>
        </p:sp>
        <p:sp>
          <p:nvSpPr>
            <p:cNvPr id="77" name="TextBox 77"/>
            <p:cNvSpPr txBox="1"/>
            <p:nvPr/>
          </p:nvSpPr>
          <p:spPr>
            <a:xfrm>
              <a:off x="490115" y="46101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C</a:t>
              </a:r>
            </a:p>
          </p:txBody>
        </p:sp>
        <p:sp>
          <p:nvSpPr>
            <p:cNvPr id="78" name="TextBox 78"/>
            <p:cNvSpPr txBox="1"/>
            <p:nvPr/>
          </p:nvSpPr>
          <p:spPr>
            <a:xfrm>
              <a:off x="661797" y="4600099"/>
              <a:ext cx="1453194"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新兴五市场 2025 年概览</a:t>
              </a:r>
            </a:p>
          </p:txBody>
        </p:sp>
        <p:sp>
          <p:nvSpPr>
            <p:cNvPr id="79" name="TextBox 79"/>
            <p:cNvSpPr txBox="1"/>
            <p:nvPr/>
          </p:nvSpPr>
          <p:spPr>
            <a:xfrm>
              <a:off x="452438" y="4768691"/>
              <a:ext cx="3056245"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销量:万辆;渗透率:%;2035 情景为 IEA STEPS,「—」为未单列</a:t>
              </a:r>
            </a:p>
          </p:txBody>
        </p:sp>
      </p:grpSp>
      <p:grpSp>
        <p:nvGrpSpPr>
          <p:cNvPr id="123" name="emerging-overview"/>
          <p:cNvGrpSpPr/>
          <p:nvPr/>
        </p:nvGrpSpPr>
        <p:grpSpPr>
          <a:xfrm>
            <a:off x="457200" y="5006816"/>
            <a:ext cx="8001000" cy="1142048"/>
            <a:chOff x="457200" y="5006816"/>
            <a:chExt cx="8001000" cy="1142048"/>
          </a:xfrm>
        </p:grpSpPr>
        <p:sp>
          <p:nvSpPr>
            <p:cNvPr id="81" name="Line 81"/>
            <p:cNvSpPr/>
            <p:nvPr/>
          </p:nvSpPr>
          <p:spPr>
            <a:xfrm>
              <a:off x="457200" y="5181600"/>
              <a:ext cx="8001000" cy="9525"/>
            </a:xfrm>
            <a:custGeom>
              <a:avLst/>
              <a:gdLst/>
              <a:ahLst/>
              <a:cxnLst/>
              <a:rect l="l" t="t" r="r" b="b"/>
              <a:pathLst>
                <a:path w="8001000" h="9525">
                  <a:moveTo>
                    <a:pt x="0" y="0"/>
                  </a:moveTo>
                  <a:lnTo>
                    <a:pt x="8001000" y="0"/>
                  </a:lnTo>
                </a:path>
              </a:pathLst>
            </a:custGeom>
            <a:noFill/>
            <a:ln w="9525">
              <a:solidFill>
                <a:schemeClr val="accent1"/>
              </a:solidFill>
            </a:ln>
          </p:spPr>
        </p:sp>
        <p:sp>
          <p:nvSpPr>
            <p:cNvPr id="82" name="TextBox 82"/>
            <p:cNvSpPr txBox="1"/>
            <p:nvPr/>
          </p:nvSpPr>
          <p:spPr>
            <a:xfrm>
              <a:off x="528638" y="500681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市场</a:t>
              </a:r>
            </a:p>
          </p:txBody>
        </p:sp>
        <p:sp>
          <p:nvSpPr>
            <p:cNvPr id="83" name="TextBox 83"/>
            <p:cNvSpPr txBox="1"/>
            <p:nvPr/>
          </p:nvSpPr>
          <p:spPr>
            <a:xfrm>
              <a:off x="2437441" y="5006816"/>
              <a:ext cx="520071"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销量</a:t>
              </a:r>
            </a:p>
          </p:txBody>
        </p:sp>
        <p:sp>
          <p:nvSpPr>
            <p:cNvPr id="84" name="TextBox 84"/>
            <p:cNvSpPr txBox="1"/>
            <p:nvPr/>
          </p:nvSpPr>
          <p:spPr>
            <a:xfrm>
              <a:off x="3674943" y="5006816"/>
              <a:ext cx="711319"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2023→25 倍数</a:t>
              </a:r>
            </a:p>
          </p:txBody>
        </p:sp>
        <p:sp>
          <p:nvSpPr>
            <p:cNvPr id="85" name="TextBox 85"/>
            <p:cNvSpPr txBox="1"/>
            <p:nvPr/>
          </p:nvSpPr>
          <p:spPr>
            <a:xfrm>
              <a:off x="5184553" y="5006816"/>
              <a:ext cx="630460"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渗透率</a:t>
              </a:r>
            </a:p>
          </p:txBody>
        </p:sp>
        <p:sp>
          <p:nvSpPr>
            <p:cNvPr id="86" name="TextBox 86"/>
            <p:cNvSpPr txBox="1"/>
            <p:nvPr/>
          </p:nvSpPr>
          <p:spPr>
            <a:xfrm>
              <a:off x="6533191" y="5006816"/>
              <a:ext cx="520071"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2035 情景</a:t>
              </a:r>
            </a:p>
          </p:txBody>
        </p:sp>
        <p:sp>
          <p:nvSpPr>
            <p:cNvPr id="87" name="TextBox 87"/>
            <p:cNvSpPr txBox="1"/>
            <p:nvPr/>
          </p:nvSpPr>
          <p:spPr>
            <a:xfrm>
              <a:off x="7196138" y="5006816"/>
              <a:ext cx="451079"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进入方式</a:t>
              </a:r>
            </a:p>
          </p:txBody>
        </p:sp>
        <p:sp>
          <p:nvSpPr>
            <p:cNvPr id="88" name="Line 88"/>
            <p:cNvSpPr/>
            <p:nvPr/>
          </p:nvSpPr>
          <p:spPr>
            <a:xfrm>
              <a:off x="457200" y="53721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89" name="TextBox 89"/>
            <p:cNvSpPr txBox="1"/>
            <p:nvPr/>
          </p:nvSpPr>
          <p:spPr>
            <a:xfrm>
              <a:off x="528638" y="5224939"/>
              <a:ext cx="340690"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东南亚</a:t>
              </a:r>
            </a:p>
          </p:txBody>
        </p:sp>
        <p:sp>
          <p:nvSpPr>
            <p:cNvPr id="90" name="TextBox 90"/>
            <p:cNvSpPr txBox="1"/>
            <p:nvPr/>
          </p:nvSpPr>
          <p:spPr>
            <a:xfrm>
              <a:off x="2825191" y="52249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54</a:t>
              </a:r>
            </a:p>
          </p:txBody>
        </p:sp>
        <p:sp>
          <p:nvSpPr>
            <p:cNvPr id="91" name="TextBox 91"/>
            <p:cNvSpPr txBox="1"/>
            <p:nvPr/>
          </p:nvSpPr>
          <p:spPr>
            <a:xfrm>
              <a:off x="4158809" y="5224939"/>
              <a:ext cx="227454"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3.4×</a:t>
              </a:r>
            </a:p>
          </p:txBody>
        </p:sp>
        <p:sp>
          <p:nvSpPr>
            <p:cNvPr id="92" name="TextBox 92"/>
            <p:cNvSpPr txBox="1"/>
            <p:nvPr/>
          </p:nvSpPr>
          <p:spPr>
            <a:xfrm>
              <a:off x="5584534" y="5224939"/>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18%</a:t>
              </a:r>
            </a:p>
          </p:txBody>
        </p:sp>
        <p:sp>
          <p:nvSpPr>
            <p:cNvPr id="93" name="TextBox 93"/>
            <p:cNvSpPr txBox="1"/>
            <p:nvPr/>
          </p:nvSpPr>
          <p:spPr>
            <a:xfrm>
              <a:off x="6859543" y="5224939"/>
              <a:ext cx="193719"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270</a:t>
              </a:r>
            </a:p>
          </p:txBody>
        </p:sp>
        <p:sp>
          <p:nvSpPr>
            <p:cNvPr id="94" name="TextBox 94"/>
            <p:cNvSpPr txBox="1"/>
            <p:nvPr/>
          </p:nvSpPr>
          <p:spPr>
            <a:xfrm>
              <a:off x="7196138" y="5224939"/>
              <a:ext cx="898089" cy="161925"/>
            </a:xfrm>
            <a:prstGeom prst="rect">
              <a:avLst/>
            </a:prstGeom>
            <a:noFill/>
            <a:ln>
              <a:noFill/>
            </a:ln>
          </p:spPr>
          <p:txBody>
            <a:bodyPr wrap="none" lIns="0" tIns="0" rIns="0" bIns="0" anchor="t" anchorCtr="0">
              <a:spAutoFit/>
            </a:bodyPr>
            <a:lstStyle/>
            <a:p>
              <a:pPr algn="l"/>
              <a:r>
                <a:rPr lang="zh-CN" sz="820" b="1" dirty="0">
                  <a:solidFill>
                    <a:schemeClr val="accent2"/>
                  </a:solidFill>
                  <a:latin typeface="+mn-lt"/>
                  <a:ea typeface="+mn-ea"/>
                  <a:cs typeface="+mn-cs"/>
                </a:rPr>
                <a:t>一级 · PHEV 先行</a:t>
              </a:r>
            </a:p>
          </p:txBody>
        </p:sp>
        <p:sp>
          <p:nvSpPr>
            <p:cNvPr id="95" name="Line 95"/>
            <p:cNvSpPr/>
            <p:nvPr/>
          </p:nvSpPr>
          <p:spPr>
            <a:xfrm>
              <a:off x="457200" y="55626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96" name="TextBox 96"/>
            <p:cNvSpPr txBox="1"/>
            <p:nvPr/>
          </p:nvSpPr>
          <p:spPr>
            <a:xfrm>
              <a:off x="528638" y="5415439"/>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泰国</a:t>
              </a:r>
            </a:p>
          </p:txBody>
        </p:sp>
        <p:sp>
          <p:nvSpPr>
            <p:cNvPr id="97" name="TextBox 97"/>
            <p:cNvSpPr txBox="1"/>
            <p:nvPr/>
          </p:nvSpPr>
          <p:spPr>
            <a:xfrm>
              <a:off x="2825191" y="54154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14</a:t>
              </a:r>
            </a:p>
          </p:txBody>
        </p:sp>
        <p:sp>
          <p:nvSpPr>
            <p:cNvPr id="98" name="TextBox 98"/>
            <p:cNvSpPr txBox="1"/>
            <p:nvPr/>
          </p:nvSpPr>
          <p:spPr>
            <a:xfrm>
              <a:off x="4158809" y="5415439"/>
              <a:ext cx="227454"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1.6×</a:t>
              </a:r>
            </a:p>
          </p:txBody>
        </p:sp>
        <p:sp>
          <p:nvSpPr>
            <p:cNvPr id="99" name="TextBox 99"/>
            <p:cNvSpPr txBox="1"/>
            <p:nvPr/>
          </p:nvSpPr>
          <p:spPr>
            <a:xfrm>
              <a:off x="5584534" y="5415439"/>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23%</a:t>
              </a:r>
            </a:p>
          </p:txBody>
        </p:sp>
        <p:sp>
          <p:nvSpPr>
            <p:cNvPr id="100" name="TextBox 100"/>
            <p:cNvSpPr txBox="1"/>
            <p:nvPr/>
          </p:nvSpPr>
          <p:spPr>
            <a:xfrm>
              <a:off x="6933349" y="5415439"/>
              <a:ext cx="119913"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a:t>
              </a:r>
            </a:p>
          </p:txBody>
        </p:sp>
        <p:sp>
          <p:nvSpPr>
            <p:cNvPr id="101" name="TextBox 101"/>
            <p:cNvSpPr txBox="1"/>
            <p:nvPr/>
          </p:nvSpPr>
          <p:spPr>
            <a:xfrm>
              <a:off x="7196138" y="5415439"/>
              <a:ext cx="671855" cy="161925"/>
            </a:xfrm>
            <a:prstGeom prst="rect">
              <a:avLst/>
            </a:prstGeom>
            <a:noFill/>
            <a:ln>
              <a:noFill/>
            </a:ln>
          </p:spPr>
          <p:txBody>
            <a:bodyPr wrap="none" lIns="0" tIns="0" rIns="0" bIns="0" anchor="t" anchorCtr="0">
              <a:spAutoFit/>
            </a:bodyPr>
            <a:lstStyle/>
            <a:p>
              <a:pPr algn="l"/>
              <a:r>
                <a:rPr lang="zh-CN" sz="820" b="1" dirty="0">
                  <a:solidFill>
                    <a:schemeClr val="accent2"/>
                  </a:solidFill>
                  <a:latin typeface="+mn-lt"/>
                  <a:ea typeface="+mn-ea"/>
                  <a:cs typeface="+mn-cs"/>
                </a:rPr>
                <a:t>东南亚首发国</a:t>
              </a:r>
            </a:p>
          </p:txBody>
        </p:sp>
        <p:sp>
          <p:nvSpPr>
            <p:cNvPr id="102" name="Line 102"/>
            <p:cNvSpPr/>
            <p:nvPr/>
          </p:nvSpPr>
          <p:spPr>
            <a:xfrm>
              <a:off x="457200" y="57531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03" name="TextBox 103"/>
            <p:cNvSpPr txBox="1"/>
            <p:nvPr/>
          </p:nvSpPr>
          <p:spPr>
            <a:xfrm>
              <a:off x="528638" y="5605939"/>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巴西</a:t>
              </a:r>
            </a:p>
          </p:txBody>
        </p:sp>
        <p:sp>
          <p:nvSpPr>
            <p:cNvPr id="104" name="TextBox 104"/>
            <p:cNvSpPr txBox="1"/>
            <p:nvPr/>
          </p:nvSpPr>
          <p:spPr>
            <a:xfrm>
              <a:off x="2825191" y="56059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18</a:t>
              </a:r>
            </a:p>
          </p:txBody>
        </p:sp>
        <p:sp>
          <p:nvSpPr>
            <p:cNvPr id="105" name="TextBox 105"/>
            <p:cNvSpPr txBox="1"/>
            <p:nvPr/>
          </p:nvSpPr>
          <p:spPr>
            <a:xfrm>
              <a:off x="4158809" y="5605939"/>
              <a:ext cx="227454"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3.5×</a:t>
              </a:r>
            </a:p>
          </p:txBody>
        </p:sp>
        <p:sp>
          <p:nvSpPr>
            <p:cNvPr id="106" name="TextBox 106"/>
            <p:cNvSpPr txBox="1"/>
            <p:nvPr/>
          </p:nvSpPr>
          <p:spPr>
            <a:xfrm>
              <a:off x="5645932" y="5605939"/>
              <a:ext cx="169080"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9%</a:t>
              </a:r>
            </a:p>
          </p:txBody>
        </p:sp>
        <p:sp>
          <p:nvSpPr>
            <p:cNvPr id="107" name="TextBox 107"/>
            <p:cNvSpPr txBox="1"/>
            <p:nvPr/>
          </p:nvSpPr>
          <p:spPr>
            <a:xfrm>
              <a:off x="6933349" y="5605939"/>
              <a:ext cx="119913"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a:t>
              </a:r>
            </a:p>
          </p:txBody>
        </p:sp>
        <p:sp>
          <p:nvSpPr>
            <p:cNvPr id="108" name="TextBox 108"/>
            <p:cNvSpPr txBox="1"/>
            <p:nvPr/>
          </p:nvSpPr>
          <p:spPr>
            <a:xfrm>
              <a:off x="7196138" y="5605939"/>
              <a:ext cx="898089"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二级 · PHEV 试点</a:t>
              </a:r>
            </a:p>
          </p:txBody>
        </p:sp>
        <p:sp>
          <p:nvSpPr>
            <p:cNvPr id="109" name="Line 109"/>
            <p:cNvSpPr/>
            <p:nvPr/>
          </p:nvSpPr>
          <p:spPr>
            <a:xfrm>
              <a:off x="457200" y="59436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10" name="TextBox 110"/>
            <p:cNvSpPr txBox="1"/>
            <p:nvPr/>
          </p:nvSpPr>
          <p:spPr>
            <a:xfrm>
              <a:off x="528638" y="5796439"/>
              <a:ext cx="340690"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墨西哥</a:t>
              </a:r>
            </a:p>
          </p:txBody>
        </p:sp>
        <p:sp>
          <p:nvSpPr>
            <p:cNvPr id="111" name="TextBox 111"/>
            <p:cNvSpPr txBox="1"/>
            <p:nvPr/>
          </p:nvSpPr>
          <p:spPr>
            <a:xfrm>
              <a:off x="2886589" y="5796439"/>
              <a:ext cx="70923"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9</a:t>
              </a:r>
            </a:p>
          </p:txBody>
        </p:sp>
        <p:sp>
          <p:nvSpPr>
            <p:cNvPr id="112" name="TextBox 112"/>
            <p:cNvSpPr txBox="1"/>
            <p:nvPr/>
          </p:nvSpPr>
          <p:spPr>
            <a:xfrm>
              <a:off x="4158809" y="5796439"/>
              <a:ext cx="227454"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5.3×</a:t>
              </a:r>
            </a:p>
          </p:txBody>
        </p:sp>
        <p:sp>
          <p:nvSpPr>
            <p:cNvPr id="113" name="TextBox 113"/>
            <p:cNvSpPr txBox="1"/>
            <p:nvPr/>
          </p:nvSpPr>
          <p:spPr>
            <a:xfrm>
              <a:off x="5645932" y="5796439"/>
              <a:ext cx="169080"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7%</a:t>
              </a:r>
            </a:p>
          </p:txBody>
        </p:sp>
        <p:sp>
          <p:nvSpPr>
            <p:cNvPr id="114" name="TextBox 114"/>
            <p:cNvSpPr txBox="1"/>
            <p:nvPr/>
          </p:nvSpPr>
          <p:spPr>
            <a:xfrm>
              <a:off x="6933349" y="5796439"/>
              <a:ext cx="119913"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a:t>
              </a:r>
            </a:p>
          </p:txBody>
        </p:sp>
        <p:sp>
          <p:nvSpPr>
            <p:cNvPr id="115" name="TextBox 115"/>
            <p:cNvSpPr txBox="1"/>
            <p:nvPr/>
          </p:nvSpPr>
          <p:spPr>
            <a:xfrm>
              <a:off x="7196138" y="5796439"/>
              <a:ext cx="898089"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二级 · PHEV 试点</a:t>
              </a:r>
            </a:p>
          </p:txBody>
        </p:sp>
        <p:sp>
          <p:nvSpPr>
            <p:cNvPr id="116" name="Line 116"/>
            <p:cNvSpPr/>
            <p:nvPr/>
          </p:nvSpPr>
          <p:spPr>
            <a:xfrm>
              <a:off x="457200" y="61341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17" name="TextBox 117"/>
            <p:cNvSpPr txBox="1"/>
            <p:nvPr/>
          </p:nvSpPr>
          <p:spPr>
            <a:xfrm>
              <a:off x="528638" y="5986939"/>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印度</a:t>
              </a:r>
            </a:p>
          </p:txBody>
        </p:sp>
        <p:sp>
          <p:nvSpPr>
            <p:cNvPr id="118" name="TextBox 118"/>
            <p:cNvSpPr txBox="1"/>
            <p:nvPr/>
          </p:nvSpPr>
          <p:spPr>
            <a:xfrm>
              <a:off x="2825191" y="5986939"/>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17</a:t>
              </a:r>
            </a:p>
          </p:txBody>
        </p:sp>
        <p:sp>
          <p:nvSpPr>
            <p:cNvPr id="119" name="TextBox 119"/>
            <p:cNvSpPr txBox="1"/>
            <p:nvPr/>
          </p:nvSpPr>
          <p:spPr>
            <a:xfrm>
              <a:off x="4158809" y="5986939"/>
              <a:ext cx="227454"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2.1×</a:t>
              </a:r>
            </a:p>
          </p:txBody>
        </p:sp>
        <p:sp>
          <p:nvSpPr>
            <p:cNvPr id="120" name="TextBox 120"/>
            <p:cNvSpPr txBox="1"/>
            <p:nvPr/>
          </p:nvSpPr>
          <p:spPr>
            <a:xfrm>
              <a:off x="5645932" y="5986939"/>
              <a:ext cx="169080"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4%</a:t>
              </a:r>
            </a:p>
          </p:txBody>
        </p:sp>
        <p:sp>
          <p:nvSpPr>
            <p:cNvPr id="121" name="TextBox 121"/>
            <p:cNvSpPr txBox="1"/>
            <p:nvPr/>
          </p:nvSpPr>
          <p:spPr>
            <a:xfrm>
              <a:off x="6859543" y="5986939"/>
              <a:ext cx="193719"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210</a:t>
              </a:r>
            </a:p>
          </p:txBody>
        </p:sp>
        <p:sp>
          <p:nvSpPr>
            <p:cNvPr id="122" name="TextBox 122"/>
            <p:cNvSpPr txBox="1"/>
            <p:nvPr/>
          </p:nvSpPr>
          <p:spPr>
            <a:xfrm>
              <a:off x="7196138" y="5986939"/>
              <a:ext cx="98453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二级 · 2027 起试点</a:t>
              </a:r>
            </a:p>
          </p:txBody>
        </p:sp>
      </p:grpSp>
      <p:grpSp>
        <p:nvGrpSpPr>
          <p:cNvPr id="142" name="!!insight-column"/>
          <p:cNvGrpSpPr/>
          <p:nvPr/>
        </p:nvGrpSpPr>
        <p:grpSpPr>
          <a:xfrm>
            <a:off x="8720138" y="1587341"/>
            <a:ext cx="3014662" cy="4432459"/>
            <a:chOff x="8720138" y="1587341"/>
            <a:chExt cx="3014662" cy="4432459"/>
          </a:xfrm>
        </p:grpSpPr>
        <p:sp>
          <p:nvSpPr>
            <p:cNvPr id="124" name="TextBox 124"/>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125" name="Line 125"/>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126" name="Ellipse 126"/>
            <p:cNvSpPr/>
            <p:nvPr/>
          </p:nvSpPr>
          <p:spPr>
            <a:xfrm>
              <a:off x="8724900" y="1876425"/>
              <a:ext cx="152400" cy="152400"/>
            </a:xfrm>
            <a:prstGeom prst="ellipse">
              <a:avLst/>
            </a:prstGeom>
            <a:solidFill>
              <a:schemeClr val="accent1"/>
            </a:solidFill>
            <a:ln>
              <a:noFill/>
            </a:ln>
          </p:spPr>
        </p:sp>
        <p:sp>
          <p:nvSpPr>
            <p:cNvPr id="127" name="TextBox 127"/>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128" name="TextBox 128"/>
            <p:cNvSpPr txBox="1"/>
            <p:nvPr/>
          </p:nvSpPr>
          <p:spPr>
            <a:xfrm>
              <a:off x="8948166" y="1886902"/>
              <a:ext cx="2024253"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东南亚:渗透率 8.4%→18%,销量</a:t>
              </a:r>
              <a:br/>
              <a:r>
                <a:rPr lang="zh-CN" sz="1050" dirty="0">
                  <a:solidFill>
                    <a:schemeClr val="dk1"/>
                  </a:solidFill>
                  <a:latin typeface="+mn-lt"/>
                  <a:ea typeface="+mn-ea"/>
                  <a:cs typeface="+mn-cs"/>
                </a:rPr>
                <a:t>16 万→54 万辆(3.4 倍);泰国 23%</a:t>
              </a:r>
              <a:br/>
              <a:r>
                <a:rPr lang="zh-CN" sz="1050" dirty="0">
                  <a:solidFill>
                    <a:schemeClr val="dk1"/>
                  </a:solidFill>
                  <a:latin typeface="+mn-lt"/>
                  <a:ea typeface="+mn-ea"/>
                  <a:cs typeface="+mn-cs"/>
                </a:rPr>
                <a:t>已经是美国的两倍以上。</a:t>
              </a:r>
            </a:p>
          </p:txBody>
        </p:sp>
        <p:sp>
          <p:nvSpPr>
            <p:cNvPr id="129" name="Ellipse 129"/>
            <p:cNvSpPr/>
            <p:nvPr/>
          </p:nvSpPr>
          <p:spPr>
            <a:xfrm>
              <a:off x="8724900" y="2600325"/>
              <a:ext cx="152400" cy="152400"/>
            </a:xfrm>
            <a:prstGeom prst="ellipse">
              <a:avLst/>
            </a:prstGeom>
            <a:solidFill>
              <a:schemeClr val="accent1"/>
            </a:solidFill>
            <a:ln>
              <a:noFill/>
            </a:ln>
          </p:spPr>
        </p:sp>
        <p:sp>
          <p:nvSpPr>
            <p:cNvPr id="130" name="TextBox 130"/>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131" name="TextBox 131"/>
            <p:cNvSpPr txBox="1"/>
            <p:nvPr/>
          </p:nvSpPr>
          <p:spPr>
            <a:xfrm>
              <a:off x="8948166" y="2610802"/>
              <a:ext cx="211093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巴西 3%→9%、墨西哥 1.5%→7%:</a:t>
              </a:r>
              <a:br/>
              <a:r>
                <a:rPr lang="zh-CN" sz="1050" dirty="0">
                  <a:solidFill>
                    <a:schemeClr val="dk1"/>
                  </a:solidFill>
                  <a:latin typeface="+mn-lt"/>
                  <a:ea typeface="+mn-ea"/>
                  <a:cs typeface="+mn-cs"/>
                </a:rPr>
                <a:t>拉美两国销量合计 6.9 万→27 万辆,</a:t>
              </a:r>
              <a:br/>
              <a:r>
                <a:rPr lang="zh-CN" sz="1050" dirty="0">
                  <a:solidFill>
                    <a:schemeClr val="dk1"/>
                  </a:solidFill>
                  <a:latin typeface="+mn-lt"/>
                  <a:ea typeface="+mn-ea"/>
                  <a:cs typeface="+mn-cs"/>
                </a:rPr>
                <a:t>两年 3.9 倍。</a:t>
              </a:r>
            </a:p>
          </p:txBody>
        </p:sp>
        <p:sp>
          <p:nvSpPr>
            <p:cNvPr id="132" name="Ellipse 132"/>
            <p:cNvSpPr/>
            <p:nvPr/>
          </p:nvSpPr>
          <p:spPr>
            <a:xfrm>
              <a:off x="8724900" y="3324225"/>
              <a:ext cx="152400" cy="152400"/>
            </a:xfrm>
            <a:prstGeom prst="ellipse">
              <a:avLst/>
            </a:prstGeom>
            <a:solidFill>
              <a:schemeClr val="accent1"/>
            </a:solidFill>
            <a:ln>
              <a:noFill/>
            </a:ln>
          </p:spPr>
        </p:sp>
        <p:sp>
          <p:nvSpPr>
            <p:cNvPr id="133" name="TextBox 133"/>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134" name="TextBox 134"/>
            <p:cNvSpPr txBox="1"/>
            <p:nvPr/>
          </p:nvSpPr>
          <p:spPr>
            <a:xfrm>
              <a:off x="8948166" y="3334702"/>
              <a:ext cx="196424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印度 2.1%→4%:起点最低,但销量</a:t>
              </a:r>
              <a:br/>
              <a:r>
                <a:rPr lang="zh-CN" sz="1050" dirty="0">
                  <a:solidFill>
                    <a:schemeClr val="dk1"/>
                  </a:solidFill>
                  <a:latin typeface="+mn-lt"/>
                  <a:ea typeface="+mn-ea"/>
                  <a:cs typeface="+mn-cs"/>
                </a:rPr>
                <a:t>8.2 万→17 万辆翻倍,2035 年</a:t>
              </a:r>
              <a:br/>
              <a:r>
                <a:rPr lang="zh-CN" sz="1050" dirty="0">
                  <a:solidFill>
                    <a:schemeClr val="dk1"/>
                  </a:solidFill>
                  <a:latin typeface="+mn-lt"/>
                  <a:ea typeface="+mn-ea"/>
                  <a:cs typeface="+mn-cs"/>
                </a:rPr>
                <a:t>情景达 210 万辆(第 9 页)。</a:t>
              </a:r>
            </a:p>
          </p:txBody>
        </p:sp>
        <p:sp>
          <p:nvSpPr>
            <p:cNvPr id="135" name="Ellipse 135"/>
            <p:cNvSpPr/>
            <p:nvPr/>
          </p:nvSpPr>
          <p:spPr>
            <a:xfrm>
              <a:off x="8724900" y="4048125"/>
              <a:ext cx="152400" cy="152400"/>
            </a:xfrm>
            <a:prstGeom prst="ellipse">
              <a:avLst/>
            </a:prstGeom>
            <a:solidFill>
              <a:schemeClr val="accent1"/>
            </a:solidFill>
            <a:ln>
              <a:noFill/>
            </a:ln>
          </p:spPr>
        </p:sp>
        <p:sp>
          <p:nvSpPr>
            <p:cNvPr id="136" name="TextBox 136"/>
            <p:cNvSpPr txBox="1"/>
            <p:nvPr/>
          </p:nvSpPr>
          <p:spPr>
            <a:xfrm>
              <a:off x="87682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137" name="TextBox 137"/>
            <p:cNvSpPr txBox="1"/>
            <p:nvPr/>
          </p:nvSpPr>
          <p:spPr>
            <a:xfrm>
              <a:off x="8948166" y="4058602"/>
              <a:ext cx="217760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四市场合计 31 万→98 万辆(3.2 倍),</a:t>
              </a:r>
              <a:br/>
              <a:r>
                <a:rPr lang="zh-CN" sz="1050" dirty="0">
                  <a:solidFill>
                    <a:schemeClr val="dk1"/>
                  </a:solidFill>
                  <a:latin typeface="+mn-lt"/>
                  <a:ea typeface="+mn-ea"/>
                  <a:cs typeface="+mn-cs"/>
                </a:rPr>
                <a:t>窗口期就是 2026–2028;</a:t>
              </a:r>
              <a:br/>
              <a:r>
                <a:rPr lang="zh-CN" sz="1050" dirty="0">
                  <a:solidFill>
                    <a:schemeClr val="dk1"/>
                  </a:solidFill>
                  <a:latin typeface="+mn-lt"/>
                  <a:ea typeface="+mn-ea"/>
                  <a:cs typeface="+mn-cs"/>
                </a:rPr>
                <a:t>进入方式见第 8、10 页。</a:t>
              </a:r>
            </a:p>
          </p:txBody>
        </p:sp>
        <p:sp>
          <p:nvSpPr>
            <p:cNvPr id="138" name="Rectangle 138"/>
            <p:cNvSpPr/>
            <p:nvPr/>
          </p:nvSpPr>
          <p:spPr>
            <a:xfrm>
              <a:off x="8724900" y="4914900"/>
              <a:ext cx="3009900" cy="1104900"/>
            </a:xfrm>
            <a:prstGeom prst="rect">
              <a:avLst/>
            </a:prstGeom>
            <a:solidFill>
              <a:srgbClr val="F7F7F7"/>
            </a:solidFill>
            <a:ln>
              <a:noFill/>
            </a:ln>
          </p:spPr>
        </p:sp>
        <p:sp>
          <p:nvSpPr>
            <p:cNvPr id="139" name="Rectangle 139"/>
            <p:cNvSpPr/>
            <p:nvPr/>
          </p:nvSpPr>
          <p:spPr>
            <a:xfrm>
              <a:off x="8724900" y="4914900"/>
              <a:ext cx="38100" cy="1104900"/>
            </a:xfrm>
            <a:prstGeom prst="rect">
              <a:avLst/>
            </a:prstGeom>
            <a:solidFill>
              <a:schemeClr val="accent2"/>
            </a:solidFill>
            <a:ln>
              <a:noFill/>
            </a:ln>
          </p:spPr>
        </p:sp>
        <p:sp>
          <p:nvSpPr>
            <p:cNvPr id="140" name="TextBox 140"/>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141" name="TextBox 141"/>
            <p:cNvSpPr txBox="1"/>
            <p:nvPr/>
          </p:nvSpPr>
          <p:spPr>
            <a:xfrm>
              <a:off x="8871966" y="5220652"/>
              <a:ext cx="221761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东南亚列一级抢滩、泰国首发;巴西、</a:t>
              </a:r>
              <a:br/>
              <a:r>
                <a:rPr lang="zh-CN" sz="1050" dirty="0">
                  <a:solidFill>
                    <a:schemeClr val="dk1"/>
                  </a:solidFill>
                  <a:latin typeface="+mn-lt"/>
                  <a:ea typeface="+mn-ea"/>
                  <a:cs typeface="+mn-cs"/>
                </a:rPr>
                <a:t>墨西哥、印度列二级 PHEV 试点,</a:t>
              </a:r>
              <a:br/>
              <a:r>
                <a:rPr lang="zh-CN" sz="1050" dirty="0">
                  <a:solidFill>
                    <a:schemeClr val="dk1"/>
                  </a:solidFill>
                  <a:latin typeface="+mn-lt"/>
                  <a:ea typeface="+mn-ea"/>
                  <a:cs typeface="+mn-cs"/>
                </a:rPr>
                <a:t>2026 年内启动(第 10、11 页)。</a:t>
              </a:r>
            </a:p>
          </p:txBody>
        </p:sp>
      </p:grpSp>
      <p:grpSp>
        <p:nvGrpSpPr>
          <p:cNvPr id="147" name="footer"/>
          <p:cNvGrpSpPr/>
          <p:nvPr/>
        </p:nvGrpSpPr>
        <p:grpSpPr>
          <a:xfrm>
            <a:off x="452438" y="6205538"/>
            <a:ext cx="11287125" cy="433388"/>
            <a:chOff x="452438" y="6205538"/>
            <a:chExt cx="11287125" cy="433388"/>
          </a:xfrm>
        </p:grpSpPr>
        <p:sp>
          <p:nvSpPr>
            <p:cNvPr id="143" name="TextBox 143"/>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144" name="TextBox 144"/>
            <p:cNvSpPr txBox="1"/>
            <p:nvPr/>
          </p:nvSpPr>
          <p:spPr>
            <a:xfrm>
              <a:off x="452438" y="6338888"/>
              <a:ext cx="323164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东南亚为 IEA 区域汇总,泰国单列;倍数 = 2025 年销量 ÷ 2023 年销量</a:t>
              </a:r>
            </a:p>
          </p:txBody>
        </p:sp>
        <p:sp>
          <p:nvSpPr>
            <p:cNvPr id="145" name="TextBox 145"/>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146" name="TextBox 146"/>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id="13" presetID="22" presetClass="entr" presetSubtype="1" fill="hold" grpId="0" nodeType="afterEffect">
                                  <p:stCondLst>
                                    <p:cond delay="500"/>
                                  </p:stCondLst>
                                  <p:childTnLst>
                                    <p:set>
                                      <p:cBhvr>
                                        <p:cTn id="14" dur="1" fill="hold">
                                          <p:stCondLst>
                                            <p:cond delay="0"/>
                                          </p:stCondLst>
                                        </p:cTn>
                                        <p:tgtEl>
                                          <p:spTgt spid="47"/>
                                        </p:tgtEl>
                                        <p:attrNameLst>
                                          <p:attrName>style.visibility</p:attrName>
                                        </p:attrNameLst>
                                      </p:cBhvr>
                                      <p:to>
                                        <p:strVal val="visible"/>
                                      </p:to>
                                    </p:set>
                                    <p:animEffect transition="in" filter="wipe(up)">
                                      <p:cBhvr>
                                        <p:cTn id="15" dur="600"/>
                                        <p:tgtEl>
                                          <p:spTgt spid="47"/>
                                        </p:tgtEl>
                                      </p:cBhvr>
                                    </p:animEffect>
                                  </p:childTnLst>
                                </p:cTn>
                              </p:par>
                            </p:childTnLst>
                          </p:cTn>
                        </p:par>
                        <p:par>
                          <p:cTn id="16" fill="hold">
                            <p:stCondLst>
                              <p:cond delay="2100"/>
                            </p:stCondLst>
                            <p:childTnLst>
                              <p:par>
                                <p:cTn id="17" presetID="10" presetClass="entr" presetSubtype="0" fill="hold" grpId="0" nodeType="afterEffect">
                                  <p:stCondLst>
                                    <p:cond delay="500"/>
                                  </p:stCondLst>
                                  <p:childTnLst>
                                    <p:set>
                                      <p:cBhvr>
                                        <p:cTn id="18" dur="1" fill="hold">
                                          <p:stCondLst>
                                            <p:cond delay="0"/>
                                          </p:stCondLst>
                                        </p:cTn>
                                        <p:tgtEl>
                                          <p:spTgt spid="52"/>
                                        </p:tgtEl>
                                        <p:attrNameLst>
                                          <p:attrName>style.visibility</p:attrName>
                                        </p:attrNameLst>
                                      </p:cBhvr>
                                      <p:to>
                                        <p:strVal val="visible"/>
                                      </p:to>
                                    </p:set>
                                    <p:animEffect transition="in" filter="fade">
                                      <p:cBhvr>
                                        <p:cTn id="19" dur="200"/>
                                        <p:tgtEl>
                                          <p:spTgt spid="52"/>
                                        </p:tgtEl>
                                      </p:cBhvr>
                                    </p:animEffect>
                                  </p:childTnLst>
                                </p:cTn>
                              </p:par>
                            </p:childTnLst>
                          </p:cTn>
                        </p:par>
                        <p:par>
                          <p:cTn id="20" fill="hold">
                            <p:stCondLst>
                              <p:cond delay="2800"/>
                            </p:stCondLst>
                            <p:childTnLst>
                              <p:par>
                                <p:cTn id="21" presetID="22" presetClass="entr" presetSubtype="2" fill="hold" grpId="0" nodeType="afterEffect">
                                  <p:stCondLst>
                                    <p:cond delay="500"/>
                                  </p:stCondLst>
                                  <p:childTnLst>
                                    <p:set>
                                      <p:cBhvr>
                                        <p:cTn id="22" dur="1" fill="hold">
                                          <p:stCondLst>
                                            <p:cond delay="0"/>
                                          </p:stCondLst>
                                        </p:cTn>
                                        <p:tgtEl>
                                          <p:spTgt spid="75"/>
                                        </p:tgtEl>
                                        <p:attrNameLst>
                                          <p:attrName>style.visibility</p:attrName>
                                        </p:attrNameLst>
                                      </p:cBhvr>
                                      <p:to>
                                        <p:strVal val="visible"/>
                                      </p:to>
                                    </p:set>
                                    <p:animEffect transition="in" filter="wipe(right)">
                                      <p:cBhvr>
                                        <p:cTn id="23" dur="600"/>
                                        <p:tgtEl>
                                          <p:spTgt spid="75"/>
                                        </p:tgtEl>
                                      </p:cBhvr>
                                    </p:animEffect>
                                  </p:childTnLst>
                                </p:cTn>
                              </p:par>
                            </p:childTnLst>
                          </p:cTn>
                        </p:par>
                        <p:par>
                          <p:cTn id="24" fill="hold">
                            <p:stCondLst>
                              <p:cond delay="3900"/>
                            </p:stCondLst>
                            <p:childTnLst>
                              <p:par>
                                <p:cTn id="25" presetID="10" presetClass="entr" presetSubtype="0" fill="hold" grpId="0" nodeType="afterEffect">
                                  <p:stCondLst>
                                    <p:cond delay="500"/>
                                  </p:stCondLst>
                                  <p:childTnLst>
                                    <p:set>
                                      <p:cBhvr>
                                        <p:cTn id="26" dur="1" fill="hold">
                                          <p:stCondLst>
                                            <p:cond delay="0"/>
                                          </p:stCondLst>
                                        </p:cTn>
                                        <p:tgtEl>
                                          <p:spTgt spid="80"/>
                                        </p:tgtEl>
                                        <p:attrNameLst>
                                          <p:attrName>style.visibility</p:attrName>
                                        </p:attrNameLst>
                                      </p:cBhvr>
                                      <p:to>
                                        <p:strVal val="visible"/>
                                      </p:to>
                                    </p:set>
                                    <p:animEffect transition="in" filter="fade">
                                      <p:cBhvr>
                                        <p:cTn id="27" dur="200"/>
                                        <p:tgtEl>
                                          <p:spTgt spid="80"/>
                                        </p:tgtEl>
                                      </p:cBhvr>
                                    </p:animEffect>
                                  </p:childTnLst>
                                </p:cTn>
                              </p:par>
                            </p:childTnLst>
                          </p:cTn>
                        </p:par>
                        <p:par>
                          <p:cTn id="28" fill="hold">
                            <p:stCondLst>
                              <p:cond delay="4600"/>
                            </p:stCondLst>
                            <p:childTnLst>
                              <p:par>
                                <p:cTn id="29" presetID="22" presetClass="entr" presetSubtype="4" fill="hold" grpId="0" nodeType="afterEffect">
                                  <p:stCondLst>
                                    <p:cond delay="500"/>
                                  </p:stCondLst>
                                  <p:childTnLst>
                                    <p:set>
                                      <p:cBhvr>
                                        <p:cTn id="30" dur="1" fill="hold">
                                          <p:stCondLst>
                                            <p:cond delay="0"/>
                                          </p:stCondLst>
                                        </p:cTn>
                                        <p:tgtEl>
                                          <p:spTgt spid="123"/>
                                        </p:tgtEl>
                                        <p:attrNameLst>
                                          <p:attrName>style.visibility</p:attrName>
                                        </p:attrNameLst>
                                      </p:cBhvr>
                                      <p:to>
                                        <p:strVal val="visible"/>
                                      </p:to>
                                    </p:set>
                                    <p:animEffect transition="in" filter="wipe(down)">
                                      <p:cBhvr>
                                        <p:cTn id="31" dur="500"/>
                                        <p:tgtEl>
                                          <p:spTgt spid="123"/>
                                        </p:tgtEl>
                                      </p:cBhvr>
                                    </p:animEffect>
                                  </p:childTnLst>
                                </p:cTn>
                              </p:par>
                            </p:childTnLst>
                          </p:cTn>
                        </p:par>
                        <p:par>
                          <p:cTn id="32" fill="hold">
                            <p:stCondLst>
                              <p:cond delay="5600"/>
                            </p:stCondLst>
                            <p:childTnLst>
                              <p:par>
                                <p:cTn id="33" presetID="10" presetClass="entr" presetSubtype="0" fill="hold" grpId="0" nodeType="afterEffect">
                                  <p:stCondLst>
                                    <p:cond delay="500"/>
                                  </p:stCondLst>
                                  <p:childTnLst>
                                    <p:set>
                                      <p:cBhvr>
                                        <p:cTn id="34" dur="1" fill="hold">
                                          <p:stCondLst>
                                            <p:cond delay="0"/>
                                          </p:stCondLst>
                                        </p:cTn>
                                        <p:tgtEl>
                                          <p:spTgt spid="142"/>
                                        </p:tgtEl>
                                        <p:attrNameLst>
                                          <p:attrName>style.visibility</p:attrName>
                                        </p:attrNameLst>
                                      </p:cBhvr>
                                      <p:to>
                                        <p:strVal val="visible"/>
                                      </p:to>
                                    </p:set>
                                    <p:animEffect transition="in" filter="fade">
                                      <p:cBhvr>
                                        <p:cTn id="35" dur="4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9927681" y="247650"/>
            <a:ext cx="1807119" cy="206216"/>
            <a:chOff x="9927681" y="247650"/>
            <a:chExt cx="1807119" cy="206216"/>
          </a:xfrm>
        </p:grpSpPr>
        <p:sp>
          <p:nvSpPr>
            <p:cNvPr id="2" name="TextBox 2"/>
            <p:cNvSpPr txBox="1"/>
            <p:nvPr/>
          </p:nvSpPr>
          <p:spPr>
            <a:xfrm>
              <a:off x="9927681" y="291941"/>
              <a:ext cx="878431"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诊断 · 产品组合</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5921312" cy="637794"/>
            <a:chOff x="448056" y="472440"/>
            <a:chExt cx="5921312" cy="637794"/>
          </a:xfrm>
        </p:grpSpPr>
        <p:sp>
          <p:nvSpPr>
            <p:cNvPr id="6" name="TextBox 6"/>
            <p:cNvSpPr txBox="1"/>
            <p:nvPr/>
          </p:nvSpPr>
          <p:spPr>
            <a:xfrm>
              <a:off x="448056" y="472440"/>
              <a:ext cx="5921312"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PHEV 已占全球电动车销量的 34%,在中国三年增长 3.4 倍</a:t>
              </a:r>
              <a:br/>
              <a:r>
                <a:rPr lang="zh-CN" sz="1800" b="1" dirty="0">
                  <a:solidFill>
                    <a:schemeClr val="accent1"/>
                  </a:solidFill>
                  <a:latin typeface="+mn-lt"/>
                  <a:ea typeface="+mn-ea"/>
                  <a:cs typeface="+mn-cs"/>
                </a:rPr>
                <a:t>——它是低渗透市场的破冰产品,不是过渡产品</a:t>
              </a:r>
            </a:p>
          </p:txBody>
        </p:sp>
      </p:grpSp>
      <p:grpSp>
        <p:nvGrpSpPr>
          <p:cNvPr id="9" name="unit-line"/>
          <p:cNvGrpSpPr/>
          <p:nvPr/>
        </p:nvGrpSpPr>
        <p:grpSpPr>
          <a:xfrm>
            <a:off x="452438" y="1160145"/>
            <a:ext cx="7115785" cy="176212"/>
            <a:chOff x="452438" y="1160145"/>
            <a:chExt cx="7115785" cy="176212"/>
          </a:xfrm>
        </p:grpSpPr>
        <p:sp>
          <p:nvSpPr>
            <p:cNvPr id="8" name="TextBox 8"/>
            <p:cNvSpPr txBox="1"/>
            <p:nvPr/>
          </p:nvSpPr>
          <p:spPr>
            <a:xfrm>
              <a:off x="452438" y="1160145"/>
              <a:ext cx="711578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A:全球 BEV 与 PHEV 销量,百万辆,2019–2025;B:PHEV 占电动车销量比例,%,2025;C:中国 BEV 与 PHEV 销量,百万辆,2022–2025</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1618046" cy="349091"/>
            <a:chOff x="452438" y="1552575"/>
            <a:chExt cx="1618046"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408687"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全球 BEV 与 PHEV 销量</a:t>
              </a:r>
            </a:p>
          </p:txBody>
        </p:sp>
        <p:sp>
          <p:nvSpPr>
            <p:cNvPr id="14" name="TextBox 14"/>
            <p:cNvSpPr txBox="1"/>
            <p:nvPr/>
          </p:nvSpPr>
          <p:spPr>
            <a:xfrm>
              <a:off x="452438" y="1739741"/>
              <a:ext cx="84295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百万辆,堆叠面积</a:t>
              </a:r>
            </a:p>
          </p:txBody>
        </p:sp>
      </p:grpSp>
      <p:grpSp>
        <p:nvGrpSpPr>
          <p:cNvPr id="29" name="powertrain-mix"/>
          <p:cNvGrpSpPr/>
          <p:nvPr/>
        </p:nvGrpSpPr>
        <p:grpSpPr>
          <a:xfrm>
            <a:off x="501091" y="2383822"/>
            <a:ext cx="3760317" cy="1965769"/>
            <a:chOff x="501091" y="2383822"/>
            <a:chExt cx="3760317" cy="1965769"/>
          </a:xfrm>
        </p:grpSpPr>
        <p:grpSp>
          <p:nvGrpSpPr>
            <p:cNvPr id="28" name="powertrain-mix-chartArea"/>
            <p:cNvGrpSpPr/>
            <p:nvPr/>
          </p:nvGrpSpPr>
          <p:grpSpPr>
            <a:xfrm>
              <a:off x="501091" y="2383822"/>
              <a:ext cx="3760317" cy="1965769"/>
              <a:chOff x="501091" y="2383822"/>
              <a:chExt cx="3760317" cy="1965769"/>
            </a:xfrm>
          </p:grpSpPr>
          <p:sp>
            <p:nvSpPr>
              <p:cNvPr id="16" name="Line 16"/>
              <p:cNvSpPr/>
              <p:nvPr/>
            </p:nvSpPr>
            <p:spPr>
              <a:xfrm>
                <a:off x="628650" y="4133850"/>
                <a:ext cx="3505200" cy="9525"/>
              </a:xfrm>
              <a:custGeom>
                <a:avLst/>
                <a:gdLst/>
                <a:ahLst/>
                <a:cxnLst/>
                <a:rect l="l" t="t" r="r" b="b"/>
                <a:pathLst>
                  <a:path w="3505200" h="9525">
                    <a:moveTo>
                      <a:pt x="0" y="0"/>
                    </a:moveTo>
                    <a:lnTo>
                      <a:pt x="3505200" y="0"/>
                    </a:lnTo>
                  </a:path>
                </a:pathLst>
              </a:custGeom>
              <a:noFill/>
              <a:ln w="7144">
                <a:solidFill>
                  <a:schemeClr val="accent6"/>
                </a:solidFill>
              </a:ln>
            </p:spPr>
          </p:sp>
          <p:sp>
            <p:nvSpPr>
              <p:cNvPr id="17" name="Polygon 17"/>
              <p:cNvSpPr/>
              <p:nvPr/>
            </p:nvSpPr>
            <p:spPr>
              <a:xfrm>
                <a:off x="628650" y="2978182"/>
                <a:ext cx="3505200" cy="1155668"/>
              </a:xfrm>
              <a:custGeom>
                <a:avLst/>
                <a:gdLst/>
                <a:ahLst/>
                <a:cxnLst/>
                <a:rect l="l" t="t" r="r" b="b"/>
                <a:pathLst>
                  <a:path w="3505200" h="1155668">
                    <a:moveTo>
                      <a:pt x="0" y="1031843"/>
                    </a:moveTo>
                    <a:lnTo>
                      <a:pt x="584168" y="990600"/>
                    </a:lnTo>
                    <a:lnTo>
                      <a:pt x="1168432" y="767715"/>
                    </a:lnTo>
                    <a:lnTo>
                      <a:pt x="1752600" y="553022"/>
                    </a:lnTo>
                    <a:lnTo>
                      <a:pt x="2336768" y="371475"/>
                    </a:lnTo>
                    <a:lnTo>
                      <a:pt x="2921032" y="247650"/>
                    </a:lnTo>
                    <a:lnTo>
                      <a:pt x="3505200" y="0"/>
                    </a:lnTo>
                    <a:lnTo>
                      <a:pt x="3505200" y="1155668"/>
                    </a:lnTo>
                    <a:lnTo>
                      <a:pt x="2921032" y="1155668"/>
                    </a:lnTo>
                    <a:lnTo>
                      <a:pt x="2336768" y="1155668"/>
                    </a:lnTo>
                    <a:lnTo>
                      <a:pt x="1752600" y="1155668"/>
                    </a:lnTo>
                    <a:lnTo>
                      <a:pt x="1168432" y="1155668"/>
                    </a:lnTo>
                    <a:lnTo>
                      <a:pt x="584168" y="1155668"/>
                    </a:lnTo>
                    <a:lnTo>
                      <a:pt x="0" y="1155668"/>
                    </a:lnTo>
                    <a:close/>
                  </a:path>
                </a:pathLst>
              </a:custGeom>
              <a:solidFill>
                <a:schemeClr val="accent1"/>
              </a:solidFill>
              <a:ln>
                <a:noFill/>
              </a:ln>
            </p:spPr>
          </p:sp>
          <p:sp>
            <p:nvSpPr>
              <p:cNvPr id="18" name="Polygon 18"/>
              <p:cNvSpPr/>
              <p:nvPr/>
            </p:nvSpPr>
            <p:spPr>
              <a:xfrm>
                <a:off x="628650" y="2383822"/>
                <a:ext cx="3505200" cy="1626203"/>
              </a:xfrm>
              <a:custGeom>
                <a:avLst/>
                <a:gdLst/>
                <a:ahLst/>
                <a:cxnLst/>
                <a:rect l="l" t="t" r="r" b="b"/>
                <a:pathLst>
                  <a:path w="3505200" h="1626203">
                    <a:moveTo>
                      <a:pt x="0" y="1578293"/>
                    </a:moveTo>
                    <a:lnTo>
                      <a:pt x="584168" y="1503998"/>
                    </a:lnTo>
                    <a:lnTo>
                      <a:pt x="1168432" y="1205198"/>
                    </a:lnTo>
                    <a:lnTo>
                      <a:pt x="1752600" y="908018"/>
                    </a:lnTo>
                    <a:lnTo>
                      <a:pt x="2336768" y="619125"/>
                    </a:lnTo>
                    <a:lnTo>
                      <a:pt x="2921032" y="305371"/>
                    </a:lnTo>
                    <a:lnTo>
                      <a:pt x="3505200" y="0"/>
                    </a:lnTo>
                    <a:lnTo>
                      <a:pt x="3505200" y="594360"/>
                    </a:lnTo>
                    <a:lnTo>
                      <a:pt x="2921032" y="842010"/>
                    </a:lnTo>
                    <a:lnTo>
                      <a:pt x="2336768" y="965835"/>
                    </a:lnTo>
                    <a:lnTo>
                      <a:pt x="1752600" y="1147382"/>
                    </a:lnTo>
                    <a:lnTo>
                      <a:pt x="1168432" y="1362075"/>
                    </a:lnTo>
                    <a:lnTo>
                      <a:pt x="584168" y="1584960"/>
                    </a:lnTo>
                    <a:lnTo>
                      <a:pt x="0" y="1626203"/>
                    </a:lnTo>
                    <a:close/>
                  </a:path>
                </a:pathLst>
              </a:custGeom>
              <a:solidFill>
                <a:schemeClr val="accent2"/>
              </a:solidFill>
              <a:ln>
                <a:noFill/>
              </a:ln>
            </p:spPr>
          </p:sp>
          <p:sp>
            <p:nvSpPr>
              <p:cNvPr id="19" name="TextBox 19"/>
              <p:cNvSpPr txBox="1"/>
              <p:nvPr/>
            </p:nvSpPr>
            <p:spPr>
              <a:xfrm>
                <a:off x="501091"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2019</a:t>
                </a:r>
              </a:p>
            </p:txBody>
          </p:sp>
          <p:sp>
            <p:nvSpPr>
              <p:cNvPr id="20" name="TextBox 20"/>
              <p:cNvSpPr txBox="1"/>
              <p:nvPr/>
            </p:nvSpPr>
            <p:spPr>
              <a:xfrm>
                <a:off x="1085260"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2020</a:t>
                </a:r>
              </a:p>
            </p:txBody>
          </p:sp>
          <p:sp>
            <p:nvSpPr>
              <p:cNvPr id="21" name="TextBox 21"/>
              <p:cNvSpPr txBox="1"/>
              <p:nvPr/>
            </p:nvSpPr>
            <p:spPr>
              <a:xfrm>
                <a:off x="1669523"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2021</a:t>
                </a:r>
              </a:p>
            </p:txBody>
          </p:sp>
          <p:sp>
            <p:nvSpPr>
              <p:cNvPr id="22" name="TextBox 22"/>
              <p:cNvSpPr txBox="1"/>
              <p:nvPr/>
            </p:nvSpPr>
            <p:spPr>
              <a:xfrm>
                <a:off x="2253691"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2022</a:t>
                </a:r>
              </a:p>
            </p:txBody>
          </p:sp>
          <p:sp>
            <p:nvSpPr>
              <p:cNvPr id="23" name="TextBox 23"/>
              <p:cNvSpPr txBox="1"/>
              <p:nvPr/>
            </p:nvSpPr>
            <p:spPr>
              <a:xfrm>
                <a:off x="2837860"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2023</a:t>
                </a:r>
              </a:p>
            </p:txBody>
          </p:sp>
          <p:sp>
            <p:nvSpPr>
              <p:cNvPr id="24" name="TextBox 24"/>
              <p:cNvSpPr txBox="1"/>
              <p:nvPr/>
            </p:nvSpPr>
            <p:spPr>
              <a:xfrm>
                <a:off x="3422123"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2024</a:t>
                </a:r>
              </a:p>
            </p:txBody>
          </p:sp>
          <p:sp>
            <p:nvSpPr>
              <p:cNvPr id="25" name="TextBox 25"/>
              <p:cNvSpPr txBox="1"/>
              <p:nvPr/>
            </p:nvSpPr>
            <p:spPr>
              <a:xfrm>
                <a:off x="4006291" y="418766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2025</a:t>
                </a:r>
              </a:p>
            </p:txBody>
          </p:sp>
          <p:sp>
            <p:nvSpPr>
              <p:cNvPr id="26" name="TextBox 26"/>
              <p:cNvSpPr txBox="1"/>
              <p:nvPr/>
            </p:nvSpPr>
            <p:spPr>
              <a:xfrm>
                <a:off x="3257867" y="3911441"/>
                <a:ext cx="842645" cy="161925"/>
              </a:xfrm>
              <a:prstGeom prst="rect">
                <a:avLst/>
              </a:prstGeom>
              <a:noFill/>
              <a:ln>
                <a:noFill/>
              </a:ln>
            </p:spPr>
            <p:txBody>
              <a:bodyPr wrap="none" lIns="0" tIns="0" rIns="0" bIns="0" anchor="t" anchorCtr="0">
                <a:spAutoFit/>
              </a:bodyPr>
              <a:lstStyle/>
              <a:p>
                <a:pPr algn="r"/>
                <a:r>
                  <a:rPr lang="zh-CN" sz="820" b="1" dirty="0">
                    <a:solidFill>
                      <a:srgbClr val="FFFFFF"/>
                    </a:solidFill>
                    <a:latin typeface="+mn-lt"/>
                    <a:ea typeface="+mn-ea"/>
                    <a:cs typeface="+mn-cs"/>
                  </a:rPr>
                  <a:t>BEV 1,400 万辆</a:t>
                </a:r>
              </a:p>
            </p:txBody>
          </p:sp>
          <p:sp>
            <p:nvSpPr>
              <p:cNvPr id="27" name="TextBox 27"/>
              <p:cNvSpPr txBox="1"/>
              <p:nvPr/>
            </p:nvSpPr>
            <p:spPr>
              <a:xfrm>
                <a:off x="3325225" y="2558891"/>
                <a:ext cx="775287" cy="161925"/>
              </a:xfrm>
              <a:prstGeom prst="rect">
                <a:avLst/>
              </a:prstGeom>
              <a:noFill/>
              <a:ln>
                <a:noFill/>
              </a:ln>
            </p:spPr>
            <p:txBody>
              <a:bodyPr wrap="none" lIns="0" tIns="0" rIns="0" bIns="0" anchor="t" anchorCtr="0">
                <a:spAutoFit/>
              </a:bodyPr>
              <a:lstStyle/>
              <a:p>
                <a:pPr algn="r"/>
                <a:r>
                  <a:rPr lang="zh-CN" sz="820" b="1" dirty="0">
                    <a:solidFill>
                      <a:srgbClr val="FFFFFF"/>
                    </a:solidFill>
                    <a:latin typeface="+mn-lt"/>
                    <a:ea typeface="+mn-ea"/>
                    <a:cs typeface="+mn-cs"/>
                  </a:rPr>
                  <a:t>PHEV 720 万辆</a:t>
                </a:r>
              </a:p>
            </p:txBody>
          </p:sp>
        </p:grpSp>
      </p:grpSp>
      <p:grpSp>
        <p:nvGrpSpPr>
          <p:cNvPr id="40" name="powertrain-multiples"/>
          <p:cNvGrpSpPr/>
          <p:nvPr/>
        </p:nvGrpSpPr>
        <p:grpSpPr>
          <a:xfrm>
            <a:off x="448818" y="4673441"/>
            <a:ext cx="3856482" cy="619125"/>
            <a:chOff x="448818" y="4673441"/>
            <a:chExt cx="3856482" cy="619125"/>
          </a:xfrm>
        </p:grpSpPr>
        <p:sp>
          <p:nvSpPr>
            <p:cNvPr id="30" name="TextBox 30"/>
            <p:cNvSpPr txBox="1"/>
            <p:nvPr/>
          </p:nvSpPr>
          <p:spPr>
            <a:xfrm>
              <a:off x="452438" y="4673441"/>
              <a:ext cx="1067857"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增长倍数(百万辆)</a:t>
              </a:r>
            </a:p>
          </p:txBody>
        </p:sp>
        <p:sp>
          <p:nvSpPr>
            <p:cNvPr id="31" name="Line 31"/>
            <p:cNvSpPr/>
            <p:nvPr/>
          </p:nvSpPr>
          <p:spPr>
            <a:xfrm>
              <a:off x="457200" y="4838700"/>
              <a:ext cx="3848100" cy="9525"/>
            </a:xfrm>
            <a:custGeom>
              <a:avLst/>
              <a:gdLst/>
              <a:ahLst/>
              <a:cxnLst/>
              <a:rect l="l" t="t" r="r" b="b"/>
              <a:pathLst>
                <a:path w="3848100" h="9525">
                  <a:moveTo>
                    <a:pt x="0" y="0"/>
                  </a:moveTo>
                  <a:lnTo>
                    <a:pt x="3848100" y="0"/>
                  </a:lnTo>
                </a:path>
              </a:pathLst>
            </a:custGeom>
            <a:noFill/>
            <a:ln w="7144">
              <a:solidFill>
                <a:schemeClr val="accent1"/>
              </a:solidFill>
            </a:ln>
          </p:spPr>
        </p:sp>
        <p:sp>
          <p:nvSpPr>
            <p:cNvPr id="32" name="TextBox 32"/>
            <p:cNvSpPr txBox="1"/>
            <p:nvPr/>
          </p:nvSpPr>
          <p:spPr>
            <a:xfrm>
              <a:off x="448818" y="4889182"/>
              <a:ext cx="393573"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Arial"/>
                  <a:ea typeface="Arial"/>
                  <a:cs typeface="Arial"/>
                </a:rPr>
                <a:t>12×</a:t>
              </a:r>
            </a:p>
          </p:txBody>
        </p:sp>
        <p:sp>
          <p:nvSpPr>
            <p:cNvPr id="33" name="TextBox 33"/>
            <p:cNvSpPr txBox="1"/>
            <p:nvPr/>
          </p:nvSpPr>
          <p:spPr>
            <a:xfrm>
              <a:off x="452438" y="5130641"/>
              <a:ext cx="107008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全球 PHEV 0.58→7.2</a:t>
              </a:r>
            </a:p>
          </p:txBody>
        </p:sp>
        <p:sp>
          <p:nvSpPr>
            <p:cNvPr id="34" name="TextBox 34"/>
            <p:cNvSpPr txBox="1"/>
            <p:nvPr/>
          </p:nvSpPr>
          <p:spPr>
            <a:xfrm>
              <a:off x="1410843" y="4889182"/>
              <a:ext cx="27002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9×</a:t>
              </a:r>
            </a:p>
          </p:txBody>
        </p:sp>
        <p:sp>
          <p:nvSpPr>
            <p:cNvPr id="35" name="TextBox 35"/>
            <p:cNvSpPr txBox="1"/>
            <p:nvPr/>
          </p:nvSpPr>
          <p:spPr>
            <a:xfrm>
              <a:off x="1414462" y="5130641"/>
              <a:ext cx="87763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全球 BEV 1.5→14</a:t>
              </a:r>
            </a:p>
          </p:txBody>
        </p:sp>
        <p:sp>
          <p:nvSpPr>
            <p:cNvPr id="36" name="TextBox 36"/>
            <p:cNvSpPr txBox="1"/>
            <p:nvPr/>
          </p:nvSpPr>
          <p:spPr>
            <a:xfrm>
              <a:off x="2372868" y="4889182"/>
              <a:ext cx="455279"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Arial"/>
                  <a:ea typeface="Arial"/>
                  <a:cs typeface="Arial"/>
                </a:rPr>
                <a:t>3.4×</a:t>
              </a:r>
            </a:p>
          </p:txBody>
        </p:sp>
        <p:sp>
          <p:nvSpPr>
            <p:cNvPr id="37" name="TextBox 37"/>
            <p:cNvSpPr txBox="1"/>
            <p:nvPr/>
          </p:nvSpPr>
          <p:spPr>
            <a:xfrm>
              <a:off x="2376488" y="5130641"/>
              <a:ext cx="100593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中国 PHEV 1.5→5.1</a:t>
              </a:r>
            </a:p>
          </p:txBody>
        </p:sp>
        <p:sp>
          <p:nvSpPr>
            <p:cNvPr id="38" name="TextBox 38"/>
            <p:cNvSpPr txBox="1"/>
            <p:nvPr/>
          </p:nvSpPr>
          <p:spPr>
            <a:xfrm>
              <a:off x="3334893" y="4889182"/>
              <a:ext cx="455279"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1.8×</a:t>
              </a:r>
            </a:p>
          </p:txBody>
        </p:sp>
        <p:sp>
          <p:nvSpPr>
            <p:cNvPr id="39" name="TextBox 39"/>
            <p:cNvSpPr txBox="1"/>
            <p:nvPr/>
          </p:nvSpPr>
          <p:spPr>
            <a:xfrm>
              <a:off x="3338512" y="5130641"/>
              <a:ext cx="94178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中国 BEV 4.5→8.2</a:t>
              </a:r>
            </a:p>
          </p:txBody>
        </p:sp>
      </p:grpSp>
      <p:grpSp>
        <p:nvGrpSpPr>
          <p:cNvPr id="42" name="powertrain-note"/>
          <p:cNvGrpSpPr/>
          <p:nvPr/>
        </p:nvGrpSpPr>
        <p:grpSpPr>
          <a:xfrm>
            <a:off x="452438" y="5530691"/>
            <a:ext cx="2331847" cy="466725"/>
            <a:chOff x="452438" y="5530691"/>
            <a:chExt cx="2331847" cy="466725"/>
          </a:xfrm>
        </p:grpSpPr>
        <p:sp>
          <p:nvSpPr>
            <p:cNvPr id="41" name="TextBox 41"/>
            <p:cNvSpPr txBox="1"/>
            <p:nvPr/>
          </p:nvSpPr>
          <p:spPr>
            <a:xfrm>
              <a:off x="452438" y="5530691"/>
              <a:ext cx="2331847" cy="466725"/>
            </a:xfrm>
            <a:prstGeom prst="rect">
              <a:avLst/>
            </a:prstGeom>
            <a:noFill/>
            <a:ln>
              <a:noFill/>
            </a:ln>
          </p:spPr>
          <p:txBody>
            <a:bodyPr wrap="none" lIns="0" tIns="0" rIns="0" bIns="0" anchor="t" anchorCtr="0">
              <a:spAutoFit/>
            </a:bodyPr>
            <a:lstStyle/>
            <a:p>
              <a:pPr algn="l">
                <a:lnSpc>
                  <a:spcPts val="1200"/>
                </a:lnSpc>
              </a:pPr>
              <a:r>
                <a:rPr lang="zh-CN" sz="820" dirty="0">
                  <a:solidFill>
                    <a:schemeClr val="accent5"/>
                  </a:solidFill>
                  <a:latin typeface="+mn-lt"/>
                  <a:ea typeface="+mn-ea"/>
                  <a:cs typeface="+mn-cs"/>
                </a:rPr>
                <a:t>全球倍数按 2019→2025,中国按 2022→2025;</a:t>
              </a:r>
              <a:br/>
              <a:r>
                <a:rPr lang="zh-CN" sz="820" dirty="0">
                  <a:solidFill>
                    <a:schemeClr val="accent5"/>
                  </a:solidFill>
                  <a:latin typeface="+mn-lt"/>
                  <a:ea typeface="+mn-ea"/>
                  <a:cs typeface="+mn-cs"/>
                </a:rPr>
                <a:t>两组口径下 PHEV 的倍数都高于 BEV,且差距在中国</a:t>
              </a:r>
              <a:br/>
              <a:r>
                <a:rPr lang="zh-CN" sz="820" dirty="0">
                  <a:solidFill>
                    <a:schemeClr val="accent5"/>
                  </a:solidFill>
                  <a:latin typeface="+mn-lt"/>
                  <a:ea typeface="+mn-ea"/>
                  <a:cs typeface="+mn-cs"/>
                </a:rPr>
                <a:t>这个渗透率最高的市场里最大——不是低基数效应。</a:t>
              </a:r>
            </a:p>
          </p:txBody>
        </p:sp>
      </p:grpSp>
      <p:grpSp>
        <p:nvGrpSpPr>
          <p:cNvPr id="47" name="exhibit-b-head"/>
          <p:cNvGrpSpPr/>
          <p:nvPr/>
        </p:nvGrpSpPr>
        <p:grpSpPr>
          <a:xfrm>
            <a:off x="4529138" y="1552575"/>
            <a:ext cx="2021539" cy="349091"/>
            <a:chOff x="4529138" y="1552575"/>
            <a:chExt cx="2021539" cy="349091"/>
          </a:xfrm>
        </p:grpSpPr>
        <p:sp>
          <p:nvSpPr>
            <p:cNvPr id="43" name="Ellipse 43"/>
            <p:cNvSpPr/>
            <p:nvPr/>
          </p:nvSpPr>
          <p:spPr>
            <a:xfrm>
              <a:off x="4533900" y="1552575"/>
              <a:ext cx="152400" cy="152400"/>
            </a:xfrm>
            <a:prstGeom prst="ellipse">
              <a:avLst/>
            </a:prstGeom>
            <a:solidFill>
              <a:schemeClr val="accent1"/>
            </a:solidFill>
            <a:ln>
              <a:noFill/>
            </a:ln>
          </p:spPr>
        </p:sp>
        <p:sp>
          <p:nvSpPr>
            <p:cNvPr id="44" name="TextBox 44"/>
            <p:cNvSpPr txBox="1"/>
            <p:nvPr/>
          </p:nvSpPr>
          <p:spPr>
            <a:xfrm>
              <a:off x="45668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45" name="TextBox 45"/>
            <p:cNvSpPr txBox="1"/>
            <p:nvPr/>
          </p:nvSpPr>
          <p:spPr>
            <a:xfrm>
              <a:off x="4738497" y="1571149"/>
              <a:ext cx="1812180"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PHEV 占电动车销量比例,2025</a:t>
              </a:r>
            </a:p>
          </p:txBody>
        </p:sp>
        <p:sp>
          <p:nvSpPr>
            <p:cNvPr id="46" name="TextBox 46"/>
            <p:cNvSpPr txBox="1"/>
            <p:nvPr/>
          </p:nvSpPr>
          <p:spPr>
            <a:xfrm>
              <a:off x="4529138" y="1739741"/>
              <a:ext cx="153030"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%²</a:t>
              </a:r>
            </a:p>
          </p:txBody>
        </p:sp>
      </p:grpSp>
      <p:grpSp>
        <p:nvGrpSpPr>
          <p:cNvPr id="62" name="phev-share-region"/>
          <p:cNvGrpSpPr/>
          <p:nvPr/>
        </p:nvGrpSpPr>
        <p:grpSpPr>
          <a:xfrm>
            <a:off x="4708411" y="2114550"/>
            <a:ext cx="2723965" cy="1333500"/>
            <a:chOff x="4708411" y="2114550"/>
            <a:chExt cx="2723965" cy="1333500"/>
          </a:xfrm>
        </p:grpSpPr>
        <p:grpSp>
          <p:nvGrpSpPr>
            <p:cNvPr id="61" name="phev-share-region-chartArea"/>
            <p:cNvGrpSpPr/>
            <p:nvPr/>
          </p:nvGrpSpPr>
          <p:grpSpPr>
            <a:xfrm>
              <a:off x="4708411" y="2114550"/>
              <a:ext cx="2723965" cy="1333500"/>
              <a:chOff x="4708411" y="2114550"/>
              <a:chExt cx="2723965" cy="1333500"/>
            </a:xfrm>
          </p:grpSpPr>
          <p:sp>
            <p:nvSpPr>
              <p:cNvPr id="48" name="Line 48"/>
              <p:cNvSpPr/>
              <p:nvPr/>
            </p:nvSpPr>
            <p:spPr>
              <a:xfrm>
                <a:off x="5010150" y="2114550"/>
                <a:ext cx="9525" cy="1333500"/>
              </a:xfrm>
              <a:custGeom>
                <a:avLst/>
                <a:gdLst/>
                <a:ahLst/>
                <a:cxnLst/>
                <a:rect l="l" t="t" r="r" b="b"/>
                <a:pathLst>
                  <a:path w="9525" h="1333500">
                    <a:moveTo>
                      <a:pt x="0" y="0"/>
                    </a:moveTo>
                    <a:lnTo>
                      <a:pt x="0" y="1333500"/>
                    </a:lnTo>
                  </a:path>
                </a:pathLst>
              </a:custGeom>
              <a:noFill/>
              <a:ln w="7144">
                <a:solidFill>
                  <a:schemeClr val="accent6"/>
                </a:solidFill>
              </a:ln>
            </p:spPr>
          </p:sp>
          <p:sp>
            <p:nvSpPr>
              <p:cNvPr id="49" name="Rectangle 49"/>
              <p:cNvSpPr/>
              <p:nvPr/>
            </p:nvSpPr>
            <p:spPr>
              <a:xfrm>
                <a:off x="5010150" y="2181225"/>
                <a:ext cx="2237518" cy="200025"/>
              </a:xfrm>
              <a:prstGeom prst="rect">
                <a:avLst/>
              </a:prstGeom>
              <a:solidFill>
                <a:schemeClr val="accent2"/>
              </a:solidFill>
              <a:ln>
                <a:noFill/>
              </a:ln>
            </p:spPr>
          </p:sp>
          <p:sp>
            <p:nvSpPr>
              <p:cNvPr id="50" name="TextBox 50"/>
              <p:cNvSpPr txBox="1"/>
              <p:nvPr/>
            </p:nvSpPr>
            <p:spPr>
              <a:xfrm>
                <a:off x="7300055" y="2230279"/>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38</a:t>
                </a:r>
              </a:p>
            </p:txBody>
          </p:sp>
          <p:sp>
            <p:nvSpPr>
              <p:cNvPr id="51" name="TextBox 51"/>
              <p:cNvSpPr txBox="1"/>
              <p:nvPr/>
            </p:nvSpPr>
            <p:spPr>
              <a:xfrm>
                <a:off x="4708411" y="2230279"/>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中国</a:t>
                </a:r>
              </a:p>
            </p:txBody>
          </p:sp>
          <p:sp>
            <p:nvSpPr>
              <p:cNvPr id="52" name="Rectangle 52"/>
              <p:cNvSpPr/>
              <p:nvPr/>
            </p:nvSpPr>
            <p:spPr>
              <a:xfrm>
                <a:off x="5010150" y="2514600"/>
                <a:ext cx="2001964" cy="200025"/>
              </a:xfrm>
              <a:prstGeom prst="rect">
                <a:avLst/>
              </a:prstGeom>
              <a:solidFill>
                <a:schemeClr val="accent1"/>
              </a:solidFill>
              <a:ln>
                <a:noFill/>
              </a:ln>
            </p:spPr>
          </p:sp>
          <p:sp>
            <p:nvSpPr>
              <p:cNvPr id="53" name="TextBox 53"/>
              <p:cNvSpPr txBox="1"/>
              <p:nvPr/>
            </p:nvSpPr>
            <p:spPr>
              <a:xfrm>
                <a:off x="7064502" y="2563654"/>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34</a:t>
                </a:r>
              </a:p>
            </p:txBody>
          </p:sp>
          <p:sp>
            <p:nvSpPr>
              <p:cNvPr id="54" name="TextBox 54"/>
              <p:cNvSpPr txBox="1"/>
              <p:nvPr/>
            </p:nvSpPr>
            <p:spPr>
              <a:xfrm>
                <a:off x="4708411" y="2563654"/>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全球</a:t>
                </a:r>
              </a:p>
            </p:txBody>
          </p:sp>
          <p:sp>
            <p:nvSpPr>
              <p:cNvPr id="55" name="Rectangle 55"/>
              <p:cNvSpPr/>
              <p:nvPr/>
            </p:nvSpPr>
            <p:spPr>
              <a:xfrm>
                <a:off x="5010150" y="2847975"/>
                <a:ext cx="1943100" cy="200025"/>
              </a:xfrm>
              <a:prstGeom prst="rect">
                <a:avLst/>
              </a:prstGeom>
              <a:solidFill>
                <a:schemeClr val="accent6"/>
              </a:solidFill>
              <a:ln>
                <a:noFill/>
              </a:ln>
            </p:spPr>
          </p:sp>
          <p:sp>
            <p:nvSpPr>
              <p:cNvPr id="56" name="TextBox 56"/>
              <p:cNvSpPr txBox="1"/>
              <p:nvPr/>
            </p:nvSpPr>
            <p:spPr>
              <a:xfrm>
                <a:off x="7005638" y="2897029"/>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33</a:t>
                </a:r>
              </a:p>
            </p:txBody>
          </p:sp>
          <p:sp>
            <p:nvSpPr>
              <p:cNvPr id="57" name="TextBox 57"/>
              <p:cNvSpPr txBox="1"/>
              <p:nvPr/>
            </p:nvSpPr>
            <p:spPr>
              <a:xfrm>
                <a:off x="4708411" y="2897029"/>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欧洲</a:t>
                </a:r>
              </a:p>
            </p:txBody>
          </p:sp>
          <p:sp>
            <p:nvSpPr>
              <p:cNvPr id="58" name="Rectangle 58"/>
              <p:cNvSpPr/>
              <p:nvPr/>
            </p:nvSpPr>
            <p:spPr>
              <a:xfrm>
                <a:off x="5010150" y="3181350"/>
                <a:ext cx="1295400" cy="200025"/>
              </a:xfrm>
              <a:prstGeom prst="rect">
                <a:avLst/>
              </a:prstGeom>
              <a:solidFill>
                <a:schemeClr val="accent6"/>
              </a:solidFill>
              <a:ln>
                <a:noFill/>
              </a:ln>
            </p:spPr>
          </p:sp>
          <p:sp>
            <p:nvSpPr>
              <p:cNvPr id="59" name="TextBox 59"/>
              <p:cNvSpPr txBox="1"/>
              <p:nvPr/>
            </p:nvSpPr>
            <p:spPr>
              <a:xfrm>
                <a:off x="6357938" y="3230404"/>
                <a:ext cx="132321"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Arial"/>
                    <a:ea typeface="Arial"/>
                    <a:cs typeface="Arial"/>
                  </a:rPr>
                  <a:t>22</a:t>
                </a:r>
              </a:p>
            </p:txBody>
          </p:sp>
          <p:sp>
            <p:nvSpPr>
              <p:cNvPr id="60" name="TextBox 60"/>
              <p:cNvSpPr txBox="1"/>
              <p:nvPr/>
            </p:nvSpPr>
            <p:spPr>
              <a:xfrm>
                <a:off x="4708411" y="3230404"/>
                <a:ext cx="230302" cy="161925"/>
              </a:xfrm>
              <a:prstGeom prst="rect">
                <a:avLst/>
              </a:prstGeom>
              <a:noFill/>
              <a:ln>
                <a:noFill/>
              </a:ln>
            </p:spPr>
            <p:txBody>
              <a:bodyPr wrap="none" lIns="0" tIns="0" rIns="0" bIns="0" anchor="t" anchorCtr="0">
                <a:spAutoFit/>
              </a:bodyPr>
              <a:lstStyle/>
              <a:p>
                <a:pPr algn="r"/>
                <a:r>
                  <a:rPr lang="zh-CN" sz="820" dirty="0">
                    <a:solidFill>
                      <a:schemeClr val="dk1"/>
                    </a:solidFill>
                    <a:latin typeface="+mn-lt"/>
                    <a:ea typeface="+mn-ea"/>
                    <a:cs typeface="+mn-cs"/>
                  </a:rPr>
                  <a:t>美国</a:t>
                </a:r>
              </a:p>
            </p:txBody>
          </p:sp>
        </p:grpSp>
      </p:grpSp>
      <p:grpSp>
        <p:nvGrpSpPr>
          <p:cNvPr id="67" name="exhibit-c-head"/>
          <p:cNvGrpSpPr/>
          <p:nvPr/>
        </p:nvGrpSpPr>
        <p:grpSpPr>
          <a:xfrm>
            <a:off x="4529138" y="3705225"/>
            <a:ext cx="1618046" cy="349091"/>
            <a:chOff x="4529138" y="3705225"/>
            <a:chExt cx="1618046" cy="349091"/>
          </a:xfrm>
        </p:grpSpPr>
        <p:sp>
          <p:nvSpPr>
            <p:cNvPr id="63" name="Ellipse 63"/>
            <p:cNvSpPr/>
            <p:nvPr/>
          </p:nvSpPr>
          <p:spPr>
            <a:xfrm>
              <a:off x="4533900" y="3705225"/>
              <a:ext cx="152400" cy="152400"/>
            </a:xfrm>
            <a:prstGeom prst="ellipse">
              <a:avLst/>
            </a:prstGeom>
            <a:solidFill>
              <a:schemeClr val="accent1"/>
            </a:solidFill>
            <a:ln>
              <a:noFill/>
            </a:ln>
          </p:spPr>
        </p:sp>
        <p:sp>
          <p:nvSpPr>
            <p:cNvPr id="64" name="TextBox 64"/>
            <p:cNvSpPr txBox="1"/>
            <p:nvPr/>
          </p:nvSpPr>
          <p:spPr>
            <a:xfrm>
              <a:off x="4566815" y="37338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C</a:t>
              </a:r>
            </a:p>
          </p:txBody>
        </p:sp>
        <p:sp>
          <p:nvSpPr>
            <p:cNvPr id="65" name="TextBox 65"/>
            <p:cNvSpPr txBox="1"/>
            <p:nvPr/>
          </p:nvSpPr>
          <p:spPr>
            <a:xfrm>
              <a:off x="4738497" y="3723799"/>
              <a:ext cx="1408687"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中国 BEV 与 PHEV 销量</a:t>
              </a:r>
            </a:p>
          </p:txBody>
        </p:sp>
        <p:sp>
          <p:nvSpPr>
            <p:cNvPr id="66" name="TextBox 66"/>
            <p:cNvSpPr txBox="1"/>
            <p:nvPr/>
          </p:nvSpPr>
          <p:spPr>
            <a:xfrm>
              <a:off x="4529138" y="3892391"/>
              <a:ext cx="94782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百万辆,2022–2025</a:t>
              </a:r>
            </a:p>
          </p:txBody>
        </p:sp>
      </p:grpSp>
      <p:grpSp>
        <p:nvGrpSpPr>
          <p:cNvPr id="94" name="china-powertrain"/>
          <p:cNvGrpSpPr/>
          <p:nvPr/>
        </p:nvGrpSpPr>
        <p:grpSpPr>
          <a:xfrm>
            <a:off x="4610100" y="4360640"/>
            <a:ext cx="3771900" cy="1379601"/>
            <a:chOff x="4610100" y="4360640"/>
            <a:chExt cx="3771900" cy="1379601"/>
          </a:xfrm>
        </p:grpSpPr>
        <p:grpSp>
          <p:nvGrpSpPr>
            <p:cNvPr id="93" name="china-powertrain-chartArea"/>
            <p:cNvGrpSpPr/>
            <p:nvPr/>
          </p:nvGrpSpPr>
          <p:grpSpPr>
            <a:xfrm>
              <a:off x="4610100" y="4360640"/>
              <a:ext cx="3771900" cy="1379601"/>
              <a:chOff x="4610100" y="4360640"/>
              <a:chExt cx="3771900" cy="1379601"/>
            </a:xfrm>
          </p:grpSpPr>
          <p:sp>
            <p:nvSpPr>
              <p:cNvPr id="68" name="Line 68"/>
              <p:cNvSpPr/>
              <p:nvPr/>
            </p:nvSpPr>
            <p:spPr>
              <a:xfrm>
                <a:off x="4610100" y="5372100"/>
                <a:ext cx="3771900" cy="9525"/>
              </a:xfrm>
              <a:custGeom>
                <a:avLst/>
                <a:gdLst/>
                <a:ahLst/>
                <a:cxnLst/>
                <a:rect l="l" t="t" r="r" b="b"/>
                <a:pathLst>
                  <a:path w="3771900" h="9525">
                    <a:moveTo>
                      <a:pt x="0" y="0"/>
                    </a:moveTo>
                    <a:lnTo>
                      <a:pt x="3771900" y="0"/>
                    </a:lnTo>
                  </a:path>
                </a:pathLst>
              </a:custGeom>
              <a:noFill/>
              <a:ln w="7144">
                <a:solidFill>
                  <a:schemeClr val="accent6"/>
                </a:solidFill>
              </a:ln>
            </p:spPr>
          </p:sp>
          <p:sp>
            <p:nvSpPr>
              <p:cNvPr id="69" name="Rectangle 69"/>
              <p:cNvSpPr/>
              <p:nvPr/>
            </p:nvSpPr>
            <p:spPr>
              <a:xfrm>
                <a:off x="4776788" y="4892040"/>
                <a:ext cx="285750" cy="480060"/>
              </a:xfrm>
              <a:prstGeom prst="rect">
                <a:avLst/>
              </a:prstGeom>
              <a:solidFill>
                <a:schemeClr val="accent1"/>
              </a:solidFill>
              <a:ln>
                <a:noFill/>
              </a:ln>
            </p:spPr>
          </p:sp>
          <p:sp>
            <p:nvSpPr>
              <p:cNvPr id="70" name="TextBox 70"/>
              <p:cNvSpPr txBox="1"/>
              <p:nvPr/>
            </p:nvSpPr>
            <p:spPr>
              <a:xfrm>
                <a:off x="4838169" y="4755356"/>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4.5</a:t>
                </a:r>
              </a:p>
            </p:txBody>
          </p:sp>
          <p:sp>
            <p:nvSpPr>
              <p:cNvPr id="71" name="Rectangle 71"/>
              <p:cNvSpPr/>
              <p:nvPr/>
            </p:nvSpPr>
            <p:spPr>
              <a:xfrm>
                <a:off x="5100638" y="5212080"/>
                <a:ext cx="285750" cy="160020"/>
              </a:xfrm>
              <a:prstGeom prst="rect">
                <a:avLst/>
              </a:prstGeom>
              <a:solidFill>
                <a:schemeClr val="accent2"/>
              </a:solidFill>
              <a:ln>
                <a:noFill/>
              </a:ln>
            </p:spPr>
          </p:sp>
          <p:sp>
            <p:nvSpPr>
              <p:cNvPr id="72" name="TextBox 72"/>
              <p:cNvSpPr txBox="1"/>
              <p:nvPr/>
            </p:nvSpPr>
            <p:spPr>
              <a:xfrm>
                <a:off x="5162019" y="5075396"/>
                <a:ext cx="162987" cy="161925"/>
              </a:xfrm>
              <a:prstGeom prst="rect">
                <a:avLst/>
              </a:prstGeom>
              <a:noFill/>
              <a:ln>
                <a:noFill/>
              </a:ln>
            </p:spPr>
            <p:txBody>
              <a:bodyPr wrap="none" lIns="0" tIns="0" rIns="0" bIns="0" anchor="t" anchorCtr="0">
                <a:spAutoFit/>
              </a:bodyPr>
              <a:lstStyle/>
              <a:p>
                <a:pPr algn="ctr"/>
                <a:r>
                  <a:rPr lang="zh-CN" sz="820" dirty="0">
                    <a:solidFill>
                      <a:schemeClr val="accent2"/>
                    </a:solidFill>
                    <a:latin typeface="Arial"/>
                    <a:ea typeface="Arial"/>
                    <a:cs typeface="Arial"/>
                  </a:rPr>
                  <a:t>1.5</a:t>
                </a:r>
              </a:p>
            </p:txBody>
          </p:sp>
          <p:sp>
            <p:nvSpPr>
              <p:cNvPr id="73" name="TextBox 73"/>
              <p:cNvSpPr txBox="1"/>
              <p:nvPr/>
            </p:nvSpPr>
            <p:spPr>
              <a:xfrm>
                <a:off x="4954029" y="542591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2022</a:t>
                </a:r>
              </a:p>
            </p:txBody>
          </p:sp>
          <p:sp>
            <p:nvSpPr>
              <p:cNvPr id="74" name="Rectangle 74"/>
              <p:cNvSpPr/>
              <p:nvPr/>
            </p:nvSpPr>
            <p:spPr>
              <a:xfrm>
                <a:off x="5719762" y="4785360"/>
                <a:ext cx="285750" cy="586740"/>
              </a:xfrm>
              <a:prstGeom prst="rect">
                <a:avLst/>
              </a:prstGeom>
              <a:solidFill>
                <a:schemeClr val="accent1"/>
              </a:solidFill>
              <a:ln>
                <a:noFill/>
              </a:ln>
            </p:spPr>
          </p:sp>
          <p:sp>
            <p:nvSpPr>
              <p:cNvPr id="75" name="TextBox 75"/>
              <p:cNvSpPr txBox="1"/>
              <p:nvPr/>
            </p:nvSpPr>
            <p:spPr>
              <a:xfrm>
                <a:off x="5781144" y="4648676"/>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5.5</a:t>
                </a:r>
              </a:p>
            </p:txBody>
          </p:sp>
          <p:sp>
            <p:nvSpPr>
              <p:cNvPr id="76" name="Rectangle 76"/>
              <p:cNvSpPr/>
              <p:nvPr/>
            </p:nvSpPr>
            <p:spPr>
              <a:xfrm>
                <a:off x="6043612" y="5084064"/>
                <a:ext cx="285750" cy="288036"/>
              </a:xfrm>
              <a:prstGeom prst="rect">
                <a:avLst/>
              </a:prstGeom>
              <a:solidFill>
                <a:schemeClr val="accent2"/>
              </a:solidFill>
              <a:ln>
                <a:noFill/>
              </a:ln>
            </p:spPr>
          </p:sp>
          <p:sp>
            <p:nvSpPr>
              <p:cNvPr id="77" name="TextBox 77"/>
              <p:cNvSpPr txBox="1"/>
              <p:nvPr/>
            </p:nvSpPr>
            <p:spPr>
              <a:xfrm>
                <a:off x="6104994" y="4947380"/>
                <a:ext cx="162987" cy="161925"/>
              </a:xfrm>
              <a:prstGeom prst="rect">
                <a:avLst/>
              </a:prstGeom>
              <a:noFill/>
              <a:ln>
                <a:noFill/>
              </a:ln>
            </p:spPr>
            <p:txBody>
              <a:bodyPr wrap="none" lIns="0" tIns="0" rIns="0" bIns="0" anchor="t" anchorCtr="0">
                <a:spAutoFit/>
              </a:bodyPr>
              <a:lstStyle/>
              <a:p>
                <a:pPr algn="ctr"/>
                <a:r>
                  <a:rPr lang="zh-CN" sz="820" dirty="0">
                    <a:solidFill>
                      <a:schemeClr val="accent2"/>
                    </a:solidFill>
                    <a:latin typeface="Arial"/>
                    <a:ea typeface="Arial"/>
                    <a:cs typeface="Arial"/>
                  </a:rPr>
                  <a:t>2.7</a:t>
                </a:r>
              </a:p>
            </p:txBody>
          </p:sp>
          <p:sp>
            <p:nvSpPr>
              <p:cNvPr id="78" name="TextBox 78"/>
              <p:cNvSpPr txBox="1"/>
              <p:nvPr/>
            </p:nvSpPr>
            <p:spPr>
              <a:xfrm>
                <a:off x="5897004" y="542591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2023</a:t>
                </a:r>
              </a:p>
            </p:txBody>
          </p:sp>
          <p:sp>
            <p:nvSpPr>
              <p:cNvPr id="79" name="Rectangle 79"/>
              <p:cNvSpPr/>
              <p:nvPr/>
            </p:nvSpPr>
            <p:spPr>
              <a:xfrm>
                <a:off x="6662738" y="4689348"/>
                <a:ext cx="285750" cy="682752"/>
              </a:xfrm>
              <a:prstGeom prst="rect">
                <a:avLst/>
              </a:prstGeom>
              <a:solidFill>
                <a:schemeClr val="accent1"/>
              </a:solidFill>
              <a:ln>
                <a:noFill/>
              </a:ln>
            </p:spPr>
          </p:sp>
          <p:sp>
            <p:nvSpPr>
              <p:cNvPr id="80" name="TextBox 80"/>
              <p:cNvSpPr txBox="1"/>
              <p:nvPr/>
            </p:nvSpPr>
            <p:spPr>
              <a:xfrm>
                <a:off x="6724119" y="4552664"/>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6.4</a:t>
                </a:r>
              </a:p>
            </p:txBody>
          </p:sp>
          <p:sp>
            <p:nvSpPr>
              <p:cNvPr id="81" name="Rectangle 81"/>
              <p:cNvSpPr/>
              <p:nvPr/>
            </p:nvSpPr>
            <p:spPr>
              <a:xfrm>
                <a:off x="6986588" y="4849368"/>
                <a:ext cx="285750" cy="522732"/>
              </a:xfrm>
              <a:prstGeom prst="rect">
                <a:avLst/>
              </a:prstGeom>
              <a:solidFill>
                <a:schemeClr val="accent2"/>
              </a:solidFill>
              <a:ln>
                <a:noFill/>
              </a:ln>
            </p:spPr>
          </p:sp>
          <p:sp>
            <p:nvSpPr>
              <p:cNvPr id="82" name="TextBox 82"/>
              <p:cNvSpPr txBox="1"/>
              <p:nvPr/>
            </p:nvSpPr>
            <p:spPr>
              <a:xfrm>
                <a:off x="7047969" y="4712684"/>
                <a:ext cx="162987" cy="161925"/>
              </a:xfrm>
              <a:prstGeom prst="rect">
                <a:avLst/>
              </a:prstGeom>
              <a:noFill/>
              <a:ln>
                <a:noFill/>
              </a:ln>
            </p:spPr>
            <p:txBody>
              <a:bodyPr wrap="none" lIns="0" tIns="0" rIns="0" bIns="0" anchor="t" anchorCtr="0">
                <a:spAutoFit/>
              </a:bodyPr>
              <a:lstStyle/>
              <a:p>
                <a:pPr algn="ctr"/>
                <a:r>
                  <a:rPr lang="zh-CN" sz="820" dirty="0">
                    <a:solidFill>
                      <a:schemeClr val="accent2"/>
                    </a:solidFill>
                    <a:latin typeface="Arial"/>
                    <a:ea typeface="Arial"/>
                    <a:cs typeface="Arial"/>
                  </a:rPr>
                  <a:t>4.9</a:t>
                </a:r>
              </a:p>
            </p:txBody>
          </p:sp>
          <p:sp>
            <p:nvSpPr>
              <p:cNvPr id="83" name="TextBox 83"/>
              <p:cNvSpPr txBox="1"/>
              <p:nvPr/>
            </p:nvSpPr>
            <p:spPr>
              <a:xfrm>
                <a:off x="6839979" y="542591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2024</a:t>
                </a:r>
              </a:p>
            </p:txBody>
          </p:sp>
          <p:sp>
            <p:nvSpPr>
              <p:cNvPr id="84" name="Rectangle 84"/>
              <p:cNvSpPr/>
              <p:nvPr/>
            </p:nvSpPr>
            <p:spPr>
              <a:xfrm>
                <a:off x="7605712" y="4497324"/>
                <a:ext cx="285750" cy="874776"/>
              </a:xfrm>
              <a:prstGeom prst="rect">
                <a:avLst/>
              </a:prstGeom>
              <a:solidFill>
                <a:schemeClr val="accent1"/>
              </a:solidFill>
              <a:ln>
                <a:noFill/>
              </a:ln>
            </p:spPr>
          </p:sp>
          <p:sp>
            <p:nvSpPr>
              <p:cNvPr id="85" name="TextBox 85"/>
              <p:cNvSpPr txBox="1"/>
              <p:nvPr/>
            </p:nvSpPr>
            <p:spPr>
              <a:xfrm>
                <a:off x="7667094" y="4360640"/>
                <a:ext cx="162987"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Arial"/>
                    <a:ea typeface="Arial"/>
                    <a:cs typeface="Arial"/>
                  </a:rPr>
                  <a:t>8.2</a:t>
                </a:r>
              </a:p>
            </p:txBody>
          </p:sp>
          <p:sp>
            <p:nvSpPr>
              <p:cNvPr id="86" name="Rectangle 86"/>
              <p:cNvSpPr/>
              <p:nvPr/>
            </p:nvSpPr>
            <p:spPr>
              <a:xfrm>
                <a:off x="7929562" y="4828032"/>
                <a:ext cx="285750" cy="544068"/>
              </a:xfrm>
              <a:prstGeom prst="rect">
                <a:avLst/>
              </a:prstGeom>
              <a:solidFill>
                <a:schemeClr val="accent2"/>
              </a:solidFill>
              <a:ln>
                <a:noFill/>
              </a:ln>
            </p:spPr>
          </p:sp>
          <p:sp>
            <p:nvSpPr>
              <p:cNvPr id="87" name="TextBox 87"/>
              <p:cNvSpPr txBox="1"/>
              <p:nvPr/>
            </p:nvSpPr>
            <p:spPr>
              <a:xfrm>
                <a:off x="7990944" y="4691348"/>
                <a:ext cx="162987" cy="161925"/>
              </a:xfrm>
              <a:prstGeom prst="rect">
                <a:avLst/>
              </a:prstGeom>
              <a:noFill/>
              <a:ln>
                <a:noFill/>
              </a:ln>
            </p:spPr>
            <p:txBody>
              <a:bodyPr wrap="none" lIns="0" tIns="0" rIns="0" bIns="0" anchor="t" anchorCtr="0">
                <a:spAutoFit/>
              </a:bodyPr>
              <a:lstStyle/>
              <a:p>
                <a:pPr algn="ctr"/>
                <a:r>
                  <a:rPr lang="zh-CN" sz="820" dirty="0">
                    <a:solidFill>
                      <a:schemeClr val="accent2"/>
                    </a:solidFill>
                    <a:latin typeface="Arial"/>
                    <a:ea typeface="Arial"/>
                    <a:cs typeface="Arial"/>
                  </a:rPr>
                  <a:t>5.1</a:t>
                </a:r>
              </a:p>
            </p:txBody>
          </p:sp>
          <p:sp>
            <p:nvSpPr>
              <p:cNvPr id="88" name="TextBox 88"/>
              <p:cNvSpPr txBox="1"/>
              <p:nvPr/>
            </p:nvSpPr>
            <p:spPr>
              <a:xfrm>
                <a:off x="7782954" y="5425916"/>
                <a:ext cx="255117" cy="161925"/>
              </a:xfrm>
              <a:prstGeom prst="rect">
                <a:avLst/>
              </a:prstGeom>
              <a:noFill/>
              <a:ln>
                <a:noFill/>
              </a:ln>
            </p:spPr>
            <p:txBody>
              <a:bodyPr wrap="none" lIns="0" tIns="0" rIns="0" bIns="0" anchor="t" anchorCtr="0">
                <a:spAutoFit/>
              </a:bodyPr>
              <a:lstStyle/>
              <a:p>
                <a:pPr algn="ctr"/>
                <a:r>
                  <a:rPr lang="zh-CN" sz="820" dirty="0">
                    <a:solidFill>
                      <a:schemeClr val="accent5"/>
                    </a:solidFill>
                    <a:latin typeface="Arial"/>
                    <a:ea typeface="Arial"/>
                    <a:cs typeface="Arial"/>
                  </a:rPr>
                  <a:t>2025</a:t>
                </a:r>
              </a:p>
            </p:txBody>
          </p:sp>
          <p:sp>
            <p:nvSpPr>
              <p:cNvPr id="89" name="Rectangle 89"/>
              <p:cNvSpPr/>
              <p:nvPr/>
            </p:nvSpPr>
            <p:spPr>
              <a:xfrm>
                <a:off x="4610100" y="5581650"/>
                <a:ext cx="95250" cy="95250"/>
              </a:xfrm>
              <a:prstGeom prst="rect">
                <a:avLst/>
              </a:prstGeom>
              <a:solidFill>
                <a:schemeClr val="accent1"/>
              </a:solidFill>
              <a:ln>
                <a:noFill/>
              </a:ln>
            </p:spPr>
          </p:sp>
          <p:sp>
            <p:nvSpPr>
              <p:cNvPr id="90" name="TextBox 90"/>
              <p:cNvSpPr txBox="1"/>
              <p:nvPr/>
            </p:nvSpPr>
            <p:spPr>
              <a:xfrm>
                <a:off x="4738688" y="5578316"/>
                <a:ext cx="201976"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BEV</a:t>
                </a:r>
              </a:p>
            </p:txBody>
          </p:sp>
          <p:sp>
            <p:nvSpPr>
              <p:cNvPr id="91" name="Rectangle 91"/>
              <p:cNvSpPr/>
              <p:nvPr/>
            </p:nvSpPr>
            <p:spPr>
              <a:xfrm>
                <a:off x="5286375" y="5581650"/>
                <a:ext cx="95250" cy="95250"/>
              </a:xfrm>
              <a:prstGeom prst="rect">
                <a:avLst/>
              </a:prstGeom>
              <a:solidFill>
                <a:schemeClr val="accent2"/>
              </a:solidFill>
              <a:ln>
                <a:noFill/>
              </a:ln>
            </p:spPr>
          </p:sp>
          <p:sp>
            <p:nvSpPr>
              <p:cNvPr id="92" name="TextBox 92"/>
              <p:cNvSpPr txBox="1"/>
              <p:nvPr/>
            </p:nvSpPr>
            <p:spPr>
              <a:xfrm>
                <a:off x="5414962" y="5578316"/>
                <a:ext cx="266126" cy="161925"/>
              </a:xfrm>
              <a:prstGeom prst="rect">
                <a:avLst/>
              </a:prstGeom>
              <a:noFill/>
              <a:ln>
                <a:noFill/>
              </a:ln>
            </p:spPr>
            <p:txBody>
              <a:bodyPr wrap="none" lIns="0" tIns="0" rIns="0" bIns="0" anchor="t" anchorCtr="0">
                <a:spAutoFit/>
              </a:bodyPr>
              <a:lstStyle/>
              <a:p>
                <a:pPr algn="l"/>
                <a:r>
                  <a:rPr lang="en-US" sz="820" dirty="0">
                    <a:solidFill>
                      <a:schemeClr val="dk1"/>
                    </a:solidFill>
                    <a:latin typeface="+mn-lt"/>
                    <a:ea typeface="+mn-ea"/>
                    <a:cs typeface="+mn-cs"/>
                  </a:rPr>
                  <a:t>PHEV</a:t>
                </a:r>
              </a:p>
            </p:txBody>
          </p:sp>
        </p:grpSp>
      </p:grpSp>
      <p:grpSp>
        <p:nvGrpSpPr>
          <p:cNvPr id="113" name="!!insight-column"/>
          <p:cNvGrpSpPr/>
          <p:nvPr/>
        </p:nvGrpSpPr>
        <p:grpSpPr>
          <a:xfrm>
            <a:off x="8720138" y="1587341"/>
            <a:ext cx="3014662" cy="4432459"/>
            <a:chOff x="8720138" y="1587341"/>
            <a:chExt cx="3014662" cy="4432459"/>
          </a:xfrm>
        </p:grpSpPr>
        <p:sp>
          <p:nvSpPr>
            <p:cNvPr id="95" name="TextBox 95"/>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96" name="Line 96"/>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97" name="Ellipse 97"/>
            <p:cNvSpPr/>
            <p:nvPr/>
          </p:nvSpPr>
          <p:spPr>
            <a:xfrm>
              <a:off x="8724900" y="1876425"/>
              <a:ext cx="152400" cy="152400"/>
            </a:xfrm>
            <a:prstGeom prst="ellipse">
              <a:avLst/>
            </a:prstGeom>
            <a:solidFill>
              <a:schemeClr val="accent1"/>
            </a:solidFill>
            <a:ln>
              <a:noFill/>
            </a:ln>
          </p:spPr>
        </p:sp>
        <p:sp>
          <p:nvSpPr>
            <p:cNvPr id="98" name="TextBox 98"/>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99" name="TextBox 99"/>
            <p:cNvSpPr txBox="1"/>
            <p:nvPr/>
          </p:nvSpPr>
          <p:spPr>
            <a:xfrm>
              <a:off x="8948166" y="1886902"/>
              <a:ext cx="246430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全球 2,100 万辆电动车里 PHEV 占 720 万</a:t>
              </a:r>
              <a:br/>
              <a:r>
                <a:rPr lang="zh-CN" sz="1050" dirty="0">
                  <a:solidFill>
                    <a:schemeClr val="dk1"/>
                  </a:solidFill>
                  <a:latin typeface="+mn-lt"/>
                  <a:ea typeface="+mn-ea"/>
                  <a:cs typeface="+mn-cs"/>
                </a:rPr>
                <a:t>(34%);2019 年以来 PHEV 增 12 倍,</a:t>
              </a:r>
              <a:br/>
              <a:r>
                <a:rPr lang="zh-CN" sz="1050" dirty="0">
                  <a:solidFill>
                    <a:schemeClr val="dk1"/>
                  </a:solidFill>
                  <a:latin typeface="+mn-lt"/>
                  <a:ea typeface="+mn-ea"/>
                  <a:cs typeface="+mn-cs"/>
                </a:rPr>
                <a:t>BEV 增 9 倍(A)。</a:t>
              </a:r>
            </a:p>
          </p:txBody>
        </p:sp>
        <p:sp>
          <p:nvSpPr>
            <p:cNvPr id="100" name="Ellipse 100"/>
            <p:cNvSpPr/>
            <p:nvPr/>
          </p:nvSpPr>
          <p:spPr>
            <a:xfrm>
              <a:off x="8724900" y="2600325"/>
              <a:ext cx="152400" cy="152400"/>
            </a:xfrm>
            <a:prstGeom prst="ellipse">
              <a:avLst/>
            </a:prstGeom>
            <a:solidFill>
              <a:schemeClr val="accent1"/>
            </a:solidFill>
            <a:ln>
              <a:noFill/>
            </a:ln>
          </p:spPr>
        </p:sp>
        <p:sp>
          <p:nvSpPr>
            <p:cNvPr id="101" name="TextBox 101"/>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102" name="TextBox 102"/>
            <p:cNvSpPr txBox="1"/>
            <p:nvPr/>
          </p:nvSpPr>
          <p:spPr>
            <a:xfrm>
              <a:off x="8948166" y="2610802"/>
              <a:ext cx="211093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中国 PHEV 占比 38%,三年从 150 万</a:t>
              </a:r>
              <a:br/>
              <a:r>
                <a:rPr lang="zh-CN" sz="1050" dirty="0">
                  <a:solidFill>
                    <a:schemeClr val="dk1"/>
                  </a:solidFill>
                  <a:latin typeface="+mn-lt"/>
                  <a:ea typeface="+mn-ea"/>
                  <a:cs typeface="+mn-cs"/>
                </a:rPr>
                <a:t>增到 510 万辆(3.4 倍),BEV 同期</a:t>
              </a:r>
              <a:br/>
              <a:r>
                <a:rPr lang="zh-CN" sz="1050" dirty="0">
                  <a:solidFill>
                    <a:schemeClr val="dk1"/>
                  </a:solidFill>
                  <a:latin typeface="+mn-lt"/>
                  <a:ea typeface="+mn-ea"/>
                  <a:cs typeface="+mn-cs"/>
                </a:rPr>
                <a:t>450 万→820 万辆(1.8 倍)(C)。</a:t>
              </a:r>
            </a:p>
          </p:txBody>
        </p:sp>
        <p:sp>
          <p:nvSpPr>
            <p:cNvPr id="103" name="Ellipse 103"/>
            <p:cNvSpPr/>
            <p:nvPr/>
          </p:nvSpPr>
          <p:spPr>
            <a:xfrm>
              <a:off x="8724900" y="3324225"/>
              <a:ext cx="152400" cy="152400"/>
            </a:xfrm>
            <a:prstGeom prst="ellipse">
              <a:avLst/>
            </a:prstGeom>
            <a:solidFill>
              <a:schemeClr val="accent1"/>
            </a:solidFill>
            <a:ln>
              <a:noFill/>
            </a:ln>
          </p:spPr>
        </p:sp>
        <p:sp>
          <p:nvSpPr>
            <p:cNvPr id="104" name="TextBox 104"/>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105" name="TextBox 105"/>
            <p:cNvSpPr txBox="1"/>
            <p:nvPr/>
          </p:nvSpPr>
          <p:spPr>
            <a:xfrm>
              <a:off x="8948166" y="3334702"/>
              <a:ext cx="219094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PHEV 占比与渗透率并不同向:美国</a:t>
              </a:r>
              <a:br/>
              <a:r>
                <a:rPr lang="zh-CN" sz="1050" dirty="0">
                  <a:solidFill>
                    <a:schemeClr val="dk1"/>
                  </a:solidFill>
                  <a:latin typeface="+mn-lt"/>
                  <a:ea typeface="+mn-ea"/>
                  <a:cs typeface="+mn-cs"/>
                </a:rPr>
                <a:t>渗透率 10%、PHEV 占比只有 22%,是</a:t>
              </a:r>
              <a:br/>
              <a:r>
                <a:rPr lang="zh-CN" sz="1050" dirty="0">
                  <a:solidFill>
                    <a:schemeClr val="dk1"/>
                  </a:solidFill>
                  <a:latin typeface="+mn-lt"/>
                  <a:ea typeface="+mn-ea"/>
                  <a:cs typeface="+mn-cs"/>
                </a:rPr>
                <a:t>唯一占比低于 25% 的大市场(B)。</a:t>
              </a:r>
            </a:p>
          </p:txBody>
        </p:sp>
        <p:sp>
          <p:nvSpPr>
            <p:cNvPr id="106" name="Ellipse 106"/>
            <p:cNvSpPr/>
            <p:nvPr/>
          </p:nvSpPr>
          <p:spPr>
            <a:xfrm>
              <a:off x="8724900" y="4048125"/>
              <a:ext cx="152400" cy="152400"/>
            </a:xfrm>
            <a:prstGeom prst="ellipse">
              <a:avLst/>
            </a:prstGeom>
            <a:solidFill>
              <a:schemeClr val="accent1"/>
            </a:solidFill>
            <a:ln>
              <a:noFill/>
            </a:ln>
          </p:spPr>
        </p:sp>
        <p:sp>
          <p:nvSpPr>
            <p:cNvPr id="107" name="TextBox 107"/>
            <p:cNvSpPr txBox="1"/>
            <p:nvPr/>
          </p:nvSpPr>
          <p:spPr>
            <a:xfrm>
              <a:off x="87682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108" name="TextBox 108"/>
            <p:cNvSpPr txBox="1"/>
            <p:nvPr/>
          </p:nvSpPr>
          <p:spPr>
            <a:xfrm>
              <a:off x="8948166" y="4058602"/>
              <a:ext cx="201091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推论:进入渗透率低于 10% 的市场</a:t>
              </a:r>
              <a:br/>
              <a:r>
                <a:rPr lang="zh-CN" sz="1050" dirty="0">
                  <a:solidFill>
                    <a:schemeClr val="dk1"/>
                  </a:solidFill>
                  <a:latin typeface="+mn-lt"/>
                  <a:ea typeface="+mn-ea"/>
                  <a:cs typeface="+mn-cs"/>
                </a:rPr>
                <a:t>(拉美、印度、东南亚多数国家),</a:t>
              </a:r>
              <a:br/>
              <a:r>
                <a:rPr lang="zh-CN" sz="1050" dirty="0">
                  <a:solidFill>
                    <a:schemeClr val="dk1"/>
                  </a:solidFill>
                  <a:latin typeface="+mn-lt"/>
                  <a:ea typeface="+mn-ea"/>
                  <a:cs typeface="+mn-cs"/>
                </a:rPr>
                <a:t>以 PHEV 先行、BEV 跟进。</a:t>
              </a:r>
            </a:p>
          </p:txBody>
        </p:sp>
        <p:sp>
          <p:nvSpPr>
            <p:cNvPr id="109" name="Rectangle 109"/>
            <p:cNvSpPr/>
            <p:nvPr/>
          </p:nvSpPr>
          <p:spPr>
            <a:xfrm>
              <a:off x="8724900" y="4914900"/>
              <a:ext cx="3009900" cy="1104900"/>
            </a:xfrm>
            <a:prstGeom prst="rect">
              <a:avLst/>
            </a:prstGeom>
            <a:solidFill>
              <a:srgbClr val="F7F7F7"/>
            </a:solidFill>
            <a:ln>
              <a:noFill/>
            </a:ln>
          </p:spPr>
        </p:sp>
        <p:sp>
          <p:nvSpPr>
            <p:cNvPr id="110" name="Rectangle 110"/>
            <p:cNvSpPr/>
            <p:nvPr/>
          </p:nvSpPr>
          <p:spPr>
            <a:xfrm>
              <a:off x="8724900" y="4914900"/>
              <a:ext cx="38100" cy="1104900"/>
            </a:xfrm>
            <a:prstGeom prst="rect">
              <a:avLst/>
            </a:prstGeom>
            <a:solidFill>
              <a:schemeClr val="accent2"/>
            </a:solidFill>
            <a:ln>
              <a:noFill/>
            </a:ln>
          </p:spPr>
        </p:sp>
        <p:sp>
          <p:nvSpPr>
            <p:cNvPr id="111" name="TextBox 111"/>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112" name="TextBox 112"/>
            <p:cNvSpPr txBox="1"/>
            <p:nvPr/>
          </p:nvSpPr>
          <p:spPr>
            <a:xfrm>
              <a:off x="8871966" y="5220652"/>
              <a:ext cx="219094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产品节奏改为 PHEV 先行:渗透率低于</a:t>
              </a:r>
              <a:br/>
              <a:r>
                <a:rPr lang="zh-CN" sz="1050" dirty="0">
                  <a:solidFill>
                    <a:schemeClr val="dk1"/>
                  </a:solidFill>
                  <a:latin typeface="+mn-lt"/>
                  <a:ea typeface="+mn-ea"/>
                  <a:cs typeface="+mn-cs"/>
                </a:rPr>
                <a:t>10% 的市场先上 PHEV,渗透率过 15%</a:t>
              </a:r>
              <a:br/>
              <a:r>
                <a:rPr lang="zh-CN" sz="1050" dirty="0">
                  <a:solidFill>
                    <a:schemeClr val="dk1"/>
                  </a:solidFill>
                  <a:latin typeface="+mn-lt"/>
                  <a:ea typeface="+mn-ea"/>
                  <a:cs typeface="+mn-cs"/>
                </a:rPr>
                <a:t>后 BEV 跟进(第 11 页)。</a:t>
              </a:r>
            </a:p>
          </p:txBody>
        </p:sp>
      </p:grpSp>
      <p:grpSp>
        <p:nvGrpSpPr>
          <p:cNvPr id="118" name="footer"/>
          <p:cNvGrpSpPr/>
          <p:nvPr/>
        </p:nvGrpSpPr>
        <p:grpSpPr>
          <a:xfrm>
            <a:off x="452438" y="6205538"/>
            <a:ext cx="11287125" cy="433388"/>
            <a:chOff x="452438" y="6205538"/>
            <a:chExt cx="11287125" cy="433388"/>
          </a:xfrm>
        </p:grpSpPr>
        <p:sp>
          <p:nvSpPr>
            <p:cNvPr id="114" name="TextBox 114"/>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115" name="TextBox 115"/>
            <p:cNvSpPr txBox="1"/>
            <p:nvPr/>
          </p:nvSpPr>
          <p:spPr>
            <a:xfrm>
              <a:off x="452438" y="6338888"/>
              <a:ext cx="4920139"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PHEV 占比 = PHEV ÷ (BEV + PHEV);中国 2022→2025 倍数:PHEV 5.1 ÷ 1.5 = 3.4,BEV 8.2 ÷ 4.5 = 1.8</a:t>
              </a:r>
            </a:p>
          </p:txBody>
        </p:sp>
        <p:sp>
          <p:nvSpPr>
            <p:cNvPr id="116" name="TextBox 116"/>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117" name="TextBox 117"/>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8</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id="13" presetID="22" presetClass="entr" presetSubtype="2" fill="hold" grpId="0" nodeType="afterEffect">
                                  <p:stCondLst>
                                    <p:cond delay="500"/>
                                  </p:stCondLst>
                                  <p:childTnLst>
                                    <p:set>
                                      <p:cBhvr>
                                        <p:cTn id="14" dur="1" fill="hold">
                                          <p:stCondLst>
                                            <p:cond delay="0"/>
                                          </p:stCondLst>
                                        </p:cTn>
                                        <p:tgtEl>
                                          <p:spTgt spid="29"/>
                                        </p:tgtEl>
                                        <p:attrNameLst>
                                          <p:attrName>style.visibility</p:attrName>
                                        </p:attrNameLst>
                                      </p:cBhvr>
                                      <p:to>
                                        <p:strVal val="visible"/>
                                      </p:to>
                                    </p:set>
                                    <p:animEffect transition="in" filter="wipe(right)">
                                      <p:cBhvr>
                                        <p:cTn id="15" dur="800"/>
                                        <p:tgtEl>
                                          <p:spTgt spid="29"/>
                                        </p:tgtEl>
                                      </p:cBhvr>
                                    </p:animEffect>
                                  </p:childTnLst>
                                </p:cTn>
                              </p:par>
                            </p:childTnLst>
                          </p:cTn>
                        </p:par>
                        <p:par>
                          <p:cTn id="16" fill="hold">
                            <p:stCondLst>
                              <p:cond delay="2300"/>
                            </p:stCondLst>
                            <p:childTnLst>
                              <p:par>
                                <p:cTn id="17" presetID="10" presetClass="entr" presetSubtype="0" fill="hold" grpId="0" nodeType="afterEffect">
                                  <p:stCondLst>
                                    <p:cond delay="5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300"/>
                                        <p:tgtEl>
                                          <p:spTgt spid="40"/>
                                        </p:tgtEl>
                                      </p:cBhvr>
                                    </p:animEffect>
                                  </p:childTnLst>
                                </p:cTn>
                              </p:par>
                            </p:childTnLst>
                          </p:cTn>
                        </p:par>
                        <p:par>
                          <p:cTn id="20" fill="hold">
                            <p:stCondLst>
                              <p:cond delay="3100"/>
                            </p:stCondLst>
                            <p:childTnLst>
                              <p:par>
                                <p:cTn id="21" presetID="10" presetClass="entr" presetSubtype="0" fill="hold" grpId="0" nodeType="afterEffect">
                                  <p:stCondLst>
                                    <p:cond delay="50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300"/>
                                        <p:tgtEl>
                                          <p:spTgt spid="42"/>
                                        </p:tgtEl>
                                      </p:cBhvr>
                                    </p:animEffect>
                                  </p:childTnLst>
                                </p:cTn>
                              </p:par>
                            </p:childTnLst>
                          </p:cTn>
                        </p:par>
                        <p:par>
                          <p:cTn id="24" fill="hold">
                            <p:stCondLst>
                              <p:cond delay="3900"/>
                            </p:stCondLst>
                            <p:childTnLst>
                              <p:par>
                                <p:cTn id="25" presetID="10" presetClass="entr" presetSubtype="0" fill="hold" grpId="0" nodeType="afterEffect">
                                  <p:stCondLst>
                                    <p:cond delay="50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200"/>
                                        <p:tgtEl>
                                          <p:spTgt spid="47"/>
                                        </p:tgtEl>
                                      </p:cBhvr>
                                    </p:animEffect>
                                  </p:childTnLst>
                                </p:cTn>
                              </p:par>
                            </p:childTnLst>
                          </p:cTn>
                        </p:par>
                        <p:par>
                          <p:cTn id="28" fill="hold">
                            <p:stCondLst>
                              <p:cond delay="4600"/>
                            </p:stCondLst>
                            <p:childTnLst>
                              <p:par>
                                <p:cTn id="29" presetID="22" presetClass="entr" presetSubtype="2" fill="hold" grpId="0" nodeType="afterEffect">
                                  <p:stCondLst>
                                    <p:cond delay="500"/>
                                  </p:stCondLst>
                                  <p:childTnLst>
                                    <p:set>
                                      <p:cBhvr>
                                        <p:cTn id="30" dur="1" fill="hold">
                                          <p:stCondLst>
                                            <p:cond delay="0"/>
                                          </p:stCondLst>
                                        </p:cTn>
                                        <p:tgtEl>
                                          <p:spTgt spid="62"/>
                                        </p:tgtEl>
                                        <p:attrNameLst>
                                          <p:attrName>style.visibility</p:attrName>
                                        </p:attrNameLst>
                                      </p:cBhvr>
                                      <p:to>
                                        <p:strVal val="visible"/>
                                      </p:to>
                                    </p:set>
                                    <p:animEffect transition="in" filter="wipe(right)">
                                      <p:cBhvr>
                                        <p:cTn id="31" dur="600"/>
                                        <p:tgtEl>
                                          <p:spTgt spid="62"/>
                                        </p:tgtEl>
                                      </p:cBhvr>
                                    </p:animEffect>
                                  </p:childTnLst>
                                </p:cTn>
                              </p:par>
                            </p:childTnLst>
                          </p:cTn>
                        </p:par>
                        <p:par>
                          <p:cTn id="32" fill="hold">
                            <p:stCondLst>
                              <p:cond delay="5700"/>
                            </p:stCondLst>
                            <p:childTnLst>
                              <p:par>
                                <p:cTn id="33" presetID="10" presetClass="entr" presetSubtype="0" fill="hold" grpId="0" nodeType="afterEffect">
                                  <p:stCondLst>
                                    <p:cond delay="500"/>
                                  </p:stCondLst>
                                  <p:childTnLst>
                                    <p:set>
                                      <p:cBhvr>
                                        <p:cTn id="34" dur="1" fill="hold">
                                          <p:stCondLst>
                                            <p:cond delay="0"/>
                                          </p:stCondLst>
                                        </p:cTn>
                                        <p:tgtEl>
                                          <p:spTgt spid="67"/>
                                        </p:tgtEl>
                                        <p:attrNameLst>
                                          <p:attrName>style.visibility</p:attrName>
                                        </p:attrNameLst>
                                      </p:cBhvr>
                                      <p:to>
                                        <p:strVal val="visible"/>
                                      </p:to>
                                    </p:set>
                                    <p:animEffect transition="in" filter="fade">
                                      <p:cBhvr>
                                        <p:cTn id="35" dur="200"/>
                                        <p:tgtEl>
                                          <p:spTgt spid="67"/>
                                        </p:tgtEl>
                                      </p:cBhvr>
                                    </p:animEffect>
                                  </p:childTnLst>
                                </p:cTn>
                              </p:par>
                            </p:childTnLst>
                          </p:cTn>
                        </p:par>
                        <p:par>
                          <p:cTn id="36" fill="hold">
                            <p:stCondLst>
                              <p:cond delay="6400"/>
                            </p:stCondLst>
                            <p:childTnLst>
                              <p:par>
                                <p:cTn id="37" presetID="22" presetClass="entr" presetSubtype="1" fill="hold" grpId="0" nodeType="afterEffect">
                                  <p:stCondLst>
                                    <p:cond delay="500"/>
                                  </p:stCondLst>
                                  <p:childTnLst>
                                    <p:set>
                                      <p:cBhvr>
                                        <p:cTn id="38" dur="1" fill="hold">
                                          <p:stCondLst>
                                            <p:cond delay="0"/>
                                          </p:stCondLst>
                                        </p:cTn>
                                        <p:tgtEl>
                                          <p:spTgt spid="94"/>
                                        </p:tgtEl>
                                        <p:attrNameLst>
                                          <p:attrName>style.visibility</p:attrName>
                                        </p:attrNameLst>
                                      </p:cBhvr>
                                      <p:to>
                                        <p:strVal val="visible"/>
                                      </p:to>
                                    </p:set>
                                    <p:animEffect transition="in" filter="wipe(up)">
                                      <p:cBhvr>
                                        <p:cTn id="39" dur="600"/>
                                        <p:tgtEl>
                                          <p:spTgt spid="94"/>
                                        </p:tgtEl>
                                      </p:cBhvr>
                                    </p:animEffect>
                                  </p:childTnLst>
                                </p:cTn>
                              </p:par>
                            </p:childTnLst>
                          </p:cTn>
                        </p:par>
                        <p:par>
                          <p:cTn id="40" fill="hold">
                            <p:stCondLst>
                              <p:cond delay="7500"/>
                            </p:stCondLst>
                            <p:childTnLst>
                              <p:par>
                                <p:cTn id="41" presetID="10" presetClass="entr" presetSubtype="0" fill="hold" grpId="0" nodeType="afterEffect">
                                  <p:stCondLst>
                                    <p:cond delay="500"/>
                                  </p:stCondLst>
                                  <p:childTnLst>
                                    <p:set>
                                      <p:cBhvr>
                                        <p:cTn id="42" dur="1" fill="hold">
                                          <p:stCondLst>
                                            <p:cond delay="0"/>
                                          </p:stCondLst>
                                        </p:cTn>
                                        <p:tgtEl>
                                          <p:spTgt spid="113"/>
                                        </p:tgtEl>
                                        <p:attrNameLst>
                                          <p:attrName>style.visibility</p:attrName>
                                        </p:attrNameLst>
                                      </p:cBhvr>
                                      <p:to>
                                        <p:strVal val="visible"/>
                                      </p:to>
                                    </p:set>
                                    <p:animEffect transition="in" filter="fade">
                                      <p:cBhvr>
                                        <p:cTn id="43" dur="4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565714" y="247650"/>
            <a:ext cx="1169086" cy="206216"/>
            <a:chOff x="10565714" y="247650"/>
            <a:chExt cx="1169086" cy="206216"/>
          </a:xfrm>
        </p:grpSpPr>
        <p:sp>
          <p:nvSpPr>
            <p:cNvPr id="2" name="TextBox 2"/>
            <p:cNvSpPr txBox="1"/>
            <p:nvPr/>
          </p:nvSpPr>
          <p:spPr>
            <a:xfrm>
              <a:off x="10565714" y="291941"/>
              <a:ext cx="24039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前瞻</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8564499" cy="637794"/>
            <a:chOff x="448056" y="472440"/>
            <a:chExt cx="8564499" cy="637794"/>
          </a:xfrm>
        </p:grpSpPr>
        <p:sp>
          <p:nvSpPr>
            <p:cNvPr id="6" name="TextBox 6"/>
            <p:cNvSpPr txBox="1"/>
            <p:nvPr/>
          </p:nvSpPr>
          <p:spPr>
            <a:xfrm>
              <a:off x="448056" y="472440"/>
              <a:ext cx="8564499"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到 2035 年的 3,400 万辆增量中,中国占 38%、欧洲 29%、印度与东南亚合计 12%,</a:t>
              </a:r>
              <a:br/>
              <a:r>
                <a:rPr lang="zh-CN" sz="1800" b="1" dirty="0">
                  <a:solidFill>
                    <a:schemeClr val="accent1"/>
                  </a:solidFill>
                  <a:latin typeface="+mn-lt"/>
                  <a:ea typeface="+mn-ea"/>
                  <a:cs typeface="+mn-cs"/>
                </a:rPr>
                <a:t>美国仅 5%——增量地图与今天的存量地图不同</a:t>
              </a:r>
            </a:p>
          </p:txBody>
        </p:sp>
      </p:grpSp>
      <p:grpSp>
        <p:nvGrpSpPr>
          <p:cNvPr id="9" name="unit-line"/>
          <p:cNvGrpSpPr/>
          <p:nvPr/>
        </p:nvGrpSpPr>
        <p:grpSpPr>
          <a:xfrm>
            <a:off x="452438" y="1160145"/>
            <a:ext cx="4350182" cy="176212"/>
            <a:chOff x="452438" y="1160145"/>
            <a:chExt cx="4350182" cy="176212"/>
          </a:xfrm>
        </p:grpSpPr>
        <p:sp>
          <p:nvSpPr>
            <p:cNvPr id="8" name="TextBox 8"/>
            <p:cNvSpPr txBox="1"/>
            <p:nvPr/>
          </p:nvSpPr>
          <p:spPr>
            <a:xfrm>
              <a:off x="452438" y="1160145"/>
              <a:ext cx="4350182"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2025→2035 电动车年销量增量分解,百万辆;IEA 既定政策情景(STEPS),仅供参照</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2265792" cy="349091"/>
            <a:chOff x="452438" y="1552575"/>
            <a:chExt cx="2265792"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2056433"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2025→2035 年销量增量按地区分解</a:t>
              </a:r>
            </a:p>
          </p:txBody>
        </p:sp>
        <p:sp>
          <p:nvSpPr>
            <p:cNvPr id="14" name="TextBox 14"/>
            <p:cNvSpPr txBox="1"/>
            <p:nvPr/>
          </p:nvSpPr>
          <p:spPr>
            <a:xfrm>
              <a:off x="452438" y="1739741"/>
              <a:ext cx="117412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百万辆;柱顶为各项增量</a:t>
              </a:r>
            </a:p>
          </p:txBody>
        </p:sp>
      </p:grpSp>
      <p:grpSp>
        <p:nvGrpSpPr>
          <p:cNvPr id="57" name="steps-waterfall"/>
          <p:cNvGrpSpPr/>
          <p:nvPr/>
        </p:nvGrpSpPr>
        <p:grpSpPr>
          <a:xfrm>
            <a:off x="533400" y="2116169"/>
            <a:ext cx="7848600" cy="1604772"/>
            <a:chOff x="533400" y="2116169"/>
            <a:chExt cx="7848600" cy="1604772"/>
          </a:xfrm>
        </p:grpSpPr>
        <p:grpSp>
          <p:nvGrpSpPr>
            <p:cNvPr id="56" name="steps-waterfall-chartArea"/>
            <p:cNvGrpSpPr/>
            <p:nvPr/>
          </p:nvGrpSpPr>
          <p:grpSpPr>
            <a:xfrm>
              <a:off x="533400" y="2116169"/>
              <a:ext cx="7848600" cy="1604772"/>
              <a:chOff x="533400" y="2116169"/>
              <a:chExt cx="7848600" cy="1604772"/>
            </a:xfrm>
          </p:grpSpPr>
          <p:sp>
            <p:nvSpPr>
              <p:cNvPr id="16" name="Line 16"/>
              <p:cNvSpPr/>
              <p:nvPr/>
            </p:nvSpPr>
            <p:spPr>
              <a:xfrm>
                <a:off x="533400" y="3505200"/>
                <a:ext cx="7848600" cy="9525"/>
              </a:xfrm>
              <a:custGeom>
                <a:avLst/>
                <a:gdLst/>
                <a:ahLst/>
                <a:cxnLst/>
                <a:rect l="l" t="t" r="r" b="b"/>
                <a:pathLst>
                  <a:path w="7848600" h="9525">
                    <a:moveTo>
                      <a:pt x="0" y="0"/>
                    </a:moveTo>
                    <a:lnTo>
                      <a:pt x="7848600" y="0"/>
                    </a:lnTo>
                  </a:path>
                </a:pathLst>
              </a:custGeom>
              <a:noFill/>
              <a:ln w="7144">
                <a:solidFill>
                  <a:schemeClr val="accent6"/>
                </a:solidFill>
              </a:ln>
            </p:spPr>
          </p:sp>
          <p:sp>
            <p:nvSpPr>
              <p:cNvPr id="17" name="Rectangle 17"/>
              <p:cNvSpPr/>
              <p:nvPr/>
            </p:nvSpPr>
            <p:spPr>
              <a:xfrm>
                <a:off x="697230" y="3027045"/>
                <a:ext cx="457200" cy="478155"/>
              </a:xfrm>
              <a:prstGeom prst="rect">
                <a:avLst/>
              </a:prstGeom>
              <a:solidFill>
                <a:schemeClr val="accent1"/>
              </a:solidFill>
              <a:ln>
                <a:noFill/>
              </a:ln>
            </p:spPr>
          </p:sp>
          <p:sp>
            <p:nvSpPr>
              <p:cNvPr id="18" name="TextBox 18"/>
              <p:cNvSpPr txBox="1"/>
              <p:nvPr/>
            </p:nvSpPr>
            <p:spPr>
              <a:xfrm>
                <a:off x="813638" y="2890361"/>
                <a:ext cx="224385"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21.0</a:t>
                </a:r>
              </a:p>
            </p:txBody>
          </p:sp>
          <p:sp>
            <p:nvSpPr>
              <p:cNvPr id="19" name="TextBox 19"/>
              <p:cNvSpPr txBox="1"/>
              <p:nvPr/>
            </p:nvSpPr>
            <p:spPr>
              <a:xfrm>
                <a:off x="617499" y="3559016"/>
                <a:ext cx="616661"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mn-lt"/>
                    <a:ea typeface="+mn-ea"/>
                    <a:cs typeface="+mn-cs"/>
                  </a:rPr>
                  <a:t>2025 年销量</a:t>
                </a:r>
              </a:p>
            </p:txBody>
          </p:sp>
          <p:sp>
            <p:nvSpPr>
              <p:cNvPr id="20" name="Rectangle 20"/>
              <p:cNvSpPr/>
              <p:nvPr/>
            </p:nvSpPr>
            <p:spPr>
              <a:xfrm>
                <a:off x="1482090" y="2731008"/>
                <a:ext cx="457200" cy="296037"/>
              </a:xfrm>
              <a:prstGeom prst="rect">
                <a:avLst/>
              </a:prstGeom>
              <a:solidFill>
                <a:schemeClr val="accent3"/>
              </a:solidFill>
              <a:ln>
                <a:noFill/>
              </a:ln>
            </p:spPr>
          </p:sp>
          <p:sp>
            <p:nvSpPr>
              <p:cNvPr id="21" name="TextBox 21"/>
              <p:cNvSpPr txBox="1"/>
              <p:nvPr/>
            </p:nvSpPr>
            <p:spPr>
              <a:xfrm>
                <a:off x="1566264" y="2594324"/>
                <a:ext cx="288852"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+13.0</a:t>
                </a:r>
              </a:p>
            </p:txBody>
          </p:sp>
          <p:sp>
            <p:nvSpPr>
              <p:cNvPr id="22" name="TextBox 22"/>
              <p:cNvSpPr txBox="1"/>
              <p:nvPr/>
            </p:nvSpPr>
            <p:spPr>
              <a:xfrm>
                <a:off x="1595539" y="3559016"/>
                <a:ext cx="230302"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mn-lt"/>
                    <a:ea typeface="+mn-ea"/>
                    <a:cs typeface="+mn-cs"/>
                  </a:rPr>
                  <a:t>中国</a:t>
                </a:r>
              </a:p>
            </p:txBody>
          </p:sp>
          <p:sp>
            <p:nvSpPr>
              <p:cNvPr id="23" name="Rectangle 23"/>
              <p:cNvSpPr/>
              <p:nvPr/>
            </p:nvSpPr>
            <p:spPr>
              <a:xfrm>
                <a:off x="2266950" y="2507837"/>
                <a:ext cx="457200" cy="223171"/>
              </a:xfrm>
              <a:prstGeom prst="rect">
                <a:avLst/>
              </a:prstGeom>
              <a:solidFill>
                <a:schemeClr val="accent3"/>
              </a:solidFill>
              <a:ln>
                <a:noFill/>
              </a:ln>
            </p:spPr>
          </p:sp>
          <p:sp>
            <p:nvSpPr>
              <p:cNvPr id="24" name="TextBox 24"/>
              <p:cNvSpPr txBox="1"/>
              <p:nvPr/>
            </p:nvSpPr>
            <p:spPr>
              <a:xfrm>
                <a:off x="2381823" y="2371154"/>
                <a:ext cx="227454"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+9.8</a:t>
                </a:r>
              </a:p>
            </p:txBody>
          </p:sp>
          <p:sp>
            <p:nvSpPr>
              <p:cNvPr id="25" name="TextBox 25"/>
              <p:cNvSpPr txBox="1"/>
              <p:nvPr/>
            </p:nvSpPr>
            <p:spPr>
              <a:xfrm>
                <a:off x="2380399" y="3559016"/>
                <a:ext cx="230302"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mn-lt"/>
                    <a:ea typeface="+mn-ea"/>
                    <a:cs typeface="+mn-cs"/>
                  </a:rPr>
                  <a:t>欧洲</a:t>
                </a:r>
              </a:p>
            </p:txBody>
          </p:sp>
          <p:sp>
            <p:nvSpPr>
              <p:cNvPr id="26" name="Rectangle 26"/>
              <p:cNvSpPr/>
              <p:nvPr/>
            </p:nvSpPr>
            <p:spPr>
              <a:xfrm>
                <a:off x="3051810" y="2458688"/>
                <a:ext cx="457200" cy="49149"/>
              </a:xfrm>
              <a:prstGeom prst="rect">
                <a:avLst/>
              </a:prstGeom>
              <a:solidFill>
                <a:schemeClr val="accent2"/>
              </a:solidFill>
              <a:ln>
                <a:noFill/>
              </a:ln>
            </p:spPr>
          </p:sp>
          <p:sp>
            <p:nvSpPr>
              <p:cNvPr id="27" name="TextBox 27"/>
              <p:cNvSpPr txBox="1"/>
              <p:nvPr/>
            </p:nvSpPr>
            <p:spPr>
              <a:xfrm>
                <a:off x="3166683" y="2322004"/>
                <a:ext cx="227454"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+2.2</a:t>
                </a:r>
              </a:p>
            </p:txBody>
          </p:sp>
          <p:sp>
            <p:nvSpPr>
              <p:cNvPr id="28" name="TextBox 28"/>
              <p:cNvSpPr txBox="1"/>
              <p:nvPr/>
            </p:nvSpPr>
            <p:spPr>
              <a:xfrm>
                <a:off x="3110065" y="3559016"/>
                <a:ext cx="340690"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mn-lt"/>
                    <a:ea typeface="+mn-ea"/>
                    <a:cs typeface="+mn-cs"/>
                  </a:rPr>
                  <a:t>东南亚</a:t>
                </a:r>
              </a:p>
            </p:txBody>
          </p:sp>
          <p:sp>
            <p:nvSpPr>
              <p:cNvPr id="29" name="Rectangle 29"/>
              <p:cNvSpPr/>
              <p:nvPr/>
            </p:nvSpPr>
            <p:spPr>
              <a:xfrm>
                <a:off x="3836670" y="2414778"/>
                <a:ext cx="457200" cy="43910"/>
              </a:xfrm>
              <a:prstGeom prst="rect">
                <a:avLst/>
              </a:prstGeom>
              <a:solidFill>
                <a:schemeClr val="accent2"/>
              </a:solidFill>
              <a:ln>
                <a:noFill/>
              </a:ln>
            </p:spPr>
          </p:sp>
          <p:sp>
            <p:nvSpPr>
              <p:cNvPr id="30" name="TextBox 30"/>
              <p:cNvSpPr txBox="1"/>
              <p:nvPr/>
            </p:nvSpPr>
            <p:spPr>
              <a:xfrm>
                <a:off x="3951543" y="2278094"/>
                <a:ext cx="227454"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+1.9</a:t>
                </a:r>
              </a:p>
            </p:txBody>
          </p:sp>
          <p:sp>
            <p:nvSpPr>
              <p:cNvPr id="31" name="TextBox 31"/>
              <p:cNvSpPr txBox="1"/>
              <p:nvPr/>
            </p:nvSpPr>
            <p:spPr>
              <a:xfrm>
                <a:off x="3950119" y="3559016"/>
                <a:ext cx="230302"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mn-lt"/>
                    <a:ea typeface="+mn-ea"/>
                    <a:cs typeface="+mn-cs"/>
                  </a:rPr>
                  <a:t>印度</a:t>
                </a:r>
              </a:p>
            </p:txBody>
          </p:sp>
          <p:sp>
            <p:nvSpPr>
              <p:cNvPr id="32" name="Rectangle 32"/>
              <p:cNvSpPr/>
              <p:nvPr/>
            </p:nvSpPr>
            <p:spPr>
              <a:xfrm>
                <a:off x="4621530" y="2378297"/>
                <a:ext cx="457200" cy="36386"/>
              </a:xfrm>
              <a:prstGeom prst="rect">
                <a:avLst/>
              </a:prstGeom>
              <a:solidFill>
                <a:schemeClr val="accent3"/>
              </a:solidFill>
              <a:ln>
                <a:noFill/>
              </a:ln>
            </p:spPr>
          </p:sp>
          <p:sp>
            <p:nvSpPr>
              <p:cNvPr id="33" name="TextBox 33"/>
              <p:cNvSpPr txBox="1"/>
              <p:nvPr/>
            </p:nvSpPr>
            <p:spPr>
              <a:xfrm>
                <a:off x="4736403" y="2241614"/>
                <a:ext cx="227454"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+1.6</a:t>
                </a:r>
              </a:p>
            </p:txBody>
          </p:sp>
          <p:sp>
            <p:nvSpPr>
              <p:cNvPr id="34" name="TextBox 34"/>
              <p:cNvSpPr txBox="1"/>
              <p:nvPr/>
            </p:nvSpPr>
            <p:spPr>
              <a:xfrm>
                <a:off x="4734979" y="3559016"/>
                <a:ext cx="230302"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mn-lt"/>
                    <a:ea typeface="+mn-ea"/>
                    <a:cs typeface="+mn-cs"/>
                  </a:rPr>
                  <a:t>美国</a:t>
                </a:r>
              </a:p>
            </p:txBody>
          </p:sp>
          <p:sp>
            <p:nvSpPr>
              <p:cNvPr id="35" name="Rectangle 35"/>
              <p:cNvSpPr/>
              <p:nvPr/>
            </p:nvSpPr>
            <p:spPr>
              <a:xfrm>
                <a:off x="5406390" y="2363248"/>
                <a:ext cx="457200" cy="15050"/>
              </a:xfrm>
              <a:prstGeom prst="rect">
                <a:avLst/>
              </a:prstGeom>
              <a:solidFill>
                <a:schemeClr val="accent3"/>
              </a:solidFill>
              <a:ln>
                <a:noFill/>
              </a:ln>
            </p:spPr>
          </p:sp>
          <p:sp>
            <p:nvSpPr>
              <p:cNvPr id="36" name="TextBox 36"/>
              <p:cNvSpPr txBox="1"/>
              <p:nvPr/>
            </p:nvSpPr>
            <p:spPr>
              <a:xfrm>
                <a:off x="5521263" y="2226564"/>
                <a:ext cx="227454"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+0.7</a:t>
                </a:r>
              </a:p>
            </p:txBody>
          </p:sp>
          <p:sp>
            <p:nvSpPr>
              <p:cNvPr id="37" name="TextBox 37"/>
              <p:cNvSpPr txBox="1"/>
              <p:nvPr/>
            </p:nvSpPr>
            <p:spPr>
              <a:xfrm>
                <a:off x="5519839" y="3559016"/>
                <a:ext cx="230302"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mn-lt"/>
                    <a:ea typeface="+mn-ea"/>
                    <a:cs typeface="+mn-cs"/>
                  </a:rPr>
                  <a:t>韩国</a:t>
                </a:r>
              </a:p>
            </p:txBody>
          </p:sp>
          <p:sp>
            <p:nvSpPr>
              <p:cNvPr id="38" name="Rectangle 38"/>
              <p:cNvSpPr/>
              <p:nvPr/>
            </p:nvSpPr>
            <p:spPr>
              <a:xfrm>
                <a:off x="6191250" y="2349627"/>
                <a:ext cx="457200" cy="13621"/>
              </a:xfrm>
              <a:prstGeom prst="rect">
                <a:avLst/>
              </a:prstGeom>
              <a:solidFill>
                <a:schemeClr val="accent3"/>
              </a:solidFill>
              <a:ln>
                <a:noFill/>
              </a:ln>
            </p:spPr>
          </p:sp>
          <p:sp>
            <p:nvSpPr>
              <p:cNvPr id="39" name="TextBox 39"/>
              <p:cNvSpPr txBox="1"/>
              <p:nvPr/>
            </p:nvSpPr>
            <p:spPr>
              <a:xfrm>
                <a:off x="6306123" y="2212943"/>
                <a:ext cx="227454"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+0.6</a:t>
                </a:r>
              </a:p>
            </p:txBody>
          </p:sp>
          <p:sp>
            <p:nvSpPr>
              <p:cNvPr id="40" name="TextBox 40"/>
              <p:cNvSpPr txBox="1"/>
              <p:nvPr/>
            </p:nvSpPr>
            <p:spPr>
              <a:xfrm>
                <a:off x="6304699" y="3559016"/>
                <a:ext cx="230302"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mn-lt"/>
                    <a:ea typeface="+mn-ea"/>
                    <a:cs typeface="+mn-cs"/>
                  </a:rPr>
                  <a:t>日本</a:t>
                </a:r>
              </a:p>
            </p:txBody>
          </p:sp>
          <p:sp>
            <p:nvSpPr>
              <p:cNvPr id="41" name="Rectangle 41"/>
              <p:cNvSpPr/>
              <p:nvPr/>
            </p:nvSpPr>
            <p:spPr>
              <a:xfrm>
                <a:off x="6976110" y="2252853"/>
                <a:ext cx="457200" cy="96774"/>
              </a:xfrm>
              <a:prstGeom prst="rect">
                <a:avLst/>
              </a:prstGeom>
              <a:solidFill>
                <a:schemeClr val="accent3"/>
              </a:solidFill>
              <a:ln>
                <a:noFill/>
              </a:ln>
            </p:spPr>
          </p:sp>
          <p:sp>
            <p:nvSpPr>
              <p:cNvPr id="42" name="TextBox 42"/>
              <p:cNvSpPr txBox="1"/>
              <p:nvPr/>
            </p:nvSpPr>
            <p:spPr>
              <a:xfrm>
                <a:off x="7090983" y="2116169"/>
                <a:ext cx="227454"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+4.3</a:t>
                </a:r>
              </a:p>
            </p:txBody>
          </p:sp>
          <p:sp>
            <p:nvSpPr>
              <p:cNvPr id="43" name="TextBox 43"/>
              <p:cNvSpPr txBox="1"/>
              <p:nvPr/>
            </p:nvSpPr>
            <p:spPr>
              <a:xfrm>
                <a:off x="7089559" y="3559016"/>
                <a:ext cx="230302"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mn-lt"/>
                    <a:ea typeface="+mn-ea"/>
                    <a:cs typeface="+mn-cs"/>
                  </a:rPr>
                  <a:t>其他</a:t>
                </a:r>
              </a:p>
            </p:txBody>
          </p:sp>
          <p:sp>
            <p:nvSpPr>
              <p:cNvPr id="44" name="Rectangle 44"/>
              <p:cNvSpPr/>
              <p:nvPr/>
            </p:nvSpPr>
            <p:spPr>
              <a:xfrm>
                <a:off x="7760970" y="2252853"/>
                <a:ext cx="457200" cy="1252347"/>
              </a:xfrm>
              <a:prstGeom prst="rect">
                <a:avLst/>
              </a:prstGeom>
              <a:solidFill>
                <a:schemeClr val="accent1"/>
              </a:solidFill>
              <a:ln>
                <a:noFill/>
              </a:ln>
            </p:spPr>
          </p:sp>
          <p:sp>
            <p:nvSpPr>
              <p:cNvPr id="45" name="TextBox 45"/>
              <p:cNvSpPr txBox="1"/>
              <p:nvPr/>
            </p:nvSpPr>
            <p:spPr>
              <a:xfrm>
                <a:off x="7877378" y="2116169"/>
                <a:ext cx="224385" cy="161925"/>
              </a:xfrm>
              <a:prstGeom prst="rect">
                <a:avLst/>
              </a:prstGeom>
              <a:noFill/>
              <a:ln>
                <a:noFill/>
              </a:ln>
            </p:spPr>
            <p:txBody>
              <a:bodyPr wrap="none" lIns="0" tIns="0" rIns="0" bIns="0" anchor="t" anchorCtr="0">
                <a:spAutoFit/>
              </a:bodyPr>
              <a:lstStyle/>
              <a:p>
                <a:pPr algn="ctr"/>
                <a:r>
                  <a:rPr lang="zh-CN" sz="820" b="1" dirty="0">
                    <a:solidFill>
                      <a:schemeClr val="accent1"/>
                    </a:solidFill>
                    <a:latin typeface="Arial"/>
                    <a:ea typeface="Arial"/>
                    <a:cs typeface="Arial"/>
                  </a:rPr>
                  <a:t>55.0</a:t>
                </a:r>
              </a:p>
            </p:txBody>
          </p:sp>
          <p:sp>
            <p:nvSpPr>
              <p:cNvPr id="46" name="TextBox 46"/>
              <p:cNvSpPr txBox="1"/>
              <p:nvPr/>
            </p:nvSpPr>
            <p:spPr>
              <a:xfrm>
                <a:off x="7681239" y="3559016"/>
                <a:ext cx="616661" cy="161925"/>
              </a:xfrm>
              <a:prstGeom prst="rect">
                <a:avLst/>
              </a:prstGeom>
              <a:noFill/>
              <a:ln>
                <a:noFill/>
              </a:ln>
            </p:spPr>
            <p:txBody>
              <a:bodyPr wrap="none" lIns="0" tIns="0" rIns="0" bIns="0" anchor="t" anchorCtr="0">
                <a:spAutoFit/>
              </a:bodyPr>
              <a:lstStyle/>
              <a:p>
                <a:pPr algn="ctr"/>
                <a:r>
                  <a:rPr lang="zh-CN" sz="820" dirty="0">
                    <a:solidFill>
                      <a:schemeClr val="accent1"/>
                    </a:solidFill>
                    <a:latin typeface="+mn-lt"/>
                    <a:ea typeface="+mn-ea"/>
                    <a:cs typeface="+mn-cs"/>
                  </a:rPr>
                  <a:t>2035 年情景</a:t>
                </a:r>
              </a:p>
            </p:txBody>
          </p:sp>
          <p:sp>
            <p:nvSpPr>
              <p:cNvPr id="47" name="Line 47"/>
              <p:cNvSpPr/>
              <p:nvPr/>
            </p:nvSpPr>
            <p:spPr>
              <a:xfrm>
                <a:off x="1154430" y="3027045"/>
                <a:ext cx="327660" cy="9525"/>
              </a:xfrm>
              <a:custGeom>
                <a:avLst/>
                <a:gdLst/>
                <a:ahLst/>
                <a:cxnLst/>
                <a:rect l="l" t="t" r="r" b="b"/>
                <a:pathLst>
                  <a:path w="327660" h="9525">
                    <a:moveTo>
                      <a:pt x="0" y="0"/>
                    </a:moveTo>
                    <a:lnTo>
                      <a:pt x="327660" y="0"/>
                    </a:lnTo>
                  </a:path>
                </a:pathLst>
              </a:custGeom>
              <a:noFill/>
              <a:ln w="7144">
                <a:solidFill>
                  <a:schemeClr val="accent6"/>
                </a:solidFill>
                <a:custDash>
                  <a:ds d="400000" sp="400000"/>
                </a:custDash>
              </a:ln>
            </p:spPr>
          </p:sp>
          <p:sp>
            <p:nvSpPr>
              <p:cNvPr id="48" name="Line 48"/>
              <p:cNvSpPr/>
              <p:nvPr/>
            </p:nvSpPr>
            <p:spPr>
              <a:xfrm>
                <a:off x="1939290" y="2731008"/>
                <a:ext cx="327660" cy="9525"/>
              </a:xfrm>
              <a:custGeom>
                <a:avLst/>
                <a:gdLst/>
                <a:ahLst/>
                <a:cxnLst/>
                <a:rect l="l" t="t" r="r" b="b"/>
                <a:pathLst>
                  <a:path w="327660" h="9525">
                    <a:moveTo>
                      <a:pt x="0" y="0"/>
                    </a:moveTo>
                    <a:lnTo>
                      <a:pt x="327660" y="0"/>
                    </a:lnTo>
                  </a:path>
                </a:pathLst>
              </a:custGeom>
              <a:noFill/>
              <a:ln w="7144">
                <a:solidFill>
                  <a:schemeClr val="accent6"/>
                </a:solidFill>
                <a:custDash>
                  <a:ds d="400000" sp="400000"/>
                </a:custDash>
              </a:ln>
            </p:spPr>
          </p:sp>
          <p:sp>
            <p:nvSpPr>
              <p:cNvPr id="49" name="Line 49"/>
              <p:cNvSpPr/>
              <p:nvPr/>
            </p:nvSpPr>
            <p:spPr>
              <a:xfrm>
                <a:off x="2724150" y="2507837"/>
                <a:ext cx="327660" cy="9525"/>
              </a:xfrm>
              <a:custGeom>
                <a:avLst/>
                <a:gdLst/>
                <a:ahLst/>
                <a:cxnLst/>
                <a:rect l="l" t="t" r="r" b="b"/>
                <a:pathLst>
                  <a:path w="327660" h="9525">
                    <a:moveTo>
                      <a:pt x="0" y="0"/>
                    </a:moveTo>
                    <a:lnTo>
                      <a:pt x="327660" y="0"/>
                    </a:lnTo>
                  </a:path>
                </a:pathLst>
              </a:custGeom>
              <a:noFill/>
              <a:ln w="7144">
                <a:solidFill>
                  <a:schemeClr val="accent6"/>
                </a:solidFill>
                <a:custDash>
                  <a:ds d="400000" sp="400000"/>
                </a:custDash>
              </a:ln>
            </p:spPr>
          </p:sp>
          <p:sp>
            <p:nvSpPr>
              <p:cNvPr id="50" name="Line 50"/>
              <p:cNvSpPr/>
              <p:nvPr/>
            </p:nvSpPr>
            <p:spPr>
              <a:xfrm>
                <a:off x="3509010" y="2458688"/>
                <a:ext cx="327660" cy="9525"/>
              </a:xfrm>
              <a:custGeom>
                <a:avLst/>
                <a:gdLst/>
                <a:ahLst/>
                <a:cxnLst/>
                <a:rect l="l" t="t" r="r" b="b"/>
                <a:pathLst>
                  <a:path w="327660" h="9525">
                    <a:moveTo>
                      <a:pt x="0" y="0"/>
                    </a:moveTo>
                    <a:lnTo>
                      <a:pt x="327660" y="0"/>
                    </a:lnTo>
                  </a:path>
                </a:pathLst>
              </a:custGeom>
              <a:noFill/>
              <a:ln w="7144">
                <a:solidFill>
                  <a:schemeClr val="accent6"/>
                </a:solidFill>
                <a:custDash>
                  <a:ds d="400000" sp="400000"/>
                </a:custDash>
              </a:ln>
            </p:spPr>
          </p:sp>
          <p:sp>
            <p:nvSpPr>
              <p:cNvPr id="51" name="Line 51"/>
              <p:cNvSpPr/>
              <p:nvPr/>
            </p:nvSpPr>
            <p:spPr>
              <a:xfrm>
                <a:off x="4293870" y="2414778"/>
                <a:ext cx="327660" cy="9525"/>
              </a:xfrm>
              <a:custGeom>
                <a:avLst/>
                <a:gdLst/>
                <a:ahLst/>
                <a:cxnLst/>
                <a:rect l="l" t="t" r="r" b="b"/>
                <a:pathLst>
                  <a:path w="327660" h="9525">
                    <a:moveTo>
                      <a:pt x="0" y="0"/>
                    </a:moveTo>
                    <a:lnTo>
                      <a:pt x="327660" y="0"/>
                    </a:lnTo>
                  </a:path>
                </a:pathLst>
              </a:custGeom>
              <a:noFill/>
              <a:ln w="7144">
                <a:solidFill>
                  <a:schemeClr val="accent6"/>
                </a:solidFill>
                <a:custDash>
                  <a:ds d="400000" sp="400000"/>
                </a:custDash>
              </a:ln>
            </p:spPr>
          </p:sp>
          <p:sp>
            <p:nvSpPr>
              <p:cNvPr id="52" name="Line 52"/>
              <p:cNvSpPr/>
              <p:nvPr/>
            </p:nvSpPr>
            <p:spPr>
              <a:xfrm>
                <a:off x="5078730" y="2378297"/>
                <a:ext cx="327660" cy="9525"/>
              </a:xfrm>
              <a:custGeom>
                <a:avLst/>
                <a:gdLst/>
                <a:ahLst/>
                <a:cxnLst/>
                <a:rect l="l" t="t" r="r" b="b"/>
                <a:pathLst>
                  <a:path w="327660" h="9525">
                    <a:moveTo>
                      <a:pt x="0" y="0"/>
                    </a:moveTo>
                    <a:lnTo>
                      <a:pt x="327660" y="0"/>
                    </a:lnTo>
                  </a:path>
                </a:pathLst>
              </a:custGeom>
              <a:noFill/>
              <a:ln w="7144">
                <a:solidFill>
                  <a:schemeClr val="accent6"/>
                </a:solidFill>
                <a:custDash>
                  <a:ds d="400000" sp="400000"/>
                </a:custDash>
              </a:ln>
            </p:spPr>
          </p:sp>
          <p:sp>
            <p:nvSpPr>
              <p:cNvPr id="53" name="Line 53"/>
              <p:cNvSpPr/>
              <p:nvPr/>
            </p:nvSpPr>
            <p:spPr>
              <a:xfrm>
                <a:off x="5863590" y="2363248"/>
                <a:ext cx="327660" cy="9525"/>
              </a:xfrm>
              <a:custGeom>
                <a:avLst/>
                <a:gdLst/>
                <a:ahLst/>
                <a:cxnLst/>
                <a:rect l="l" t="t" r="r" b="b"/>
                <a:pathLst>
                  <a:path w="327660" h="9525">
                    <a:moveTo>
                      <a:pt x="0" y="0"/>
                    </a:moveTo>
                    <a:lnTo>
                      <a:pt x="327660" y="0"/>
                    </a:lnTo>
                  </a:path>
                </a:pathLst>
              </a:custGeom>
              <a:noFill/>
              <a:ln w="7144">
                <a:solidFill>
                  <a:schemeClr val="accent6"/>
                </a:solidFill>
                <a:custDash>
                  <a:ds d="400000" sp="400000"/>
                </a:custDash>
              </a:ln>
            </p:spPr>
          </p:sp>
          <p:sp>
            <p:nvSpPr>
              <p:cNvPr id="54" name="Line 54"/>
              <p:cNvSpPr/>
              <p:nvPr/>
            </p:nvSpPr>
            <p:spPr>
              <a:xfrm>
                <a:off x="6648450" y="2349627"/>
                <a:ext cx="327660" cy="9525"/>
              </a:xfrm>
              <a:custGeom>
                <a:avLst/>
                <a:gdLst/>
                <a:ahLst/>
                <a:cxnLst/>
                <a:rect l="l" t="t" r="r" b="b"/>
                <a:pathLst>
                  <a:path w="327660" h="9525">
                    <a:moveTo>
                      <a:pt x="0" y="0"/>
                    </a:moveTo>
                    <a:lnTo>
                      <a:pt x="327660" y="0"/>
                    </a:lnTo>
                  </a:path>
                </a:pathLst>
              </a:custGeom>
              <a:noFill/>
              <a:ln w="7144">
                <a:solidFill>
                  <a:schemeClr val="accent6"/>
                </a:solidFill>
                <a:custDash>
                  <a:ds d="400000" sp="400000"/>
                </a:custDash>
              </a:ln>
            </p:spPr>
          </p:sp>
          <p:sp>
            <p:nvSpPr>
              <p:cNvPr id="55" name="Line 55"/>
              <p:cNvSpPr/>
              <p:nvPr/>
            </p:nvSpPr>
            <p:spPr>
              <a:xfrm>
                <a:off x="7433310" y="2252853"/>
                <a:ext cx="327660" cy="9525"/>
              </a:xfrm>
              <a:custGeom>
                <a:avLst/>
                <a:gdLst/>
                <a:ahLst/>
                <a:cxnLst/>
                <a:rect l="l" t="t" r="r" b="b"/>
                <a:pathLst>
                  <a:path w="327660" h="9525">
                    <a:moveTo>
                      <a:pt x="0" y="0"/>
                    </a:moveTo>
                    <a:lnTo>
                      <a:pt x="327660" y="0"/>
                    </a:lnTo>
                  </a:path>
                </a:pathLst>
              </a:custGeom>
              <a:noFill/>
              <a:ln w="7144">
                <a:solidFill>
                  <a:schemeClr val="accent6"/>
                </a:solidFill>
                <a:custDash>
                  <a:ds d="400000" sp="400000"/>
                </a:custDash>
              </a:ln>
            </p:spPr>
          </p:sp>
        </p:grpSp>
      </p:grpSp>
      <p:grpSp>
        <p:nvGrpSpPr>
          <p:cNvPr id="70" name="increment-share"/>
          <p:cNvGrpSpPr/>
          <p:nvPr/>
        </p:nvGrpSpPr>
        <p:grpSpPr>
          <a:xfrm>
            <a:off x="452438" y="3960495"/>
            <a:ext cx="8005762" cy="423862"/>
            <a:chOff x="452438" y="3960495"/>
            <a:chExt cx="8005762" cy="423862"/>
          </a:xfrm>
        </p:grpSpPr>
        <p:sp>
          <p:nvSpPr>
            <p:cNvPr id="58" name="TextBox 58"/>
            <p:cNvSpPr txBox="1"/>
            <p:nvPr/>
          </p:nvSpPr>
          <p:spPr>
            <a:xfrm>
              <a:off x="452438" y="39604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占总增量比例</a:t>
              </a:r>
            </a:p>
          </p:txBody>
        </p:sp>
        <p:sp>
          <p:nvSpPr>
            <p:cNvPr id="59" name="Line 59"/>
            <p:cNvSpPr/>
            <p:nvPr/>
          </p:nvSpPr>
          <p:spPr>
            <a:xfrm>
              <a:off x="457200" y="413385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60" name="TextBox 60"/>
            <p:cNvSpPr txBox="1"/>
            <p:nvPr/>
          </p:nvSpPr>
          <p:spPr>
            <a:xfrm>
              <a:off x="1268158" y="4208145"/>
              <a:ext cx="130683"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Arial"/>
                  <a:ea typeface="Arial"/>
                  <a:cs typeface="Arial"/>
                </a:rPr>
                <a:t>—</a:t>
              </a:r>
            </a:p>
          </p:txBody>
        </p:sp>
        <p:sp>
          <p:nvSpPr>
            <p:cNvPr id="61" name="TextBox 61"/>
            <p:cNvSpPr txBox="1"/>
            <p:nvPr/>
          </p:nvSpPr>
          <p:spPr>
            <a:xfrm>
              <a:off x="1988533" y="4208145"/>
              <a:ext cx="252035" cy="176212"/>
            </a:xfrm>
            <a:prstGeom prst="rect">
              <a:avLst/>
            </a:prstGeom>
            <a:noFill/>
            <a:ln>
              <a:noFill/>
            </a:ln>
          </p:spPr>
          <p:txBody>
            <a:bodyPr wrap="none" lIns="0" tIns="0" rIns="0" bIns="0" anchor="t" anchorCtr="0">
              <a:spAutoFit/>
            </a:bodyPr>
            <a:lstStyle/>
            <a:p>
              <a:pPr algn="ctr"/>
              <a:r>
                <a:rPr lang="zh-CN" sz="900" b="1" dirty="0">
                  <a:solidFill>
                    <a:schemeClr val="accent1"/>
                  </a:solidFill>
                  <a:latin typeface="Arial"/>
                  <a:ea typeface="Arial"/>
                  <a:cs typeface="Arial"/>
                </a:rPr>
                <a:t>38%</a:t>
              </a:r>
            </a:p>
          </p:txBody>
        </p:sp>
        <p:sp>
          <p:nvSpPr>
            <p:cNvPr id="62" name="TextBox 62"/>
            <p:cNvSpPr txBox="1"/>
            <p:nvPr/>
          </p:nvSpPr>
          <p:spPr>
            <a:xfrm>
              <a:off x="2769583" y="4208145"/>
              <a:ext cx="252035" cy="176212"/>
            </a:xfrm>
            <a:prstGeom prst="rect">
              <a:avLst/>
            </a:prstGeom>
            <a:noFill/>
            <a:ln>
              <a:noFill/>
            </a:ln>
          </p:spPr>
          <p:txBody>
            <a:bodyPr wrap="none" lIns="0" tIns="0" rIns="0" bIns="0" anchor="t" anchorCtr="0">
              <a:spAutoFit/>
            </a:bodyPr>
            <a:lstStyle/>
            <a:p>
              <a:pPr algn="ctr"/>
              <a:r>
                <a:rPr lang="zh-CN" sz="900" b="1" dirty="0">
                  <a:solidFill>
                    <a:schemeClr val="accent1"/>
                  </a:solidFill>
                  <a:latin typeface="Arial"/>
                  <a:ea typeface="Arial"/>
                  <a:cs typeface="Arial"/>
                </a:rPr>
                <a:t>29%</a:t>
              </a:r>
            </a:p>
          </p:txBody>
        </p:sp>
        <p:sp>
          <p:nvSpPr>
            <p:cNvPr id="63" name="TextBox 63"/>
            <p:cNvSpPr txBox="1"/>
            <p:nvPr/>
          </p:nvSpPr>
          <p:spPr>
            <a:xfrm>
              <a:off x="3584327" y="4208145"/>
              <a:ext cx="184647" cy="176212"/>
            </a:xfrm>
            <a:prstGeom prst="rect">
              <a:avLst/>
            </a:prstGeom>
            <a:noFill/>
            <a:ln>
              <a:noFill/>
            </a:ln>
          </p:spPr>
          <p:txBody>
            <a:bodyPr wrap="none" lIns="0" tIns="0" rIns="0" bIns="0" anchor="t" anchorCtr="0">
              <a:spAutoFit/>
            </a:bodyPr>
            <a:lstStyle/>
            <a:p>
              <a:pPr algn="ctr"/>
              <a:r>
                <a:rPr lang="zh-CN" sz="900" b="1" dirty="0">
                  <a:solidFill>
                    <a:schemeClr val="accent2"/>
                  </a:solidFill>
                  <a:latin typeface="Arial"/>
                  <a:ea typeface="Arial"/>
                  <a:cs typeface="Arial"/>
                </a:rPr>
                <a:t>6%</a:t>
              </a:r>
            </a:p>
          </p:txBody>
        </p:sp>
        <p:sp>
          <p:nvSpPr>
            <p:cNvPr id="64" name="TextBox 64"/>
            <p:cNvSpPr txBox="1"/>
            <p:nvPr/>
          </p:nvSpPr>
          <p:spPr>
            <a:xfrm>
              <a:off x="4365377" y="4208145"/>
              <a:ext cx="184647" cy="176212"/>
            </a:xfrm>
            <a:prstGeom prst="rect">
              <a:avLst/>
            </a:prstGeom>
            <a:noFill/>
            <a:ln>
              <a:noFill/>
            </a:ln>
          </p:spPr>
          <p:txBody>
            <a:bodyPr wrap="none" lIns="0" tIns="0" rIns="0" bIns="0" anchor="t" anchorCtr="0">
              <a:spAutoFit/>
            </a:bodyPr>
            <a:lstStyle/>
            <a:p>
              <a:pPr algn="ctr"/>
              <a:r>
                <a:rPr lang="zh-CN" sz="900" b="1" dirty="0">
                  <a:solidFill>
                    <a:schemeClr val="accent2"/>
                  </a:solidFill>
                  <a:latin typeface="Arial"/>
                  <a:ea typeface="Arial"/>
                  <a:cs typeface="Arial"/>
                </a:rPr>
                <a:t>6%</a:t>
              </a:r>
            </a:p>
          </p:txBody>
        </p:sp>
        <p:sp>
          <p:nvSpPr>
            <p:cNvPr id="65" name="TextBox 65"/>
            <p:cNvSpPr txBox="1"/>
            <p:nvPr/>
          </p:nvSpPr>
          <p:spPr>
            <a:xfrm>
              <a:off x="5146427" y="4208145"/>
              <a:ext cx="184647" cy="176212"/>
            </a:xfrm>
            <a:prstGeom prst="rect">
              <a:avLst/>
            </a:prstGeom>
            <a:noFill/>
            <a:ln>
              <a:noFill/>
            </a:ln>
          </p:spPr>
          <p:txBody>
            <a:bodyPr wrap="none" lIns="0" tIns="0" rIns="0" bIns="0" anchor="t" anchorCtr="0">
              <a:spAutoFit/>
            </a:bodyPr>
            <a:lstStyle/>
            <a:p>
              <a:pPr algn="ctr"/>
              <a:r>
                <a:rPr lang="zh-CN" sz="900" b="1" dirty="0">
                  <a:solidFill>
                    <a:srgbClr val="B3261E"/>
                  </a:solidFill>
                  <a:latin typeface="Arial"/>
                  <a:ea typeface="Arial"/>
                  <a:cs typeface="Arial"/>
                </a:rPr>
                <a:t>5%</a:t>
              </a:r>
            </a:p>
          </p:txBody>
        </p:sp>
        <p:sp>
          <p:nvSpPr>
            <p:cNvPr id="66" name="TextBox 66"/>
            <p:cNvSpPr txBox="1"/>
            <p:nvPr/>
          </p:nvSpPr>
          <p:spPr>
            <a:xfrm>
              <a:off x="5927477" y="4208145"/>
              <a:ext cx="184647" cy="176212"/>
            </a:xfrm>
            <a:prstGeom prst="rect">
              <a:avLst/>
            </a:prstGeom>
            <a:noFill/>
            <a:ln>
              <a:noFill/>
            </a:ln>
          </p:spPr>
          <p:txBody>
            <a:bodyPr wrap="none" lIns="0" tIns="0" rIns="0" bIns="0" anchor="t" anchorCtr="0">
              <a:spAutoFit/>
            </a:bodyPr>
            <a:lstStyle/>
            <a:p>
              <a:pPr algn="ctr"/>
              <a:r>
                <a:rPr lang="zh-CN" sz="900" dirty="0">
                  <a:solidFill>
                    <a:schemeClr val="accent1"/>
                  </a:solidFill>
                  <a:latin typeface="Arial"/>
                  <a:ea typeface="Arial"/>
                  <a:cs typeface="Arial"/>
                </a:rPr>
                <a:t>2%</a:t>
              </a:r>
            </a:p>
          </p:txBody>
        </p:sp>
        <p:sp>
          <p:nvSpPr>
            <p:cNvPr id="67" name="TextBox 67"/>
            <p:cNvSpPr txBox="1"/>
            <p:nvPr/>
          </p:nvSpPr>
          <p:spPr>
            <a:xfrm>
              <a:off x="6708527" y="4208145"/>
              <a:ext cx="184647" cy="176212"/>
            </a:xfrm>
            <a:prstGeom prst="rect">
              <a:avLst/>
            </a:prstGeom>
            <a:noFill/>
            <a:ln>
              <a:noFill/>
            </a:ln>
          </p:spPr>
          <p:txBody>
            <a:bodyPr wrap="none" lIns="0" tIns="0" rIns="0" bIns="0" anchor="t" anchorCtr="0">
              <a:spAutoFit/>
            </a:bodyPr>
            <a:lstStyle/>
            <a:p>
              <a:pPr algn="ctr"/>
              <a:r>
                <a:rPr lang="zh-CN" sz="900" dirty="0">
                  <a:solidFill>
                    <a:schemeClr val="accent1"/>
                  </a:solidFill>
                  <a:latin typeface="Arial"/>
                  <a:ea typeface="Arial"/>
                  <a:cs typeface="Arial"/>
                </a:rPr>
                <a:t>2%</a:t>
              </a:r>
            </a:p>
          </p:txBody>
        </p:sp>
        <p:sp>
          <p:nvSpPr>
            <p:cNvPr id="68" name="TextBox 68"/>
            <p:cNvSpPr txBox="1"/>
            <p:nvPr/>
          </p:nvSpPr>
          <p:spPr>
            <a:xfrm>
              <a:off x="7455883" y="4208145"/>
              <a:ext cx="252035" cy="176212"/>
            </a:xfrm>
            <a:prstGeom prst="rect">
              <a:avLst/>
            </a:prstGeom>
            <a:noFill/>
            <a:ln>
              <a:noFill/>
            </a:ln>
          </p:spPr>
          <p:txBody>
            <a:bodyPr wrap="none" lIns="0" tIns="0" rIns="0" bIns="0" anchor="t" anchorCtr="0">
              <a:spAutoFit/>
            </a:bodyPr>
            <a:lstStyle/>
            <a:p>
              <a:pPr algn="ctr"/>
              <a:r>
                <a:rPr lang="zh-CN" sz="900" dirty="0">
                  <a:solidFill>
                    <a:schemeClr val="accent1"/>
                  </a:solidFill>
                  <a:latin typeface="Arial"/>
                  <a:ea typeface="Arial"/>
                  <a:cs typeface="Arial"/>
                </a:rPr>
                <a:t>12%</a:t>
              </a:r>
            </a:p>
          </p:txBody>
        </p:sp>
        <p:sp>
          <p:nvSpPr>
            <p:cNvPr id="69" name="TextBox 69"/>
            <p:cNvSpPr txBox="1"/>
            <p:nvPr/>
          </p:nvSpPr>
          <p:spPr>
            <a:xfrm>
              <a:off x="8297608" y="4208145"/>
              <a:ext cx="130683" cy="176212"/>
            </a:xfrm>
            <a:prstGeom prst="rect">
              <a:avLst/>
            </a:prstGeom>
            <a:noFill/>
            <a:ln>
              <a:noFill/>
            </a:ln>
          </p:spPr>
          <p:txBody>
            <a:bodyPr wrap="none" lIns="0" tIns="0" rIns="0" bIns="0" anchor="t" anchorCtr="0">
              <a:spAutoFit/>
            </a:bodyPr>
            <a:lstStyle/>
            <a:p>
              <a:pPr algn="ctr"/>
              <a:r>
                <a:rPr lang="zh-CN" sz="900" dirty="0">
                  <a:solidFill>
                    <a:schemeClr val="accent5"/>
                  </a:solidFill>
                  <a:latin typeface="Arial"/>
                  <a:ea typeface="Arial"/>
                  <a:cs typeface="Arial"/>
                </a:rPr>
                <a:t>—</a:t>
              </a:r>
            </a:p>
          </p:txBody>
        </p:sp>
      </p:grpSp>
      <p:grpSp>
        <p:nvGrpSpPr>
          <p:cNvPr id="75" name="exhibit-b-head"/>
          <p:cNvGrpSpPr/>
          <p:nvPr/>
        </p:nvGrpSpPr>
        <p:grpSpPr>
          <a:xfrm>
            <a:off x="452438" y="4505325"/>
            <a:ext cx="2945856" cy="349091"/>
            <a:chOff x="452438" y="4505325"/>
            <a:chExt cx="2945856" cy="349091"/>
          </a:xfrm>
        </p:grpSpPr>
        <p:sp>
          <p:nvSpPr>
            <p:cNvPr id="71" name="Ellipse 71"/>
            <p:cNvSpPr/>
            <p:nvPr/>
          </p:nvSpPr>
          <p:spPr>
            <a:xfrm>
              <a:off x="457200" y="4505325"/>
              <a:ext cx="152400" cy="152400"/>
            </a:xfrm>
            <a:prstGeom prst="ellipse">
              <a:avLst/>
            </a:prstGeom>
            <a:solidFill>
              <a:schemeClr val="accent1"/>
            </a:solidFill>
            <a:ln>
              <a:noFill/>
            </a:ln>
          </p:spPr>
        </p:sp>
        <p:sp>
          <p:nvSpPr>
            <p:cNvPr id="72" name="TextBox 72"/>
            <p:cNvSpPr txBox="1"/>
            <p:nvPr/>
          </p:nvSpPr>
          <p:spPr>
            <a:xfrm>
              <a:off x="490115" y="453390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73" name="TextBox 73"/>
            <p:cNvSpPr txBox="1"/>
            <p:nvPr/>
          </p:nvSpPr>
          <p:spPr>
            <a:xfrm>
              <a:off x="661797" y="4523899"/>
              <a:ext cx="2271475"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增量前五地区:2025 与 2035 情景对照</a:t>
              </a:r>
            </a:p>
          </p:txBody>
        </p:sp>
        <p:sp>
          <p:nvSpPr>
            <p:cNvPr id="74" name="TextBox 74"/>
            <p:cNvSpPr txBox="1"/>
            <p:nvPr/>
          </p:nvSpPr>
          <p:spPr>
            <a:xfrm>
              <a:off x="452438" y="4692491"/>
              <a:ext cx="2945856"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销量:万辆;渗透率:%;占比 = 该地区增量 ÷ 总增量 3,400 万</a:t>
              </a:r>
            </a:p>
          </p:txBody>
        </p:sp>
      </p:grpSp>
      <p:grpSp>
        <p:nvGrpSpPr>
          <p:cNvPr id="118" name="steps-top5"/>
          <p:cNvGrpSpPr/>
          <p:nvPr/>
        </p:nvGrpSpPr>
        <p:grpSpPr>
          <a:xfrm>
            <a:off x="457200" y="4930616"/>
            <a:ext cx="8001000" cy="1056323"/>
            <a:chOff x="457200" y="4930616"/>
            <a:chExt cx="8001000" cy="1056323"/>
          </a:xfrm>
        </p:grpSpPr>
        <p:sp>
          <p:nvSpPr>
            <p:cNvPr id="76" name="Line 76"/>
            <p:cNvSpPr/>
            <p:nvPr/>
          </p:nvSpPr>
          <p:spPr>
            <a:xfrm>
              <a:off x="457200" y="5105400"/>
              <a:ext cx="8001000" cy="9525"/>
            </a:xfrm>
            <a:custGeom>
              <a:avLst/>
              <a:gdLst/>
              <a:ahLst/>
              <a:cxnLst/>
              <a:rect l="l" t="t" r="r" b="b"/>
              <a:pathLst>
                <a:path w="8001000" h="9525">
                  <a:moveTo>
                    <a:pt x="0" y="0"/>
                  </a:moveTo>
                  <a:lnTo>
                    <a:pt x="8001000" y="0"/>
                  </a:lnTo>
                </a:path>
              </a:pathLst>
            </a:custGeom>
            <a:noFill/>
            <a:ln w="9525">
              <a:solidFill>
                <a:schemeClr val="accent1"/>
              </a:solidFill>
            </a:ln>
          </p:spPr>
        </p:sp>
        <p:sp>
          <p:nvSpPr>
            <p:cNvPr id="77" name="TextBox 77"/>
            <p:cNvSpPr txBox="1"/>
            <p:nvPr/>
          </p:nvSpPr>
          <p:spPr>
            <a:xfrm>
              <a:off x="528638" y="493061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地区</a:t>
              </a:r>
            </a:p>
          </p:txBody>
        </p:sp>
        <p:sp>
          <p:nvSpPr>
            <p:cNvPr id="78" name="TextBox 78"/>
            <p:cNvSpPr txBox="1"/>
            <p:nvPr/>
          </p:nvSpPr>
          <p:spPr>
            <a:xfrm>
              <a:off x="2246941" y="4930616"/>
              <a:ext cx="520071"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销量</a:t>
              </a:r>
            </a:p>
          </p:txBody>
        </p:sp>
        <p:sp>
          <p:nvSpPr>
            <p:cNvPr id="79" name="TextBox 79"/>
            <p:cNvSpPr txBox="1"/>
            <p:nvPr/>
          </p:nvSpPr>
          <p:spPr>
            <a:xfrm>
              <a:off x="3485191" y="4930616"/>
              <a:ext cx="520071"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2035 情景</a:t>
              </a:r>
            </a:p>
          </p:txBody>
        </p:sp>
        <p:sp>
          <p:nvSpPr>
            <p:cNvPr id="80" name="TextBox 80"/>
            <p:cNvSpPr txBox="1"/>
            <p:nvPr/>
          </p:nvSpPr>
          <p:spPr>
            <a:xfrm>
              <a:off x="4803553" y="4930616"/>
              <a:ext cx="630460"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渗透率</a:t>
              </a:r>
            </a:p>
          </p:txBody>
        </p:sp>
        <p:sp>
          <p:nvSpPr>
            <p:cNvPr id="81" name="TextBox 81"/>
            <p:cNvSpPr txBox="1"/>
            <p:nvPr/>
          </p:nvSpPr>
          <p:spPr>
            <a:xfrm>
              <a:off x="6232303" y="4930616"/>
              <a:ext cx="630460"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2035 渗透率</a:t>
              </a:r>
            </a:p>
          </p:txBody>
        </p:sp>
        <p:sp>
          <p:nvSpPr>
            <p:cNvPr id="82" name="TextBox 82"/>
            <p:cNvSpPr txBox="1"/>
            <p:nvPr/>
          </p:nvSpPr>
          <p:spPr>
            <a:xfrm>
              <a:off x="7935684" y="4930616"/>
              <a:ext cx="451079"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占总增量</a:t>
              </a:r>
            </a:p>
          </p:txBody>
        </p:sp>
        <p:sp>
          <p:nvSpPr>
            <p:cNvPr id="83" name="Line 83"/>
            <p:cNvSpPr/>
            <p:nvPr/>
          </p:nvSpPr>
          <p:spPr>
            <a:xfrm>
              <a:off x="457200" y="527685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84" name="TextBox 84"/>
            <p:cNvSpPr txBox="1"/>
            <p:nvPr/>
          </p:nvSpPr>
          <p:spPr>
            <a:xfrm>
              <a:off x="528638" y="5139214"/>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中国</a:t>
              </a:r>
            </a:p>
          </p:txBody>
        </p:sp>
        <p:sp>
          <p:nvSpPr>
            <p:cNvPr id="85" name="TextBox 85"/>
            <p:cNvSpPr txBox="1"/>
            <p:nvPr/>
          </p:nvSpPr>
          <p:spPr>
            <a:xfrm>
              <a:off x="2481229" y="5139214"/>
              <a:ext cx="285783"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1,300</a:t>
              </a:r>
            </a:p>
          </p:txBody>
        </p:sp>
        <p:sp>
          <p:nvSpPr>
            <p:cNvPr id="86" name="TextBox 86"/>
            <p:cNvSpPr txBox="1"/>
            <p:nvPr/>
          </p:nvSpPr>
          <p:spPr>
            <a:xfrm>
              <a:off x="3719479" y="5139214"/>
              <a:ext cx="285783"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2,600</a:t>
              </a:r>
            </a:p>
          </p:txBody>
        </p:sp>
        <p:sp>
          <p:nvSpPr>
            <p:cNvPr id="87" name="TextBox 87"/>
            <p:cNvSpPr txBox="1"/>
            <p:nvPr/>
          </p:nvSpPr>
          <p:spPr>
            <a:xfrm>
              <a:off x="5203534" y="513921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53%</a:t>
              </a:r>
            </a:p>
          </p:txBody>
        </p:sp>
        <p:sp>
          <p:nvSpPr>
            <p:cNvPr id="88" name="TextBox 88"/>
            <p:cNvSpPr txBox="1"/>
            <p:nvPr/>
          </p:nvSpPr>
          <p:spPr>
            <a:xfrm>
              <a:off x="6632284" y="513921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94%</a:t>
              </a:r>
            </a:p>
          </p:txBody>
        </p:sp>
        <p:sp>
          <p:nvSpPr>
            <p:cNvPr id="89" name="TextBox 89"/>
            <p:cNvSpPr txBox="1"/>
            <p:nvPr/>
          </p:nvSpPr>
          <p:spPr>
            <a:xfrm>
              <a:off x="8156284" y="513921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38%</a:t>
              </a:r>
            </a:p>
          </p:txBody>
        </p:sp>
        <p:sp>
          <p:nvSpPr>
            <p:cNvPr id="90" name="Line 90"/>
            <p:cNvSpPr/>
            <p:nvPr/>
          </p:nvSpPr>
          <p:spPr>
            <a:xfrm>
              <a:off x="457200" y="54483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91" name="TextBox 91"/>
            <p:cNvSpPr txBox="1"/>
            <p:nvPr/>
          </p:nvSpPr>
          <p:spPr>
            <a:xfrm>
              <a:off x="528638" y="5310664"/>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欧洲</a:t>
              </a:r>
            </a:p>
          </p:txBody>
        </p:sp>
        <p:sp>
          <p:nvSpPr>
            <p:cNvPr id="92" name="TextBox 92"/>
            <p:cNvSpPr txBox="1"/>
            <p:nvPr/>
          </p:nvSpPr>
          <p:spPr>
            <a:xfrm>
              <a:off x="2573293" y="5310664"/>
              <a:ext cx="193719"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420</a:t>
              </a:r>
            </a:p>
          </p:txBody>
        </p:sp>
        <p:sp>
          <p:nvSpPr>
            <p:cNvPr id="93" name="TextBox 93"/>
            <p:cNvSpPr txBox="1"/>
            <p:nvPr/>
          </p:nvSpPr>
          <p:spPr>
            <a:xfrm>
              <a:off x="3719479" y="5310664"/>
              <a:ext cx="285783"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1,400</a:t>
              </a:r>
            </a:p>
          </p:txBody>
        </p:sp>
        <p:sp>
          <p:nvSpPr>
            <p:cNvPr id="94" name="TextBox 94"/>
            <p:cNvSpPr txBox="1"/>
            <p:nvPr/>
          </p:nvSpPr>
          <p:spPr>
            <a:xfrm>
              <a:off x="5203534" y="531066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28%</a:t>
              </a:r>
            </a:p>
          </p:txBody>
        </p:sp>
        <p:sp>
          <p:nvSpPr>
            <p:cNvPr id="95" name="TextBox 95"/>
            <p:cNvSpPr txBox="1"/>
            <p:nvPr/>
          </p:nvSpPr>
          <p:spPr>
            <a:xfrm>
              <a:off x="6632284" y="531066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85%</a:t>
              </a:r>
            </a:p>
          </p:txBody>
        </p:sp>
        <p:sp>
          <p:nvSpPr>
            <p:cNvPr id="96" name="TextBox 96"/>
            <p:cNvSpPr txBox="1"/>
            <p:nvPr/>
          </p:nvSpPr>
          <p:spPr>
            <a:xfrm>
              <a:off x="8156284" y="531066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29%</a:t>
              </a:r>
            </a:p>
          </p:txBody>
        </p:sp>
        <p:sp>
          <p:nvSpPr>
            <p:cNvPr id="97" name="Line 97"/>
            <p:cNvSpPr/>
            <p:nvPr/>
          </p:nvSpPr>
          <p:spPr>
            <a:xfrm>
              <a:off x="457200" y="561975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98" name="TextBox 98"/>
            <p:cNvSpPr txBox="1"/>
            <p:nvPr/>
          </p:nvSpPr>
          <p:spPr>
            <a:xfrm>
              <a:off x="528638" y="5482114"/>
              <a:ext cx="340690"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东南亚</a:t>
              </a:r>
            </a:p>
          </p:txBody>
        </p:sp>
        <p:sp>
          <p:nvSpPr>
            <p:cNvPr id="99" name="TextBox 99"/>
            <p:cNvSpPr txBox="1"/>
            <p:nvPr/>
          </p:nvSpPr>
          <p:spPr>
            <a:xfrm>
              <a:off x="2634691" y="5482114"/>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54</a:t>
              </a:r>
            </a:p>
          </p:txBody>
        </p:sp>
        <p:sp>
          <p:nvSpPr>
            <p:cNvPr id="100" name="TextBox 100"/>
            <p:cNvSpPr txBox="1"/>
            <p:nvPr/>
          </p:nvSpPr>
          <p:spPr>
            <a:xfrm>
              <a:off x="3811543" y="5482114"/>
              <a:ext cx="193719"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270</a:t>
              </a:r>
            </a:p>
          </p:txBody>
        </p:sp>
        <p:sp>
          <p:nvSpPr>
            <p:cNvPr id="101" name="TextBox 101"/>
            <p:cNvSpPr txBox="1"/>
            <p:nvPr/>
          </p:nvSpPr>
          <p:spPr>
            <a:xfrm>
              <a:off x="5203534" y="548211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18%</a:t>
              </a:r>
            </a:p>
          </p:txBody>
        </p:sp>
        <p:sp>
          <p:nvSpPr>
            <p:cNvPr id="102" name="TextBox 102"/>
            <p:cNvSpPr txBox="1"/>
            <p:nvPr/>
          </p:nvSpPr>
          <p:spPr>
            <a:xfrm>
              <a:off x="6632284" y="548211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58%</a:t>
              </a:r>
            </a:p>
          </p:txBody>
        </p:sp>
        <p:sp>
          <p:nvSpPr>
            <p:cNvPr id="103" name="TextBox 103"/>
            <p:cNvSpPr txBox="1"/>
            <p:nvPr/>
          </p:nvSpPr>
          <p:spPr>
            <a:xfrm>
              <a:off x="8217682" y="5482114"/>
              <a:ext cx="169080" cy="161925"/>
            </a:xfrm>
            <a:prstGeom prst="rect">
              <a:avLst/>
            </a:prstGeom>
            <a:noFill/>
            <a:ln>
              <a:noFill/>
            </a:ln>
          </p:spPr>
          <p:txBody>
            <a:bodyPr wrap="none" lIns="0" tIns="0" rIns="0" bIns="0" anchor="t" anchorCtr="0">
              <a:spAutoFit/>
            </a:bodyPr>
            <a:lstStyle/>
            <a:p>
              <a:pPr algn="r"/>
              <a:r>
                <a:rPr lang="zh-CN" sz="820" b="1" dirty="0">
                  <a:solidFill>
                    <a:schemeClr val="accent2"/>
                  </a:solidFill>
                  <a:latin typeface="Arial"/>
                  <a:ea typeface="Arial"/>
                  <a:cs typeface="Arial"/>
                </a:rPr>
                <a:t>6%</a:t>
              </a:r>
            </a:p>
          </p:txBody>
        </p:sp>
        <p:sp>
          <p:nvSpPr>
            <p:cNvPr id="104" name="Line 104"/>
            <p:cNvSpPr/>
            <p:nvPr/>
          </p:nvSpPr>
          <p:spPr>
            <a:xfrm>
              <a:off x="457200" y="579120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05" name="TextBox 105"/>
            <p:cNvSpPr txBox="1"/>
            <p:nvPr/>
          </p:nvSpPr>
          <p:spPr>
            <a:xfrm>
              <a:off x="528638" y="5653564"/>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印度</a:t>
              </a:r>
            </a:p>
          </p:txBody>
        </p:sp>
        <p:sp>
          <p:nvSpPr>
            <p:cNvPr id="106" name="TextBox 106"/>
            <p:cNvSpPr txBox="1"/>
            <p:nvPr/>
          </p:nvSpPr>
          <p:spPr>
            <a:xfrm>
              <a:off x="2634691" y="5653564"/>
              <a:ext cx="132321"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17</a:t>
              </a:r>
            </a:p>
          </p:txBody>
        </p:sp>
        <p:sp>
          <p:nvSpPr>
            <p:cNvPr id="107" name="TextBox 107"/>
            <p:cNvSpPr txBox="1"/>
            <p:nvPr/>
          </p:nvSpPr>
          <p:spPr>
            <a:xfrm>
              <a:off x="3811543" y="5653564"/>
              <a:ext cx="193719"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210</a:t>
              </a:r>
            </a:p>
          </p:txBody>
        </p:sp>
        <p:sp>
          <p:nvSpPr>
            <p:cNvPr id="108" name="TextBox 108"/>
            <p:cNvSpPr txBox="1"/>
            <p:nvPr/>
          </p:nvSpPr>
          <p:spPr>
            <a:xfrm>
              <a:off x="5264932" y="5653564"/>
              <a:ext cx="169080"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4%</a:t>
              </a:r>
            </a:p>
          </p:txBody>
        </p:sp>
        <p:sp>
          <p:nvSpPr>
            <p:cNvPr id="109" name="TextBox 109"/>
            <p:cNvSpPr txBox="1"/>
            <p:nvPr/>
          </p:nvSpPr>
          <p:spPr>
            <a:xfrm>
              <a:off x="6632284" y="565356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24%</a:t>
              </a:r>
            </a:p>
          </p:txBody>
        </p:sp>
        <p:sp>
          <p:nvSpPr>
            <p:cNvPr id="110" name="TextBox 110"/>
            <p:cNvSpPr txBox="1"/>
            <p:nvPr/>
          </p:nvSpPr>
          <p:spPr>
            <a:xfrm>
              <a:off x="8217682" y="5653564"/>
              <a:ext cx="169080" cy="161925"/>
            </a:xfrm>
            <a:prstGeom prst="rect">
              <a:avLst/>
            </a:prstGeom>
            <a:noFill/>
            <a:ln>
              <a:noFill/>
            </a:ln>
          </p:spPr>
          <p:txBody>
            <a:bodyPr wrap="none" lIns="0" tIns="0" rIns="0" bIns="0" anchor="t" anchorCtr="0">
              <a:spAutoFit/>
            </a:bodyPr>
            <a:lstStyle/>
            <a:p>
              <a:pPr algn="r"/>
              <a:r>
                <a:rPr lang="zh-CN" sz="820" b="1" dirty="0">
                  <a:solidFill>
                    <a:schemeClr val="accent2"/>
                  </a:solidFill>
                  <a:latin typeface="Arial"/>
                  <a:ea typeface="Arial"/>
                  <a:cs typeface="Arial"/>
                </a:rPr>
                <a:t>6%</a:t>
              </a:r>
            </a:p>
          </p:txBody>
        </p:sp>
        <p:sp>
          <p:nvSpPr>
            <p:cNvPr id="111" name="Line 111"/>
            <p:cNvSpPr/>
            <p:nvPr/>
          </p:nvSpPr>
          <p:spPr>
            <a:xfrm>
              <a:off x="457200" y="5962650"/>
              <a:ext cx="8001000" cy="9525"/>
            </a:xfrm>
            <a:custGeom>
              <a:avLst/>
              <a:gdLst/>
              <a:ahLst/>
              <a:cxnLst/>
              <a:rect l="l" t="t" r="r" b="b"/>
              <a:pathLst>
                <a:path w="8001000" h="9525">
                  <a:moveTo>
                    <a:pt x="0" y="0"/>
                  </a:moveTo>
                  <a:lnTo>
                    <a:pt x="8001000" y="0"/>
                  </a:lnTo>
                </a:path>
              </a:pathLst>
            </a:custGeom>
            <a:noFill/>
            <a:ln w="7144">
              <a:solidFill>
                <a:srgbClr val="E3E3E3"/>
              </a:solidFill>
            </a:ln>
          </p:spPr>
        </p:sp>
        <p:sp>
          <p:nvSpPr>
            <p:cNvPr id="112" name="TextBox 112"/>
            <p:cNvSpPr txBox="1"/>
            <p:nvPr/>
          </p:nvSpPr>
          <p:spPr>
            <a:xfrm>
              <a:off x="528638" y="5825014"/>
              <a:ext cx="230302" cy="161925"/>
            </a:xfrm>
            <a:prstGeom prst="rect">
              <a:avLst/>
            </a:prstGeom>
            <a:noFill/>
            <a:ln>
              <a:noFill/>
            </a:ln>
          </p:spPr>
          <p:txBody>
            <a:bodyPr wrap="none" lIns="0" tIns="0" rIns="0" bIns="0" anchor="t" anchorCtr="0">
              <a:spAutoFit/>
            </a:bodyPr>
            <a:lstStyle/>
            <a:p>
              <a:pPr algn="l"/>
              <a:r>
                <a:rPr lang="zh-CN" sz="820" b="1" dirty="0">
                  <a:solidFill>
                    <a:schemeClr val="dk1"/>
                  </a:solidFill>
                  <a:latin typeface="+mn-lt"/>
                  <a:ea typeface="+mn-ea"/>
                  <a:cs typeface="+mn-cs"/>
                </a:rPr>
                <a:t>美国</a:t>
              </a:r>
            </a:p>
          </p:txBody>
        </p:sp>
        <p:sp>
          <p:nvSpPr>
            <p:cNvPr id="113" name="TextBox 113"/>
            <p:cNvSpPr txBox="1"/>
            <p:nvPr/>
          </p:nvSpPr>
          <p:spPr>
            <a:xfrm>
              <a:off x="2573293" y="5825014"/>
              <a:ext cx="193719"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150</a:t>
              </a:r>
            </a:p>
          </p:txBody>
        </p:sp>
        <p:sp>
          <p:nvSpPr>
            <p:cNvPr id="114" name="TextBox 114"/>
            <p:cNvSpPr txBox="1"/>
            <p:nvPr/>
          </p:nvSpPr>
          <p:spPr>
            <a:xfrm>
              <a:off x="3811543" y="5825014"/>
              <a:ext cx="193719"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310</a:t>
              </a:r>
            </a:p>
          </p:txBody>
        </p:sp>
        <p:sp>
          <p:nvSpPr>
            <p:cNvPr id="115" name="TextBox 115"/>
            <p:cNvSpPr txBox="1"/>
            <p:nvPr/>
          </p:nvSpPr>
          <p:spPr>
            <a:xfrm>
              <a:off x="5203534" y="582501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10%</a:t>
              </a:r>
            </a:p>
          </p:txBody>
        </p:sp>
        <p:sp>
          <p:nvSpPr>
            <p:cNvPr id="116" name="TextBox 116"/>
            <p:cNvSpPr txBox="1"/>
            <p:nvPr/>
          </p:nvSpPr>
          <p:spPr>
            <a:xfrm>
              <a:off x="6632284" y="5825014"/>
              <a:ext cx="230478" cy="161925"/>
            </a:xfrm>
            <a:prstGeom prst="rect">
              <a:avLst/>
            </a:prstGeom>
            <a:noFill/>
            <a:ln>
              <a:noFill/>
            </a:ln>
          </p:spPr>
          <p:txBody>
            <a:bodyPr wrap="none" lIns="0" tIns="0" rIns="0" bIns="0" anchor="t" anchorCtr="0">
              <a:spAutoFit/>
            </a:bodyPr>
            <a:lstStyle/>
            <a:p>
              <a:pPr algn="r"/>
              <a:r>
                <a:rPr lang="zh-CN" sz="820" dirty="0">
                  <a:solidFill>
                    <a:schemeClr val="dk1"/>
                  </a:solidFill>
                  <a:latin typeface="Arial"/>
                  <a:ea typeface="Arial"/>
                  <a:cs typeface="Arial"/>
                </a:rPr>
                <a:t>20%</a:t>
              </a:r>
            </a:p>
          </p:txBody>
        </p:sp>
        <p:sp>
          <p:nvSpPr>
            <p:cNvPr id="117" name="TextBox 117"/>
            <p:cNvSpPr txBox="1"/>
            <p:nvPr/>
          </p:nvSpPr>
          <p:spPr>
            <a:xfrm>
              <a:off x="8217682" y="5825014"/>
              <a:ext cx="169080" cy="161925"/>
            </a:xfrm>
            <a:prstGeom prst="rect">
              <a:avLst/>
            </a:prstGeom>
            <a:noFill/>
            <a:ln>
              <a:noFill/>
            </a:ln>
          </p:spPr>
          <p:txBody>
            <a:bodyPr wrap="none" lIns="0" tIns="0" rIns="0" bIns="0" anchor="t" anchorCtr="0">
              <a:spAutoFit/>
            </a:bodyPr>
            <a:lstStyle/>
            <a:p>
              <a:pPr algn="r"/>
              <a:r>
                <a:rPr lang="zh-CN" sz="820" b="1" dirty="0">
                  <a:solidFill>
                    <a:srgbClr val="B3261E"/>
                  </a:solidFill>
                  <a:latin typeface="Arial"/>
                  <a:ea typeface="Arial"/>
                  <a:cs typeface="Arial"/>
                </a:rPr>
                <a:t>5%</a:t>
              </a:r>
            </a:p>
          </p:txBody>
        </p:sp>
      </p:grpSp>
      <p:grpSp>
        <p:nvGrpSpPr>
          <p:cNvPr id="137" name="!!insight-column"/>
          <p:cNvGrpSpPr/>
          <p:nvPr/>
        </p:nvGrpSpPr>
        <p:grpSpPr>
          <a:xfrm>
            <a:off x="8720138" y="1587341"/>
            <a:ext cx="3014662" cy="4432459"/>
            <a:chOff x="8720138" y="1587341"/>
            <a:chExt cx="3014662" cy="4432459"/>
          </a:xfrm>
        </p:grpSpPr>
        <p:sp>
          <p:nvSpPr>
            <p:cNvPr id="119" name="TextBox 119"/>
            <p:cNvSpPr txBox="1"/>
            <p:nvPr/>
          </p:nvSpPr>
          <p:spPr>
            <a:xfrm>
              <a:off x="87201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关键信息</a:t>
              </a:r>
            </a:p>
          </p:txBody>
        </p:sp>
        <p:sp>
          <p:nvSpPr>
            <p:cNvPr id="120" name="Line 120"/>
            <p:cNvSpPr/>
            <p:nvPr/>
          </p:nvSpPr>
          <p:spPr>
            <a:xfrm>
              <a:off x="8724900" y="1752600"/>
              <a:ext cx="3009900" cy="9525"/>
            </a:xfrm>
            <a:custGeom>
              <a:avLst/>
              <a:gdLst/>
              <a:ahLst/>
              <a:cxnLst/>
              <a:rect l="l" t="t" r="r" b="b"/>
              <a:pathLst>
                <a:path w="3009900" h="9525">
                  <a:moveTo>
                    <a:pt x="0" y="0"/>
                  </a:moveTo>
                  <a:lnTo>
                    <a:pt x="3009900" y="0"/>
                  </a:lnTo>
                </a:path>
              </a:pathLst>
            </a:custGeom>
            <a:noFill/>
            <a:ln w="9525">
              <a:solidFill>
                <a:schemeClr val="accent1"/>
              </a:solidFill>
            </a:ln>
          </p:spPr>
        </p:sp>
        <p:sp>
          <p:nvSpPr>
            <p:cNvPr id="121" name="Ellipse 121"/>
            <p:cNvSpPr/>
            <p:nvPr/>
          </p:nvSpPr>
          <p:spPr>
            <a:xfrm>
              <a:off x="8724900" y="1876425"/>
              <a:ext cx="152400" cy="152400"/>
            </a:xfrm>
            <a:prstGeom prst="ellipse">
              <a:avLst/>
            </a:prstGeom>
            <a:solidFill>
              <a:schemeClr val="accent1"/>
            </a:solidFill>
            <a:ln>
              <a:noFill/>
            </a:ln>
          </p:spPr>
        </p:sp>
        <p:sp>
          <p:nvSpPr>
            <p:cNvPr id="122" name="TextBox 122"/>
            <p:cNvSpPr txBox="1"/>
            <p:nvPr/>
          </p:nvSpPr>
          <p:spPr>
            <a:xfrm>
              <a:off x="87682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123" name="TextBox 123"/>
            <p:cNvSpPr txBox="1"/>
            <p:nvPr/>
          </p:nvSpPr>
          <p:spPr>
            <a:xfrm>
              <a:off x="8948166" y="1886902"/>
              <a:ext cx="228428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总增量 3,400 万辆:2025 年 2,100 万</a:t>
              </a:r>
              <a:br/>
              <a:r>
                <a:rPr lang="zh-CN" sz="1050" dirty="0">
                  <a:solidFill>
                    <a:schemeClr val="dk1"/>
                  </a:solidFill>
                  <a:latin typeface="+mn-lt"/>
                  <a:ea typeface="+mn-ea"/>
                  <a:cs typeface="+mn-cs"/>
                </a:rPr>
                <a:t>→ 2035 年 5,500 万,十年再增 1.6 倍,</a:t>
              </a:r>
              <a:br/>
              <a:r>
                <a:rPr lang="zh-CN" sz="1050" dirty="0">
                  <a:solidFill>
                    <a:schemeClr val="dk1"/>
                  </a:solidFill>
                  <a:latin typeface="+mn-lt"/>
                  <a:ea typeface="+mn-ea"/>
                  <a:cs typeface="+mn-cs"/>
                </a:rPr>
                <a:t>增速低于过去五年但绝对量更大。</a:t>
              </a:r>
            </a:p>
          </p:txBody>
        </p:sp>
        <p:sp>
          <p:nvSpPr>
            <p:cNvPr id="124" name="Ellipse 124"/>
            <p:cNvSpPr/>
            <p:nvPr/>
          </p:nvSpPr>
          <p:spPr>
            <a:xfrm>
              <a:off x="8724900" y="2600325"/>
              <a:ext cx="152400" cy="152400"/>
            </a:xfrm>
            <a:prstGeom prst="ellipse">
              <a:avLst/>
            </a:prstGeom>
            <a:solidFill>
              <a:schemeClr val="accent1"/>
            </a:solidFill>
            <a:ln>
              <a:noFill/>
            </a:ln>
          </p:spPr>
        </p:sp>
        <p:sp>
          <p:nvSpPr>
            <p:cNvPr id="125" name="TextBox 125"/>
            <p:cNvSpPr txBox="1"/>
            <p:nvPr/>
          </p:nvSpPr>
          <p:spPr>
            <a:xfrm>
              <a:off x="87682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126" name="TextBox 126"/>
            <p:cNvSpPr txBox="1"/>
            <p:nvPr/>
          </p:nvSpPr>
          <p:spPr>
            <a:xfrm>
              <a:off x="8948166" y="2610802"/>
              <a:ext cx="223094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中国 +1,300 万(38%)、欧洲 +980 万</a:t>
              </a:r>
              <a:br/>
              <a:r>
                <a:rPr lang="zh-CN" sz="1050" dirty="0">
                  <a:solidFill>
                    <a:schemeClr val="dk1"/>
                  </a:solidFill>
                  <a:latin typeface="+mn-lt"/>
                  <a:ea typeface="+mn-ea"/>
                  <a:cs typeface="+mn-cs"/>
                </a:rPr>
                <a:t>(29%):两者合计三分之二,仍是</a:t>
              </a:r>
              <a:br/>
              <a:r>
                <a:rPr lang="zh-CN" sz="1050" dirty="0">
                  <a:solidFill>
                    <a:schemeClr val="dk1"/>
                  </a:solidFill>
                  <a:latin typeface="+mn-lt"/>
                  <a:ea typeface="+mn-ea"/>
                  <a:cs typeface="+mn-cs"/>
                </a:rPr>
                <a:t>2035 年前最大的增量池。</a:t>
              </a:r>
            </a:p>
          </p:txBody>
        </p:sp>
        <p:sp>
          <p:nvSpPr>
            <p:cNvPr id="127" name="Ellipse 127"/>
            <p:cNvSpPr/>
            <p:nvPr/>
          </p:nvSpPr>
          <p:spPr>
            <a:xfrm>
              <a:off x="8724900" y="3324225"/>
              <a:ext cx="152400" cy="152400"/>
            </a:xfrm>
            <a:prstGeom prst="ellipse">
              <a:avLst/>
            </a:prstGeom>
            <a:solidFill>
              <a:schemeClr val="accent1"/>
            </a:solidFill>
            <a:ln>
              <a:noFill/>
            </a:ln>
          </p:spPr>
        </p:sp>
        <p:sp>
          <p:nvSpPr>
            <p:cNvPr id="128" name="TextBox 128"/>
            <p:cNvSpPr txBox="1"/>
            <p:nvPr/>
          </p:nvSpPr>
          <p:spPr>
            <a:xfrm>
              <a:off x="87682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129" name="TextBox 129"/>
            <p:cNvSpPr txBox="1"/>
            <p:nvPr/>
          </p:nvSpPr>
          <p:spPr>
            <a:xfrm>
              <a:off x="8948166" y="3334702"/>
              <a:ext cx="2164271"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印度 +193 万、东南亚 +216 万,合计</a:t>
              </a:r>
              <a:br/>
              <a:r>
                <a:rPr lang="zh-CN" sz="1050" dirty="0">
                  <a:solidFill>
                    <a:schemeClr val="dk1"/>
                  </a:solidFill>
                  <a:latin typeface="+mn-lt"/>
                  <a:ea typeface="+mn-ea"/>
                  <a:cs typeface="+mn-cs"/>
                </a:rPr>
                <a:t>12%,超过美国的 5%(+160 万):</a:t>
              </a:r>
              <a:br/>
              <a:r>
                <a:rPr lang="zh-CN" sz="1050" dirty="0">
                  <a:solidFill>
                    <a:schemeClr val="dk1"/>
                  </a:solidFill>
                  <a:latin typeface="+mn-lt"/>
                  <a:ea typeface="+mn-ea"/>
                  <a:cs typeface="+mn-cs"/>
                </a:rPr>
                <a:t>美国在情景里也只是守势市场。</a:t>
              </a:r>
            </a:p>
          </p:txBody>
        </p:sp>
        <p:sp>
          <p:nvSpPr>
            <p:cNvPr id="130" name="Ellipse 130"/>
            <p:cNvSpPr/>
            <p:nvPr/>
          </p:nvSpPr>
          <p:spPr>
            <a:xfrm>
              <a:off x="8724900" y="4048125"/>
              <a:ext cx="152400" cy="152400"/>
            </a:xfrm>
            <a:prstGeom prst="ellipse">
              <a:avLst/>
            </a:prstGeom>
            <a:solidFill>
              <a:schemeClr val="accent1"/>
            </a:solidFill>
            <a:ln>
              <a:noFill/>
            </a:ln>
          </p:spPr>
        </p:sp>
        <p:sp>
          <p:nvSpPr>
            <p:cNvPr id="131" name="TextBox 131"/>
            <p:cNvSpPr txBox="1"/>
            <p:nvPr/>
          </p:nvSpPr>
          <p:spPr>
            <a:xfrm>
              <a:off x="87682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132" name="TextBox 132"/>
            <p:cNvSpPr txBox="1"/>
            <p:nvPr/>
          </p:nvSpPr>
          <p:spPr>
            <a:xfrm>
              <a:off x="8948166" y="4058602"/>
              <a:ext cx="2110930"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其他 +425 万(12%)是拉美、中东等</a:t>
              </a:r>
              <a:br/>
              <a:r>
                <a:rPr lang="zh-CN" sz="1050" dirty="0">
                  <a:solidFill>
                    <a:schemeClr val="dk1"/>
                  </a:solidFill>
                  <a:latin typeface="+mn-lt"/>
                  <a:ea typeface="+mn-ea"/>
                  <a:cs typeface="+mn-cs"/>
                </a:rPr>
                <a:t>IEA 未单列的市场,与第 7 页的</a:t>
              </a:r>
              <a:br/>
              <a:r>
                <a:rPr lang="zh-CN" sz="1050" dirty="0">
                  <a:solidFill>
                    <a:schemeClr val="dk1"/>
                  </a:solidFill>
                  <a:latin typeface="+mn-lt"/>
                  <a:ea typeface="+mn-ea"/>
                  <a:cs typeface="+mn-cs"/>
                </a:rPr>
                <a:t>巴西、墨西哥趋势一致。</a:t>
              </a:r>
            </a:p>
          </p:txBody>
        </p:sp>
        <p:sp>
          <p:nvSpPr>
            <p:cNvPr id="133" name="Rectangle 133"/>
            <p:cNvSpPr/>
            <p:nvPr/>
          </p:nvSpPr>
          <p:spPr>
            <a:xfrm>
              <a:off x="8724900" y="4914900"/>
              <a:ext cx="3009900" cy="1104900"/>
            </a:xfrm>
            <a:prstGeom prst="rect">
              <a:avLst/>
            </a:prstGeom>
            <a:solidFill>
              <a:srgbClr val="F7F7F7"/>
            </a:solidFill>
            <a:ln>
              <a:noFill/>
            </a:ln>
          </p:spPr>
        </p:sp>
        <p:sp>
          <p:nvSpPr>
            <p:cNvPr id="134" name="Rectangle 134"/>
            <p:cNvSpPr/>
            <p:nvPr/>
          </p:nvSpPr>
          <p:spPr>
            <a:xfrm>
              <a:off x="8724900" y="4914900"/>
              <a:ext cx="38100" cy="1104900"/>
            </a:xfrm>
            <a:prstGeom prst="rect">
              <a:avLst/>
            </a:prstGeom>
            <a:solidFill>
              <a:schemeClr val="accent2"/>
            </a:solidFill>
            <a:ln>
              <a:noFill/>
            </a:ln>
          </p:spPr>
        </p:sp>
        <p:sp>
          <p:nvSpPr>
            <p:cNvPr id="135" name="TextBox 135"/>
            <p:cNvSpPr txBox="1"/>
            <p:nvPr/>
          </p:nvSpPr>
          <p:spPr>
            <a:xfrm>
              <a:off x="8872538" y="5027295"/>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对决策的含义</a:t>
              </a:r>
            </a:p>
          </p:txBody>
        </p:sp>
        <p:sp>
          <p:nvSpPr>
            <p:cNvPr id="136" name="TextBox 136"/>
            <p:cNvSpPr txBox="1"/>
            <p:nvPr/>
          </p:nvSpPr>
          <p:spPr>
            <a:xfrm>
              <a:off x="8871966" y="5220652"/>
              <a:ext cx="2284286"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2035 年前中国与欧洲仍是主池;印度加</a:t>
              </a:r>
              <a:br/>
              <a:r>
                <a:rPr lang="zh-CN" sz="1050" dirty="0">
                  <a:solidFill>
                    <a:schemeClr val="dk1"/>
                  </a:solidFill>
                  <a:latin typeface="+mn-lt"/>
                  <a:ea typeface="+mn-ea"/>
                  <a:cs typeface="+mn-cs"/>
                </a:rPr>
                <a:t>东南亚 12% 的增量要在 2026–28 建立</a:t>
              </a:r>
              <a:br/>
              <a:r>
                <a:rPr lang="zh-CN" sz="1050" dirty="0">
                  <a:solidFill>
                    <a:schemeClr val="dk1"/>
                  </a:solidFill>
                  <a:latin typeface="+mn-lt"/>
                  <a:ea typeface="+mn-ea"/>
                  <a:cs typeface="+mn-cs"/>
                </a:rPr>
                <a:t>位置,否则后期进不去(第 10 页)。</a:t>
              </a:r>
            </a:p>
          </p:txBody>
        </p:sp>
      </p:grpSp>
      <p:grpSp>
        <p:nvGrpSpPr>
          <p:cNvPr id="142" name="footer"/>
          <p:cNvGrpSpPr/>
          <p:nvPr/>
        </p:nvGrpSpPr>
        <p:grpSpPr>
          <a:xfrm>
            <a:off x="452438" y="6205538"/>
            <a:ext cx="11287125" cy="433388"/>
            <a:chOff x="452438" y="6205538"/>
            <a:chExt cx="11287125" cy="433388"/>
          </a:xfrm>
        </p:grpSpPr>
        <p:sp>
          <p:nvSpPr>
            <p:cNvPr id="138" name="TextBox 138"/>
            <p:cNvSpPr txBox="1"/>
            <p:nvPr/>
          </p:nvSpPr>
          <p:spPr>
            <a:xfrm>
              <a:off x="452438" y="6205538"/>
              <a:ext cx="5175361"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STEPS = IEA Stated Policies Scenario,2035 年值来自 IEA 数据浏览器;各项增量 = 2035 情景销量 − 2025 销量</a:t>
              </a:r>
            </a:p>
          </p:txBody>
        </p:sp>
        <p:sp>
          <p:nvSpPr>
            <p:cNvPr id="139" name="TextBox 139"/>
            <p:cNvSpPr txBox="1"/>
            <p:nvPr/>
          </p:nvSpPr>
          <p:spPr>
            <a:xfrm>
              <a:off x="452438" y="6338888"/>
              <a:ext cx="4381310"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「其他」= 总增量 3,400 万 − 上列各项之和 = 425 万,为本报告计算值;占比 = 各项 ÷ 3,400 万</a:t>
              </a:r>
            </a:p>
          </p:txBody>
        </p:sp>
        <p:sp>
          <p:nvSpPr>
            <p:cNvPr id="140" name="TextBox 140"/>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141" name="TextBox 141"/>
            <p:cNvSpPr txBox="1"/>
            <p:nvPr/>
          </p:nvSpPr>
          <p:spPr>
            <a:xfrm>
              <a:off x="11673881" y="6491288"/>
              <a:ext cx="65682"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9</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id="13" presetID="22" presetClass="entr" presetSubtype="2" fill="hold" grpId="0" nodeType="afterEffect">
                                  <p:stCondLst>
                                    <p:cond delay="500"/>
                                  </p:stCondLst>
                                  <p:childTnLst>
                                    <p:set>
                                      <p:cBhvr>
                                        <p:cTn id="14" dur="1" fill="hold">
                                          <p:stCondLst>
                                            <p:cond delay="0"/>
                                          </p:stCondLst>
                                        </p:cTn>
                                        <p:tgtEl>
                                          <p:spTgt spid="57"/>
                                        </p:tgtEl>
                                        <p:attrNameLst>
                                          <p:attrName>style.visibility</p:attrName>
                                        </p:attrNameLst>
                                      </p:cBhvr>
                                      <p:to>
                                        <p:strVal val="visible"/>
                                      </p:to>
                                    </p:set>
                                    <p:animEffect transition="in" filter="wipe(right)">
                                      <p:cBhvr>
                                        <p:cTn id="15" dur="1000"/>
                                        <p:tgtEl>
                                          <p:spTgt spid="57"/>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70"/>
                                        </p:tgtEl>
                                        <p:attrNameLst>
                                          <p:attrName>style.visibility</p:attrName>
                                        </p:attrNameLst>
                                      </p:cBhvr>
                                      <p:to>
                                        <p:strVal val="visible"/>
                                      </p:to>
                                    </p:set>
                                    <p:animEffect transition="in" filter="fade">
                                      <p:cBhvr>
                                        <p:cTn id="19" dur="300"/>
                                        <p:tgtEl>
                                          <p:spTgt spid="70"/>
                                        </p:tgtEl>
                                      </p:cBhvr>
                                    </p:animEffect>
                                  </p:childTnLst>
                                </p:cTn>
                              </p:par>
                            </p:childTnLst>
                          </p:cTn>
                        </p:par>
                        <p:par>
                          <p:cTn id="20" fill="hold">
                            <p:stCondLst>
                              <p:cond delay="3300"/>
                            </p:stCondLst>
                            <p:childTnLst>
                              <p:par>
                                <p:cTn id="21" presetID="10" presetClass="entr" presetSubtype="0" fill="hold" grpId="0" nodeType="afterEffect">
                                  <p:stCondLst>
                                    <p:cond delay="500"/>
                                  </p:stCondLst>
                                  <p:childTnLst>
                                    <p:set>
                                      <p:cBhvr>
                                        <p:cTn id="22" dur="1" fill="hold">
                                          <p:stCondLst>
                                            <p:cond delay="0"/>
                                          </p:stCondLst>
                                        </p:cTn>
                                        <p:tgtEl>
                                          <p:spTgt spid="75"/>
                                        </p:tgtEl>
                                        <p:attrNameLst>
                                          <p:attrName>style.visibility</p:attrName>
                                        </p:attrNameLst>
                                      </p:cBhvr>
                                      <p:to>
                                        <p:strVal val="visible"/>
                                      </p:to>
                                    </p:set>
                                    <p:animEffect transition="in" filter="fade">
                                      <p:cBhvr>
                                        <p:cTn id="23" dur="200"/>
                                        <p:tgtEl>
                                          <p:spTgt spid="75"/>
                                        </p:tgtEl>
                                      </p:cBhvr>
                                    </p:animEffect>
                                  </p:childTnLst>
                                </p:cTn>
                              </p:par>
                            </p:childTnLst>
                          </p:cTn>
                        </p:par>
                        <p:par>
                          <p:cTn id="24" fill="hold">
                            <p:stCondLst>
                              <p:cond delay="4000"/>
                            </p:stCondLst>
                            <p:childTnLst>
                              <p:par>
                                <p:cTn id="25" presetID="22" presetClass="entr" presetSubtype="4" fill="hold" grpId="0" nodeType="afterEffect">
                                  <p:stCondLst>
                                    <p:cond delay="500"/>
                                  </p:stCondLst>
                                  <p:childTnLst>
                                    <p:set>
                                      <p:cBhvr>
                                        <p:cTn id="26" dur="1" fill="hold">
                                          <p:stCondLst>
                                            <p:cond delay="0"/>
                                          </p:stCondLst>
                                        </p:cTn>
                                        <p:tgtEl>
                                          <p:spTgt spid="118"/>
                                        </p:tgtEl>
                                        <p:attrNameLst>
                                          <p:attrName>style.visibility</p:attrName>
                                        </p:attrNameLst>
                                      </p:cBhvr>
                                      <p:to>
                                        <p:strVal val="visible"/>
                                      </p:to>
                                    </p:set>
                                    <p:animEffect transition="in" filter="wipe(down)">
                                      <p:cBhvr>
                                        <p:cTn id="27" dur="500"/>
                                        <p:tgtEl>
                                          <p:spTgt spid="118"/>
                                        </p:tgtEl>
                                      </p:cBhvr>
                                    </p:animEffect>
                                  </p:childTnLst>
                                </p:cTn>
                              </p:par>
                            </p:childTnLst>
                          </p:cTn>
                        </p:par>
                        <p:par>
                          <p:cTn id="28" fill="hold">
                            <p:stCondLst>
                              <p:cond delay="5000"/>
                            </p:stCondLst>
                            <p:childTnLst>
                              <p:par>
                                <p:cTn id="29" presetID="10" presetClass="entr" presetSubtype="0" fill="hold" grpId="0" nodeType="afterEffect">
                                  <p:stCondLst>
                                    <p:cond delay="500"/>
                                  </p:stCondLst>
                                  <p:childTnLst>
                                    <p:set>
                                      <p:cBhvr>
                                        <p:cTn id="30" dur="1" fill="hold">
                                          <p:stCondLst>
                                            <p:cond delay="0"/>
                                          </p:stCondLst>
                                        </p:cTn>
                                        <p:tgtEl>
                                          <p:spTgt spid="137"/>
                                        </p:tgtEl>
                                        <p:attrNameLst>
                                          <p:attrName>style.visibility</p:attrName>
                                        </p:attrNameLst>
                                      </p:cBhvr>
                                      <p:to>
                                        <p:strVal val="visible"/>
                                      </p:to>
                                    </p:set>
                                    <p:animEffect transition="in" filter="fade">
                                      <p:cBhvr>
                                        <p:cTn id="31" dur="4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565714" y="247650"/>
            <a:ext cx="1169086" cy="206216"/>
            <a:chOff x="10565714" y="247650"/>
            <a:chExt cx="1169086" cy="206216"/>
          </a:xfrm>
        </p:grpSpPr>
        <p:sp>
          <p:nvSpPr>
            <p:cNvPr id="2" name="TextBox 2"/>
            <p:cNvSpPr txBox="1"/>
            <p:nvPr/>
          </p:nvSpPr>
          <p:spPr>
            <a:xfrm>
              <a:off x="10565714" y="291941"/>
              <a:ext cx="24039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建议</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6968871" cy="637794"/>
            <a:chOff x="448056" y="472440"/>
            <a:chExt cx="6968871" cy="637794"/>
          </a:xfrm>
        </p:grpSpPr>
        <p:sp>
          <p:nvSpPr>
            <p:cNvPr id="6" name="TextBox 6"/>
            <p:cNvSpPr txBox="1"/>
            <p:nvPr/>
          </p:nvSpPr>
          <p:spPr>
            <a:xfrm>
              <a:off x="448056" y="472440"/>
              <a:ext cx="6968871"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建议按三级优先级分配 2026–2028 增量投入:中国深耕、欧洲选点、</a:t>
              </a:r>
              <a:br/>
              <a:r>
                <a:rPr lang="zh-CN" sz="1800" b="1" dirty="0">
                  <a:solidFill>
                    <a:schemeClr val="accent1"/>
                  </a:solidFill>
                  <a:latin typeface="+mn-lt"/>
                  <a:ea typeface="+mn-ea"/>
                  <a:cs typeface="+mn-cs"/>
                </a:rPr>
                <a:t>东南亚与拉美抢滩,美国转为守势</a:t>
              </a:r>
            </a:p>
          </p:txBody>
        </p:sp>
      </p:grpSp>
      <p:grpSp>
        <p:nvGrpSpPr>
          <p:cNvPr id="9" name="unit-line"/>
          <p:cNvGrpSpPr/>
          <p:nvPr/>
        </p:nvGrpSpPr>
        <p:grpSpPr>
          <a:xfrm>
            <a:off x="452438" y="1160145"/>
            <a:ext cx="5073929" cy="176212"/>
            <a:chOff x="452438" y="1160145"/>
            <a:chExt cx="5073929" cy="176212"/>
          </a:xfrm>
        </p:grpSpPr>
        <p:sp>
          <p:nvSpPr>
            <p:cNvPr id="8" name="TextBox 8"/>
            <p:cNvSpPr txBox="1"/>
            <p:nvPr/>
          </p:nvSpPr>
          <p:spPr>
            <a:xfrm>
              <a:off x="452438" y="1160145"/>
              <a:ext cx="507392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市场优先级分级:2025 年销量与渗透率、2023→2025 销量倍数、2035 年情景、进入方式与依据</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23" name="market-tiers"/>
          <p:cNvGrpSpPr/>
          <p:nvPr/>
        </p:nvGrpSpPr>
        <p:grpSpPr>
          <a:xfrm>
            <a:off x="457200" y="1634966"/>
            <a:ext cx="11277600" cy="3327559"/>
            <a:chOff x="457200" y="1634966"/>
            <a:chExt cx="11277600" cy="3327559"/>
          </a:xfrm>
        </p:grpSpPr>
        <p:sp>
          <p:nvSpPr>
            <p:cNvPr id="11" name="Line 11"/>
            <p:cNvSpPr/>
            <p:nvPr/>
          </p:nvSpPr>
          <p:spPr>
            <a:xfrm>
              <a:off x="457200" y="1809750"/>
              <a:ext cx="11277600" cy="9525"/>
            </a:xfrm>
            <a:custGeom>
              <a:avLst/>
              <a:gdLst/>
              <a:ahLst/>
              <a:cxnLst/>
              <a:rect l="l" t="t" r="r" b="b"/>
              <a:pathLst>
                <a:path w="11277600" h="9525">
                  <a:moveTo>
                    <a:pt x="0" y="0"/>
                  </a:moveTo>
                  <a:lnTo>
                    <a:pt x="11277600" y="0"/>
                  </a:lnTo>
                </a:path>
              </a:pathLst>
            </a:custGeom>
            <a:noFill/>
            <a:ln w="9525">
              <a:solidFill>
                <a:schemeClr val="accent1"/>
              </a:solidFill>
            </a:ln>
          </p:spPr>
        </p:sp>
        <p:sp>
          <p:nvSpPr>
            <p:cNvPr id="12" name="Rectangle 12"/>
            <p:cNvSpPr/>
            <p:nvPr/>
          </p:nvSpPr>
          <p:spPr>
            <a:xfrm>
              <a:off x="457200" y="1809750"/>
              <a:ext cx="11277600" cy="285750"/>
            </a:xfrm>
            <a:prstGeom prst="rect">
              <a:avLst/>
            </a:prstGeom>
            <a:solidFill>
              <a:srgbClr val="EEF2FF"/>
            </a:solidFill>
            <a:ln>
              <a:noFill/>
            </a:ln>
          </p:spPr>
        </p:sp>
        <p:sp>
          <p:nvSpPr>
            <p:cNvPr id="13" name="Rectangle 13"/>
            <p:cNvSpPr/>
            <p:nvPr/>
          </p:nvSpPr>
          <p:spPr>
            <a:xfrm>
              <a:off x="457200" y="2095500"/>
              <a:ext cx="11277600" cy="285750"/>
            </a:xfrm>
            <a:prstGeom prst="rect">
              <a:avLst/>
            </a:prstGeom>
            <a:solidFill>
              <a:srgbClr val="EEF2FF"/>
            </a:solidFill>
            <a:ln>
              <a:noFill/>
            </a:ln>
          </p:spPr>
        </p:sp>
        <p:sp>
          <p:nvSpPr>
            <p:cNvPr id="14" name="Rectangle 14"/>
            <p:cNvSpPr/>
            <p:nvPr/>
          </p:nvSpPr>
          <p:spPr>
            <a:xfrm>
              <a:off x="457200" y="2381250"/>
              <a:ext cx="11277600" cy="285750"/>
            </a:xfrm>
            <a:prstGeom prst="rect">
              <a:avLst/>
            </a:prstGeom>
            <a:solidFill>
              <a:srgbClr val="EEF2FF"/>
            </a:solidFill>
            <a:ln>
              <a:noFill/>
            </a:ln>
          </p:spPr>
        </p:sp>
        <p:sp>
          <p:nvSpPr>
            <p:cNvPr id="15" name="Rectangle 15"/>
            <p:cNvSpPr/>
            <p:nvPr/>
          </p:nvSpPr>
          <p:spPr>
            <a:xfrm>
              <a:off x="457200" y="2667000"/>
              <a:ext cx="11277600" cy="285750"/>
            </a:xfrm>
            <a:prstGeom prst="rect">
              <a:avLst/>
            </a:prstGeom>
            <a:solidFill>
              <a:srgbClr val="EEF2FF"/>
            </a:solidFill>
            <a:ln>
              <a:noFill/>
            </a:ln>
          </p:spPr>
        </p:sp>
        <p:sp>
          <p:nvSpPr>
            <p:cNvPr id="16" name="TextBox 16"/>
            <p:cNvSpPr txBox="1"/>
            <p:nvPr/>
          </p:nvSpPr>
          <p:spPr>
            <a:xfrm>
              <a:off x="528638" y="163496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市场</a:t>
              </a:r>
            </a:p>
          </p:txBody>
        </p:sp>
        <p:sp>
          <p:nvSpPr>
            <p:cNvPr id="17" name="TextBox 17"/>
            <p:cNvSpPr txBox="1"/>
            <p:nvPr/>
          </p:nvSpPr>
          <p:spPr>
            <a:xfrm>
              <a:off x="1803416" y="1634966"/>
              <a:ext cx="868347"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销量(万辆)</a:t>
              </a:r>
            </a:p>
          </p:txBody>
        </p:sp>
        <p:sp>
          <p:nvSpPr>
            <p:cNvPr id="18" name="TextBox 18"/>
            <p:cNvSpPr txBox="1"/>
            <p:nvPr/>
          </p:nvSpPr>
          <p:spPr>
            <a:xfrm>
              <a:off x="3008193" y="1634966"/>
              <a:ext cx="711319"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2023→25 倍数</a:t>
              </a:r>
            </a:p>
          </p:txBody>
        </p:sp>
        <p:sp>
          <p:nvSpPr>
            <p:cNvPr id="19" name="TextBox 19"/>
            <p:cNvSpPr txBox="1"/>
            <p:nvPr/>
          </p:nvSpPr>
          <p:spPr>
            <a:xfrm>
              <a:off x="4136803" y="1634966"/>
              <a:ext cx="630460"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渗透率</a:t>
              </a:r>
            </a:p>
          </p:txBody>
        </p:sp>
        <p:sp>
          <p:nvSpPr>
            <p:cNvPr id="20" name="TextBox 20"/>
            <p:cNvSpPr txBox="1"/>
            <p:nvPr/>
          </p:nvSpPr>
          <p:spPr>
            <a:xfrm>
              <a:off x="5232416" y="1634966"/>
              <a:ext cx="868347"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2035 情景(万辆)</a:t>
              </a:r>
            </a:p>
          </p:txBody>
        </p:sp>
        <p:sp>
          <p:nvSpPr>
            <p:cNvPr id="21" name="TextBox 21"/>
            <p:cNvSpPr txBox="1"/>
            <p:nvPr/>
          </p:nvSpPr>
          <p:spPr>
            <a:xfrm>
              <a:off x="6243638" y="1634966"/>
              <a:ext cx="340690"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优先级</a:t>
              </a:r>
            </a:p>
          </p:txBody>
        </p:sp>
        <p:sp>
          <p:nvSpPr>
            <p:cNvPr id="22" name="TextBox 22"/>
            <p:cNvSpPr txBox="1"/>
            <p:nvPr/>
          </p:nvSpPr>
          <p:spPr>
            <a:xfrm>
              <a:off x="7386638" y="1634966"/>
              <a:ext cx="451079"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进入方式</a:t>
              </a:r>
            </a:p>
          </p:txBody>
        </p:sp>
        <p:sp>
          <p:nvSpPr>
            <p:cNvPr id="23" name="TextBox 23"/>
            <p:cNvSpPr txBox="1"/>
            <p:nvPr/>
          </p:nvSpPr>
          <p:spPr>
            <a:xfrm>
              <a:off x="10244138" y="1634966"/>
              <a:ext cx="468189"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依据(页)</a:t>
              </a:r>
            </a:p>
          </p:txBody>
        </p:sp>
        <p:sp>
          <p:nvSpPr>
            <p:cNvPr id="24" name="Line 24"/>
            <p:cNvSpPr/>
            <p:nvPr/>
          </p:nvSpPr>
          <p:spPr>
            <a:xfrm>
              <a:off x="457200" y="209550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25" name="TextBox 25"/>
            <p:cNvSpPr txBox="1"/>
            <p:nvPr/>
          </p:nvSpPr>
          <p:spPr>
            <a:xfrm>
              <a:off x="528638" y="18954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中国</a:t>
              </a:r>
            </a:p>
          </p:txBody>
        </p:sp>
        <p:sp>
          <p:nvSpPr>
            <p:cNvPr id="26" name="TextBox 26"/>
            <p:cNvSpPr txBox="1"/>
            <p:nvPr/>
          </p:nvSpPr>
          <p:spPr>
            <a:xfrm>
              <a:off x="2359027" y="1895475"/>
              <a:ext cx="3127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1,300</a:t>
              </a:r>
            </a:p>
          </p:txBody>
        </p:sp>
        <p:sp>
          <p:nvSpPr>
            <p:cNvPr id="27" name="TextBox 27"/>
            <p:cNvSpPr txBox="1"/>
            <p:nvPr/>
          </p:nvSpPr>
          <p:spPr>
            <a:xfrm>
              <a:off x="3470797" y="189547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1.6×</a:t>
              </a:r>
            </a:p>
          </p:txBody>
        </p:sp>
        <p:sp>
          <p:nvSpPr>
            <p:cNvPr id="28" name="TextBox 28"/>
            <p:cNvSpPr txBox="1"/>
            <p:nvPr/>
          </p:nvSpPr>
          <p:spPr>
            <a:xfrm>
              <a:off x="4515228" y="18954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53%</a:t>
              </a:r>
            </a:p>
          </p:txBody>
        </p:sp>
        <p:sp>
          <p:nvSpPr>
            <p:cNvPr id="29" name="TextBox 29"/>
            <p:cNvSpPr txBox="1"/>
            <p:nvPr/>
          </p:nvSpPr>
          <p:spPr>
            <a:xfrm>
              <a:off x="5788027" y="1895475"/>
              <a:ext cx="3127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2,600</a:t>
              </a:r>
            </a:p>
          </p:txBody>
        </p:sp>
        <p:sp>
          <p:nvSpPr>
            <p:cNvPr id="30" name="TextBox 30"/>
            <p:cNvSpPr txBox="1"/>
            <p:nvPr/>
          </p:nvSpPr>
          <p:spPr>
            <a:xfrm>
              <a:off x="6243638" y="1895475"/>
              <a:ext cx="640455" cy="176212"/>
            </a:xfrm>
            <a:prstGeom prst="rect">
              <a:avLst/>
            </a:prstGeom>
            <a:noFill/>
            <a:ln>
              <a:noFill/>
            </a:ln>
          </p:spPr>
          <p:txBody>
            <a:bodyPr wrap="none" lIns="0" tIns="0" rIns="0" bIns="0" anchor="t" anchorCtr="0">
              <a:spAutoFit/>
            </a:bodyPr>
            <a:lstStyle/>
            <a:p>
              <a:pPr algn="l"/>
              <a:r>
                <a:rPr lang="zh-CN" sz="900" b="1" dirty="0">
                  <a:solidFill>
                    <a:schemeClr val="accent2"/>
                  </a:solidFill>
                  <a:latin typeface="+mn-lt"/>
                  <a:ea typeface="+mn-ea"/>
                  <a:cs typeface="+mn-cs"/>
                </a:rPr>
                <a:t>一级 · 深耕</a:t>
              </a:r>
            </a:p>
          </p:txBody>
        </p:sp>
        <p:sp>
          <p:nvSpPr>
            <p:cNvPr id="31" name="TextBox 31"/>
            <p:cNvSpPr txBox="1"/>
            <p:nvPr/>
          </p:nvSpPr>
          <p:spPr>
            <a:xfrm>
              <a:off x="7386638" y="1895475"/>
              <a:ext cx="1481595"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BEV + PHEV 双线,巩固份额</a:t>
              </a:r>
            </a:p>
          </p:txBody>
        </p:sp>
        <p:sp>
          <p:nvSpPr>
            <p:cNvPr id="32" name="TextBox 32"/>
            <p:cNvSpPr txBox="1"/>
            <p:nvPr/>
          </p:nvSpPr>
          <p:spPr>
            <a:xfrm>
              <a:off x="10244138" y="1895475"/>
              <a:ext cx="451752"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3、4、8</a:t>
              </a:r>
            </a:p>
          </p:txBody>
        </p:sp>
        <p:sp>
          <p:nvSpPr>
            <p:cNvPr id="33" name="Line 33"/>
            <p:cNvSpPr/>
            <p:nvPr/>
          </p:nvSpPr>
          <p:spPr>
            <a:xfrm>
              <a:off x="457200" y="238125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34" name="TextBox 34"/>
            <p:cNvSpPr txBox="1"/>
            <p:nvPr/>
          </p:nvSpPr>
          <p:spPr>
            <a:xfrm>
              <a:off x="528638" y="2181225"/>
              <a:ext cx="37299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东南亚</a:t>
              </a:r>
            </a:p>
          </p:txBody>
        </p:sp>
        <p:sp>
          <p:nvSpPr>
            <p:cNvPr id="35" name="TextBox 35"/>
            <p:cNvSpPr txBox="1"/>
            <p:nvPr/>
          </p:nvSpPr>
          <p:spPr>
            <a:xfrm>
              <a:off x="2527461" y="21812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54</a:t>
              </a:r>
            </a:p>
          </p:txBody>
        </p:sp>
        <p:sp>
          <p:nvSpPr>
            <p:cNvPr id="36" name="TextBox 36"/>
            <p:cNvSpPr txBox="1"/>
            <p:nvPr/>
          </p:nvSpPr>
          <p:spPr>
            <a:xfrm>
              <a:off x="3470797" y="218122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3.4×</a:t>
              </a:r>
            </a:p>
          </p:txBody>
        </p:sp>
        <p:sp>
          <p:nvSpPr>
            <p:cNvPr id="37" name="TextBox 37"/>
            <p:cNvSpPr txBox="1"/>
            <p:nvPr/>
          </p:nvSpPr>
          <p:spPr>
            <a:xfrm>
              <a:off x="4515228" y="218122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18%</a:t>
              </a:r>
            </a:p>
          </p:txBody>
        </p:sp>
        <p:sp>
          <p:nvSpPr>
            <p:cNvPr id="38" name="TextBox 38"/>
            <p:cNvSpPr txBox="1"/>
            <p:nvPr/>
          </p:nvSpPr>
          <p:spPr>
            <a:xfrm>
              <a:off x="5889073" y="218122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270</a:t>
              </a:r>
            </a:p>
          </p:txBody>
        </p:sp>
        <p:sp>
          <p:nvSpPr>
            <p:cNvPr id="39" name="TextBox 39"/>
            <p:cNvSpPr txBox="1"/>
            <p:nvPr/>
          </p:nvSpPr>
          <p:spPr>
            <a:xfrm>
              <a:off x="6243638" y="2181225"/>
              <a:ext cx="640455" cy="176212"/>
            </a:xfrm>
            <a:prstGeom prst="rect">
              <a:avLst/>
            </a:prstGeom>
            <a:noFill/>
            <a:ln>
              <a:noFill/>
            </a:ln>
          </p:spPr>
          <p:txBody>
            <a:bodyPr wrap="none" lIns="0" tIns="0" rIns="0" bIns="0" anchor="t" anchorCtr="0">
              <a:spAutoFit/>
            </a:bodyPr>
            <a:lstStyle/>
            <a:p>
              <a:pPr algn="l"/>
              <a:r>
                <a:rPr lang="zh-CN" sz="900" b="1" dirty="0">
                  <a:solidFill>
                    <a:schemeClr val="accent2"/>
                  </a:solidFill>
                  <a:latin typeface="+mn-lt"/>
                  <a:ea typeface="+mn-ea"/>
                  <a:cs typeface="+mn-cs"/>
                </a:rPr>
                <a:t>一级 · 抢滩</a:t>
              </a:r>
            </a:p>
          </p:txBody>
        </p:sp>
        <p:sp>
          <p:nvSpPr>
            <p:cNvPr id="40" name="TextBox 40"/>
            <p:cNvSpPr txBox="1"/>
            <p:nvPr/>
          </p:nvSpPr>
          <p:spPr>
            <a:xfrm>
              <a:off x="7386638" y="2181225"/>
              <a:ext cx="1123150"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PHEV 先行,泰国首发</a:t>
              </a:r>
            </a:p>
          </p:txBody>
        </p:sp>
        <p:sp>
          <p:nvSpPr>
            <p:cNvPr id="41" name="TextBox 41"/>
            <p:cNvSpPr txBox="1"/>
            <p:nvPr/>
          </p:nvSpPr>
          <p:spPr>
            <a:xfrm>
              <a:off x="10244138" y="2181225"/>
              <a:ext cx="263957"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7、9</a:t>
              </a:r>
            </a:p>
          </p:txBody>
        </p:sp>
        <p:sp>
          <p:nvSpPr>
            <p:cNvPr id="42" name="Line 42"/>
            <p:cNvSpPr/>
            <p:nvPr/>
          </p:nvSpPr>
          <p:spPr>
            <a:xfrm>
              <a:off x="457200" y="266700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43" name="TextBox 43"/>
            <p:cNvSpPr txBox="1"/>
            <p:nvPr/>
          </p:nvSpPr>
          <p:spPr>
            <a:xfrm>
              <a:off x="528638" y="24669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英国</a:t>
              </a:r>
            </a:p>
          </p:txBody>
        </p:sp>
        <p:sp>
          <p:nvSpPr>
            <p:cNvPr id="44" name="TextBox 44"/>
            <p:cNvSpPr txBox="1"/>
            <p:nvPr/>
          </p:nvSpPr>
          <p:spPr>
            <a:xfrm>
              <a:off x="2527461" y="2466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70</a:t>
              </a:r>
            </a:p>
          </p:txBody>
        </p:sp>
        <p:sp>
          <p:nvSpPr>
            <p:cNvPr id="45" name="TextBox 45"/>
            <p:cNvSpPr txBox="1"/>
            <p:nvPr/>
          </p:nvSpPr>
          <p:spPr>
            <a:xfrm>
              <a:off x="3470797" y="246697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1.5×</a:t>
              </a:r>
            </a:p>
          </p:txBody>
        </p:sp>
        <p:sp>
          <p:nvSpPr>
            <p:cNvPr id="46" name="TextBox 46"/>
            <p:cNvSpPr txBox="1"/>
            <p:nvPr/>
          </p:nvSpPr>
          <p:spPr>
            <a:xfrm>
              <a:off x="4515228" y="24669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35%</a:t>
              </a:r>
            </a:p>
          </p:txBody>
        </p:sp>
        <p:sp>
          <p:nvSpPr>
            <p:cNvPr id="47" name="TextBox 47"/>
            <p:cNvSpPr txBox="1"/>
            <p:nvPr/>
          </p:nvSpPr>
          <p:spPr>
            <a:xfrm>
              <a:off x="5970080" y="2466975"/>
              <a:ext cx="130683"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a:t>
              </a:r>
            </a:p>
          </p:txBody>
        </p:sp>
        <p:sp>
          <p:nvSpPr>
            <p:cNvPr id="48" name="TextBox 48"/>
            <p:cNvSpPr txBox="1"/>
            <p:nvPr/>
          </p:nvSpPr>
          <p:spPr>
            <a:xfrm>
              <a:off x="6243638" y="2466975"/>
              <a:ext cx="640455" cy="176212"/>
            </a:xfrm>
            <a:prstGeom prst="rect">
              <a:avLst/>
            </a:prstGeom>
            <a:noFill/>
            <a:ln>
              <a:noFill/>
            </a:ln>
          </p:spPr>
          <p:txBody>
            <a:bodyPr wrap="none" lIns="0" tIns="0" rIns="0" bIns="0" anchor="t" anchorCtr="0">
              <a:spAutoFit/>
            </a:bodyPr>
            <a:lstStyle/>
            <a:p>
              <a:pPr algn="l"/>
              <a:r>
                <a:rPr lang="zh-CN" sz="900" b="1" dirty="0">
                  <a:solidFill>
                    <a:schemeClr val="accent2"/>
                  </a:solidFill>
                  <a:latin typeface="+mn-lt"/>
                  <a:ea typeface="+mn-ea"/>
                  <a:cs typeface="+mn-cs"/>
                </a:rPr>
                <a:t>一级 · 重点</a:t>
              </a:r>
            </a:p>
          </p:txBody>
        </p:sp>
        <p:sp>
          <p:nvSpPr>
            <p:cNvPr id="49" name="TextBox 49"/>
            <p:cNvSpPr txBox="1"/>
            <p:nvPr/>
          </p:nvSpPr>
          <p:spPr>
            <a:xfrm>
              <a:off x="7386638" y="2466975"/>
              <a:ext cx="782193"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补齐 BEV 车型</a:t>
              </a:r>
            </a:p>
          </p:txBody>
        </p:sp>
        <p:sp>
          <p:nvSpPr>
            <p:cNvPr id="50" name="TextBox 50"/>
            <p:cNvSpPr txBox="1"/>
            <p:nvPr/>
          </p:nvSpPr>
          <p:spPr>
            <a:xfrm>
              <a:off x="10244138" y="2466975"/>
              <a:ext cx="76162"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6</a:t>
              </a:r>
            </a:p>
          </p:txBody>
        </p:sp>
        <p:sp>
          <p:nvSpPr>
            <p:cNvPr id="51" name="Line 51"/>
            <p:cNvSpPr/>
            <p:nvPr/>
          </p:nvSpPr>
          <p:spPr>
            <a:xfrm>
              <a:off x="457200" y="295275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52" name="TextBox 52"/>
            <p:cNvSpPr txBox="1"/>
            <p:nvPr/>
          </p:nvSpPr>
          <p:spPr>
            <a:xfrm>
              <a:off x="528638" y="27527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德国</a:t>
              </a:r>
            </a:p>
          </p:txBody>
        </p:sp>
        <p:sp>
          <p:nvSpPr>
            <p:cNvPr id="53" name="TextBox 53"/>
            <p:cNvSpPr txBox="1"/>
            <p:nvPr/>
          </p:nvSpPr>
          <p:spPr>
            <a:xfrm>
              <a:off x="2527461" y="2752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86</a:t>
              </a:r>
            </a:p>
          </p:txBody>
        </p:sp>
        <p:sp>
          <p:nvSpPr>
            <p:cNvPr id="54" name="TextBox 54"/>
            <p:cNvSpPr txBox="1"/>
            <p:nvPr/>
          </p:nvSpPr>
          <p:spPr>
            <a:xfrm>
              <a:off x="3470797" y="275272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1.2×</a:t>
              </a:r>
            </a:p>
          </p:txBody>
        </p:sp>
        <p:sp>
          <p:nvSpPr>
            <p:cNvPr id="55" name="TextBox 55"/>
            <p:cNvSpPr txBox="1"/>
            <p:nvPr/>
          </p:nvSpPr>
          <p:spPr>
            <a:xfrm>
              <a:off x="4515228" y="275272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30%</a:t>
              </a:r>
            </a:p>
          </p:txBody>
        </p:sp>
        <p:sp>
          <p:nvSpPr>
            <p:cNvPr id="56" name="TextBox 56"/>
            <p:cNvSpPr txBox="1"/>
            <p:nvPr/>
          </p:nvSpPr>
          <p:spPr>
            <a:xfrm>
              <a:off x="5970080" y="2752725"/>
              <a:ext cx="130683"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a:t>
              </a:r>
            </a:p>
          </p:txBody>
        </p:sp>
        <p:sp>
          <p:nvSpPr>
            <p:cNvPr id="57" name="TextBox 57"/>
            <p:cNvSpPr txBox="1"/>
            <p:nvPr/>
          </p:nvSpPr>
          <p:spPr>
            <a:xfrm>
              <a:off x="6243638" y="2752725"/>
              <a:ext cx="640455" cy="176212"/>
            </a:xfrm>
            <a:prstGeom prst="rect">
              <a:avLst/>
            </a:prstGeom>
            <a:noFill/>
            <a:ln>
              <a:noFill/>
            </a:ln>
          </p:spPr>
          <p:txBody>
            <a:bodyPr wrap="none" lIns="0" tIns="0" rIns="0" bIns="0" anchor="t" anchorCtr="0">
              <a:spAutoFit/>
            </a:bodyPr>
            <a:lstStyle/>
            <a:p>
              <a:pPr algn="l"/>
              <a:r>
                <a:rPr lang="zh-CN" sz="900" b="1" dirty="0">
                  <a:solidFill>
                    <a:schemeClr val="accent2"/>
                  </a:solidFill>
                  <a:latin typeface="+mn-lt"/>
                  <a:ea typeface="+mn-ea"/>
                  <a:cs typeface="+mn-cs"/>
                </a:rPr>
                <a:t>一级 · 重点</a:t>
              </a:r>
            </a:p>
          </p:txBody>
        </p:sp>
        <p:sp>
          <p:nvSpPr>
            <p:cNvPr id="58" name="TextBox 58"/>
            <p:cNvSpPr txBox="1"/>
            <p:nvPr/>
          </p:nvSpPr>
          <p:spPr>
            <a:xfrm>
              <a:off x="7386638" y="2752725"/>
              <a:ext cx="1333462"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补齐 BEV 车型,按季评估</a:t>
              </a:r>
            </a:p>
          </p:txBody>
        </p:sp>
        <p:sp>
          <p:nvSpPr>
            <p:cNvPr id="59" name="TextBox 59"/>
            <p:cNvSpPr txBox="1"/>
            <p:nvPr/>
          </p:nvSpPr>
          <p:spPr>
            <a:xfrm>
              <a:off x="10244138" y="2752725"/>
              <a:ext cx="330594"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6、12</a:t>
              </a:r>
            </a:p>
          </p:txBody>
        </p:sp>
        <p:sp>
          <p:nvSpPr>
            <p:cNvPr id="60" name="Line 60"/>
            <p:cNvSpPr/>
            <p:nvPr/>
          </p:nvSpPr>
          <p:spPr>
            <a:xfrm>
              <a:off x="457200" y="323850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61" name="TextBox 61"/>
            <p:cNvSpPr txBox="1"/>
            <p:nvPr/>
          </p:nvSpPr>
          <p:spPr>
            <a:xfrm>
              <a:off x="528638" y="30384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巴西</a:t>
              </a:r>
            </a:p>
          </p:txBody>
        </p:sp>
        <p:sp>
          <p:nvSpPr>
            <p:cNvPr id="62" name="TextBox 62"/>
            <p:cNvSpPr txBox="1"/>
            <p:nvPr/>
          </p:nvSpPr>
          <p:spPr>
            <a:xfrm>
              <a:off x="2527461" y="3038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18</a:t>
              </a:r>
            </a:p>
          </p:txBody>
        </p:sp>
        <p:sp>
          <p:nvSpPr>
            <p:cNvPr id="63" name="TextBox 63"/>
            <p:cNvSpPr txBox="1"/>
            <p:nvPr/>
          </p:nvSpPr>
          <p:spPr>
            <a:xfrm>
              <a:off x="3470797" y="303847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3.5×</a:t>
              </a:r>
            </a:p>
          </p:txBody>
        </p:sp>
        <p:sp>
          <p:nvSpPr>
            <p:cNvPr id="64" name="TextBox 64"/>
            <p:cNvSpPr txBox="1"/>
            <p:nvPr/>
          </p:nvSpPr>
          <p:spPr>
            <a:xfrm>
              <a:off x="4582616" y="3038475"/>
              <a:ext cx="1846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9%</a:t>
              </a:r>
            </a:p>
          </p:txBody>
        </p:sp>
        <p:sp>
          <p:nvSpPr>
            <p:cNvPr id="65" name="TextBox 65"/>
            <p:cNvSpPr txBox="1"/>
            <p:nvPr/>
          </p:nvSpPr>
          <p:spPr>
            <a:xfrm>
              <a:off x="5970080" y="3038475"/>
              <a:ext cx="130683"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a:t>
              </a:r>
            </a:p>
          </p:txBody>
        </p:sp>
        <p:sp>
          <p:nvSpPr>
            <p:cNvPr id="66" name="TextBox 66"/>
            <p:cNvSpPr txBox="1"/>
            <p:nvPr/>
          </p:nvSpPr>
          <p:spPr>
            <a:xfrm>
              <a:off x="6243638" y="3038475"/>
              <a:ext cx="640455"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二级 · 择机</a:t>
              </a:r>
            </a:p>
          </p:txBody>
        </p:sp>
        <p:sp>
          <p:nvSpPr>
            <p:cNvPr id="67" name="TextBox 67"/>
            <p:cNvSpPr txBox="1"/>
            <p:nvPr/>
          </p:nvSpPr>
          <p:spPr>
            <a:xfrm>
              <a:off x="7386638" y="3038475"/>
              <a:ext cx="571881"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PHEV 试点</a:t>
              </a:r>
            </a:p>
          </p:txBody>
        </p:sp>
        <p:sp>
          <p:nvSpPr>
            <p:cNvPr id="68" name="TextBox 68"/>
            <p:cNvSpPr txBox="1"/>
            <p:nvPr/>
          </p:nvSpPr>
          <p:spPr>
            <a:xfrm>
              <a:off x="10244138" y="3038475"/>
              <a:ext cx="76162"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7</a:t>
              </a:r>
            </a:p>
          </p:txBody>
        </p:sp>
        <p:sp>
          <p:nvSpPr>
            <p:cNvPr id="69" name="Line 69"/>
            <p:cNvSpPr/>
            <p:nvPr/>
          </p:nvSpPr>
          <p:spPr>
            <a:xfrm>
              <a:off x="457200" y="352425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70" name="TextBox 70"/>
            <p:cNvSpPr txBox="1"/>
            <p:nvPr/>
          </p:nvSpPr>
          <p:spPr>
            <a:xfrm>
              <a:off x="528638" y="3324225"/>
              <a:ext cx="37299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墨西哥</a:t>
              </a:r>
            </a:p>
          </p:txBody>
        </p:sp>
        <p:sp>
          <p:nvSpPr>
            <p:cNvPr id="71" name="TextBox 71"/>
            <p:cNvSpPr txBox="1"/>
            <p:nvPr/>
          </p:nvSpPr>
          <p:spPr>
            <a:xfrm>
              <a:off x="2594849" y="3324225"/>
              <a:ext cx="76913"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9</a:t>
              </a:r>
            </a:p>
          </p:txBody>
        </p:sp>
        <p:sp>
          <p:nvSpPr>
            <p:cNvPr id="72" name="TextBox 72"/>
            <p:cNvSpPr txBox="1"/>
            <p:nvPr/>
          </p:nvSpPr>
          <p:spPr>
            <a:xfrm>
              <a:off x="3470797" y="332422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5.3×</a:t>
              </a:r>
            </a:p>
          </p:txBody>
        </p:sp>
        <p:sp>
          <p:nvSpPr>
            <p:cNvPr id="73" name="TextBox 73"/>
            <p:cNvSpPr txBox="1"/>
            <p:nvPr/>
          </p:nvSpPr>
          <p:spPr>
            <a:xfrm>
              <a:off x="4582616" y="3324225"/>
              <a:ext cx="1846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7%</a:t>
              </a:r>
            </a:p>
          </p:txBody>
        </p:sp>
        <p:sp>
          <p:nvSpPr>
            <p:cNvPr id="74" name="TextBox 74"/>
            <p:cNvSpPr txBox="1"/>
            <p:nvPr/>
          </p:nvSpPr>
          <p:spPr>
            <a:xfrm>
              <a:off x="5970080" y="3324225"/>
              <a:ext cx="130683"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a:t>
              </a:r>
            </a:p>
          </p:txBody>
        </p:sp>
        <p:sp>
          <p:nvSpPr>
            <p:cNvPr id="75" name="TextBox 75"/>
            <p:cNvSpPr txBox="1"/>
            <p:nvPr/>
          </p:nvSpPr>
          <p:spPr>
            <a:xfrm>
              <a:off x="6243638" y="3324225"/>
              <a:ext cx="640455"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二级 · 择机</a:t>
              </a:r>
            </a:p>
          </p:txBody>
        </p:sp>
        <p:sp>
          <p:nvSpPr>
            <p:cNvPr id="76" name="TextBox 76"/>
            <p:cNvSpPr txBox="1"/>
            <p:nvPr/>
          </p:nvSpPr>
          <p:spPr>
            <a:xfrm>
              <a:off x="7386638" y="3324225"/>
              <a:ext cx="571881"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PHEV 试点</a:t>
              </a:r>
            </a:p>
          </p:txBody>
        </p:sp>
        <p:sp>
          <p:nvSpPr>
            <p:cNvPr id="77" name="TextBox 77"/>
            <p:cNvSpPr txBox="1"/>
            <p:nvPr/>
          </p:nvSpPr>
          <p:spPr>
            <a:xfrm>
              <a:off x="10244138" y="3324225"/>
              <a:ext cx="76162"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7</a:t>
              </a:r>
            </a:p>
          </p:txBody>
        </p:sp>
        <p:sp>
          <p:nvSpPr>
            <p:cNvPr id="78" name="Line 78"/>
            <p:cNvSpPr/>
            <p:nvPr/>
          </p:nvSpPr>
          <p:spPr>
            <a:xfrm>
              <a:off x="457200" y="381000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79" name="TextBox 79"/>
            <p:cNvSpPr txBox="1"/>
            <p:nvPr/>
          </p:nvSpPr>
          <p:spPr>
            <a:xfrm>
              <a:off x="528638" y="36099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印度</a:t>
              </a:r>
            </a:p>
          </p:txBody>
        </p:sp>
        <p:sp>
          <p:nvSpPr>
            <p:cNvPr id="80" name="TextBox 80"/>
            <p:cNvSpPr txBox="1"/>
            <p:nvPr/>
          </p:nvSpPr>
          <p:spPr>
            <a:xfrm>
              <a:off x="2527461" y="3609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17</a:t>
              </a:r>
            </a:p>
          </p:txBody>
        </p:sp>
        <p:sp>
          <p:nvSpPr>
            <p:cNvPr id="81" name="TextBox 81"/>
            <p:cNvSpPr txBox="1"/>
            <p:nvPr/>
          </p:nvSpPr>
          <p:spPr>
            <a:xfrm>
              <a:off x="3470797" y="360997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2.1×</a:t>
              </a:r>
            </a:p>
          </p:txBody>
        </p:sp>
        <p:sp>
          <p:nvSpPr>
            <p:cNvPr id="82" name="TextBox 82"/>
            <p:cNvSpPr txBox="1"/>
            <p:nvPr/>
          </p:nvSpPr>
          <p:spPr>
            <a:xfrm>
              <a:off x="4582616" y="3609975"/>
              <a:ext cx="1846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a:t>
              </a:r>
            </a:p>
          </p:txBody>
        </p:sp>
        <p:sp>
          <p:nvSpPr>
            <p:cNvPr id="83" name="TextBox 83"/>
            <p:cNvSpPr txBox="1"/>
            <p:nvPr/>
          </p:nvSpPr>
          <p:spPr>
            <a:xfrm>
              <a:off x="5889073" y="360997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210</a:t>
              </a:r>
            </a:p>
          </p:txBody>
        </p:sp>
        <p:sp>
          <p:nvSpPr>
            <p:cNvPr id="84" name="TextBox 84"/>
            <p:cNvSpPr txBox="1"/>
            <p:nvPr/>
          </p:nvSpPr>
          <p:spPr>
            <a:xfrm>
              <a:off x="6243638" y="3609975"/>
              <a:ext cx="640455"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二级 · 择机</a:t>
              </a:r>
            </a:p>
          </p:txBody>
        </p:sp>
        <p:sp>
          <p:nvSpPr>
            <p:cNvPr id="85" name="TextBox 85"/>
            <p:cNvSpPr txBox="1"/>
            <p:nvPr/>
          </p:nvSpPr>
          <p:spPr>
            <a:xfrm>
              <a:off x="7386638" y="3609975"/>
              <a:ext cx="1062571"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PHEV 试点,2027 起</a:t>
              </a:r>
            </a:p>
          </p:txBody>
        </p:sp>
        <p:sp>
          <p:nvSpPr>
            <p:cNvPr id="86" name="TextBox 86"/>
            <p:cNvSpPr txBox="1"/>
            <p:nvPr/>
          </p:nvSpPr>
          <p:spPr>
            <a:xfrm>
              <a:off x="10244138" y="3609975"/>
              <a:ext cx="263957"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7、9</a:t>
              </a:r>
            </a:p>
          </p:txBody>
        </p:sp>
        <p:sp>
          <p:nvSpPr>
            <p:cNvPr id="87" name="Line 87"/>
            <p:cNvSpPr/>
            <p:nvPr/>
          </p:nvSpPr>
          <p:spPr>
            <a:xfrm>
              <a:off x="457200" y="409575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88" name="TextBox 88"/>
            <p:cNvSpPr txBox="1"/>
            <p:nvPr/>
          </p:nvSpPr>
          <p:spPr>
            <a:xfrm>
              <a:off x="528638" y="38957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韩国</a:t>
              </a:r>
            </a:p>
          </p:txBody>
        </p:sp>
        <p:sp>
          <p:nvSpPr>
            <p:cNvPr id="89" name="TextBox 89"/>
            <p:cNvSpPr txBox="1"/>
            <p:nvPr/>
          </p:nvSpPr>
          <p:spPr>
            <a:xfrm>
              <a:off x="2527461" y="3895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22</a:t>
              </a:r>
            </a:p>
          </p:txBody>
        </p:sp>
        <p:sp>
          <p:nvSpPr>
            <p:cNvPr id="90" name="TextBox 90"/>
            <p:cNvSpPr txBox="1"/>
            <p:nvPr/>
          </p:nvSpPr>
          <p:spPr>
            <a:xfrm>
              <a:off x="3470797" y="389572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1.7×</a:t>
              </a:r>
            </a:p>
          </p:txBody>
        </p:sp>
        <p:sp>
          <p:nvSpPr>
            <p:cNvPr id="91" name="TextBox 91"/>
            <p:cNvSpPr txBox="1"/>
            <p:nvPr/>
          </p:nvSpPr>
          <p:spPr>
            <a:xfrm>
              <a:off x="4515228" y="389572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11%</a:t>
              </a:r>
            </a:p>
          </p:txBody>
        </p:sp>
        <p:sp>
          <p:nvSpPr>
            <p:cNvPr id="92" name="TextBox 92"/>
            <p:cNvSpPr txBox="1"/>
            <p:nvPr/>
          </p:nvSpPr>
          <p:spPr>
            <a:xfrm>
              <a:off x="5956461" y="3895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88</a:t>
              </a:r>
            </a:p>
          </p:txBody>
        </p:sp>
        <p:sp>
          <p:nvSpPr>
            <p:cNvPr id="93" name="TextBox 93"/>
            <p:cNvSpPr txBox="1"/>
            <p:nvPr/>
          </p:nvSpPr>
          <p:spPr>
            <a:xfrm>
              <a:off x="6243638" y="3895725"/>
              <a:ext cx="640455"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二级 · 择机</a:t>
              </a:r>
            </a:p>
          </p:txBody>
        </p:sp>
        <p:sp>
          <p:nvSpPr>
            <p:cNvPr id="94" name="TextBox 94"/>
            <p:cNvSpPr txBox="1"/>
            <p:nvPr/>
          </p:nvSpPr>
          <p:spPr>
            <a:xfrm>
              <a:off x="7386638" y="3895725"/>
              <a:ext cx="494157"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渠道试点</a:t>
              </a:r>
            </a:p>
          </p:txBody>
        </p:sp>
        <p:sp>
          <p:nvSpPr>
            <p:cNvPr id="95" name="TextBox 95"/>
            <p:cNvSpPr txBox="1"/>
            <p:nvPr/>
          </p:nvSpPr>
          <p:spPr>
            <a:xfrm>
              <a:off x="10244138" y="3895725"/>
              <a:ext cx="76162"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5</a:t>
              </a:r>
            </a:p>
          </p:txBody>
        </p:sp>
        <p:sp>
          <p:nvSpPr>
            <p:cNvPr id="96" name="Line 96"/>
            <p:cNvSpPr/>
            <p:nvPr/>
          </p:nvSpPr>
          <p:spPr>
            <a:xfrm>
              <a:off x="457200" y="438150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97" name="TextBox 97"/>
            <p:cNvSpPr txBox="1"/>
            <p:nvPr/>
          </p:nvSpPr>
          <p:spPr>
            <a:xfrm>
              <a:off x="528638" y="41814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美国</a:t>
              </a:r>
            </a:p>
          </p:txBody>
        </p:sp>
        <p:sp>
          <p:nvSpPr>
            <p:cNvPr id="98" name="TextBox 98"/>
            <p:cNvSpPr txBox="1"/>
            <p:nvPr/>
          </p:nvSpPr>
          <p:spPr>
            <a:xfrm>
              <a:off x="2460073" y="418147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150</a:t>
              </a:r>
            </a:p>
          </p:txBody>
        </p:sp>
        <p:sp>
          <p:nvSpPr>
            <p:cNvPr id="99" name="TextBox 99"/>
            <p:cNvSpPr txBox="1"/>
            <p:nvPr/>
          </p:nvSpPr>
          <p:spPr>
            <a:xfrm>
              <a:off x="3470797" y="418147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1.1×</a:t>
              </a:r>
            </a:p>
          </p:txBody>
        </p:sp>
        <p:sp>
          <p:nvSpPr>
            <p:cNvPr id="100" name="TextBox 100"/>
            <p:cNvSpPr txBox="1"/>
            <p:nvPr/>
          </p:nvSpPr>
          <p:spPr>
            <a:xfrm>
              <a:off x="4515228" y="41814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10%</a:t>
              </a:r>
            </a:p>
          </p:txBody>
        </p:sp>
        <p:sp>
          <p:nvSpPr>
            <p:cNvPr id="101" name="TextBox 101"/>
            <p:cNvSpPr txBox="1"/>
            <p:nvPr/>
          </p:nvSpPr>
          <p:spPr>
            <a:xfrm>
              <a:off x="5889073" y="418147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310</a:t>
              </a:r>
            </a:p>
          </p:txBody>
        </p:sp>
        <p:sp>
          <p:nvSpPr>
            <p:cNvPr id="102" name="TextBox 102"/>
            <p:cNvSpPr txBox="1"/>
            <p:nvPr/>
          </p:nvSpPr>
          <p:spPr>
            <a:xfrm>
              <a:off x="6243638" y="4181475"/>
              <a:ext cx="640455" cy="176212"/>
            </a:xfrm>
            <a:prstGeom prst="rect">
              <a:avLst/>
            </a:prstGeom>
            <a:noFill/>
            <a:ln>
              <a:noFill/>
            </a:ln>
          </p:spPr>
          <p:txBody>
            <a:bodyPr wrap="none" lIns="0" tIns="0" rIns="0" bIns="0" anchor="t" anchorCtr="0">
              <a:spAutoFit/>
            </a:bodyPr>
            <a:lstStyle/>
            <a:p>
              <a:pPr algn="l"/>
              <a:r>
                <a:rPr lang="zh-CN" sz="900" b="1" dirty="0">
                  <a:solidFill>
                    <a:schemeClr val="accent5"/>
                  </a:solidFill>
                  <a:latin typeface="+mn-lt"/>
                  <a:ea typeface="+mn-ea"/>
                  <a:cs typeface="+mn-cs"/>
                </a:rPr>
                <a:t>三级 · 守势</a:t>
              </a:r>
            </a:p>
          </p:txBody>
        </p:sp>
        <p:sp>
          <p:nvSpPr>
            <p:cNvPr id="103" name="TextBox 103"/>
            <p:cNvSpPr txBox="1"/>
            <p:nvPr/>
          </p:nvSpPr>
          <p:spPr>
            <a:xfrm>
              <a:off x="7386638" y="4181475"/>
              <a:ext cx="1227163"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不新增产能,2028 复盘</a:t>
              </a:r>
            </a:p>
          </p:txBody>
        </p:sp>
        <p:sp>
          <p:nvSpPr>
            <p:cNvPr id="104" name="TextBox 104"/>
            <p:cNvSpPr txBox="1"/>
            <p:nvPr/>
          </p:nvSpPr>
          <p:spPr>
            <a:xfrm>
              <a:off x="10244138" y="4181475"/>
              <a:ext cx="263957"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5、9</a:t>
              </a:r>
            </a:p>
          </p:txBody>
        </p:sp>
        <p:sp>
          <p:nvSpPr>
            <p:cNvPr id="105" name="Line 105"/>
            <p:cNvSpPr/>
            <p:nvPr/>
          </p:nvSpPr>
          <p:spPr>
            <a:xfrm>
              <a:off x="457200" y="466725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106" name="TextBox 106"/>
            <p:cNvSpPr txBox="1"/>
            <p:nvPr/>
          </p:nvSpPr>
          <p:spPr>
            <a:xfrm>
              <a:off x="528638" y="44672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日本</a:t>
              </a:r>
            </a:p>
          </p:txBody>
        </p:sp>
        <p:sp>
          <p:nvSpPr>
            <p:cNvPr id="107" name="TextBox 107"/>
            <p:cNvSpPr txBox="1"/>
            <p:nvPr/>
          </p:nvSpPr>
          <p:spPr>
            <a:xfrm>
              <a:off x="2527461" y="44672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10</a:t>
              </a:r>
            </a:p>
          </p:txBody>
        </p:sp>
        <p:sp>
          <p:nvSpPr>
            <p:cNvPr id="108" name="TextBox 108"/>
            <p:cNvSpPr txBox="1"/>
            <p:nvPr/>
          </p:nvSpPr>
          <p:spPr>
            <a:xfrm>
              <a:off x="3470797" y="446722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0.7×</a:t>
              </a:r>
            </a:p>
          </p:txBody>
        </p:sp>
        <p:sp>
          <p:nvSpPr>
            <p:cNvPr id="109" name="TextBox 109"/>
            <p:cNvSpPr txBox="1"/>
            <p:nvPr/>
          </p:nvSpPr>
          <p:spPr>
            <a:xfrm>
              <a:off x="4582616" y="4467225"/>
              <a:ext cx="1846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a:t>
              </a:r>
            </a:p>
          </p:txBody>
        </p:sp>
        <p:sp>
          <p:nvSpPr>
            <p:cNvPr id="110" name="TextBox 110"/>
            <p:cNvSpPr txBox="1"/>
            <p:nvPr/>
          </p:nvSpPr>
          <p:spPr>
            <a:xfrm>
              <a:off x="5956461" y="44672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70</a:t>
              </a:r>
            </a:p>
          </p:txBody>
        </p:sp>
        <p:sp>
          <p:nvSpPr>
            <p:cNvPr id="111" name="TextBox 111"/>
            <p:cNvSpPr txBox="1"/>
            <p:nvPr/>
          </p:nvSpPr>
          <p:spPr>
            <a:xfrm>
              <a:off x="6243638" y="4467225"/>
              <a:ext cx="640455" cy="176212"/>
            </a:xfrm>
            <a:prstGeom prst="rect">
              <a:avLst/>
            </a:prstGeom>
            <a:noFill/>
            <a:ln>
              <a:noFill/>
            </a:ln>
          </p:spPr>
          <p:txBody>
            <a:bodyPr wrap="none" lIns="0" tIns="0" rIns="0" bIns="0" anchor="t" anchorCtr="0">
              <a:spAutoFit/>
            </a:bodyPr>
            <a:lstStyle/>
            <a:p>
              <a:pPr algn="l"/>
              <a:r>
                <a:rPr lang="zh-CN" sz="900" b="1" dirty="0">
                  <a:solidFill>
                    <a:schemeClr val="accent5"/>
                  </a:solidFill>
                  <a:latin typeface="+mn-lt"/>
                  <a:ea typeface="+mn-ea"/>
                  <a:cs typeface="+mn-cs"/>
                </a:rPr>
                <a:t>三级 · 守势</a:t>
              </a:r>
            </a:p>
          </p:txBody>
        </p:sp>
        <p:sp>
          <p:nvSpPr>
            <p:cNvPr id="112" name="TextBox 112"/>
            <p:cNvSpPr txBox="1"/>
            <p:nvPr/>
          </p:nvSpPr>
          <p:spPr>
            <a:xfrm>
              <a:off x="7386638" y="4467225"/>
              <a:ext cx="494157"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维持现状</a:t>
              </a:r>
            </a:p>
          </p:txBody>
        </p:sp>
        <p:sp>
          <p:nvSpPr>
            <p:cNvPr id="113" name="TextBox 113"/>
            <p:cNvSpPr txBox="1"/>
            <p:nvPr/>
          </p:nvSpPr>
          <p:spPr>
            <a:xfrm>
              <a:off x="10244138" y="4467225"/>
              <a:ext cx="76162"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5</a:t>
              </a:r>
            </a:p>
          </p:txBody>
        </p:sp>
        <p:sp>
          <p:nvSpPr>
            <p:cNvPr id="114" name="Line 114"/>
            <p:cNvSpPr/>
            <p:nvPr/>
          </p:nvSpPr>
          <p:spPr>
            <a:xfrm>
              <a:off x="457200" y="4953000"/>
              <a:ext cx="11277600" cy="9525"/>
            </a:xfrm>
            <a:custGeom>
              <a:avLst/>
              <a:gdLst/>
              <a:ahLst/>
              <a:cxnLst/>
              <a:rect l="l" t="t" r="r" b="b"/>
              <a:pathLst>
                <a:path w="11277600" h="9525">
                  <a:moveTo>
                    <a:pt x="0" y="0"/>
                  </a:moveTo>
                  <a:lnTo>
                    <a:pt x="11277600" y="0"/>
                  </a:lnTo>
                </a:path>
              </a:pathLst>
            </a:custGeom>
            <a:noFill/>
            <a:ln w="7144">
              <a:solidFill>
                <a:srgbClr val="E3E3E3"/>
              </a:solidFill>
            </a:ln>
          </p:spPr>
        </p:sp>
        <p:sp>
          <p:nvSpPr>
            <p:cNvPr id="115" name="TextBox 115"/>
            <p:cNvSpPr txBox="1"/>
            <p:nvPr/>
          </p:nvSpPr>
          <p:spPr>
            <a:xfrm>
              <a:off x="528638" y="47529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法国</a:t>
              </a:r>
            </a:p>
          </p:txBody>
        </p:sp>
        <p:sp>
          <p:nvSpPr>
            <p:cNvPr id="116" name="TextBox 116"/>
            <p:cNvSpPr txBox="1"/>
            <p:nvPr/>
          </p:nvSpPr>
          <p:spPr>
            <a:xfrm>
              <a:off x="2527461" y="4752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45</a:t>
              </a:r>
            </a:p>
          </p:txBody>
        </p:sp>
        <p:sp>
          <p:nvSpPr>
            <p:cNvPr id="117" name="TextBox 117"/>
            <p:cNvSpPr txBox="1"/>
            <p:nvPr/>
          </p:nvSpPr>
          <p:spPr>
            <a:xfrm>
              <a:off x="3470797" y="4752975"/>
              <a:ext cx="24871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1.0×</a:t>
              </a:r>
            </a:p>
          </p:txBody>
        </p:sp>
        <p:sp>
          <p:nvSpPr>
            <p:cNvPr id="118" name="TextBox 118"/>
            <p:cNvSpPr txBox="1"/>
            <p:nvPr/>
          </p:nvSpPr>
          <p:spPr>
            <a:xfrm>
              <a:off x="4515228" y="47529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26%</a:t>
              </a:r>
            </a:p>
          </p:txBody>
        </p:sp>
        <p:sp>
          <p:nvSpPr>
            <p:cNvPr id="119" name="TextBox 119"/>
            <p:cNvSpPr txBox="1"/>
            <p:nvPr/>
          </p:nvSpPr>
          <p:spPr>
            <a:xfrm>
              <a:off x="5970080" y="4752975"/>
              <a:ext cx="130683"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a:t>
              </a:r>
            </a:p>
          </p:txBody>
        </p:sp>
        <p:sp>
          <p:nvSpPr>
            <p:cNvPr id="120" name="TextBox 120"/>
            <p:cNvSpPr txBox="1"/>
            <p:nvPr/>
          </p:nvSpPr>
          <p:spPr>
            <a:xfrm>
              <a:off x="6243638" y="4752975"/>
              <a:ext cx="640455" cy="176212"/>
            </a:xfrm>
            <a:prstGeom prst="rect">
              <a:avLst/>
            </a:prstGeom>
            <a:noFill/>
            <a:ln>
              <a:noFill/>
            </a:ln>
          </p:spPr>
          <p:txBody>
            <a:bodyPr wrap="none" lIns="0" tIns="0" rIns="0" bIns="0" anchor="t" anchorCtr="0">
              <a:spAutoFit/>
            </a:bodyPr>
            <a:lstStyle/>
            <a:p>
              <a:pPr algn="l"/>
              <a:r>
                <a:rPr lang="zh-CN" sz="900" b="1" dirty="0">
                  <a:solidFill>
                    <a:schemeClr val="accent5"/>
                  </a:solidFill>
                  <a:latin typeface="+mn-lt"/>
                  <a:ea typeface="+mn-ea"/>
                  <a:cs typeface="+mn-cs"/>
                </a:rPr>
                <a:t>三级 · 守势</a:t>
              </a:r>
            </a:p>
          </p:txBody>
        </p:sp>
        <p:sp>
          <p:nvSpPr>
            <p:cNvPr id="121" name="TextBox 121"/>
            <p:cNvSpPr txBox="1"/>
            <p:nvPr/>
          </p:nvSpPr>
          <p:spPr>
            <a:xfrm>
              <a:off x="7386638" y="4752975"/>
              <a:ext cx="494157"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维持现状</a:t>
              </a:r>
            </a:p>
          </p:txBody>
        </p:sp>
        <p:sp>
          <p:nvSpPr>
            <p:cNvPr id="122" name="TextBox 122"/>
            <p:cNvSpPr txBox="1"/>
            <p:nvPr/>
          </p:nvSpPr>
          <p:spPr>
            <a:xfrm>
              <a:off x="10244138" y="4752975"/>
              <a:ext cx="76162" cy="176212"/>
            </a:xfrm>
            <a:prstGeom prst="rect">
              <a:avLst/>
            </a:prstGeom>
            <a:noFill/>
            <a:ln>
              <a:noFill/>
            </a:ln>
          </p:spPr>
          <p:txBody>
            <a:bodyPr wrap="none" lIns="0" tIns="0" rIns="0" bIns="0" anchor="t" anchorCtr="0">
              <a:spAutoFit/>
            </a:bodyPr>
            <a:lstStyle/>
            <a:p>
              <a:pPr algn="l"/>
              <a:r>
                <a:rPr lang="zh-CN" sz="900" dirty="0">
                  <a:solidFill>
                    <a:schemeClr val="dk1"/>
                  </a:solidFill>
                  <a:latin typeface="+mn-lt"/>
                  <a:ea typeface="+mn-ea"/>
                  <a:cs typeface="+mn-cs"/>
                </a:rPr>
                <a:t>6</a:t>
              </a:r>
            </a:p>
          </p:txBody>
        </p:sp>
      </p:grpSp>
      <p:grpSp>
        <p:nvGrpSpPr>
          <p:cNvPr id="132" name="tier-totals"/>
          <p:cNvGrpSpPr/>
          <p:nvPr/>
        </p:nvGrpSpPr>
        <p:grpSpPr>
          <a:xfrm>
            <a:off x="448818" y="5130641"/>
            <a:ext cx="5342382" cy="619125"/>
            <a:chOff x="448818" y="5130641"/>
            <a:chExt cx="5342382" cy="619125"/>
          </a:xfrm>
        </p:grpSpPr>
        <p:sp>
          <p:nvSpPr>
            <p:cNvPr id="124" name="TextBox 124"/>
            <p:cNvSpPr txBox="1"/>
            <p:nvPr/>
          </p:nvSpPr>
          <p:spPr>
            <a:xfrm>
              <a:off x="452438" y="5130641"/>
              <a:ext cx="2888396"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三级合计:2025 年销量与 2023→25 增量(万辆)</a:t>
              </a:r>
            </a:p>
          </p:txBody>
        </p:sp>
        <p:sp>
          <p:nvSpPr>
            <p:cNvPr id="125" name="Line 125"/>
            <p:cNvSpPr/>
            <p:nvPr/>
          </p:nvSpPr>
          <p:spPr>
            <a:xfrm>
              <a:off x="457200" y="5295900"/>
              <a:ext cx="5334000" cy="9525"/>
            </a:xfrm>
            <a:custGeom>
              <a:avLst/>
              <a:gdLst/>
              <a:ahLst/>
              <a:cxnLst/>
              <a:rect l="l" t="t" r="r" b="b"/>
              <a:pathLst>
                <a:path w="5334000" h="9525">
                  <a:moveTo>
                    <a:pt x="0" y="0"/>
                  </a:moveTo>
                  <a:lnTo>
                    <a:pt x="5334000" y="0"/>
                  </a:lnTo>
                </a:path>
              </a:pathLst>
            </a:custGeom>
            <a:noFill/>
            <a:ln w="7144">
              <a:solidFill>
                <a:schemeClr val="accent1"/>
              </a:solidFill>
            </a:ln>
          </p:spPr>
        </p:sp>
        <p:sp>
          <p:nvSpPr>
            <p:cNvPr id="126" name="TextBox 126"/>
            <p:cNvSpPr txBox="1"/>
            <p:nvPr/>
          </p:nvSpPr>
          <p:spPr>
            <a:xfrm>
              <a:off x="448818" y="5346382"/>
              <a:ext cx="572649"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Arial"/>
                  <a:ea typeface="Arial"/>
                  <a:cs typeface="Arial"/>
                </a:rPr>
                <a:t>1,510</a:t>
              </a:r>
            </a:p>
          </p:txBody>
        </p:sp>
        <p:sp>
          <p:nvSpPr>
            <p:cNvPr id="127" name="TextBox 127"/>
            <p:cNvSpPr txBox="1"/>
            <p:nvPr/>
          </p:nvSpPr>
          <p:spPr>
            <a:xfrm>
              <a:off x="452438" y="5587841"/>
              <a:ext cx="113548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一级 4 市场,增量 +370</a:t>
              </a:r>
            </a:p>
          </p:txBody>
        </p:sp>
        <p:sp>
          <p:nvSpPr>
            <p:cNvPr id="128" name="TextBox 128"/>
            <p:cNvSpPr txBox="1"/>
            <p:nvPr/>
          </p:nvSpPr>
          <p:spPr>
            <a:xfrm>
              <a:off x="2227136" y="5346382"/>
              <a:ext cx="263854" cy="322707"/>
            </a:xfrm>
            <a:prstGeom prst="rect">
              <a:avLst/>
            </a:prstGeom>
            <a:noFill/>
            <a:ln>
              <a:noFill/>
            </a:ln>
          </p:spPr>
          <p:txBody>
            <a:bodyPr wrap="none" lIns="0" tIns="0" rIns="0" bIns="0" anchor="t" anchorCtr="0">
              <a:spAutoFit/>
            </a:bodyPr>
            <a:lstStyle/>
            <a:p>
              <a:pPr algn="l"/>
              <a:r>
                <a:rPr lang="zh-CN" sz="1650" b="1" dirty="0">
                  <a:solidFill>
                    <a:schemeClr val="accent1"/>
                  </a:solidFill>
                  <a:latin typeface="Arial"/>
                  <a:ea typeface="Arial"/>
                  <a:cs typeface="Arial"/>
                </a:rPr>
                <a:t>66</a:t>
              </a:r>
            </a:p>
          </p:txBody>
        </p:sp>
        <p:sp>
          <p:nvSpPr>
            <p:cNvPr id="129" name="TextBox 129"/>
            <p:cNvSpPr txBox="1"/>
            <p:nvPr/>
          </p:nvSpPr>
          <p:spPr>
            <a:xfrm>
              <a:off x="2230755" y="5587841"/>
              <a:ext cx="107477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二级 4 市场,增量 +37</a:t>
              </a:r>
            </a:p>
          </p:txBody>
        </p:sp>
        <p:sp>
          <p:nvSpPr>
            <p:cNvPr id="130" name="TextBox 130"/>
            <p:cNvSpPr txBox="1"/>
            <p:nvPr/>
          </p:nvSpPr>
          <p:spPr>
            <a:xfrm>
              <a:off x="4004500" y="5346382"/>
              <a:ext cx="387398" cy="322707"/>
            </a:xfrm>
            <a:prstGeom prst="rect">
              <a:avLst/>
            </a:prstGeom>
            <a:noFill/>
            <a:ln>
              <a:noFill/>
            </a:ln>
          </p:spPr>
          <p:txBody>
            <a:bodyPr wrap="none" lIns="0" tIns="0" rIns="0" bIns="0" anchor="t" anchorCtr="0">
              <a:spAutoFit/>
            </a:bodyPr>
            <a:lstStyle/>
            <a:p>
              <a:pPr algn="l"/>
              <a:r>
                <a:rPr lang="zh-CN" sz="1650" b="1" dirty="0">
                  <a:solidFill>
                    <a:schemeClr val="accent5"/>
                  </a:solidFill>
                  <a:latin typeface="Arial"/>
                  <a:ea typeface="Arial"/>
                  <a:cs typeface="Arial"/>
                </a:rPr>
                <a:t>205</a:t>
              </a:r>
            </a:p>
          </p:txBody>
        </p:sp>
        <p:sp>
          <p:nvSpPr>
            <p:cNvPr id="131" name="TextBox 131"/>
            <p:cNvSpPr txBox="1"/>
            <p:nvPr/>
          </p:nvSpPr>
          <p:spPr>
            <a:xfrm>
              <a:off x="4008120" y="5587841"/>
              <a:ext cx="1014059"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三级 3 市场,增量 −2</a:t>
              </a:r>
            </a:p>
          </p:txBody>
        </p:sp>
      </p:grpSp>
      <p:grpSp>
        <p:nvGrpSpPr>
          <p:cNvPr id="136" name="tier-note"/>
          <p:cNvGrpSpPr/>
          <p:nvPr/>
        </p:nvGrpSpPr>
        <p:grpSpPr>
          <a:xfrm>
            <a:off x="6090666" y="5130641"/>
            <a:ext cx="5644134" cy="962120"/>
            <a:chOff x="6090666" y="5130641"/>
            <a:chExt cx="5644134" cy="962120"/>
          </a:xfrm>
        </p:grpSpPr>
        <p:sp>
          <p:nvSpPr>
            <p:cNvPr id="133" name="TextBox 133"/>
            <p:cNvSpPr txBox="1"/>
            <p:nvPr/>
          </p:nvSpPr>
          <p:spPr>
            <a:xfrm>
              <a:off x="6091238" y="51306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分级含义</a:t>
              </a:r>
            </a:p>
          </p:txBody>
        </p:sp>
        <p:sp>
          <p:nvSpPr>
            <p:cNvPr id="134" name="Line 134"/>
            <p:cNvSpPr/>
            <p:nvPr/>
          </p:nvSpPr>
          <p:spPr>
            <a:xfrm>
              <a:off x="6096000" y="5295900"/>
              <a:ext cx="5638800" cy="9525"/>
            </a:xfrm>
            <a:custGeom>
              <a:avLst/>
              <a:gdLst/>
              <a:ahLst/>
              <a:cxnLst/>
              <a:rect l="l" t="t" r="r" b="b"/>
              <a:pathLst>
                <a:path w="5638800" h="9525">
                  <a:moveTo>
                    <a:pt x="0" y="0"/>
                  </a:moveTo>
                  <a:lnTo>
                    <a:pt x="5638800" y="0"/>
                  </a:lnTo>
                </a:path>
              </a:pathLst>
            </a:custGeom>
            <a:noFill/>
            <a:ln w="7144">
              <a:solidFill>
                <a:schemeClr val="accent1"/>
              </a:solidFill>
            </a:ln>
          </p:spPr>
        </p:sp>
        <p:sp>
          <p:nvSpPr>
            <p:cNvPr id="135" name="TextBox 135"/>
            <p:cNvSpPr txBox="1"/>
            <p:nvPr/>
          </p:nvSpPr>
          <p:spPr>
            <a:xfrm>
              <a:off x="6090666" y="5373052"/>
              <a:ext cx="3791140" cy="719709"/>
            </a:xfrm>
            <a:prstGeom prst="rect">
              <a:avLst/>
            </a:prstGeom>
            <a:noFill/>
            <a:ln>
              <a:noFill/>
            </a:ln>
          </p:spPr>
          <p:txBody>
            <a:bodyPr wrap="none" lIns="0" tIns="0" rIns="0" bIns="0" anchor="t" anchorCtr="0">
              <a:spAutoFit/>
            </a:bodyPr>
            <a:lstStyle/>
            <a:p>
              <a:pPr algn="l">
                <a:lnSpc>
                  <a:spcPts val="1350"/>
                </a:lnSpc>
              </a:pPr>
              <a:r>
                <a:rPr lang="zh-CN" sz="1050" b="1" dirty="0">
                  <a:solidFill>
                    <a:schemeClr val="accent2"/>
                  </a:solidFill>
                  <a:latin typeface="+mn-lt"/>
                  <a:ea typeface="+mn-ea"/>
                  <a:cs typeface="+mn-cs"/>
                </a:rPr>
                <a:t>一级</a:t>
              </a:r>
              <a:r>
                <a:rPr lang="zh-CN" sz="1050" dirty="0">
                  <a:solidFill>
                    <a:schemeClr val="dk1"/>
                  </a:solidFill>
                  <a:latin typeface="+mn-lt"/>
                  <a:ea typeface="+mn-ea"/>
                  <a:cs typeface="+mn-cs"/>
                </a:rPr>
                <a:t xml:space="preserve"> 2026–28 增量投入主战场:中国守存量、东南亚抢窗口、</a:t>
              </a:r>
              <a:br/>
              <a:r>
                <a:rPr lang="zh-CN" sz="1050" dirty="0">
                  <a:solidFill>
                    <a:schemeClr val="dk1"/>
                  </a:solidFill>
                  <a:latin typeface="+mn-lt"/>
                  <a:ea typeface="+mn-ea"/>
                  <a:cs typeface="+mn-cs"/>
                </a:rPr>
                <a:t>英德是欧洲仅有的确定增量;</a:t>
              </a:r>
              <a:br/>
              <a:r>
                <a:rPr lang="zh-CN" sz="1050" b="1" dirty="0">
                  <a:solidFill>
                    <a:schemeClr val="accent1"/>
                  </a:solidFill>
                  <a:latin typeface="+mn-lt"/>
                  <a:ea typeface="+mn-ea"/>
                  <a:cs typeface="+mn-cs"/>
                </a:rPr>
                <a:t>二级</a:t>
              </a:r>
              <a:r>
                <a:rPr lang="zh-CN" sz="1050" dirty="0">
                  <a:solidFill>
                    <a:schemeClr val="dk1"/>
                  </a:solidFill>
                  <a:latin typeface="+mn-lt"/>
                  <a:ea typeface="+mn-ea"/>
                  <a:cs typeface="+mn-cs"/>
                </a:rPr>
                <a:t xml:space="preserve"> 以 PHEV 试点验证后择机放量,试点规模受控;</a:t>
              </a:r>
              <a:br/>
              <a:r>
                <a:rPr lang="zh-CN" sz="1050" b="1" dirty="0">
                  <a:solidFill>
                    <a:schemeClr val="accent5"/>
                  </a:solidFill>
                  <a:latin typeface="+mn-lt"/>
                  <a:ea typeface="+mn-ea"/>
                  <a:cs typeface="+mn-cs"/>
                </a:rPr>
                <a:t>三级</a:t>
              </a:r>
              <a:r>
                <a:rPr lang="zh-CN" sz="1050" dirty="0">
                  <a:solidFill>
                    <a:schemeClr val="dk1"/>
                  </a:solidFill>
                  <a:latin typeface="+mn-lt"/>
                  <a:ea typeface="+mn-ea"/>
                  <a:cs typeface="+mn-cs"/>
                </a:rPr>
                <a:t xml:space="preserve"> 停滞或饱和市场维持布局、不新增投入,2028 年复盘美国。</a:t>
              </a:r>
            </a:p>
          </p:txBody>
        </p:sp>
      </p:grpSp>
      <p:grpSp>
        <p:nvGrpSpPr>
          <p:cNvPr id="141" name="footer"/>
          <p:cNvGrpSpPr/>
          <p:nvPr/>
        </p:nvGrpSpPr>
        <p:grpSpPr>
          <a:xfrm>
            <a:off x="452438" y="6205538"/>
            <a:ext cx="11287124" cy="433388"/>
            <a:chOff x="452438" y="6205538"/>
            <a:chExt cx="11287124" cy="433388"/>
          </a:xfrm>
        </p:grpSpPr>
        <p:sp>
          <p:nvSpPr>
            <p:cNvPr id="137" name="TextBox 137"/>
            <p:cNvSpPr txBox="1"/>
            <p:nvPr/>
          </p:nvSpPr>
          <p:spPr>
            <a:xfrm>
              <a:off x="452438" y="6205538"/>
              <a:ext cx="6111335"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电动车占新车销量的比例;2035 情景为 IEA STEPS,「—」为 IEA 未单列</a:t>
              </a:r>
            </a:p>
          </p:txBody>
        </p:sp>
        <p:sp>
          <p:nvSpPr>
            <p:cNvPr id="138" name="TextBox 138"/>
            <p:cNvSpPr txBox="1"/>
            <p:nvPr/>
          </p:nvSpPr>
          <p:spPr>
            <a:xfrm>
              <a:off x="452438" y="6338888"/>
              <a:ext cx="5765387"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分级规则:一级 = 增量确定且渗透率仍有空间或已是最大存量;二级 = 起量中、以 PHEV 试点验证;三级 = 停滞或饱和,维持不加</a:t>
              </a:r>
            </a:p>
          </p:txBody>
        </p:sp>
        <p:sp>
          <p:nvSpPr>
            <p:cNvPr id="139" name="TextBox 139"/>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140" name="TextBox 140"/>
            <p:cNvSpPr txBox="1"/>
            <p:nvPr/>
          </p:nvSpPr>
          <p:spPr>
            <a:xfrm>
              <a:off x="11617724" y="6491288"/>
              <a:ext cx="121838"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123"/>
                                        </p:tgtEl>
                                        <p:attrNameLst>
                                          <p:attrName>style.visibility</p:attrName>
                                        </p:attrNameLst>
                                      </p:cBhvr>
                                      <p:to>
                                        <p:strVal val="visible"/>
                                      </p:to>
                                    </p:set>
                                    <p:animEffect transition="in" filter="wipe(down)">
                                      <p:cBhvr>
                                        <p:cTn id="11" dur="700"/>
                                        <p:tgtEl>
                                          <p:spTgt spid="123"/>
                                        </p:tgtEl>
                                      </p:cBhvr>
                                    </p:animEffect>
                                  </p:childTnLst>
                                </p:cTn>
                              </p:par>
                            </p:childTnLst>
                          </p:cTn>
                        </p:par>
                        <p:par>
                          <p:cTn id="12" fill="hold">
                            <p:stCondLst>
                              <p:cond delay="15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32"/>
                                        </p:tgtEl>
                                        <p:attrNameLst>
                                          <p:attrName>style.visibility</p:attrName>
                                        </p:attrNameLst>
                                      </p:cBhvr>
                                      <p:to>
                                        <p:strVal val="visible"/>
                                      </p:to>
                                    </p:set>
                                    <p:animEffect transition="in" filter="fade">
                                      <p:cBhvr>
                                        <p:cTn id="15" dur="300"/>
                                        <p:tgtEl>
                                          <p:spTgt spid="132"/>
                                        </p:tgtEl>
                                      </p:cBhvr>
                                    </p:animEffect>
                                  </p:childTnLst>
                                </p:cTn>
                              </p:par>
                            </p:childTnLst>
                          </p:cTn>
                        </p:par>
                        <p:par>
                          <p:cTn id="16" fill="hold">
                            <p:stCondLst>
                              <p:cond delay="23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36"/>
                                        </p:tgtEl>
                                        <p:attrNameLst>
                                          <p:attrName>style.visibility</p:attrName>
                                        </p:attrNameLst>
                                      </p:cBhvr>
                                      <p:to>
                                        <p:strVal val="visible"/>
                                      </p:to>
                                    </p:set>
                                    <p:animEffect transition="in" filter="fade">
                                      <p:cBhvr>
                                        <p:cTn id="19" dur="3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565714" y="247650"/>
            <a:ext cx="1169086" cy="206216"/>
            <a:chOff x="10565714" y="247650"/>
            <a:chExt cx="1169086" cy="206216"/>
          </a:xfrm>
        </p:grpSpPr>
        <p:sp>
          <p:nvSpPr>
            <p:cNvPr id="2" name="TextBox 2"/>
            <p:cNvSpPr txBox="1"/>
            <p:nvPr/>
          </p:nvSpPr>
          <p:spPr>
            <a:xfrm>
              <a:off x="10565714" y="291941"/>
              <a:ext cx="24039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建议</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7194614" cy="637794"/>
            <a:chOff x="448056" y="472440"/>
            <a:chExt cx="7194614" cy="637794"/>
          </a:xfrm>
        </p:grpSpPr>
        <p:sp>
          <p:nvSpPr>
            <p:cNvPr id="6" name="TextBox 6"/>
            <p:cNvSpPr txBox="1"/>
            <p:nvPr/>
          </p:nvSpPr>
          <p:spPr>
            <a:xfrm>
              <a:off x="448056" y="472440"/>
              <a:ext cx="7194614"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2026 年 PHEV 试点东南亚与拉美,2027 年按结果放量并补齐英德 BEV,</a:t>
              </a:r>
              <a:br/>
              <a:r>
                <a:rPr lang="zh-CN" sz="1800" b="1" dirty="0">
                  <a:solidFill>
                    <a:schemeClr val="accent1"/>
                  </a:solidFill>
                  <a:latin typeface="+mn-lt"/>
                  <a:ea typeface="+mn-ea"/>
                  <a:cs typeface="+mn-cs"/>
                </a:rPr>
                <a:t>2028 年再决定是否加码美国</a:t>
              </a:r>
            </a:p>
          </p:txBody>
        </p:sp>
      </p:grpSp>
      <p:grpSp>
        <p:nvGrpSpPr>
          <p:cNvPr id="9" name="unit-line"/>
          <p:cNvGrpSpPr/>
          <p:nvPr/>
        </p:nvGrpSpPr>
        <p:grpSpPr>
          <a:xfrm>
            <a:off x="452438" y="1160145"/>
            <a:ext cx="4136555" cy="176212"/>
            <a:chOff x="452438" y="1160145"/>
            <a:chExt cx="4136555" cy="176212"/>
          </a:xfrm>
        </p:grpSpPr>
        <p:sp>
          <p:nvSpPr>
            <p:cNvPr id="8" name="TextBox 8"/>
            <p:cNvSpPr txBox="1"/>
            <p:nvPr/>
          </p:nvSpPr>
          <p:spPr>
            <a:xfrm>
              <a:off x="452438" y="1160145"/>
              <a:ext cx="4136555"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三年行动节奏:三个层级 × 三个阶段,每年 12 月以 IEA 同口径数据通过决策门</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4" name="stage-2026"/>
          <p:cNvGrpSpPr/>
          <p:nvPr/>
        </p:nvGrpSpPr>
        <p:grpSpPr>
          <a:xfrm>
            <a:off x="1257300" y="1524000"/>
            <a:ext cx="3352800" cy="342900"/>
            <a:chOff x="1257300" y="1524000"/>
            <a:chExt cx="3352800" cy="342900"/>
          </a:xfrm>
        </p:grpSpPr>
        <p:sp>
          <p:nvSpPr>
            <p:cNvPr id="11" name="Freeform 11"/>
            <p:cNvSpPr/>
            <p:nvPr/>
          </p:nvSpPr>
          <p:spPr>
            <a:xfrm>
              <a:off x="1257300" y="1524000"/>
              <a:ext cx="3352800" cy="342900"/>
            </a:xfrm>
            <a:prstGeom prst="chevron">
              <a:avLst>
                <a:gd name="adj" fmla="val 20000"/>
              </a:avLst>
            </a:prstGeom>
            <a:solidFill>
              <a:schemeClr val="accent1"/>
            </a:solidFill>
            <a:ln>
              <a:noFill/>
            </a:ln>
          </p:spPr>
        </p:sp>
        <p:sp>
          <p:nvSpPr>
            <p:cNvPr id="12" name="TextBox 12"/>
            <p:cNvSpPr txBox="1"/>
            <p:nvPr/>
          </p:nvSpPr>
          <p:spPr>
            <a:xfrm>
              <a:off x="1442466" y="1629728"/>
              <a:ext cx="325146"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Arial"/>
                  <a:cs typeface="Arial"/>
                </a:rPr>
                <a:t>2026</a:t>
              </a:r>
            </a:p>
          </p:txBody>
        </p:sp>
        <p:sp>
          <p:nvSpPr>
            <p:cNvPr id="13" name="TextBox 13"/>
            <p:cNvSpPr txBox="1"/>
            <p:nvPr/>
          </p:nvSpPr>
          <p:spPr>
            <a:xfrm>
              <a:off x="1900238" y="1645920"/>
              <a:ext cx="251841" cy="176212"/>
            </a:xfrm>
            <a:prstGeom prst="rect">
              <a:avLst/>
            </a:prstGeom>
            <a:noFill/>
            <a:ln>
              <a:noFill/>
            </a:ln>
          </p:spPr>
          <p:txBody>
            <a:bodyPr wrap="none" lIns="0" tIns="0" rIns="0" bIns="0" anchor="t" anchorCtr="0">
              <a:spAutoFit/>
            </a:bodyPr>
            <a:lstStyle/>
            <a:p>
              <a:pPr algn="l"/>
              <a:r>
                <a:rPr lang="zh-CN" sz="900" dirty="0">
                  <a:solidFill>
                    <a:srgbClr val="FFFFFF"/>
                  </a:solidFill>
                  <a:latin typeface="+mn-lt"/>
                  <a:ea typeface="+mn-ea"/>
                  <a:cs typeface="+mn-cs"/>
                </a:rPr>
                <a:t>试点</a:t>
              </a:r>
            </a:p>
          </p:txBody>
        </p:sp>
      </p:grpSp>
      <p:grpSp>
        <p:nvGrpSpPr>
          <p:cNvPr id="18" name="stage-2027"/>
          <p:cNvGrpSpPr/>
          <p:nvPr/>
        </p:nvGrpSpPr>
        <p:grpSpPr>
          <a:xfrm>
            <a:off x="4762500" y="1524000"/>
            <a:ext cx="3352800" cy="342900"/>
            <a:chOff x="4762500" y="1524000"/>
            <a:chExt cx="3352800" cy="342900"/>
          </a:xfrm>
        </p:grpSpPr>
        <p:sp>
          <p:nvSpPr>
            <p:cNvPr id="15" name="Freeform 15"/>
            <p:cNvSpPr/>
            <p:nvPr/>
          </p:nvSpPr>
          <p:spPr>
            <a:xfrm>
              <a:off x="4762500" y="1524000"/>
              <a:ext cx="3352800" cy="342900"/>
            </a:xfrm>
            <a:prstGeom prst="chevron">
              <a:avLst>
                <a:gd name="adj" fmla="val 20000"/>
              </a:avLst>
            </a:prstGeom>
            <a:solidFill>
              <a:schemeClr val="accent2"/>
            </a:solidFill>
            <a:ln>
              <a:noFill/>
            </a:ln>
          </p:spPr>
        </p:sp>
        <p:sp>
          <p:nvSpPr>
            <p:cNvPr id="16" name="TextBox 16"/>
            <p:cNvSpPr txBox="1"/>
            <p:nvPr/>
          </p:nvSpPr>
          <p:spPr>
            <a:xfrm>
              <a:off x="4947666" y="1629728"/>
              <a:ext cx="325146" cy="205359"/>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Arial"/>
                  <a:cs typeface="Arial"/>
                </a:rPr>
                <a:t>2027</a:t>
              </a:r>
            </a:p>
          </p:txBody>
        </p:sp>
        <p:sp>
          <p:nvSpPr>
            <p:cNvPr id="17" name="TextBox 17"/>
            <p:cNvSpPr txBox="1"/>
            <p:nvPr/>
          </p:nvSpPr>
          <p:spPr>
            <a:xfrm>
              <a:off x="5405438" y="1645920"/>
              <a:ext cx="251841" cy="176212"/>
            </a:xfrm>
            <a:prstGeom prst="rect">
              <a:avLst/>
            </a:prstGeom>
            <a:noFill/>
            <a:ln>
              <a:noFill/>
            </a:ln>
          </p:spPr>
          <p:txBody>
            <a:bodyPr wrap="none" lIns="0" tIns="0" rIns="0" bIns="0" anchor="t" anchorCtr="0">
              <a:spAutoFit/>
            </a:bodyPr>
            <a:lstStyle/>
            <a:p>
              <a:pPr algn="l"/>
              <a:r>
                <a:rPr lang="zh-CN" sz="900" dirty="0">
                  <a:solidFill>
                    <a:srgbClr val="FFFFFF"/>
                  </a:solidFill>
                  <a:latin typeface="+mn-lt"/>
                  <a:ea typeface="+mn-ea"/>
                  <a:cs typeface="+mn-cs"/>
                </a:rPr>
                <a:t>放量</a:t>
              </a:r>
            </a:p>
          </p:txBody>
        </p:sp>
      </p:grpSp>
      <p:grpSp>
        <p:nvGrpSpPr>
          <p:cNvPr id="22" name="stage-2028"/>
          <p:cNvGrpSpPr/>
          <p:nvPr/>
        </p:nvGrpSpPr>
        <p:grpSpPr>
          <a:xfrm>
            <a:off x="8267700" y="1524000"/>
            <a:ext cx="3467100" cy="342900"/>
            <a:chOff x="8267700" y="1524000"/>
            <a:chExt cx="3467100" cy="342900"/>
          </a:xfrm>
        </p:grpSpPr>
        <p:sp>
          <p:nvSpPr>
            <p:cNvPr id="19" name="Freeform 19"/>
            <p:cNvSpPr/>
            <p:nvPr/>
          </p:nvSpPr>
          <p:spPr>
            <a:xfrm>
              <a:off x="8267700" y="1524000"/>
              <a:ext cx="3467100" cy="342900"/>
            </a:xfrm>
            <a:prstGeom prst="chevron">
              <a:avLst>
                <a:gd name="adj" fmla="val 20000"/>
              </a:avLst>
            </a:prstGeom>
            <a:solidFill>
              <a:schemeClr val="accent3"/>
            </a:solidFill>
            <a:ln>
              <a:noFill/>
            </a:ln>
          </p:spPr>
        </p:sp>
        <p:sp>
          <p:nvSpPr>
            <p:cNvPr id="20" name="TextBox 20"/>
            <p:cNvSpPr txBox="1"/>
            <p:nvPr/>
          </p:nvSpPr>
          <p:spPr>
            <a:xfrm>
              <a:off x="8452866" y="1629728"/>
              <a:ext cx="325146" cy="205359"/>
            </a:xfrm>
            <a:prstGeom prst="rect">
              <a:avLst/>
            </a:prstGeom>
            <a:noFill/>
            <a:ln>
              <a:noFill/>
            </a:ln>
          </p:spPr>
          <p:txBody>
            <a:bodyPr wrap="none" lIns="0" tIns="0" rIns="0" bIns="0" anchor="t" anchorCtr="0">
              <a:spAutoFit/>
            </a:bodyPr>
            <a:lstStyle/>
            <a:p>
              <a:pPr algn="l"/>
              <a:r>
                <a:rPr lang="zh-CN" sz="1050" b="1" dirty="0">
                  <a:solidFill>
                    <a:schemeClr val="accent1"/>
                  </a:solidFill>
                  <a:latin typeface="Arial"/>
                  <a:ea typeface="Arial"/>
                  <a:cs typeface="Arial"/>
                </a:rPr>
                <a:t>2028</a:t>
              </a:r>
            </a:p>
          </p:txBody>
        </p:sp>
        <p:sp>
          <p:nvSpPr>
            <p:cNvPr id="21" name="TextBox 21"/>
            <p:cNvSpPr txBox="1"/>
            <p:nvPr/>
          </p:nvSpPr>
          <p:spPr>
            <a:xfrm>
              <a:off x="8910638" y="1645920"/>
              <a:ext cx="251841" cy="176212"/>
            </a:xfrm>
            <a:prstGeom prst="rect">
              <a:avLst/>
            </a:prstGeom>
            <a:noFill/>
            <a:ln>
              <a:noFill/>
            </a:ln>
          </p:spPr>
          <p:txBody>
            <a:bodyPr wrap="none" lIns="0" tIns="0" rIns="0" bIns="0" anchor="t" anchorCtr="0">
              <a:spAutoFit/>
            </a:bodyPr>
            <a:lstStyle/>
            <a:p>
              <a:pPr algn="l"/>
              <a:r>
                <a:rPr lang="zh-CN" sz="900" dirty="0">
                  <a:solidFill>
                    <a:schemeClr val="accent1"/>
                  </a:solidFill>
                  <a:latin typeface="+mn-lt"/>
                  <a:ea typeface="+mn-ea"/>
                  <a:cs typeface="+mn-cs"/>
                </a:rPr>
                <a:t>决定</a:t>
              </a:r>
            </a:p>
          </p:txBody>
        </p:sp>
      </p:grpSp>
      <p:grpSp>
        <p:nvGrpSpPr>
          <p:cNvPr id="27" name="stage-outputs"/>
          <p:cNvGrpSpPr/>
          <p:nvPr/>
        </p:nvGrpSpPr>
        <p:grpSpPr>
          <a:xfrm>
            <a:off x="566738" y="2055495"/>
            <a:ext cx="10000869" cy="176212"/>
            <a:chOff x="566738" y="2055495"/>
            <a:chExt cx="10000869" cy="176212"/>
          </a:xfrm>
        </p:grpSpPr>
        <p:sp>
          <p:nvSpPr>
            <p:cNvPr id="23" name="TextBox 23"/>
            <p:cNvSpPr txBox="1"/>
            <p:nvPr/>
          </p:nvSpPr>
          <p:spPr>
            <a:xfrm>
              <a:off x="566738" y="2063591"/>
              <a:ext cx="481368" cy="161925"/>
            </a:xfrm>
            <a:prstGeom prst="rect">
              <a:avLst/>
            </a:prstGeom>
            <a:noFill/>
            <a:ln>
              <a:noFill/>
            </a:ln>
          </p:spPr>
          <p:txBody>
            <a:bodyPr wrap="none" lIns="0" tIns="0" rIns="0" bIns="0" anchor="t" anchorCtr="0">
              <a:spAutoFit/>
            </a:bodyPr>
            <a:lstStyle/>
            <a:p>
              <a:pPr algn="l"/>
              <a:r>
                <a:rPr lang="zh-CN" sz="820" spc="75" dirty="0">
                  <a:solidFill>
                    <a:schemeClr val="accent5"/>
                  </a:solidFill>
                  <a:latin typeface="+mn-lt"/>
                  <a:ea typeface="+mn-ea"/>
                  <a:cs typeface="+mn-cs"/>
                </a:rPr>
                <a:t>阶段产出</a:t>
              </a:r>
            </a:p>
          </p:txBody>
        </p:sp>
        <p:sp>
          <p:nvSpPr>
            <p:cNvPr id="24" name="TextBox 24"/>
            <p:cNvSpPr txBox="1"/>
            <p:nvPr/>
          </p:nvSpPr>
          <p:spPr>
            <a:xfrm>
              <a:off x="1366838" y="2055495"/>
              <a:ext cx="2917317" cy="176212"/>
            </a:xfrm>
            <a:prstGeom prst="rect">
              <a:avLst/>
            </a:prstGeom>
            <a:noFill/>
            <a:ln>
              <a:noFill/>
            </a:ln>
          </p:spPr>
          <p:txBody>
            <a:bodyPr wrap="none" lIns="0" tIns="0" rIns="0" bIns="0" anchor="t" anchorCtr="0">
              <a:spAutoFit/>
            </a:bodyPr>
            <a:lstStyle/>
            <a:p>
              <a:pPr algn="l"/>
              <a:r>
                <a:rPr lang="zh-CN" sz="900" dirty="0">
                  <a:solidFill>
                    <a:schemeClr val="accent1"/>
                  </a:solidFill>
                  <a:latin typeface="+mn-lt"/>
                  <a:ea typeface="+mn-ea"/>
                  <a:cs typeface="+mn-cs"/>
                </a:rPr>
                <a:t>东南亚试点渗透率数据、泰国首发结果、英德车型上市</a:t>
              </a:r>
            </a:p>
          </p:txBody>
        </p:sp>
        <p:sp>
          <p:nvSpPr>
            <p:cNvPr id="25" name="TextBox 25"/>
            <p:cNvSpPr txBox="1"/>
            <p:nvPr/>
          </p:nvSpPr>
          <p:spPr>
            <a:xfrm>
              <a:off x="4872038" y="2055495"/>
              <a:ext cx="2791130" cy="176212"/>
            </a:xfrm>
            <a:prstGeom prst="rect">
              <a:avLst/>
            </a:prstGeom>
            <a:noFill/>
            <a:ln>
              <a:noFill/>
            </a:ln>
          </p:spPr>
          <p:txBody>
            <a:bodyPr wrap="none" lIns="0" tIns="0" rIns="0" bIns="0" anchor="t" anchorCtr="0">
              <a:spAutoFit/>
            </a:bodyPr>
            <a:lstStyle/>
            <a:p>
              <a:pPr algn="l"/>
              <a:r>
                <a:rPr lang="zh-CN" sz="900" dirty="0">
                  <a:solidFill>
                    <a:schemeClr val="accent1"/>
                  </a:solidFill>
                  <a:latin typeface="+mn-lt"/>
                  <a:ea typeface="+mn-ea"/>
                  <a:cs typeface="+mn-cs"/>
                </a:rPr>
                <a:t>二级市场放量决定、印度试点启动、拉美 PHEV 上市</a:t>
              </a:r>
            </a:p>
          </p:txBody>
        </p:sp>
        <p:sp>
          <p:nvSpPr>
            <p:cNvPr id="26" name="TextBox 26"/>
            <p:cNvSpPr txBox="1"/>
            <p:nvPr/>
          </p:nvSpPr>
          <p:spPr>
            <a:xfrm>
              <a:off x="8377238" y="2055495"/>
              <a:ext cx="2190369" cy="176212"/>
            </a:xfrm>
            <a:prstGeom prst="rect">
              <a:avLst/>
            </a:prstGeom>
            <a:noFill/>
            <a:ln>
              <a:noFill/>
            </a:ln>
          </p:spPr>
          <p:txBody>
            <a:bodyPr wrap="none" lIns="0" tIns="0" rIns="0" bIns="0" anchor="t" anchorCtr="0">
              <a:spAutoFit/>
            </a:bodyPr>
            <a:lstStyle/>
            <a:p>
              <a:pPr algn="l"/>
              <a:r>
                <a:rPr lang="zh-CN" sz="900" dirty="0">
                  <a:solidFill>
                    <a:schemeClr val="accent1"/>
                  </a:solidFill>
                  <a:latin typeface="+mn-lt"/>
                  <a:ea typeface="+mn-ea"/>
                  <a:cs typeface="+mn-cs"/>
                </a:rPr>
                <a:t>美国加码与否的决定、下一轮三年优先级</a:t>
              </a:r>
            </a:p>
          </p:txBody>
        </p:sp>
      </p:grpSp>
      <p:grpSp>
        <p:nvGrpSpPr>
          <p:cNvPr id="33" name="lane-1"/>
          <p:cNvGrpSpPr/>
          <p:nvPr/>
        </p:nvGrpSpPr>
        <p:grpSpPr>
          <a:xfrm>
            <a:off x="457200" y="2324100"/>
            <a:ext cx="11277600" cy="990600"/>
            <a:chOff x="457200" y="2324100"/>
            <a:chExt cx="11277600" cy="990600"/>
          </a:xfrm>
        </p:grpSpPr>
        <p:sp>
          <p:nvSpPr>
            <p:cNvPr id="28" name="Rectangle 28"/>
            <p:cNvSpPr/>
            <p:nvPr/>
          </p:nvSpPr>
          <p:spPr>
            <a:xfrm>
              <a:off x="457200" y="2324100"/>
              <a:ext cx="11277600" cy="990600"/>
            </a:xfrm>
            <a:prstGeom prst="rect">
              <a:avLst/>
            </a:prstGeom>
            <a:solidFill>
              <a:srgbClr val="F7F7F7"/>
            </a:solidFill>
            <a:ln>
              <a:noFill/>
            </a:ln>
          </p:spPr>
        </p:sp>
        <p:sp>
          <p:nvSpPr>
            <p:cNvPr id="29" name="TextBox 29"/>
            <p:cNvSpPr txBox="1"/>
            <p:nvPr/>
          </p:nvSpPr>
          <p:spPr>
            <a:xfrm>
              <a:off x="566547" y="2447449"/>
              <a:ext cx="273761" cy="190690"/>
            </a:xfrm>
            <a:prstGeom prst="rect">
              <a:avLst/>
            </a:prstGeom>
            <a:noFill/>
            <a:ln>
              <a:noFill/>
            </a:ln>
          </p:spPr>
          <p:txBody>
            <a:bodyPr wrap="none" lIns="0" tIns="0" rIns="0" bIns="0" anchor="t" anchorCtr="0">
              <a:spAutoFit/>
            </a:bodyPr>
            <a:lstStyle/>
            <a:p>
              <a:pPr algn="l"/>
              <a:r>
                <a:rPr lang="zh-CN" sz="980" b="1" dirty="0">
                  <a:solidFill>
                    <a:schemeClr val="accent2"/>
                  </a:solidFill>
                  <a:latin typeface="+mn-lt"/>
                  <a:ea typeface="+mn-ea"/>
                  <a:cs typeface="+mn-cs"/>
                </a:rPr>
                <a:t>一级</a:t>
              </a:r>
            </a:p>
          </p:txBody>
        </p:sp>
        <p:sp>
          <p:nvSpPr>
            <p:cNvPr id="30" name="TextBox 30"/>
            <p:cNvSpPr txBox="1"/>
            <p:nvPr/>
          </p:nvSpPr>
          <p:spPr>
            <a:xfrm>
              <a:off x="1366266" y="2439352"/>
              <a:ext cx="2037588" cy="5863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东南亚 PHEV 试点上市,泰国首发</a:t>
              </a:r>
            </a:p>
            <a:p>
              <a:pPr algn="l" marL="113348" indent="-113348">
                <a:lnSpc>
                  <a:spcPts val="1500"/>
                </a:lnSpc>
                <a:buClr>
                  <a:schemeClr val="dk1"/>
                </a:buClr>
                <a:buSzTx/>
                <a:buFontTx/>
                <a:buChar char="•"/>
              </a:pPr>
              <a:r>
                <a:rPr lang="zh-CN" sz="1050" dirty="0">
                  <a:solidFill>
                    <a:schemeClr val="dk1"/>
                  </a:solidFill>
                  <a:latin typeface="+mn-lt"/>
                  <a:ea typeface="+mn-ea"/>
                  <a:cs typeface="+mn-cs"/>
                </a:rPr>
                <a:t>英国、德国补齐 BEV 车型</a:t>
              </a:r>
            </a:p>
            <a:p>
              <a:pPr algn="l" marL="113348" indent="-113348">
                <a:lnSpc>
                  <a:spcPts val="1500"/>
                </a:lnSpc>
                <a:buClr>
                  <a:schemeClr val="dk1"/>
                </a:buClr>
                <a:buSzTx/>
                <a:buFontTx/>
                <a:buChar char="•"/>
              </a:pPr>
              <a:r>
                <a:rPr lang="zh-CN" sz="1050" dirty="0">
                  <a:solidFill>
                    <a:schemeClr val="dk1"/>
                  </a:solidFill>
                  <a:latin typeface="+mn-lt"/>
                  <a:ea typeface="+mn-ea"/>
                  <a:cs typeface="+mn-cs"/>
                </a:rPr>
                <a:t>中国维持 BEV + PHEV 双线</a:t>
              </a:r>
            </a:p>
          </p:txBody>
        </p:sp>
        <p:sp>
          <p:nvSpPr>
            <p:cNvPr id="31" name="TextBox 31"/>
            <p:cNvSpPr txBox="1"/>
            <p:nvPr/>
          </p:nvSpPr>
          <p:spPr>
            <a:xfrm>
              <a:off x="4871466" y="2439352"/>
              <a:ext cx="199091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按试点渗透率数据在东南亚放量</a:t>
              </a:r>
            </a:p>
            <a:p>
              <a:pPr algn="l" marL="113348" indent="-113348">
                <a:lnSpc>
                  <a:spcPts val="1500"/>
                </a:lnSpc>
                <a:buClr>
                  <a:schemeClr val="dk1"/>
                </a:buClr>
                <a:buSzTx/>
                <a:buFontTx/>
                <a:buChar char="•"/>
              </a:pPr>
              <a:r>
                <a:rPr lang="zh-CN" sz="1050" dirty="0">
                  <a:solidFill>
                    <a:schemeClr val="dk1"/>
                  </a:solidFill>
                  <a:latin typeface="+mn-lt"/>
                  <a:ea typeface="+mn-ea"/>
                  <a:cs typeface="+mn-cs"/>
                </a:rPr>
                <a:t>英德 BEV 车型全面上市</a:t>
              </a:r>
            </a:p>
          </p:txBody>
        </p:sp>
        <p:sp>
          <p:nvSpPr>
            <p:cNvPr id="32" name="TextBox 32"/>
            <p:cNvSpPr txBox="1"/>
            <p:nvPr/>
          </p:nvSpPr>
          <p:spPr>
            <a:xfrm>
              <a:off x="8376666" y="2439352"/>
              <a:ext cx="172421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东南亚补齐 BEV 车型</a:t>
              </a:r>
            </a:p>
            <a:p>
              <a:pPr algn="l" marL="113348" indent="-113348">
                <a:lnSpc>
                  <a:spcPts val="1500"/>
                </a:lnSpc>
                <a:buClr>
                  <a:schemeClr val="dk1"/>
                </a:buClr>
                <a:buSzTx/>
                <a:buFontTx/>
                <a:buChar char="•"/>
              </a:pPr>
              <a:r>
                <a:rPr lang="zh-CN" sz="1050" dirty="0">
                  <a:solidFill>
                    <a:schemeClr val="dk1"/>
                  </a:solidFill>
                  <a:latin typeface="+mn-lt"/>
                  <a:ea typeface="+mn-ea"/>
                  <a:cs typeface="+mn-cs"/>
                </a:rPr>
                <a:t>中国、英德按年度复盘调整</a:t>
              </a:r>
            </a:p>
          </p:txBody>
        </p:sp>
      </p:grpSp>
      <p:grpSp>
        <p:nvGrpSpPr>
          <p:cNvPr id="38" name="lane-2"/>
          <p:cNvGrpSpPr/>
          <p:nvPr/>
        </p:nvGrpSpPr>
        <p:grpSpPr>
          <a:xfrm>
            <a:off x="566547" y="3506152"/>
            <a:ext cx="9534335" cy="395859"/>
            <a:chOff x="566547" y="3506152"/>
            <a:chExt cx="9534335" cy="395859"/>
          </a:xfrm>
        </p:grpSpPr>
        <p:sp>
          <p:nvSpPr>
            <p:cNvPr id="34" name="TextBox 34"/>
            <p:cNvSpPr txBox="1"/>
            <p:nvPr/>
          </p:nvSpPr>
          <p:spPr>
            <a:xfrm>
              <a:off x="566547" y="3514249"/>
              <a:ext cx="273761"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二级</a:t>
              </a:r>
            </a:p>
          </p:txBody>
        </p:sp>
        <p:sp>
          <p:nvSpPr>
            <p:cNvPr id="35" name="TextBox 35"/>
            <p:cNvSpPr txBox="1"/>
            <p:nvPr/>
          </p:nvSpPr>
          <p:spPr>
            <a:xfrm>
              <a:off x="1366266" y="3506152"/>
              <a:ext cx="145751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巴西、墨西哥搭建渠道</a:t>
              </a:r>
            </a:p>
            <a:p>
              <a:pPr algn="l" marL="113348" indent="-113348">
                <a:lnSpc>
                  <a:spcPts val="1500"/>
                </a:lnSpc>
                <a:buClr>
                  <a:schemeClr val="dk1"/>
                </a:buClr>
                <a:buSzTx/>
                <a:buFontTx/>
                <a:buChar char="•"/>
              </a:pPr>
              <a:r>
                <a:rPr lang="zh-CN" sz="1050" dirty="0">
                  <a:solidFill>
                    <a:schemeClr val="dk1"/>
                  </a:solidFill>
                  <a:latin typeface="+mn-lt"/>
                  <a:ea typeface="+mn-ea"/>
                  <a:cs typeface="+mn-cs"/>
                </a:rPr>
                <a:t>韩国渠道试点</a:t>
              </a:r>
            </a:p>
          </p:txBody>
        </p:sp>
        <p:sp>
          <p:nvSpPr>
            <p:cNvPr id="36" name="TextBox 36"/>
            <p:cNvSpPr txBox="1"/>
            <p:nvPr/>
          </p:nvSpPr>
          <p:spPr>
            <a:xfrm>
              <a:off x="4871466" y="3506152"/>
              <a:ext cx="156419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印度启动 PHEV 试点</a:t>
              </a:r>
            </a:p>
            <a:p>
              <a:pPr algn="l" marL="113348" indent="-113348">
                <a:lnSpc>
                  <a:spcPts val="1500"/>
                </a:lnSpc>
                <a:buClr>
                  <a:schemeClr val="dk1"/>
                </a:buClr>
                <a:buSzTx/>
                <a:buFontTx/>
                <a:buChar char="•"/>
              </a:pPr>
              <a:r>
                <a:rPr lang="zh-CN" sz="1050" dirty="0">
                  <a:solidFill>
                    <a:schemeClr val="dk1"/>
                  </a:solidFill>
                  <a:latin typeface="+mn-lt"/>
                  <a:ea typeface="+mn-ea"/>
                  <a:cs typeface="+mn-cs"/>
                </a:rPr>
                <a:t>巴西、墨西哥 PHEV 上市</a:t>
              </a:r>
            </a:p>
          </p:txBody>
        </p:sp>
        <p:sp>
          <p:nvSpPr>
            <p:cNvPr id="37" name="TextBox 37"/>
            <p:cNvSpPr txBox="1"/>
            <p:nvPr/>
          </p:nvSpPr>
          <p:spPr>
            <a:xfrm>
              <a:off x="8376666" y="3506152"/>
              <a:ext cx="172421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印度按试点结果放量</a:t>
              </a:r>
            </a:p>
            <a:p>
              <a:pPr algn="l" marL="113348" indent="-113348">
                <a:lnSpc>
                  <a:spcPts val="1500"/>
                </a:lnSpc>
                <a:buClr>
                  <a:schemeClr val="dk1"/>
                </a:buClr>
                <a:buSzTx/>
                <a:buFontTx/>
                <a:buChar char="•"/>
              </a:pPr>
              <a:r>
                <a:rPr lang="zh-CN" sz="1050" dirty="0">
                  <a:solidFill>
                    <a:schemeClr val="dk1"/>
                  </a:solidFill>
                  <a:latin typeface="+mn-lt"/>
                  <a:ea typeface="+mn-ea"/>
                  <a:cs typeface="+mn-cs"/>
                </a:rPr>
                <a:t>拉美按渗透率数据决定加码</a:t>
              </a:r>
            </a:p>
          </p:txBody>
        </p:sp>
      </p:grpSp>
      <p:grpSp>
        <p:nvGrpSpPr>
          <p:cNvPr id="44" name="lane-3"/>
          <p:cNvGrpSpPr/>
          <p:nvPr/>
        </p:nvGrpSpPr>
        <p:grpSpPr>
          <a:xfrm>
            <a:off x="457200" y="4381500"/>
            <a:ext cx="11277600" cy="914400"/>
            <a:chOff x="457200" y="4381500"/>
            <a:chExt cx="11277600" cy="914400"/>
          </a:xfrm>
        </p:grpSpPr>
        <p:sp>
          <p:nvSpPr>
            <p:cNvPr id="39" name="Rectangle 39"/>
            <p:cNvSpPr/>
            <p:nvPr/>
          </p:nvSpPr>
          <p:spPr>
            <a:xfrm>
              <a:off x="457200" y="4381500"/>
              <a:ext cx="11277600" cy="914400"/>
            </a:xfrm>
            <a:prstGeom prst="rect">
              <a:avLst/>
            </a:prstGeom>
            <a:solidFill>
              <a:srgbClr val="F7F7F7"/>
            </a:solidFill>
            <a:ln>
              <a:noFill/>
            </a:ln>
          </p:spPr>
        </p:sp>
        <p:sp>
          <p:nvSpPr>
            <p:cNvPr id="40" name="TextBox 40"/>
            <p:cNvSpPr txBox="1"/>
            <p:nvPr/>
          </p:nvSpPr>
          <p:spPr>
            <a:xfrm>
              <a:off x="566547" y="4504849"/>
              <a:ext cx="273761" cy="190690"/>
            </a:xfrm>
            <a:prstGeom prst="rect">
              <a:avLst/>
            </a:prstGeom>
            <a:noFill/>
            <a:ln>
              <a:noFill/>
            </a:ln>
          </p:spPr>
          <p:txBody>
            <a:bodyPr wrap="none" lIns="0" tIns="0" rIns="0" bIns="0" anchor="t" anchorCtr="0">
              <a:spAutoFit/>
            </a:bodyPr>
            <a:lstStyle/>
            <a:p>
              <a:pPr algn="l"/>
              <a:r>
                <a:rPr lang="zh-CN" sz="980" b="1" dirty="0">
                  <a:solidFill>
                    <a:schemeClr val="accent5"/>
                  </a:solidFill>
                  <a:latin typeface="+mn-lt"/>
                  <a:ea typeface="+mn-ea"/>
                  <a:cs typeface="+mn-cs"/>
                </a:rPr>
                <a:t>三级</a:t>
              </a:r>
            </a:p>
          </p:txBody>
        </p:sp>
        <p:sp>
          <p:nvSpPr>
            <p:cNvPr id="41" name="TextBox 41"/>
            <p:cNvSpPr txBox="1"/>
            <p:nvPr/>
          </p:nvSpPr>
          <p:spPr>
            <a:xfrm>
              <a:off x="1366266" y="4496752"/>
              <a:ext cx="172421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美国、日本、法国维持现状</a:t>
              </a:r>
            </a:p>
            <a:p>
              <a:pPr algn="l" marL="113348" indent="-113348">
                <a:lnSpc>
                  <a:spcPts val="1500"/>
                </a:lnSpc>
                <a:buClr>
                  <a:schemeClr val="dk1"/>
                </a:buClr>
                <a:buSzTx/>
                <a:buFontTx/>
                <a:buChar char="•"/>
              </a:pPr>
              <a:r>
                <a:rPr lang="zh-CN" sz="1050" dirty="0">
                  <a:solidFill>
                    <a:schemeClr val="dk1"/>
                  </a:solidFill>
                  <a:latin typeface="+mn-lt"/>
                  <a:ea typeface="+mn-ea"/>
                  <a:cs typeface="+mn-cs"/>
                </a:rPr>
                <a:t>美国不新增产能</a:t>
              </a:r>
            </a:p>
          </p:txBody>
        </p:sp>
        <p:sp>
          <p:nvSpPr>
            <p:cNvPr id="42" name="TextBox 42"/>
            <p:cNvSpPr txBox="1"/>
            <p:nvPr/>
          </p:nvSpPr>
          <p:spPr>
            <a:xfrm>
              <a:off x="4871466" y="4496752"/>
              <a:ext cx="1324166"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美国不新增产能</a:t>
              </a:r>
            </a:p>
            <a:p>
              <a:pPr algn="l" marL="113348" indent="-113348">
                <a:lnSpc>
                  <a:spcPts val="1500"/>
                </a:lnSpc>
                <a:buClr>
                  <a:schemeClr val="dk1"/>
                </a:buClr>
                <a:buSzTx/>
                <a:buFontTx/>
                <a:buChar char="•"/>
              </a:pPr>
              <a:r>
                <a:rPr lang="zh-CN" sz="1050" dirty="0">
                  <a:solidFill>
                    <a:schemeClr val="dk1"/>
                  </a:solidFill>
                  <a:latin typeface="+mn-lt"/>
                  <a:ea typeface="+mn-ea"/>
                  <a:cs typeface="+mn-cs"/>
                </a:rPr>
                <a:t>法国按英德节奏观望</a:t>
              </a:r>
            </a:p>
          </p:txBody>
        </p:sp>
        <p:sp>
          <p:nvSpPr>
            <p:cNvPr id="43" name="TextBox 43"/>
            <p:cNvSpPr txBox="1"/>
            <p:nvPr/>
          </p:nvSpPr>
          <p:spPr>
            <a:xfrm>
              <a:off x="8376666" y="4496752"/>
              <a:ext cx="1877568" cy="395859"/>
            </a:xfrm>
            <a:prstGeom prst="rect">
              <a:avLst/>
            </a:prstGeom>
            <a:noFill/>
            <a:ln>
              <a:noFill/>
            </a:ln>
          </p:spPr>
          <p:txBody>
            <a:bodyPr wrap="none" lIns="0" tIns="0" rIns="0" bIns="0" anchor="t" anchorCtr="0">
              <a:spAutoFit/>
            </a:bodyPr>
            <a:lstStyle/>
            <a:p>
              <a:pPr algn="l" marL="113348" indent="-113348">
                <a:lnSpc>
                  <a:spcPts val="1500"/>
                </a:lnSpc>
                <a:buClr>
                  <a:schemeClr val="dk1"/>
                </a:buClr>
                <a:buSzTx/>
                <a:buFontTx/>
                <a:buChar char="•"/>
              </a:pPr>
              <a:r>
                <a:rPr lang="zh-CN" sz="1050" dirty="0">
                  <a:solidFill>
                    <a:schemeClr val="dk1"/>
                  </a:solidFill>
                  <a:latin typeface="+mn-lt"/>
                  <a:ea typeface="+mn-ea"/>
                  <a:cs typeface="+mn-cs"/>
                </a:rPr>
                <a:t>复盘美国渗透率是否突破 10%</a:t>
              </a:r>
            </a:p>
            <a:p>
              <a:pPr algn="l" marL="113348" indent="-113348">
                <a:lnSpc>
                  <a:spcPts val="1500"/>
                </a:lnSpc>
                <a:buClr>
                  <a:schemeClr val="dk1"/>
                </a:buClr>
                <a:buSzTx/>
                <a:buFontTx/>
                <a:buChar char="•"/>
              </a:pPr>
              <a:r>
                <a:rPr lang="zh-CN" sz="1050" dirty="0">
                  <a:solidFill>
                    <a:schemeClr val="dk1"/>
                  </a:solidFill>
                  <a:latin typeface="+mn-lt"/>
                  <a:ea typeface="+mn-ea"/>
                  <a:cs typeface="+mn-cs"/>
                </a:rPr>
                <a:t>决定是否加码美国</a:t>
              </a:r>
            </a:p>
          </p:txBody>
        </p:sp>
      </p:grpSp>
      <p:grpSp>
        <p:nvGrpSpPr>
          <p:cNvPr id="48" name="decision-gate"/>
          <p:cNvGrpSpPr/>
          <p:nvPr/>
        </p:nvGrpSpPr>
        <p:grpSpPr>
          <a:xfrm>
            <a:off x="457200" y="5391150"/>
            <a:ext cx="11277600" cy="666750"/>
            <a:chOff x="457200" y="5391150"/>
            <a:chExt cx="11277600" cy="666750"/>
          </a:xfrm>
        </p:grpSpPr>
        <p:sp>
          <p:nvSpPr>
            <p:cNvPr id="45" name="Rectangle 45"/>
            <p:cNvSpPr/>
            <p:nvPr/>
          </p:nvSpPr>
          <p:spPr>
            <a:xfrm>
              <a:off x="457200" y="5391150"/>
              <a:ext cx="11277600" cy="666750"/>
            </a:xfrm>
            <a:prstGeom prst="rect">
              <a:avLst/>
            </a:prstGeom>
            <a:noFill/>
            <a:ln w="7144">
              <a:solidFill>
                <a:schemeClr val="accent1"/>
              </a:solidFill>
            </a:ln>
          </p:spPr>
        </p:sp>
        <p:sp>
          <p:nvSpPr>
            <p:cNvPr id="46" name="TextBox 46"/>
            <p:cNvSpPr txBox="1"/>
            <p:nvPr/>
          </p:nvSpPr>
          <p:spPr>
            <a:xfrm>
              <a:off x="604838" y="5503545"/>
              <a:ext cx="2158428"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决策门(每年 12 月,以 IEA 同口径数据)</a:t>
              </a:r>
            </a:p>
          </p:txBody>
        </p:sp>
        <p:sp>
          <p:nvSpPr>
            <p:cNvPr id="47" name="TextBox 47"/>
            <p:cNvSpPr txBox="1"/>
            <p:nvPr/>
          </p:nvSpPr>
          <p:spPr>
            <a:xfrm>
              <a:off x="604266" y="5677852"/>
              <a:ext cx="8371713" cy="376809"/>
            </a:xfrm>
            <a:prstGeom prst="rect">
              <a:avLst/>
            </a:prstGeom>
            <a:noFill/>
            <a:ln>
              <a:noFill/>
            </a:ln>
          </p:spPr>
          <p:txBody>
            <a:bodyPr wrap="none" lIns="0" tIns="0" rIns="0" bIns="0" anchor="t" anchorCtr="0">
              <a:spAutoFit/>
            </a:bodyPr>
            <a:lstStyle/>
            <a:p>
              <a:pPr algn="l">
                <a:lnSpc>
                  <a:spcPts val="1350"/>
                </a:lnSpc>
              </a:pPr>
              <a:r>
                <a:rPr lang="zh-CN" sz="1050" dirty="0">
                  <a:solidFill>
                    <a:schemeClr val="dk1"/>
                  </a:solidFill>
                  <a:latin typeface="+mn-lt"/>
                  <a:ea typeface="+mn-ea"/>
                  <a:cs typeface="+mn-cs"/>
                </a:rPr>
                <a:t>2026 年底:东南亚试点渗透率是否守住 18%(低于则冻结二级放量);2027 年底:德国是否回落到 25% 以下、中国 PHEV 占比是否连续两季下降;</a:t>
              </a:r>
              <a:br/>
              <a:r>
                <a:rPr lang="zh-CN" sz="1050" dirty="0">
                  <a:solidFill>
                    <a:schemeClr val="dk1"/>
                  </a:solidFill>
                  <a:latin typeface="+mn-lt"/>
                  <a:ea typeface="+mn-ea"/>
                  <a:cs typeface="+mn-cs"/>
                </a:rPr>
                <a:t>2028 年底:美国渗透率是否突破 10%(突破则进入下一轮三年优先级评估,否则维持守势)。</a:t>
              </a:r>
            </a:p>
          </p:txBody>
        </p:sp>
      </p:grpSp>
      <p:grpSp>
        <p:nvGrpSpPr>
          <p:cNvPr id="52" name="footer"/>
          <p:cNvGrpSpPr/>
          <p:nvPr/>
        </p:nvGrpSpPr>
        <p:grpSpPr>
          <a:xfrm>
            <a:off x="452438" y="6205538"/>
            <a:ext cx="11287124" cy="300038"/>
            <a:chOff x="452438" y="6205538"/>
            <a:chExt cx="11287124" cy="300038"/>
          </a:xfrm>
        </p:grpSpPr>
        <p:sp>
          <p:nvSpPr>
            <p:cNvPr id="49" name="TextBox 49"/>
            <p:cNvSpPr txBox="1"/>
            <p:nvPr/>
          </p:nvSpPr>
          <p:spPr>
            <a:xfrm>
              <a:off x="452438" y="6205538"/>
              <a:ext cx="3058668"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本页为建议的行动节奏,不含新的数据事实;决策门阈值见第 12 页</a:t>
              </a:r>
            </a:p>
          </p:txBody>
        </p:sp>
        <p:sp>
          <p:nvSpPr>
            <p:cNvPr id="50" name="TextBox 50"/>
            <p:cNvSpPr txBox="1"/>
            <p:nvPr/>
          </p:nvSpPr>
          <p:spPr>
            <a:xfrm>
              <a:off x="452438" y="635793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51" name="TextBox 51"/>
            <p:cNvSpPr txBox="1"/>
            <p:nvPr/>
          </p:nvSpPr>
          <p:spPr>
            <a:xfrm>
              <a:off x="11617724" y="6357938"/>
              <a:ext cx="121838"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wipe(right)">
                                      <p:cBhvr>
                                        <p:cTn id="11" dur="400"/>
                                        <p:tgtEl>
                                          <p:spTgt spid="14"/>
                                        </p:tgtEl>
                                      </p:cBhvr>
                                    </p:animEffect>
                                  </p:childTnLst>
                                </p:cTn>
                              </p:par>
                            </p:childTnLst>
                          </p:cTn>
                        </p:par>
                        <p:par>
                          <p:cTn id="12" fill="hold">
                            <p:stCondLst>
                              <p:cond delay="12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18"/>
                                        </p:tgtEl>
                                        <p:attrNameLst>
                                          <p:attrName>style.visibility</p:attrName>
                                        </p:attrNameLst>
                                      </p:cBhvr>
                                      <p:to>
                                        <p:strVal val="visible"/>
                                      </p:to>
                                    </p:set>
                                    <p:animEffect transition="in" filter="wipe(right)">
                                      <p:cBhvr>
                                        <p:cTn id="15" dur="400"/>
                                        <p:tgtEl>
                                          <p:spTgt spid="18"/>
                                        </p:tgtEl>
                                      </p:cBhvr>
                                    </p:animEffect>
                                  </p:childTnLst>
                                </p:cTn>
                              </p:par>
                            </p:childTnLst>
                          </p:cTn>
                        </p:par>
                        <p:par>
                          <p:cTn id="16" fill="hold">
                            <p:stCondLst>
                              <p:cond delay="2100"/>
                            </p:stCondLst>
                            <p:childTnLst>
                              <p:par>
                                <p:cTn xmlns:p="http://schemas.openxmlformats.org/presentationml/2006/main" id="17" presetID="22" presetClass="entr" presetSubtype="2" fill="hold" grpId="0" nodeType="afterEffect">
                                  <p:stCondLst>
                                    <p:cond delay="500"/>
                                  </p:stCondLst>
                                  <p:childTnLst>
                                    <p:set>
                                      <p:cBhvr>
                                        <p:cTn id="18" dur="1" fill="hold">
                                          <p:stCondLst>
                                            <p:cond delay="0"/>
                                          </p:stCondLst>
                                        </p:cTn>
                                        <p:tgtEl>
                                          <p:spTgt spid="22"/>
                                        </p:tgtEl>
                                        <p:attrNameLst>
                                          <p:attrName>style.visibility</p:attrName>
                                        </p:attrNameLst>
                                      </p:cBhvr>
                                      <p:to>
                                        <p:strVal val="visible"/>
                                      </p:to>
                                    </p:set>
                                    <p:animEffect transition="in" filter="wipe(right)">
                                      <p:cBhvr>
                                        <p:cTn id="19" dur="400"/>
                                        <p:tgtEl>
                                          <p:spTgt spid="22"/>
                                        </p:tgtEl>
                                      </p:cBhvr>
                                    </p:animEffect>
                                  </p:childTnLst>
                                </p:cTn>
                              </p:par>
                            </p:childTnLst>
                          </p:cTn>
                        </p:par>
                        <p:par>
                          <p:cTn id="20" fill="hold">
                            <p:stCondLst>
                              <p:cond delay="30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300"/>
                                        <p:tgtEl>
                                          <p:spTgt spid="27"/>
                                        </p:tgtEl>
                                      </p:cBhvr>
                                    </p:animEffect>
                                  </p:childTnLst>
                                </p:cTn>
                              </p:par>
                            </p:childTnLst>
                          </p:cTn>
                        </p:par>
                        <p:par>
                          <p:cTn id="24" fill="hold">
                            <p:stCondLst>
                              <p:cond delay="38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300"/>
                                        <p:tgtEl>
                                          <p:spTgt spid="33"/>
                                        </p:tgtEl>
                                      </p:cBhvr>
                                    </p:animEffect>
                                  </p:childTnLst>
                                </p:cTn>
                              </p:par>
                            </p:childTnLst>
                          </p:cTn>
                        </p:par>
                        <p:par>
                          <p:cTn id="28" fill="hold">
                            <p:stCondLst>
                              <p:cond delay="46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300"/>
                                        <p:tgtEl>
                                          <p:spTgt spid="38"/>
                                        </p:tgtEl>
                                      </p:cBhvr>
                                    </p:animEffect>
                                  </p:childTnLst>
                                </p:cTn>
                              </p:par>
                            </p:childTnLst>
                          </p:cTn>
                        </p:par>
                        <p:par>
                          <p:cTn id="32" fill="hold">
                            <p:stCondLst>
                              <p:cond delay="5400"/>
                            </p:stCondLst>
                            <p:childTnLst>
                              <p:par>
                                <p:cTn xmlns:p="http://schemas.openxmlformats.org/presentationml/2006/main" id="33" presetID="10" presetClass="entr" presetSubtype="0" fill="hold" grpId="0" nodeType="afterEffect">
                                  <p:stCondLst>
                                    <p:cond delay="50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300"/>
                                        <p:tgtEl>
                                          <p:spTgt spid="44"/>
                                        </p:tgtEl>
                                      </p:cBhvr>
                                    </p:animEffect>
                                  </p:childTnLst>
                                </p:cTn>
                              </p:par>
                            </p:childTnLst>
                          </p:cTn>
                        </p:par>
                        <p:par>
                          <p:cTn id="36" fill="hold">
                            <p:stCondLst>
                              <p:cond delay="6200"/>
                            </p:stCondLst>
                            <p:childTnLst>
                              <p:par>
                                <p:cTn xmlns:p="http://schemas.openxmlformats.org/presentationml/2006/main" id="37" presetID="10" presetClass="entr" presetSubtype="0" fill="hold" grpId="0" nodeType="afterEffect">
                                  <p:stCondLst>
                                    <p:cond delay="500"/>
                                  </p:stCondLst>
                                  <p:childTnLst>
                                    <p:set>
                                      <p:cBhvr>
                                        <p:cTn id="38" dur="1" fill="hold">
                                          <p:stCondLst>
                                            <p:cond delay="0"/>
                                          </p:stCondLst>
                                        </p:cTn>
                                        <p:tgtEl>
                                          <p:spTgt spid="48"/>
                                        </p:tgtEl>
                                        <p:attrNameLst>
                                          <p:attrName>style.visibility</p:attrName>
                                        </p:attrNameLst>
                                      </p:cBhvr>
                                      <p:to>
                                        <p:strVal val="visible"/>
                                      </p:to>
                                    </p:set>
                                    <p:animEffect transition="in" filter="fade">
                                      <p:cBhvr>
                                        <p:cTn id="3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168651" y="247650"/>
            <a:ext cx="1566149" cy="206216"/>
            <a:chOff x="10168651" y="247650"/>
            <a:chExt cx="1566149" cy="206216"/>
          </a:xfrm>
        </p:grpSpPr>
        <p:sp>
          <p:nvSpPr>
            <p:cNvPr id="2" name="TextBox 2"/>
            <p:cNvSpPr txBox="1"/>
            <p:nvPr/>
          </p:nvSpPr>
          <p:spPr>
            <a:xfrm>
              <a:off x="10168651" y="291941"/>
              <a:ext cx="637461"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建议 · 风险</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7008304" cy="637794"/>
            <a:chOff x="448056" y="472440"/>
            <a:chExt cx="7008304" cy="637794"/>
          </a:xfrm>
        </p:grpSpPr>
        <p:sp>
          <p:nvSpPr>
            <p:cNvPr id="6" name="TextBox 6"/>
            <p:cNvSpPr txBox="1"/>
            <p:nvPr/>
          </p:nvSpPr>
          <p:spPr>
            <a:xfrm>
              <a:off x="448056" y="472440"/>
              <a:ext cx="7008304"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三项风险各有可监测的触发指标:新兴市场增速回落、欧洲政策反复、</a:t>
              </a:r>
              <a:br/>
              <a:r>
                <a:rPr lang="zh-CN" sz="1800" b="1" dirty="0">
                  <a:solidFill>
                    <a:schemeClr val="accent1"/>
                  </a:solidFill>
                  <a:latin typeface="+mn-lt"/>
                  <a:ea typeface="+mn-ea"/>
                  <a:cs typeface="+mn-cs"/>
                </a:rPr>
                <a:t>PHEV 需求提前见顶——它们不构成不行动的理由</a:t>
              </a:r>
            </a:p>
          </p:txBody>
        </p:sp>
      </p:grpSp>
      <p:grpSp>
        <p:nvGrpSpPr>
          <p:cNvPr id="9" name="unit-line"/>
          <p:cNvGrpSpPr/>
          <p:nvPr/>
        </p:nvGrpSpPr>
        <p:grpSpPr>
          <a:xfrm>
            <a:off x="452438" y="1160145"/>
            <a:ext cx="5364709" cy="176212"/>
            <a:chOff x="452438" y="1160145"/>
            <a:chExt cx="5364709" cy="176212"/>
          </a:xfrm>
        </p:grpSpPr>
        <p:sp>
          <p:nvSpPr>
            <p:cNvPr id="8" name="TextBox 8"/>
            <p:cNvSpPr txBox="1"/>
            <p:nvPr/>
          </p:nvSpPr>
          <p:spPr>
            <a:xfrm>
              <a:off x="452438" y="1160145"/>
              <a:ext cx="5364709"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风险登记:风险、触发指标、影响、应对;触发指标基准值来自 2024/2025 年数据,阈值为本报告建议</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35" name="risk-register"/>
          <p:cNvGrpSpPr/>
          <p:nvPr/>
        </p:nvGrpSpPr>
        <p:grpSpPr>
          <a:xfrm>
            <a:off x="457200" y="1634966"/>
            <a:ext cx="9258300" cy="2927509"/>
            <a:chOff x="457200" y="1634966"/>
            <a:chExt cx="9258300" cy="2927509"/>
          </a:xfrm>
        </p:grpSpPr>
        <p:sp>
          <p:nvSpPr>
            <p:cNvPr id="11" name="Line 11"/>
            <p:cNvSpPr/>
            <p:nvPr/>
          </p:nvSpPr>
          <p:spPr>
            <a:xfrm>
              <a:off x="457200" y="1809750"/>
              <a:ext cx="9258300" cy="9525"/>
            </a:xfrm>
            <a:custGeom>
              <a:avLst/>
              <a:gdLst/>
              <a:ahLst/>
              <a:cxnLst/>
              <a:rect l="l" t="t" r="r" b="b"/>
              <a:pathLst>
                <a:path w="9258300" h="9525">
                  <a:moveTo>
                    <a:pt x="0" y="0"/>
                  </a:moveTo>
                  <a:lnTo>
                    <a:pt x="9258300" y="0"/>
                  </a:lnTo>
                </a:path>
              </a:pathLst>
            </a:custGeom>
            <a:noFill/>
            <a:ln w="9525">
              <a:solidFill>
                <a:schemeClr val="accent1"/>
              </a:solidFill>
            </a:ln>
          </p:spPr>
        </p:sp>
        <p:sp>
          <p:nvSpPr>
            <p:cNvPr id="12" name="TextBox 12"/>
            <p:cNvSpPr txBox="1"/>
            <p:nvPr/>
          </p:nvSpPr>
          <p:spPr>
            <a:xfrm>
              <a:off x="528638" y="163496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风险</a:t>
              </a:r>
            </a:p>
          </p:txBody>
        </p:sp>
        <p:sp>
          <p:nvSpPr>
            <p:cNvPr id="13" name="TextBox 13"/>
            <p:cNvSpPr txBox="1"/>
            <p:nvPr/>
          </p:nvSpPr>
          <p:spPr>
            <a:xfrm>
              <a:off x="1824038" y="1634966"/>
              <a:ext cx="1153425"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触发指标(基准 → 阈值)</a:t>
              </a:r>
            </a:p>
          </p:txBody>
        </p:sp>
        <p:sp>
          <p:nvSpPr>
            <p:cNvPr id="14" name="TextBox 14"/>
            <p:cNvSpPr txBox="1"/>
            <p:nvPr/>
          </p:nvSpPr>
          <p:spPr>
            <a:xfrm>
              <a:off x="3919538" y="163496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影响</a:t>
              </a:r>
            </a:p>
          </p:txBody>
        </p:sp>
        <p:sp>
          <p:nvSpPr>
            <p:cNvPr id="15" name="TextBox 15"/>
            <p:cNvSpPr txBox="1"/>
            <p:nvPr/>
          </p:nvSpPr>
          <p:spPr>
            <a:xfrm>
              <a:off x="5729288" y="163496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应对</a:t>
              </a:r>
            </a:p>
          </p:txBody>
        </p:sp>
        <p:sp>
          <p:nvSpPr>
            <p:cNvPr id="16" name="TextBox 16"/>
            <p:cNvSpPr txBox="1"/>
            <p:nvPr/>
          </p:nvSpPr>
          <p:spPr>
            <a:xfrm>
              <a:off x="7977188" y="1634966"/>
              <a:ext cx="451079"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监测数据</a:t>
              </a:r>
            </a:p>
          </p:txBody>
        </p:sp>
        <p:sp>
          <p:nvSpPr>
            <p:cNvPr id="17" name="Line 17"/>
            <p:cNvSpPr/>
            <p:nvPr/>
          </p:nvSpPr>
          <p:spPr>
            <a:xfrm>
              <a:off x="457200" y="2724150"/>
              <a:ext cx="9258300" cy="9525"/>
            </a:xfrm>
            <a:custGeom>
              <a:avLst/>
              <a:gdLst/>
              <a:ahLst/>
              <a:cxnLst/>
              <a:rect l="l" t="t" r="r" b="b"/>
              <a:pathLst>
                <a:path w="9258300" h="9525">
                  <a:moveTo>
                    <a:pt x="0" y="0"/>
                  </a:moveTo>
                  <a:lnTo>
                    <a:pt x="9258300" y="0"/>
                  </a:lnTo>
                </a:path>
              </a:pathLst>
            </a:custGeom>
            <a:noFill/>
            <a:ln w="7144">
              <a:solidFill>
                <a:srgbClr val="E3E3E3"/>
              </a:solidFill>
            </a:ln>
          </p:spPr>
        </p:sp>
        <p:sp>
          <p:nvSpPr>
            <p:cNvPr id="18" name="TextBox 18"/>
            <p:cNvSpPr txBox="1"/>
            <p:nvPr/>
          </p:nvSpPr>
          <p:spPr>
            <a:xfrm>
              <a:off x="528638" y="2209800"/>
              <a:ext cx="978789"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新兴市场增速回落</a:t>
              </a:r>
            </a:p>
          </p:txBody>
        </p:sp>
        <p:sp>
          <p:nvSpPr>
            <p:cNvPr id="19" name="TextBox 19"/>
            <p:cNvSpPr txBox="1"/>
            <p:nvPr/>
          </p:nvSpPr>
          <p:spPr>
            <a:xfrm>
              <a:off x="1824038" y="2133600"/>
              <a:ext cx="1375410"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东南亚渗透率 2025 年 18%</a:t>
              </a:r>
              <a:br/>
              <a:r>
                <a:rPr lang="zh-CN" sz="900" dirty="0">
                  <a:solidFill>
                    <a:schemeClr val="dk1"/>
                  </a:solidFill>
                  <a:latin typeface="+mn-lt"/>
                  <a:ea typeface="+mn-ea"/>
                  <a:cs typeface="+mn-cs"/>
                </a:rPr>
                <a:t>→ 2026 年低于 18%</a:t>
              </a:r>
            </a:p>
          </p:txBody>
        </p:sp>
        <p:sp>
          <p:nvSpPr>
            <p:cNvPr id="20" name="TextBox 20"/>
            <p:cNvSpPr txBox="1"/>
            <p:nvPr/>
          </p:nvSpPr>
          <p:spPr>
            <a:xfrm>
              <a:off x="3919538" y="2133600"/>
              <a:ext cx="1438275"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二级市场放量推迟,</a:t>
              </a:r>
              <a:br/>
              <a:r>
                <a:rPr lang="zh-CN" sz="900" dirty="0">
                  <a:solidFill>
                    <a:schemeClr val="dk1"/>
                  </a:solidFill>
                  <a:latin typeface="+mn-lt"/>
                  <a:ea typeface="+mn-ea"/>
                  <a:cs typeface="+mn-cs"/>
                </a:rPr>
                <a:t>2026 年试点投入回收期拉长</a:t>
              </a:r>
            </a:p>
          </p:txBody>
        </p:sp>
        <p:sp>
          <p:nvSpPr>
            <p:cNvPr id="21" name="TextBox 21"/>
            <p:cNvSpPr txBox="1"/>
            <p:nvPr/>
          </p:nvSpPr>
          <p:spPr>
            <a:xfrm>
              <a:off x="5729288" y="2133600"/>
              <a:ext cx="1209675"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2026 年试点规模受控;</a:t>
              </a:r>
              <a:br/>
              <a:r>
                <a:rPr lang="zh-CN" sz="900" dirty="0">
                  <a:solidFill>
                    <a:schemeClr val="dk1"/>
                  </a:solidFill>
                  <a:latin typeface="+mn-lt"/>
                  <a:ea typeface="+mn-ea"/>
                  <a:cs typeface="+mn-cs"/>
                </a:rPr>
                <a:t>2027 年初复盘后再放量</a:t>
              </a:r>
            </a:p>
          </p:txBody>
        </p:sp>
        <p:sp>
          <p:nvSpPr>
            <p:cNvPr id="22" name="TextBox 22"/>
            <p:cNvSpPr txBox="1"/>
            <p:nvPr/>
          </p:nvSpPr>
          <p:spPr>
            <a:xfrm>
              <a:off x="7977188" y="2133600"/>
              <a:ext cx="923925"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IEA 年度数据;</a:t>
              </a:r>
              <a:br/>
              <a:r>
                <a:rPr lang="zh-CN" sz="900" dirty="0">
                  <a:solidFill>
                    <a:schemeClr val="dk1"/>
                  </a:solidFill>
                  <a:latin typeface="+mn-lt"/>
                  <a:ea typeface="+mn-ea"/>
                  <a:cs typeface="+mn-cs"/>
                </a:rPr>
                <a:t>各国月度上牌数据</a:t>
              </a:r>
            </a:p>
          </p:txBody>
        </p:sp>
        <p:sp>
          <p:nvSpPr>
            <p:cNvPr id="23" name="Line 23"/>
            <p:cNvSpPr/>
            <p:nvPr/>
          </p:nvSpPr>
          <p:spPr>
            <a:xfrm>
              <a:off x="457200" y="3638550"/>
              <a:ext cx="9258300" cy="9525"/>
            </a:xfrm>
            <a:custGeom>
              <a:avLst/>
              <a:gdLst/>
              <a:ahLst/>
              <a:cxnLst/>
              <a:rect l="l" t="t" r="r" b="b"/>
              <a:pathLst>
                <a:path w="9258300" h="9525">
                  <a:moveTo>
                    <a:pt x="0" y="0"/>
                  </a:moveTo>
                  <a:lnTo>
                    <a:pt x="9258300" y="0"/>
                  </a:lnTo>
                </a:path>
              </a:pathLst>
            </a:custGeom>
            <a:noFill/>
            <a:ln w="7144">
              <a:solidFill>
                <a:srgbClr val="E3E3E3"/>
              </a:solidFill>
            </a:ln>
          </p:spPr>
        </p:sp>
        <p:sp>
          <p:nvSpPr>
            <p:cNvPr id="24" name="TextBox 24"/>
            <p:cNvSpPr txBox="1"/>
            <p:nvPr/>
          </p:nvSpPr>
          <p:spPr>
            <a:xfrm>
              <a:off x="528638" y="3124200"/>
              <a:ext cx="736473"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欧洲政策反复</a:t>
              </a:r>
            </a:p>
          </p:txBody>
        </p:sp>
        <p:sp>
          <p:nvSpPr>
            <p:cNvPr id="25" name="TextBox 25"/>
            <p:cNvSpPr txBox="1"/>
            <p:nvPr/>
          </p:nvSpPr>
          <p:spPr>
            <a:xfrm>
              <a:off x="1824038" y="3048000"/>
              <a:ext cx="1844040"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德国渗透率 2025 年 30%</a:t>
              </a:r>
              <a:br/>
              <a:r>
                <a:rPr lang="zh-CN" sz="900" dirty="0">
                  <a:solidFill>
                    <a:schemeClr val="dk1"/>
                  </a:solidFill>
                  <a:latin typeface="+mn-lt"/>
                  <a:ea typeface="+mn-ea"/>
                  <a:cs typeface="+mn-cs"/>
                </a:rPr>
                <a:t>→ 回落到 25% 以下(2024 年曾 20%)</a:t>
              </a:r>
            </a:p>
          </p:txBody>
        </p:sp>
        <p:sp>
          <p:nvSpPr>
            <p:cNvPr id="26" name="TextBox 26"/>
            <p:cNvSpPr txBox="1"/>
            <p:nvPr/>
          </p:nvSpPr>
          <p:spPr>
            <a:xfrm>
              <a:off x="3919538" y="3048000"/>
              <a:ext cx="1101090"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英德投入回报期拉长,</a:t>
              </a:r>
              <a:br/>
              <a:r>
                <a:rPr lang="zh-CN" sz="900" dirty="0">
                  <a:solidFill>
                    <a:schemeClr val="dk1"/>
                  </a:solidFill>
                  <a:latin typeface="+mn-lt"/>
                  <a:ea typeface="+mn-ea"/>
                  <a:cs typeface="+mn-cs"/>
                </a:rPr>
                <a:t>欧洲整体从 28% 回落</a:t>
              </a:r>
            </a:p>
          </p:txBody>
        </p:sp>
        <p:sp>
          <p:nvSpPr>
            <p:cNvPr id="27" name="TextBox 27"/>
            <p:cNvSpPr txBox="1"/>
            <p:nvPr/>
          </p:nvSpPr>
          <p:spPr>
            <a:xfrm>
              <a:off x="5729288" y="3048000"/>
              <a:ext cx="1672590"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英国优先投入;</a:t>
              </a:r>
              <a:br/>
              <a:r>
                <a:rPr lang="zh-CN" sz="900" dirty="0">
                  <a:solidFill>
                    <a:schemeClr val="dk1"/>
                  </a:solidFill>
                  <a:latin typeface="+mn-lt"/>
                  <a:ea typeface="+mn-ea"/>
                  <a:cs typeface="+mn-cs"/>
                </a:rPr>
                <a:t>德国按季度评估,不提前锁定产能</a:t>
              </a:r>
            </a:p>
          </p:txBody>
        </p:sp>
        <p:sp>
          <p:nvSpPr>
            <p:cNvPr id="28" name="TextBox 28"/>
            <p:cNvSpPr txBox="1"/>
            <p:nvPr/>
          </p:nvSpPr>
          <p:spPr>
            <a:xfrm>
              <a:off x="7977188" y="3048000"/>
              <a:ext cx="1181100"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IEA 年度数据;</a:t>
              </a:r>
              <a:br/>
              <a:r>
                <a:rPr lang="zh-CN" sz="900" dirty="0">
                  <a:solidFill>
                    <a:schemeClr val="dk1"/>
                  </a:solidFill>
                  <a:latin typeface="+mn-lt"/>
                  <a:ea typeface="+mn-ea"/>
                  <a:cs typeface="+mn-cs"/>
                </a:rPr>
                <a:t>德国 KBA 月度上牌数据</a:t>
              </a:r>
            </a:p>
          </p:txBody>
        </p:sp>
        <p:sp>
          <p:nvSpPr>
            <p:cNvPr id="29" name="Line 29"/>
            <p:cNvSpPr/>
            <p:nvPr/>
          </p:nvSpPr>
          <p:spPr>
            <a:xfrm>
              <a:off x="457200" y="4552950"/>
              <a:ext cx="9258300" cy="9525"/>
            </a:xfrm>
            <a:custGeom>
              <a:avLst/>
              <a:gdLst/>
              <a:ahLst/>
              <a:cxnLst/>
              <a:rect l="l" t="t" r="r" b="b"/>
              <a:pathLst>
                <a:path w="9258300" h="9525">
                  <a:moveTo>
                    <a:pt x="0" y="0"/>
                  </a:moveTo>
                  <a:lnTo>
                    <a:pt x="9258300" y="0"/>
                  </a:lnTo>
                </a:path>
              </a:pathLst>
            </a:custGeom>
            <a:noFill/>
            <a:ln w="7144">
              <a:solidFill>
                <a:srgbClr val="E3E3E3"/>
              </a:solidFill>
            </a:ln>
          </p:spPr>
        </p:sp>
        <p:sp>
          <p:nvSpPr>
            <p:cNvPr id="30" name="TextBox 30"/>
            <p:cNvSpPr txBox="1"/>
            <p:nvPr/>
          </p:nvSpPr>
          <p:spPr>
            <a:xfrm>
              <a:off x="528638" y="4038600"/>
              <a:ext cx="1072515"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PHEV 需求提前见顶</a:t>
              </a:r>
            </a:p>
          </p:txBody>
        </p:sp>
        <p:sp>
          <p:nvSpPr>
            <p:cNvPr id="31" name="TextBox 31"/>
            <p:cNvSpPr txBox="1"/>
            <p:nvPr/>
          </p:nvSpPr>
          <p:spPr>
            <a:xfrm>
              <a:off x="1824038" y="3962400"/>
              <a:ext cx="1466850"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中国 PHEV 占比 2025 年 38%</a:t>
              </a:r>
              <a:br/>
              <a:r>
                <a:rPr lang="zh-CN" sz="900" dirty="0">
                  <a:solidFill>
                    <a:schemeClr val="dk1"/>
                  </a:solidFill>
                  <a:latin typeface="+mn-lt"/>
                  <a:ea typeface="+mn-ea"/>
                  <a:cs typeface="+mn-cs"/>
                </a:rPr>
                <a:t>→ 连续两个季度下降</a:t>
              </a:r>
            </a:p>
          </p:txBody>
        </p:sp>
        <p:sp>
          <p:nvSpPr>
            <p:cNvPr id="32" name="TextBox 32"/>
            <p:cNvSpPr txBox="1"/>
            <p:nvPr/>
          </p:nvSpPr>
          <p:spPr>
            <a:xfrm>
              <a:off x="3919538" y="3962400"/>
              <a:ext cx="923925"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破冰产品失效,</a:t>
              </a:r>
              <a:br/>
              <a:r>
                <a:rPr lang="zh-CN" sz="900" dirty="0">
                  <a:solidFill>
                    <a:schemeClr val="dk1"/>
                  </a:solidFill>
                  <a:latin typeface="+mn-lt"/>
                  <a:ea typeface="+mn-ea"/>
                  <a:cs typeface="+mn-cs"/>
                </a:rPr>
                <a:t>二级市场进入受阻</a:t>
              </a:r>
            </a:p>
          </p:txBody>
        </p:sp>
        <p:sp>
          <p:nvSpPr>
            <p:cNvPr id="33" name="TextBox 33"/>
            <p:cNvSpPr txBox="1"/>
            <p:nvPr/>
          </p:nvSpPr>
          <p:spPr>
            <a:xfrm>
              <a:off x="5729288" y="3962400"/>
              <a:ext cx="1472565"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二级市场同步准备 BEV 版本;</a:t>
              </a:r>
              <a:br/>
              <a:r>
                <a:rPr lang="zh-CN" sz="900" dirty="0">
                  <a:solidFill>
                    <a:schemeClr val="dk1"/>
                  </a:solidFill>
                  <a:latin typeface="+mn-lt"/>
                  <a:ea typeface="+mn-ea"/>
                  <a:cs typeface="+mn-cs"/>
                </a:rPr>
                <a:t>东南亚试点双动力并行</a:t>
              </a:r>
            </a:p>
          </p:txBody>
        </p:sp>
        <p:sp>
          <p:nvSpPr>
            <p:cNvPr id="34" name="TextBox 34"/>
            <p:cNvSpPr txBox="1"/>
            <p:nvPr/>
          </p:nvSpPr>
          <p:spPr>
            <a:xfrm>
              <a:off x="7977188" y="3962400"/>
              <a:ext cx="1038225" cy="328612"/>
            </a:xfrm>
            <a:prstGeom prst="rect">
              <a:avLst/>
            </a:prstGeom>
            <a:noFill/>
            <a:ln>
              <a:noFill/>
            </a:ln>
          </p:spPr>
          <p:txBody>
            <a:bodyPr wrap="none" lIns="0" tIns="0" rIns="0" bIns="0" anchor="t" anchorCtr="0">
              <a:spAutoFit/>
            </a:bodyPr>
            <a:lstStyle/>
            <a:p>
              <a:pPr algn="l">
                <a:lnSpc>
                  <a:spcPts val="1200"/>
                </a:lnSpc>
              </a:pPr>
              <a:r>
                <a:rPr lang="zh-CN" sz="900" dirty="0">
                  <a:solidFill>
                    <a:schemeClr val="dk1"/>
                  </a:solidFill>
                  <a:latin typeface="+mn-lt"/>
                  <a:ea typeface="+mn-ea"/>
                  <a:cs typeface="+mn-cs"/>
                </a:rPr>
                <a:t>IEA 年度数据;</a:t>
              </a:r>
              <a:br/>
              <a:r>
                <a:rPr lang="zh-CN" sz="900" dirty="0">
                  <a:solidFill>
                    <a:schemeClr val="dk1"/>
                  </a:solidFill>
                  <a:latin typeface="+mn-lt"/>
                  <a:ea typeface="+mn-ea"/>
                  <a:cs typeface="+mn-cs"/>
                </a:rPr>
                <a:t>中国季度分动力销量</a:t>
              </a:r>
            </a:p>
          </p:txBody>
        </p:sp>
      </p:grpSp>
      <p:grpSp>
        <p:nvGrpSpPr>
          <p:cNvPr id="50" name="insights"/>
          <p:cNvGrpSpPr/>
          <p:nvPr/>
        </p:nvGrpSpPr>
        <p:grpSpPr>
          <a:xfrm>
            <a:off x="10015538" y="1587341"/>
            <a:ext cx="1719262" cy="3057620"/>
            <a:chOff x="10015538" y="1587341"/>
            <a:chExt cx="1719262" cy="3057620"/>
          </a:xfrm>
        </p:grpSpPr>
        <p:sp>
          <p:nvSpPr>
            <p:cNvPr id="36" name="TextBox 36"/>
            <p:cNvSpPr txBox="1"/>
            <p:nvPr/>
          </p:nvSpPr>
          <p:spPr>
            <a:xfrm>
              <a:off x="10015538" y="158734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监测节奏</a:t>
              </a:r>
            </a:p>
          </p:txBody>
        </p:sp>
        <p:sp>
          <p:nvSpPr>
            <p:cNvPr id="37" name="Line 37"/>
            <p:cNvSpPr/>
            <p:nvPr/>
          </p:nvSpPr>
          <p:spPr>
            <a:xfrm>
              <a:off x="10020300" y="1752600"/>
              <a:ext cx="1714500" cy="9525"/>
            </a:xfrm>
            <a:custGeom>
              <a:avLst/>
              <a:gdLst/>
              <a:ahLst/>
              <a:cxnLst/>
              <a:rect l="l" t="t" r="r" b="b"/>
              <a:pathLst>
                <a:path w="1714500" h="9525">
                  <a:moveTo>
                    <a:pt x="0" y="0"/>
                  </a:moveTo>
                  <a:lnTo>
                    <a:pt x="1714500" y="0"/>
                  </a:lnTo>
                </a:path>
              </a:pathLst>
            </a:custGeom>
            <a:noFill/>
            <a:ln w="9525">
              <a:solidFill>
                <a:schemeClr val="accent1"/>
              </a:solidFill>
            </a:ln>
          </p:spPr>
        </p:sp>
        <p:sp>
          <p:nvSpPr>
            <p:cNvPr id="38" name="Ellipse 38"/>
            <p:cNvSpPr/>
            <p:nvPr/>
          </p:nvSpPr>
          <p:spPr>
            <a:xfrm>
              <a:off x="10020300" y="1876425"/>
              <a:ext cx="152400" cy="152400"/>
            </a:xfrm>
            <a:prstGeom prst="ellipse">
              <a:avLst/>
            </a:prstGeom>
            <a:solidFill>
              <a:schemeClr val="accent1"/>
            </a:solidFill>
            <a:ln>
              <a:noFill/>
            </a:ln>
          </p:spPr>
        </p:sp>
        <p:sp>
          <p:nvSpPr>
            <p:cNvPr id="39" name="TextBox 39"/>
            <p:cNvSpPr txBox="1"/>
            <p:nvPr/>
          </p:nvSpPr>
          <p:spPr>
            <a:xfrm>
              <a:off x="10063659" y="19050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1</a:t>
              </a:r>
            </a:p>
          </p:txBody>
        </p:sp>
        <p:sp>
          <p:nvSpPr>
            <p:cNvPr id="40" name="TextBox 40"/>
            <p:cNvSpPr txBox="1"/>
            <p:nvPr/>
          </p:nvSpPr>
          <p:spPr>
            <a:xfrm>
              <a:off x="10243566" y="1886902"/>
              <a:ext cx="94411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监测频率:</a:t>
              </a:r>
              <a:br/>
              <a:r>
                <a:rPr lang="zh-CN" sz="1050" dirty="0">
                  <a:solidFill>
                    <a:schemeClr val="dk1"/>
                  </a:solidFill>
                  <a:latin typeface="+mn-lt"/>
                  <a:ea typeface="+mn-ea"/>
                  <a:cs typeface="+mn-cs"/>
                </a:rPr>
                <a:t>年度 IEA 同口径</a:t>
              </a:r>
              <a:br/>
              <a:r>
                <a:rPr lang="zh-CN" sz="1050" dirty="0">
                  <a:solidFill>
                    <a:schemeClr val="dk1"/>
                  </a:solidFill>
                  <a:latin typeface="+mn-lt"/>
                  <a:ea typeface="+mn-ea"/>
                  <a:cs typeface="+mn-cs"/>
                </a:rPr>
                <a:t>+ 季度内部数据</a:t>
              </a:r>
            </a:p>
          </p:txBody>
        </p:sp>
        <p:sp>
          <p:nvSpPr>
            <p:cNvPr id="41" name="Ellipse 41"/>
            <p:cNvSpPr/>
            <p:nvPr/>
          </p:nvSpPr>
          <p:spPr>
            <a:xfrm>
              <a:off x="10020300" y="2600325"/>
              <a:ext cx="152400" cy="152400"/>
            </a:xfrm>
            <a:prstGeom prst="ellipse">
              <a:avLst/>
            </a:prstGeom>
            <a:solidFill>
              <a:schemeClr val="accent1"/>
            </a:solidFill>
            <a:ln>
              <a:noFill/>
            </a:ln>
          </p:spPr>
        </p:sp>
        <p:sp>
          <p:nvSpPr>
            <p:cNvPr id="42" name="TextBox 42"/>
            <p:cNvSpPr txBox="1"/>
            <p:nvPr/>
          </p:nvSpPr>
          <p:spPr>
            <a:xfrm>
              <a:off x="10063659" y="26289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2</a:t>
              </a:r>
            </a:p>
          </p:txBody>
        </p:sp>
        <p:sp>
          <p:nvSpPr>
            <p:cNvPr id="43" name="TextBox 43"/>
            <p:cNvSpPr txBox="1"/>
            <p:nvPr/>
          </p:nvSpPr>
          <p:spPr>
            <a:xfrm>
              <a:off x="10243566" y="2610802"/>
              <a:ext cx="81076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触发即动作:</a:t>
              </a:r>
              <a:br/>
              <a:r>
                <a:rPr lang="zh-CN" sz="1050" dirty="0">
                  <a:solidFill>
                    <a:schemeClr val="dk1"/>
                  </a:solidFill>
                  <a:latin typeface="+mn-lt"/>
                  <a:ea typeface="+mn-ea"/>
                  <a:cs typeface="+mn-cs"/>
                </a:rPr>
                <a:t>冻结下一阶段</a:t>
              </a:r>
              <a:br/>
              <a:r>
                <a:rPr lang="zh-CN" sz="1050" dirty="0">
                  <a:solidFill>
                    <a:schemeClr val="dk1"/>
                  </a:solidFill>
                  <a:latin typeface="+mn-lt"/>
                  <a:ea typeface="+mn-ea"/>
                  <a:cs typeface="+mn-cs"/>
                </a:rPr>
                <a:t>投入,不追加</a:t>
              </a:r>
            </a:p>
          </p:txBody>
        </p:sp>
        <p:sp>
          <p:nvSpPr>
            <p:cNvPr id="44" name="Ellipse 44"/>
            <p:cNvSpPr/>
            <p:nvPr/>
          </p:nvSpPr>
          <p:spPr>
            <a:xfrm>
              <a:off x="10020300" y="3324225"/>
              <a:ext cx="152400" cy="152400"/>
            </a:xfrm>
            <a:prstGeom prst="ellipse">
              <a:avLst/>
            </a:prstGeom>
            <a:solidFill>
              <a:schemeClr val="accent1"/>
            </a:solidFill>
            <a:ln>
              <a:noFill/>
            </a:ln>
          </p:spPr>
        </p:sp>
        <p:sp>
          <p:nvSpPr>
            <p:cNvPr id="45" name="TextBox 45"/>
            <p:cNvSpPr txBox="1"/>
            <p:nvPr/>
          </p:nvSpPr>
          <p:spPr>
            <a:xfrm>
              <a:off x="10063659" y="33528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3</a:t>
              </a:r>
            </a:p>
          </p:txBody>
        </p:sp>
        <p:sp>
          <p:nvSpPr>
            <p:cNvPr id="46" name="TextBox 46"/>
            <p:cNvSpPr txBox="1"/>
            <p:nvPr/>
          </p:nvSpPr>
          <p:spPr>
            <a:xfrm>
              <a:off x="10243566" y="3334702"/>
              <a:ext cx="105079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复盘节点:</a:t>
              </a:r>
              <a:br/>
              <a:r>
                <a:rPr lang="zh-CN" sz="1050" dirty="0">
                  <a:solidFill>
                    <a:schemeClr val="dk1"/>
                  </a:solidFill>
                  <a:latin typeface="+mn-lt"/>
                  <a:ea typeface="+mn-ea"/>
                  <a:cs typeface="+mn-cs"/>
                </a:rPr>
                <a:t>每年 12 月</a:t>
              </a:r>
              <a:br/>
              <a:r>
                <a:rPr lang="zh-CN" sz="1050" dirty="0">
                  <a:solidFill>
                    <a:schemeClr val="dk1"/>
                  </a:solidFill>
                  <a:latin typeface="+mn-lt"/>
                  <a:ea typeface="+mn-ea"/>
                  <a:cs typeface="+mn-cs"/>
                </a:rPr>
                <a:t>决策门(第 11 页)</a:t>
              </a:r>
            </a:p>
          </p:txBody>
        </p:sp>
        <p:sp>
          <p:nvSpPr>
            <p:cNvPr id="47" name="Ellipse 47"/>
            <p:cNvSpPr/>
            <p:nvPr/>
          </p:nvSpPr>
          <p:spPr>
            <a:xfrm>
              <a:off x="10020300" y="4048125"/>
              <a:ext cx="152400" cy="152400"/>
            </a:xfrm>
            <a:prstGeom prst="ellipse">
              <a:avLst/>
            </a:prstGeom>
            <a:solidFill>
              <a:schemeClr val="accent1"/>
            </a:solidFill>
            <a:ln>
              <a:noFill/>
            </a:ln>
          </p:spPr>
        </p:sp>
        <p:sp>
          <p:nvSpPr>
            <p:cNvPr id="48" name="TextBox 48"/>
            <p:cNvSpPr txBox="1"/>
            <p:nvPr/>
          </p:nvSpPr>
          <p:spPr>
            <a:xfrm>
              <a:off x="10063659" y="4076700"/>
              <a:ext cx="65682" cy="147638"/>
            </a:xfrm>
            <a:prstGeom prst="rect">
              <a:avLst/>
            </a:prstGeom>
            <a:noFill/>
            <a:ln>
              <a:noFill/>
            </a:ln>
          </p:spPr>
          <p:txBody>
            <a:bodyPr wrap="none" lIns="0" tIns="0" rIns="0" bIns="0" anchor="t" anchorCtr="0">
              <a:spAutoFit/>
            </a:bodyPr>
            <a:lstStyle/>
            <a:p>
              <a:pPr algn="ctr"/>
              <a:r>
                <a:rPr lang="zh-CN" sz="750" b="1" dirty="0">
                  <a:solidFill>
                    <a:srgbClr val="FFFFFF"/>
                  </a:solidFill>
                  <a:latin typeface="Arial"/>
                  <a:ea typeface="Arial"/>
                  <a:cs typeface="Arial"/>
                </a:rPr>
                <a:t>4</a:t>
              </a:r>
            </a:p>
          </p:txBody>
        </p:sp>
        <p:sp>
          <p:nvSpPr>
            <p:cNvPr id="49" name="TextBox 49"/>
            <p:cNvSpPr txBox="1"/>
            <p:nvPr/>
          </p:nvSpPr>
          <p:spPr>
            <a:xfrm>
              <a:off x="10243566" y="4058602"/>
              <a:ext cx="810768" cy="5863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升级路径:</a:t>
              </a:r>
              <a:br/>
              <a:r>
                <a:rPr lang="zh-CN" sz="1050" dirty="0">
                  <a:solidFill>
                    <a:schemeClr val="dk1"/>
                  </a:solidFill>
                  <a:latin typeface="+mn-lt"/>
                  <a:ea typeface="+mn-ea"/>
                  <a:cs typeface="+mn-cs"/>
                </a:rPr>
                <a:t>两项同时触发</a:t>
              </a:r>
              <a:br/>
              <a:r>
                <a:rPr lang="zh-CN" sz="1050" dirty="0">
                  <a:solidFill>
                    <a:schemeClr val="dk1"/>
                  </a:solidFill>
                  <a:latin typeface="+mn-lt"/>
                  <a:ea typeface="+mn-ea"/>
                  <a:cs typeface="+mn-cs"/>
                </a:rPr>
                <a:t>→ 重排优先级</a:t>
              </a:r>
            </a:p>
          </p:txBody>
        </p:sp>
      </p:grpSp>
      <p:grpSp>
        <p:nvGrpSpPr>
          <p:cNvPr id="55" name="!!implication-band"/>
          <p:cNvGrpSpPr/>
          <p:nvPr/>
        </p:nvGrpSpPr>
        <p:grpSpPr>
          <a:xfrm>
            <a:off x="457200" y="4705350"/>
            <a:ext cx="9258300" cy="704850"/>
            <a:chOff x="457200" y="4705350"/>
            <a:chExt cx="9258300" cy="704850"/>
          </a:xfrm>
        </p:grpSpPr>
        <p:sp>
          <p:nvSpPr>
            <p:cNvPr id="51" name="Rectangle 51"/>
            <p:cNvSpPr/>
            <p:nvPr/>
          </p:nvSpPr>
          <p:spPr>
            <a:xfrm>
              <a:off x="457200" y="4705350"/>
              <a:ext cx="9258300" cy="704850"/>
            </a:xfrm>
            <a:prstGeom prst="rect">
              <a:avLst/>
            </a:prstGeom>
            <a:solidFill>
              <a:srgbClr val="F7F7F7"/>
            </a:solidFill>
            <a:ln>
              <a:noFill/>
            </a:ln>
          </p:spPr>
        </p:sp>
        <p:sp>
          <p:nvSpPr>
            <p:cNvPr id="52" name="Rectangle 52"/>
            <p:cNvSpPr/>
            <p:nvPr/>
          </p:nvSpPr>
          <p:spPr>
            <a:xfrm>
              <a:off x="457200" y="4705350"/>
              <a:ext cx="38100" cy="704850"/>
            </a:xfrm>
            <a:prstGeom prst="rect">
              <a:avLst/>
            </a:prstGeom>
            <a:solidFill>
              <a:schemeClr val="accent2"/>
            </a:solidFill>
            <a:ln>
              <a:noFill/>
            </a:ln>
          </p:spPr>
        </p:sp>
        <p:sp>
          <p:nvSpPr>
            <p:cNvPr id="53" name="TextBox 53"/>
            <p:cNvSpPr txBox="1"/>
            <p:nvPr/>
          </p:nvSpPr>
          <p:spPr>
            <a:xfrm>
              <a:off x="604838" y="4817745"/>
              <a:ext cx="251841"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推论</a:t>
              </a:r>
            </a:p>
          </p:txBody>
        </p:sp>
        <p:sp>
          <p:nvSpPr>
            <p:cNvPr id="54" name="TextBox 54"/>
            <p:cNvSpPr txBox="1"/>
            <p:nvPr/>
          </p:nvSpPr>
          <p:spPr>
            <a:xfrm>
              <a:off x="604266" y="5011102"/>
              <a:ext cx="6244780"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三项风险都能用同口径的公开数据监测,并各有一条不扩大损失的应对——风险可管理,不是推迟决策的理由;</a:t>
              </a:r>
              <a:br/>
              <a:r>
                <a:rPr lang="zh-CN" sz="1050" dirty="0">
                  <a:solidFill>
                    <a:schemeClr val="dk1"/>
                  </a:solidFill>
                  <a:latin typeface="+mn-lt"/>
                  <a:ea typeface="+mn-ea"/>
                  <a:cs typeface="+mn-cs"/>
                </a:rPr>
                <a:t>三项同时触发的组合情景下,2027 年放量整体推迟一年,一级市场投入不受影响。</a:t>
              </a:r>
            </a:p>
          </p:txBody>
        </p:sp>
      </p:grpSp>
      <p:grpSp>
        <p:nvGrpSpPr>
          <p:cNvPr id="66" name="volatility-reference"/>
          <p:cNvGrpSpPr/>
          <p:nvPr/>
        </p:nvGrpSpPr>
        <p:grpSpPr>
          <a:xfrm>
            <a:off x="448818" y="5568791"/>
            <a:ext cx="9266682" cy="619125"/>
            <a:chOff x="448818" y="5568791"/>
            <a:chExt cx="9266682" cy="619125"/>
          </a:xfrm>
        </p:grpSpPr>
        <p:sp>
          <p:nvSpPr>
            <p:cNvPr id="56" name="TextBox 56"/>
            <p:cNvSpPr txBox="1"/>
            <p:nvPr/>
          </p:nvSpPr>
          <p:spPr>
            <a:xfrm>
              <a:off x="452438" y="5568791"/>
              <a:ext cx="1851346"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历史波动参照(触发阈值的依据)</a:t>
              </a:r>
            </a:p>
          </p:txBody>
        </p:sp>
        <p:sp>
          <p:nvSpPr>
            <p:cNvPr id="57" name="Line 57"/>
            <p:cNvSpPr/>
            <p:nvPr/>
          </p:nvSpPr>
          <p:spPr>
            <a:xfrm>
              <a:off x="457200" y="5734050"/>
              <a:ext cx="9258300" cy="9525"/>
            </a:xfrm>
            <a:custGeom>
              <a:avLst/>
              <a:gdLst/>
              <a:ahLst/>
              <a:cxnLst/>
              <a:rect l="l" t="t" r="r" b="b"/>
              <a:pathLst>
                <a:path w="9258300" h="9525">
                  <a:moveTo>
                    <a:pt x="0" y="0"/>
                  </a:moveTo>
                  <a:lnTo>
                    <a:pt x="9258300" y="0"/>
                  </a:lnTo>
                </a:path>
              </a:pathLst>
            </a:custGeom>
            <a:noFill/>
            <a:ln w="7144">
              <a:solidFill>
                <a:schemeClr val="accent1"/>
              </a:solidFill>
            </a:ln>
          </p:spPr>
        </p:sp>
        <p:sp>
          <p:nvSpPr>
            <p:cNvPr id="58" name="TextBox 58"/>
            <p:cNvSpPr txBox="1"/>
            <p:nvPr/>
          </p:nvSpPr>
          <p:spPr>
            <a:xfrm>
              <a:off x="448818" y="5784532"/>
              <a:ext cx="479668" cy="322707"/>
            </a:xfrm>
            <a:prstGeom prst="rect">
              <a:avLst/>
            </a:prstGeom>
            <a:noFill/>
            <a:ln>
              <a:noFill/>
            </a:ln>
          </p:spPr>
          <p:txBody>
            <a:bodyPr wrap="none" lIns="0" tIns="0" rIns="0" bIns="0" anchor="t" anchorCtr="0">
              <a:spAutoFit/>
            </a:bodyPr>
            <a:lstStyle/>
            <a:p>
              <a:pPr algn="l"/>
              <a:r>
                <a:rPr lang="en-US" sz="1650" b="1" dirty="0">
                  <a:solidFill>
                    <a:srgbClr val="B3261E"/>
                  </a:solidFill>
                  <a:latin typeface="Arial"/>
                  <a:ea typeface="Arial"/>
                  <a:cs typeface="Arial"/>
                </a:rPr>
                <a:t>−4pt</a:t>
              </a:r>
            </a:p>
          </p:txBody>
        </p:sp>
        <p:sp>
          <p:nvSpPr>
            <p:cNvPr id="59" name="TextBox 59"/>
            <p:cNvSpPr txBox="1"/>
            <p:nvPr/>
          </p:nvSpPr>
          <p:spPr>
            <a:xfrm>
              <a:off x="452438" y="6025991"/>
              <a:ext cx="155496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德国 2023→24 渗透率 24%→20%</a:t>
              </a:r>
            </a:p>
          </p:txBody>
        </p:sp>
        <p:sp>
          <p:nvSpPr>
            <p:cNvPr id="60" name="TextBox 60"/>
            <p:cNvSpPr txBox="1"/>
            <p:nvPr/>
          </p:nvSpPr>
          <p:spPr>
            <a:xfrm>
              <a:off x="2763393" y="5784532"/>
              <a:ext cx="603213"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Arial"/>
                  <a:ea typeface="Arial"/>
                  <a:cs typeface="Arial"/>
                </a:rPr>
                <a:t>+10pt</a:t>
              </a:r>
            </a:p>
          </p:txBody>
        </p:sp>
        <p:sp>
          <p:nvSpPr>
            <p:cNvPr id="61" name="TextBox 61"/>
            <p:cNvSpPr txBox="1"/>
            <p:nvPr/>
          </p:nvSpPr>
          <p:spPr>
            <a:xfrm>
              <a:off x="2767012" y="6025991"/>
              <a:ext cx="1554963"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德国 2024→25 渗透率 20%→30%</a:t>
              </a:r>
            </a:p>
          </p:txBody>
        </p:sp>
        <p:sp>
          <p:nvSpPr>
            <p:cNvPr id="62" name="TextBox 62"/>
            <p:cNvSpPr txBox="1"/>
            <p:nvPr/>
          </p:nvSpPr>
          <p:spPr>
            <a:xfrm>
              <a:off x="5077968" y="5784532"/>
              <a:ext cx="60321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Arial"/>
                  <a:ea typeface="Arial"/>
                  <a:cs typeface="Arial"/>
                </a:rPr>
                <a:t>+14pt</a:t>
              </a:r>
            </a:p>
          </p:txBody>
        </p:sp>
        <p:sp>
          <p:nvSpPr>
            <p:cNvPr id="63" name="TextBox 63"/>
            <p:cNvSpPr txBox="1"/>
            <p:nvPr/>
          </p:nvSpPr>
          <p:spPr>
            <a:xfrm>
              <a:off x="5081588" y="6025991"/>
              <a:ext cx="1738041"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中国 PHEV 占比 2022→25 24%→38%</a:t>
              </a:r>
            </a:p>
          </p:txBody>
        </p:sp>
        <p:sp>
          <p:nvSpPr>
            <p:cNvPr id="64" name="TextBox 64"/>
            <p:cNvSpPr txBox="1"/>
            <p:nvPr/>
          </p:nvSpPr>
          <p:spPr>
            <a:xfrm>
              <a:off x="7392543" y="5784532"/>
              <a:ext cx="60321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Arial"/>
                  <a:ea typeface="Arial"/>
                  <a:cs typeface="Arial"/>
                </a:rPr>
                <a:t>+10pt</a:t>
              </a:r>
            </a:p>
          </p:txBody>
        </p:sp>
        <p:sp>
          <p:nvSpPr>
            <p:cNvPr id="65" name="TextBox 65"/>
            <p:cNvSpPr txBox="1"/>
            <p:nvPr/>
          </p:nvSpPr>
          <p:spPr>
            <a:xfrm>
              <a:off x="7396162" y="6025991"/>
              <a:ext cx="1726065"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东南亚 2023→25 渗透率 8.4%→18%</a:t>
              </a:r>
            </a:p>
          </p:txBody>
        </p:sp>
      </p:grpSp>
      <p:grpSp>
        <p:nvGrpSpPr>
          <p:cNvPr id="71" name="footer"/>
          <p:cNvGrpSpPr/>
          <p:nvPr/>
        </p:nvGrpSpPr>
        <p:grpSpPr>
          <a:xfrm>
            <a:off x="452438" y="6205538"/>
            <a:ext cx="11287124" cy="433388"/>
            <a:chOff x="452438" y="6205538"/>
            <a:chExt cx="11287124" cy="433388"/>
          </a:xfrm>
        </p:grpSpPr>
        <p:sp>
          <p:nvSpPr>
            <p:cNvPr id="67" name="TextBox 67"/>
            <p:cNvSpPr txBox="1"/>
            <p:nvPr/>
          </p:nvSpPr>
          <p:spPr>
            <a:xfrm>
              <a:off x="452438" y="6205538"/>
              <a:ext cx="4060412"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电动车 = 纯电(BEV)+ 插电混动(PHEV),乘用车口径;渗透率 = 电动车占新车销量的比例</a:t>
              </a:r>
            </a:p>
          </p:txBody>
        </p:sp>
        <p:sp>
          <p:nvSpPr>
            <p:cNvPr id="68" name="TextBox 68"/>
            <p:cNvSpPr txBox="1"/>
            <p:nvPr/>
          </p:nvSpPr>
          <p:spPr>
            <a:xfrm>
              <a:off x="452438" y="6338888"/>
              <a:ext cx="4922330"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德国 2023→2024 渗透率 24%→20%,2025 年 30%;中国 2025 年 PHEV 占比 38%;东南亚 2025 年渗透率 18%</a:t>
              </a:r>
            </a:p>
          </p:txBody>
        </p:sp>
        <p:sp>
          <p:nvSpPr>
            <p:cNvPr id="69" name="TextBox 69"/>
            <p:cNvSpPr txBox="1"/>
            <p:nvPr/>
          </p:nvSpPr>
          <p:spPr>
            <a:xfrm>
              <a:off x="452438" y="649128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70" name="TextBox 70"/>
            <p:cNvSpPr txBox="1"/>
            <p:nvPr/>
          </p:nvSpPr>
          <p:spPr>
            <a:xfrm>
              <a:off x="11617724" y="6491288"/>
              <a:ext cx="121838"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12</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22" presetClass="entr" presetSubtype="4" fill="hold" grpId="0" nodeType="afterEffect">
                                  <p:stCondLst>
                                    <p:cond delay="500"/>
                                  </p:stCondLst>
                                  <p:childTnLst>
                                    <p:set>
                                      <p:cBhvr>
                                        <p:cTn id="10" dur="1" fill="hold">
                                          <p:stCondLst>
                                            <p:cond delay="0"/>
                                          </p:stCondLst>
                                        </p:cTn>
                                        <p:tgtEl>
                                          <p:spTgt spid="35"/>
                                        </p:tgtEl>
                                        <p:attrNameLst>
                                          <p:attrName>style.visibility</p:attrName>
                                        </p:attrNameLst>
                                      </p:cBhvr>
                                      <p:to>
                                        <p:strVal val="visible"/>
                                      </p:to>
                                    </p:set>
                                    <p:animEffect transition="in" filter="wipe(down)">
                                      <p:cBhvr>
                                        <p:cTn id="11" dur="700"/>
                                        <p:tgtEl>
                                          <p:spTgt spid="35"/>
                                        </p:tgtEl>
                                      </p:cBhvr>
                                    </p:animEffect>
                                  </p:childTnLst>
                                </p:cTn>
                              </p:par>
                            </p:childTnLst>
                          </p:cTn>
                        </p:par>
                        <p:par>
                          <p:cTn id="12" fill="hold">
                            <p:stCondLst>
                              <p:cond delay="1500"/>
                            </p:stCondLst>
                            <p:childTnLst>
                              <p:par>
                                <p:cTn id="13" presetID="10" presetClass="entr" presetSubtype="0" fill="hold" grpId="0" nodeType="afterEffect">
                                  <p:stCondLst>
                                    <p:cond delay="500"/>
                                  </p:stCondLst>
                                  <p:childTnLst>
                                    <p:set>
                                      <p:cBhvr>
                                        <p:cTn id="14" dur="1" fill="hold">
                                          <p:stCondLst>
                                            <p:cond delay="0"/>
                                          </p:stCondLst>
                                        </p:cTn>
                                        <p:tgtEl>
                                          <p:spTgt spid="50"/>
                                        </p:tgtEl>
                                        <p:attrNameLst>
                                          <p:attrName>style.visibility</p:attrName>
                                        </p:attrNameLst>
                                      </p:cBhvr>
                                      <p:to>
                                        <p:strVal val="visible"/>
                                      </p:to>
                                    </p:set>
                                    <p:animEffect transition="in" filter="fade">
                                      <p:cBhvr>
                                        <p:cTn id="15" dur="300"/>
                                        <p:tgtEl>
                                          <p:spTgt spid="50"/>
                                        </p:tgtEl>
                                      </p:cBhvr>
                                    </p:animEffect>
                                  </p:childTnLst>
                                </p:cTn>
                              </p:par>
                            </p:childTnLst>
                          </p:cTn>
                        </p:par>
                        <p:par>
                          <p:cTn id="16" fill="hold">
                            <p:stCondLst>
                              <p:cond delay="2300"/>
                            </p:stCondLst>
                            <p:childTnLst>
                              <p:par>
                                <p:cTn id="17" presetID="10" presetClass="entr" presetSubtype="0" fill="hold" grpId="0" nodeType="afterEffect">
                                  <p:stCondLst>
                                    <p:cond delay="50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500"/>
                                        <p:tgtEl>
                                          <p:spTgt spid="55"/>
                                        </p:tgtEl>
                                      </p:cBhvr>
                                    </p:animEffect>
                                  </p:childTnLst>
                                </p:cTn>
                              </p:par>
                            </p:childTnLst>
                          </p:cTn>
                        </p:par>
                        <p:par>
                          <p:cTn id="20" fill="hold">
                            <p:stCondLst>
                              <p:cond delay="3300"/>
                            </p:stCondLst>
                            <p:childTnLst>
                              <p:par>
                                <p:cTn id="21" presetID="10" presetClass="entr" presetSubtype="0" fill="hold" grpId="0" nodeType="afterEffect">
                                  <p:stCondLst>
                                    <p:cond delay="500"/>
                                  </p:stCondLst>
                                  <p:childTnLst>
                                    <p:set>
                                      <p:cBhvr>
                                        <p:cTn id="22" dur="1" fill="hold">
                                          <p:stCondLst>
                                            <p:cond delay="0"/>
                                          </p:stCondLst>
                                        </p:cTn>
                                        <p:tgtEl>
                                          <p:spTgt spid="66"/>
                                        </p:tgtEl>
                                        <p:attrNameLst>
                                          <p:attrName>style.visibility</p:attrName>
                                        </p:attrNameLst>
                                      </p:cBhvr>
                                      <p:to>
                                        <p:strVal val="visible"/>
                                      </p:to>
                                    </p:set>
                                    <p:animEffect transition="in" filter="fade">
                                      <p:cBhvr>
                                        <p:cTn id="23" dur="3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565714" y="247650"/>
            <a:ext cx="1169086" cy="206216"/>
            <a:chOff x="10565714" y="247650"/>
            <a:chExt cx="1169086" cy="206216"/>
          </a:xfrm>
        </p:grpSpPr>
        <p:sp>
          <p:nvSpPr>
            <p:cNvPr id="2" name="TextBox 2"/>
            <p:cNvSpPr txBox="1"/>
            <p:nvPr/>
          </p:nvSpPr>
          <p:spPr>
            <a:xfrm>
              <a:off x="10565714" y="291941"/>
              <a:ext cx="24039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决策</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6994588" cy="637794"/>
            <a:chOff x="448056" y="472440"/>
            <a:chExt cx="6994588" cy="637794"/>
          </a:xfrm>
        </p:grpSpPr>
        <p:sp>
          <p:nvSpPr>
            <p:cNvPr id="6" name="TextBox 6"/>
            <p:cNvSpPr txBox="1"/>
            <p:nvPr/>
          </p:nvSpPr>
          <p:spPr>
            <a:xfrm>
              <a:off x="448056" y="472440"/>
              <a:ext cx="6994588"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请管理层本季度决定三件事:批准三级优先级、批准 PHEV 先行节奏、</a:t>
              </a:r>
              <a:br/>
              <a:r>
                <a:rPr lang="zh-CN" sz="1800" b="1" dirty="0">
                  <a:solidFill>
                    <a:schemeClr val="accent1"/>
                  </a:solidFill>
                  <a:latin typeface="+mn-lt"/>
                  <a:ea typeface="+mn-ea"/>
                  <a:cs typeface="+mn-cs"/>
                </a:rPr>
                <a:t>指定东南亚试点负责人</a:t>
              </a:r>
            </a:p>
          </p:txBody>
        </p:sp>
      </p:grpSp>
      <p:grpSp>
        <p:nvGrpSpPr>
          <p:cNvPr id="9" name="unit-line"/>
          <p:cNvGrpSpPr/>
          <p:nvPr/>
        </p:nvGrpSpPr>
        <p:grpSpPr>
          <a:xfrm>
            <a:off x="452438" y="1160145"/>
            <a:ext cx="3432238" cy="176212"/>
            <a:chOff x="452438" y="1160145"/>
            <a:chExt cx="3432238" cy="176212"/>
          </a:xfrm>
        </p:grpSpPr>
        <p:sp>
          <p:nvSpPr>
            <p:cNvPr id="8" name="TextBox 8"/>
            <p:cNvSpPr txBox="1"/>
            <p:nvPr/>
          </p:nvSpPr>
          <p:spPr>
            <a:xfrm>
              <a:off x="452438" y="1160145"/>
              <a:ext cx="3432238"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决策请求、决定后 90 天内的动作、负责角色,以及不决定的后果</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6" name="decision-header"/>
          <p:cNvGrpSpPr/>
          <p:nvPr/>
        </p:nvGrpSpPr>
        <p:grpSpPr>
          <a:xfrm>
            <a:off x="457200" y="1587341"/>
            <a:ext cx="11277600" cy="174784"/>
            <a:chOff x="457200" y="1587341"/>
            <a:chExt cx="11277600" cy="174784"/>
          </a:xfrm>
        </p:grpSpPr>
        <p:sp>
          <p:nvSpPr>
            <p:cNvPr id="11" name="TextBox 11"/>
            <p:cNvSpPr txBox="1"/>
            <p:nvPr/>
          </p:nvSpPr>
          <p:spPr>
            <a:xfrm>
              <a:off x="833438" y="1587341"/>
              <a:ext cx="842823" cy="161925"/>
            </a:xfrm>
            <a:prstGeom prst="rect">
              <a:avLst/>
            </a:prstGeom>
            <a:noFill/>
            <a:ln>
              <a:noFill/>
            </a:ln>
          </p:spPr>
          <p:txBody>
            <a:bodyPr wrap="none" lIns="0" tIns="0" rIns="0" bIns="0" anchor="t" anchorCtr="0">
              <a:spAutoFit/>
            </a:bodyPr>
            <a:lstStyle/>
            <a:p>
              <a:pPr algn="l"/>
              <a:r>
                <a:rPr lang="zh-CN" sz="820" spc="75" dirty="0">
                  <a:solidFill>
                    <a:schemeClr val="accent5"/>
                  </a:solidFill>
                  <a:latin typeface="+mn-lt"/>
                  <a:ea typeface="+mn-ea"/>
                  <a:cs typeface="+mn-cs"/>
                </a:rPr>
                <a:t>需要决定的事项</a:t>
              </a:r>
            </a:p>
          </p:txBody>
        </p:sp>
        <p:sp>
          <p:nvSpPr>
            <p:cNvPr id="12" name="TextBox 12"/>
            <p:cNvSpPr txBox="1"/>
            <p:nvPr/>
          </p:nvSpPr>
          <p:spPr>
            <a:xfrm>
              <a:off x="4186238" y="1587341"/>
              <a:ext cx="1190211" cy="161925"/>
            </a:xfrm>
            <a:prstGeom prst="rect">
              <a:avLst/>
            </a:prstGeom>
            <a:noFill/>
            <a:ln>
              <a:noFill/>
            </a:ln>
          </p:spPr>
          <p:txBody>
            <a:bodyPr wrap="none" lIns="0" tIns="0" rIns="0" bIns="0" anchor="t" anchorCtr="0">
              <a:spAutoFit/>
            </a:bodyPr>
            <a:lstStyle/>
            <a:p>
              <a:pPr algn="l"/>
              <a:r>
                <a:rPr lang="zh-CN" sz="820" spc="75" dirty="0">
                  <a:solidFill>
                    <a:schemeClr val="accent5"/>
                  </a:solidFill>
                  <a:latin typeface="+mn-lt"/>
                  <a:ea typeface="+mn-ea"/>
                  <a:cs typeface="+mn-cs"/>
                </a:rPr>
                <a:t>决定后 90 天内的动作</a:t>
              </a:r>
            </a:p>
          </p:txBody>
        </p:sp>
        <p:sp>
          <p:nvSpPr>
            <p:cNvPr id="13" name="TextBox 13"/>
            <p:cNvSpPr txBox="1"/>
            <p:nvPr/>
          </p:nvSpPr>
          <p:spPr>
            <a:xfrm>
              <a:off x="7234238" y="1587341"/>
              <a:ext cx="240398" cy="161925"/>
            </a:xfrm>
            <a:prstGeom prst="rect">
              <a:avLst/>
            </a:prstGeom>
            <a:noFill/>
            <a:ln>
              <a:noFill/>
            </a:ln>
          </p:spPr>
          <p:txBody>
            <a:bodyPr wrap="none" lIns="0" tIns="0" rIns="0" bIns="0" anchor="t" anchorCtr="0">
              <a:spAutoFit/>
            </a:bodyPr>
            <a:lstStyle/>
            <a:p>
              <a:pPr algn="l"/>
              <a:r>
                <a:rPr lang="zh-CN" sz="820" spc="75" dirty="0">
                  <a:solidFill>
                    <a:schemeClr val="accent5"/>
                  </a:solidFill>
                  <a:latin typeface="+mn-lt"/>
                  <a:ea typeface="+mn-ea"/>
                  <a:cs typeface="+mn-cs"/>
                </a:rPr>
                <a:t>负责</a:t>
              </a:r>
            </a:p>
          </p:txBody>
        </p:sp>
        <p:sp>
          <p:nvSpPr>
            <p:cNvPr id="14" name="TextBox 14"/>
            <p:cNvSpPr txBox="1"/>
            <p:nvPr/>
          </p:nvSpPr>
          <p:spPr>
            <a:xfrm>
              <a:off x="8567738" y="1587341"/>
              <a:ext cx="722338" cy="161925"/>
            </a:xfrm>
            <a:prstGeom prst="rect">
              <a:avLst/>
            </a:prstGeom>
            <a:noFill/>
            <a:ln>
              <a:noFill/>
            </a:ln>
          </p:spPr>
          <p:txBody>
            <a:bodyPr wrap="none" lIns="0" tIns="0" rIns="0" bIns="0" anchor="t" anchorCtr="0">
              <a:spAutoFit/>
            </a:bodyPr>
            <a:lstStyle/>
            <a:p>
              <a:pPr algn="l"/>
              <a:r>
                <a:rPr lang="zh-CN" sz="820" spc="75" dirty="0">
                  <a:solidFill>
                    <a:schemeClr val="accent5"/>
                  </a:solidFill>
                  <a:latin typeface="+mn-lt"/>
                  <a:ea typeface="+mn-ea"/>
                  <a:cs typeface="+mn-cs"/>
                </a:rPr>
                <a:t>不决定的后果</a:t>
              </a:r>
            </a:p>
          </p:txBody>
        </p:sp>
        <p:sp>
          <p:nvSpPr>
            <p:cNvPr id="15" name="Line 15"/>
            <p:cNvSpPr/>
            <p:nvPr/>
          </p:nvSpPr>
          <p:spPr>
            <a:xfrm>
              <a:off x="457200" y="175260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grpSp>
        <p:nvGrpSpPr>
          <p:cNvPr id="24" name="decision-1"/>
          <p:cNvGrpSpPr/>
          <p:nvPr/>
        </p:nvGrpSpPr>
        <p:grpSpPr>
          <a:xfrm>
            <a:off x="441960" y="1847850"/>
            <a:ext cx="11292840" cy="885825"/>
            <a:chOff x="441960" y="1847850"/>
            <a:chExt cx="11292840" cy="885825"/>
          </a:xfrm>
        </p:grpSpPr>
        <p:sp>
          <p:nvSpPr>
            <p:cNvPr id="17" name="TextBox 17"/>
            <p:cNvSpPr txBox="1"/>
            <p:nvPr/>
          </p:nvSpPr>
          <p:spPr>
            <a:xfrm>
              <a:off x="441960" y="1847850"/>
              <a:ext cx="255107"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Arial"/>
                  <a:ea typeface="Arial"/>
                  <a:cs typeface="Arial"/>
                </a:rPr>
                <a:t>1</a:t>
              </a:r>
            </a:p>
          </p:txBody>
        </p:sp>
        <p:sp>
          <p:nvSpPr>
            <p:cNvPr id="18" name="TextBox 18"/>
            <p:cNvSpPr txBox="1"/>
            <p:nvPr/>
          </p:nvSpPr>
          <p:spPr>
            <a:xfrm>
              <a:off x="832485" y="1916906"/>
              <a:ext cx="1368400"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批准三级市场优先级</a:t>
              </a:r>
            </a:p>
          </p:txBody>
        </p:sp>
        <p:sp>
          <p:nvSpPr>
            <p:cNvPr id="19" name="TextBox 19"/>
            <p:cNvSpPr txBox="1"/>
            <p:nvPr/>
          </p:nvSpPr>
          <p:spPr>
            <a:xfrm>
              <a:off x="833438" y="2150745"/>
              <a:ext cx="2735580" cy="338138"/>
            </a:xfrm>
            <a:prstGeom prst="rect">
              <a:avLst/>
            </a:prstGeom>
            <a:noFill/>
            <a:ln>
              <a:noFill/>
            </a:ln>
          </p:spPr>
          <p:txBody>
            <a:bodyPr wrap="none" lIns="0" tIns="0" rIns="0" bIns="0" anchor="t" anchorCtr="0">
              <a:spAutoFit/>
            </a:bodyPr>
            <a:lstStyle/>
            <a:p>
              <a:pPr algn="l">
                <a:lnSpc>
                  <a:spcPts val="1275"/>
                </a:lnSpc>
              </a:pPr>
              <a:r>
                <a:rPr lang="zh-CN" sz="900" dirty="0">
                  <a:solidFill>
                    <a:schemeClr val="accent5"/>
                  </a:solidFill>
                  <a:latin typeface="+mn-lt"/>
                  <a:ea typeface="+mn-ea"/>
                  <a:cs typeface="+mn-cs"/>
                </a:rPr>
                <a:t>一级中国/东南亚/英德,二级巴西/墨西哥/印度/韩国,</a:t>
              </a:r>
              <a:br/>
              <a:r>
                <a:rPr lang="zh-CN" sz="900" dirty="0">
                  <a:solidFill>
                    <a:schemeClr val="accent5"/>
                  </a:solidFill>
                  <a:latin typeface="+mn-lt"/>
                  <a:ea typeface="+mn-ea"/>
                  <a:cs typeface="+mn-cs"/>
                </a:rPr>
                <a:t>三级美国/日本/法国(第 10 页)</a:t>
              </a:r>
            </a:p>
          </p:txBody>
        </p:sp>
        <p:sp>
          <p:nvSpPr>
            <p:cNvPr id="20" name="TextBox 20"/>
            <p:cNvSpPr txBox="1"/>
            <p:nvPr/>
          </p:nvSpPr>
          <p:spPr>
            <a:xfrm>
              <a:off x="4185666" y="1925002"/>
              <a:ext cx="1850898"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海外业务部按层级重排 2026 年</a:t>
              </a:r>
              <a:br/>
              <a:r>
                <a:rPr lang="zh-CN" sz="1050" dirty="0">
                  <a:solidFill>
                    <a:schemeClr val="dk1"/>
                  </a:solidFill>
                  <a:latin typeface="+mn-lt"/>
                  <a:ea typeface="+mn-ea"/>
                  <a:cs typeface="+mn-cs"/>
                </a:rPr>
                <a:t>预算与人员配置</a:t>
              </a:r>
            </a:p>
          </p:txBody>
        </p:sp>
        <p:sp>
          <p:nvSpPr>
            <p:cNvPr id="21" name="TextBox 21"/>
            <p:cNvSpPr txBox="1"/>
            <p:nvPr/>
          </p:nvSpPr>
          <p:spPr>
            <a:xfrm>
              <a:off x="7233666" y="1925002"/>
              <a:ext cx="1000125"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海外业务负责人</a:t>
              </a:r>
            </a:p>
          </p:txBody>
        </p:sp>
        <p:sp>
          <p:nvSpPr>
            <p:cNvPr id="22" name="TextBox 22"/>
            <p:cNvSpPr txBox="1"/>
            <p:nvPr/>
          </p:nvSpPr>
          <p:spPr>
            <a:xfrm>
              <a:off x="8567166" y="1925002"/>
              <a:ext cx="2217610"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B3261E"/>
                  </a:solidFill>
                  <a:latin typeface="+mn-lt"/>
                  <a:ea typeface="+mn-ea"/>
                  <a:cs typeface="+mn-cs"/>
                </a:rPr>
                <a:t>预算继续按存量地图分配,一半以上</a:t>
              </a:r>
              <a:br/>
              <a:r>
                <a:rPr lang="zh-CN" sz="1050" dirty="0">
                  <a:solidFill>
                    <a:srgbClr val="B3261E"/>
                  </a:solidFill>
                  <a:latin typeface="+mn-lt"/>
                  <a:ea typeface="+mn-ea"/>
                  <a:cs typeface="+mn-cs"/>
                </a:rPr>
                <a:t>投向增速放缓的市场,错过东南亚窗口</a:t>
              </a:r>
            </a:p>
          </p:txBody>
        </p:sp>
        <p:sp>
          <p:nvSpPr>
            <p:cNvPr id="23" name="Line 23"/>
            <p:cNvSpPr/>
            <p:nvPr/>
          </p:nvSpPr>
          <p:spPr>
            <a:xfrm>
              <a:off x="457200" y="2724150"/>
              <a:ext cx="11277600" cy="9525"/>
            </a:xfrm>
            <a:custGeom>
              <a:avLst/>
              <a:gdLst/>
              <a:ahLst/>
              <a:cxnLst/>
              <a:rect l="l" t="t" r="r" b="b"/>
              <a:pathLst>
                <a:path w="11277600" h="9525">
                  <a:moveTo>
                    <a:pt x="0" y="0"/>
                  </a:moveTo>
                  <a:lnTo>
                    <a:pt x="11277600" y="0"/>
                  </a:lnTo>
                </a:path>
              </a:pathLst>
            </a:custGeom>
            <a:noFill/>
            <a:ln w="7144">
              <a:solidFill>
                <a:srgbClr val="E3E3E3"/>
              </a:solidFill>
            </a:ln>
          </p:spPr>
        </p:sp>
      </p:grpSp>
      <p:grpSp>
        <p:nvGrpSpPr>
          <p:cNvPr id="32" name="decision-2"/>
          <p:cNvGrpSpPr/>
          <p:nvPr/>
        </p:nvGrpSpPr>
        <p:grpSpPr>
          <a:xfrm>
            <a:off x="441960" y="2990850"/>
            <a:ext cx="11292840" cy="885825"/>
            <a:chOff x="441960" y="2990850"/>
            <a:chExt cx="11292840" cy="885825"/>
          </a:xfrm>
        </p:grpSpPr>
        <p:sp>
          <p:nvSpPr>
            <p:cNvPr id="25" name="TextBox 25"/>
            <p:cNvSpPr txBox="1"/>
            <p:nvPr/>
          </p:nvSpPr>
          <p:spPr>
            <a:xfrm>
              <a:off x="441960" y="2990850"/>
              <a:ext cx="255107"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Arial"/>
                  <a:ea typeface="Arial"/>
                  <a:cs typeface="Arial"/>
                </a:rPr>
                <a:t>2</a:t>
              </a:r>
            </a:p>
          </p:txBody>
        </p:sp>
        <p:sp>
          <p:nvSpPr>
            <p:cNvPr id="26" name="TextBox 26"/>
            <p:cNvSpPr txBox="1"/>
            <p:nvPr/>
          </p:nvSpPr>
          <p:spPr>
            <a:xfrm>
              <a:off x="832485" y="3059906"/>
              <a:ext cx="1836767"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批准 PHEV 先行的产品节奏</a:t>
              </a:r>
            </a:p>
          </p:txBody>
        </p:sp>
        <p:sp>
          <p:nvSpPr>
            <p:cNvPr id="27" name="TextBox 27"/>
            <p:cNvSpPr txBox="1"/>
            <p:nvPr/>
          </p:nvSpPr>
          <p:spPr>
            <a:xfrm>
              <a:off x="833438" y="3293745"/>
              <a:ext cx="1758315" cy="338138"/>
            </a:xfrm>
            <a:prstGeom prst="rect">
              <a:avLst/>
            </a:prstGeom>
            <a:noFill/>
            <a:ln>
              <a:noFill/>
            </a:ln>
          </p:spPr>
          <p:txBody>
            <a:bodyPr wrap="none" lIns="0" tIns="0" rIns="0" bIns="0" anchor="t" anchorCtr="0">
              <a:spAutoFit/>
            </a:bodyPr>
            <a:lstStyle/>
            <a:p>
              <a:pPr algn="l">
                <a:lnSpc>
                  <a:spcPts val="1275"/>
                </a:lnSpc>
              </a:pPr>
              <a:r>
                <a:rPr lang="zh-CN" sz="900" dirty="0">
                  <a:solidFill>
                    <a:schemeClr val="accent5"/>
                  </a:solidFill>
                  <a:latin typeface="+mn-lt"/>
                  <a:ea typeface="+mn-ea"/>
                  <a:cs typeface="+mn-cs"/>
                </a:rPr>
                <a:t>低渗透市场 PHEV 先行、BEV 跟进,</a:t>
              </a:r>
              <a:br/>
              <a:r>
                <a:rPr lang="zh-CN" sz="900" dirty="0">
                  <a:solidFill>
                    <a:schemeClr val="accent5"/>
                  </a:solidFill>
                  <a:latin typeface="+mn-lt"/>
                  <a:ea typeface="+mn-ea"/>
                  <a:cs typeface="+mn-cs"/>
                </a:rPr>
                <a:t>英德补齐 BEV(第 8、11 页)</a:t>
              </a:r>
            </a:p>
          </p:txBody>
        </p:sp>
        <p:sp>
          <p:nvSpPr>
            <p:cNvPr id="28" name="TextBox 28"/>
            <p:cNvSpPr txBox="1"/>
            <p:nvPr/>
          </p:nvSpPr>
          <p:spPr>
            <a:xfrm>
              <a:off x="4185666" y="3068002"/>
              <a:ext cx="1717548"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产品部提交东南亚 PHEV 首发</a:t>
              </a:r>
              <a:br/>
              <a:r>
                <a:rPr lang="zh-CN" sz="1050" dirty="0">
                  <a:solidFill>
                    <a:schemeClr val="dk1"/>
                  </a:solidFill>
                  <a:latin typeface="+mn-lt"/>
                  <a:ea typeface="+mn-ea"/>
                  <a:cs typeface="+mn-cs"/>
                </a:rPr>
                <a:t>车型清单与上市时间表</a:t>
              </a:r>
            </a:p>
          </p:txBody>
        </p:sp>
        <p:sp>
          <p:nvSpPr>
            <p:cNvPr id="29" name="TextBox 29"/>
            <p:cNvSpPr txBox="1"/>
            <p:nvPr/>
          </p:nvSpPr>
          <p:spPr>
            <a:xfrm>
              <a:off x="7233666" y="3068002"/>
              <a:ext cx="717423"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产品负责人</a:t>
              </a:r>
            </a:p>
          </p:txBody>
        </p:sp>
        <p:sp>
          <p:nvSpPr>
            <p:cNvPr id="30" name="TextBox 30"/>
            <p:cNvSpPr txBox="1"/>
            <p:nvPr/>
          </p:nvSpPr>
          <p:spPr>
            <a:xfrm>
              <a:off x="8567166" y="3068002"/>
              <a:ext cx="2270950"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B3261E"/>
                  </a:solidFill>
                  <a:latin typeface="+mn-lt"/>
                  <a:ea typeface="+mn-ea"/>
                  <a:cs typeface="+mn-cs"/>
                </a:rPr>
                <a:t>产品线继续 BEV 优先,渗透率低于 10%</a:t>
              </a:r>
              <a:br/>
              <a:r>
                <a:rPr lang="zh-CN" sz="1050" dirty="0">
                  <a:solidFill>
                    <a:srgbClr val="B3261E"/>
                  </a:solidFill>
                  <a:latin typeface="+mn-lt"/>
                  <a:ea typeface="+mn-ea"/>
                  <a:cs typeface="+mn-cs"/>
                </a:rPr>
                <a:t>的市场进不去,拉美与印度试点无产品</a:t>
              </a:r>
            </a:p>
          </p:txBody>
        </p:sp>
        <p:sp>
          <p:nvSpPr>
            <p:cNvPr id="31" name="Line 31"/>
            <p:cNvSpPr/>
            <p:nvPr/>
          </p:nvSpPr>
          <p:spPr>
            <a:xfrm>
              <a:off x="457200" y="3867150"/>
              <a:ext cx="11277600" cy="9525"/>
            </a:xfrm>
            <a:custGeom>
              <a:avLst/>
              <a:gdLst/>
              <a:ahLst/>
              <a:cxnLst/>
              <a:rect l="l" t="t" r="r" b="b"/>
              <a:pathLst>
                <a:path w="11277600" h="9525">
                  <a:moveTo>
                    <a:pt x="0" y="0"/>
                  </a:moveTo>
                  <a:lnTo>
                    <a:pt x="11277600" y="0"/>
                  </a:lnTo>
                </a:path>
              </a:pathLst>
            </a:custGeom>
            <a:noFill/>
            <a:ln w="7144">
              <a:solidFill>
                <a:srgbClr val="E3E3E3"/>
              </a:solidFill>
            </a:ln>
          </p:spPr>
        </p:sp>
      </p:grpSp>
      <p:grpSp>
        <p:nvGrpSpPr>
          <p:cNvPr id="40" name="decision-3"/>
          <p:cNvGrpSpPr/>
          <p:nvPr/>
        </p:nvGrpSpPr>
        <p:grpSpPr>
          <a:xfrm>
            <a:off x="441960" y="4133850"/>
            <a:ext cx="11292840" cy="885825"/>
            <a:chOff x="441960" y="4133850"/>
            <a:chExt cx="11292840" cy="885825"/>
          </a:xfrm>
        </p:grpSpPr>
        <p:sp>
          <p:nvSpPr>
            <p:cNvPr id="33" name="TextBox 33"/>
            <p:cNvSpPr txBox="1"/>
            <p:nvPr/>
          </p:nvSpPr>
          <p:spPr>
            <a:xfrm>
              <a:off x="441960" y="4133850"/>
              <a:ext cx="255107" cy="586740"/>
            </a:xfrm>
            <a:prstGeom prst="rect">
              <a:avLst/>
            </a:prstGeom>
            <a:noFill/>
            <a:ln>
              <a:noFill/>
            </a:ln>
          </p:spPr>
          <p:txBody>
            <a:bodyPr wrap="none" lIns="0" tIns="0" rIns="0" bIns="0" anchor="t" anchorCtr="0">
              <a:spAutoFit/>
            </a:bodyPr>
            <a:lstStyle/>
            <a:p>
              <a:pPr algn="l"/>
              <a:r>
                <a:rPr lang="zh-CN" sz="3000" b="1" dirty="0">
                  <a:solidFill>
                    <a:schemeClr val="accent2"/>
                  </a:solidFill>
                  <a:latin typeface="Arial"/>
                  <a:ea typeface="Arial"/>
                  <a:cs typeface="Arial"/>
                </a:rPr>
                <a:t>3</a:t>
              </a:r>
            </a:p>
          </p:txBody>
        </p:sp>
        <p:sp>
          <p:nvSpPr>
            <p:cNvPr id="34" name="TextBox 34"/>
            <p:cNvSpPr txBox="1"/>
            <p:nvPr/>
          </p:nvSpPr>
          <p:spPr>
            <a:xfrm>
              <a:off x="832485" y="4202906"/>
              <a:ext cx="1519174" cy="220028"/>
            </a:xfrm>
            <a:prstGeom prst="rect">
              <a:avLst/>
            </a:prstGeom>
            <a:noFill/>
            <a:ln>
              <a:noFill/>
            </a:ln>
          </p:spPr>
          <p:txBody>
            <a:bodyPr wrap="none" lIns="0" tIns="0" rIns="0" bIns="0" anchor="t" anchorCtr="0">
              <a:spAutoFit/>
            </a:bodyPr>
            <a:lstStyle/>
            <a:p>
              <a:pPr algn="l"/>
              <a:r>
                <a:rPr lang="zh-CN" sz="1120" b="1" dirty="0">
                  <a:solidFill>
                    <a:schemeClr val="accent1"/>
                  </a:solidFill>
                  <a:latin typeface="+mn-lt"/>
                  <a:ea typeface="+mn-ea"/>
                  <a:cs typeface="+mn-cs"/>
                </a:rPr>
                <a:t>指定东南亚试点负责人</a:t>
              </a:r>
            </a:p>
          </p:txBody>
        </p:sp>
        <p:sp>
          <p:nvSpPr>
            <p:cNvPr id="35" name="TextBox 35"/>
            <p:cNvSpPr txBox="1"/>
            <p:nvPr/>
          </p:nvSpPr>
          <p:spPr>
            <a:xfrm>
              <a:off x="833438" y="4436745"/>
              <a:ext cx="1964055" cy="338138"/>
            </a:xfrm>
            <a:prstGeom prst="rect">
              <a:avLst/>
            </a:prstGeom>
            <a:noFill/>
            <a:ln>
              <a:noFill/>
            </a:ln>
          </p:spPr>
          <p:txBody>
            <a:bodyPr wrap="none" lIns="0" tIns="0" rIns="0" bIns="0" anchor="t" anchorCtr="0">
              <a:spAutoFit/>
            </a:bodyPr>
            <a:lstStyle/>
            <a:p>
              <a:pPr algn="l">
                <a:lnSpc>
                  <a:spcPts val="1275"/>
                </a:lnSpc>
              </a:pPr>
              <a:r>
                <a:rPr lang="zh-CN" sz="900" dirty="0">
                  <a:solidFill>
                    <a:schemeClr val="accent5"/>
                  </a:solidFill>
                  <a:latin typeface="+mn-lt"/>
                  <a:ea typeface="+mn-ea"/>
                  <a:cs typeface="+mn-cs"/>
                </a:rPr>
                <a:t>成立试点小组,泰国首发,</a:t>
              </a:r>
              <a:br/>
              <a:r>
                <a:rPr lang="zh-CN" sz="900" dirty="0">
                  <a:solidFill>
                    <a:schemeClr val="accent5"/>
                  </a:solidFill>
                  <a:latin typeface="+mn-lt"/>
                  <a:ea typeface="+mn-ea"/>
                  <a:cs typeface="+mn-cs"/>
                </a:rPr>
                <a:t>2026 年 12 月首次复盘(第 11、12 页)</a:t>
              </a:r>
            </a:p>
          </p:txBody>
        </p:sp>
        <p:sp>
          <p:nvSpPr>
            <p:cNvPr id="36" name="TextBox 36"/>
            <p:cNvSpPr txBox="1"/>
            <p:nvPr/>
          </p:nvSpPr>
          <p:spPr>
            <a:xfrm>
              <a:off x="4185666" y="4211002"/>
              <a:ext cx="1684210" cy="395859"/>
            </a:xfrm>
            <a:prstGeom prst="rect">
              <a:avLst/>
            </a:prstGeom>
            <a:noFill/>
            <a:ln>
              <a:noFill/>
            </a:ln>
          </p:spPr>
          <p:txBody>
            <a:bodyPr wrap="none" lIns="0" tIns="0" rIns="0" bIns="0" anchor="t" anchorCtr="0">
              <a:spAutoFit/>
            </a:bodyPr>
            <a:lstStyle/>
            <a:p>
              <a:pPr algn="l">
                <a:lnSpc>
                  <a:spcPts val="1500"/>
                </a:lnSpc>
              </a:pPr>
              <a:r>
                <a:rPr lang="zh-CN" sz="1050" dirty="0">
                  <a:solidFill>
                    <a:schemeClr val="dk1"/>
                  </a:solidFill>
                  <a:latin typeface="+mn-lt"/>
                  <a:ea typeface="+mn-ea"/>
                  <a:cs typeface="+mn-cs"/>
                </a:rPr>
                <a:t>成立试点小组,确定泰国首发</a:t>
              </a:r>
              <a:br/>
              <a:r>
                <a:rPr lang="zh-CN" sz="1050" dirty="0">
                  <a:solidFill>
                    <a:schemeClr val="dk1"/>
                  </a:solidFill>
                  <a:latin typeface="+mn-lt"/>
                  <a:ea typeface="+mn-ea"/>
                  <a:cs typeface="+mn-cs"/>
                </a:rPr>
                <a:t>与试点规模上限</a:t>
              </a:r>
            </a:p>
          </p:txBody>
        </p:sp>
        <p:sp>
          <p:nvSpPr>
            <p:cNvPr id="37" name="TextBox 37"/>
            <p:cNvSpPr txBox="1"/>
            <p:nvPr/>
          </p:nvSpPr>
          <p:spPr>
            <a:xfrm>
              <a:off x="7233666" y="4211002"/>
              <a:ext cx="717423" cy="205359"/>
            </a:xfrm>
            <a:prstGeom prst="rect">
              <a:avLst/>
            </a:prstGeom>
            <a:noFill/>
            <a:ln>
              <a:noFill/>
            </a:ln>
          </p:spPr>
          <p:txBody>
            <a:bodyPr wrap="none" lIns="0" tIns="0" rIns="0" bIns="0" anchor="t" anchorCtr="0">
              <a:spAutoFit/>
            </a:bodyPr>
            <a:lstStyle/>
            <a:p>
              <a:pPr algn="l"/>
              <a:r>
                <a:rPr lang="zh-CN" sz="1050" dirty="0">
                  <a:solidFill>
                    <a:schemeClr val="dk1"/>
                  </a:solidFill>
                  <a:latin typeface="+mn-lt"/>
                  <a:ea typeface="+mn-ea"/>
                  <a:cs typeface="+mn-cs"/>
                </a:rPr>
                <a:t>管理层指定</a:t>
              </a:r>
            </a:p>
          </p:txBody>
        </p:sp>
        <p:sp>
          <p:nvSpPr>
            <p:cNvPr id="38" name="TextBox 38"/>
            <p:cNvSpPr txBox="1"/>
            <p:nvPr/>
          </p:nvSpPr>
          <p:spPr>
            <a:xfrm>
              <a:off x="8567166" y="4211002"/>
              <a:ext cx="2017586" cy="395859"/>
            </a:xfrm>
            <a:prstGeom prst="rect">
              <a:avLst/>
            </a:prstGeom>
            <a:noFill/>
            <a:ln>
              <a:noFill/>
            </a:ln>
          </p:spPr>
          <p:txBody>
            <a:bodyPr wrap="none" lIns="0" tIns="0" rIns="0" bIns="0" anchor="t" anchorCtr="0">
              <a:spAutoFit/>
            </a:bodyPr>
            <a:lstStyle/>
            <a:p>
              <a:pPr algn="l">
                <a:lnSpc>
                  <a:spcPts val="1500"/>
                </a:lnSpc>
              </a:pPr>
              <a:r>
                <a:rPr lang="zh-CN" sz="1050" dirty="0">
                  <a:solidFill>
                    <a:srgbClr val="B3261E"/>
                  </a:solidFill>
                  <a:latin typeface="+mn-lt"/>
                  <a:ea typeface="+mn-ea"/>
                  <a:cs typeface="+mn-cs"/>
                </a:rPr>
                <a:t>试点无人负责,2027 年没有渗透率</a:t>
              </a:r>
              <a:br/>
              <a:r>
                <a:rPr lang="zh-CN" sz="1050" dirty="0">
                  <a:solidFill>
                    <a:srgbClr val="B3261E"/>
                  </a:solidFill>
                  <a:latin typeface="+mn-lt"/>
                  <a:ea typeface="+mn-ea"/>
                  <a:cs typeface="+mn-cs"/>
                </a:rPr>
                <a:t>数据可复盘,放量决定只能凭判断</a:t>
              </a:r>
            </a:p>
          </p:txBody>
        </p:sp>
        <p:sp>
          <p:nvSpPr>
            <p:cNvPr id="39" name="Line 39"/>
            <p:cNvSpPr/>
            <p:nvPr/>
          </p:nvSpPr>
          <p:spPr>
            <a:xfrm>
              <a:off x="457200" y="5010150"/>
              <a:ext cx="11277600" cy="9525"/>
            </a:xfrm>
            <a:custGeom>
              <a:avLst/>
              <a:gdLst/>
              <a:ahLst/>
              <a:cxnLst/>
              <a:rect l="l" t="t" r="r" b="b"/>
              <a:pathLst>
                <a:path w="11277600" h="9525">
                  <a:moveTo>
                    <a:pt x="0" y="0"/>
                  </a:moveTo>
                  <a:lnTo>
                    <a:pt x="11277600" y="0"/>
                  </a:lnTo>
                </a:path>
              </a:pathLst>
            </a:custGeom>
            <a:noFill/>
            <a:ln w="7144">
              <a:solidFill>
                <a:srgbClr val="E3E3E3"/>
              </a:solidFill>
            </a:ln>
          </p:spPr>
        </p:sp>
      </p:grpSp>
      <p:grpSp>
        <p:nvGrpSpPr>
          <p:cNvPr id="46" name="milestones"/>
          <p:cNvGrpSpPr/>
          <p:nvPr/>
        </p:nvGrpSpPr>
        <p:grpSpPr>
          <a:xfrm>
            <a:off x="448818" y="5302091"/>
            <a:ext cx="11285982" cy="557498"/>
            <a:chOff x="448818" y="5302091"/>
            <a:chExt cx="11285982" cy="557498"/>
          </a:xfrm>
        </p:grpSpPr>
        <p:sp>
          <p:nvSpPr>
            <p:cNvPr id="41" name="TextBox 41"/>
            <p:cNvSpPr txBox="1"/>
            <p:nvPr/>
          </p:nvSpPr>
          <p:spPr>
            <a:xfrm>
              <a:off x="452438" y="5302091"/>
              <a:ext cx="1178931"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决定后 90 天里程碑</a:t>
              </a:r>
            </a:p>
          </p:txBody>
        </p:sp>
        <p:sp>
          <p:nvSpPr>
            <p:cNvPr id="42" name="Line 42"/>
            <p:cNvSpPr/>
            <p:nvPr/>
          </p:nvSpPr>
          <p:spPr>
            <a:xfrm>
              <a:off x="457200" y="5467350"/>
              <a:ext cx="11277600" cy="9525"/>
            </a:xfrm>
            <a:custGeom>
              <a:avLst/>
              <a:gdLst/>
              <a:ahLst/>
              <a:cxnLst/>
              <a:rect l="l" t="t" r="r" b="b"/>
              <a:pathLst>
                <a:path w="11277600" h="9525">
                  <a:moveTo>
                    <a:pt x="0" y="0"/>
                  </a:moveTo>
                  <a:lnTo>
                    <a:pt x="11277600" y="0"/>
                  </a:lnTo>
                </a:path>
              </a:pathLst>
            </a:custGeom>
            <a:noFill/>
            <a:ln w="7144">
              <a:solidFill>
                <a:schemeClr val="accent1"/>
              </a:solidFill>
            </a:ln>
          </p:spPr>
        </p:sp>
        <p:sp>
          <p:nvSpPr>
            <p:cNvPr id="43" name="TextBox 43"/>
            <p:cNvSpPr txBox="1"/>
            <p:nvPr/>
          </p:nvSpPr>
          <p:spPr>
            <a:xfrm>
              <a:off x="448818" y="5536882"/>
              <a:ext cx="3419497"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Arial"/>
                  <a:ea typeface="Arial"/>
                  <a:cs typeface="Arial"/>
                </a:rPr>
                <a:t>D+30</a:t>
              </a:r>
              <a:r>
                <a:rPr lang="zh-CN" sz="900" dirty="0">
                  <a:solidFill>
                    <a:schemeClr val="dk1"/>
                  </a:solidFill>
                  <a:latin typeface="+mn-lt"/>
                  <a:ea typeface="+mn-ea"/>
                  <a:cs typeface="+mn-cs"/>
                </a:rPr>
                <a:t xml:space="preserve"> 试点小组成立,泰国首发确定;三级优先级下发各区域</a:t>
              </a:r>
            </a:p>
          </p:txBody>
        </p:sp>
        <p:sp>
          <p:nvSpPr>
            <p:cNvPr id="44" name="TextBox 44"/>
            <p:cNvSpPr txBox="1"/>
            <p:nvPr/>
          </p:nvSpPr>
          <p:spPr>
            <a:xfrm>
              <a:off x="4258818" y="5536882"/>
              <a:ext cx="340841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Arial"/>
                  <a:ea typeface="Arial"/>
                  <a:cs typeface="Arial"/>
                </a:rPr>
                <a:t>D+60</a:t>
              </a:r>
              <a:r>
                <a:rPr lang="zh-CN" sz="900" dirty="0">
                  <a:solidFill>
                    <a:schemeClr val="dk1"/>
                  </a:solidFill>
                  <a:latin typeface="+mn-lt"/>
                  <a:ea typeface="+mn-ea"/>
                  <a:cs typeface="+mn-cs"/>
                </a:rPr>
                <a:t xml:space="preserve"> 东南亚 PHEV 首发车型清单;2026 年预算按层级重排</a:t>
              </a:r>
            </a:p>
          </p:txBody>
        </p:sp>
        <p:sp>
          <p:nvSpPr>
            <p:cNvPr id="45" name="TextBox 45"/>
            <p:cNvSpPr txBox="1"/>
            <p:nvPr/>
          </p:nvSpPr>
          <p:spPr>
            <a:xfrm>
              <a:off x="8068818" y="5536882"/>
              <a:ext cx="2747070"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Arial"/>
                  <a:ea typeface="Arial"/>
                  <a:cs typeface="Arial"/>
                </a:rPr>
                <a:t>D+90</a:t>
              </a:r>
              <a:r>
                <a:rPr lang="zh-CN" sz="900" dirty="0">
                  <a:solidFill>
                    <a:schemeClr val="dk1"/>
                  </a:solidFill>
                  <a:latin typeface="+mn-lt"/>
                  <a:ea typeface="+mn-ea"/>
                  <a:cs typeface="+mn-cs"/>
                </a:rPr>
                <a:t xml:space="preserve"> 泰国上市时间表;三项触发指标基线冻结</a:t>
              </a:r>
            </a:p>
          </p:txBody>
        </p:sp>
      </p:grpSp>
      <p:grpSp>
        <p:nvGrpSpPr>
          <p:cNvPr id="50" name="!!implication-band"/>
          <p:cNvGrpSpPr/>
          <p:nvPr/>
        </p:nvGrpSpPr>
        <p:grpSpPr>
          <a:xfrm>
            <a:off x="457200" y="5924550"/>
            <a:ext cx="11277600" cy="240982"/>
            <a:chOff x="457200" y="5924550"/>
            <a:chExt cx="11277600" cy="240982"/>
          </a:xfrm>
        </p:grpSpPr>
        <p:sp>
          <p:nvSpPr>
            <p:cNvPr id="47" name="Rectangle 47"/>
            <p:cNvSpPr/>
            <p:nvPr/>
          </p:nvSpPr>
          <p:spPr>
            <a:xfrm>
              <a:off x="457200" y="5924550"/>
              <a:ext cx="11277600" cy="228600"/>
            </a:xfrm>
            <a:prstGeom prst="rect">
              <a:avLst/>
            </a:prstGeom>
            <a:solidFill>
              <a:srgbClr val="F7F7F7"/>
            </a:solidFill>
            <a:ln>
              <a:noFill/>
            </a:ln>
          </p:spPr>
        </p:sp>
        <p:sp>
          <p:nvSpPr>
            <p:cNvPr id="48" name="Rectangle 48"/>
            <p:cNvSpPr/>
            <p:nvPr/>
          </p:nvSpPr>
          <p:spPr>
            <a:xfrm>
              <a:off x="457200" y="5924550"/>
              <a:ext cx="38100" cy="228600"/>
            </a:xfrm>
            <a:prstGeom prst="rect">
              <a:avLst/>
            </a:prstGeom>
            <a:solidFill>
              <a:schemeClr val="accent1"/>
            </a:solidFill>
            <a:ln>
              <a:noFill/>
            </a:ln>
          </p:spPr>
        </p:sp>
        <p:sp>
          <p:nvSpPr>
            <p:cNvPr id="49" name="TextBox 49"/>
            <p:cNvSpPr txBox="1"/>
            <p:nvPr/>
          </p:nvSpPr>
          <p:spPr>
            <a:xfrm>
              <a:off x="604838" y="5989320"/>
              <a:ext cx="6394637"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下一次复盘:2026 年 12 月</a:t>
              </a:r>
              <a:r>
                <a:rPr lang="zh-CN" sz="900" dirty="0">
                  <a:solidFill>
                    <a:schemeClr val="dk1"/>
                  </a:solidFill>
                  <a:latin typeface="+mn-lt"/>
                  <a:ea typeface="+mn-ea"/>
                  <a:cs typeface="+mn-cs"/>
                </a:rPr>
                <a:t>,以 IEA 下一版数据浏览器的同口径数据复核第 12 页三项触发指标,决定 2027 年是否放量。</a:t>
              </a:r>
            </a:p>
          </p:txBody>
        </p:sp>
      </p:grpSp>
      <p:grpSp>
        <p:nvGrpSpPr>
          <p:cNvPr id="54" name="footer"/>
          <p:cNvGrpSpPr/>
          <p:nvPr/>
        </p:nvGrpSpPr>
        <p:grpSpPr>
          <a:xfrm>
            <a:off x="452438" y="6205538"/>
            <a:ext cx="11287124" cy="300038"/>
            <a:chOff x="452438" y="6205538"/>
            <a:chExt cx="11287124" cy="300038"/>
          </a:xfrm>
        </p:grpSpPr>
        <p:sp>
          <p:nvSpPr>
            <p:cNvPr id="51" name="TextBox 51"/>
            <p:cNvSpPr txBox="1"/>
            <p:nvPr/>
          </p:nvSpPr>
          <p:spPr>
            <a:xfrm>
              <a:off x="452438" y="6205538"/>
              <a:ext cx="3674555"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本页为决策请求与行动计划,不含新的数据事实;分级与节奏的依据见第 4–12 页</a:t>
              </a:r>
            </a:p>
          </p:txBody>
        </p:sp>
        <p:sp>
          <p:nvSpPr>
            <p:cNvPr id="52" name="TextBox 52"/>
            <p:cNvSpPr txBox="1"/>
            <p:nvPr/>
          </p:nvSpPr>
          <p:spPr>
            <a:xfrm>
              <a:off x="452438" y="6357938"/>
              <a:ext cx="5691664"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4.0);2025 年为 IEA 全年估计;本报告分析</a:t>
              </a:r>
            </a:p>
          </p:txBody>
        </p:sp>
        <p:sp>
          <p:nvSpPr>
            <p:cNvPr id="53" name="TextBox 53"/>
            <p:cNvSpPr txBox="1"/>
            <p:nvPr/>
          </p:nvSpPr>
          <p:spPr>
            <a:xfrm>
              <a:off x="11617724" y="6357938"/>
              <a:ext cx="121838"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13</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id="9" presetID="10" presetClass="entr" presetSubtype="0" fill="hold" grpId="0" nodeType="afterEffect">
                                  <p:stCondLst>
                                    <p:cond delay="500"/>
                                  </p:stCondLst>
                                  <p:childTnLst>
                                    <p:set>
                                      <p:cBhvr>
                                        <p:cTn id="10" dur="1" fill="hold">
                                          <p:stCondLst>
                                            <p:cond delay="0"/>
                                          </p:stCondLst>
                                        </p:cTn>
                                        <p:tgtEl>
                                          <p:spTgt spid="24"/>
                                        </p:tgtEl>
                                        <p:attrNameLst>
                                          <p:attrName>style.visibility</p:attrName>
                                        </p:attrNameLst>
                                      </p:cBhvr>
                                      <p:to>
                                        <p:strVal val="visible"/>
                                      </p:to>
                                    </p:set>
                                    <p:animEffect transition="in" filter="fade">
                                      <p:cBhvr>
                                        <p:cTn id="11" dur="300"/>
                                        <p:tgtEl>
                                          <p:spTgt spid="24"/>
                                        </p:tgtEl>
                                      </p:cBhvr>
                                    </p:animEffect>
                                  </p:childTnLst>
                                </p:cTn>
                              </p:par>
                            </p:childTnLst>
                          </p:cTn>
                        </p:par>
                        <p:par>
                          <p:cTn id="12" fill="hold">
                            <p:stCondLst>
                              <p:cond delay="1100"/>
                            </p:stCondLst>
                            <p:childTnLst>
                              <p:par>
                                <p:cTn id="13" presetID="10" presetClass="entr" presetSubtype="0" fill="hold" grpId="0" nodeType="afterEffect">
                                  <p:stCondLst>
                                    <p:cond delay="50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300"/>
                                        <p:tgtEl>
                                          <p:spTgt spid="32"/>
                                        </p:tgtEl>
                                      </p:cBhvr>
                                    </p:animEffect>
                                  </p:childTnLst>
                                </p:cTn>
                              </p:par>
                            </p:childTnLst>
                          </p:cTn>
                        </p:par>
                        <p:par>
                          <p:cTn id="16" fill="hold">
                            <p:stCondLst>
                              <p:cond delay="1900"/>
                            </p:stCondLst>
                            <p:childTnLst>
                              <p:par>
                                <p:cTn id="17" presetID="10" presetClass="entr" presetSubtype="0" fill="hold" grpId="0" nodeType="afterEffect">
                                  <p:stCondLst>
                                    <p:cond delay="5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300"/>
                                        <p:tgtEl>
                                          <p:spTgt spid="40"/>
                                        </p:tgtEl>
                                      </p:cBhvr>
                                    </p:animEffect>
                                  </p:childTnLst>
                                </p:cTn>
                              </p:par>
                            </p:childTnLst>
                          </p:cTn>
                        </p:par>
                        <p:par>
                          <p:cTn id="20" fill="hold">
                            <p:stCondLst>
                              <p:cond delay="2700"/>
                            </p:stCondLst>
                            <p:childTnLst>
                              <p:par>
                                <p:cTn id="21" presetID="10" presetClass="entr" presetSubtype="0" fill="hold" grpId="0" nodeType="afterEffect">
                                  <p:stCondLst>
                                    <p:cond delay="50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300"/>
                                        <p:tgtEl>
                                          <p:spTgt spid="46"/>
                                        </p:tgtEl>
                                      </p:cBhvr>
                                    </p:animEffect>
                                  </p:childTnLst>
                                </p:cTn>
                              </p:par>
                            </p:childTnLst>
                          </p:cTn>
                        </p:par>
                        <p:par>
                          <p:cTn id="24" fill="hold">
                            <p:stCondLst>
                              <p:cond delay="3500"/>
                            </p:stCondLst>
                            <p:childTnLst>
                              <p:par>
                                <p:cTn id="25" presetID="10" presetClass="entr" presetSubtype="0" fill="hold" grpId="0" nodeType="afterEffect">
                                  <p:stCondLst>
                                    <p:cond delay="500"/>
                                  </p:stCondLst>
                                  <p:childTnLst>
                                    <p:set>
                                      <p:cBhvr>
                                        <p:cTn id="26" dur="1" fill="hold">
                                          <p:stCondLst>
                                            <p:cond delay="0"/>
                                          </p:stCondLst>
                                        </p:cTn>
                                        <p:tgtEl>
                                          <p:spTgt spid="50"/>
                                        </p:tgtEl>
                                        <p:attrNameLst>
                                          <p:attrName>style.visibility</p:attrName>
                                        </p:attrNameLst>
                                      </p:cBhvr>
                                      <p:to>
                                        <p:strVal val="visible"/>
                                      </p:to>
                                    </p:set>
                                    <p:animEffect transition="in" filter="fade">
                                      <p:cBhvr>
                                        <p:cTn id="2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racker"/>
          <p:cNvGrpSpPr/>
          <p:nvPr/>
        </p:nvGrpSpPr>
        <p:grpSpPr>
          <a:xfrm>
            <a:off x="10565714" y="247650"/>
            <a:ext cx="1169086" cy="206216"/>
            <a:chOff x="10565714" y="247650"/>
            <a:chExt cx="1169086" cy="206216"/>
          </a:xfrm>
        </p:grpSpPr>
        <p:sp>
          <p:nvSpPr>
            <p:cNvPr id="2" name="TextBox 2"/>
            <p:cNvSpPr txBox="1"/>
            <p:nvPr/>
          </p:nvSpPr>
          <p:spPr>
            <a:xfrm>
              <a:off x="10565714" y="291941"/>
              <a:ext cx="240398" cy="161925"/>
            </a:xfrm>
            <a:prstGeom prst="rect">
              <a:avLst/>
            </a:prstGeom>
            <a:noFill/>
            <a:ln>
              <a:noFill/>
            </a:ln>
          </p:spPr>
          <p:txBody>
            <a:bodyPr wrap="none" lIns="0" tIns="0" rIns="0" bIns="0" anchor="t" anchorCtr="0">
              <a:spAutoFit/>
            </a:bodyPr>
            <a:lstStyle/>
            <a:p>
              <a:pPr algn="r"/>
              <a:r>
                <a:rPr lang="zh-CN" sz="820" spc="75" dirty="0">
                  <a:solidFill>
                    <a:schemeClr val="accent5"/>
                  </a:solidFill>
                  <a:latin typeface="+mn-lt"/>
                  <a:ea typeface="+mn-ea"/>
                  <a:cs typeface="+mn-cs"/>
                </a:rPr>
                <a:t>附录</a:t>
              </a:r>
            </a:p>
          </p:txBody>
        </p:sp>
        <p:sp>
          <p:nvSpPr>
            <p:cNvPr id="3" name="Rectangle 3"/>
            <p:cNvSpPr/>
            <p:nvPr/>
          </p:nvSpPr>
          <p:spPr>
            <a:xfrm>
              <a:off x="10953750" y="247650"/>
              <a:ext cx="781050" cy="171450"/>
            </a:xfrm>
            <a:prstGeom prst="rect">
              <a:avLst/>
            </a:prstGeom>
            <a:noFill/>
            <a:ln w="7144">
              <a:solidFill>
                <a:srgbClr val="7F7F7F"/>
              </a:solidFill>
            </a:ln>
          </p:spPr>
        </p:sp>
        <p:sp>
          <p:nvSpPr>
            <p:cNvPr id="4" name="TextBox 4"/>
            <p:cNvSpPr txBox="1"/>
            <p:nvPr/>
          </p:nvSpPr>
          <p:spPr>
            <a:xfrm>
              <a:off x="11177968" y="290512"/>
              <a:ext cx="332613" cy="147638"/>
            </a:xfrm>
            <a:prstGeom prst="rect">
              <a:avLst/>
            </a:prstGeom>
            <a:noFill/>
            <a:ln>
              <a:noFill/>
            </a:ln>
          </p:spPr>
          <p:txBody>
            <a:bodyPr wrap="none" lIns="0" tIns="0" rIns="0" bIns="0" anchor="t" anchorCtr="0">
              <a:spAutoFit/>
            </a:bodyPr>
            <a:lstStyle/>
            <a:p>
              <a:pPr algn="ctr"/>
              <a:r>
                <a:rPr lang="zh-CN" sz="750" spc="75" dirty="0">
                  <a:solidFill>
                    <a:schemeClr val="accent5"/>
                  </a:solidFill>
                  <a:latin typeface="+mn-lt"/>
                  <a:ea typeface="+mn-ea"/>
                  <a:cs typeface="+mn-cs"/>
                </a:rPr>
                <a:t>讨论稿</a:t>
              </a:r>
            </a:p>
          </p:txBody>
        </p:sp>
      </p:grpSp>
      <p:grpSp>
        <p:nvGrpSpPr>
          <p:cNvPr id="7" name="title"/>
          <p:cNvGrpSpPr/>
          <p:nvPr/>
        </p:nvGrpSpPr>
        <p:grpSpPr>
          <a:xfrm>
            <a:off x="448056" y="472440"/>
            <a:ext cx="7084314" cy="637794"/>
            <a:chOff x="448056" y="472440"/>
            <a:chExt cx="7084314" cy="637794"/>
          </a:xfrm>
        </p:grpSpPr>
        <p:sp>
          <p:nvSpPr>
            <p:cNvPr id="6" name="TextBox 6"/>
            <p:cNvSpPr txBox="1"/>
            <p:nvPr/>
          </p:nvSpPr>
          <p:spPr>
            <a:xfrm>
              <a:off x="448056" y="472440"/>
              <a:ext cx="7084314" cy="637794"/>
            </a:xfrm>
            <a:prstGeom prst="rect">
              <a:avLst/>
            </a:prstGeom>
            <a:noFill/>
            <a:ln>
              <a:noFill/>
            </a:ln>
          </p:spPr>
          <p:txBody>
            <a:bodyPr wrap="none" lIns="0" tIns="0" rIns="0" bIns="0" anchor="t" anchorCtr="0">
              <a:spAutoFit/>
            </a:bodyPr>
            <a:lstStyle/>
            <a:p>
              <a:pPr algn="l">
                <a:lnSpc>
                  <a:spcPts val="2250"/>
                </a:lnSpc>
              </a:pPr>
              <a:r>
                <a:rPr lang="zh-CN" sz="1800" b="1" dirty="0">
                  <a:solidFill>
                    <a:schemeClr val="accent1"/>
                  </a:solidFill>
                  <a:latin typeface="+mn-lt"/>
                  <a:ea typeface="+mn-ea"/>
                  <a:cs typeface="+mn-cs"/>
                </a:rPr>
                <a:t>附录:本报告全部数字来自 IEA Global EV Outlook 2025 数据浏览器,</a:t>
              </a:r>
              <a:br/>
              <a:r>
                <a:rPr lang="zh-CN" sz="1800" b="1" dirty="0">
                  <a:solidFill>
                    <a:schemeClr val="accent1"/>
                  </a:solidFill>
                  <a:latin typeface="+mn-lt"/>
                  <a:ea typeface="+mn-ea"/>
                  <a:cs typeface="+mn-cs"/>
                </a:rPr>
                <a:t>口径为乘用车 BEV + PHEV</a:t>
              </a:r>
            </a:p>
          </p:txBody>
        </p:sp>
      </p:grpSp>
      <p:grpSp>
        <p:nvGrpSpPr>
          <p:cNvPr id="9" name="unit-line"/>
          <p:cNvGrpSpPr/>
          <p:nvPr/>
        </p:nvGrpSpPr>
        <p:grpSpPr>
          <a:xfrm>
            <a:off x="452438" y="1160145"/>
            <a:ext cx="4742002" cy="176212"/>
            <a:chOff x="452438" y="1160145"/>
            <a:chExt cx="4742002" cy="176212"/>
          </a:xfrm>
        </p:grpSpPr>
        <p:sp>
          <p:nvSpPr>
            <p:cNvPr id="8" name="TextBox 8"/>
            <p:cNvSpPr txBox="1"/>
            <p:nvPr/>
          </p:nvSpPr>
          <p:spPr>
            <a:xfrm>
              <a:off x="452438" y="1160145"/>
              <a:ext cx="4742002" cy="176212"/>
            </a:xfrm>
            <a:prstGeom prst="rect">
              <a:avLst/>
            </a:prstGeom>
            <a:noFill/>
            <a:ln>
              <a:noFill/>
            </a:ln>
          </p:spPr>
          <p:txBody>
            <a:bodyPr wrap="none" lIns="0" tIns="0" rIns="0" bIns="0" anchor="t" anchorCtr="0">
              <a:spAutoFit/>
            </a:bodyPr>
            <a:lstStyle/>
            <a:p>
              <a:pPr algn="l"/>
              <a:r>
                <a:rPr lang="zh-CN" sz="900" dirty="0">
                  <a:solidFill>
                    <a:schemeClr val="accent5"/>
                  </a:solidFill>
                  <a:latin typeface="+mn-lt"/>
                  <a:ea typeface="+mn-ea"/>
                  <a:cs typeface="+mn-cs"/>
                </a:rPr>
                <a:t>A:各地区电动车销量,万辆,2020–2025,及 2025 年渗透率;B:2035 年 IEA 既定政策情景</a:t>
              </a:r>
            </a:p>
          </p:txBody>
        </p:sp>
      </p:grpSp>
      <p:sp>
        <p:nvSpPr>
          <p:cNvPr id="10" name="Line 10"/>
          <p:cNvSpPr/>
          <p:nvPr/>
        </p:nvSpPr>
        <p:spPr>
          <a:xfrm>
            <a:off x="457200" y="1390650"/>
            <a:ext cx="11277600" cy="9525"/>
          </a:xfrm>
          <a:custGeom>
            <a:avLst/>
            <a:gdLst/>
            <a:ahLst/>
            <a:cxnLst/>
            <a:rect l="l" t="t" r="r" b="b"/>
            <a:pathLst>
              <a:path w="11277600" h="9525">
                <a:moveTo>
                  <a:pt x="0" y="0"/>
                </a:moveTo>
                <a:lnTo>
                  <a:pt x="11277600" y="0"/>
                </a:lnTo>
              </a:path>
            </a:pathLst>
          </a:custGeom>
          <a:noFill/>
          <a:ln w="9525">
            <a:solidFill>
              <a:schemeClr val="accent1"/>
            </a:solidFill>
          </a:ln>
        </p:spPr>
      </p:sp>
      <p:grpSp>
        <p:nvGrpSpPr>
          <p:cNvPr id="15" name="exhibit-a-head"/>
          <p:cNvGrpSpPr/>
          <p:nvPr/>
        </p:nvGrpSpPr>
        <p:grpSpPr>
          <a:xfrm>
            <a:off x="452438" y="1552575"/>
            <a:ext cx="1406613" cy="349091"/>
            <a:chOff x="452438" y="1552575"/>
            <a:chExt cx="1406613" cy="349091"/>
          </a:xfrm>
        </p:grpSpPr>
        <p:sp>
          <p:nvSpPr>
            <p:cNvPr id="11" name="Ellipse 11"/>
            <p:cNvSpPr/>
            <p:nvPr/>
          </p:nvSpPr>
          <p:spPr>
            <a:xfrm>
              <a:off x="457200" y="1552575"/>
              <a:ext cx="152400" cy="152400"/>
            </a:xfrm>
            <a:prstGeom prst="ellipse">
              <a:avLst/>
            </a:prstGeom>
            <a:solidFill>
              <a:schemeClr val="accent1"/>
            </a:solidFill>
            <a:ln>
              <a:noFill/>
            </a:ln>
          </p:spPr>
        </p:sp>
        <p:sp>
          <p:nvSpPr>
            <p:cNvPr id="12" name="TextBox 12"/>
            <p:cNvSpPr txBox="1"/>
            <p:nvPr/>
          </p:nvSpPr>
          <p:spPr>
            <a:xfrm>
              <a:off x="49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A</a:t>
              </a:r>
            </a:p>
          </p:txBody>
        </p:sp>
        <p:sp>
          <p:nvSpPr>
            <p:cNvPr id="13" name="TextBox 13"/>
            <p:cNvSpPr txBox="1"/>
            <p:nvPr/>
          </p:nvSpPr>
          <p:spPr>
            <a:xfrm>
              <a:off x="661797" y="1571149"/>
              <a:ext cx="1197254"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电动车销量与渗透率</a:t>
              </a:r>
            </a:p>
          </p:txBody>
        </p:sp>
        <p:sp>
          <p:nvSpPr>
            <p:cNvPr id="14" name="TextBox 14"/>
            <p:cNvSpPr txBox="1"/>
            <p:nvPr/>
          </p:nvSpPr>
          <p:spPr>
            <a:xfrm>
              <a:off x="452438" y="1739741"/>
              <a:ext cx="738088"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万辆;渗透率 %</a:t>
              </a:r>
            </a:p>
          </p:txBody>
        </p:sp>
      </p:grpSp>
      <p:grpSp>
        <p:nvGrpSpPr>
          <p:cNvPr id="142" name="appendix-data"/>
          <p:cNvGrpSpPr/>
          <p:nvPr/>
        </p:nvGrpSpPr>
        <p:grpSpPr>
          <a:xfrm>
            <a:off x="457200" y="2015966"/>
            <a:ext cx="6858000" cy="3899059"/>
            <a:chOff x="457200" y="2015966"/>
            <a:chExt cx="6858000" cy="3899059"/>
          </a:xfrm>
        </p:grpSpPr>
        <p:sp>
          <p:nvSpPr>
            <p:cNvPr id="16" name="Line 16"/>
            <p:cNvSpPr/>
            <p:nvPr/>
          </p:nvSpPr>
          <p:spPr>
            <a:xfrm>
              <a:off x="457200" y="2190750"/>
              <a:ext cx="6858000" cy="9525"/>
            </a:xfrm>
            <a:custGeom>
              <a:avLst/>
              <a:gdLst/>
              <a:ahLst/>
              <a:cxnLst/>
              <a:rect l="l" t="t" r="r" b="b"/>
              <a:pathLst>
                <a:path w="6858000" h="9525">
                  <a:moveTo>
                    <a:pt x="0" y="0"/>
                  </a:moveTo>
                  <a:lnTo>
                    <a:pt x="6858000" y="0"/>
                  </a:lnTo>
                </a:path>
              </a:pathLst>
            </a:custGeom>
            <a:noFill/>
            <a:ln w="9525">
              <a:solidFill>
                <a:schemeClr val="accent1"/>
              </a:solidFill>
            </a:ln>
          </p:spPr>
        </p:sp>
        <p:sp>
          <p:nvSpPr>
            <p:cNvPr id="17" name="TextBox 17"/>
            <p:cNvSpPr txBox="1"/>
            <p:nvPr/>
          </p:nvSpPr>
          <p:spPr>
            <a:xfrm>
              <a:off x="528638" y="201596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地区</a:t>
              </a:r>
            </a:p>
          </p:txBody>
        </p:sp>
        <p:sp>
          <p:nvSpPr>
            <p:cNvPr id="18" name="TextBox 18"/>
            <p:cNvSpPr txBox="1"/>
            <p:nvPr/>
          </p:nvSpPr>
          <p:spPr>
            <a:xfrm>
              <a:off x="1873840" y="2015966"/>
              <a:ext cx="264522"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2020</a:t>
              </a:r>
            </a:p>
          </p:txBody>
        </p:sp>
        <p:sp>
          <p:nvSpPr>
            <p:cNvPr id="19" name="TextBox 19"/>
            <p:cNvSpPr txBox="1"/>
            <p:nvPr/>
          </p:nvSpPr>
          <p:spPr>
            <a:xfrm>
              <a:off x="2673940" y="2015966"/>
              <a:ext cx="264522"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2021</a:t>
              </a:r>
            </a:p>
          </p:txBody>
        </p:sp>
        <p:sp>
          <p:nvSpPr>
            <p:cNvPr id="20" name="TextBox 20"/>
            <p:cNvSpPr txBox="1"/>
            <p:nvPr/>
          </p:nvSpPr>
          <p:spPr>
            <a:xfrm>
              <a:off x="3474040" y="2015966"/>
              <a:ext cx="264522"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2022</a:t>
              </a:r>
            </a:p>
          </p:txBody>
        </p:sp>
        <p:sp>
          <p:nvSpPr>
            <p:cNvPr id="21" name="TextBox 21"/>
            <p:cNvSpPr txBox="1"/>
            <p:nvPr/>
          </p:nvSpPr>
          <p:spPr>
            <a:xfrm>
              <a:off x="4274140" y="2015966"/>
              <a:ext cx="264522"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2023</a:t>
              </a:r>
            </a:p>
          </p:txBody>
        </p:sp>
        <p:sp>
          <p:nvSpPr>
            <p:cNvPr id="22" name="TextBox 22"/>
            <p:cNvSpPr txBox="1"/>
            <p:nvPr/>
          </p:nvSpPr>
          <p:spPr>
            <a:xfrm>
              <a:off x="5074240" y="2015966"/>
              <a:ext cx="264522"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2024</a:t>
              </a:r>
            </a:p>
          </p:txBody>
        </p:sp>
        <p:sp>
          <p:nvSpPr>
            <p:cNvPr id="23" name="TextBox 23"/>
            <p:cNvSpPr txBox="1"/>
            <p:nvPr/>
          </p:nvSpPr>
          <p:spPr>
            <a:xfrm>
              <a:off x="5874340" y="2015966"/>
              <a:ext cx="264522"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a:t>
              </a:r>
            </a:p>
          </p:txBody>
        </p:sp>
        <p:sp>
          <p:nvSpPr>
            <p:cNvPr id="24" name="TextBox 24"/>
            <p:cNvSpPr txBox="1"/>
            <p:nvPr/>
          </p:nvSpPr>
          <p:spPr>
            <a:xfrm>
              <a:off x="6613303" y="2015966"/>
              <a:ext cx="630460"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2025 渗透率</a:t>
              </a:r>
            </a:p>
          </p:txBody>
        </p:sp>
        <p:sp>
          <p:nvSpPr>
            <p:cNvPr id="25" name="Line 25"/>
            <p:cNvSpPr/>
            <p:nvPr/>
          </p:nvSpPr>
          <p:spPr>
            <a:xfrm>
              <a:off x="457200" y="247650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26" name="TextBox 26"/>
            <p:cNvSpPr txBox="1"/>
            <p:nvPr/>
          </p:nvSpPr>
          <p:spPr>
            <a:xfrm>
              <a:off x="528638" y="2276475"/>
              <a:ext cx="251841"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全球</a:t>
              </a:r>
            </a:p>
          </p:txBody>
        </p:sp>
        <p:sp>
          <p:nvSpPr>
            <p:cNvPr id="27" name="TextBox 27"/>
            <p:cNvSpPr txBox="1"/>
            <p:nvPr/>
          </p:nvSpPr>
          <p:spPr>
            <a:xfrm>
              <a:off x="1926673" y="2276475"/>
              <a:ext cx="211689"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Arial"/>
                  <a:ea typeface="Arial"/>
                  <a:cs typeface="Arial"/>
                </a:rPr>
                <a:t>300</a:t>
              </a:r>
            </a:p>
          </p:txBody>
        </p:sp>
        <p:sp>
          <p:nvSpPr>
            <p:cNvPr id="28" name="TextBox 28"/>
            <p:cNvSpPr txBox="1"/>
            <p:nvPr/>
          </p:nvSpPr>
          <p:spPr>
            <a:xfrm>
              <a:off x="2726773" y="2276475"/>
              <a:ext cx="211689"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Arial"/>
                  <a:ea typeface="Arial"/>
                  <a:cs typeface="Arial"/>
                </a:rPr>
                <a:t>660</a:t>
              </a:r>
            </a:p>
          </p:txBody>
        </p:sp>
        <p:sp>
          <p:nvSpPr>
            <p:cNvPr id="29" name="TextBox 29"/>
            <p:cNvSpPr txBox="1"/>
            <p:nvPr/>
          </p:nvSpPr>
          <p:spPr>
            <a:xfrm>
              <a:off x="3425827" y="2276475"/>
              <a:ext cx="312735"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Arial"/>
                  <a:ea typeface="Arial"/>
                  <a:cs typeface="Arial"/>
                </a:rPr>
                <a:t>1,000</a:t>
              </a:r>
            </a:p>
          </p:txBody>
        </p:sp>
        <p:sp>
          <p:nvSpPr>
            <p:cNvPr id="30" name="TextBox 30"/>
            <p:cNvSpPr txBox="1"/>
            <p:nvPr/>
          </p:nvSpPr>
          <p:spPr>
            <a:xfrm>
              <a:off x="4225927" y="2276475"/>
              <a:ext cx="312735"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Arial"/>
                  <a:ea typeface="Arial"/>
                  <a:cs typeface="Arial"/>
                </a:rPr>
                <a:t>1,400</a:t>
              </a:r>
            </a:p>
          </p:txBody>
        </p:sp>
        <p:sp>
          <p:nvSpPr>
            <p:cNvPr id="31" name="TextBox 31"/>
            <p:cNvSpPr txBox="1"/>
            <p:nvPr/>
          </p:nvSpPr>
          <p:spPr>
            <a:xfrm>
              <a:off x="5026027" y="2276475"/>
              <a:ext cx="312735"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Arial"/>
                  <a:ea typeface="Arial"/>
                  <a:cs typeface="Arial"/>
                </a:rPr>
                <a:t>1,700</a:t>
              </a:r>
            </a:p>
          </p:txBody>
        </p:sp>
        <p:sp>
          <p:nvSpPr>
            <p:cNvPr id="32" name="TextBox 32"/>
            <p:cNvSpPr txBox="1"/>
            <p:nvPr/>
          </p:nvSpPr>
          <p:spPr>
            <a:xfrm>
              <a:off x="5826127" y="2276475"/>
              <a:ext cx="312735"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Arial"/>
                  <a:ea typeface="Arial"/>
                  <a:cs typeface="Arial"/>
                </a:rPr>
                <a:t>2,100</a:t>
              </a:r>
            </a:p>
          </p:txBody>
        </p:sp>
        <p:sp>
          <p:nvSpPr>
            <p:cNvPr id="33" name="TextBox 33"/>
            <p:cNvSpPr txBox="1"/>
            <p:nvPr/>
          </p:nvSpPr>
          <p:spPr>
            <a:xfrm>
              <a:off x="6991728" y="2276475"/>
              <a:ext cx="252035"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Arial"/>
                  <a:ea typeface="Arial"/>
                  <a:cs typeface="Arial"/>
                </a:rPr>
                <a:t>25%</a:t>
              </a:r>
            </a:p>
          </p:txBody>
        </p:sp>
        <p:sp>
          <p:nvSpPr>
            <p:cNvPr id="34" name="Line 34"/>
            <p:cNvSpPr/>
            <p:nvPr/>
          </p:nvSpPr>
          <p:spPr>
            <a:xfrm>
              <a:off x="457200" y="276225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35" name="TextBox 35"/>
            <p:cNvSpPr txBox="1"/>
            <p:nvPr/>
          </p:nvSpPr>
          <p:spPr>
            <a:xfrm>
              <a:off x="528638" y="25622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中国</a:t>
              </a:r>
            </a:p>
          </p:txBody>
        </p:sp>
        <p:sp>
          <p:nvSpPr>
            <p:cNvPr id="36" name="TextBox 36"/>
            <p:cNvSpPr txBox="1"/>
            <p:nvPr/>
          </p:nvSpPr>
          <p:spPr>
            <a:xfrm>
              <a:off x="1926673" y="256222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110</a:t>
              </a:r>
            </a:p>
          </p:txBody>
        </p:sp>
        <p:sp>
          <p:nvSpPr>
            <p:cNvPr id="37" name="TextBox 37"/>
            <p:cNvSpPr txBox="1"/>
            <p:nvPr/>
          </p:nvSpPr>
          <p:spPr>
            <a:xfrm>
              <a:off x="2726773" y="256222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330</a:t>
              </a:r>
            </a:p>
          </p:txBody>
        </p:sp>
        <p:sp>
          <p:nvSpPr>
            <p:cNvPr id="38" name="TextBox 38"/>
            <p:cNvSpPr txBox="1"/>
            <p:nvPr/>
          </p:nvSpPr>
          <p:spPr>
            <a:xfrm>
              <a:off x="3526873" y="256222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600</a:t>
              </a:r>
            </a:p>
          </p:txBody>
        </p:sp>
        <p:sp>
          <p:nvSpPr>
            <p:cNvPr id="39" name="TextBox 39"/>
            <p:cNvSpPr txBox="1"/>
            <p:nvPr/>
          </p:nvSpPr>
          <p:spPr>
            <a:xfrm>
              <a:off x="4326973" y="256222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810</a:t>
              </a:r>
            </a:p>
          </p:txBody>
        </p:sp>
        <p:sp>
          <p:nvSpPr>
            <p:cNvPr id="40" name="TextBox 40"/>
            <p:cNvSpPr txBox="1"/>
            <p:nvPr/>
          </p:nvSpPr>
          <p:spPr>
            <a:xfrm>
              <a:off x="5026027" y="2562225"/>
              <a:ext cx="3127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1,100</a:t>
              </a:r>
            </a:p>
          </p:txBody>
        </p:sp>
        <p:sp>
          <p:nvSpPr>
            <p:cNvPr id="41" name="TextBox 41"/>
            <p:cNvSpPr txBox="1"/>
            <p:nvPr/>
          </p:nvSpPr>
          <p:spPr>
            <a:xfrm>
              <a:off x="5826127" y="2562225"/>
              <a:ext cx="3127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1,300</a:t>
              </a:r>
            </a:p>
          </p:txBody>
        </p:sp>
        <p:sp>
          <p:nvSpPr>
            <p:cNvPr id="42" name="TextBox 42"/>
            <p:cNvSpPr txBox="1"/>
            <p:nvPr/>
          </p:nvSpPr>
          <p:spPr>
            <a:xfrm>
              <a:off x="6991728" y="256222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53%</a:t>
              </a:r>
            </a:p>
          </p:txBody>
        </p:sp>
        <p:sp>
          <p:nvSpPr>
            <p:cNvPr id="43" name="Line 43"/>
            <p:cNvSpPr/>
            <p:nvPr/>
          </p:nvSpPr>
          <p:spPr>
            <a:xfrm>
              <a:off x="457200" y="304800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44" name="TextBox 44"/>
            <p:cNvSpPr txBox="1"/>
            <p:nvPr/>
          </p:nvSpPr>
          <p:spPr>
            <a:xfrm>
              <a:off x="528638" y="28479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欧洲</a:t>
              </a:r>
            </a:p>
          </p:txBody>
        </p:sp>
        <p:sp>
          <p:nvSpPr>
            <p:cNvPr id="45" name="TextBox 45"/>
            <p:cNvSpPr txBox="1"/>
            <p:nvPr/>
          </p:nvSpPr>
          <p:spPr>
            <a:xfrm>
              <a:off x="1926673" y="284797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140</a:t>
              </a:r>
            </a:p>
          </p:txBody>
        </p:sp>
        <p:sp>
          <p:nvSpPr>
            <p:cNvPr id="46" name="TextBox 46"/>
            <p:cNvSpPr txBox="1"/>
            <p:nvPr/>
          </p:nvSpPr>
          <p:spPr>
            <a:xfrm>
              <a:off x="2726773" y="284797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230</a:t>
              </a:r>
            </a:p>
          </p:txBody>
        </p:sp>
        <p:sp>
          <p:nvSpPr>
            <p:cNvPr id="47" name="TextBox 47"/>
            <p:cNvSpPr txBox="1"/>
            <p:nvPr/>
          </p:nvSpPr>
          <p:spPr>
            <a:xfrm>
              <a:off x="3526873" y="284797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270</a:t>
              </a:r>
            </a:p>
          </p:txBody>
        </p:sp>
        <p:sp>
          <p:nvSpPr>
            <p:cNvPr id="48" name="TextBox 48"/>
            <p:cNvSpPr txBox="1"/>
            <p:nvPr/>
          </p:nvSpPr>
          <p:spPr>
            <a:xfrm>
              <a:off x="4326973" y="284797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320</a:t>
              </a:r>
            </a:p>
          </p:txBody>
        </p:sp>
        <p:sp>
          <p:nvSpPr>
            <p:cNvPr id="49" name="TextBox 49"/>
            <p:cNvSpPr txBox="1"/>
            <p:nvPr/>
          </p:nvSpPr>
          <p:spPr>
            <a:xfrm>
              <a:off x="5127073" y="284797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320</a:t>
              </a:r>
            </a:p>
          </p:txBody>
        </p:sp>
        <p:sp>
          <p:nvSpPr>
            <p:cNvPr id="50" name="TextBox 50"/>
            <p:cNvSpPr txBox="1"/>
            <p:nvPr/>
          </p:nvSpPr>
          <p:spPr>
            <a:xfrm>
              <a:off x="5927173" y="284797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420</a:t>
              </a:r>
            </a:p>
          </p:txBody>
        </p:sp>
        <p:sp>
          <p:nvSpPr>
            <p:cNvPr id="51" name="TextBox 51"/>
            <p:cNvSpPr txBox="1"/>
            <p:nvPr/>
          </p:nvSpPr>
          <p:spPr>
            <a:xfrm>
              <a:off x="6991728" y="28479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28%</a:t>
              </a:r>
            </a:p>
          </p:txBody>
        </p:sp>
        <p:sp>
          <p:nvSpPr>
            <p:cNvPr id="52" name="Line 52"/>
            <p:cNvSpPr/>
            <p:nvPr/>
          </p:nvSpPr>
          <p:spPr>
            <a:xfrm>
              <a:off x="457200" y="333375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53" name="TextBox 53"/>
            <p:cNvSpPr txBox="1"/>
            <p:nvPr/>
          </p:nvSpPr>
          <p:spPr>
            <a:xfrm>
              <a:off x="528638" y="31337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美国</a:t>
              </a:r>
            </a:p>
          </p:txBody>
        </p:sp>
        <p:sp>
          <p:nvSpPr>
            <p:cNvPr id="54" name="TextBox 54"/>
            <p:cNvSpPr txBox="1"/>
            <p:nvPr/>
          </p:nvSpPr>
          <p:spPr>
            <a:xfrm>
              <a:off x="1994061" y="3133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30</a:t>
              </a:r>
            </a:p>
          </p:txBody>
        </p:sp>
        <p:sp>
          <p:nvSpPr>
            <p:cNvPr id="55" name="TextBox 55"/>
            <p:cNvSpPr txBox="1"/>
            <p:nvPr/>
          </p:nvSpPr>
          <p:spPr>
            <a:xfrm>
              <a:off x="2794161" y="3133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63</a:t>
              </a:r>
            </a:p>
          </p:txBody>
        </p:sp>
        <p:sp>
          <p:nvSpPr>
            <p:cNvPr id="56" name="TextBox 56"/>
            <p:cNvSpPr txBox="1"/>
            <p:nvPr/>
          </p:nvSpPr>
          <p:spPr>
            <a:xfrm>
              <a:off x="3594261" y="3133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99</a:t>
              </a:r>
            </a:p>
          </p:txBody>
        </p:sp>
        <p:sp>
          <p:nvSpPr>
            <p:cNvPr id="57" name="TextBox 57"/>
            <p:cNvSpPr txBox="1"/>
            <p:nvPr/>
          </p:nvSpPr>
          <p:spPr>
            <a:xfrm>
              <a:off x="4326973" y="313372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140</a:t>
              </a:r>
            </a:p>
          </p:txBody>
        </p:sp>
        <p:sp>
          <p:nvSpPr>
            <p:cNvPr id="58" name="TextBox 58"/>
            <p:cNvSpPr txBox="1"/>
            <p:nvPr/>
          </p:nvSpPr>
          <p:spPr>
            <a:xfrm>
              <a:off x="5127073" y="313372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160</a:t>
              </a:r>
            </a:p>
          </p:txBody>
        </p:sp>
        <p:sp>
          <p:nvSpPr>
            <p:cNvPr id="59" name="TextBox 59"/>
            <p:cNvSpPr txBox="1"/>
            <p:nvPr/>
          </p:nvSpPr>
          <p:spPr>
            <a:xfrm>
              <a:off x="5927173" y="313372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150</a:t>
              </a:r>
            </a:p>
          </p:txBody>
        </p:sp>
        <p:sp>
          <p:nvSpPr>
            <p:cNvPr id="60" name="TextBox 60"/>
            <p:cNvSpPr txBox="1"/>
            <p:nvPr/>
          </p:nvSpPr>
          <p:spPr>
            <a:xfrm>
              <a:off x="6991728" y="313372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10%</a:t>
              </a:r>
            </a:p>
          </p:txBody>
        </p:sp>
        <p:sp>
          <p:nvSpPr>
            <p:cNvPr id="61" name="Line 61"/>
            <p:cNvSpPr/>
            <p:nvPr/>
          </p:nvSpPr>
          <p:spPr>
            <a:xfrm>
              <a:off x="457200" y="361950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62" name="TextBox 62"/>
            <p:cNvSpPr txBox="1"/>
            <p:nvPr/>
          </p:nvSpPr>
          <p:spPr>
            <a:xfrm>
              <a:off x="528638" y="34194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德国</a:t>
              </a:r>
            </a:p>
          </p:txBody>
        </p:sp>
        <p:sp>
          <p:nvSpPr>
            <p:cNvPr id="63" name="TextBox 63"/>
            <p:cNvSpPr txBox="1"/>
            <p:nvPr/>
          </p:nvSpPr>
          <p:spPr>
            <a:xfrm>
              <a:off x="1994061" y="3419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39</a:t>
              </a:r>
            </a:p>
          </p:txBody>
        </p:sp>
        <p:sp>
          <p:nvSpPr>
            <p:cNvPr id="64" name="TextBox 64"/>
            <p:cNvSpPr txBox="1"/>
            <p:nvPr/>
          </p:nvSpPr>
          <p:spPr>
            <a:xfrm>
              <a:off x="2794161" y="3419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68</a:t>
              </a:r>
            </a:p>
          </p:txBody>
        </p:sp>
        <p:sp>
          <p:nvSpPr>
            <p:cNvPr id="65" name="TextBox 65"/>
            <p:cNvSpPr txBox="1"/>
            <p:nvPr/>
          </p:nvSpPr>
          <p:spPr>
            <a:xfrm>
              <a:off x="3594261" y="3419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83</a:t>
              </a:r>
            </a:p>
          </p:txBody>
        </p:sp>
        <p:sp>
          <p:nvSpPr>
            <p:cNvPr id="66" name="TextBox 66"/>
            <p:cNvSpPr txBox="1"/>
            <p:nvPr/>
          </p:nvSpPr>
          <p:spPr>
            <a:xfrm>
              <a:off x="4394361" y="3419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70</a:t>
              </a:r>
            </a:p>
          </p:txBody>
        </p:sp>
        <p:sp>
          <p:nvSpPr>
            <p:cNvPr id="67" name="TextBox 67"/>
            <p:cNvSpPr txBox="1"/>
            <p:nvPr/>
          </p:nvSpPr>
          <p:spPr>
            <a:xfrm>
              <a:off x="5194461" y="3419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57</a:t>
              </a:r>
            </a:p>
          </p:txBody>
        </p:sp>
        <p:sp>
          <p:nvSpPr>
            <p:cNvPr id="68" name="TextBox 68"/>
            <p:cNvSpPr txBox="1"/>
            <p:nvPr/>
          </p:nvSpPr>
          <p:spPr>
            <a:xfrm>
              <a:off x="5994561" y="3419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86</a:t>
              </a:r>
            </a:p>
          </p:txBody>
        </p:sp>
        <p:sp>
          <p:nvSpPr>
            <p:cNvPr id="69" name="TextBox 69"/>
            <p:cNvSpPr txBox="1"/>
            <p:nvPr/>
          </p:nvSpPr>
          <p:spPr>
            <a:xfrm>
              <a:off x="6991728" y="34194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30%</a:t>
              </a:r>
            </a:p>
          </p:txBody>
        </p:sp>
        <p:sp>
          <p:nvSpPr>
            <p:cNvPr id="70" name="Line 70"/>
            <p:cNvSpPr/>
            <p:nvPr/>
          </p:nvSpPr>
          <p:spPr>
            <a:xfrm>
              <a:off x="457200" y="390525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71" name="TextBox 71"/>
            <p:cNvSpPr txBox="1"/>
            <p:nvPr/>
          </p:nvSpPr>
          <p:spPr>
            <a:xfrm>
              <a:off x="528638" y="37052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英国</a:t>
              </a:r>
            </a:p>
          </p:txBody>
        </p:sp>
        <p:sp>
          <p:nvSpPr>
            <p:cNvPr id="72" name="TextBox 72"/>
            <p:cNvSpPr txBox="1"/>
            <p:nvPr/>
          </p:nvSpPr>
          <p:spPr>
            <a:xfrm>
              <a:off x="1994061" y="37052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18</a:t>
              </a:r>
            </a:p>
          </p:txBody>
        </p:sp>
        <p:sp>
          <p:nvSpPr>
            <p:cNvPr id="73" name="TextBox 73"/>
            <p:cNvSpPr txBox="1"/>
            <p:nvPr/>
          </p:nvSpPr>
          <p:spPr>
            <a:xfrm>
              <a:off x="2794161" y="37052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31</a:t>
              </a:r>
            </a:p>
          </p:txBody>
        </p:sp>
        <p:sp>
          <p:nvSpPr>
            <p:cNvPr id="74" name="TextBox 74"/>
            <p:cNvSpPr txBox="1"/>
            <p:nvPr/>
          </p:nvSpPr>
          <p:spPr>
            <a:xfrm>
              <a:off x="3594261" y="37052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37</a:t>
              </a:r>
            </a:p>
          </p:txBody>
        </p:sp>
        <p:sp>
          <p:nvSpPr>
            <p:cNvPr id="75" name="TextBox 75"/>
            <p:cNvSpPr txBox="1"/>
            <p:nvPr/>
          </p:nvSpPr>
          <p:spPr>
            <a:xfrm>
              <a:off x="4394361" y="37052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46</a:t>
              </a:r>
            </a:p>
          </p:txBody>
        </p:sp>
        <p:sp>
          <p:nvSpPr>
            <p:cNvPr id="76" name="TextBox 76"/>
            <p:cNvSpPr txBox="1"/>
            <p:nvPr/>
          </p:nvSpPr>
          <p:spPr>
            <a:xfrm>
              <a:off x="5194461" y="37052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55</a:t>
              </a:r>
            </a:p>
          </p:txBody>
        </p:sp>
        <p:sp>
          <p:nvSpPr>
            <p:cNvPr id="77" name="TextBox 77"/>
            <p:cNvSpPr txBox="1"/>
            <p:nvPr/>
          </p:nvSpPr>
          <p:spPr>
            <a:xfrm>
              <a:off x="5994561" y="37052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70</a:t>
              </a:r>
            </a:p>
          </p:txBody>
        </p:sp>
        <p:sp>
          <p:nvSpPr>
            <p:cNvPr id="78" name="TextBox 78"/>
            <p:cNvSpPr txBox="1"/>
            <p:nvPr/>
          </p:nvSpPr>
          <p:spPr>
            <a:xfrm>
              <a:off x="6991728" y="370522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35%</a:t>
              </a:r>
            </a:p>
          </p:txBody>
        </p:sp>
        <p:sp>
          <p:nvSpPr>
            <p:cNvPr id="79" name="Line 79"/>
            <p:cNvSpPr/>
            <p:nvPr/>
          </p:nvSpPr>
          <p:spPr>
            <a:xfrm>
              <a:off x="457200" y="419100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80" name="TextBox 80"/>
            <p:cNvSpPr txBox="1"/>
            <p:nvPr/>
          </p:nvSpPr>
          <p:spPr>
            <a:xfrm>
              <a:off x="528638" y="39909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法国</a:t>
              </a:r>
            </a:p>
          </p:txBody>
        </p:sp>
        <p:sp>
          <p:nvSpPr>
            <p:cNvPr id="81" name="TextBox 81"/>
            <p:cNvSpPr txBox="1"/>
            <p:nvPr/>
          </p:nvSpPr>
          <p:spPr>
            <a:xfrm>
              <a:off x="1994061" y="3990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19</a:t>
              </a:r>
            </a:p>
          </p:txBody>
        </p:sp>
        <p:sp>
          <p:nvSpPr>
            <p:cNvPr id="82" name="TextBox 82"/>
            <p:cNvSpPr txBox="1"/>
            <p:nvPr/>
          </p:nvSpPr>
          <p:spPr>
            <a:xfrm>
              <a:off x="2794161" y="3990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31</a:t>
              </a:r>
            </a:p>
          </p:txBody>
        </p:sp>
        <p:sp>
          <p:nvSpPr>
            <p:cNvPr id="83" name="TextBox 83"/>
            <p:cNvSpPr txBox="1"/>
            <p:nvPr/>
          </p:nvSpPr>
          <p:spPr>
            <a:xfrm>
              <a:off x="3594261" y="3990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34</a:t>
              </a:r>
            </a:p>
          </p:txBody>
        </p:sp>
        <p:sp>
          <p:nvSpPr>
            <p:cNvPr id="84" name="TextBox 84"/>
            <p:cNvSpPr txBox="1"/>
            <p:nvPr/>
          </p:nvSpPr>
          <p:spPr>
            <a:xfrm>
              <a:off x="4394361" y="3990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47</a:t>
              </a:r>
            </a:p>
          </p:txBody>
        </p:sp>
        <p:sp>
          <p:nvSpPr>
            <p:cNvPr id="85" name="TextBox 85"/>
            <p:cNvSpPr txBox="1"/>
            <p:nvPr/>
          </p:nvSpPr>
          <p:spPr>
            <a:xfrm>
              <a:off x="5194461" y="3990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45</a:t>
              </a:r>
            </a:p>
          </p:txBody>
        </p:sp>
        <p:sp>
          <p:nvSpPr>
            <p:cNvPr id="86" name="TextBox 86"/>
            <p:cNvSpPr txBox="1"/>
            <p:nvPr/>
          </p:nvSpPr>
          <p:spPr>
            <a:xfrm>
              <a:off x="5994561" y="3990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45</a:t>
              </a:r>
            </a:p>
          </p:txBody>
        </p:sp>
        <p:sp>
          <p:nvSpPr>
            <p:cNvPr id="87" name="TextBox 87"/>
            <p:cNvSpPr txBox="1"/>
            <p:nvPr/>
          </p:nvSpPr>
          <p:spPr>
            <a:xfrm>
              <a:off x="6991728" y="39909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26%</a:t>
              </a:r>
            </a:p>
          </p:txBody>
        </p:sp>
        <p:sp>
          <p:nvSpPr>
            <p:cNvPr id="88" name="Line 88"/>
            <p:cNvSpPr/>
            <p:nvPr/>
          </p:nvSpPr>
          <p:spPr>
            <a:xfrm>
              <a:off x="457200" y="447675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89" name="TextBox 89"/>
            <p:cNvSpPr txBox="1"/>
            <p:nvPr/>
          </p:nvSpPr>
          <p:spPr>
            <a:xfrm>
              <a:off x="528638" y="42767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日本</a:t>
              </a:r>
            </a:p>
          </p:txBody>
        </p:sp>
        <p:sp>
          <p:nvSpPr>
            <p:cNvPr id="90" name="TextBox 90"/>
            <p:cNvSpPr txBox="1"/>
            <p:nvPr/>
          </p:nvSpPr>
          <p:spPr>
            <a:xfrm>
              <a:off x="1960404" y="427672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2.9</a:t>
              </a:r>
            </a:p>
          </p:txBody>
        </p:sp>
        <p:sp>
          <p:nvSpPr>
            <p:cNvPr id="91" name="TextBox 91"/>
            <p:cNvSpPr txBox="1"/>
            <p:nvPr/>
          </p:nvSpPr>
          <p:spPr>
            <a:xfrm>
              <a:off x="2760504" y="427672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4.4</a:t>
              </a:r>
            </a:p>
          </p:txBody>
        </p:sp>
        <p:sp>
          <p:nvSpPr>
            <p:cNvPr id="92" name="TextBox 92"/>
            <p:cNvSpPr txBox="1"/>
            <p:nvPr/>
          </p:nvSpPr>
          <p:spPr>
            <a:xfrm>
              <a:off x="3560604" y="427672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9.6</a:t>
              </a:r>
            </a:p>
          </p:txBody>
        </p:sp>
        <p:sp>
          <p:nvSpPr>
            <p:cNvPr id="93" name="TextBox 93"/>
            <p:cNvSpPr txBox="1"/>
            <p:nvPr/>
          </p:nvSpPr>
          <p:spPr>
            <a:xfrm>
              <a:off x="4394361" y="4276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14</a:t>
              </a:r>
            </a:p>
          </p:txBody>
        </p:sp>
        <p:sp>
          <p:nvSpPr>
            <p:cNvPr id="94" name="TextBox 94"/>
            <p:cNvSpPr txBox="1"/>
            <p:nvPr/>
          </p:nvSpPr>
          <p:spPr>
            <a:xfrm>
              <a:off x="5194461" y="4276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10</a:t>
              </a:r>
            </a:p>
          </p:txBody>
        </p:sp>
        <p:sp>
          <p:nvSpPr>
            <p:cNvPr id="95" name="TextBox 95"/>
            <p:cNvSpPr txBox="1"/>
            <p:nvPr/>
          </p:nvSpPr>
          <p:spPr>
            <a:xfrm>
              <a:off x="5994561" y="4276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10</a:t>
              </a:r>
            </a:p>
          </p:txBody>
        </p:sp>
        <p:sp>
          <p:nvSpPr>
            <p:cNvPr id="96" name="TextBox 96"/>
            <p:cNvSpPr txBox="1"/>
            <p:nvPr/>
          </p:nvSpPr>
          <p:spPr>
            <a:xfrm>
              <a:off x="7059116" y="4276725"/>
              <a:ext cx="1846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a:t>
              </a:r>
            </a:p>
          </p:txBody>
        </p:sp>
        <p:sp>
          <p:nvSpPr>
            <p:cNvPr id="97" name="Line 97"/>
            <p:cNvSpPr/>
            <p:nvPr/>
          </p:nvSpPr>
          <p:spPr>
            <a:xfrm>
              <a:off x="457200" y="476250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98" name="TextBox 98"/>
            <p:cNvSpPr txBox="1"/>
            <p:nvPr/>
          </p:nvSpPr>
          <p:spPr>
            <a:xfrm>
              <a:off x="528638" y="45624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韩国</a:t>
              </a:r>
            </a:p>
          </p:txBody>
        </p:sp>
        <p:sp>
          <p:nvSpPr>
            <p:cNvPr id="99" name="TextBox 99"/>
            <p:cNvSpPr txBox="1"/>
            <p:nvPr/>
          </p:nvSpPr>
          <p:spPr>
            <a:xfrm>
              <a:off x="1960404" y="456247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4.0</a:t>
              </a:r>
            </a:p>
          </p:txBody>
        </p:sp>
        <p:sp>
          <p:nvSpPr>
            <p:cNvPr id="100" name="TextBox 100"/>
            <p:cNvSpPr txBox="1"/>
            <p:nvPr/>
          </p:nvSpPr>
          <p:spPr>
            <a:xfrm>
              <a:off x="2760504" y="456247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9.1</a:t>
              </a:r>
            </a:p>
          </p:txBody>
        </p:sp>
        <p:sp>
          <p:nvSpPr>
            <p:cNvPr id="101" name="TextBox 101"/>
            <p:cNvSpPr txBox="1"/>
            <p:nvPr/>
          </p:nvSpPr>
          <p:spPr>
            <a:xfrm>
              <a:off x="3594261" y="4562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14</a:t>
              </a:r>
            </a:p>
          </p:txBody>
        </p:sp>
        <p:sp>
          <p:nvSpPr>
            <p:cNvPr id="102" name="TextBox 102"/>
            <p:cNvSpPr txBox="1"/>
            <p:nvPr/>
          </p:nvSpPr>
          <p:spPr>
            <a:xfrm>
              <a:off x="4394361" y="4562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13</a:t>
              </a:r>
            </a:p>
          </p:txBody>
        </p:sp>
        <p:sp>
          <p:nvSpPr>
            <p:cNvPr id="103" name="TextBox 103"/>
            <p:cNvSpPr txBox="1"/>
            <p:nvPr/>
          </p:nvSpPr>
          <p:spPr>
            <a:xfrm>
              <a:off x="5194461" y="4562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13</a:t>
              </a:r>
            </a:p>
          </p:txBody>
        </p:sp>
        <p:sp>
          <p:nvSpPr>
            <p:cNvPr id="104" name="TextBox 104"/>
            <p:cNvSpPr txBox="1"/>
            <p:nvPr/>
          </p:nvSpPr>
          <p:spPr>
            <a:xfrm>
              <a:off x="5994561" y="45624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22</a:t>
              </a:r>
            </a:p>
          </p:txBody>
        </p:sp>
        <p:sp>
          <p:nvSpPr>
            <p:cNvPr id="105" name="TextBox 105"/>
            <p:cNvSpPr txBox="1"/>
            <p:nvPr/>
          </p:nvSpPr>
          <p:spPr>
            <a:xfrm>
              <a:off x="6991728" y="45624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11%</a:t>
              </a:r>
            </a:p>
          </p:txBody>
        </p:sp>
        <p:sp>
          <p:nvSpPr>
            <p:cNvPr id="106" name="Line 106"/>
            <p:cNvSpPr/>
            <p:nvPr/>
          </p:nvSpPr>
          <p:spPr>
            <a:xfrm>
              <a:off x="457200" y="504825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107" name="TextBox 107"/>
            <p:cNvSpPr txBox="1"/>
            <p:nvPr/>
          </p:nvSpPr>
          <p:spPr>
            <a:xfrm>
              <a:off x="528638" y="48482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印度</a:t>
              </a:r>
            </a:p>
          </p:txBody>
        </p:sp>
        <p:sp>
          <p:nvSpPr>
            <p:cNvPr id="108" name="TextBox 108"/>
            <p:cNvSpPr txBox="1"/>
            <p:nvPr/>
          </p:nvSpPr>
          <p:spPr>
            <a:xfrm>
              <a:off x="1893016" y="4848225"/>
              <a:ext cx="2453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0.32</a:t>
              </a:r>
            </a:p>
          </p:txBody>
        </p:sp>
        <p:sp>
          <p:nvSpPr>
            <p:cNvPr id="109" name="TextBox 109"/>
            <p:cNvSpPr txBox="1"/>
            <p:nvPr/>
          </p:nvSpPr>
          <p:spPr>
            <a:xfrm>
              <a:off x="2760504" y="484822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1.2</a:t>
              </a:r>
            </a:p>
          </p:txBody>
        </p:sp>
        <p:sp>
          <p:nvSpPr>
            <p:cNvPr id="110" name="TextBox 110"/>
            <p:cNvSpPr txBox="1"/>
            <p:nvPr/>
          </p:nvSpPr>
          <p:spPr>
            <a:xfrm>
              <a:off x="3560604" y="484822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4.8</a:t>
              </a:r>
            </a:p>
          </p:txBody>
        </p:sp>
        <p:sp>
          <p:nvSpPr>
            <p:cNvPr id="111" name="TextBox 111"/>
            <p:cNvSpPr txBox="1"/>
            <p:nvPr/>
          </p:nvSpPr>
          <p:spPr>
            <a:xfrm>
              <a:off x="4360704" y="484822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8.2</a:t>
              </a:r>
            </a:p>
          </p:txBody>
        </p:sp>
        <p:sp>
          <p:nvSpPr>
            <p:cNvPr id="112" name="TextBox 112"/>
            <p:cNvSpPr txBox="1"/>
            <p:nvPr/>
          </p:nvSpPr>
          <p:spPr>
            <a:xfrm>
              <a:off x="5160804" y="484822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9.2</a:t>
              </a:r>
            </a:p>
          </p:txBody>
        </p:sp>
        <p:sp>
          <p:nvSpPr>
            <p:cNvPr id="113" name="TextBox 113"/>
            <p:cNvSpPr txBox="1"/>
            <p:nvPr/>
          </p:nvSpPr>
          <p:spPr>
            <a:xfrm>
              <a:off x="5994561" y="48482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17</a:t>
              </a:r>
            </a:p>
          </p:txBody>
        </p:sp>
        <p:sp>
          <p:nvSpPr>
            <p:cNvPr id="114" name="TextBox 114"/>
            <p:cNvSpPr txBox="1"/>
            <p:nvPr/>
          </p:nvSpPr>
          <p:spPr>
            <a:xfrm>
              <a:off x="7059116" y="4848225"/>
              <a:ext cx="1846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a:t>
              </a:r>
            </a:p>
          </p:txBody>
        </p:sp>
        <p:sp>
          <p:nvSpPr>
            <p:cNvPr id="115" name="Line 115"/>
            <p:cNvSpPr/>
            <p:nvPr/>
          </p:nvSpPr>
          <p:spPr>
            <a:xfrm>
              <a:off x="457200" y="533400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116" name="TextBox 116"/>
            <p:cNvSpPr txBox="1"/>
            <p:nvPr/>
          </p:nvSpPr>
          <p:spPr>
            <a:xfrm>
              <a:off x="528638" y="5133975"/>
              <a:ext cx="37299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东南亚</a:t>
              </a:r>
            </a:p>
          </p:txBody>
        </p:sp>
        <p:sp>
          <p:nvSpPr>
            <p:cNvPr id="117" name="TextBox 117"/>
            <p:cNvSpPr txBox="1"/>
            <p:nvPr/>
          </p:nvSpPr>
          <p:spPr>
            <a:xfrm>
              <a:off x="1960404" y="513397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1.1</a:t>
              </a:r>
            </a:p>
          </p:txBody>
        </p:sp>
        <p:sp>
          <p:nvSpPr>
            <p:cNvPr id="118" name="TextBox 118"/>
            <p:cNvSpPr txBox="1"/>
            <p:nvPr/>
          </p:nvSpPr>
          <p:spPr>
            <a:xfrm>
              <a:off x="2760504" y="513397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1.5</a:t>
              </a:r>
            </a:p>
          </p:txBody>
        </p:sp>
        <p:sp>
          <p:nvSpPr>
            <p:cNvPr id="119" name="TextBox 119"/>
            <p:cNvSpPr txBox="1"/>
            <p:nvPr/>
          </p:nvSpPr>
          <p:spPr>
            <a:xfrm>
              <a:off x="3560604" y="513397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4.6</a:t>
              </a:r>
            </a:p>
          </p:txBody>
        </p:sp>
        <p:sp>
          <p:nvSpPr>
            <p:cNvPr id="120" name="TextBox 120"/>
            <p:cNvSpPr txBox="1"/>
            <p:nvPr/>
          </p:nvSpPr>
          <p:spPr>
            <a:xfrm>
              <a:off x="4394361" y="5133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16</a:t>
              </a:r>
            </a:p>
          </p:txBody>
        </p:sp>
        <p:sp>
          <p:nvSpPr>
            <p:cNvPr id="121" name="TextBox 121"/>
            <p:cNvSpPr txBox="1"/>
            <p:nvPr/>
          </p:nvSpPr>
          <p:spPr>
            <a:xfrm>
              <a:off x="5194461" y="5133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24</a:t>
              </a:r>
            </a:p>
          </p:txBody>
        </p:sp>
        <p:sp>
          <p:nvSpPr>
            <p:cNvPr id="122" name="TextBox 122"/>
            <p:cNvSpPr txBox="1"/>
            <p:nvPr/>
          </p:nvSpPr>
          <p:spPr>
            <a:xfrm>
              <a:off x="5994561" y="5133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54</a:t>
              </a:r>
            </a:p>
          </p:txBody>
        </p:sp>
        <p:sp>
          <p:nvSpPr>
            <p:cNvPr id="123" name="TextBox 123"/>
            <p:cNvSpPr txBox="1"/>
            <p:nvPr/>
          </p:nvSpPr>
          <p:spPr>
            <a:xfrm>
              <a:off x="6991728" y="51339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18%</a:t>
              </a:r>
            </a:p>
          </p:txBody>
        </p:sp>
        <p:sp>
          <p:nvSpPr>
            <p:cNvPr id="124" name="Line 124"/>
            <p:cNvSpPr/>
            <p:nvPr/>
          </p:nvSpPr>
          <p:spPr>
            <a:xfrm>
              <a:off x="457200" y="561975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125" name="TextBox 125"/>
            <p:cNvSpPr txBox="1"/>
            <p:nvPr/>
          </p:nvSpPr>
          <p:spPr>
            <a:xfrm>
              <a:off x="528638" y="54197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巴西</a:t>
              </a:r>
            </a:p>
          </p:txBody>
        </p:sp>
        <p:sp>
          <p:nvSpPr>
            <p:cNvPr id="126" name="TextBox 126"/>
            <p:cNvSpPr txBox="1"/>
            <p:nvPr/>
          </p:nvSpPr>
          <p:spPr>
            <a:xfrm>
              <a:off x="1893016" y="5419725"/>
              <a:ext cx="2453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0.26</a:t>
              </a:r>
            </a:p>
          </p:txBody>
        </p:sp>
        <p:sp>
          <p:nvSpPr>
            <p:cNvPr id="127" name="TextBox 127"/>
            <p:cNvSpPr txBox="1"/>
            <p:nvPr/>
          </p:nvSpPr>
          <p:spPr>
            <a:xfrm>
              <a:off x="2760504" y="541972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1.4</a:t>
              </a:r>
            </a:p>
          </p:txBody>
        </p:sp>
        <p:sp>
          <p:nvSpPr>
            <p:cNvPr id="128" name="TextBox 128"/>
            <p:cNvSpPr txBox="1"/>
            <p:nvPr/>
          </p:nvSpPr>
          <p:spPr>
            <a:xfrm>
              <a:off x="3560604" y="541972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1.9</a:t>
              </a:r>
            </a:p>
          </p:txBody>
        </p:sp>
        <p:sp>
          <p:nvSpPr>
            <p:cNvPr id="129" name="TextBox 129"/>
            <p:cNvSpPr txBox="1"/>
            <p:nvPr/>
          </p:nvSpPr>
          <p:spPr>
            <a:xfrm>
              <a:off x="4360704" y="541972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5.2</a:t>
              </a:r>
            </a:p>
          </p:txBody>
        </p:sp>
        <p:sp>
          <p:nvSpPr>
            <p:cNvPr id="130" name="TextBox 130"/>
            <p:cNvSpPr txBox="1"/>
            <p:nvPr/>
          </p:nvSpPr>
          <p:spPr>
            <a:xfrm>
              <a:off x="5194461" y="5419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13</a:t>
              </a:r>
            </a:p>
          </p:txBody>
        </p:sp>
        <p:sp>
          <p:nvSpPr>
            <p:cNvPr id="131" name="TextBox 131"/>
            <p:cNvSpPr txBox="1"/>
            <p:nvPr/>
          </p:nvSpPr>
          <p:spPr>
            <a:xfrm>
              <a:off x="5994561" y="5419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18</a:t>
              </a:r>
            </a:p>
          </p:txBody>
        </p:sp>
        <p:sp>
          <p:nvSpPr>
            <p:cNvPr id="132" name="TextBox 132"/>
            <p:cNvSpPr txBox="1"/>
            <p:nvPr/>
          </p:nvSpPr>
          <p:spPr>
            <a:xfrm>
              <a:off x="7059116" y="5419725"/>
              <a:ext cx="1846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9%</a:t>
              </a:r>
            </a:p>
          </p:txBody>
        </p:sp>
        <p:sp>
          <p:nvSpPr>
            <p:cNvPr id="133" name="Line 133"/>
            <p:cNvSpPr/>
            <p:nvPr/>
          </p:nvSpPr>
          <p:spPr>
            <a:xfrm>
              <a:off x="457200" y="5905500"/>
              <a:ext cx="6858000" cy="9525"/>
            </a:xfrm>
            <a:custGeom>
              <a:avLst/>
              <a:gdLst/>
              <a:ahLst/>
              <a:cxnLst/>
              <a:rect l="l" t="t" r="r" b="b"/>
              <a:pathLst>
                <a:path w="6858000" h="9525">
                  <a:moveTo>
                    <a:pt x="0" y="0"/>
                  </a:moveTo>
                  <a:lnTo>
                    <a:pt x="6858000" y="0"/>
                  </a:lnTo>
                </a:path>
              </a:pathLst>
            </a:custGeom>
            <a:noFill/>
            <a:ln w="7144">
              <a:solidFill>
                <a:srgbClr val="E3E3E3"/>
              </a:solidFill>
            </a:ln>
          </p:spPr>
        </p:sp>
        <p:sp>
          <p:nvSpPr>
            <p:cNvPr id="134" name="TextBox 134"/>
            <p:cNvSpPr txBox="1"/>
            <p:nvPr/>
          </p:nvSpPr>
          <p:spPr>
            <a:xfrm>
              <a:off x="528638" y="5705475"/>
              <a:ext cx="37299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墨西哥</a:t>
              </a:r>
            </a:p>
          </p:txBody>
        </p:sp>
        <p:sp>
          <p:nvSpPr>
            <p:cNvPr id="135" name="TextBox 135"/>
            <p:cNvSpPr txBox="1"/>
            <p:nvPr/>
          </p:nvSpPr>
          <p:spPr>
            <a:xfrm>
              <a:off x="1893016" y="5705475"/>
              <a:ext cx="2453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0.38</a:t>
              </a:r>
            </a:p>
          </p:txBody>
        </p:sp>
        <p:sp>
          <p:nvSpPr>
            <p:cNvPr id="136" name="TextBox 136"/>
            <p:cNvSpPr txBox="1"/>
            <p:nvPr/>
          </p:nvSpPr>
          <p:spPr>
            <a:xfrm>
              <a:off x="2693116" y="5705475"/>
              <a:ext cx="2453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0.65</a:t>
              </a:r>
            </a:p>
          </p:txBody>
        </p:sp>
        <p:sp>
          <p:nvSpPr>
            <p:cNvPr id="137" name="TextBox 137"/>
            <p:cNvSpPr txBox="1"/>
            <p:nvPr/>
          </p:nvSpPr>
          <p:spPr>
            <a:xfrm>
              <a:off x="3493216" y="5705475"/>
              <a:ext cx="2453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0.84</a:t>
              </a:r>
            </a:p>
          </p:txBody>
        </p:sp>
        <p:sp>
          <p:nvSpPr>
            <p:cNvPr id="138" name="TextBox 138"/>
            <p:cNvSpPr txBox="1"/>
            <p:nvPr/>
          </p:nvSpPr>
          <p:spPr>
            <a:xfrm>
              <a:off x="4360704" y="570547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1.7</a:t>
              </a:r>
            </a:p>
          </p:txBody>
        </p:sp>
        <p:sp>
          <p:nvSpPr>
            <p:cNvPr id="139" name="TextBox 139"/>
            <p:cNvSpPr txBox="1"/>
            <p:nvPr/>
          </p:nvSpPr>
          <p:spPr>
            <a:xfrm>
              <a:off x="5160804" y="570547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2.7</a:t>
              </a:r>
            </a:p>
          </p:txBody>
        </p:sp>
        <p:sp>
          <p:nvSpPr>
            <p:cNvPr id="140" name="TextBox 140"/>
            <p:cNvSpPr txBox="1"/>
            <p:nvPr/>
          </p:nvSpPr>
          <p:spPr>
            <a:xfrm>
              <a:off x="5960904" y="5705475"/>
              <a:ext cx="17795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9.0</a:t>
              </a:r>
            </a:p>
          </p:txBody>
        </p:sp>
        <p:sp>
          <p:nvSpPr>
            <p:cNvPr id="141" name="TextBox 141"/>
            <p:cNvSpPr txBox="1"/>
            <p:nvPr/>
          </p:nvSpPr>
          <p:spPr>
            <a:xfrm>
              <a:off x="7059116" y="5705475"/>
              <a:ext cx="184647"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7%</a:t>
              </a:r>
            </a:p>
          </p:txBody>
        </p:sp>
      </p:grpSp>
      <p:grpSp>
        <p:nvGrpSpPr>
          <p:cNvPr id="147" name="exhibit-b-head"/>
          <p:cNvGrpSpPr/>
          <p:nvPr/>
        </p:nvGrpSpPr>
        <p:grpSpPr>
          <a:xfrm>
            <a:off x="8072438" y="1552575"/>
            <a:ext cx="1781798" cy="349091"/>
            <a:chOff x="8072438" y="1552575"/>
            <a:chExt cx="1781798" cy="349091"/>
          </a:xfrm>
        </p:grpSpPr>
        <p:sp>
          <p:nvSpPr>
            <p:cNvPr id="143" name="Ellipse 143"/>
            <p:cNvSpPr/>
            <p:nvPr/>
          </p:nvSpPr>
          <p:spPr>
            <a:xfrm>
              <a:off x="8077200" y="1552575"/>
              <a:ext cx="152400" cy="152400"/>
            </a:xfrm>
            <a:prstGeom prst="ellipse">
              <a:avLst/>
            </a:prstGeom>
            <a:solidFill>
              <a:schemeClr val="accent1"/>
            </a:solidFill>
            <a:ln>
              <a:noFill/>
            </a:ln>
          </p:spPr>
        </p:sp>
        <p:sp>
          <p:nvSpPr>
            <p:cNvPr id="144" name="TextBox 144"/>
            <p:cNvSpPr txBox="1"/>
            <p:nvPr/>
          </p:nvSpPr>
          <p:spPr>
            <a:xfrm>
              <a:off x="8110115" y="1581150"/>
              <a:ext cx="86569" cy="147638"/>
            </a:xfrm>
            <a:prstGeom prst="rect">
              <a:avLst/>
            </a:prstGeom>
            <a:noFill/>
            <a:ln>
              <a:noFill/>
            </a:ln>
          </p:spPr>
          <p:txBody>
            <a:bodyPr wrap="none" lIns="0" tIns="0" rIns="0" bIns="0" anchor="t" anchorCtr="0">
              <a:spAutoFit/>
            </a:bodyPr>
            <a:lstStyle/>
            <a:p>
              <a:pPr algn="ctr"/>
              <a:r>
                <a:rPr lang="en-US" sz="750" b="1" dirty="0">
                  <a:solidFill>
                    <a:srgbClr val="FFFFFF"/>
                  </a:solidFill>
                  <a:latin typeface="Arial"/>
                  <a:ea typeface="Arial"/>
                  <a:cs typeface="Arial"/>
                </a:rPr>
                <a:t>B</a:t>
              </a:r>
            </a:p>
          </p:txBody>
        </p:sp>
        <p:sp>
          <p:nvSpPr>
            <p:cNvPr id="145" name="TextBox 145"/>
            <p:cNvSpPr txBox="1"/>
            <p:nvPr/>
          </p:nvSpPr>
          <p:spPr>
            <a:xfrm>
              <a:off x="8281797" y="1571149"/>
              <a:ext cx="1572439" cy="190690"/>
            </a:xfrm>
            <a:prstGeom prst="rect">
              <a:avLst/>
            </a:prstGeom>
            <a:noFill/>
            <a:ln>
              <a:noFill/>
            </a:ln>
          </p:spPr>
          <p:txBody>
            <a:bodyPr wrap="none" lIns="0" tIns="0" rIns="0" bIns="0" anchor="t" anchorCtr="0">
              <a:spAutoFit/>
            </a:bodyPr>
            <a:lstStyle/>
            <a:p>
              <a:pPr algn="l"/>
              <a:r>
                <a:rPr lang="zh-CN" sz="980" b="1" dirty="0">
                  <a:solidFill>
                    <a:schemeClr val="accent1"/>
                  </a:solidFill>
                  <a:latin typeface="+mn-lt"/>
                  <a:ea typeface="+mn-ea"/>
                  <a:cs typeface="+mn-cs"/>
                </a:rPr>
                <a:t>2035 年 IEA 既定政策情景</a:t>
              </a:r>
            </a:p>
          </p:txBody>
        </p:sp>
        <p:sp>
          <p:nvSpPr>
            <p:cNvPr id="146" name="TextBox 146"/>
            <p:cNvSpPr txBox="1"/>
            <p:nvPr/>
          </p:nvSpPr>
          <p:spPr>
            <a:xfrm>
              <a:off x="8072438" y="1739741"/>
              <a:ext cx="1129967" cy="161925"/>
            </a:xfrm>
            <a:prstGeom prst="rect">
              <a:avLst/>
            </a:prstGeom>
            <a:noFill/>
            <a:ln>
              <a:noFill/>
            </a:ln>
          </p:spPr>
          <p:txBody>
            <a:bodyPr wrap="none" lIns="0" tIns="0" rIns="0" bIns="0" anchor="t" anchorCtr="0">
              <a:spAutoFit/>
            </a:bodyPr>
            <a:lstStyle/>
            <a:p>
              <a:pPr algn="l"/>
              <a:r>
                <a:rPr lang="zh-CN" sz="820" dirty="0">
                  <a:solidFill>
                    <a:schemeClr val="accent5"/>
                  </a:solidFill>
                  <a:latin typeface="+mn-lt"/>
                  <a:ea typeface="+mn-ea"/>
                  <a:cs typeface="+mn-cs"/>
                </a:rPr>
                <a:t>年销量,万辆;渗透率 %</a:t>
              </a:r>
            </a:p>
          </p:txBody>
        </p:sp>
      </p:grpSp>
      <p:grpSp>
        <p:nvGrpSpPr>
          <p:cNvPr id="184" name="steps-2035"/>
          <p:cNvGrpSpPr/>
          <p:nvPr/>
        </p:nvGrpSpPr>
        <p:grpSpPr>
          <a:xfrm>
            <a:off x="8077200" y="2015966"/>
            <a:ext cx="3657600" cy="2470309"/>
            <a:chOff x="8077200" y="2015966"/>
            <a:chExt cx="3657600" cy="2470309"/>
          </a:xfrm>
        </p:grpSpPr>
        <p:sp>
          <p:nvSpPr>
            <p:cNvPr id="148" name="Line 148"/>
            <p:cNvSpPr/>
            <p:nvPr/>
          </p:nvSpPr>
          <p:spPr>
            <a:xfrm>
              <a:off x="8077200" y="2190750"/>
              <a:ext cx="3657600" cy="9525"/>
            </a:xfrm>
            <a:custGeom>
              <a:avLst/>
              <a:gdLst/>
              <a:ahLst/>
              <a:cxnLst/>
              <a:rect l="l" t="t" r="r" b="b"/>
              <a:pathLst>
                <a:path w="3657600" h="9525">
                  <a:moveTo>
                    <a:pt x="0" y="0"/>
                  </a:moveTo>
                  <a:lnTo>
                    <a:pt x="3657600" y="0"/>
                  </a:lnTo>
                </a:path>
              </a:pathLst>
            </a:custGeom>
            <a:noFill/>
            <a:ln w="9525">
              <a:solidFill>
                <a:schemeClr val="accent1"/>
              </a:solidFill>
            </a:ln>
          </p:spPr>
        </p:sp>
        <p:sp>
          <p:nvSpPr>
            <p:cNvPr id="149" name="TextBox 149"/>
            <p:cNvSpPr txBox="1"/>
            <p:nvPr/>
          </p:nvSpPr>
          <p:spPr>
            <a:xfrm>
              <a:off x="8148638" y="2015966"/>
              <a:ext cx="230302" cy="161925"/>
            </a:xfrm>
            <a:prstGeom prst="rect">
              <a:avLst/>
            </a:prstGeom>
            <a:noFill/>
            <a:ln>
              <a:noFill/>
            </a:ln>
          </p:spPr>
          <p:txBody>
            <a:bodyPr wrap="none" lIns="0" tIns="0" rIns="0" bIns="0" anchor="t" anchorCtr="0">
              <a:spAutoFit/>
            </a:bodyPr>
            <a:lstStyle/>
            <a:p>
              <a:pPr algn="l"/>
              <a:r>
                <a:rPr lang="zh-CN" sz="820" b="1" dirty="0">
                  <a:solidFill>
                    <a:schemeClr val="accent1"/>
                  </a:solidFill>
                  <a:latin typeface="+mn-lt"/>
                  <a:ea typeface="+mn-ea"/>
                  <a:cs typeface="+mn-cs"/>
                </a:rPr>
                <a:t>地区</a:t>
              </a:r>
            </a:p>
          </p:txBody>
        </p:sp>
        <p:sp>
          <p:nvSpPr>
            <p:cNvPr id="150" name="TextBox 150"/>
            <p:cNvSpPr txBox="1"/>
            <p:nvPr/>
          </p:nvSpPr>
          <p:spPr>
            <a:xfrm>
              <a:off x="9885991" y="2015966"/>
              <a:ext cx="520071"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2035 销量</a:t>
              </a:r>
            </a:p>
          </p:txBody>
        </p:sp>
        <p:sp>
          <p:nvSpPr>
            <p:cNvPr id="151" name="TextBox 151"/>
            <p:cNvSpPr txBox="1"/>
            <p:nvPr/>
          </p:nvSpPr>
          <p:spPr>
            <a:xfrm>
              <a:off x="11032903" y="2015966"/>
              <a:ext cx="630460" cy="161925"/>
            </a:xfrm>
            <a:prstGeom prst="rect">
              <a:avLst/>
            </a:prstGeom>
            <a:noFill/>
            <a:ln>
              <a:noFill/>
            </a:ln>
          </p:spPr>
          <p:txBody>
            <a:bodyPr wrap="none" lIns="0" tIns="0" rIns="0" bIns="0" anchor="t" anchorCtr="0">
              <a:spAutoFit/>
            </a:bodyPr>
            <a:lstStyle/>
            <a:p>
              <a:pPr algn="r"/>
              <a:r>
                <a:rPr lang="zh-CN" sz="820" b="1" dirty="0">
                  <a:solidFill>
                    <a:schemeClr val="accent1"/>
                  </a:solidFill>
                  <a:latin typeface="+mn-lt"/>
                  <a:ea typeface="+mn-ea"/>
                  <a:cs typeface="+mn-cs"/>
                </a:rPr>
                <a:t>2035 渗透率</a:t>
              </a:r>
            </a:p>
          </p:txBody>
        </p:sp>
        <p:sp>
          <p:nvSpPr>
            <p:cNvPr id="152" name="Line 152"/>
            <p:cNvSpPr/>
            <p:nvPr/>
          </p:nvSpPr>
          <p:spPr>
            <a:xfrm>
              <a:off x="8077200" y="2476500"/>
              <a:ext cx="3657600" cy="9525"/>
            </a:xfrm>
            <a:custGeom>
              <a:avLst/>
              <a:gdLst/>
              <a:ahLst/>
              <a:cxnLst/>
              <a:rect l="l" t="t" r="r" b="b"/>
              <a:pathLst>
                <a:path w="3657600" h="9525">
                  <a:moveTo>
                    <a:pt x="0" y="0"/>
                  </a:moveTo>
                  <a:lnTo>
                    <a:pt x="3657600" y="0"/>
                  </a:lnTo>
                </a:path>
              </a:pathLst>
            </a:custGeom>
            <a:noFill/>
            <a:ln w="7144">
              <a:solidFill>
                <a:srgbClr val="E3E3E3"/>
              </a:solidFill>
            </a:ln>
          </p:spPr>
        </p:sp>
        <p:sp>
          <p:nvSpPr>
            <p:cNvPr id="153" name="TextBox 153"/>
            <p:cNvSpPr txBox="1"/>
            <p:nvPr/>
          </p:nvSpPr>
          <p:spPr>
            <a:xfrm>
              <a:off x="8148638" y="2276475"/>
              <a:ext cx="251841" cy="176212"/>
            </a:xfrm>
            <a:prstGeom prst="rect">
              <a:avLst/>
            </a:prstGeom>
            <a:noFill/>
            <a:ln>
              <a:noFill/>
            </a:ln>
          </p:spPr>
          <p:txBody>
            <a:bodyPr wrap="none" lIns="0" tIns="0" rIns="0" bIns="0" anchor="t" anchorCtr="0">
              <a:spAutoFit/>
            </a:bodyPr>
            <a:lstStyle/>
            <a:p>
              <a:pPr algn="l"/>
              <a:r>
                <a:rPr lang="zh-CN" sz="900" b="1" dirty="0">
                  <a:solidFill>
                    <a:schemeClr val="accent1"/>
                  </a:solidFill>
                  <a:latin typeface="+mn-lt"/>
                  <a:ea typeface="+mn-ea"/>
                  <a:cs typeface="+mn-cs"/>
                </a:rPr>
                <a:t>全球</a:t>
              </a:r>
            </a:p>
          </p:txBody>
        </p:sp>
        <p:sp>
          <p:nvSpPr>
            <p:cNvPr id="154" name="TextBox 154"/>
            <p:cNvSpPr txBox="1"/>
            <p:nvPr/>
          </p:nvSpPr>
          <p:spPr>
            <a:xfrm>
              <a:off x="10093327" y="2276475"/>
              <a:ext cx="312735"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Arial"/>
                  <a:ea typeface="Arial"/>
                  <a:cs typeface="Arial"/>
                </a:rPr>
                <a:t>5,500</a:t>
              </a:r>
            </a:p>
          </p:txBody>
        </p:sp>
        <p:sp>
          <p:nvSpPr>
            <p:cNvPr id="155" name="TextBox 155"/>
            <p:cNvSpPr txBox="1"/>
            <p:nvPr/>
          </p:nvSpPr>
          <p:spPr>
            <a:xfrm>
              <a:off x="11411328" y="2276475"/>
              <a:ext cx="252035" cy="176212"/>
            </a:xfrm>
            <a:prstGeom prst="rect">
              <a:avLst/>
            </a:prstGeom>
            <a:noFill/>
            <a:ln>
              <a:noFill/>
            </a:ln>
          </p:spPr>
          <p:txBody>
            <a:bodyPr wrap="none" lIns="0" tIns="0" rIns="0" bIns="0" anchor="t" anchorCtr="0">
              <a:spAutoFit/>
            </a:bodyPr>
            <a:lstStyle/>
            <a:p>
              <a:pPr algn="r"/>
              <a:r>
                <a:rPr lang="zh-CN" sz="900" b="1" dirty="0">
                  <a:solidFill>
                    <a:schemeClr val="accent1"/>
                  </a:solidFill>
                  <a:latin typeface="Arial"/>
                  <a:ea typeface="Arial"/>
                  <a:cs typeface="Arial"/>
                </a:rPr>
                <a:t>53%</a:t>
              </a:r>
            </a:p>
          </p:txBody>
        </p:sp>
        <p:sp>
          <p:nvSpPr>
            <p:cNvPr id="156" name="Line 156"/>
            <p:cNvSpPr/>
            <p:nvPr/>
          </p:nvSpPr>
          <p:spPr>
            <a:xfrm>
              <a:off x="8077200" y="2762250"/>
              <a:ext cx="3657600" cy="9525"/>
            </a:xfrm>
            <a:custGeom>
              <a:avLst/>
              <a:gdLst/>
              <a:ahLst/>
              <a:cxnLst/>
              <a:rect l="l" t="t" r="r" b="b"/>
              <a:pathLst>
                <a:path w="3657600" h="9525">
                  <a:moveTo>
                    <a:pt x="0" y="0"/>
                  </a:moveTo>
                  <a:lnTo>
                    <a:pt x="3657600" y="0"/>
                  </a:lnTo>
                </a:path>
              </a:pathLst>
            </a:custGeom>
            <a:noFill/>
            <a:ln w="7144">
              <a:solidFill>
                <a:srgbClr val="E3E3E3"/>
              </a:solidFill>
            </a:ln>
          </p:spPr>
        </p:sp>
        <p:sp>
          <p:nvSpPr>
            <p:cNvPr id="157" name="TextBox 157"/>
            <p:cNvSpPr txBox="1"/>
            <p:nvPr/>
          </p:nvSpPr>
          <p:spPr>
            <a:xfrm>
              <a:off x="8148638" y="25622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中国</a:t>
              </a:r>
            </a:p>
          </p:txBody>
        </p:sp>
        <p:sp>
          <p:nvSpPr>
            <p:cNvPr id="158" name="TextBox 158"/>
            <p:cNvSpPr txBox="1"/>
            <p:nvPr/>
          </p:nvSpPr>
          <p:spPr>
            <a:xfrm>
              <a:off x="10093327" y="2562225"/>
              <a:ext cx="3127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2,600</a:t>
              </a:r>
            </a:p>
          </p:txBody>
        </p:sp>
        <p:sp>
          <p:nvSpPr>
            <p:cNvPr id="159" name="TextBox 159"/>
            <p:cNvSpPr txBox="1"/>
            <p:nvPr/>
          </p:nvSpPr>
          <p:spPr>
            <a:xfrm>
              <a:off x="11411328" y="256222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94%</a:t>
              </a:r>
            </a:p>
          </p:txBody>
        </p:sp>
        <p:sp>
          <p:nvSpPr>
            <p:cNvPr id="160" name="Line 160"/>
            <p:cNvSpPr/>
            <p:nvPr/>
          </p:nvSpPr>
          <p:spPr>
            <a:xfrm>
              <a:off x="8077200" y="3048000"/>
              <a:ext cx="3657600" cy="9525"/>
            </a:xfrm>
            <a:custGeom>
              <a:avLst/>
              <a:gdLst/>
              <a:ahLst/>
              <a:cxnLst/>
              <a:rect l="l" t="t" r="r" b="b"/>
              <a:pathLst>
                <a:path w="3657600" h="9525">
                  <a:moveTo>
                    <a:pt x="0" y="0"/>
                  </a:moveTo>
                  <a:lnTo>
                    <a:pt x="3657600" y="0"/>
                  </a:lnTo>
                </a:path>
              </a:pathLst>
            </a:custGeom>
            <a:noFill/>
            <a:ln w="7144">
              <a:solidFill>
                <a:srgbClr val="E3E3E3"/>
              </a:solidFill>
            </a:ln>
          </p:spPr>
        </p:sp>
        <p:sp>
          <p:nvSpPr>
            <p:cNvPr id="161" name="TextBox 161"/>
            <p:cNvSpPr txBox="1"/>
            <p:nvPr/>
          </p:nvSpPr>
          <p:spPr>
            <a:xfrm>
              <a:off x="8148638" y="28479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欧洲</a:t>
              </a:r>
            </a:p>
          </p:txBody>
        </p:sp>
        <p:sp>
          <p:nvSpPr>
            <p:cNvPr id="162" name="TextBox 162"/>
            <p:cNvSpPr txBox="1"/>
            <p:nvPr/>
          </p:nvSpPr>
          <p:spPr>
            <a:xfrm>
              <a:off x="10093327" y="2847975"/>
              <a:ext cx="3127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1,400</a:t>
              </a:r>
            </a:p>
          </p:txBody>
        </p:sp>
        <p:sp>
          <p:nvSpPr>
            <p:cNvPr id="163" name="TextBox 163"/>
            <p:cNvSpPr txBox="1"/>
            <p:nvPr/>
          </p:nvSpPr>
          <p:spPr>
            <a:xfrm>
              <a:off x="11411328" y="28479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85%</a:t>
              </a:r>
            </a:p>
          </p:txBody>
        </p:sp>
        <p:sp>
          <p:nvSpPr>
            <p:cNvPr id="164" name="Line 164"/>
            <p:cNvSpPr/>
            <p:nvPr/>
          </p:nvSpPr>
          <p:spPr>
            <a:xfrm>
              <a:off x="8077200" y="3333750"/>
              <a:ext cx="3657600" cy="9525"/>
            </a:xfrm>
            <a:custGeom>
              <a:avLst/>
              <a:gdLst/>
              <a:ahLst/>
              <a:cxnLst/>
              <a:rect l="l" t="t" r="r" b="b"/>
              <a:pathLst>
                <a:path w="3657600" h="9525">
                  <a:moveTo>
                    <a:pt x="0" y="0"/>
                  </a:moveTo>
                  <a:lnTo>
                    <a:pt x="3657600" y="0"/>
                  </a:lnTo>
                </a:path>
              </a:pathLst>
            </a:custGeom>
            <a:noFill/>
            <a:ln w="7144">
              <a:solidFill>
                <a:srgbClr val="E3E3E3"/>
              </a:solidFill>
            </a:ln>
          </p:spPr>
        </p:sp>
        <p:sp>
          <p:nvSpPr>
            <p:cNvPr id="165" name="TextBox 165"/>
            <p:cNvSpPr txBox="1"/>
            <p:nvPr/>
          </p:nvSpPr>
          <p:spPr>
            <a:xfrm>
              <a:off x="8148638" y="31337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美国</a:t>
              </a:r>
            </a:p>
          </p:txBody>
        </p:sp>
        <p:sp>
          <p:nvSpPr>
            <p:cNvPr id="166" name="TextBox 166"/>
            <p:cNvSpPr txBox="1"/>
            <p:nvPr/>
          </p:nvSpPr>
          <p:spPr>
            <a:xfrm>
              <a:off x="10194373" y="313372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310</a:t>
              </a:r>
            </a:p>
          </p:txBody>
        </p:sp>
        <p:sp>
          <p:nvSpPr>
            <p:cNvPr id="167" name="TextBox 167"/>
            <p:cNvSpPr txBox="1"/>
            <p:nvPr/>
          </p:nvSpPr>
          <p:spPr>
            <a:xfrm>
              <a:off x="11411328" y="313372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20%</a:t>
              </a:r>
            </a:p>
          </p:txBody>
        </p:sp>
        <p:sp>
          <p:nvSpPr>
            <p:cNvPr id="168" name="Line 168"/>
            <p:cNvSpPr/>
            <p:nvPr/>
          </p:nvSpPr>
          <p:spPr>
            <a:xfrm>
              <a:off x="8077200" y="3619500"/>
              <a:ext cx="3657600" cy="9525"/>
            </a:xfrm>
            <a:custGeom>
              <a:avLst/>
              <a:gdLst/>
              <a:ahLst/>
              <a:cxnLst/>
              <a:rect l="l" t="t" r="r" b="b"/>
              <a:pathLst>
                <a:path w="3657600" h="9525">
                  <a:moveTo>
                    <a:pt x="0" y="0"/>
                  </a:moveTo>
                  <a:lnTo>
                    <a:pt x="3657600" y="0"/>
                  </a:lnTo>
                </a:path>
              </a:pathLst>
            </a:custGeom>
            <a:noFill/>
            <a:ln w="7144">
              <a:solidFill>
                <a:srgbClr val="E3E3E3"/>
              </a:solidFill>
            </a:ln>
          </p:spPr>
        </p:sp>
        <p:sp>
          <p:nvSpPr>
            <p:cNvPr id="169" name="TextBox 169"/>
            <p:cNvSpPr txBox="1"/>
            <p:nvPr/>
          </p:nvSpPr>
          <p:spPr>
            <a:xfrm>
              <a:off x="8148638" y="3419475"/>
              <a:ext cx="372999"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东南亚</a:t>
              </a:r>
            </a:p>
          </p:txBody>
        </p:sp>
        <p:sp>
          <p:nvSpPr>
            <p:cNvPr id="170" name="TextBox 170"/>
            <p:cNvSpPr txBox="1"/>
            <p:nvPr/>
          </p:nvSpPr>
          <p:spPr>
            <a:xfrm>
              <a:off x="10194373" y="341947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270</a:t>
              </a:r>
            </a:p>
          </p:txBody>
        </p:sp>
        <p:sp>
          <p:nvSpPr>
            <p:cNvPr id="171" name="TextBox 171"/>
            <p:cNvSpPr txBox="1"/>
            <p:nvPr/>
          </p:nvSpPr>
          <p:spPr>
            <a:xfrm>
              <a:off x="11411328" y="34194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58%</a:t>
              </a:r>
            </a:p>
          </p:txBody>
        </p:sp>
        <p:sp>
          <p:nvSpPr>
            <p:cNvPr id="172" name="Line 172"/>
            <p:cNvSpPr/>
            <p:nvPr/>
          </p:nvSpPr>
          <p:spPr>
            <a:xfrm>
              <a:off x="8077200" y="3905250"/>
              <a:ext cx="3657600" cy="9525"/>
            </a:xfrm>
            <a:custGeom>
              <a:avLst/>
              <a:gdLst/>
              <a:ahLst/>
              <a:cxnLst/>
              <a:rect l="l" t="t" r="r" b="b"/>
              <a:pathLst>
                <a:path w="3657600" h="9525">
                  <a:moveTo>
                    <a:pt x="0" y="0"/>
                  </a:moveTo>
                  <a:lnTo>
                    <a:pt x="3657600" y="0"/>
                  </a:lnTo>
                </a:path>
              </a:pathLst>
            </a:custGeom>
            <a:noFill/>
            <a:ln w="7144">
              <a:solidFill>
                <a:srgbClr val="E3E3E3"/>
              </a:solidFill>
            </a:ln>
          </p:spPr>
        </p:sp>
        <p:sp>
          <p:nvSpPr>
            <p:cNvPr id="173" name="TextBox 173"/>
            <p:cNvSpPr txBox="1"/>
            <p:nvPr/>
          </p:nvSpPr>
          <p:spPr>
            <a:xfrm>
              <a:off x="8148638" y="37052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印度</a:t>
              </a:r>
            </a:p>
          </p:txBody>
        </p:sp>
        <p:sp>
          <p:nvSpPr>
            <p:cNvPr id="174" name="TextBox 174"/>
            <p:cNvSpPr txBox="1"/>
            <p:nvPr/>
          </p:nvSpPr>
          <p:spPr>
            <a:xfrm>
              <a:off x="10194373" y="3705225"/>
              <a:ext cx="211689"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210</a:t>
              </a:r>
            </a:p>
          </p:txBody>
        </p:sp>
        <p:sp>
          <p:nvSpPr>
            <p:cNvPr id="175" name="TextBox 175"/>
            <p:cNvSpPr txBox="1"/>
            <p:nvPr/>
          </p:nvSpPr>
          <p:spPr>
            <a:xfrm>
              <a:off x="11411328" y="370522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24%</a:t>
              </a:r>
            </a:p>
          </p:txBody>
        </p:sp>
        <p:sp>
          <p:nvSpPr>
            <p:cNvPr id="176" name="Line 176"/>
            <p:cNvSpPr/>
            <p:nvPr/>
          </p:nvSpPr>
          <p:spPr>
            <a:xfrm>
              <a:off x="8077200" y="4191000"/>
              <a:ext cx="3657600" cy="9525"/>
            </a:xfrm>
            <a:custGeom>
              <a:avLst/>
              <a:gdLst/>
              <a:ahLst/>
              <a:cxnLst/>
              <a:rect l="l" t="t" r="r" b="b"/>
              <a:pathLst>
                <a:path w="3657600" h="9525">
                  <a:moveTo>
                    <a:pt x="0" y="0"/>
                  </a:moveTo>
                  <a:lnTo>
                    <a:pt x="3657600" y="0"/>
                  </a:lnTo>
                </a:path>
              </a:pathLst>
            </a:custGeom>
            <a:noFill/>
            <a:ln w="7144">
              <a:solidFill>
                <a:srgbClr val="E3E3E3"/>
              </a:solidFill>
            </a:ln>
          </p:spPr>
        </p:sp>
        <p:sp>
          <p:nvSpPr>
            <p:cNvPr id="177" name="TextBox 177"/>
            <p:cNvSpPr txBox="1"/>
            <p:nvPr/>
          </p:nvSpPr>
          <p:spPr>
            <a:xfrm>
              <a:off x="8148638" y="399097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韩国</a:t>
              </a:r>
            </a:p>
          </p:txBody>
        </p:sp>
        <p:sp>
          <p:nvSpPr>
            <p:cNvPr id="178" name="TextBox 178"/>
            <p:cNvSpPr txBox="1"/>
            <p:nvPr/>
          </p:nvSpPr>
          <p:spPr>
            <a:xfrm>
              <a:off x="10261761" y="399097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88</a:t>
              </a:r>
            </a:p>
          </p:txBody>
        </p:sp>
        <p:sp>
          <p:nvSpPr>
            <p:cNvPr id="179" name="TextBox 179"/>
            <p:cNvSpPr txBox="1"/>
            <p:nvPr/>
          </p:nvSpPr>
          <p:spPr>
            <a:xfrm>
              <a:off x="11411328" y="399097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60%</a:t>
              </a:r>
            </a:p>
          </p:txBody>
        </p:sp>
        <p:sp>
          <p:nvSpPr>
            <p:cNvPr id="180" name="Line 180"/>
            <p:cNvSpPr/>
            <p:nvPr/>
          </p:nvSpPr>
          <p:spPr>
            <a:xfrm>
              <a:off x="8077200" y="4476750"/>
              <a:ext cx="3657600" cy="9525"/>
            </a:xfrm>
            <a:custGeom>
              <a:avLst/>
              <a:gdLst/>
              <a:ahLst/>
              <a:cxnLst/>
              <a:rect l="l" t="t" r="r" b="b"/>
              <a:pathLst>
                <a:path w="3657600" h="9525">
                  <a:moveTo>
                    <a:pt x="0" y="0"/>
                  </a:moveTo>
                  <a:lnTo>
                    <a:pt x="3657600" y="0"/>
                  </a:lnTo>
                </a:path>
              </a:pathLst>
            </a:custGeom>
            <a:noFill/>
            <a:ln w="7144">
              <a:solidFill>
                <a:srgbClr val="E3E3E3"/>
              </a:solidFill>
            </a:ln>
          </p:spPr>
        </p:sp>
        <p:sp>
          <p:nvSpPr>
            <p:cNvPr id="181" name="TextBox 181"/>
            <p:cNvSpPr txBox="1"/>
            <p:nvPr/>
          </p:nvSpPr>
          <p:spPr>
            <a:xfrm>
              <a:off x="8148638" y="4276725"/>
              <a:ext cx="251841" cy="176212"/>
            </a:xfrm>
            <a:prstGeom prst="rect">
              <a:avLst/>
            </a:prstGeom>
            <a:noFill/>
            <a:ln>
              <a:noFill/>
            </a:ln>
          </p:spPr>
          <p:txBody>
            <a:bodyPr wrap="none" lIns="0" tIns="0" rIns="0" bIns="0" anchor="t" anchorCtr="0">
              <a:spAutoFit/>
            </a:bodyPr>
            <a:lstStyle/>
            <a:p>
              <a:pPr algn="l"/>
              <a:r>
                <a:rPr lang="zh-CN" sz="900" b="1" dirty="0">
                  <a:solidFill>
                    <a:schemeClr val="dk1"/>
                  </a:solidFill>
                  <a:latin typeface="+mn-lt"/>
                  <a:ea typeface="+mn-ea"/>
                  <a:cs typeface="+mn-cs"/>
                </a:rPr>
                <a:t>日本</a:t>
              </a:r>
            </a:p>
          </p:txBody>
        </p:sp>
        <p:sp>
          <p:nvSpPr>
            <p:cNvPr id="182" name="TextBox 182"/>
            <p:cNvSpPr txBox="1"/>
            <p:nvPr/>
          </p:nvSpPr>
          <p:spPr>
            <a:xfrm>
              <a:off x="10261761" y="4276725"/>
              <a:ext cx="144301"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70</a:t>
              </a:r>
            </a:p>
          </p:txBody>
        </p:sp>
        <p:sp>
          <p:nvSpPr>
            <p:cNvPr id="183" name="TextBox 183"/>
            <p:cNvSpPr txBox="1"/>
            <p:nvPr/>
          </p:nvSpPr>
          <p:spPr>
            <a:xfrm>
              <a:off x="11411328" y="4276725"/>
              <a:ext cx="252035" cy="176212"/>
            </a:xfrm>
            <a:prstGeom prst="rect">
              <a:avLst/>
            </a:prstGeom>
            <a:noFill/>
            <a:ln>
              <a:noFill/>
            </a:ln>
          </p:spPr>
          <p:txBody>
            <a:bodyPr wrap="none" lIns="0" tIns="0" rIns="0" bIns="0" anchor="t" anchorCtr="0">
              <a:spAutoFit/>
            </a:bodyPr>
            <a:lstStyle/>
            <a:p>
              <a:pPr algn="r"/>
              <a:r>
                <a:rPr lang="zh-CN" sz="900" dirty="0">
                  <a:solidFill>
                    <a:schemeClr val="dk1"/>
                  </a:solidFill>
                  <a:latin typeface="Arial"/>
                  <a:ea typeface="Arial"/>
                  <a:cs typeface="Arial"/>
                </a:rPr>
                <a:t>20%</a:t>
              </a:r>
            </a:p>
          </p:txBody>
        </p:sp>
      </p:grpSp>
      <p:grpSp>
        <p:nvGrpSpPr>
          <p:cNvPr id="188" name="method-notes"/>
          <p:cNvGrpSpPr/>
          <p:nvPr/>
        </p:nvGrpSpPr>
        <p:grpSpPr>
          <a:xfrm>
            <a:off x="8072438" y="4654391"/>
            <a:ext cx="3662362" cy="714375"/>
            <a:chOff x="8072438" y="4654391"/>
            <a:chExt cx="3662362" cy="714375"/>
          </a:xfrm>
        </p:grpSpPr>
        <p:sp>
          <p:nvSpPr>
            <p:cNvPr id="185" name="TextBox 185"/>
            <p:cNvSpPr txBox="1"/>
            <p:nvPr/>
          </p:nvSpPr>
          <p:spPr>
            <a:xfrm>
              <a:off x="8072438" y="4654391"/>
              <a:ext cx="511658"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计算口径</a:t>
              </a:r>
            </a:p>
          </p:txBody>
        </p:sp>
        <p:sp>
          <p:nvSpPr>
            <p:cNvPr id="186" name="Line 186"/>
            <p:cNvSpPr/>
            <p:nvPr/>
          </p:nvSpPr>
          <p:spPr>
            <a:xfrm>
              <a:off x="8077200" y="4819650"/>
              <a:ext cx="3657600" cy="9525"/>
            </a:xfrm>
            <a:custGeom>
              <a:avLst/>
              <a:gdLst/>
              <a:ahLst/>
              <a:cxnLst/>
              <a:rect l="l" t="t" r="r" b="b"/>
              <a:pathLst>
                <a:path w="3657600" h="9525">
                  <a:moveTo>
                    <a:pt x="0" y="0"/>
                  </a:moveTo>
                  <a:lnTo>
                    <a:pt x="3657600" y="0"/>
                  </a:lnTo>
                </a:path>
              </a:pathLst>
            </a:custGeom>
            <a:noFill/>
            <a:ln w="7144">
              <a:solidFill>
                <a:schemeClr val="accent1"/>
              </a:solidFill>
            </a:ln>
          </p:spPr>
        </p:sp>
        <p:sp>
          <p:nvSpPr>
            <p:cNvPr id="187" name="TextBox 187"/>
            <p:cNvSpPr txBox="1"/>
            <p:nvPr/>
          </p:nvSpPr>
          <p:spPr>
            <a:xfrm>
              <a:off x="8072438" y="4902041"/>
              <a:ext cx="3461766" cy="466725"/>
            </a:xfrm>
            <a:prstGeom prst="rect">
              <a:avLst/>
            </a:prstGeom>
            <a:noFill/>
            <a:ln>
              <a:noFill/>
            </a:ln>
          </p:spPr>
          <p:txBody>
            <a:bodyPr wrap="none" lIns="0" tIns="0" rIns="0" bIns="0" anchor="t" anchorCtr="0">
              <a:spAutoFit/>
            </a:bodyPr>
            <a:lstStyle/>
            <a:p>
              <a:pPr algn="l">
                <a:lnSpc>
                  <a:spcPts val="1200"/>
                </a:lnSpc>
              </a:pPr>
              <a:r>
                <a:rPr lang="zh-CN" sz="820" dirty="0">
                  <a:solidFill>
                    <a:schemeClr val="dk1"/>
                  </a:solidFill>
                  <a:latin typeface="+mn-lt"/>
                  <a:ea typeface="+mn-ea"/>
                  <a:cs typeface="+mn-cs"/>
                </a:rPr>
                <a:t>渗透率 = 电动车销量 ÷ 乘用车新车销量;倍数 = 2025 年销量 ÷ 2023 年销量</a:t>
              </a:r>
              <a:br/>
              <a:r>
                <a:rPr lang="zh-CN" sz="820" dirty="0">
                  <a:solidFill>
                    <a:schemeClr val="dk1"/>
                  </a:solidFill>
                  <a:latin typeface="+mn-lt"/>
                  <a:ea typeface="+mn-ea"/>
                  <a:cs typeface="+mn-cs"/>
                </a:rPr>
                <a:t>增量 = 2025 年销量 − 2024 年销量;增量占比 = 该地区增量 ÷ 总增量</a:t>
              </a:r>
              <a:br/>
              <a:r>
                <a:rPr lang="zh-CN" sz="820" dirty="0">
                  <a:solidFill>
                    <a:schemeClr val="dk1"/>
                  </a:solidFill>
                  <a:latin typeface="+mn-lt"/>
                  <a:ea typeface="+mn-ea"/>
                  <a:cs typeface="+mn-cs"/>
                </a:rPr>
                <a:t>年均增速 = (期末 ÷ 期初)^(1 ÷ 年数) − 1;比例均按取整前数值计算后取整</a:t>
              </a:r>
            </a:p>
          </p:txBody>
        </p:sp>
      </p:grpSp>
      <p:grpSp>
        <p:nvGrpSpPr>
          <p:cNvPr id="192" name="source-links"/>
          <p:cNvGrpSpPr/>
          <p:nvPr/>
        </p:nvGrpSpPr>
        <p:grpSpPr>
          <a:xfrm>
            <a:off x="8072438" y="5492591"/>
            <a:ext cx="3662362" cy="606266"/>
            <a:chOff x="8072438" y="5492591"/>
            <a:chExt cx="3662362" cy="606266"/>
          </a:xfrm>
        </p:grpSpPr>
        <p:sp>
          <p:nvSpPr>
            <p:cNvPr id="189" name="TextBox 189"/>
            <p:cNvSpPr txBox="1"/>
            <p:nvPr/>
          </p:nvSpPr>
          <p:spPr>
            <a:xfrm>
              <a:off x="8072438" y="5492591"/>
              <a:ext cx="903402" cy="161925"/>
            </a:xfrm>
            <a:prstGeom prst="rect">
              <a:avLst/>
            </a:prstGeom>
            <a:noFill/>
            <a:ln>
              <a:noFill/>
            </a:ln>
          </p:spPr>
          <p:txBody>
            <a:bodyPr wrap="none" lIns="0" tIns="0" rIns="0" bIns="0" anchor="t" anchorCtr="0">
              <a:spAutoFit/>
            </a:bodyPr>
            <a:lstStyle/>
            <a:p>
              <a:pPr algn="l"/>
              <a:r>
                <a:rPr lang="zh-CN" sz="820" b="1" spc="150" dirty="0">
                  <a:solidFill>
                    <a:schemeClr val="accent1"/>
                  </a:solidFill>
                  <a:latin typeface="+mn-lt"/>
                  <a:ea typeface="+mn-ea"/>
                  <a:cs typeface="+mn-cs"/>
                </a:rPr>
                <a:t>数据来源与许可</a:t>
              </a:r>
            </a:p>
          </p:txBody>
        </p:sp>
        <p:sp>
          <p:nvSpPr>
            <p:cNvPr id="190" name="Line 190"/>
            <p:cNvSpPr/>
            <p:nvPr/>
          </p:nvSpPr>
          <p:spPr>
            <a:xfrm>
              <a:off x="8077200" y="5657850"/>
              <a:ext cx="3657600" cy="9525"/>
            </a:xfrm>
            <a:custGeom>
              <a:avLst/>
              <a:gdLst/>
              <a:ahLst/>
              <a:cxnLst/>
              <a:rect l="l" t="t" r="r" b="b"/>
              <a:pathLst>
                <a:path w="3657600" h="9525">
                  <a:moveTo>
                    <a:pt x="0" y="0"/>
                  </a:moveTo>
                  <a:lnTo>
                    <a:pt x="3657600" y="0"/>
                  </a:lnTo>
                </a:path>
              </a:pathLst>
            </a:custGeom>
            <a:noFill/>
            <a:ln w="7144">
              <a:solidFill>
                <a:schemeClr val="accent1"/>
              </a:solidFill>
            </a:ln>
          </p:spPr>
        </p:sp>
        <p:sp>
          <p:nvSpPr>
            <p:cNvPr id="191" name="TextBox 191"/>
            <p:cNvSpPr txBox="1"/>
            <p:nvPr/>
          </p:nvSpPr>
          <p:spPr>
            <a:xfrm>
              <a:off x="8072438" y="5751195"/>
              <a:ext cx="3307080" cy="347662"/>
            </a:xfrm>
            <a:prstGeom prst="rect">
              <a:avLst/>
            </a:prstGeom>
            <a:noFill/>
            <a:ln>
              <a:noFill/>
            </a:ln>
          </p:spPr>
          <p:txBody>
            <a:bodyPr wrap="none" lIns="0" tIns="0" rIns="0" bIns="0" anchor="t" anchorCtr="0">
              <a:spAutoFit/>
            </a:bodyPr>
            <a:lstStyle/>
            <a:p>
              <a:pPr algn="l">
                <a:lnSpc>
                  <a:spcPts val="1350"/>
                </a:lnSpc>
              </a:pPr>
              <a:r>
                <a:rPr lang="zh-CN" sz="900" dirty="0">
                  <a:solidFill>
                    <a:schemeClr val="dk1"/>
                  </a:solidFill>
                  <a:latin typeface="+mn-lt"/>
                  <a:ea typeface="+mn-ea"/>
                  <a:cs typeface="+mn-cs"/>
                </a:rPr>
                <a:t>IEA (2025), Global EV Outlook 2025,2025 年为 IEA 全年估计</a:t>
              </a:r>
              <a:br/>
              <a:r>
                <a:rPr lang="en-US" sz="900" u="sng" dirty="0">
                  <a:solidFill>
                    <a:schemeClr val="accent2"/>
                  </a:solidFill>
                  <a:latin typeface="+mn-lt"/>
                  <a:ea typeface="+mn-ea"/>
                  <a:cs typeface="+mn-cs"/>
                  <a:hlinkClick r:id="rId2"/>
                </a:rPr>
                <a:t>Global EV Data Explorer</a:t>
              </a:r>
              <a:r>
                <a:rPr lang="zh-CN" sz="900" dirty="0">
                  <a:solidFill>
                    <a:schemeClr val="dk1"/>
                  </a:solidFill>
                  <a:latin typeface="+mn-lt"/>
                  <a:ea typeface="+mn-ea"/>
                  <a:cs typeface="+mn-cs"/>
                </a:rPr>
                <a:t>,许可 CC BY 4.0;2035 年为 STEPS 情景</a:t>
              </a:r>
            </a:p>
          </p:txBody>
        </p:sp>
      </p:grpSp>
      <p:grpSp>
        <p:nvGrpSpPr>
          <p:cNvPr id="197" name="footer"/>
          <p:cNvGrpSpPr/>
          <p:nvPr/>
        </p:nvGrpSpPr>
        <p:grpSpPr>
          <a:xfrm>
            <a:off x="452438" y="6205538"/>
            <a:ext cx="11287124" cy="433388"/>
            <a:chOff x="452438" y="6205538"/>
            <a:chExt cx="11287124" cy="433388"/>
          </a:xfrm>
        </p:grpSpPr>
        <p:sp>
          <p:nvSpPr>
            <p:cNvPr id="193" name="TextBox 193"/>
            <p:cNvSpPr txBox="1"/>
            <p:nvPr/>
          </p:nvSpPr>
          <p:spPr>
            <a:xfrm>
              <a:off x="452438" y="6205538"/>
              <a:ext cx="4781931"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1. IEA 数值为取整后的估计值;FCEV 数量极小,忽略;欧洲含 EU27 + 英国 + 挪威等;东南亚为 IEA 区域汇总</a:t>
              </a:r>
            </a:p>
          </p:txBody>
        </p:sp>
        <p:sp>
          <p:nvSpPr>
            <p:cNvPr id="194" name="TextBox 194"/>
            <p:cNvSpPr txBox="1"/>
            <p:nvPr/>
          </p:nvSpPr>
          <p:spPr>
            <a:xfrm>
              <a:off x="452438" y="6338888"/>
              <a:ext cx="6240129"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2. 数据于 2026-09-05 通过 IEA 官方接口取得(api.iea.org/evs,category=Historical / Projection-STEPS,mode=Cars),未做数值修改</a:t>
              </a:r>
            </a:p>
          </p:txBody>
        </p:sp>
        <p:sp>
          <p:nvSpPr>
            <p:cNvPr id="195" name="TextBox 195"/>
            <p:cNvSpPr txBox="1"/>
            <p:nvPr/>
          </p:nvSpPr>
          <p:spPr>
            <a:xfrm>
              <a:off x="452438" y="6491288"/>
              <a:ext cx="3940846" cy="147638"/>
            </a:xfrm>
            <a:prstGeom prst="rect">
              <a:avLst/>
            </a:prstGeom>
            <a:noFill/>
            <a:ln>
              <a:noFill/>
            </a:ln>
          </p:spPr>
          <p:txBody>
            <a:bodyPr wrap="none" lIns="0" tIns="0" rIns="0" bIns="0" anchor="t" anchorCtr="0">
              <a:spAutoFit/>
            </a:bodyPr>
            <a:lstStyle/>
            <a:p>
              <a:pPr algn="l"/>
              <a:r>
                <a:rPr lang="zh-CN" sz="750" dirty="0">
                  <a:solidFill>
                    <a:schemeClr val="accent5"/>
                  </a:solidFill>
                  <a:latin typeface="+mn-lt"/>
                  <a:ea typeface="+mn-ea"/>
                  <a:cs typeface="+mn-cs"/>
                </a:rPr>
                <a:t>资料来源:IEA (2025), Global EV Outlook 2025, Global EV Data Explorer,CC BY 4.0</a:t>
              </a:r>
            </a:p>
          </p:txBody>
        </p:sp>
        <p:sp>
          <p:nvSpPr>
            <p:cNvPr id="196" name="TextBox 196"/>
            <p:cNvSpPr txBox="1"/>
            <p:nvPr/>
          </p:nvSpPr>
          <p:spPr>
            <a:xfrm>
              <a:off x="11617724" y="6491288"/>
              <a:ext cx="121838" cy="147638"/>
            </a:xfrm>
            <a:prstGeom prst="rect">
              <a:avLst/>
            </a:prstGeom>
            <a:noFill/>
            <a:ln>
              <a:noFill/>
            </a:ln>
          </p:spPr>
          <p:txBody>
            <a:bodyPr wrap="none" lIns="0" tIns="0" rIns="0" bIns="0" anchor="t" anchorCtr="0">
              <a:spAutoFit/>
            </a:bodyPr>
            <a:lstStyle/>
            <a:p>
              <a:pPr algn="r"/>
              <a:r>
                <a:rPr lang="zh-CN" sz="750" dirty="0">
                  <a:solidFill>
                    <a:schemeClr val="accent5"/>
                  </a:solidFill>
                  <a:latin typeface="Arial"/>
                  <a:ea typeface="Arial"/>
                  <a:cs typeface="Arial"/>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par>
                          <p:cTn id="8" fill="hold">
                            <p:stCondLst>
                              <p:cond delay="3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
                                        <p:tgtEl>
                                          <p:spTgt spid="15"/>
                                        </p:tgtEl>
                                      </p:cBhvr>
                                    </p:animEffect>
                                  </p:childTnLst>
                                </p:cTn>
                              </p:par>
                            </p:childTnLst>
                          </p:cTn>
                        </p:par>
                        <p:par>
                          <p:cTn id="12" fill="hold">
                            <p:stCondLst>
                              <p:cond delay="10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142"/>
                                        </p:tgtEl>
                                        <p:attrNameLst>
                                          <p:attrName>style.visibility</p:attrName>
                                        </p:attrNameLst>
                                      </p:cBhvr>
                                      <p:to>
                                        <p:strVal val="visible"/>
                                      </p:to>
                                    </p:set>
                                    <p:animEffect transition="in" filter="fade">
                                      <p:cBhvr>
                                        <p:cTn id="15" dur="500"/>
                                        <p:tgtEl>
                                          <p:spTgt spid="142"/>
                                        </p:tgtEl>
                                      </p:cBhvr>
                                    </p:animEffect>
                                  </p:childTnLst>
                                </p:cTn>
                              </p:par>
                            </p:childTnLst>
                          </p:cTn>
                        </p:par>
                        <p:par>
                          <p:cTn id="16" fill="hold">
                            <p:stCondLst>
                              <p:cond delay="20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147"/>
                                        </p:tgtEl>
                                        <p:attrNameLst>
                                          <p:attrName>style.visibility</p:attrName>
                                        </p:attrNameLst>
                                      </p:cBhvr>
                                      <p:to>
                                        <p:strVal val="visible"/>
                                      </p:to>
                                    </p:set>
                                    <p:animEffect transition="in" filter="fade">
                                      <p:cBhvr>
                                        <p:cTn id="19" dur="200"/>
                                        <p:tgtEl>
                                          <p:spTgt spid="147"/>
                                        </p:tgtEl>
                                      </p:cBhvr>
                                    </p:animEffect>
                                  </p:childTnLst>
                                </p:cTn>
                              </p:par>
                            </p:childTnLst>
                          </p:cTn>
                        </p:par>
                        <p:par>
                          <p:cTn id="20" fill="hold">
                            <p:stCondLst>
                              <p:cond delay="27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184"/>
                                        </p:tgtEl>
                                        <p:attrNameLst>
                                          <p:attrName>style.visibility</p:attrName>
                                        </p:attrNameLst>
                                      </p:cBhvr>
                                      <p:to>
                                        <p:strVal val="visible"/>
                                      </p:to>
                                    </p:set>
                                    <p:animEffect transition="in" filter="fade">
                                      <p:cBhvr>
                                        <p:cTn id="23" dur="400"/>
                                        <p:tgtEl>
                                          <p:spTgt spid="184"/>
                                        </p:tgtEl>
                                      </p:cBhvr>
                                    </p:animEffect>
                                  </p:childTnLst>
                                </p:cTn>
                              </p:par>
                            </p:childTnLst>
                          </p:cTn>
                        </p:par>
                        <p:par>
                          <p:cTn id="24" fill="hold">
                            <p:stCondLst>
                              <p:cond delay="36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188"/>
                                        </p:tgtEl>
                                        <p:attrNameLst>
                                          <p:attrName>style.visibility</p:attrName>
                                        </p:attrNameLst>
                                      </p:cBhvr>
                                      <p:to>
                                        <p:strVal val="visible"/>
                                      </p:to>
                                    </p:set>
                                    <p:animEffect transition="in" filter="fade">
                                      <p:cBhvr>
                                        <p:cTn id="27" dur="300"/>
                                        <p:tgtEl>
                                          <p:spTgt spid="188"/>
                                        </p:tgtEl>
                                      </p:cBhvr>
                                    </p:animEffect>
                                  </p:childTnLst>
                                </p:cTn>
                              </p:par>
                            </p:childTnLst>
                          </p:cTn>
                        </p:par>
                        <p:par>
                          <p:cTn id="28" fill="hold">
                            <p:stCondLst>
                              <p:cond delay="44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192"/>
                                        </p:tgtEl>
                                        <p:attrNameLst>
                                          <p:attrName>style.visibility</p:attrName>
                                        </p:attrNameLst>
                                      </p:cBhvr>
                                      <p:to>
                                        <p:strVal val="visible"/>
                                      </p:to>
                                    </p:set>
                                    <p:animEffect transition="in" filter="fade">
                                      <p:cBhvr>
                                        <p:cTn id="31" dur="3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ev_market_priorities">
  <a:themeElements>
    <a:clrScheme name="ppt169_ev_market_priorities">
      <a:dk1>
        <a:srgbClr val="333333"/>
      </a:dk1>
      <a:lt1>
        <a:srgbClr val="FFFFFF"/>
      </a:lt1>
      <a:dk2>
        <a:srgbClr val="1F497D"/>
      </a:dk2>
      <a:lt2>
        <a:srgbClr val="F2F2F2"/>
      </a:lt2>
      <a:accent1>
        <a:srgbClr val="051C2C"/>
      </a:accent1>
      <a:accent2>
        <a:srgbClr val="2251FF"/>
      </a:accent2>
      <a:accent3>
        <a:srgbClr val="8FB8FF"/>
      </a:accent3>
      <a:accent4>
        <a:srgbClr val="051C2C"/>
      </a:accent4>
      <a:accent5>
        <a:srgbClr val="7F7F7F"/>
      </a:accent5>
      <a:accent6>
        <a:srgbClr val="B7B7B7"/>
      </a:accent6>
      <a:hlink>
        <a:srgbClr val="2251FF"/>
      </a:hlink>
      <a:folHlink>
        <a:srgbClr val="8FB8FF"/>
      </a:folHlink>
    </a:clrScheme>
    <a:fontScheme name="ppt169_ev_market_priorities">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ev_market_prioriti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ev_market_priorities">
  <a:themeElements>
    <a:clrScheme name="ppt169_ev_market_priorities">
      <a:dk1>
        <a:srgbClr val="333333"/>
      </a:dk1>
      <a:lt1>
        <a:srgbClr val="FFFFFF"/>
      </a:lt1>
      <a:dk2>
        <a:srgbClr val="1F497D"/>
      </a:dk2>
      <a:lt2>
        <a:srgbClr val="F2F2F2"/>
      </a:lt2>
      <a:accent1>
        <a:srgbClr val="051C2C"/>
      </a:accent1>
      <a:accent2>
        <a:srgbClr val="2251FF"/>
      </a:accent2>
      <a:accent3>
        <a:srgbClr val="8FB8FF"/>
      </a:accent3>
      <a:accent4>
        <a:srgbClr val="051C2C"/>
      </a:accent4>
      <a:accent5>
        <a:srgbClr val="7F7F7F"/>
      </a:accent5>
      <a:accent6>
        <a:srgbClr val="B7B7B7"/>
      </a:accent6>
      <a:hlink>
        <a:srgbClr val="2251FF"/>
      </a:hlink>
      <a:folHlink>
        <a:srgbClr val="8FB8FF"/>
      </a:folHlink>
    </a:clrScheme>
    <a:fontScheme name="ppt169_ev_market_priorities">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ev_market_prioriti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2026-09-12T04:58:25Z</dcterms:created>
  <dcterms:modified xsi:type="dcterms:W3CDTF">2026-09-12T04:58:25Z</dcterms:modified>
  <cp:category/>
  <cp:contentStatus/>
</cp:coreProperties>
</file>