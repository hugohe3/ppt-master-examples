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harts/chart301.xml" ContentType="application/vnd.openxmlformats-officedocument.drawingml.chart+xml"/>
  <Override PartName="/ppt/charts/chart302.xml" ContentType="application/vnd.openxmlformats-officedocument.drawingml.chart+xml"/>
  <Override PartName="/ppt/charts/chart401.xml" ContentType="application/vnd.openxmlformats-officedocument.drawingml.chart+xml"/>
  <Override PartName="/ppt/charts/chart402.xml" ContentType="application/vnd.openxmlformats-officedocument.drawingml.chart+xml"/>
  <Override PartName="/ppt/charts/chart501.xml" ContentType="application/vnd.openxmlformats-officedocument.drawingml.chart+xml"/>
  <Override PartName="/ppt/charts/chart502.xml" ContentType="application/vnd.openxmlformats-officedocument.drawingml.chart+xml"/>
  <Override PartName="/ppt/charts/chart601.xml" ContentType="application/vnd.openxmlformats-officedocument.drawingml.chart+xml"/>
  <Override PartName="/ppt/charts/chart602.xml" ContentType="application/vnd.openxmlformats-officedocument.drawingml.chart+xml"/>
  <Override PartName="/ppt/charts/chart701.xml" ContentType="application/vnd.openxmlformats-officedocument.drawingml.chart+xml"/>
  <Override PartName="/ppt/charts/chart702.xml" ContentType="application/vnd.openxmlformats-officedocument.drawingml.chart+xml"/>
  <Override PartName="/ppt/charts/chart801.xml" ContentType="application/vnd.openxmlformats-officedocument.drawingml.chart+xml"/>
  <Override PartName="/ppt/charts/chart802.xml" ContentType="application/vnd.openxmlformats-officedocument.drawingml.chart+xml"/>
  <Override PartName="/ppt/charts/chart803.xml" ContentType="application/vnd.openxmlformats-officedocument.drawingml.chart+xml"/>
  <Override PartName="/ppt/charts/chartEx901.xml" ContentType="application/vnd.ms-office.chartex+xml"/>
  <Override PartName="/ppt/charts/colors901.xml" ContentType="application/vnd.ms-office.chartcolorstyle+xml"/>
  <Override PartName="/ppt/charts/style901.xml" ContentType="application/vnd.ms-office.chartstyl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16x9"/>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charts/_rels/chart301.xml.rels><?xml version="1.0" encoding="UTF-8" standalone="yes"?>
<Relationships xmlns="http://schemas.openxmlformats.org/package/2006/relationships">
<Relationship Id="rId1" Type="http://schemas.openxmlformats.org/officeDocument/2006/relationships/package" Target="../embeddings/Microsoft_Excel_Sheet301.xlsx"/>
</Relationships>
</file>

<file path=ppt/charts/_rels/chart302.xml.rels><?xml version="1.0" encoding="UTF-8" standalone="yes"?>
<Relationships xmlns="http://schemas.openxmlformats.org/package/2006/relationships">
<Relationship Id="rId1" Type="http://schemas.openxmlformats.org/officeDocument/2006/relationships/package" Target="../embeddings/Microsoft_Excel_Sheet302.xlsx"/>
</Relationships>
</file>

<file path=ppt/charts/_rels/chart401.xml.rels><?xml version="1.0" encoding="UTF-8" standalone="yes"?>
<Relationships xmlns="http://schemas.openxmlformats.org/package/2006/relationships">
<Relationship Id="rId1" Type="http://schemas.openxmlformats.org/officeDocument/2006/relationships/package" Target="../embeddings/Microsoft_Excel_Sheet401.xlsx"/>
</Relationships>
</file>

<file path=ppt/charts/_rels/chart402.xml.rels><?xml version="1.0" encoding="UTF-8" standalone="yes"?>
<Relationships xmlns="http://schemas.openxmlformats.org/package/2006/relationships">
<Relationship Id="rId1" Type="http://schemas.openxmlformats.org/officeDocument/2006/relationships/package" Target="../embeddings/Microsoft_Excel_Sheet402.xlsx"/>
</Relationships>
</file>

<file path=ppt/charts/_rels/chart501.xml.rels><?xml version="1.0" encoding="UTF-8" standalone="yes"?>
<Relationships xmlns="http://schemas.openxmlformats.org/package/2006/relationships">
<Relationship Id="rId1" Type="http://schemas.openxmlformats.org/officeDocument/2006/relationships/package" Target="../embeddings/Microsoft_Excel_Sheet501.xlsx"/>
</Relationships>
</file>

<file path=ppt/charts/_rels/chart502.xml.rels><?xml version="1.0" encoding="UTF-8" standalone="yes"?>
<Relationships xmlns="http://schemas.openxmlformats.org/package/2006/relationships">
<Relationship Id="rId1" Type="http://schemas.openxmlformats.org/officeDocument/2006/relationships/package" Target="../embeddings/Microsoft_Excel_Sheet502.xlsx"/>
</Relationships>
</file>

<file path=ppt/charts/_rels/chart601.xml.rels><?xml version="1.0" encoding="UTF-8" standalone="yes"?>
<Relationships xmlns="http://schemas.openxmlformats.org/package/2006/relationships">
<Relationship Id="rId1" Type="http://schemas.openxmlformats.org/officeDocument/2006/relationships/package" Target="../embeddings/Microsoft_Excel_Sheet601.xlsx"/>
</Relationships>
</file>

<file path=ppt/charts/_rels/chart602.xml.rels><?xml version="1.0" encoding="UTF-8" standalone="yes"?>
<Relationships xmlns="http://schemas.openxmlformats.org/package/2006/relationships">
<Relationship Id="rId1" Type="http://schemas.openxmlformats.org/officeDocument/2006/relationships/package" Target="../embeddings/Microsoft_Excel_Sheet602.xlsx"/>
</Relationships>
</file>

<file path=ppt/charts/_rels/chart701.xml.rels><?xml version="1.0" encoding="UTF-8" standalone="yes"?>
<Relationships xmlns="http://schemas.openxmlformats.org/package/2006/relationships">
<Relationship Id="rId1" Type="http://schemas.openxmlformats.org/officeDocument/2006/relationships/package" Target="../embeddings/Microsoft_Excel_Sheet701.xlsx"/>
</Relationships>
</file>

<file path=ppt/charts/_rels/chart702.xml.rels><?xml version="1.0" encoding="UTF-8" standalone="yes"?>
<Relationships xmlns="http://schemas.openxmlformats.org/package/2006/relationships">
<Relationship Id="rId1" Type="http://schemas.openxmlformats.org/officeDocument/2006/relationships/package" Target="../embeddings/Microsoft_Excel_Sheet702.xlsx"/>
</Relationships>
</file>

<file path=ppt/charts/_rels/chart801.xml.rels><?xml version="1.0" encoding="UTF-8" standalone="yes"?>
<Relationships xmlns="http://schemas.openxmlformats.org/package/2006/relationships">
<Relationship Id="rId1" Type="http://schemas.openxmlformats.org/officeDocument/2006/relationships/package" Target="../embeddings/Microsoft_Excel_Sheet801.xlsx"/>
</Relationships>
</file>

<file path=ppt/charts/_rels/chart802.xml.rels><?xml version="1.0" encoding="UTF-8" standalone="yes"?>
<Relationships xmlns="http://schemas.openxmlformats.org/package/2006/relationships">
<Relationship Id="rId1" Type="http://schemas.openxmlformats.org/officeDocument/2006/relationships/package" Target="../embeddings/Microsoft_Excel_Sheet802.xlsx"/>
</Relationships>
</file>

<file path=ppt/charts/_rels/chart803.xml.rels><?xml version="1.0" encoding="UTF-8" standalone="yes"?>
<Relationships xmlns="http://schemas.openxmlformats.org/package/2006/relationships">
<Relationship Id="rId1" Type="http://schemas.openxmlformats.org/officeDocument/2006/relationships/package" Target="../embeddings/Microsoft_Excel_Sheet803.xlsx"/>
</Relationships>
</file>

<file path=ppt/charts/_rels/chartEx901.xml.rels><?xml version="1.0" encoding="UTF-8" standalone="yes"?>
<Relationships xmlns="http://schemas.openxmlformats.org/package/2006/relationships">
<Relationship Id="rId1" Type="http://schemas.openxmlformats.org/officeDocument/2006/relationships/package" Target="../embeddings/Microsoft_Excel_Sheet901.xlsx"/>
<Relationship Id="rId2" Type="http://schemas.microsoft.com/office/2011/relationships/chartStyle" Target="style901.xml"/>
<Relationship Id="rId3" Type="http://schemas.microsoft.com/office/2011/relationships/chartColorStyle" Target="colors901.xml"/>
</Relationships>
</file>

<file path=ppt/charts/chart3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19801980198"/>
          <c:y val="0.0827067669173"/>
          <c:w val="0.960396039604"/>
          <c:h val="0.781954887218"/>
        </c:manualLayout>
      </c:layout>
      <c:barChart>
        <c:barDir val="col"/>
        <c:grouping val="clustered"/>
        <c:varyColors val="1"/>
        <c:ser>
          <c:idx val="0"/>
          <c:order val="0"/>
          <c:tx>
            <c:strRef>
              <c:f>Sheet1!$B$1</c:f>
              <c:strCache>
                <c:ptCount val="1"/>
                <c:pt idx="0">
                  <c:v>全球电动车销量</c:v>
                </c:pt>
              </c:strCache>
            </c:strRef>
          </c:tx>
          <c:spPr>
            <a:solidFill>
              <a:schemeClr val="accent1"/>
            </a:solidFill>
            <a:ln>
              <a:solidFill>
                <a:schemeClr val="accent1"/>
              </a:solidFill>
            </a:ln>
          </c:spPr>
          <c:invertIfNegative val="0"/>
          <c:dPt>
            <c:idx val="0"/>
            <c:invertIfNegative val="0"/>
            <c:spPr>
              <a:solidFill>
                <a:schemeClr val="accent1"/>
              </a:solidFill>
              <a:ln>
                <a:solidFill>
                  <a:schemeClr val="accent1"/>
                </a:solidFill>
              </a:ln>
            </c:spPr>
          </c:dPt>
          <c:dPt>
            <c:idx val="1"/>
            <c:invertIfNegative val="0"/>
            <c:spPr>
              <a:solidFill>
                <a:schemeClr val="accent1"/>
              </a:solidFill>
              <a:ln>
                <a:solidFill>
                  <a:schemeClr val="accent1"/>
                </a:solidFill>
              </a:ln>
            </c:spPr>
          </c:dPt>
          <c:dPt>
            <c:idx val="2"/>
            <c:invertIfNegative val="0"/>
            <c:spPr>
              <a:solidFill>
                <a:schemeClr val="accent1"/>
              </a:solidFill>
              <a:ln>
                <a:solidFill>
                  <a:schemeClr val="accent1"/>
                </a:solidFill>
              </a:ln>
            </c:spPr>
          </c:dPt>
          <c:dPt>
            <c:idx val="3"/>
            <c:invertIfNegative val="0"/>
            <c:spPr>
              <a:solidFill>
                <a:schemeClr val="accent1"/>
              </a:solidFill>
              <a:ln>
                <a:solidFill>
                  <a:schemeClr val="accent1"/>
                </a:solidFill>
              </a:ln>
            </c:spPr>
          </c:dPt>
          <c:dPt>
            <c:idx val="4"/>
            <c:invertIfNegative val="0"/>
            <c:spPr>
              <a:solidFill>
                <a:schemeClr val="accent1"/>
              </a:solidFill>
              <a:ln>
                <a:solidFill>
                  <a:schemeClr val="accent1"/>
                </a:solidFill>
              </a:ln>
            </c:spPr>
          </c:dPt>
          <c:dPt>
            <c:idx val="5"/>
            <c:invertIfNegative val="0"/>
            <c:spPr>
              <a:solidFill>
                <a:schemeClr val="accent1"/>
              </a:solidFill>
              <a:ln>
                <a:solidFill>
                  <a:schemeClr val="accent1"/>
                </a:solidFill>
              </a:ln>
            </c:spPr>
          </c:dPt>
          <c:dPt>
            <c:idx val="6"/>
            <c:invertIfNegative val="0"/>
            <c:spPr>
              <a:solidFill>
                <a:schemeClr val="accent1"/>
              </a:solidFill>
              <a:ln>
                <a:solidFill>
                  <a:schemeClr val="accent1"/>
                </a:solidFill>
              </a:ln>
            </c:spPr>
          </c:dPt>
          <c:dPt>
            <c:idx val="7"/>
            <c:invertIfNegative val="0"/>
            <c:spPr>
              <a:solidFill>
                <a:schemeClr val="accent1"/>
              </a:solidFill>
              <a:ln>
                <a:solidFill>
                  <a:schemeClr val="accent1"/>
                </a:solidFill>
              </a:ln>
            </c:spPr>
          </c:dPt>
          <c:dPt>
            <c:idx val="8"/>
            <c:invertIfNegative val="0"/>
            <c:spPr>
              <a:solidFill>
                <a:schemeClr val="accent1"/>
              </a:solidFill>
              <a:ln>
                <a:solidFill>
                  <a:schemeClr val="accent1"/>
                </a:solidFill>
              </a:ln>
            </c:spPr>
          </c:dPt>
          <c:dPt>
            <c:idx val="9"/>
            <c:invertIfNegative val="0"/>
            <c:spPr>
              <a:solidFill>
                <a:schemeClr val="accent1"/>
              </a:solidFill>
              <a:ln>
                <a:solidFill>
                  <a:schemeClr val="accent1"/>
                </a:solidFill>
              </a:ln>
            </c:spPr>
          </c:dPt>
          <c:dPt>
            <c:idx val="10"/>
            <c:invertIfNegative val="0"/>
            <c:spPr>
              <a:solidFill>
                <a:schemeClr val="accent2"/>
              </a:solidFill>
              <a:ln>
                <a:solidFill>
                  <a:schemeClr val="accent2"/>
                </a:solidFill>
              </a:ln>
            </c:spPr>
          </c:dPt>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0">
                  <c:v>0.53</c:v>
                </c:pt>
                <c:pt idx="1">
                  <c:v>0.78</c:v>
                </c:pt>
                <c:pt idx="2">
                  <c:v>1.2</c:v>
                </c:pt>
                <c:pt idx="3">
                  <c:v>2</c:v>
                </c:pt>
                <c:pt idx="4">
                  <c:v>2.1</c:v>
                </c:pt>
                <c:pt idx="5">
                  <c:v>3</c:v>
                </c:pt>
                <c:pt idx="6">
                  <c:v>6.6</c:v>
                </c:pt>
                <c:pt idx="7">
                  <c:v>10</c:v>
                </c:pt>
                <c:pt idx="8">
                  <c:v>14</c:v>
                </c:pt>
                <c:pt idx="9">
                  <c:v>17</c:v>
                </c:pt>
                <c:pt idx="10">
                  <c:v>21</c:v>
                </c:pt>
              </c:numCache>
            </c:numRef>
          </c:val>
        </c:ser>
        <c:dLbls>
          <c:numFmt formatCode="0.0" sourceLinked="0"/>
          <c:txPr>
            <a:bodyPr/>
            <a:lstStyle/>
            <a:p>
              <a:pPr>
                <a:defRPr lang="zh-CN" sz="820">
                  <a:solidFill>
                    <a:schemeClr val="accent1"/>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43"/>
        <c:axId val="2068027336"/>
        <c:axId val="2113994440"/>
      </c:barChart>
      <c:catAx>
        <c:axId val="2068027336"/>
        <c:scaling>
          <c:orientation val="minMax"/>
        </c:scaling>
        <c:delete val="0"/>
        <c:axPos val="b"/>
        <c:majorTickMark val="none"/>
        <c:minorTickMark val="none"/>
        <c:tickLblPos val="nextTo"/>
        <c:spPr>
          <a:ln w="9525" cap="flat" cmpd="sng" algn="ctr">
            <a:solidFill>
              <a:srgbClr val="B7B7B7"/>
            </a:solidFill>
            <a:round/>
          </a:ln>
        </c:spPr>
        <c:txPr>
          <a:bodyPr/>
          <a:lstStyle/>
          <a:p>
            <a:pPr>
              <a:defRPr lang="zh-CN" sz="820">
                <a:solidFill>
                  <a:srgbClr val="7F7F7F"/>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26"/>
          <c:min val="0"/>
        </c:scaling>
        <c:delete val="1"/>
        <c:axPos val="l"/>
        <c:majorTickMark val="none"/>
        <c:minorTickMark val="none"/>
        <c:tickLblPos val="none"/>
        <c:spPr>
          <a:ln w="9525" cap="flat" cmpd="sng" algn="ctr">
            <a:solidFill>
              <a:srgbClr val="B7B7B7"/>
            </a:solidFill>
            <a:round/>
          </a:ln>
        </c:spPr>
        <c:txPr>
          <a:bodyPr/>
          <a:lstStyle/>
          <a:p>
            <a:pPr>
              <a:defRPr lang="zh-CN" sz="820">
                <a:solidFill>
                  <a:schemeClr val="accent1"/>
                </a:solidFill>
                <a:latin typeface="Microsoft YaHei"/>
                <a:ea typeface="Microsoft YaHei"/>
                <a:cs typeface="Microsoft YaHei"/>
              </a:defRPr>
            </a:pPr>
            <a:endParaRPr lang="zh-CN"/>
          </a:p>
        </c:txPr>
        <c:crossAx val="2068027336"/>
        <c:crosses val="autoZero"/>
        <c:crossBetween val="between"/>
      </c:valAx>
      <c:spPr>
        <a:solidFill>
          <a:srgbClr val="FFFFFF"/>
        </a:solidFill>
        <a:ln>
          <a:noFill/>
        </a:ln>
      </c:spPr>
    </c:plotArea>
    <c:plotVisOnly val="1"/>
    <c:dispBlanksAs val="gap"/>
  </c:chart>
  <c:spPr>
    <a:solidFill>
      <a:srgbClr val="FFFFFF"/>
    </a:solidFill>
    <a:ln>
      <a:noFill/>
    </a:ln>
  </c:spPr>
  <c:txPr>
    <a:bodyPr/>
    <a:lstStyle/>
    <a:p>
      <a:pPr>
        <a:defRPr lang="zh-CN" sz="820">
          <a:solidFill>
            <a:schemeClr val="accent1"/>
          </a:solidFill>
          <a:latin typeface="Microsoft YaHei"/>
          <a:ea typeface="Microsoft YaHei"/>
          <a:cs typeface="Microsoft YaHei"/>
        </a:defRPr>
      </a:pPr>
      <a:endParaRPr lang="zh-CN"/>
    </a:p>
  </c:txPr>
  <c:externalData r:id="rId1">
    <c:autoUpdate val="0"/>
  </c:externalData>
</c:chartSpace>
</file>

<file path=ppt/charts/chart302.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194174757282"/>
          <c:y val="0.0827067669173"/>
          <c:w val="0.830097087379"/>
          <c:h val="0.781954887218"/>
        </c:manualLayout>
      </c:layout>
      <c:lineChart>
        <c:grouping val="standard"/>
        <c:varyColors val="0"/>
        <c:ser>
          <c:idx val="0"/>
          <c:order val="0"/>
          <c:tx>
            <c:strRef>
              <c:f>Sheet1!$B$1</c:f>
              <c:strCache>
                <c:ptCount val="1"/>
                <c:pt idx="0">
                  <c:v>全球</c:v>
                </c:pt>
              </c:strCache>
            </c:strRef>
          </c:tx>
          <c:spPr>
            <a:solidFill>
              <a:schemeClr val="accent2"/>
            </a:solidFill>
            <a:ln w="19050">
              <a:solidFill>
                <a:schemeClr val="accent2"/>
              </a:solidFill>
            </a:ln>
          </c:spPr>
          <c:marker>
            <c:symbol val="circle"/>
            <c:size val="4"/>
            <c:spPr>
              <a:solidFill>
                <a:schemeClr val="accent2"/>
              </a:solidFill>
              <a:ln>
                <a:solidFill>
                  <a:schemeClr val="accent2"/>
                </a:solidFill>
              </a:ln>
            </c:spPr>
          </c:marker>
          <c:cat>
            <c:strRef>
              <c:f>Sheet1!$A$2:$A$12</c:f>
              <c:strCache>
                <c:ptCount val="11"/>
                <c:pt idx="0">
                  <c:v>2015</c:v>
                </c:pt>
                <c:pt idx="1">
                  <c:v>2016</c:v>
                </c:pt>
                <c:pt idx="2">
                  <c:v>2017</c:v>
                </c:pt>
                <c:pt idx="3">
                  <c:v>2018</c:v>
                </c:pt>
                <c:pt idx="4">
                  <c:v>2019</c:v>
                </c:pt>
                <c:pt idx="5">
                  <c:v>2020</c:v>
                </c:pt>
                <c:pt idx="6">
                  <c:v>2021</c:v>
                </c:pt>
                <c:pt idx="7">
                  <c:v>2022</c:v>
                </c:pt>
                <c:pt idx="8">
                  <c:v>2023</c:v>
                </c:pt>
                <c:pt idx="9">
                  <c:v>2024</c:v>
                </c:pt>
                <c:pt idx="10">
                  <c:v>2025</c:v>
                </c:pt>
              </c:strCache>
            </c:strRef>
          </c:cat>
          <c:val>
            <c:numRef>
              <c:f>Sheet1!$B$2:$B$12</c:f>
              <c:numCache>
                <c:formatCode>General</c:formatCode>
                <c:ptCount val="11"/>
                <c:pt idx="0">
                  <c:v>0.7</c:v>
                </c:pt>
                <c:pt idx="1">
                  <c:v>0.9</c:v>
                </c:pt>
                <c:pt idx="2">
                  <c:v>1.4</c:v>
                </c:pt>
                <c:pt idx="3">
                  <c:v>2.5</c:v>
                </c:pt>
                <c:pt idx="4">
                  <c:v>2.7</c:v>
                </c:pt>
                <c:pt idx="5">
                  <c:v>4.4</c:v>
                </c:pt>
                <c:pt idx="6">
                  <c:v>9.3</c:v>
                </c:pt>
                <c:pt idx="7">
                  <c:v>15</c:v>
                </c:pt>
                <c:pt idx="8">
                  <c:v>18</c:v>
                </c:pt>
                <c:pt idx="9">
                  <c:v>21</c:v>
                </c:pt>
                <c:pt idx="10">
                  <c:v>25</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B7B7B7"/>
            </a:solidFill>
            <a:round/>
          </a:ln>
        </c:spPr>
        <c:txPr>
          <a:bodyPr/>
          <a:lstStyle/>
          <a:p>
            <a:pPr>
              <a:defRPr lang="zh-CN" sz="820">
                <a:solidFill>
                  <a:srgbClr val="7F7F7F"/>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30"/>
          <c:min val="0"/>
        </c:scaling>
        <c:delete val="1"/>
        <c:axPos val="l"/>
        <c:majorTickMark val="none"/>
        <c:minorTickMark val="none"/>
        <c:tickLblPos val="none"/>
        <c:spPr>
          <a:ln w="9525" cap="flat" cmpd="sng" algn="ctr">
            <a:solidFill>
              <a:srgbClr val="B7B7B7"/>
            </a:solidFill>
            <a:round/>
          </a:ln>
        </c:spPr>
        <c:txPr>
          <a:bodyPr/>
          <a:lstStyle/>
          <a:p>
            <a:pPr>
              <a:defRPr lang="zh-CN" sz="820">
                <a:solidFill>
                  <a:srgbClr val="7F7F7F"/>
                </a:solidFill>
                <a:latin typeface="Microsoft YaHei"/>
                <a:ea typeface="Microsoft YaHei"/>
                <a:cs typeface="Microsoft YaHei"/>
              </a:defRPr>
            </a:pPr>
            <a:endParaRPr lang="zh-CN"/>
          </a:p>
        </c:txPr>
        <c:crossAx val="2068027336"/>
        <c:crosses val="autoZero"/>
        <c:crossBetween val="between"/>
      </c:valAx>
      <c:spPr>
        <a:solidFill>
          <a:srgbClr val="FFFFFF"/>
        </a:solidFill>
        <a:ln>
          <a:noFill/>
        </a:ln>
      </c:spPr>
    </c:plotArea>
    <c:plotVisOnly val="1"/>
    <c:dispBlanksAs val="gap"/>
  </c:chart>
  <c:spPr>
    <a:solidFill>
      <a:srgbClr val="FFFFFF"/>
    </a:solidFill>
    <a:ln>
      <a:noFill/>
    </a:ln>
  </c:spPr>
  <c:txPr>
    <a:bodyPr/>
    <a:lstStyle/>
    <a:p>
      <a:pPr>
        <a:defRPr lang="zh-CN" sz="820">
          <a:solidFill>
            <a:srgbClr val="7F7F7F"/>
          </a:solidFill>
          <a:latin typeface="Microsoft YaHei"/>
          <a:ea typeface="Microsoft YaHei"/>
          <a:cs typeface="Microsoft YaHei"/>
        </a:defRPr>
      </a:pPr>
      <a:endParaRPr lang="zh-CN"/>
    </a:p>
  </c:txPr>
  <c:externalData r:id="rId1">
    <c:autoUpdate val="0"/>
  </c:externalData>
</c:chartSpace>
</file>

<file path=ppt/charts/chart4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19801980198"/>
          <c:y val="0.0827067669173"/>
          <c:w val="0.960396039604"/>
          <c:h val="0.781954887218"/>
        </c:manualLayout>
      </c:layout>
      <c:barChart>
        <c:barDir val="col"/>
        <c:grouping val="stacked"/>
        <c:varyColors val="0"/>
        <c:ser>
          <c:idx val="0"/>
          <c:order val="0"/>
          <c:tx>
            <c:strRef>
              <c:f>Sheet1!$B$1</c:f>
              <c:strCache>
                <c:ptCount val="1"/>
                <c:pt idx="0">
                  <c:v>中国</c:v>
                </c:pt>
              </c:strCache>
            </c:strRef>
          </c:tx>
          <c:spPr>
            <a:solidFill>
              <a:schemeClr val="accent1"/>
            </a:solidFill>
            <a:ln>
              <a:solidFill>
                <a:schemeClr val="accent1"/>
              </a:solidFill>
            </a:ln>
          </c:spPr>
          <c:invertIfNegative val="0"/>
          <c:cat>
            <c:strRef>
              <c:f>Sheet1!$A$2:$A$7</c:f>
              <c:strCache>
                <c:ptCount val="6"/>
                <c:pt idx="0">
                  <c:v>2020</c:v>
                </c:pt>
                <c:pt idx="1">
                  <c:v>2021</c:v>
                </c:pt>
                <c:pt idx="2">
                  <c:v>2022</c:v>
                </c:pt>
                <c:pt idx="3">
                  <c:v>2023</c:v>
                </c:pt>
                <c:pt idx="4">
                  <c:v>2024</c:v>
                </c:pt>
                <c:pt idx="5">
                  <c:v>2025</c:v>
                </c:pt>
              </c:strCache>
            </c:strRef>
          </c:cat>
          <c:val>
            <c:numRef>
              <c:f>Sheet1!$B$2:$B$7</c:f>
              <c:numCache>
                <c:formatCode>General</c:formatCode>
                <c:ptCount val="6"/>
                <c:pt idx="0">
                  <c:v>1.1</c:v>
                </c:pt>
                <c:pt idx="1">
                  <c:v>3.3</c:v>
                </c:pt>
                <c:pt idx="2">
                  <c:v>6</c:v>
                </c:pt>
                <c:pt idx="3">
                  <c:v>8.1</c:v>
                </c:pt>
                <c:pt idx="4">
                  <c:v>11</c:v>
                </c:pt>
                <c:pt idx="5">
                  <c:v>13</c:v>
                </c:pt>
              </c:numCache>
            </c:numRef>
          </c:val>
        </c:ser>
        <c:ser>
          <c:idx val="1"/>
          <c:order val="1"/>
          <c:tx>
            <c:strRef>
              <c:f>Sheet1!$C$1</c:f>
              <c:strCache>
                <c:ptCount val="1"/>
                <c:pt idx="0">
                  <c:v>欧洲</c:v>
                </c:pt>
              </c:strCache>
            </c:strRef>
          </c:tx>
          <c:spPr>
            <a:solidFill>
              <a:schemeClr val="accent3"/>
            </a:solidFill>
            <a:ln>
              <a:solidFill>
                <a:schemeClr val="accent3"/>
              </a:solidFill>
            </a:ln>
          </c:spPr>
          <c:invertIfNegative val="0"/>
          <c:cat>
            <c:strRef>
              <c:f>Sheet1!$A$2:$A$7</c:f>
              <c:strCache>
                <c:ptCount val="6"/>
                <c:pt idx="0">
                  <c:v>2020</c:v>
                </c:pt>
                <c:pt idx="1">
                  <c:v>2021</c:v>
                </c:pt>
                <c:pt idx="2">
                  <c:v>2022</c:v>
                </c:pt>
                <c:pt idx="3">
                  <c:v>2023</c:v>
                </c:pt>
                <c:pt idx="4">
                  <c:v>2024</c:v>
                </c:pt>
                <c:pt idx="5">
                  <c:v>2025</c:v>
                </c:pt>
              </c:strCache>
            </c:strRef>
          </c:cat>
          <c:val>
            <c:numRef>
              <c:f>Sheet1!$C$2:$C$7</c:f>
              <c:numCache>
                <c:formatCode>General</c:formatCode>
                <c:ptCount val="6"/>
                <c:pt idx="0">
                  <c:v>1.4</c:v>
                </c:pt>
                <c:pt idx="1">
                  <c:v>2.3</c:v>
                </c:pt>
                <c:pt idx="2">
                  <c:v>2.7</c:v>
                </c:pt>
                <c:pt idx="3">
                  <c:v>3.2</c:v>
                </c:pt>
                <c:pt idx="4">
                  <c:v>3.2</c:v>
                </c:pt>
                <c:pt idx="5">
                  <c:v>4.2</c:v>
                </c:pt>
              </c:numCache>
            </c:numRef>
          </c:val>
        </c:ser>
        <c:ser>
          <c:idx val="2"/>
          <c:order val="2"/>
          <c:tx>
            <c:strRef>
              <c:f>Sheet1!$D$1</c:f>
              <c:strCache>
                <c:ptCount val="1"/>
                <c:pt idx="0">
                  <c:v>美国</c:v>
                </c:pt>
              </c:strCache>
            </c:strRef>
          </c:tx>
          <c:spPr>
            <a:solidFill>
              <a:srgbClr val="B7B7B7"/>
            </a:solidFill>
            <a:ln>
              <a:solidFill>
                <a:srgbClr val="B7B7B7"/>
              </a:solidFill>
            </a:ln>
          </c:spPr>
          <c:invertIfNegative val="0"/>
          <c:cat>
            <c:strRef>
              <c:f>Sheet1!$A$2:$A$7</c:f>
              <c:strCache>
                <c:ptCount val="6"/>
                <c:pt idx="0">
                  <c:v>2020</c:v>
                </c:pt>
                <c:pt idx="1">
                  <c:v>2021</c:v>
                </c:pt>
                <c:pt idx="2">
                  <c:v>2022</c:v>
                </c:pt>
                <c:pt idx="3">
                  <c:v>2023</c:v>
                </c:pt>
                <c:pt idx="4">
                  <c:v>2024</c:v>
                </c:pt>
                <c:pt idx="5">
                  <c:v>2025</c:v>
                </c:pt>
              </c:strCache>
            </c:strRef>
          </c:cat>
          <c:val>
            <c:numRef>
              <c:f>Sheet1!$D$2:$D$7</c:f>
              <c:numCache>
                <c:formatCode>General</c:formatCode>
                <c:ptCount val="6"/>
                <c:pt idx="0">
                  <c:v>0.3</c:v>
                </c:pt>
                <c:pt idx="1">
                  <c:v>0.63</c:v>
                </c:pt>
                <c:pt idx="2">
                  <c:v>0.99</c:v>
                </c:pt>
                <c:pt idx="3">
                  <c:v>1.4</c:v>
                </c:pt>
                <c:pt idx="4">
                  <c:v>1.6</c:v>
                </c:pt>
                <c:pt idx="5">
                  <c:v>1.5</c:v>
                </c:pt>
              </c:numCache>
            </c:numRef>
          </c:val>
        </c:ser>
        <c:ser>
          <c:idx val="3"/>
          <c:order val="3"/>
          <c:tx>
            <c:strRef>
              <c:f>Sheet1!$E$1</c:f>
              <c:strCache>
                <c:ptCount val="1"/>
                <c:pt idx="0">
                  <c:v>其他市场</c:v>
                </c:pt>
              </c:strCache>
            </c:strRef>
          </c:tx>
          <c:spPr>
            <a:solidFill>
              <a:schemeClr val="accent2"/>
            </a:solidFill>
            <a:ln>
              <a:solidFill>
                <a:schemeClr val="accent2"/>
              </a:solidFill>
            </a:ln>
          </c:spPr>
          <c:invertIfNegative val="0"/>
          <c:cat>
            <c:strRef>
              <c:f>Sheet1!$A$2:$A$7</c:f>
              <c:strCache>
                <c:ptCount val="6"/>
                <c:pt idx="0">
                  <c:v>2020</c:v>
                </c:pt>
                <c:pt idx="1">
                  <c:v>2021</c:v>
                </c:pt>
                <c:pt idx="2">
                  <c:v>2022</c:v>
                </c:pt>
                <c:pt idx="3">
                  <c:v>2023</c:v>
                </c:pt>
                <c:pt idx="4">
                  <c:v>2024</c:v>
                </c:pt>
                <c:pt idx="5">
                  <c:v>2025</c:v>
                </c:pt>
              </c:strCache>
            </c:strRef>
          </c:cat>
          <c:val>
            <c:numRef>
              <c:f>Sheet1!$E$2:$E$7</c:f>
              <c:numCache>
                <c:formatCode>General</c:formatCode>
                <c:ptCount val="6"/>
                <c:pt idx="0">
                  <c:v>0.2</c:v>
                </c:pt>
                <c:pt idx="1">
                  <c:v>0.37</c:v>
                </c:pt>
                <c:pt idx="2">
                  <c:v>0.31</c:v>
                </c:pt>
                <c:pt idx="3">
                  <c:v>1.3</c:v>
                </c:pt>
                <c:pt idx="4">
                  <c:v>1.2</c:v>
                </c:pt>
                <c:pt idx="5">
                  <c:v>2.3</c:v>
                </c:pt>
              </c:numCache>
            </c:numRef>
          </c:val>
        </c:ser>
        <c:gapWidth val="80"/>
        <c:overlap val="100"/>
        <c:axId val="2068027336"/>
        <c:axId val="2113994440"/>
      </c:barChart>
      <c:catAx>
        <c:axId val="2068027336"/>
        <c:scaling>
          <c:orientation val="minMax"/>
        </c:scaling>
        <c:delete val="0"/>
        <c:axPos val="b"/>
        <c:majorTickMark val="none"/>
        <c:minorTickMark val="none"/>
        <c:tickLblPos val="nextTo"/>
        <c:spPr>
          <a:ln w="9525" cap="flat" cmpd="sng" algn="ctr">
            <a:solidFill>
              <a:srgbClr val="B7B7B7"/>
            </a:solidFill>
            <a:round/>
          </a:ln>
        </c:spPr>
        <c:txPr>
          <a:bodyPr/>
          <a:lstStyle/>
          <a:p>
            <a:pPr>
              <a:defRPr lang="zh-CN" sz="820">
                <a:solidFill>
                  <a:srgbClr val="7F7F7F"/>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26"/>
          <c:min val="0"/>
        </c:scaling>
        <c:delete val="1"/>
        <c:axPos val="l"/>
        <c:majorTickMark val="none"/>
        <c:minorTickMark val="none"/>
        <c:tickLblPos val="none"/>
        <c:spPr>
          <a:ln w="9525" cap="flat" cmpd="sng" algn="ctr">
            <a:solidFill>
              <a:srgbClr val="B7B7B7"/>
            </a:solidFill>
            <a:round/>
          </a:ln>
        </c:spPr>
        <c:txPr>
          <a:bodyPr/>
          <a:lstStyle/>
          <a:p>
            <a:pPr>
              <a:defRPr lang="zh-CN" sz="820">
                <a:solidFill>
                  <a:schemeClr val="accent1"/>
                </a:solidFill>
                <a:latin typeface="Microsoft YaHei"/>
                <a:ea typeface="Microsoft YaHei"/>
                <a:cs typeface="Microsoft YaHei"/>
              </a:defRPr>
            </a:pPr>
            <a:endParaRPr lang="zh-CN"/>
          </a:p>
        </c:txPr>
        <c:crossAx val="2068027336"/>
        <c:crosses val="autoZero"/>
        <c:crossBetween val="between"/>
      </c:valAx>
      <c:spPr>
        <a:solidFill>
          <a:srgbClr val="FFFFFF"/>
        </a:solidFill>
        <a:ln>
          <a:noFill/>
        </a:ln>
      </c:spPr>
    </c:plotArea>
    <c:legend>
      <c:legendPos val="b"/>
      <c:layout/>
      <c:overlay val="0"/>
      <c:txPr>
        <a:bodyPr/>
        <a:lstStyle/>
        <a:p>
          <a:pPr>
            <a:defRPr lang="zh-CN" sz="820">
              <a:solidFill>
                <a:schemeClr val="accent1"/>
              </a:solidFill>
              <a:latin typeface="Microsoft YaHei"/>
              <a:ea typeface="Microsoft YaHei"/>
              <a:cs typeface="Microsoft YaHei"/>
            </a:defRPr>
          </a:pPr>
          <a:endParaRPr lang="zh-CN"/>
        </a:p>
      </c:txPr>
    </c:legend>
    <c:plotVisOnly val="1"/>
    <c:dispBlanksAs val="gap"/>
  </c:chart>
  <c:spPr>
    <a:solidFill>
      <a:srgbClr val="FFFFFF"/>
    </a:solidFill>
    <a:ln>
      <a:noFill/>
    </a:ln>
  </c:spPr>
  <c:txPr>
    <a:bodyPr/>
    <a:lstStyle/>
    <a:p>
      <a:pPr>
        <a:defRPr lang="zh-CN" sz="820">
          <a:solidFill>
            <a:schemeClr val="accent1"/>
          </a:solidFill>
          <a:latin typeface="Microsoft YaHei"/>
          <a:ea typeface="Microsoft YaHei"/>
          <a:cs typeface="Microsoft YaHei"/>
        </a:defRPr>
      </a:pPr>
      <a:endParaRPr lang="zh-CN"/>
    </a:p>
  </c:txPr>
  <c:externalData r:id="rId1">
    <c:autoUpdate val="0"/>
  </c:externalData>
</c:chartSpace>
</file>

<file path=ppt/charts/chart402.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69902912621"/>
          <c:y val="0.0803571428571"/>
          <c:w val="0.611650485437"/>
          <c:h val="0.866071428571"/>
        </c:manualLayout>
      </c:layout>
      <c:barChart>
        <c:barDir val="bar"/>
        <c:grouping val="clustered"/>
        <c:varyColors val="1"/>
        <c:ser>
          <c:idx val="0"/>
          <c:order val="0"/>
          <c:tx>
            <c:strRef>
              <c:f>Sheet1!$B$1</c:f>
              <c:strCache>
                <c:ptCount val="1"/>
                <c:pt idx="0">
                  <c:v>值</c:v>
                </c:pt>
              </c:strCache>
            </c:strRef>
          </c:tx>
          <c:spPr>
            <a:solidFill>
              <a:schemeClr val="accent1"/>
            </a:solidFill>
            <a:ln>
              <a:solidFill>
                <a:schemeClr val="accent1"/>
              </a:solidFill>
            </a:ln>
          </c:spPr>
          <c:invertIfNegative val="0"/>
          <c:dPt>
            <c:idx val="0"/>
            <c:invertIfNegative val="0"/>
            <c:spPr>
              <a:solidFill>
                <a:schemeClr val="accent1"/>
              </a:solidFill>
              <a:ln>
                <a:solidFill>
                  <a:schemeClr val="accent1"/>
                </a:solidFill>
              </a:ln>
            </c:spPr>
          </c:dPt>
          <c:dPt>
            <c:idx val="1"/>
            <c:invertIfNegative val="0"/>
            <c:spPr>
              <a:solidFill>
                <a:schemeClr val="accent2"/>
              </a:solidFill>
              <a:ln>
                <a:solidFill>
                  <a:schemeClr val="accent2"/>
                </a:solidFill>
              </a:ln>
            </c:spPr>
          </c:dPt>
          <c:dPt>
            <c:idx val="2"/>
            <c:invertIfNegative val="0"/>
            <c:spPr>
              <a:solidFill>
                <a:schemeClr val="accent3"/>
              </a:solidFill>
              <a:ln>
                <a:solidFill>
                  <a:schemeClr val="accent3"/>
                </a:solidFill>
              </a:ln>
            </c:spPr>
          </c:dPt>
          <c:dPt>
            <c:idx val="3"/>
            <c:invertIfNegative val="0"/>
            <c:spPr>
              <a:solidFill>
                <a:srgbClr val="B3261E"/>
              </a:solidFill>
              <a:ln>
                <a:solidFill>
                  <a:srgbClr val="B3261E"/>
                </a:solidFill>
              </a:ln>
            </c:spPr>
          </c:dPt>
          <c:cat>
            <c:strRef>
              <c:f>Sheet1!$A$2:$A$5</c:f>
              <c:strCache>
                <c:ptCount val="4"/>
                <c:pt idx="0">
                  <c:v>中国</c:v>
                </c:pt>
                <c:pt idx="1">
                  <c:v>其他市场</c:v>
                </c:pt>
                <c:pt idx="2">
                  <c:v>欧洲</c:v>
                </c:pt>
                <c:pt idx="3">
                  <c:v>美国</c:v>
                </c:pt>
              </c:strCache>
            </c:strRef>
          </c:cat>
          <c:val>
            <c:numRef>
              <c:f>Sheet1!$B$2:$B$5</c:f>
              <c:numCache>
                <c:formatCode>General</c:formatCode>
                <c:ptCount val="4"/>
                <c:pt idx="0">
                  <c:v>2</c:v>
                </c:pt>
                <c:pt idx="1">
                  <c:v>1.1</c:v>
                </c:pt>
                <c:pt idx="2">
                  <c:v>1</c:v>
                </c:pt>
                <c:pt idx="3">
                  <c:v>-0.1</c:v>
                </c:pt>
              </c:numCache>
            </c:numRef>
          </c:val>
        </c:ser>
        <c:dLbls>
          <c:numFmt formatCode="0.0" sourceLinked="0"/>
          <c:txPr>
            <a:bodyPr/>
            <a:lstStyle/>
            <a:p>
              <a:pPr>
                <a:defRPr lang="zh-CN" sz="820" b="1">
                  <a:solidFill>
                    <a:schemeClr val="accent1"/>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120"/>
        <c:axId val="2068027336"/>
        <c:axId val="2113994440"/>
      </c:barChart>
      <c:catAx>
        <c:axId val="2068027336"/>
        <c:scaling>
          <c:orientation val="maxMin"/>
        </c:scaling>
        <c:delete val="0"/>
        <c:axPos val="l"/>
        <c:majorTickMark val="none"/>
        <c:minorTickMark val="none"/>
        <c:tickLblPos val="nextTo"/>
        <c:spPr>
          <a:ln w="9525" cap="flat" cmpd="sng" algn="ctr">
            <a:solidFill>
              <a:srgbClr val="B7B7B7"/>
            </a:solidFill>
            <a:round/>
          </a:ln>
        </c:spPr>
        <c:txPr>
          <a:bodyPr/>
          <a:lstStyle/>
          <a:p>
            <a:pPr>
              <a:defRPr lang="zh-CN" sz="820">
                <a:solidFill>
                  <a:srgbClr val="333333"/>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2.4"/>
          <c:min val="-0.10500000000000001"/>
        </c:scaling>
        <c:delete val="1"/>
        <c:axPos val="b"/>
        <c:majorTickMark val="none"/>
        <c:minorTickMark val="none"/>
        <c:tickLblPos val="none"/>
        <c:spPr>
          <a:ln w="9525" cap="flat" cmpd="sng" algn="ctr">
            <a:solidFill>
              <a:srgbClr val="B7B7B7"/>
            </a:solidFill>
            <a:round/>
          </a:ln>
        </c:spPr>
        <c:txPr>
          <a:bodyPr/>
          <a:lstStyle/>
          <a:p>
            <a:pPr>
              <a:defRPr lang="zh-CN" sz="820">
                <a:solidFill>
                  <a:srgbClr val="333333"/>
                </a:solidFill>
                <a:latin typeface="Microsoft YaHei"/>
                <a:ea typeface="Microsoft YaHei"/>
                <a:cs typeface="Microsoft YaHei"/>
              </a:defRPr>
            </a:pPr>
            <a:endParaRPr lang="zh-CN"/>
          </a:p>
        </c:txPr>
        <c:crossAx val="2068027336"/>
        <c:crosses val="max"/>
        <c:crossBetween val="between"/>
      </c:valAx>
      <c:spPr>
        <a:solidFill>
          <a:srgbClr val="FFFFFF"/>
        </a:solidFill>
        <a:ln>
          <a:noFill/>
        </a:ln>
      </c:spPr>
    </c:plotArea>
    <c:plotVisOnly val="1"/>
    <c:dispBlanksAs val="gap"/>
  </c:chart>
  <c:spPr>
    <a:solidFill>
      <a:srgbClr val="FFFFFF"/>
    </a:solidFill>
    <a:ln>
      <a:noFill/>
    </a:ln>
  </c:spPr>
  <c:txPr>
    <a:bodyPr/>
    <a:lstStyle/>
    <a:p>
      <a:pPr>
        <a:defRPr lang="zh-CN" sz="820">
          <a:solidFill>
            <a:srgbClr val="333333"/>
          </a:solidFill>
          <a:latin typeface="Microsoft YaHei"/>
          <a:ea typeface="Microsoft YaHei"/>
          <a:cs typeface="Microsoft YaHei"/>
        </a:defRPr>
      </a:pPr>
      <a:endParaRPr lang="zh-CN"/>
    </a:p>
  </c:txPr>
  <c:externalData r:id="rId1">
    <c:autoUpdate val="0"/>
  </c:externalData>
</c:chartSpace>
</file>

<file path=ppt/charts/chart5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19801980198"/>
          <c:y val="0.0827067669173"/>
          <c:w val="0.826732673267"/>
          <c:h val="0.781954887218"/>
        </c:manualLayout>
      </c:layout>
      <c:lineChart>
        <c:grouping val="standard"/>
        <c:varyColors val="0"/>
        <c:ser>
          <c:idx val="0"/>
          <c:order val="0"/>
          <c:tx>
            <c:strRef>
              <c:f>Sheet1!$B$1</c:f>
              <c:strCache>
                <c:ptCount val="1"/>
                <c:pt idx="0">
                  <c:v>欧洲</c:v>
                </c:pt>
              </c:strCache>
            </c:strRef>
          </c:tx>
          <c:spPr>
            <a:solidFill>
              <a:schemeClr val="accent3"/>
            </a:solidFill>
            <a:ln w="19050">
              <a:solidFill>
                <a:schemeClr val="accent3"/>
              </a:solidFill>
            </a:ln>
          </c:spPr>
          <c:marker>
            <c:symbol val="circle"/>
            <c:size val="4"/>
            <c:spPr>
              <a:solidFill>
                <a:schemeClr val="accent3"/>
              </a:solidFill>
              <a:ln>
                <a:solidFill>
                  <a:schemeClr val="accent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3.4</c:v>
                </c:pt>
                <c:pt idx="1">
                  <c:v>10</c:v>
                </c:pt>
                <c:pt idx="2">
                  <c:v>17</c:v>
                </c:pt>
                <c:pt idx="3">
                  <c:v>21</c:v>
                </c:pt>
                <c:pt idx="4">
                  <c:v>22</c:v>
                </c:pt>
                <c:pt idx="5">
                  <c:v>21</c:v>
                </c:pt>
                <c:pt idx="6">
                  <c:v>28</c:v>
                </c:pt>
              </c:numCache>
            </c:numRef>
          </c:val>
          <c:smooth val="0"/>
        </c:ser>
        <c:ser>
          <c:idx val="1"/>
          <c:order val="1"/>
          <c:tx>
            <c:strRef>
              <c:f>Sheet1!$C$1</c:f>
              <c:strCache>
                <c:ptCount val="1"/>
                <c:pt idx="0">
                  <c:v>美国</c:v>
                </c:pt>
              </c:strCache>
            </c:strRef>
          </c:tx>
          <c:spPr>
            <a:solidFill>
              <a:srgbClr val="B3261E"/>
            </a:solidFill>
            <a:ln w="19050">
              <a:solidFill>
                <a:srgbClr val="B3261E"/>
              </a:solidFill>
            </a:ln>
          </c:spPr>
          <c:marker>
            <c:symbol val="circle"/>
            <c:size val="4"/>
            <c:spPr>
              <a:solidFill>
                <a:srgbClr val="B3261E"/>
              </a:solidFill>
              <a:ln>
                <a:solidFill>
                  <a:srgbClr val="B3261E"/>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2.1</c:v>
                </c:pt>
                <c:pt idx="1">
                  <c:v>2.3</c:v>
                </c:pt>
                <c:pt idx="2">
                  <c:v>4.7</c:v>
                </c:pt>
                <c:pt idx="3">
                  <c:v>7.7</c:v>
                </c:pt>
                <c:pt idx="4">
                  <c:v>9.7</c:v>
                </c:pt>
                <c:pt idx="5">
                  <c:v>10</c:v>
                </c:pt>
                <c:pt idx="6">
                  <c:v>10</c:v>
                </c:pt>
              </c:numCache>
            </c:numRef>
          </c:val>
          <c:smooth val="0"/>
        </c:ser>
        <c:ser>
          <c:idx val="2"/>
          <c:order val="2"/>
          <c:tx>
            <c:strRef>
              <c:f>Sheet1!$D$1</c:f>
              <c:strCache>
                <c:ptCount val="1"/>
                <c:pt idx="0">
                  <c:v>日本</c:v>
                </c:pt>
              </c:strCache>
            </c:strRef>
          </c:tx>
          <c:spPr>
            <a:solidFill>
              <a:srgbClr val="B7B7B7"/>
            </a:solidFill>
            <a:ln w="19050">
              <a:solidFill>
                <a:srgbClr val="B7B7B7"/>
              </a:solidFill>
            </a:ln>
          </c:spPr>
          <c:marker>
            <c:symbol val="circle"/>
            <c:size val="4"/>
            <c:spPr>
              <a:solidFill>
                <a:srgbClr val="B7B7B7"/>
              </a:solidFill>
              <a:ln>
                <a:solidFill>
                  <a:srgbClr val="B7B7B7"/>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0.9</c:v>
                </c:pt>
                <c:pt idx="1">
                  <c:v>0.8</c:v>
                </c:pt>
                <c:pt idx="2">
                  <c:v>1.2</c:v>
                </c:pt>
                <c:pt idx="3">
                  <c:v>2.8</c:v>
                </c:pt>
                <c:pt idx="4">
                  <c:v>3.5</c:v>
                </c:pt>
                <c:pt idx="5">
                  <c:v>2.8</c:v>
                </c:pt>
                <c:pt idx="6">
                  <c:v>3</c:v>
                </c:pt>
              </c:numCache>
            </c:numRef>
          </c:val>
          <c:smooth val="0"/>
        </c:ser>
        <c:marker val="1"/>
        <c:smooth val="0"/>
        <c:axId val="2068027336"/>
        <c:axId val="2113994440"/>
      </c:lineChart>
      <c:catAx>
        <c:axId val="2068027336"/>
        <c:scaling>
          <c:orientation val="minMax"/>
        </c:scaling>
        <c:delete val="0"/>
        <c:axPos val="b"/>
        <c:majorTickMark val="none"/>
        <c:minorTickMark val="none"/>
        <c:tickLblPos val="nextTo"/>
        <c:spPr>
          <a:ln w="9525" cap="flat" cmpd="sng" algn="ctr">
            <a:solidFill>
              <a:srgbClr val="B7B7B7"/>
            </a:solidFill>
            <a:round/>
          </a:ln>
        </c:spPr>
        <c:txPr>
          <a:bodyPr/>
          <a:lstStyle/>
          <a:p>
            <a:pPr>
              <a:defRPr lang="zh-CN" sz="820">
                <a:solidFill>
                  <a:srgbClr val="7F7F7F"/>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32"/>
          <c:min val="0"/>
        </c:scaling>
        <c:delete val="1"/>
        <c:axPos val="l"/>
        <c:majorTickMark val="none"/>
        <c:minorTickMark val="none"/>
        <c:tickLblPos val="none"/>
        <c:spPr>
          <a:ln w="9525" cap="flat" cmpd="sng" algn="ctr">
            <a:solidFill>
              <a:srgbClr val="B7B7B7"/>
            </a:solidFill>
            <a:round/>
          </a:ln>
        </c:spPr>
        <c:txPr>
          <a:bodyPr/>
          <a:lstStyle/>
          <a:p>
            <a:pPr>
              <a:defRPr lang="zh-CN" sz="820">
                <a:solidFill>
                  <a:srgbClr val="7F7F7F"/>
                </a:solidFill>
                <a:latin typeface="Microsoft YaHei"/>
                <a:ea typeface="Microsoft YaHei"/>
                <a:cs typeface="Microsoft YaHei"/>
              </a:defRPr>
            </a:pPr>
            <a:endParaRPr lang="zh-CN"/>
          </a:p>
        </c:txPr>
        <c:crossAx val="2068027336"/>
        <c:crosses val="autoZero"/>
        <c:crossBetween val="between"/>
      </c:valAx>
      <c:spPr>
        <a:solidFill>
          <a:srgbClr val="FFFFFF"/>
        </a:solidFill>
        <a:ln>
          <a:noFill/>
        </a:ln>
      </c:spPr>
    </c:plotArea>
    <c:plotVisOnly val="1"/>
    <c:dispBlanksAs val="gap"/>
  </c:chart>
  <c:spPr>
    <a:solidFill>
      <a:srgbClr val="FFFFFF"/>
    </a:solidFill>
    <a:ln>
      <a:noFill/>
    </a:ln>
  </c:spPr>
  <c:txPr>
    <a:bodyPr/>
    <a:lstStyle/>
    <a:p>
      <a:pPr>
        <a:defRPr lang="zh-CN" sz="820">
          <a:solidFill>
            <a:srgbClr val="7F7F7F"/>
          </a:solidFill>
          <a:latin typeface="Microsoft YaHei"/>
          <a:ea typeface="Microsoft YaHei"/>
          <a:cs typeface="Microsoft YaHei"/>
        </a:defRPr>
      </a:pPr>
      <a:endParaRPr lang="zh-CN"/>
    </a:p>
  </c:txPr>
  <c:externalData r:id="rId1">
    <c:autoUpdate val="0"/>
  </c:externalData>
</c:chartSpace>
</file>

<file path=ppt/charts/chart502.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194174757282"/>
          <c:y val="0.0827067669173"/>
          <c:w val="0.961165048544"/>
          <c:h val="0.781954887218"/>
        </c:manualLayout>
      </c:layout>
      <c:barChart>
        <c:barDir val="col"/>
        <c:grouping val="clustered"/>
        <c:varyColors val="1"/>
        <c:ser>
          <c:idx val="0"/>
          <c:order val="0"/>
          <c:tx>
            <c:strRef>
              <c:f>Sheet1!$B$1</c:f>
              <c:strCache>
                <c:ptCount val="1"/>
                <c:pt idx="0">
                  <c:v>2023</c:v>
                </c:pt>
              </c:strCache>
            </c:strRef>
          </c:tx>
          <c:spPr>
            <a:solidFill>
              <a:srgbClr val="B7B7B7"/>
            </a:solidFill>
            <a:ln>
              <a:solidFill>
                <a:srgbClr val="B7B7B7"/>
              </a:solidFill>
            </a:ln>
          </c:spPr>
          <c:invertIfNegative val="0"/>
          <c:cat>
            <c:strRef>
              <c:f>Sheet1!$A$2:$A$4</c:f>
              <c:strCache>
                <c:ptCount val="3"/>
                <c:pt idx="0">
                  <c:v>美国</c:v>
                </c:pt>
                <c:pt idx="1">
                  <c:v>日本</c:v>
                </c:pt>
                <c:pt idx="2">
                  <c:v>韩国</c:v>
                </c:pt>
              </c:strCache>
            </c:strRef>
          </c:cat>
          <c:val>
            <c:numRef>
              <c:f>Sheet1!$B$2:$B$4</c:f>
              <c:numCache>
                <c:formatCode>General</c:formatCode>
                <c:ptCount val="3"/>
                <c:pt idx="0">
                  <c:v>140</c:v>
                </c:pt>
                <c:pt idx="1">
                  <c:v>14</c:v>
                </c:pt>
                <c:pt idx="2">
                  <c:v>13</c:v>
                </c:pt>
              </c:numCache>
            </c:numRef>
          </c:val>
        </c:ser>
        <c:ser>
          <c:idx val="1"/>
          <c:order val="1"/>
          <c:tx>
            <c:strRef>
              <c:f>Sheet1!$C$1</c:f>
              <c:strCache>
                <c:ptCount val="1"/>
                <c:pt idx="0">
                  <c:v>2024</c:v>
                </c:pt>
              </c:strCache>
            </c:strRef>
          </c:tx>
          <c:spPr>
            <a:solidFill>
              <a:schemeClr val="accent3"/>
            </a:solidFill>
            <a:ln>
              <a:solidFill>
                <a:schemeClr val="accent3"/>
              </a:solidFill>
            </a:ln>
          </c:spPr>
          <c:invertIfNegative val="0"/>
          <c:cat>
            <c:strRef>
              <c:f>Sheet1!$A$2:$A$4</c:f>
              <c:strCache>
                <c:ptCount val="3"/>
                <c:pt idx="0">
                  <c:v>美国</c:v>
                </c:pt>
                <c:pt idx="1">
                  <c:v>日本</c:v>
                </c:pt>
                <c:pt idx="2">
                  <c:v>韩国</c:v>
                </c:pt>
              </c:strCache>
            </c:strRef>
          </c:cat>
          <c:val>
            <c:numRef>
              <c:f>Sheet1!$C$2:$C$4</c:f>
              <c:numCache>
                <c:formatCode>General</c:formatCode>
                <c:ptCount val="3"/>
                <c:pt idx="0">
                  <c:v>160</c:v>
                </c:pt>
                <c:pt idx="1">
                  <c:v>10</c:v>
                </c:pt>
                <c:pt idx="2">
                  <c:v>13</c:v>
                </c:pt>
              </c:numCache>
            </c:numRef>
          </c:val>
        </c:ser>
        <c:ser>
          <c:idx val="2"/>
          <c:order val="2"/>
          <c:tx>
            <c:strRef>
              <c:f>Sheet1!$D$1</c:f>
              <c:strCache>
                <c:ptCount val="1"/>
                <c:pt idx="0">
                  <c:v>2025</c:v>
                </c:pt>
              </c:strCache>
            </c:strRef>
          </c:tx>
          <c:spPr>
            <a:solidFill>
              <a:srgbClr val="B3261E"/>
            </a:solidFill>
            <a:ln>
              <a:solidFill>
                <a:srgbClr val="B3261E"/>
              </a:solidFill>
            </a:ln>
          </c:spPr>
          <c:invertIfNegative val="0"/>
          <c:dPt>
            <c:idx val="0"/>
            <c:invertIfNegative val="0"/>
            <c:spPr>
              <a:solidFill>
                <a:srgbClr val="B3261E"/>
              </a:solidFill>
              <a:ln>
                <a:solidFill>
                  <a:srgbClr val="B3261E"/>
                </a:solidFill>
              </a:ln>
            </c:spPr>
          </c:dPt>
          <c:dPt>
            <c:idx val="1"/>
            <c:invertIfNegative val="0"/>
            <c:spPr>
              <a:solidFill>
                <a:srgbClr val="7F7F7F"/>
              </a:solidFill>
              <a:ln>
                <a:solidFill>
                  <a:srgbClr val="7F7F7F"/>
                </a:solidFill>
              </a:ln>
            </c:spPr>
          </c:dPt>
          <c:dPt>
            <c:idx val="2"/>
            <c:invertIfNegative val="0"/>
            <c:spPr>
              <a:solidFill>
                <a:schemeClr val="accent2"/>
              </a:solidFill>
              <a:ln>
                <a:solidFill>
                  <a:schemeClr val="accent2"/>
                </a:solidFill>
              </a:ln>
            </c:spPr>
          </c:dPt>
          <c:cat>
            <c:strRef>
              <c:f>Sheet1!$A$2:$A$4</c:f>
              <c:strCache>
                <c:ptCount val="3"/>
                <c:pt idx="0">
                  <c:v>美国</c:v>
                </c:pt>
                <c:pt idx="1">
                  <c:v>日本</c:v>
                </c:pt>
                <c:pt idx="2">
                  <c:v>韩国</c:v>
                </c:pt>
              </c:strCache>
            </c:strRef>
          </c:cat>
          <c:val>
            <c:numRef>
              <c:f>Sheet1!$D$2:$D$4</c:f>
              <c:numCache>
                <c:formatCode>General</c:formatCode>
                <c:ptCount val="3"/>
                <c:pt idx="0">
                  <c:v>150</c:v>
                </c:pt>
                <c:pt idx="1">
                  <c:v>10</c:v>
                </c:pt>
                <c:pt idx="2">
                  <c:v>22</c:v>
                </c:pt>
              </c:numCache>
            </c:numRef>
          </c:val>
        </c:ser>
        <c:dLbls>
          <c:txPr>
            <a:bodyPr/>
            <a:lstStyle/>
            <a:p>
              <a:pPr>
                <a:defRPr lang="zh-CN" sz="820">
                  <a:solidFill>
                    <a:srgbClr val="7F7F7F"/>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22"/>
        <c:overlap val="-12"/>
        <c:axId val="2068027336"/>
        <c:axId val="2113994440"/>
      </c:barChart>
      <c:catAx>
        <c:axId val="2068027336"/>
        <c:scaling>
          <c:orientation val="minMax"/>
        </c:scaling>
        <c:delete val="0"/>
        <c:axPos val="b"/>
        <c:majorTickMark val="none"/>
        <c:minorTickMark val="none"/>
        <c:tickLblPos val="nextTo"/>
        <c:spPr>
          <a:ln w="9525" cap="flat" cmpd="sng" algn="ctr">
            <a:solidFill>
              <a:srgbClr val="B7B7B7"/>
            </a:solidFill>
            <a:round/>
          </a:ln>
        </c:spPr>
        <c:txPr>
          <a:bodyPr/>
          <a:lstStyle/>
          <a:p>
            <a:pPr>
              <a:defRPr lang="zh-CN" sz="820">
                <a:solidFill>
                  <a:srgbClr val="7F7F7F"/>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190"/>
          <c:min val="0"/>
        </c:scaling>
        <c:delete val="1"/>
        <c:axPos val="l"/>
        <c:majorTickMark val="none"/>
        <c:minorTickMark val="none"/>
        <c:tickLblPos val="none"/>
        <c:spPr>
          <a:ln w="9525" cap="flat" cmpd="sng" algn="ctr">
            <a:solidFill>
              <a:srgbClr val="B7B7B7"/>
            </a:solidFill>
            <a:round/>
          </a:ln>
        </c:spPr>
        <c:txPr>
          <a:bodyPr/>
          <a:lstStyle/>
          <a:p>
            <a:pPr>
              <a:defRPr lang="zh-CN" sz="820">
                <a:solidFill>
                  <a:srgbClr val="7F7F7F"/>
                </a:solidFill>
                <a:latin typeface="Microsoft YaHei"/>
                <a:ea typeface="Microsoft YaHei"/>
                <a:cs typeface="Microsoft YaHei"/>
              </a:defRPr>
            </a:pPr>
            <a:endParaRPr lang="zh-CN"/>
          </a:p>
        </c:txPr>
        <c:crossAx val="2068027336"/>
        <c:crosses val="autoZero"/>
        <c:crossBetween val="between"/>
      </c:valAx>
      <c:spPr>
        <a:solidFill>
          <a:srgbClr val="FFFFFF"/>
        </a:solidFill>
        <a:ln>
          <a:noFill/>
        </a:ln>
      </c:spPr>
    </c:plotArea>
    <c:legend>
      <c:legendPos val="b"/>
      <c:layout/>
      <c:overlay val="0"/>
      <c:txPr>
        <a:bodyPr/>
        <a:lstStyle/>
        <a:p>
          <a:pPr>
            <a:defRPr lang="zh-CN" sz="820">
              <a:solidFill>
                <a:srgbClr val="7F7F7F"/>
              </a:solidFill>
              <a:latin typeface="Microsoft YaHei"/>
              <a:ea typeface="Microsoft YaHei"/>
              <a:cs typeface="Microsoft YaHei"/>
            </a:defRPr>
          </a:pPr>
          <a:endParaRPr lang="zh-CN"/>
        </a:p>
      </c:txPr>
    </c:legend>
    <c:plotVisOnly val="1"/>
    <c:dispBlanksAs val="gap"/>
  </c:chart>
  <c:spPr>
    <a:solidFill>
      <a:srgbClr val="FFFFFF"/>
    </a:solidFill>
    <a:ln>
      <a:noFill/>
    </a:ln>
  </c:spPr>
  <c:txPr>
    <a:bodyPr/>
    <a:lstStyle/>
    <a:p>
      <a:pPr>
        <a:defRPr lang="zh-CN" sz="820">
          <a:solidFill>
            <a:srgbClr val="7F7F7F"/>
          </a:solidFill>
          <a:latin typeface="Microsoft YaHei"/>
          <a:ea typeface="Microsoft YaHei"/>
          <a:cs typeface="Microsoft YaHei"/>
        </a:defRPr>
      </a:pPr>
      <a:endParaRPr lang="zh-CN"/>
    </a:p>
  </c:txPr>
  <c:externalData r:id="rId1">
    <c:autoUpdate val="0"/>
  </c:externalData>
</c:chartSpace>
</file>

<file path=ppt/charts/chart6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53465346535"/>
          <c:y val="0.0676691729323"/>
          <c:w val="0.623762376238"/>
          <c:h val="0.887218045113"/>
        </c:manualLayout>
      </c:layout>
      <c:barChart>
        <c:barDir val="bar"/>
        <c:grouping val="clustered"/>
        <c:varyColors val="1"/>
        <c:ser>
          <c:idx val="0"/>
          <c:order val="0"/>
          <c:tx>
            <c:strRef>
              <c:f>Sheet1!$B$1</c:f>
              <c:strCache>
                <c:ptCount val="1"/>
                <c:pt idx="0">
                  <c:v>值</c:v>
                </c:pt>
              </c:strCache>
            </c:strRef>
          </c:tx>
          <c:spPr>
            <a:solidFill>
              <a:schemeClr val="accent1"/>
            </a:solidFill>
            <a:ln>
              <a:solidFill>
                <a:schemeClr val="accent1"/>
              </a:solidFill>
            </a:ln>
          </c:spPr>
          <c:invertIfNegative val="0"/>
          <c:dPt>
            <c:idx val="0"/>
            <c:invertIfNegative val="0"/>
            <c:spPr>
              <a:solidFill>
                <a:srgbClr val="B7B7B7"/>
              </a:solidFill>
              <a:ln>
                <a:solidFill>
                  <a:srgbClr val="B7B7B7"/>
                </a:solidFill>
              </a:ln>
            </c:spPr>
          </c:dPt>
          <c:dPt>
            <c:idx val="1"/>
            <c:invertIfNegative val="0"/>
            <c:spPr>
              <a:solidFill>
                <a:schemeClr val="accent2"/>
              </a:solidFill>
              <a:ln>
                <a:solidFill>
                  <a:schemeClr val="accent2"/>
                </a:solidFill>
              </a:ln>
            </c:spPr>
          </c:dPt>
          <c:dPt>
            <c:idx val="2"/>
            <c:invertIfNegative val="0"/>
            <c:spPr>
              <a:solidFill>
                <a:schemeClr val="accent2"/>
              </a:solidFill>
              <a:ln>
                <a:solidFill>
                  <a:schemeClr val="accent2"/>
                </a:solidFill>
              </a:ln>
            </c:spPr>
          </c:dPt>
          <c:dPt>
            <c:idx val="3"/>
            <c:invertIfNegative val="0"/>
            <c:spPr>
              <a:solidFill>
                <a:schemeClr val="accent1"/>
              </a:solidFill>
              <a:ln>
                <a:solidFill>
                  <a:schemeClr val="accent1"/>
                </a:solidFill>
              </a:ln>
            </c:spPr>
          </c:dPt>
          <c:dPt>
            <c:idx val="4"/>
            <c:invertIfNegative val="0"/>
            <c:spPr>
              <a:solidFill>
                <a:srgbClr val="B7B7B7"/>
              </a:solidFill>
              <a:ln>
                <a:solidFill>
                  <a:srgbClr val="B7B7B7"/>
                </a:solidFill>
              </a:ln>
            </c:spPr>
          </c:dPt>
          <c:cat>
            <c:strRef>
              <c:f>Sheet1!$A$2:$A$6</c:f>
              <c:strCache>
                <c:ptCount val="5"/>
                <c:pt idx="0">
                  <c:v>挪威</c:v>
                </c:pt>
                <c:pt idx="1">
                  <c:v>英国</c:v>
                </c:pt>
                <c:pt idx="2">
                  <c:v>德国</c:v>
                </c:pt>
                <c:pt idx="3">
                  <c:v>欧洲整体</c:v>
                </c:pt>
                <c:pt idx="4">
                  <c:v>法国</c:v>
                </c:pt>
              </c:strCache>
            </c:strRef>
          </c:cat>
          <c:val>
            <c:numRef>
              <c:f>Sheet1!$B$2:$B$6</c:f>
              <c:numCache>
                <c:formatCode>General</c:formatCode>
                <c:ptCount val="5"/>
                <c:pt idx="0">
                  <c:v>97</c:v>
                </c:pt>
                <c:pt idx="1">
                  <c:v>35</c:v>
                </c:pt>
                <c:pt idx="2">
                  <c:v>30</c:v>
                </c:pt>
                <c:pt idx="3">
                  <c:v>28</c:v>
                </c:pt>
                <c:pt idx="4">
                  <c:v>26</c:v>
                </c:pt>
              </c:numCache>
            </c:numRef>
          </c:val>
        </c:ser>
        <c:dLbls>
          <c:txPr>
            <a:bodyPr/>
            <a:lstStyle/>
            <a:p>
              <a:pPr>
                <a:defRPr lang="zh-CN" sz="820" b="1">
                  <a:solidFill>
                    <a:schemeClr val="accent1"/>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115"/>
        <c:axId val="2068027336"/>
        <c:axId val="2113994440"/>
      </c:barChart>
      <c:catAx>
        <c:axId val="2068027336"/>
        <c:scaling>
          <c:orientation val="maxMin"/>
        </c:scaling>
        <c:delete val="0"/>
        <c:axPos val="l"/>
        <c:majorTickMark val="none"/>
        <c:minorTickMark val="none"/>
        <c:tickLblPos val="nextTo"/>
        <c:spPr>
          <a:ln w="9525" cap="flat" cmpd="sng" algn="ctr">
            <a:solidFill>
              <a:srgbClr val="B7B7B7"/>
            </a:solidFill>
            <a:round/>
          </a:ln>
        </c:spPr>
        <c:txPr>
          <a:bodyPr/>
          <a:lstStyle/>
          <a:p>
            <a:pPr>
              <a:defRPr lang="zh-CN" sz="820">
                <a:solidFill>
                  <a:srgbClr val="333333"/>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100"/>
          <c:min val="0"/>
        </c:scaling>
        <c:delete val="1"/>
        <c:axPos val="b"/>
        <c:majorTickMark val="none"/>
        <c:minorTickMark val="none"/>
        <c:tickLblPos val="none"/>
        <c:spPr>
          <a:ln w="9525" cap="flat" cmpd="sng" algn="ctr">
            <a:solidFill>
              <a:srgbClr val="B7B7B7"/>
            </a:solidFill>
            <a:round/>
          </a:ln>
        </c:spPr>
        <c:txPr>
          <a:bodyPr/>
          <a:lstStyle/>
          <a:p>
            <a:pPr>
              <a:defRPr lang="zh-CN" sz="820">
                <a:solidFill>
                  <a:schemeClr val="accent1"/>
                </a:solidFill>
                <a:latin typeface="Microsoft YaHei"/>
                <a:ea typeface="Microsoft YaHei"/>
                <a:cs typeface="Microsoft YaHei"/>
              </a:defRPr>
            </a:pPr>
            <a:endParaRPr lang="zh-CN"/>
          </a:p>
        </c:txPr>
        <c:crossAx val="2068027336"/>
        <c:crosses val="max"/>
        <c:crossBetween val="between"/>
      </c:valAx>
      <c:spPr>
        <a:solidFill>
          <a:srgbClr val="FFFFFF"/>
        </a:solidFill>
        <a:ln>
          <a:noFill/>
        </a:ln>
      </c:spPr>
    </c:plotArea>
    <c:plotVisOnly val="1"/>
    <c:dispBlanksAs val="gap"/>
  </c:chart>
  <c:spPr>
    <a:solidFill>
      <a:srgbClr val="FFFFFF"/>
    </a:solidFill>
    <a:ln>
      <a:noFill/>
    </a:ln>
  </c:spPr>
  <c:txPr>
    <a:bodyPr/>
    <a:lstStyle/>
    <a:p>
      <a:pPr>
        <a:defRPr lang="zh-CN" sz="820">
          <a:solidFill>
            <a:schemeClr val="accent1"/>
          </a:solidFill>
          <a:latin typeface="Microsoft YaHei"/>
          <a:ea typeface="Microsoft YaHei"/>
          <a:cs typeface="Microsoft YaHei"/>
        </a:defRPr>
      </a:pPr>
      <a:endParaRPr lang="zh-CN"/>
    </a:p>
  </c:txPr>
  <c:externalData r:id="rId1">
    <c:autoUpdate val="0"/>
  </c:externalData>
</c:chartSpace>
</file>

<file path=ppt/charts/chart602.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194174757282"/>
          <c:y val="0.0827067669173"/>
          <c:w val="0.961165048544"/>
          <c:h val="0.781954887218"/>
        </c:manualLayout>
      </c:layout>
      <c:barChart>
        <c:barDir val="col"/>
        <c:grouping val="clustered"/>
        <c:varyColors val="1"/>
        <c:ser>
          <c:idx val="0"/>
          <c:order val="0"/>
          <c:tx>
            <c:strRef>
              <c:f>Sheet1!$B$1</c:f>
              <c:strCache>
                <c:ptCount val="1"/>
                <c:pt idx="0">
                  <c:v>2023</c:v>
                </c:pt>
              </c:strCache>
            </c:strRef>
          </c:tx>
          <c:spPr>
            <a:solidFill>
              <a:srgbClr val="B7B7B7"/>
            </a:solidFill>
            <a:ln>
              <a:solidFill>
                <a:srgbClr val="B7B7B7"/>
              </a:solidFill>
            </a:ln>
          </c:spPr>
          <c:invertIfNegative val="0"/>
          <c:cat>
            <c:strRef>
              <c:f>Sheet1!$A$2:$A$5</c:f>
              <c:strCache>
                <c:ptCount val="4"/>
                <c:pt idx="0">
                  <c:v>英国</c:v>
                </c:pt>
                <c:pt idx="1">
                  <c:v>德国</c:v>
                </c:pt>
                <c:pt idx="2">
                  <c:v>法国</c:v>
                </c:pt>
                <c:pt idx="3">
                  <c:v>挪威</c:v>
                </c:pt>
              </c:strCache>
            </c:strRef>
          </c:cat>
          <c:val>
            <c:numRef>
              <c:f>Sheet1!$B$2:$B$5</c:f>
              <c:numCache>
                <c:formatCode>General</c:formatCode>
                <c:ptCount val="4"/>
                <c:pt idx="0">
                  <c:v>46</c:v>
                </c:pt>
                <c:pt idx="1">
                  <c:v>70</c:v>
                </c:pt>
                <c:pt idx="2">
                  <c:v>47</c:v>
                </c:pt>
                <c:pt idx="3">
                  <c:v>11</c:v>
                </c:pt>
              </c:numCache>
            </c:numRef>
          </c:val>
        </c:ser>
        <c:ser>
          <c:idx val="1"/>
          <c:order val="1"/>
          <c:tx>
            <c:strRef>
              <c:f>Sheet1!$C$1</c:f>
              <c:strCache>
                <c:ptCount val="1"/>
                <c:pt idx="0">
                  <c:v>2025</c:v>
                </c:pt>
              </c:strCache>
            </c:strRef>
          </c:tx>
          <c:spPr>
            <a:solidFill>
              <a:schemeClr val="accent2"/>
            </a:solidFill>
            <a:ln>
              <a:solidFill>
                <a:schemeClr val="accent2"/>
              </a:solidFill>
            </a:ln>
          </c:spPr>
          <c:invertIfNegative val="0"/>
          <c:dPt>
            <c:idx val="0"/>
            <c:invertIfNegative val="0"/>
            <c:spPr>
              <a:solidFill>
                <a:schemeClr val="accent2"/>
              </a:solidFill>
              <a:ln>
                <a:solidFill>
                  <a:schemeClr val="accent2"/>
                </a:solidFill>
              </a:ln>
            </c:spPr>
          </c:dPt>
          <c:dPt>
            <c:idx val="1"/>
            <c:invertIfNegative val="0"/>
            <c:spPr>
              <a:solidFill>
                <a:schemeClr val="accent2"/>
              </a:solidFill>
              <a:ln>
                <a:solidFill>
                  <a:schemeClr val="accent2"/>
                </a:solidFill>
              </a:ln>
            </c:spPr>
          </c:dPt>
          <c:dPt>
            <c:idx val="2"/>
            <c:invertIfNegative val="0"/>
            <c:spPr>
              <a:solidFill>
                <a:srgbClr val="7F7F7F"/>
              </a:solidFill>
              <a:ln>
                <a:solidFill>
                  <a:srgbClr val="7F7F7F"/>
                </a:solidFill>
              </a:ln>
            </c:spPr>
          </c:dPt>
          <c:dPt>
            <c:idx val="3"/>
            <c:invertIfNegative val="0"/>
            <c:spPr>
              <a:solidFill>
                <a:srgbClr val="7F7F7F"/>
              </a:solidFill>
              <a:ln>
                <a:solidFill>
                  <a:srgbClr val="7F7F7F"/>
                </a:solidFill>
              </a:ln>
            </c:spPr>
          </c:dPt>
          <c:cat>
            <c:strRef>
              <c:f>Sheet1!$A$2:$A$5</c:f>
              <c:strCache>
                <c:ptCount val="4"/>
                <c:pt idx="0">
                  <c:v>英国</c:v>
                </c:pt>
                <c:pt idx="1">
                  <c:v>德国</c:v>
                </c:pt>
                <c:pt idx="2">
                  <c:v>法国</c:v>
                </c:pt>
                <c:pt idx="3">
                  <c:v>挪威</c:v>
                </c:pt>
              </c:strCache>
            </c:strRef>
          </c:cat>
          <c:val>
            <c:numRef>
              <c:f>Sheet1!$C$2:$C$5</c:f>
              <c:numCache>
                <c:formatCode>General</c:formatCode>
                <c:ptCount val="4"/>
                <c:pt idx="0">
                  <c:v>70</c:v>
                </c:pt>
                <c:pt idx="1">
                  <c:v>86</c:v>
                </c:pt>
                <c:pt idx="2">
                  <c:v>45</c:v>
                </c:pt>
                <c:pt idx="3">
                  <c:v>17</c:v>
                </c:pt>
              </c:numCache>
            </c:numRef>
          </c:val>
        </c:ser>
        <c:dLbls>
          <c:txPr>
            <a:bodyPr/>
            <a:lstStyle/>
            <a:p>
              <a:pPr>
                <a:defRPr lang="zh-CN" sz="820">
                  <a:solidFill>
                    <a:srgbClr val="7F7F7F"/>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25"/>
        <c:overlap val="-11"/>
        <c:axId val="2068027336"/>
        <c:axId val="2113994440"/>
      </c:barChart>
      <c:catAx>
        <c:axId val="2068027336"/>
        <c:scaling>
          <c:orientation val="minMax"/>
        </c:scaling>
        <c:delete val="0"/>
        <c:axPos val="b"/>
        <c:majorTickMark val="none"/>
        <c:minorTickMark val="none"/>
        <c:tickLblPos val="nextTo"/>
        <c:spPr>
          <a:ln w="9525" cap="flat" cmpd="sng" algn="ctr">
            <a:solidFill>
              <a:srgbClr val="B7B7B7"/>
            </a:solidFill>
            <a:round/>
          </a:ln>
        </c:spPr>
        <c:txPr>
          <a:bodyPr/>
          <a:lstStyle/>
          <a:p>
            <a:pPr>
              <a:defRPr lang="zh-CN" sz="820">
                <a:solidFill>
                  <a:srgbClr val="7F7F7F"/>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100"/>
          <c:min val="0"/>
        </c:scaling>
        <c:delete val="1"/>
        <c:axPos val="l"/>
        <c:majorTickMark val="none"/>
        <c:minorTickMark val="none"/>
        <c:tickLblPos val="none"/>
        <c:spPr>
          <a:ln w="9525" cap="flat" cmpd="sng" algn="ctr">
            <a:solidFill>
              <a:srgbClr val="B7B7B7"/>
            </a:solidFill>
            <a:round/>
          </a:ln>
        </c:spPr>
        <c:txPr>
          <a:bodyPr/>
          <a:lstStyle/>
          <a:p>
            <a:pPr>
              <a:defRPr lang="zh-CN" sz="820">
                <a:solidFill>
                  <a:srgbClr val="7F7F7F"/>
                </a:solidFill>
                <a:latin typeface="Microsoft YaHei"/>
                <a:ea typeface="Microsoft YaHei"/>
                <a:cs typeface="Microsoft YaHei"/>
              </a:defRPr>
            </a:pPr>
            <a:endParaRPr lang="zh-CN"/>
          </a:p>
        </c:txPr>
        <c:crossAx val="2068027336"/>
        <c:crosses val="autoZero"/>
        <c:crossBetween val="between"/>
      </c:valAx>
      <c:spPr>
        <a:solidFill>
          <a:srgbClr val="FFFFFF"/>
        </a:solidFill>
        <a:ln>
          <a:noFill/>
        </a:ln>
      </c:spPr>
    </c:plotArea>
    <c:legend>
      <c:legendPos val="b"/>
      <c:layout/>
      <c:overlay val="0"/>
      <c:txPr>
        <a:bodyPr/>
        <a:lstStyle/>
        <a:p>
          <a:pPr>
            <a:defRPr lang="zh-CN" sz="820">
              <a:solidFill>
                <a:srgbClr val="7F7F7F"/>
              </a:solidFill>
              <a:latin typeface="Microsoft YaHei"/>
              <a:ea typeface="Microsoft YaHei"/>
              <a:cs typeface="Microsoft YaHei"/>
            </a:defRPr>
          </a:pPr>
          <a:endParaRPr lang="zh-CN"/>
        </a:p>
      </c:txPr>
    </c:legend>
    <c:plotVisOnly val="1"/>
    <c:dispBlanksAs val="gap"/>
  </c:chart>
  <c:spPr>
    <a:solidFill>
      <a:srgbClr val="FFFFFF"/>
    </a:solidFill>
    <a:ln>
      <a:noFill/>
    </a:ln>
  </c:spPr>
  <c:txPr>
    <a:bodyPr/>
    <a:lstStyle/>
    <a:p>
      <a:pPr>
        <a:defRPr lang="zh-CN" sz="820">
          <a:solidFill>
            <a:srgbClr val="7F7F7F"/>
          </a:solidFill>
          <a:latin typeface="Microsoft YaHei"/>
          <a:ea typeface="Microsoft YaHei"/>
          <a:cs typeface="Microsoft YaHei"/>
        </a:defRPr>
      </a:pPr>
      <a:endParaRPr lang="zh-CN"/>
    </a:p>
  </c:txPr>
  <c:externalData r:id="rId1">
    <c:autoUpdate val="0"/>
  </c:externalData>
</c:chartSpace>
</file>

<file path=ppt/charts/chart7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19801980198"/>
          <c:y val="0.0827067669173"/>
          <c:w val="0.960396039604"/>
          <c:h val="0.781954887218"/>
        </c:manualLayout>
      </c:layout>
      <c:barChart>
        <c:barDir val="col"/>
        <c:grouping val="clustered"/>
        <c:varyColors val="0"/>
        <c:ser>
          <c:idx val="0"/>
          <c:order val="0"/>
          <c:tx>
            <c:strRef>
              <c:f>Sheet1!$B$1</c:f>
              <c:strCache>
                <c:ptCount val="1"/>
                <c:pt idx="0">
                  <c:v>2023</c:v>
                </c:pt>
              </c:strCache>
            </c:strRef>
          </c:tx>
          <c:spPr>
            <a:solidFill>
              <a:srgbClr val="B7B7B7"/>
            </a:solidFill>
            <a:ln>
              <a:solidFill>
                <a:srgbClr val="B7B7B7"/>
              </a:solidFill>
            </a:ln>
          </c:spPr>
          <c:invertIfNegative val="0"/>
          <c:cat>
            <c:strRef>
              <c:f>Sheet1!$A$2:$A$6</c:f>
              <c:strCache>
                <c:ptCount val="5"/>
                <c:pt idx="0">
                  <c:v>东南亚</c:v>
                </c:pt>
                <c:pt idx="1">
                  <c:v>泰国</c:v>
                </c:pt>
                <c:pt idx="2">
                  <c:v>巴西</c:v>
                </c:pt>
                <c:pt idx="3">
                  <c:v>墨西哥</c:v>
                </c:pt>
                <c:pt idx="4">
                  <c:v>印度</c:v>
                </c:pt>
              </c:strCache>
            </c:strRef>
          </c:cat>
          <c:val>
            <c:numRef>
              <c:f>Sheet1!$B$2:$B$6</c:f>
              <c:numCache>
                <c:formatCode>General</c:formatCode>
                <c:ptCount val="5"/>
                <c:pt idx="0">
                  <c:v>5.2</c:v>
                </c:pt>
                <c:pt idx="1">
                  <c:v>11</c:v>
                </c:pt>
                <c:pt idx="2">
                  <c:v>3</c:v>
                </c:pt>
                <c:pt idx="3">
                  <c:v>1.5</c:v>
                </c:pt>
                <c:pt idx="4">
                  <c:v>2.1</c:v>
                </c:pt>
              </c:numCache>
            </c:numRef>
          </c:val>
        </c:ser>
        <c:ser>
          <c:idx val="1"/>
          <c:order val="1"/>
          <c:tx>
            <c:strRef>
              <c:f>Sheet1!$C$1</c:f>
              <c:strCache>
                <c:ptCount val="1"/>
                <c:pt idx="0">
                  <c:v>2025</c:v>
                </c:pt>
              </c:strCache>
            </c:strRef>
          </c:tx>
          <c:spPr>
            <a:solidFill>
              <a:schemeClr val="accent2"/>
            </a:solidFill>
            <a:ln>
              <a:solidFill>
                <a:schemeClr val="accent2"/>
              </a:solidFill>
            </a:ln>
          </c:spPr>
          <c:invertIfNegative val="0"/>
          <c:cat>
            <c:strRef>
              <c:f>Sheet1!$A$2:$A$6</c:f>
              <c:strCache>
                <c:ptCount val="5"/>
                <c:pt idx="0">
                  <c:v>东南亚</c:v>
                </c:pt>
                <c:pt idx="1">
                  <c:v>泰国</c:v>
                </c:pt>
                <c:pt idx="2">
                  <c:v>巴西</c:v>
                </c:pt>
                <c:pt idx="3">
                  <c:v>墨西哥</c:v>
                </c:pt>
                <c:pt idx="4">
                  <c:v>印度</c:v>
                </c:pt>
              </c:strCache>
            </c:strRef>
          </c:cat>
          <c:val>
            <c:numRef>
              <c:f>Sheet1!$C$2:$C$6</c:f>
              <c:numCache>
                <c:formatCode>General</c:formatCode>
                <c:ptCount val="5"/>
                <c:pt idx="0">
                  <c:v>18</c:v>
                </c:pt>
                <c:pt idx="1">
                  <c:v>23</c:v>
                </c:pt>
                <c:pt idx="2">
                  <c:v>9</c:v>
                </c:pt>
                <c:pt idx="3">
                  <c:v>7</c:v>
                </c:pt>
                <c:pt idx="4">
                  <c:v>4</c:v>
                </c:pt>
              </c:numCache>
            </c:numRef>
          </c:val>
        </c:ser>
        <c:dLbls>
          <c:txPr>
            <a:bodyPr/>
            <a:lstStyle/>
            <a:p>
              <a:pPr>
                <a:defRPr lang="zh-CN" sz="820">
                  <a:solidFill>
                    <a:srgbClr val="7F7F7F"/>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23"/>
        <c:overlap val="-13"/>
        <c:axId val="2068027336"/>
        <c:axId val="2113994440"/>
      </c:barChart>
      <c:catAx>
        <c:axId val="2068027336"/>
        <c:scaling>
          <c:orientation val="minMax"/>
        </c:scaling>
        <c:delete val="0"/>
        <c:axPos val="b"/>
        <c:majorTickMark val="none"/>
        <c:minorTickMark val="none"/>
        <c:tickLblPos val="nextTo"/>
        <c:spPr>
          <a:ln w="9525" cap="flat" cmpd="sng" algn="ctr">
            <a:solidFill>
              <a:srgbClr val="B7B7B7"/>
            </a:solidFill>
            <a:round/>
          </a:ln>
        </c:spPr>
        <c:txPr>
          <a:bodyPr/>
          <a:lstStyle/>
          <a:p>
            <a:pPr>
              <a:defRPr lang="zh-CN" sz="820">
                <a:solidFill>
                  <a:srgbClr val="7F7F7F"/>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27"/>
          <c:min val="0"/>
        </c:scaling>
        <c:delete val="1"/>
        <c:axPos val="l"/>
        <c:majorTickMark val="none"/>
        <c:minorTickMark val="none"/>
        <c:tickLblPos val="none"/>
        <c:spPr>
          <a:ln w="9525" cap="flat" cmpd="sng" algn="ctr">
            <a:solidFill>
              <a:srgbClr val="B7B7B7"/>
            </a:solidFill>
            <a:round/>
          </a:ln>
        </c:spPr>
        <c:txPr>
          <a:bodyPr/>
          <a:lstStyle/>
          <a:p>
            <a:pPr>
              <a:defRPr lang="zh-CN" sz="820">
                <a:solidFill>
                  <a:srgbClr val="7F7F7F"/>
                </a:solidFill>
                <a:latin typeface="Microsoft YaHei"/>
                <a:ea typeface="Microsoft YaHei"/>
                <a:cs typeface="Microsoft YaHei"/>
              </a:defRPr>
            </a:pPr>
            <a:endParaRPr lang="zh-CN"/>
          </a:p>
        </c:txPr>
        <c:crossAx val="2068027336"/>
        <c:crosses val="autoZero"/>
        <c:crossBetween val="between"/>
      </c:valAx>
      <c:spPr>
        <a:solidFill>
          <a:srgbClr val="FFFFFF"/>
        </a:solidFill>
        <a:ln>
          <a:noFill/>
        </a:ln>
      </c:spPr>
    </c:plotArea>
    <c:legend>
      <c:legendPos val="b"/>
      <c:layout/>
      <c:overlay val="0"/>
      <c:txPr>
        <a:bodyPr/>
        <a:lstStyle/>
        <a:p>
          <a:pPr>
            <a:defRPr lang="zh-CN" sz="820">
              <a:solidFill>
                <a:srgbClr val="7F7F7F"/>
              </a:solidFill>
              <a:latin typeface="Microsoft YaHei"/>
              <a:ea typeface="Microsoft YaHei"/>
              <a:cs typeface="Microsoft YaHei"/>
            </a:defRPr>
          </a:pPr>
          <a:endParaRPr lang="zh-CN"/>
        </a:p>
      </c:txPr>
    </c:legend>
    <c:plotVisOnly val="1"/>
    <c:dispBlanksAs val="gap"/>
  </c:chart>
  <c:spPr>
    <a:solidFill>
      <a:srgbClr val="FFFFFF"/>
    </a:solidFill>
    <a:ln>
      <a:noFill/>
    </a:ln>
  </c:spPr>
  <c:txPr>
    <a:bodyPr/>
    <a:lstStyle/>
    <a:p>
      <a:pPr>
        <a:defRPr lang="zh-CN" sz="820">
          <a:solidFill>
            <a:srgbClr val="7F7F7F"/>
          </a:solidFill>
          <a:latin typeface="Microsoft YaHei"/>
          <a:ea typeface="Microsoft YaHei"/>
          <a:cs typeface="Microsoft YaHei"/>
        </a:defRPr>
      </a:pPr>
      <a:endParaRPr lang="zh-CN"/>
    </a:p>
  </c:txPr>
  <c:externalData r:id="rId1">
    <c:autoUpdate val="0"/>
  </c:externalData>
</c:chartSpace>
</file>

<file path=ppt/charts/chart702.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50485436893"/>
          <c:y val="0.0676691729323"/>
          <c:w val="0.631067961165"/>
          <c:h val="0.887218045113"/>
        </c:manualLayout>
      </c:layout>
      <c:barChart>
        <c:barDir val="bar"/>
        <c:grouping val="clustered"/>
        <c:varyColors val="1"/>
        <c:ser>
          <c:idx val="0"/>
          <c:order val="0"/>
          <c:tx>
            <c:strRef>
              <c:f>Sheet1!$B$1</c:f>
              <c:strCache>
                <c:ptCount val="1"/>
                <c:pt idx="0">
                  <c:v>值</c:v>
                </c:pt>
              </c:strCache>
            </c:strRef>
          </c:tx>
          <c:spPr>
            <a:solidFill>
              <a:schemeClr val="accent1"/>
            </a:solidFill>
            <a:ln>
              <a:solidFill>
                <a:schemeClr val="accent1"/>
              </a:solidFill>
            </a:ln>
          </c:spPr>
          <c:invertIfNegative val="0"/>
          <c:dPt>
            <c:idx val="0"/>
            <c:invertIfNegative val="0"/>
            <c:spPr>
              <a:solidFill>
                <a:schemeClr val="accent2"/>
              </a:solidFill>
              <a:ln>
                <a:solidFill>
                  <a:schemeClr val="accent2"/>
                </a:solidFill>
              </a:ln>
            </c:spPr>
          </c:dPt>
          <c:dPt>
            <c:idx val="1"/>
            <c:invertIfNegative val="0"/>
            <c:spPr>
              <a:solidFill>
                <a:schemeClr val="accent2"/>
              </a:solidFill>
              <a:ln>
                <a:solidFill>
                  <a:schemeClr val="accent2"/>
                </a:solidFill>
              </a:ln>
            </c:spPr>
          </c:dPt>
          <c:dPt>
            <c:idx val="2"/>
            <c:invertIfNegative val="0"/>
            <c:spPr>
              <a:solidFill>
                <a:schemeClr val="accent1"/>
              </a:solidFill>
              <a:ln>
                <a:solidFill>
                  <a:schemeClr val="accent1"/>
                </a:solidFill>
              </a:ln>
            </c:spPr>
          </c:dPt>
          <c:dPt>
            <c:idx val="3"/>
            <c:invertIfNegative val="0"/>
            <c:spPr>
              <a:solidFill>
                <a:schemeClr val="accent1"/>
              </a:solidFill>
              <a:ln>
                <a:solidFill>
                  <a:schemeClr val="accent1"/>
                </a:solidFill>
              </a:ln>
            </c:spPr>
          </c:dPt>
          <c:dPt>
            <c:idx val="4"/>
            <c:invertIfNegative val="0"/>
            <c:spPr>
              <a:solidFill>
                <a:schemeClr val="accent2"/>
              </a:solidFill>
              <a:ln>
                <a:solidFill>
                  <a:schemeClr val="accent2"/>
                </a:solidFill>
              </a:ln>
            </c:spPr>
          </c:dPt>
          <c:cat>
            <c:strRef>
              <c:f>Sheet1!$A$2:$A$6</c:f>
              <c:strCache>
                <c:ptCount val="5"/>
                <c:pt idx="0">
                  <c:v>东南亚</c:v>
                </c:pt>
                <c:pt idx="1">
                  <c:v>巴西</c:v>
                </c:pt>
                <c:pt idx="2">
                  <c:v>印度</c:v>
                </c:pt>
                <c:pt idx="3">
                  <c:v>泰国</c:v>
                </c:pt>
                <c:pt idx="4">
                  <c:v>墨西哥</c:v>
                </c:pt>
              </c:strCache>
            </c:strRef>
          </c:cat>
          <c:val>
            <c:numRef>
              <c:f>Sheet1!$B$2:$B$6</c:f>
              <c:numCache>
                <c:formatCode>General</c:formatCode>
                <c:ptCount val="5"/>
                <c:pt idx="0">
                  <c:v>54</c:v>
                </c:pt>
                <c:pt idx="1">
                  <c:v>18</c:v>
                </c:pt>
                <c:pt idx="2">
                  <c:v>17</c:v>
                </c:pt>
                <c:pt idx="3">
                  <c:v>14</c:v>
                </c:pt>
                <c:pt idx="4">
                  <c:v>9</c:v>
                </c:pt>
              </c:numCache>
            </c:numRef>
          </c:val>
        </c:ser>
        <c:dLbls>
          <c:txPr>
            <a:bodyPr/>
            <a:lstStyle/>
            <a:p>
              <a:pPr>
                <a:defRPr lang="zh-CN" sz="820" b="1">
                  <a:solidFill>
                    <a:schemeClr val="accent1"/>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115"/>
        <c:axId val="2068027336"/>
        <c:axId val="2113994440"/>
      </c:barChart>
      <c:catAx>
        <c:axId val="2068027336"/>
        <c:scaling>
          <c:orientation val="maxMin"/>
        </c:scaling>
        <c:delete val="0"/>
        <c:axPos val="l"/>
        <c:majorTickMark val="none"/>
        <c:minorTickMark val="none"/>
        <c:tickLblPos val="nextTo"/>
        <c:spPr>
          <a:ln w="9525" cap="flat" cmpd="sng" algn="ctr">
            <a:solidFill>
              <a:srgbClr val="B7B7B7"/>
            </a:solidFill>
            <a:round/>
          </a:ln>
        </c:spPr>
        <c:txPr>
          <a:bodyPr/>
          <a:lstStyle/>
          <a:p>
            <a:pPr>
              <a:defRPr lang="zh-CN" sz="820">
                <a:solidFill>
                  <a:srgbClr val="333333"/>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60"/>
          <c:min val="0"/>
        </c:scaling>
        <c:delete val="1"/>
        <c:axPos val="b"/>
        <c:majorTickMark val="none"/>
        <c:minorTickMark val="none"/>
        <c:tickLblPos val="none"/>
        <c:spPr>
          <a:ln w="9525" cap="flat" cmpd="sng" algn="ctr">
            <a:solidFill>
              <a:srgbClr val="B7B7B7"/>
            </a:solidFill>
            <a:round/>
          </a:ln>
        </c:spPr>
        <c:txPr>
          <a:bodyPr/>
          <a:lstStyle/>
          <a:p>
            <a:pPr>
              <a:defRPr lang="zh-CN" sz="820">
                <a:solidFill>
                  <a:schemeClr val="accent1"/>
                </a:solidFill>
                <a:latin typeface="Microsoft YaHei"/>
                <a:ea typeface="Microsoft YaHei"/>
                <a:cs typeface="Microsoft YaHei"/>
              </a:defRPr>
            </a:pPr>
            <a:endParaRPr lang="zh-CN"/>
          </a:p>
        </c:txPr>
        <c:crossAx val="2068027336"/>
        <c:crosses val="max"/>
        <c:crossBetween val="between"/>
      </c:valAx>
      <c:spPr>
        <a:solidFill>
          <a:srgbClr val="FFFFFF"/>
        </a:solidFill>
        <a:ln>
          <a:noFill/>
        </a:ln>
      </c:spPr>
    </c:plotArea>
    <c:plotVisOnly val="1"/>
    <c:dispBlanksAs val="gap"/>
  </c:chart>
  <c:spPr>
    <a:solidFill>
      <a:srgbClr val="FFFFFF"/>
    </a:solidFill>
    <a:ln>
      <a:noFill/>
    </a:ln>
  </c:spPr>
  <c:txPr>
    <a:bodyPr/>
    <a:lstStyle/>
    <a:p>
      <a:pPr>
        <a:defRPr lang="zh-CN" sz="820">
          <a:solidFill>
            <a:schemeClr val="accent1"/>
          </a:solidFill>
          <a:latin typeface="Microsoft YaHei"/>
          <a:ea typeface="Microsoft YaHei"/>
          <a:cs typeface="Microsoft YaHei"/>
        </a:defRPr>
      </a:pPr>
      <a:endParaRPr lang="zh-CN"/>
    </a:p>
  </c:txPr>
  <c:externalData r:id="rId1">
    <c:autoUpdate val="0"/>
  </c:externalData>
</c:chartSpace>
</file>

<file path=ppt/charts/chart801.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445544554455"/>
          <c:y val="0.0827067669173"/>
          <c:w val="0.910891089109"/>
          <c:h val="0.781954887218"/>
        </c:manualLayout>
      </c:layout>
      <c:areaChart>
        <c:grouping val="stacked"/>
        <c:varyColors val="0"/>
        <c:ser>
          <c:idx val="0"/>
          <c:order val="0"/>
          <c:tx>
            <c:strRef>
              <c:f>Sheet1!$B$1</c:f>
              <c:strCache>
                <c:ptCount val="1"/>
                <c:pt idx="0">
                  <c:v>BEV</c:v>
                </c:pt>
              </c:strCache>
            </c:strRef>
          </c:tx>
          <c:spPr>
            <a:solidFill>
              <a:schemeClr val="accent1"/>
            </a:solidFill>
            <a:ln>
              <a:noFill/>
            </a:ln>
          </c:spP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c:v>
                </c:pt>
                <c:pt idx="1">
                  <c:v>2</c:v>
                </c:pt>
                <c:pt idx="2">
                  <c:v>4.7</c:v>
                </c:pt>
                <c:pt idx="3">
                  <c:v>7.3</c:v>
                </c:pt>
                <c:pt idx="4">
                  <c:v>9.5</c:v>
                </c:pt>
                <c:pt idx="5">
                  <c:v>11</c:v>
                </c:pt>
                <c:pt idx="6">
                  <c:v>14</c:v>
                </c:pt>
              </c:numCache>
            </c:numRef>
          </c:val>
        </c:ser>
        <c:ser>
          <c:idx val="1"/>
          <c:order val="1"/>
          <c:tx>
            <c:strRef>
              <c:f>Sheet1!$C$1</c:f>
              <c:strCache>
                <c:ptCount val="1"/>
                <c:pt idx="0">
                  <c:v>PHEV</c:v>
                </c:pt>
              </c:strCache>
            </c:strRef>
          </c:tx>
          <c:spPr>
            <a:solidFill>
              <a:schemeClr val="accent2"/>
            </a:solidFill>
            <a:ln>
              <a:noFill/>
            </a:ln>
          </c:spP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0.58</c:v>
                </c:pt>
                <c:pt idx="1">
                  <c:v>0.98</c:v>
                </c:pt>
                <c:pt idx="2">
                  <c:v>1.9</c:v>
                </c:pt>
                <c:pt idx="3">
                  <c:v>2.9</c:v>
                </c:pt>
                <c:pt idx="4">
                  <c:v>4.2</c:v>
                </c:pt>
                <c:pt idx="5">
                  <c:v>6.5</c:v>
                </c:pt>
                <c:pt idx="6">
                  <c:v>7.2</c:v>
                </c:pt>
              </c:numCache>
            </c:numRef>
          </c:val>
        </c:ser>
        <c:axId val="2068027336"/>
        <c:axId val="2113994440"/>
      </c:areaChart>
      <c:catAx>
        <c:axId val="2068027336"/>
        <c:scaling>
          <c:orientation val="minMax"/>
        </c:scaling>
        <c:delete val="0"/>
        <c:axPos val="b"/>
        <c:majorTickMark val="none"/>
        <c:minorTickMark val="none"/>
        <c:tickLblPos val="nextTo"/>
        <c:spPr>
          <a:ln w="9525" cap="flat" cmpd="sng" algn="ctr">
            <a:solidFill>
              <a:srgbClr val="B7B7B7"/>
            </a:solidFill>
            <a:round/>
          </a:ln>
        </c:spPr>
        <c:txPr>
          <a:bodyPr/>
          <a:lstStyle/>
          <a:p>
            <a:pPr>
              <a:defRPr lang="zh-CN" sz="820">
                <a:solidFill>
                  <a:srgbClr val="7F7F7F"/>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24"/>
          <c:min val="0"/>
        </c:scaling>
        <c:delete val="1"/>
        <c:axPos val="l"/>
        <c:majorTickMark val="none"/>
        <c:minorTickMark val="none"/>
        <c:tickLblPos val="none"/>
        <c:spPr>
          <a:ln w="9525" cap="flat" cmpd="sng" algn="ctr">
            <a:solidFill>
              <a:srgbClr val="B7B7B7"/>
            </a:solidFill>
            <a:round/>
          </a:ln>
        </c:spPr>
        <c:txPr>
          <a:bodyPr/>
          <a:lstStyle/>
          <a:p>
            <a:pPr>
              <a:defRPr lang="zh-CN" sz="820">
                <a:solidFill>
                  <a:srgbClr val="7F7F7F"/>
                </a:solidFill>
                <a:latin typeface="Microsoft YaHei"/>
                <a:ea typeface="Microsoft YaHei"/>
                <a:cs typeface="Microsoft YaHei"/>
              </a:defRPr>
            </a:pPr>
            <a:endParaRPr lang="zh-CN"/>
          </a:p>
        </c:txPr>
        <c:crossAx val="2068027336"/>
        <c:crosses val="autoZero"/>
        <c:crossBetween val="midCat"/>
      </c:valAx>
      <c:spPr>
        <a:solidFill>
          <a:srgbClr val="FFFFFF"/>
        </a:solidFill>
        <a:ln>
          <a:noFill/>
        </a:ln>
      </c:spPr>
    </c:plotArea>
    <c:plotVisOnly val="1"/>
    <c:dispBlanksAs val="gap"/>
  </c:chart>
  <c:spPr>
    <a:solidFill>
      <a:srgbClr val="FFFFFF"/>
    </a:solidFill>
    <a:ln>
      <a:noFill/>
    </a:ln>
  </c:spPr>
  <c:txPr>
    <a:bodyPr/>
    <a:lstStyle/>
    <a:p>
      <a:pPr>
        <a:defRPr lang="zh-CN" sz="820">
          <a:solidFill>
            <a:srgbClr val="7F7F7F"/>
          </a:solidFill>
          <a:latin typeface="Microsoft YaHei"/>
          <a:ea typeface="Microsoft YaHei"/>
          <a:cs typeface="Microsoft YaHei"/>
        </a:defRPr>
      </a:pPr>
      <a:endParaRPr lang="zh-CN"/>
    </a:p>
  </c:txPr>
  <c:externalData r:id="rId1">
    <c:autoUpdate val="0"/>
  </c:externalData>
</c:chartSpace>
</file>

<file path=ppt/charts/chart802.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121359223301"/>
          <c:y val="0.105882352941"/>
          <c:w val="0.660194174757"/>
          <c:h val="0.823529411765"/>
        </c:manualLayout>
      </c:layout>
      <c:barChart>
        <c:barDir val="bar"/>
        <c:grouping val="clustered"/>
        <c:varyColors val="1"/>
        <c:ser>
          <c:idx val="0"/>
          <c:order val="0"/>
          <c:tx>
            <c:strRef>
              <c:f>Sheet1!$B$1</c:f>
              <c:strCache>
                <c:ptCount val="1"/>
                <c:pt idx="0">
                  <c:v>值</c:v>
                </c:pt>
              </c:strCache>
            </c:strRef>
          </c:tx>
          <c:spPr>
            <a:solidFill>
              <a:schemeClr val="accent1"/>
            </a:solidFill>
            <a:ln>
              <a:solidFill>
                <a:schemeClr val="accent1"/>
              </a:solidFill>
            </a:ln>
          </c:spPr>
          <c:invertIfNegative val="0"/>
          <c:dPt>
            <c:idx val="0"/>
            <c:invertIfNegative val="0"/>
            <c:spPr>
              <a:solidFill>
                <a:schemeClr val="accent2"/>
              </a:solidFill>
              <a:ln>
                <a:solidFill>
                  <a:schemeClr val="accent2"/>
                </a:solidFill>
              </a:ln>
            </c:spPr>
          </c:dPt>
          <c:dPt>
            <c:idx val="1"/>
            <c:invertIfNegative val="0"/>
            <c:spPr>
              <a:solidFill>
                <a:schemeClr val="accent1"/>
              </a:solidFill>
              <a:ln>
                <a:solidFill>
                  <a:schemeClr val="accent1"/>
                </a:solidFill>
              </a:ln>
            </c:spPr>
          </c:dPt>
          <c:dPt>
            <c:idx val="2"/>
            <c:invertIfNegative val="0"/>
            <c:spPr>
              <a:solidFill>
                <a:srgbClr val="B7B7B7"/>
              </a:solidFill>
              <a:ln>
                <a:solidFill>
                  <a:srgbClr val="B7B7B7"/>
                </a:solidFill>
              </a:ln>
            </c:spPr>
          </c:dPt>
          <c:dPt>
            <c:idx val="3"/>
            <c:invertIfNegative val="0"/>
            <c:spPr>
              <a:solidFill>
                <a:srgbClr val="B7B7B7"/>
              </a:solidFill>
              <a:ln>
                <a:solidFill>
                  <a:srgbClr val="B7B7B7"/>
                </a:solidFill>
              </a:ln>
            </c:spPr>
          </c:dPt>
          <c:cat>
            <c:strRef>
              <c:f>Sheet1!$A$2:$A$5</c:f>
              <c:strCache>
                <c:ptCount val="4"/>
                <c:pt idx="0">
                  <c:v>中国</c:v>
                </c:pt>
                <c:pt idx="1">
                  <c:v>全球</c:v>
                </c:pt>
                <c:pt idx="2">
                  <c:v>欧洲</c:v>
                </c:pt>
                <c:pt idx="3">
                  <c:v>美国</c:v>
                </c:pt>
              </c:strCache>
            </c:strRef>
          </c:cat>
          <c:val>
            <c:numRef>
              <c:f>Sheet1!$B$2:$B$5</c:f>
              <c:numCache>
                <c:formatCode>General</c:formatCode>
                <c:ptCount val="4"/>
                <c:pt idx="0">
                  <c:v>38</c:v>
                </c:pt>
                <c:pt idx="1">
                  <c:v>34</c:v>
                </c:pt>
                <c:pt idx="2">
                  <c:v>33</c:v>
                </c:pt>
                <c:pt idx="3">
                  <c:v>22</c:v>
                </c:pt>
              </c:numCache>
            </c:numRef>
          </c:val>
        </c:ser>
        <c:dLbls>
          <c:txPr>
            <a:bodyPr/>
            <a:lstStyle/>
            <a:p>
              <a:pPr>
                <a:defRPr lang="zh-CN" sz="820" b="1">
                  <a:solidFill>
                    <a:schemeClr val="accent1"/>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67"/>
        <c:axId val="2068027336"/>
        <c:axId val="2113994440"/>
      </c:barChart>
      <c:catAx>
        <c:axId val="2068027336"/>
        <c:scaling>
          <c:orientation val="maxMin"/>
        </c:scaling>
        <c:delete val="0"/>
        <c:axPos val="l"/>
        <c:majorTickMark val="none"/>
        <c:minorTickMark val="none"/>
        <c:tickLblPos val="nextTo"/>
        <c:spPr>
          <a:ln w="9525" cap="flat" cmpd="sng" algn="ctr">
            <a:solidFill>
              <a:srgbClr val="B7B7B7"/>
            </a:solidFill>
            <a:round/>
          </a:ln>
        </c:spPr>
        <c:txPr>
          <a:bodyPr/>
          <a:lstStyle/>
          <a:p>
            <a:pPr>
              <a:defRPr lang="zh-CN" sz="820">
                <a:solidFill>
                  <a:srgbClr val="333333"/>
                </a:solidFill>
                <a:latin typeface="Microsoft YaHei"/>
                <a:ea typeface="Microsoft YaHei"/>
                <a:cs typeface="Microsoft YaHei"/>
              </a:defRPr>
            </a:pPr>
            <a:endParaRPr lang="zh-CN"/>
          </a:p>
        </c:txPr>
        <c:crossAx val="2113994440"/>
        <c:crosses val="autoZero"/>
        <c:auto val="1"/>
        <c:lblAlgn val="ctr"/>
        <c:lblOffset val="100"/>
        <c:noMultiLvlLbl val="0"/>
      </c:catAx>
      <c:valAx>
        <c:axId val="2113994440"/>
        <c:scaling>
          <c:orientation val="minMax"/>
          <c:max val="44"/>
          <c:min val="0"/>
        </c:scaling>
        <c:delete val="1"/>
        <c:axPos val="b"/>
        <c:majorTickMark val="none"/>
        <c:minorTickMark val="none"/>
        <c:tickLblPos val="none"/>
        <c:spPr>
          <a:ln w="9525" cap="flat" cmpd="sng" algn="ctr">
            <a:solidFill>
              <a:srgbClr val="B7B7B7"/>
            </a:solidFill>
            <a:round/>
          </a:ln>
        </c:spPr>
        <c:txPr>
          <a:bodyPr/>
          <a:lstStyle/>
          <a:p>
            <a:pPr>
              <a:defRPr lang="zh-CN" sz="820">
                <a:solidFill>
                  <a:schemeClr val="accent1"/>
                </a:solidFill>
                <a:latin typeface="Microsoft YaHei"/>
                <a:ea typeface="Microsoft YaHei"/>
                <a:cs typeface="Microsoft YaHei"/>
              </a:defRPr>
            </a:pPr>
            <a:endParaRPr lang="zh-CN"/>
          </a:p>
        </c:txPr>
        <c:crossAx val="2068027336"/>
        <c:crosses val="max"/>
        <c:crossBetween val="between"/>
      </c:valAx>
      <c:spPr>
        <a:solidFill>
          <a:srgbClr val="FFFFFF"/>
        </a:solidFill>
        <a:ln>
          <a:noFill/>
        </a:ln>
      </c:spPr>
    </c:plotArea>
    <c:plotVisOnly val="1"/>
    <c:dispBlanksAs val="gap"/>
  </c:chart>
  <c:spPr>
    <a:solidFill>
      <a:srgbClr val="FFFFFF"/>
    </a:solidFill>
    <a:ln>
      <a:noFill/>
    </a:ln>
  </c:spPr>
  <c:txPr>
    <a:bodyPr/>
    <a:lstStyle/>
    <a:p>
      <a:pPr>
        <a:defRPr lang="zh-CN" sz="820">
          <a:solidFill>
            <a:schemeClr val="accent1"/>
          </a:solidFill>
          <a:latin typeface="Microsoft YaHei"/>
          <a:ea typeface="Microsoft YaHei"/>
          <a:cs typeface="Microsoft YaHei"/>
        </a:defRPr>
      </a:pPr>
      <a:endParaRPr lang="zh-CN"/>
    </a:p>
  </c:txPr>
  <c:externalData r:id="rId1">
    <c:autoUpdate val="0"/>
  </c:externalData>
</c:chartSpace>
</file>

<file path=ppt/charts/chart803.xml><?xml version="1.0" encoding="utf-8"?>
<c:chartSpace xmlns:c="http://schemas.openxmlformats.org/drawingml/2006/chart" xmlns:a="http://schemas.openxmlformats.org/drawingml/2006/main" xmlns:r="http://schemas.openxmlformats.org/officeDocument/2006/relationships">
  <c:date1904 val="0"/>
  <c:lang val="zh-CN"/>
  <c:chart>
    <c:autoTitleDeleted val="1"/>
    <c:plotArea>
      <c:layout>
        <c:manualLayout>
          <c:layoutTarget val="inner"/>
          <c:xMode val="edge"/>
          <c:yMode val="edge"/>
          <c:wMode val="factor"/>
          <c:hMode val="factor"/>
          <c:x val="0.0194174757282"/>
          <c:y val="0.129411764706"/>
          <c:w val="0.961165048544"/>
          <c:h val="0.658823529412"/>
        </c:manualLayout>
      </c:layout>
      <c:barChart>
        <c:barDir val="col"/>
        <c:grouping val="clustered"/>
        <c:varyColors val="0"/>
        <c:ser>
          <c:idx val="0"/>
          <c:order val="0"/>
          <c:tx>
            <c:strRef>
              <c:f>Sheet1!$B$1</c:f>
              <c:strCache>
                <c:ptCount val="1"/>
                <c:pt idx="0">
                  <c:v>BEV</c:v>
                </c:pt>
              </c:strCache>
            </c:strRef>
          </c:tx>
          <c:spPr>
            <a:solidFill>
              <a:schemeClr val="accent1"/>
            </a:solidFill>
            <a:ln>
              <a:solidFill>
                <a:schemeClr val="accent1"/>
              </a:solidFill>
            </a:ln>
          </c:spPr>
          <c:invertIfNegative val="0"/>
          <c:cat>
            <c:strRef>
              <c:f>Sheet1!$A$2:$A$5</c:f>
              <c:strCache>
                <c:ptCount val="4"/>
                <c:pt idx="0">
                  <c:v>2022</c:v>
                </c:pt>
                <c:pt idx="1">
                  <c:v>2023</c:v>
                </c:pt>
                <c:pt idx="2">
                  <c:v>2024</c:v>
                </c:pt>
                <c:pt idx="3">
                  <c:v>2025</c:v>
                </c:pt>
              </c:strCache>
            </c:strRef>
          </c:cat>
          <c:val>
            <c:numRef>
              <c:f>Sheet1!$B$2:$B$5</c:f>
              <c:numCache>
                <c:formatCode>General</c:formatCode>
                <c:ptCount val="4"/>
                <c:pt idx="0">
                  <c:v>4.5</c:v>
                </c:pt>
                <c:pt idx="1">
                  <c:v>5.5</c:v>
                </c:pt>
                <c:pt idx="2">
                  <c:v>6.4</c:v>
                </c:pt>
                <c:pt idx="3">
                  <c:v>8.2</c:v>
                </c:pt>
              </c:numCache>
            </c:numRef>
          </c:val>
        </c:ser>
        <c:ser>
          <c:idx val="1"/>
          <c:order val="1"/>
          <c:tx>
            <c:strRef>
              <c:f>Sheet1!$C$1</c:f>
              <c:strCache>
                <c:ptCount val="1"/>
                <c:pt idx="0">
                  <c:v>PHEV</c:v>
                </c:pt>
              </c:strCache>
            </c:strRef>
          </c:tx>
          <c:spPr>
            <a:solidFill>
              <a:schemeClr val="accent2"/>
            </a:solidFill>
            <a:ln>
              <a:solidFill>
                <a:schemeClr val="accent2"/>
              </a:solidFill>
            </a:ln>
          </c:spPr>
          <c:invertIfNegative val="0"/>
          <c:cat>
            <c:strRef>
              <c:f>Sheet1!$A$2:$A$5</c:f>
              <c:strCache>
                <c:ptCount val="4"/>
                <c:pt idx="0">
                  <c:v>2022</c:v>
                </c:pt>
                <c:pt idx="1">
                  <c:v>2023</c:v>
                </c:pt>
                <c:pt idx="2">
                  <c:v>2024</c:v>
                </c:pt>
                <c:pt idx="3">
                  <c:v>2025</c:v>
                </c:pt>
              </c:strCache>
            </c:strRef>
          </c:cat>
          <c:val>
            <c:numRef>
              <c:f>Sheet1!$C$2:$C$5</c:f>
              <c:numCache>
                <c:formatCode>General</c:formatCode>
                <c:ptCount val="4"/>
                <c:pt idx="0">
                  <c:v>1.5</c:v>
                </c:pt>
                <c:pt idx="1">
                  <c:v>2.7</c:v>
                </c:pt>
                <c:pt idx="2">
                  <c:v>4.9</c:v>
                </c:pt>
                <c:pt idx="3">
                  <c:v>5.1</c:v>
                </c:pt>
              </c:numCache>
            </c:numRef>
          </c:val>
        </c:ser>
        <c:dLbls>
          <c:numFmt formatCode="0.0" sourceLinked="0"/>
          <c:txPr>
            <a:bodyPr/>
            <a:lstStyle/>
            <a:p>
              <a:pPr>
                <a:defRPr lang="zh-CN" sz="820">
                  <a:solidFill>
                    <a:schemeClr val="accent1"/>
                  </a:solidFill>
                  <a:latin typeface="Arial"/>
                  <a:ea typeface="Microsoft YaHei"/>
                  <a:cs typeface="Arial"/>
                </a:defRPr>
              </a:pPr>
              <a:endParaRPr lang="zh-CN"/>
            </a:p>
          </c:txPr>
          <c:dLblPos val="outEnd"/>
          <c:showLegendKey val="0"/>
          <c:showVal val="1"/>
          <c:showCatName val="0"/>
          <c:showSerName val="0"/>
          <c:showPercent val="0"/>
          <c:showBubbleSize val="0"/>
          <c:showLeaderLines val="0"/>
        </c:dLbls>
        <c:gapWidth val="58"/>
        <c:overlap val="-13"/>
        <c:axId val="2068027336"/>
        <c:axId val="2113994440"/>
      </c:barChart>
      <c:catAx>
        <c:axId val="2068027336"/>
        <c:scaling>
          <c:orientation val="minMax"/>
        </c:scaling>
        <c:delete val="0"/>
        <c:axPos val="b"/>
        <c:majorTickMark val="none"/>
        <c:minorTickMark val="none"/>
        <c:tickLblPos val="nextTo"/>
        <c:spPr>
          <a:ln w="9525" cap="flat" cmpd="sng" algn="ctr">
            <a:solidFill>
              <a:srgbClr val="B7B7B7"/>
            </a:solidFill>
            <a:round/>
          </a:ln>
        </c:spPr>
        <c:txPr>
          <a:bodyPr/>
          <a:lstStyle/>
          <a:p>
            <a:pPr>
              <a:defRPr lang="zh-CN" sz="820">
                <a:solidFill>
                  <a:srgbClr val="7F7F7F"/>
                </a:solidFill>
                <a:latin typeface="Arial"/>
                <a:ea typeface="Microsoft YaHei"/>
                <a:cs typeface="Arial"/>
              </a:defRPr>
            </a:pPr>
            <a:endParaRPr lang="zh-CN"/>
          </a:p>
        </c:txPr>
        <c:crossAx val="2113994440"/>
        <c:crosses val="autoZero"/>
        <c:auto val="1"/>
        <c:lblAlgn val="ctr"/>
        <c:lblOffset val="100"/>
        <c:noMultiLvlLbl val="0"/>
      </c:catAx>
      <c:valAx>
        <c:axId val="2113994440"/>
        <c:scaling>
          <c:orientation val="minMax"/>
          <c:max val="10"/>
          <c:min val="0"/>
        </c:scaling>
        <c:delete val="1"/>
        <c:axPos val="l"/>
        <c:majorTickMark val="none"/>
        <c:minorTickMark val="none"/>
        <c:tickLblPos val="none"/>
        <c:spPr>
          <a:ln w="9525" cap="flat" cmpd="sng" algn="ctr">
            <a:solidFill>
              <a:srgbClr val="B7B7B7"/>
            </a:solidFill>
            <a:round/>
          </a:ln>
        </c:spPr>
        <c:txPr>
          <a:bodyPr/>
          <a:lstStyle/>
          <a:p>
            <a:pPr>
              <a:defRPr lang="zh-CN" sz="820">
                <a:solidFill>
                  <a:schemeClr val="accent1"/>
                </a:solidFill>
                <a:latin typeface="Microsoft YaHei"/>
                <a:ea typeface="Microsoft YaHei"/>
                <a:cs typeface="Microsoft YaHei"/>
              </a:defRPr>
            </a:pPr>
            <a:endParaRPr lang="zh-CN"/>
          </a:p>
        </c:txPr>
        <c:crossAx val="2068027336"/>
        <c:crosses val="autoZero"/>
        <c:crossBetween val="between"/>
      </c:valAx>
      <c:spPr>
        <a:solidFill>
          <a:srgbClr val="FFFFFF"/>
        </a:solidFill>
        <a:ln>
          <a:noFill/>
        </a:ln>
      </c:spPr>
    </c:plotArea>
    <c:legend>
      <c:legendPos val="b"/>
      <c:layout/>
      <c:overlay val="0"/>
      <c:txPr>
        <a:bodyPr/>
        <a:lstStyle/>
        <a:p>
          <a:pPr>
            <a:defRPr lang="zh-CN" sz="820">
              <a:solidFill>
                <a:schemeClr val="accent1"/>
              </a:solidFill>
              <a:latin typeface="Microsoft YaHei"/>
              <a:ea typeface="Microsoft YaHei"/>
              <a:cs typeface="Microsoft YaHei"/>
            </a:defRPr>
          </a:pPr>
          <a:endParaRPr lang="zh-CN"/>
        </a:p>
      </c:txPr>
    </c:legend>
    <c:plotVisOnly val="1"/>
    <c:dispBlanksAs val="gap"/>
  </c:chart>
  <c:spPr>
    <a:solidFill>
      <a:srgbClr val="FFFFFF"/>
    </a:solidFill>
    <a:ln>
      <a:noFill/>
    </a:ln>
  </c:spPr>
  <c:txPr>
    <a:bodyPr/>
    <a:lstStyle/>
    <a:p>
      <a:pPr>
        <a:defRPr lang="zh-CN" sz="820">
          <a:solidFill>
            <a:schemeClr val="accent1"/>
          </a:solidFill>
          <a:latin typeface="Microsoft YaHei"/>
          <a:ea typeface="Microsoft YaHei"/>
          <a:cs typeface="Microsoft YaHei"/>
        </a:defRPr>
      </a:pPr>
      <a:endParaRPr lang="zh-CN"/>
    </a:p>
  </c:txPr>
  <c:externalData r:id="rId1">
    <c:autoUpdate val="0"/>
  </c:externalData>
</c:chartSpace>
</file>

<file path=ppt/charts/chartEx90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Sheet1!$A$2:$A$11</cx:f>
        <cx:lvl ptCount="10">
          <cx:pt idx="0">2025 年销量</cx:pt>
          <cx:pt idx="1">中国</cx:pt>
          <cx:pt idx="2">欧洲</cx:pt>
          <cx:pt idx="3">东南亚</cx:pt>
          <cx:pt idx="4">印度</cx:pt>
          <cx:pt idx="5">美国</cx:pt>
          <cx:pt idx="6">韩国</cx:pt>
          <cx:pt idx="7">日本</cx:pt>
          <cx:pt idx="8">其他</cx:pt>
          <cx:pt idx="9">2035 年情景</cx:pt>
        </cx:lvl>
      </cx:strDim>
      <cx:numDim type="val">
        <cx:f>Sheet1!$B$2:$B$11</cx:f>
        <cx:lvl ptCount="10" formatCode="General">
          <cx:pt idx="0">21</cx:pt>
          <cx:pt idx="1">13</cx:pt>
          <cx:pt idx="2">9.8</cx:pt>
          <cx:pt idx="3">2.16</cx:pt>
          <cx:pt idx="4">1.93</cx:pt>
          <cx:pt idx="5">1.6</cx:pt>
          <cx:pt idx="6">0.66</cx:pt>
          <cx:pt idx="7">0.6</cx:pt>
          <cx:pt idx="8">4.25</cx:pt>
          <cx:pt idx="9">55</cx:pt>
        </cx:lvl>
      </cx:numDim>
    </cx:data>
  </cx:chartData>
  <cx:chart>
    <cx:plotArea>
      <cx:plotAreaRegion>
        <cx:series layoutId="waterfall" uniqueId="{00000000-0000-4000-8000-000000000001}">
          <cx:tx>
            <cx:txData>
              <cx:f>Sheet1!$B$1</cx:f>
              <cx:v>steps-waterfall</cx:v>
            </cx:txData>
          </cx:tx>
          <cx:dataLabels pos="outEnd">
            <cx:visibility seriesName="0" categoryName="0" value="1"/>
          </cx:dataLabels>
          <cx:dataId val="0"/>
          <cx:layoutPr>
            <cx:subtotals>
              <cx:idx val="0"/>
              <cx:idx val="9"/>
            </cx:subtotals>
          </cx:layoutPr>
        </cx:series>
      </cx:plotAreaRegion>
      <cx:axis id="0">
        <cx:catScaling gapWidth="0.5"/>
        <cx:tickLabels/>
      </cx:axis>
      <cx:axis id="1">
        <cx:valScaling/>
        <cx:majorGridlines/>
        <cx:tickLabels/>
      </cx:axis>
    </cx:plotArea>
  </cx:chart>
</cx:chartSpace>
</file>

<file path=ppt/charts/colors901.xml><?xml version="1.0" encoding="utf-8"?>
<cs:colorStyle xmlns:cs="http://schemas.microsoft.com/office/drawing/2012/chartStyle" xmlns:a="http://schemas.openxmlformats.org/drawingml/2006/main" meth="cycle" id="10">
  <a:schemeClr val="accent1"/>
  <a:schemeClr val="accent3"/>
  <a:srgbClr val="B3261E"/>
</cs:colorStyle>
</file>

<file path=ppt/charts/style901.xml><?xml version="1.0" encoding="utf-8"?>
<cs:chartStyle xmlns:cs="http://schemas.microsoft.com/office/drawing/2012/chartStyle" xmlns:a="http://schemas.openxmlformats.org/drawingml/2006/main" id="410">
  <cs:axisTitle>
    <cs:lnRef idx="0"/>
    <cs:fillRef idx="0"/>
    <cs:effectRef idx="0"/>
    <cs:fontRef idx="minor">
      <a:schemeClr val="tx1">
        <a:lumMod val="65000"/>
        <a:lumOff val="35000"/>
      </a:schemeClr>
    </cs:fontRef>
    <cs:spPr>
      <a:solidFill>
        <a:schemeClr val="bg1">
          <a:lumMod val="65000"/>
        </a:schemeClr>
      </a:solidFill>
      <a:ln w="19050">
        <a:solidFill>
          <a:schemeClr val="bg1"/>
        </a:solidFill>
      </a:ln>
    </cs:spPr>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lt1"/>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19050">
        <a:solidFill>
          <a:schemeClr val="lt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这份材料回答一个问题:二零二六到二零二八年,车企的电动车增量投入应该投向哪里。封面上的数字是二零二五年全球新车销量中电动车的占比,百分之二十五,也就是每四辆新车里有一辆是电动车。它来自 IEA《Global EV Outlook 2025》数据浏览器,渗透率的口径是纯电加插混占乘用车新车销量的比例。接下来十三页先给结论,再逐页用同一套数据证明,最后请管理层做三个决定。</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说答案。全球电动车的增量重心已经从欧美转向新兴市场,二零二六到二零二八年应当分级投入,并用插电混动打开低渗透市场。支撑这个答案的是三个事实判断。第一,成熟市场见顶:美国二零二五年销量从一百六十万辆降到一百五十万辆,是二零一五年以来首次下滑,渗透率连续两年停在百分之十,日本仍在百分之三。第二,欧洲反弹到百分之二十八靠的是英国和德国,英国渗透率两年上升十二个百分点到百分之三十五,德国上升六个百分点到百分之三十,而法国持平在百分之二十六。第三,新兴市场进入加速段,东南亚渗透率从百分之八点四升到百分之十八,中国、欧洲、美国之外的市场贡献了一百一十万辆增量,首次超过欧洲的一百万辆。由这些事实推出一个产品结论:插电混动占全球电动车销量的百分之三十四,在中国三年增长三点四倍,它是低渗透市场的破冰产品。本次请管理层决定的三件事写在页面底部,后面第十、十一、十三页分别展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这一页要读者记住两个锚点数:二零二五年全球电动车销量两千一百万辆,渗透率百分之二十五。面板 A 的柱是各年销量,单位百万辆,数据直接取自工作簿「销量」表 World 行,括注的年均增速百分之四十八按二零二零到二零二五年五年复合计算;面板 B 是各年渗透率,取自「渗透率」表 World 行。面板 C 的小表把二零二零、二零二一、二零二三、二零二五四个关键年份的销量、增量、同比和渗透率排在一起,二零二一年同比一百二十是拐点。右栏的七倍是二零二五年两千一百万除以二零二零年三百万,四舍五入到一位小数。二零二五年是 IEA 对全年的估计值。从二零二零年的百分之四点四走到百分之二十五只用了五年,电动车已经是主流市场,不再是需要论证是否会到来的利基品类。</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存量地图和增量地图不一样。面板 A 把全球销量按中国、欧洲、美国和其他市场堆叠,柱顶是当年合计;面板 B 是二零二五年各地区的增量,美国是唯一的负值;右下的小表把存量占比和增量占比并排;面板 A 下面是二零二零到二零二五的销量倍数,中国十一点八倍、其他市场十一点五倍,但只有其他市场的增量占比在上升。其他市场等于全球减去中国、欧洲、美国,是本报告的计算值,不是 IEA 单列的数字。右侧增量拆分用二零二五年减二零二四年:中国一千三百万减一千一百万得正两百万,欧洲四百二十万减三百二十万得正一百万,美国一百五十万减一百六十万得负十万,其他市场二百三十万减一百二十万得正一百一十万,合计正四百万。占比用各地区二零二五年销量除以两千一百万:中国约百分之六十二,欧洲百分之二十,美国百分之七,其他市场百分之十一。要读者看的是最后一行:中美欧之外的市场增量首次超过欧洲,而美国转为负数。</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这一页证明第一个判断,成熟市场不再提供确定的增量。面板 A 是欧洲、美国、日本三条渗透率曲线,取自「渗透率」表二零一九到二零二五年;面板 B 是美国、日本、韩国三年的销量,韩国从十三万辆到二十二万辆增长百分之六十九,是成熟市场里唯一起量的。面板 C 把美国、日本、韩国、欧洲整体的销量、两年变化、渗透率和优先级判断列成一张小表。美国二零二四年和二零二五年都是百分之十,销量从一百六十万辆降到一百五十万辆,下降百分之六,计算方式是十万除以一百六十万。日本销量十万辆持平,渗透率百分之三。作为对照,欧洲从百分之二十一升到百分之二十八。由此得出的推论是:把美国当作确定增量来源的假设已经失效,二零二六到二零二八年对美国只能按守势规划。</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欧洲是一组分化的国家市场,不是一个市场。面板 A 按二零二五年渗透率排序:挪威百分之九十七,英国百分之三十五,德国百分之三十,欧洲整体百分之二十八,法国百分之二十六;灰色数字是较二零二三年的百分点变化,用二零二五年值减二零二三年值,英国从二十三到三十五是正十二个点,德国从二十四到三十是正六个点,法国从二十五到二十六只有正一个点。面板 C 是英国、德国、法国、挪威的概览小表,英德列一级、法国三级、挪威饱和不投入。面板 B 的销量来自「销量」表:英国从四十六万辆到七十万辆,德国从七十万辆到八十六万辆,法国从四十七万辆降到四十五万辆,欧洲整体从三百二十万辆到四百二十万辆。欧洲的一百万辆增量集中在英国和德国,所以进入欧洲要按国家排序,英德优先,法国观望。</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这一页证明第三个判断,新兴市场已经从还早变成正在发生。面板 A 对比二零二三年和二零二五年的渗透率:东南亚从百分之五点二到百分之十八,泰国从百分之十一到百分之二十三,巴西从百分之三到百分之九,墨西哥从百分之一点五到百分之七,印度从百分之二点一到百分之四。面板 C 把五个新兴市场的销量、倍数、渗透率、二零三五情景和进入方式列成小表。面板 B 的销量倍数用二零二五年销量除以二零二三年销量:东南亚五十四万除以十六万是三点四倍,巴西十八万除以五点二万是三点五倍,墨西哥九万除以一点七万是五点三倍,印度十七万除以八点二万是二点一倍。东南亚、印度、巴西、墨西哥四个市场合计从三十一万辆到九十八万辆,三点二倍。窗口期就是二零二六到二零二八年。</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产品组合决定能否进入低渗透市场。面板 A 是全球纯电与插混销量的堆叠面积,取自「动力类型」表 World 行,二零二五年纯电一千四百万辆,插混七百二十万辆。面板 B 的插混占比用插混除以纯电加插混:全球七百二十万除以两千一百二十万约百分之三十四,中国五百一十万除以一千三百三十万约百分之三十八,欧洲一百四十万除以四百三十万约百分之三十三,美国三十三万除以一百五十三万约百分之二十二。面板 C 里中国从二零二二年到二零二五年,插混从一百五十万辆增长到五百一十万辆,三点四倍,纯电从四百五十万辆到八百二十万辆,一点八倍。因此进入渗透率低于百分之十的市场,应以插混先行,纯电跟进。</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用增量而不是存量排优先级。面板 B 的小表列出增量前五地区二零二五和二零三五的销量与渗透率对照。面板 A 是 IEA 既定政策情景下二零二五年到二零三五年的年销量增量分解,起点两千一百万辆,终点五千五百万辆,总增量三千四百万辆。各项增量用二零三五年情景值减二零二五年销量:中国两千六百万减一千三百万得一千三百万,欧洲一千四百万减四百二十万得九百八十万,东南亚两百七十万减五十四万得二百一十六万,印度两百一十万减十七万得一百九十三万,美国三百一十万减一百五十万得一百六十万,韩国八十八万减二十二万得六十六万,日本七十万减十万得六十万,其他四百二十五万是总增量减去以上各项的计算值。占比是各项除以三千四百万:中国百分之三十八,欧洲百分之二十九,印度与东南亚合计约百分之十二,美国只有百分之五。要提醒的是,情景值来自 IEA 的既定政策情景,只作参照,不是本报告的预测。</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前面的证据变成一张决定表,增加了二零二三到二零二五年的销量倍数和每个市场的依据页码。三个层级的划分依据是第四到第九页的增量、渗透率和二零三五年情景。一级市场是二零二六到二零二八年增量投入的主战场:中国深耕,东南亚以插混抢滩,英国和德国重点投入并补齐纯电车型。二级市场以插混试点择机放量:巴西、墨西哥、印度,以及以渠道试点为主的韩国。三级市场维持布局、不新增投入:美国、日本、法国。表中的销量和渗透率来自工作簿二零二五年列,二零三五年情景来自「STEPS情景2035」表,IEA 未单列的市场以短横表示。</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节奏是先试点、再放量、最后决定守势市场是否加码。二零二六年,东南亚插混试点上市,泰国首发;英国、德国补齐纯电车型;巴西、墨西哥搭建渠道;中国维持纯电加插混双线。二零二七年,按试点渗透率数据在东南亚放量,印度启动插混试点,美国不新增产能。二零二八年,复盘美国渗透率是否突破百分之十,决定是否加码,印度按试点结果放量,东南亚补齐纯电车型。每年十二月以 IEA 同口径数据复盘,通过决策门再进入下一阶段。这一页是建议的行动节奏,不含新的数据事实。</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项风险各有可监测的触发指标,所以它们不构成不行动的理由。第一项是新兴市场增速回落,触发指标是东南亚二零二六年渗透率低于百分之十八,也就是低于二零二五年水平,影响是二级市场放量推迟,应对是二零二六年试点规模受控,二零二七年初复盘后再放量。第二项是欧洲政策反复,触发指标是德国渗透率回落到百分之二十五以下,二零二四年德国曾从百分之二十四降到百分之二十,影响是英德投入回报期拉长,应对是英国优先、德国按季度评估。第三项是插混需求提前见顶,触发指标是中国插混占比连续两个季度下降,二零二五年为百分之三十八,影响是破冰产品失效,应对是二级市场同步准备纯电版本。触发指标的基准值来自工作簿,阈值是本报告的建议。</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请管理层本季度决定三件事。第一,批准三级市场优先级,决定后九十天内由海外业务部按层级重排二零二六年预算与人员。第二,批准插混先行的产品节奏,九十天内由产品部提交东南亚插混首发车型清单。第三,指定东南亚试点负责人,九十天内成立试点小组,确定泰国为首发市场。下一次复盘定在二零二六年十二月,用 IEA 下一版数据浏览器的同口径数据复核三项触发指标,决定二零二七年是否放量。</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附录给出本报告用到的全部数字和口径。面板 A 是各地区二零二零到二零二五年的电动车销量和二零二五年渗透率,面板 B 是 IEA 既定政策情景的二零三五年值,数值直接取自工作簿,IEA 给出的是取整后的估计值。口径说明:电动车等于纯电加插混,燃料电池车数量极小可以忽略;范围是乘用车;二零二五年为全年估计值;二零三五年情景来自既定政策情景,仅供参照。欧洲包含欧盟二十七国、英国和挪威等,东南亚为 IEA 的区域汇总。数据来源是 IEA 二零二五年发布的 Global EV Outlook 2025 数据浏览器,许可为 CC BY 4.0,二零二六年九月五日经官方接口取数,未修改任何数值。</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ev_market_prioritie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ev_market_prioritie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18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0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9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8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zh-CN"/>
      </a:defPPr>
      <a:lvl1pPr marL="0" algn="l" defTabSz="457200" rtl="0" eaLnBrk="1" latinLnBrk="0" hangingPunct="1">
        <a:defRPr sz="1050" kern="1200">
          <a:solidFill>
            <a:schemeClr val="tx1"/>
          </a:solidFill>
          <a:latin typeface="+mn-lt"/>
          <a:ea typeface="+mn-ea"/>
          <a:cs typeface="+mn-cs"/>
        </a:defRPr>
      </a:lvl1pPr>
      <a:lvl2pPr marL="457200" algn="l" defTabSz="457200" rtl="0" eaLnBrk="1" latinLnBrk="0" hangingPunct="1">
        <a:defRPr sz="1000" kern="1200">
          <a:solidFill>
            <a:schemeClr val="tx1"/>
          </a:solidFill>
          <a:latin typeface="+mn-lt"/>
          <a:ea typeface="+mn-ea"/>
          <a:cs typeface="+mn-cs"/>
        </a:defRPr>
      </a:lvl2pPr>
      <a:lvl3pPr marL="914400" algn="l" defTabSz="457200" rtl="0" eaLnBrk="1" latinLnBrk="0" hangingPunct="1">
        <a:defRPr sz="900" kern="1200">
          <a:solidFill>
            <a:schemeClr val="tx1"/>
          </a:solidFill>
          <a:latin typeface="+mn-lt"/>
          <a:ea typeface="+mn-ea"/>
          <a:cs typeface="+mn-cs"/>
        </a:defRPr>
      </a:lvl3pPr>
      <a:lvl4pPr marL="1371600" algn="l" defTabSz="457200" rtl="0" eaLnBrk="1" latinLnBrk="0" hangingPunct="1">
        <a:defRPr sz="850" kern="1200">
          <a:solidFill>
            <a:schemeClr val="tx1"/>
          </a:solidFill>
          <a:latin typeface="+mn-lt"/>
          <a:ea typeface="+mn-ea"/>
          <a:cs typeface="+mn-cs"/>
        </a:defRPr>
      </a:lvl4pPr>
      <a:lvl5pPr marL="1828800" algn="l" defTabSz="457200" rtl="0" eaLnBrk="1" latinLnBrk="0" hangingPunct="1">
        <a:defRPr sz="8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301.xml"/>
  <Relationship Id="rId3" Type="http://schemas.openxmlformats.org/officeDocument/2006/relationships/chart" Target="../charts/chart302.xml"/>
  <Relationship Id="rId4"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401.xml"/>
  <Relationship Id="rId3" Type="http://schemas.openxmlformats.org/officeDocument/2006/relationships/chart" Target="../charts/chart402.xml"/>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501.xml"/>
  <Relationship Id="rId3" Type="http://schemas.openxmlformats.org/officeDocument/2006/relationships/chart" Target="../charts/chart502.xml"/>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601.xml"/>
  <Relationship Id="rId3" Type="http://schemas.openxmlformats.org/officeDocument/2006/relationships/chart" Target="../charts/chart602.xml"/>
  <Relationship Id="rId4"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701.xml"/>
  <Relationship Id="rId3" Type="http://schemas.openxmlformats.org/officeDocument/2006/relationships/chart" Target="../charts/chart702.xml"/>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chart" Target="../charts/chart801.xml"/>
  <Relationship Id="rId3" Type="http://schemas.openxmlformats.org/officeDocument/2006/relationships/chart" Target="../charts/chart802.xml"/>
  <Relationship Id="rId4" Type="http://schemas.openxmlformats.org/officeDocument/2006/relationships/chart" Target="../charts/chart803.xml"/>
  <Relationship Id="rId5"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microsoft.com/office/2014/relationships/chartEx" Target="../charts/chartEx901.xml"/>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www.iea.org/data-and-statistics/data-tools/global-ev-data-explorer" TargetMode="External"/>
  <Relationship Id="rId3"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cover-meta"/>
          <p:cNvGrpSpPr/>
          <p:nvPr/>
        </p:nvGrpSpPr>
        <p:grpSpPr>
          <a:xfrm>
            <a:off x="452438" y="285750"/>
            <a:ext cx="11282362" cy="225266"/>
            <a:chOff x="452438" y="285750"/>
            <a:chExt cx="11282362" cy="225266"/>
          </a:xfrm>
        </p:grpSpPr>
        <p:sp>
          <p:nvSpPr>
            <p:cNvPr id="2" name="TextBox 2"/>
            <p:cNvSpPr txBox="1"/>
            <p:nvPr/>
          </p:nvSpPr>
          <p:spPr>
            <a:xfrm>
              <a:off x="452438" y="349091"/>
              <a:ext cx="4227501" cy="161925"/>
            </a:xfrm>
            <a:prstGeom prst="rect">
              <a:avLst/>
            </a:prstGeom>
            <a:noFill/>
            <a:ln>
              <a:noFill/>
            </a:ln>
          </p:spPr>
          <p:txBody>
            <a:bodyPr wrap="none" lIns="0" tIns="0" rIns="0" bIns="0" anchor="t" anchorCtr="0">
              <a:spAutoFit/>
            </a:bodyPr>
            <a:lstStyle/>
            <a:p>
              <a:pPr algn="l"/>
              <a:r>
                <a:rPr lang="zh-CN" sz="820" spc="150" dirty="0">
                  <a:solidFill>
                    <a:schemeClr val="accent3"/>
                  </a:solidFill>
                  <a:latin typeface="+mn-lt"/>
                  <a:ea typeface="+mn-ea"/>
                  <a:cs typeface="+mn-cs"/>
                </a:rPr>
                <a:t>管理层讨论稿 · 2026 年 9 月 · 基于 IEA Global EV Outlook 2025</a:t>
              </a:r>
            </a:p>
          </p:txBody>
        </p:sp>
        <p:sp>
          <p:nvSpPr>
            <p:cNvPr id="3" name="Rectangle 3"/>
            <p:cNvSpPr/>
            <p:nvPr/>
          </p:nvSpPr>
          <p:spPr>
            <a:xfrm>
              <a:off x="10953750" y="285750"/>
              <a:ext cx="781050" cy="171450"/>
            </a:xfrm>
            <a:prstGeom prst="rect">
              <a:avLst/>
            </a:prstGeom>
            <a:noFill/>
            <a:ln w="7144">
              <a:solidFill>
                <a:schemeClr val="accent3"/>
              </a:solidFill>
            </a:ln>
          </p:spPr>
        </p:sp>
        <p:sp>
          <p:nvSpPr>
            <p:cNvPr id="4" name="TextBox 4"/>
            <p:cNvSpPr txBox="1"/>
            <p:nvPr/>
          </p:nvSpPr>
          <p:spPr>
            <a:xfrm>
              <a:off x="11177968" y="328612"/>
              <a:ext cx="332613" cy="147638"/>
            </a:xfrm>
            <a:prstGeom prst="rect">
              <a:avLst/>
            </a:prstGeom>
            <a:noFill/>
            <a:ln>
              <a:noFill/>
            </a:ln>
          </p:spPr>
          <p:txBody>
            <a:bodyPr wrap="none" lIns="0" tIns="0" rIns="0" bIns="0" anchor="t" anchorCtr="0">
              <a:spAutoFit/>
            </a:bodyPr>
            <a:lstStyle/>
            <a:p>
              <a:pPr algn="ctr"/>
              <a:r>
                <a:rPr lang="zh-CN" sz="750" spc="75" dirty="0">
                  <a:solidFill>
                    <a:schemeClr val="accent3"/>
                  </a:solidFill>
                  <a:latin typeface="+mn-lt"/>
                  <a:ea typeface="+mn-ea"/>
                  <a:cs typeface="+mn-cs"/>
                </a:rPr>
                <a:t>讨论稿</a:t>
              </a:r>
            </a:p>
          </p:txBody>
        </p:sp>
      </p:grpSp>
      <p:grpSp>
        <p:nvGrpSpPr>
          <p:cNvPr id="10" name="cover-title-stack"/>
          <p:cNvGrpSpPr/>
          <p:nvPr/>
        </p:nvGrpSpPr>
        <p:grpSpPr>
          <a:xfrm>
            <a:off x="440436" y="1320165"/>
            <a:ext cx="4031742" cy="1553146"/>
            <a:chOff x="440436" y="1320165"/>
            <a:chExt cx="4031742" cy="1553146"/>
          </a:xfrm>
        </p:grpSpPr>
        <p:sp>
          <p:nvSpPr>
            <p:cNvPr id="6" name="TextBox 6"/>
            <p:cNvSpPr txBox="1"/>
            <p:nvPr/>
          </p:nvSpPr>
          <p:spPr>
            <a:xfrm>
              <a:off x="440436" y="1320165"/>
              <a:ext cx="4031742" cy="645414"/>
            </a:xfrm>
            <a:prstGeom prst="rect">
              <a:avLst/>
            </a:prstGeom>
            <a:noFill/>
            <a:ln>
              <a:noFill/>
            </a:ln>
          </p:spPr>
          <p:txBody>
            <a:bodyPr wrap="none" lIns="0" tIns="0" rIns="0" bIns="0" anchor="t" anchorCtr="0">
              <a:spAutoFit/>
            </a:bodyPr>
            <a:lstStyle/>
            <a:p>
              <a:pPr algn="l"/>
              <a:r>
                <a:rPr lang="zh-CN" sz="3300" b="1" dirty="0">
                  <a:solidFill>
                    <a:srgbClr val="FFFFFF"/>
                  </a:solidFill>
                  <a:latin typeface="+mn-lt"/>
                  <a:ea typeface="+mn-ea"/>
                  <a:cs typeface="+mn-cs"/>
                </a:rPr>
                <a:t>电动车增长的下一站</a:t>
              </a:r>
            </a:p>
          </p:txBody>
        </p:sp>
        <p:sp>
          <p:nvSpPr>
            <p:cNvPr id="7" name="TextBox 7"/>
            <p:cNvSpPr txBox="1"/>
            <p:nvPr/>
          </p:nvSpPr>
          <p:spPr>
            <a:xfrm>
              <a:off x="449580" y="1876425"/>
              <a:ext cx="3902393"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2026–2028 车企市场优先级与产品组合决策</a:t>
              </a:r>
            </a:p>
          </p:txBody>
        </p:sp>
        <p:sp>
          <p:nvSpPr>
            <p:cNvPr id="8" name="Line 8"/>
            <p:cNvSpPr/>
            <p:nvPr/>
          </p:nvSpPr>
          <p:spPr>
            <a:xfrm>
              <a:off x="457200" y="2286000"/>
              <a:ext cx="2971800" cy="9525"/>
            </a:xfrm>
            <a:custGeom>
              <a:avLst/>
              <a:gdLst/>
              <a:ahLst/>
              <a:cxnLst/>
              <a:rect l="l" t="t" r="r" b="b"/>
              <a:pathLst>
                <a:path w="2971800" h="9525">
                  <a:moveTo>
                    <a:pt x="0" y="0"/>
                  </a:moveTo>
                  <a:lnTo>
                    <a:pt x="2971800" y="0"/>
                  </a:lnTo>
                </a:path>
              </a:pathLst>
            </a:custGeom>
            <a:noFill/>
            <a:ln w="9525">
              <a:solidFill>
                <a:schemeClr val="accent3"/>
              </a:solidFill>
            </a:ln>
          </p:spPr>
        </p:sp>
        <p:sp>
          <p:nvSpPr>
            <p:cNvPr id="9" name="TextBox 9"/>
            <p:cNvSpPr txBox="1"/>
            <p:nvPr/>
          </p:nvSpPr>
          <p:spPr>
            <a:xfrm>
              <a:off x="451866" y="2477452"/>
              <a:ext cx="3777806" cy="395859"/>
            </a:xfrm>
            <a:prstGeom prst="rect">
              <a:avLst/>
            </a:prstGeom>
            <a:noFill/>
            <a:ln>
              <a:noFill/>
            </a:ln>
          </p:spPr>
          <p:txBody>
            <a:bodyPr wrap="none" lIns="0" tIns="0" rIns="0" bIns="0" anchor="t" anchorCtr="0">
              <a:spAutoFit/>
            </a:bodyPr>
            <a:lstStyle/>
            <a:p>
              <a:pPr algn="l">
                <a:lnSpc>
                  <a:spcPts val="1500"/>
                </a:lnSpc>
              </a:pPr>
              <a:r>
                <a:rPr lang="zh-CN" sz="1050" dirty="0">
                  <a:solidFill>
                    <a:srgbClr val="FFFFFF"/>
                  </a:solidFill>
                  <a:latin typeface="+mn-lt"/>
                  <a:ea typeface="+mn-ea"/>
                  <a:cs typeface="+mn-cs"/>
                </a:rPr>
                <a:t>2025 年全球每四辆新车就有一辆是电动车,</a:t>
              </a:r>
              <a:br/>
              <a:r>
                <a:rPr lang="zh-CN" sz="1050" dirty="0">
                  <a:solidFill>
                    <a:srgbClr val="FFFFFF"/>
                  </a:solidFill>
                  <a:latin typeface="+mn-lt"/>
                  <a:ea typeface="+mn-ea"/>
                  <a:cs typeface="+mn-cs"/>
                </a:rPr>
                <a:t>但 400 万辆增量里美国为负、中美欧之外的市场首次超过欧洲。</a:t>
              </a:r>
            </a:p>
          </p:txBody>
        </p:sp>
      </p:grpSp>
      <p:grpSp>
        <p:nvGrpSpPr>
          <p:cNvPr id="21" name="cover-questions"/>
          <p:cNvGrpSpPr/>
          <p:nvPr/>
        </p:nvGrpSpPr>
        <p:grpSpPr>
          <a:xfrm>
            <a:off x="452438" y="3225641"/>
            <a:ext cx="5666574" cy="1019270"/>
            <a:chOff x="452438" y="3225641"/>
            <a:chExt cx="5666574" cy="1019270"/>
          </a:xfrm>
        </p:grpSpPr>
        <p:sp>
          <p:nvSpPr>
            <p:cNvPr id="11" name="TextBox 11"/>
            <p:cNvSpPr txBox="1"/>
            <p:nvPr/>
          </p:nvSpPr>
          <p:spPr>
            <a:xfrm>
              <a:off x="452438" y="3225641"/>
              <a:ext cx="1164565" cy="161925"/>
            </a:xfrm>
            <a:prstGeom prst="rect">
              <a:avLst/>
            </a:prstGeom>
            <a:noFill/>
            <a:ln>
              <a:noFill/>
            </a:ln>
          </p:spPr>
          <p:txBody>
            <a:bodyPr wrap="none" lIns="0" tIns="0" rIns="0" bIns="0" anchor="t" anchorCtr="0">
              <a:spAutoFit/>
            </a:bodyPr>
            <a:lstStyle/>
            <a:p>
              <a:pPr algn="l"/>
              <a:r>
                <a:rPr lang="zh-CN" sz="820" b="1" spc="150" dirty="0">
                  <a:solidFill>
                    <a:schemeClr val="accent3"/>
                  </a:solidFill>
                  <a:latin typeface="+mn-lt"/>
                  <a:ea typeface="+mn-ea"/>
                  <a:cs typeface="+mn-cs"/>
                </a:rPr>
                <a:t>本文档回答三个问题</a:t>
              </a:r>
            </a:p>
          </p:txBody>
        </p:sp>
        <p:sp>
          <p:nvSpPr>
            <p:cNvPr id="12" name="Ellipse 12"/>
            <p:cNvSpPr/>
            <p:nvPr/>
          </p:nvSpPr>
          <p:spPr>
            <a:xfrm>
              <a:off x="457200" y="3457575"/>
              <a:ext cx="152400" cy="152400"/>
            </a:xfrm>
            <a:prstGeom prst="ellipse">
              <a:avLst/>
            </a:prstGeom>
            <a:solidFill>
              <a:schemeClr val="accent3"/>
            </a:solidFill>
            <a:ln>
              <a:noFill/>
            </a:ln>
          </p:spPr>
        </p:sp>
        <p:sp>
          <p:nvSpPr>
            <p:cNvPr id="13" name="TextBox 13"/>
            <p:cNvSpPr txBox="1"/>
            <p:nvPr/>
          </p:nvSpPr>
          <p:spPr>
            <a:xfrm>
              <a:off x="500559" y="3486150"/>
              <a:ext cx="65682" cy="147638"/>
            </a:xfrm>
            <a:prstGeom prst="rect">
              <a:avLst/>
            </a:prstGeom>
            <a:noFill/>
            <a:ln>
              <a:noFill/>
            </a:ln>
          </p:spPr>
          <p:txBody>
            <a:bodyPr wrap="none" lIns="0" tIns="0" rIns="0" bIns="0" anchor="t" anchorCtr="0">
              <a:spAutoFit/>
            </a:bodyPr>
            <a:lstStyle/>
            <a:p>
              <a:pPr algn="ctr"/>
              <a:r>
                <a:rPr lang="zh-CN" sz="750" b="1" dirty="0">
                  <a:solidFill>
                    <a:schemeClr val="accent1"/>
                  </a:solidFill>
                  <a:latin typeface="Arial"/>
                  <a:ea typeface="Arial"/>
                  <a:cs typeface="Arial"/>
                </a:rPr>
                <a:t>1</a:t>
              </a:r>
            </a:p>
          </p:txBody>
        </p:sp>
        <p:sp>
          <p:nvSpPr>
            <p:cNvPr id="14" name="TextBox 14"/>
            <p:cNvSpPr txBox="1"/>
            <p:nvPr/>
          </p:nvSpPr>
          <p:spPr>
            <a:xfrm>
              <a:off x="680466" y="3468052"/>
              <a:ext cx="5438546"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增量在哪里:中国、欧洲、美国和新兴市场 2025 年各贡献了多少,2035 年还会是这样吗</a:t>
              </a:r>
            </a:p>
          </p:txBody>
        </p:sp>
        <p:sp>
          <p:nvSpPr>
            <p:cNvPr id="15" name="Ellipse 15"/>
            <p:cNvSpPr/>
            <p:nvPr/>
          </p:nvSpPr>
          <p:spPr>
            <a:xfrm>
              <a:off x="457200" y="3743325"/>
              <a:ext cx="152400" cy="152400"/>
            </a:xfrm>
            <a:prstGeom prst="ellipse">
              <a:avLst/>
            </a:prstGeom>
            <a:solidFill>
              <a:schemeClr val="accent3"/>
            </a:solidFill>
            <a:ln>
              <a:noFill/>
            </a:ln>
          </p:spPr>
        </p:sp>
        <p:sp>
          <p:nvSpPr>
            <p:cNvPr id="16" name="TextBox 16"/>
            <p:cNvSpPr txBox="1"/>
            <p:nvPr/>
          </p:nvSpPr>
          <p:spPr>
            <a:xfrm>
              <a:off x="500559" y="3771900"/>
              <a:ext cx="65682" cy="147638"/>
            </a:xfrm>
            <a:prstGeom prst="rect">
              <a:avLst/>
            </a:prstGeom>
            <a:noFill/>
            <a:ln>
              <a:noFill/>
            </a:ln>
          </p:spPr>
          <p:txBody>
            <a:bodyPr wrap="none" lIns="0" tIns="0" rIns="0" bIns="0" anchor="t" anchorCtr="0">
              <a:spAutoFit/>
            </a:bodyPr>
            <a:lstStyle/>
            <a:p>
              <a:pPr algn="ctr"/>
              <a:r>
                <a:rPr lang="zh-CN" sz="750" b="1" dirty="0">
                  <a:solidFill>
                    <a:schemeClr val="accent1"/>
                  </a:solidFill>
                  <a:latin typeface="Arial"/>
                  <a:ea typeface="Arial"/>
                  <a:cs typeface="Arial"/>
                </a:rPr>
                <a:t>2</a:t>
              </a:r>
            </a:p>
          </p:txBody>
        </p:sp>
        <p:sp>
          <p:nvSpPr>
            <p:cNvPr id="17" name="TextBox 17"/>
            <p:cNvSpPr txBox="1"/>
            <p:nvPr/>
          </p:nvSpPr>
          <p:spPr>
            <a:xfrm>
              <a:off x="680466" y="3753802"/>
              <a:ext cx="3717265"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用什么产品进入:PHEV 在低渗透市场的角色是过渡还是破冰</a:t>
              </a:r>
            </a:p>
          </p:txBody>
        </p:sp>
        <p:sp>
          <p:nvSpPr>
            <p:cNvPr id="18" name="Ellipse 18"/>
            <p:cNvSpPr/>
            <p:nvPr/>
          </p:nvSpPr>
          <p:spPr>
            <a:xfrm>
              <a:off x="457200" y="4029075"/>
              <a:ext cx="152400" cy="152400"/>
            </a:xfrm>
            <a:prstGeom prst="ellipse">
              <a:avLst/>
            </a:prstGeom>
            <a:solidFill>
              <a:schemeClr val="accent3"/>
            </a:solidFill>
            <a:ln>
              <a:noFill/>
            </a:ln>
          </p:spPr>
        </p:sp>
        <p:sp>
          <p:nvSpPr>
            <p:cNvPr id="19" name="TextBox 19"/>
            <p:cNvSpPr txBox="1"/>
            <p:nvPr/>
          </p:nvSpPr>
          <p:spPr>
            <a:xfrm>
              <a:off x="500559" y="4057650"/>
              <a:ext cx="65682" cy="147638"/>
            </a:xfrm>
            <a:prstGeom prst="rect">
              <a:avLst/>
            </a:prstGeom>
            <a:noFill/>
            <a:ln>
              <a:noFill/>
            </a:ln>
          </p:spPr>
          <p:txBody>
            <a:bodyPr wrap="none" lIns="0" tIns="0" rIns="0" bIns="0" anchor="t" anchorCtr="0">
              <a:spAutoFit/>
            </a:bodyPr>
            <a:lstStyle/>
            <a:p>
              <a:pPr algn="ctr"/>
              <a:r>
                <a:rPr lang="zh-CN" sz="750" b="1" dirty="0">
                  <a:solidFill>
                    <a:schemeClr val="accent1"/>
                  </a:solidFill>
                  <a:latin typeface="Arial"/>
                  <a:ea typeface="Arial"/>
                  <a:cs typeface="Arial"/>
                </a:rPr>
                <a:t>3</a:t>
              </a:r>
            </a:p>
          </p:txBody>
        </p:sp>
        <p:sp>
          <p:nvSpPr>
            <p:cNvPr id="20" name="TextBox 20"/>
            <p:cNvSpPr txBox="1"/>
            <p:nvPr/>
          </p:nvSpPr>
          <p:spPr>
            <a:xfrm>
              <a:off x="680466" y="4039552"/>
              <a:ext cx="4300671"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怎么排优先级:2026–2028 三年,增量投入按什么层级、什么节奏分配</a:t>
              </a:r>
            </a:p>
          </p:txBody>
        </p:sp>
      </p:grpSp>
      <p:grpSp>
        <p:nvGrpSpPr>
          <p:cNvPr id="31" name="cover-figures"/>
          <p:cNvGrpSpPr/>
          <p:nvPr/>
        </p:nvGrpSpPr>
        <p:grpSpPr>
          <a:xfrm>
            <a:off x="7795260" y="1238250"/>
            <a:ext cx="3939540" cy="2879407"/>
            <a:chOff x="7795260" y="1238250"/>
            <a:chExt cx="3939540" cy="2879407"/>
          </a:xfrm>
        </p:grpSpPr>
        <p:sp>
          <p:nvSpPr>
            <p:cNvPr id="22" name="Line 22"/>
            <p:cNvSpPr/>
            <p:nvPr/>
          </p:nvSpPr>
          <p:spPr>
            <a:xfrm>
              <a:off x="7810500" y="1238250"/>
              <a:ext cx="3924300" cy="9525"/>
            </a:xfrm>
            <a:custGeom>
              <a:avLst/>
              <a:gdLst/>
              <a:ahLst/>
              <a:cxnLst/>
              <a:rect l="l" t="t" r="r" b="b"/>
              <a:pathLst>
                <a:path w="3924300" h="9525">
                  <a:moveTo>
                    <a:pt x="0" y="0"/>
                  </a:moveTo>
                  <a:lnTo>
                    <a:pt x="3924300" y="0"/>
                  </a:lnTo>
                </a:path>
              </a:pathLst>
            </a:custGeom>
            <a:noFill/>
            <a:ln w="7144">
              <a:solidFill>
                <a:schemeClr val="accent3"/>
              </a:solidFill>
            </a:ln>
          </p:spPr>
        </p:sp>
        <p:sp>
          <p:nvSpPr>
            <p:cNvPr id="23" name="TextBox 23"/>
            <p:cNvSpPr txBox="1"/>
            <p:nvPr/>
          </p:nvSpPr>
          <p:spPr>
            <a:xfrm>
              <a:off x="7795260" y="1543050"/>
              <a:ext cx="1366287" cy="58674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Arial"/>
                  <a:cs typeface="Arial"/>
                </a:rPr>
                <a:t>2,100</a:t>
              </a:r>
              <a:r>
                <a:rPr lang="zh-CN" sz="1050" dirty="0">
                  <a:solidFill>
                    <a:schemeClr val="accent3"/>
                  </a:solidFill>
                  <a:latin typeface="+mn-lt"/>
                  <a:ea typeface="+mn-ea"/>
                  <a:cs typeface="+mn-cs"/>
                </a:rPr>
                <a:t xml:space="preserve"> 万辆</a:t>
              </a:r>
            </a:p>
          </p:txBody>
        </p:sp>
        <p:sp>
          <p:nvSpPr>
            <p:cNvPr id="24" name="TextBox 24"/>
            <p:cNvSpPr txBox="1"/>
            <p:nvPr/>
          </p:nvSpPr>
          <p:spPr>
            <a:xfrm>
              <a:off x="7805738" y="1960245"/>
              <a:ext cx="2323643" cy="176212"/>
            </a:xfrm>
            <a:prstGeom prst="rect">
              <a:avLst/>
            </a:prstGeom>
            <a:noFill/>
            <a:ln>
              <a:noFill/>
            </a:ln>
          </p:spPr>
          <p:txBody>
            <a:bodyPr wrap="none" lIns="0" tIns="0" rIns="0" bIns="0" anchor="t" anchorCtr="0">
              <a:spAutoFit/>
            </a:bodyPr>
            <a:lstStyle/>
            <a:p>
              <a:pPr algn="l"/>
              <a:r>
                <a:rPr lang="zh-CN" sz="900" dirty="0">
                  <a:solidFill>
                    <a:schemeClr val="accent3"/>
                  </a:solidFill>
                  <a:latin typeface="+mn-lt"/>
                  <a:ea typeface="+mn-ea"/>
                  <a:cs typeface="+mn-cs"/>
                </a:rPr>
                <a:t>2025 年全球电动车销量,较 2020 年 7.0 倍</a:t>
              </a:r>
            </a:p>
          </p:txBody>
        </p:sp>
        <p:sp>
          <p:nvSpPr>
            <p:cNvPr id="25" name="Line 25"/>
            <p:cNvSpPr/>
            <p:nvPr/>
          </p:nvSpPr>
          <p:spPr>
            <a:xfrm>
              <a:off x="7810500" y="2228850"/>
              <a:ext cx="3924300" cy="9525"/>
            </a:xfrm>
            <a:custGeom>
              <a:avLst/>
              <a:gdLst/>
              <a:ahLst/>
              <a:cxnLst/>
              <a:rect l="l" t="t" r="r" b="b"/>
              <a:pathLst>
                <a:path w="3924300" h="9525">
                  <a:moveTo>
                    <a:pt x="0" y="0"/>
                  </a:moveTo>
                  <a:lnTo>
                    <a:pt x="3924300" y="0"/>
                  </a:lnTo>
                </a:path>
              </a:pathLst>
            </a:custGeom>
            <a:noFill/>
            <a:ln w="7144">
              <a:solidFill>
                <a:schemeClr val="accent3">
                  <a:alpha val="50000"/>
                </a:schemeClr>
              </a:solidFill>
            </a:ln>
          </p:spPr>
        </p:sp>
        <p:sp>
          <p:nvSpPr>
            <p:cNvPr id="26" name="TextBox 26"/>
            <p:cNvSpPr txBox="1"/>
            <p:nvPr/>
          </p:nvSpPr>
          <p:spPr>
            <a:xfrm>
              <a:off x="7795260" y="2533650"/>
              <a:ext cx="838846" cy="58674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Arial"/>
                  <a:cs typeface="Arial"/>
                </a:rPr>
                <a:t>25%</a:t>
              </a:r>
            </a:p>
          </p:txBody>
        </p:sp>
        <p:sp>
          <p:nvSpPr>
            <p:cNvPr id="27" name="TextBox 27"/>
            <p:cNvSpPr txBox="1"/>
            <p:nvPr/>
          </p:nvSpPr>
          <p:spPr>
            <a:xfrm>
              <a:off x="7805738" y="2950845"/>
              <a:ext cx="1978342" cy="176212"/>
            </a:xfrm>
            <a:prstGeom prst="rect">
              <a:avLst/>
            </a:prstGeom>
            <a:noFill/>
            <a:ln>
              <a:noFill/>
            </a:ln>
          </p:spPr>
          <p:txBody>
            <a:bodyPr wrap="none" lIns="0" tIns="0" rIns="0" bIns="0" anchor="t" anchorCtr="0">
              <a:spAutoFit/>
            </a:bodyPr>
            <a:lstStyle/>
            <a:p>
              <a:pPr algn="l"/>
              <a:r>
                <a:rPr lang="zh-CN" sz="900" dirty="0">
                  <a:solidFill>
                    <a:schemeClr val="accent3"/>
                  </a:solidFill>
                  <a:latin typeface="+mn-lt"/>
                  <a:ea typeface="+mn-ea"/>
                  <a:cs typeface="+mn-cs"/>
                </a:rPr>
                <a:t>2025 年全球渗透率,2020 年为 4.4%</a:t>
              </a:r>
            </a:p>
          </p:txBody>
        </p:sp>
        <p:sp>
          <p:nvSpPr>
            <p:cNvPr id="28" name="Line 28"/>
            <p:cNvSpPr/>
            <p:nvPr/>
          </p:nvSpPr>
          <p:spPr>
            <a:xfrm>
              <a:off x="7810500" y="3219450"/>
              <a:ext cx="3924300" cy="9525"/>
            </a:xfrm>
            <a:custGeom>
              <a:avLst/>
              <a:gdLst/>
              <a:ahLst/>
              <a:cxnLst/>
              <a:rect l="l" t="t" r="r" b="b"/>
              <a:pathLst>
                <a:path w="3924300" h="9525">
                  <a:moveTo>
                    <a:pt x="0" y="0"/>
                  </a:moveTo>
                  <a:lnTo>
                    <a:pt x="3924300" y="0"/>
                  </a:lnTo>
                </a:path>
              </a:pathLst>
            </a:custGeom>
            <a:noFill/>
            <a:ln w="7144">
              <a:solidFill>
                <a:schemeClr val="accent3">
                  <a:alpha val="50000"/>
                </a:schemeClr>
              </a:solidFill>
            </a:ln>
          </p:spPr>
        </p:sp>
        <p:sp>
          <p:nvSpPr>
            <p:cNvPr id="29" name="TextBox 29"/>
            <p:cNvSpPr txBox="1"/>
            <p:nvPr/>
          </p:nvSpPr>
          <p:spPr>
            <a:xfrm>
              <a:off x="7795260" y="3524250"/>
              <a:ext cx="1040695" cy="58674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Arial"/>
                  <a:cs typeface="Arial"/>
                </a:rPr>
                <a:t>−10</a:t>
              </a:r>
              <a:r>
                <a:rPr lang="zh-CN" sz="1050" dirty="0">
                  <a:solidFill>
                    <a:schemeClr val="accent3"/>
                  </a:solidFill>
                  <a:latin typeface="+mn-lt"/>
                  <a:ea typeface="+mn-ea"/>
                  <a:cs typeface="+mn-cs"/>
                </a:rPr>
                <a:t xml:space="preserve"> 万辆</a:t>
              </a:r>
            </a:p>
          </p:txBody>
        </p:sp>
        <p:sp>
          <p:nvSpPr>
            <p:cNvPr id="30" name="TextBox 30"/>
            <p:cNvSpPr txBox="1"/>
            <p:nvPr/>
          </p:nvSpPr>
          <p:spPr>
            <a:xfrm>
              <a:off x="7805738" y="3941445"/>
              <a:ext cx="2378164" cy="176212"/>
            </a:xfrm>
            <a:prstGeom prst="rect">
              <a:avLst/>
            </a:prstGeom>
            <a:noFill/>
            <a:ln>
              <a:noFill/>
            </a:ln>
          </p:spPr>
          <p:txBody>
            <a:bodyPr wrap="none" lIns="0" tIns="0" rIns="0" bIns="0" anchor="t" anchorCtr="0">
              <a:spAutoFit/>
            </a:bodyPr>
            <a:lstStyle/>
            <a:p>
              <a:pPr algn="l"/>
              <a:r>
                <a:rPr lang="zh-CN" sz="900" dirty="0">
                  <a:solidFill>
                    <a:schemeClr val="accent3"/>
                  </a:solidFill>
                  <a:latin typeface="+mn-lt"/>
                  <a:ea typeface="+mn-ea"/>
                  <a:cs typeface="+mn-cs"/>
                </a:rPr>
                <a:t>2025 年美国销量变化,2015 年以来首次下滑</a:t>
              </a:r>
            </a:p>
          </p:txBody>
        </p:sp>
      </p:grpSp>
      <p:grpSp>
        <p:nvGrpSpPr>
          <p:cNvPr id="40" name="cover-structure"/>
          <p:cNvGrpSpPr/>
          <p:nvPr/>
        </p:nvGrpSpPr>
        <p:grpSpPr>
          <a:xfrm>
            <a:off x="451866" y="4762500"/>
            <a:ext cx="11282934" cy="993457"/>
            <a:chOff x="451866" y="4762500"/>
            <a:chExt cx="11282934" cy="993457"/>
          </a:xfrm>
        </p:grpSpPr>
        <p:sp>
          <p:nvSpPr>
            <p:cNvPr id="32" name="Line 32"/>
            <p:cNvSpPr/>
            <p:nvPr/>
          </p:nvSpPr>
          <p:spPr>
            <a:xfrm>
              <a:off x="457200" y="4762500"/>
              <a:ext cx="11277600" cy="9525"/>
            </a:xfrm>
            <a:custGeom>
              <a:avLst/>
              <a:gdLst/>
              <a:ahLst/>
              <a:cxnLst/>
              <a:rect l="l" t="t" r="r" b="b"/>
              <a:pathLst>
                <a:path w="11277600" h="9525">
                  <a:moveTo>
                    <a:pt x="0" y="0"/>
                  </a:moveTo>
                  <a:lnTo>
                    <a:pt x="11277600" y="0"/>
                  </a:lnTo>
                </a:path>
              </a:pathLst>
            </a:custGeom>
            <a:noFill/>
            <a:ln w="7144">
              <a:solidFill>
                <a:schemeClr val="accent3"/>
              </a:solidFill>
            </a:ln>
          </p:spPr>
        </p:sp>
        <p:sp>
          <p:nvSpPr>
            <p:cNvPr id="33" name="TextBox 33"/>
            <p:cNvSpPr txBox="1"/>
            <p:nvPr/>
          </p:nvSpPr>
          <p:spPr>
            <a:xfrm>
              <a:off x="452438" y="49020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3"/>
                  </a:solidFill>
                  <a:latin typeface="+mn-lt"/>
                  <a:ea typeface="+mn-ea"/>
                  <a:cs typeface="+mn-cs"/>
                </a:rPr>
                <a:t>文档结构</a:t>
              </a:r>
            </a:p>
          </p:txBody>
        </p:sp>
        <p:sp>
          <p:nvSpPr>
            <p:cNvPr id="34" name="TextBox 34"/>
            <p:cNvSpPr txBox="1"/>
            <p:nvPr/>
          </p:nvSpPr>
          <p:spPr>
            <a:xfrm>
              <a:off x="451866" y="5182552"/>
              <a:ext cx="929732"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诊断</a:t>
              </a:r>
              <a:r>
                <a:rPr lang="zh-CN" sz="1050" dirty="0">
                  <a:solidFill>
                    <a:schemeClr val="accent3"/>
                  </a:solidFill>
                  <a:latin typeface="Arial"/>
                  <a:ea typeface="Microsoft YaHei"/>
                  <a:cs typeface="Arial"/>
                </a:rPr>
                <a:t xml:space="preserve"> 第 3–9 页</a:t>
              </a:r>
            </a:p>
          </p:txBody>
        </p:sp>
        <p:sp>
          <p:nvSpPr>
            <p:cNvPr id="35" name="TextBox 35"/>
            <p:cNvSpPr txBox="1"/>
            <p:nvPr/>
          </p:nvSpPr>
          <p:spPr>
            <a:xfrm>
              <a:off x="452438" y="5408295"/>
              <a:ext cx="3221355" cy="347662"/>
            </a:xfrm>
            <a:prstGeom prst="rect">
              <a:avLst/>
            </a:prstGeom>
            <a:noFill/>
            <a:ln>
              <a:noFill/>
            </a:ln>
          </p:spPr>
          <p:txBody>
            <a:bodyPr wrap="none" lIns="0" tIns="0" rIns="0" bIns="0" anchor="t" anchorCtr="0">
              <a:spAutoFit/>
            </a:bodyPr>
            <a:lstStyle/>
            <a:p>
              <a:pPr algn="l">
                <a:lnSpc>
                  <a:spcPts val="1350"/>
                </a:lnSpc>
              </a:pPr>
              <a:r>
                <a:rPr lang="zh-CN" sz="900" dirty="0">
                  <a:solidFill>
                    <a:schemeClr val="accent3"/>
                  </a:solidFill>
                  <a:latin typeface="+mn-lt"/>
                  <a:ea typeface="+mn-ea"/>
                  <a:cs typeface="+mn-cs"/>
                </a:rPr>
                <a:t>全球总量与地区增量拆分;成熟市场、欧洲、新兴市场逐一诊断;</a:t>
              </a:r>
              <a:br/>
              <a:r>
                <a:rPr lang="zh-CN" sz="900" dirty="0">
                  <a:solidFill>
                    <a:schemeClr val="accent3"/>
                  </a:solidFill>
                  <a:latin typeface="+mn-lt"/>
                  <a:ea typeface="+mn-ea"/>
                  <a:cs typeface="+mn-cs"/>
                </a:rPr>
                <a:t>PHEV 产品组合;2035 年 IEA 情景下的增量地图</a:t>
              </a:r>
            </a:p>
          </p:txBody>
        </p:sp>
        <p:sp>
          <p:nvSpPr>
            <p:cNvPr id="36" name="TextBox 36"/>
            <p:cNvSpPr txBox="1"/>
            <p:nvPr/>
          </p:nvSpPr>
          <p:spPr>
            <a:xfrm>
              <a:off x="4261866" y="5182552"/>
              <a:ext cx="1086971"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建议</a:t>
              </a:r>
              <a:r>
                <a:rPr lang="zh-CN" sz="1050" dirty="0">
                  <a:solidFill>
                    <a:schemeClr val="accent3"/>
                  </a:solidFill>
                  <a:latin typeface="Arial"/>
                  <a:ea typeface="Microsoft YaHei"/>
                  <a:cs typeface="Arial"/>
                </a:rPr>
                <a:t xml:space="preserve"> 第 10–12 页</a:t>
              </a:r>
            </a:p>
          </p:txBody>
        </p:sp>
        <p:sp>
          <p:nvSpPr>
            <p:cNvPr id="37" name="TextBox 37"/>
            <p:cNvSpPr txBox="1"/>
            <p:nvPr/>
          </p:nvSpPr>
          <p:spPr>
            <a:xfrm>
              <a:off x="4262438" y="5408295"/>
              <a:ext cx="2792730" cy="347662"/>
            </a:xfrm>
            <a:prstGeom prst="rect">
              <a:avLst/>
            </a:prstGeom>
            <a:noFill/>
            <a:ln>
              <a:noFill/>
            </a:ln>
          </p:spPr>
          <p:txBody>
            <a:bodyPr wrap="none" lIns="0" tIns="0" rIns="0" bIns="0" anchor="t" anchorCtr="0">
              <a:spAutoFit/>
            </a:bodyPr>
            <a:lstStyle/>
            <a:p>
              <a:pPr algn="l">
                <a:lnSpc>
                  <a:spcPts val="1350"/>
                </a:lnSpc>
              </a:pPr>
              <a:r>
                <a:rPr lang="zh-CN" sz="900" dirty="0">
                  <a:solidFill>
                    <a:schemeClr val="accent3"/>
                  </a:solidFill>
                  <a:latin typeface="+mn-lt"/>
                  <a:ea typeface="+mn-ea"/>
                  <a:cs typeface="+mn-cs"/>
                </a:rPr>
                <a:t>三级市场优先级表;2026–2028 三年行动节奏与决策门;</a:t>
              </a:r>
              <a:br/>
              <a:r>
                <a:rPr lang="zh-CN" sz="900" dirty="0">
                  <a:solidFill>
                    <a:schemeClr val="accent3"/>
                  </a:solidFill>
                  <a:latin typeface="+mn-lt"/>
                  <a:ea typeface="+mn-ea"/>
                  <a:cs typeface="+mn-cs"/>
                </a:rPr>
                <a:t>三项风险的触发指标、影响与应对</a:t>
              </a:r>
            </a:p>
          </p:txBody>
        </p:sp>
        <p:sp>
          <p:nvSpPr>
            <p:cNvPr id="38" name="TextBox 38"/>
            <p:cNvSpPr txBox="1"/>
            <p:nvPr/>
          </p:nvSpPr>
          <p:spPr>
            <a:xfrm>
              <a:off x="8071866" y="5182552"/>
              <a:ext cx="1086971"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决策</a:t>
              </a:r>
              <a:r>
                <a:rPr lang="zh-CN" sz="1050" dirty="0">
                  <a:solidFill>
                    <a:schemeClr val="accent3"/>
                  </a:solidFill>
                  <a:latin typeface="Arial"/>
                  <a:ea typeface="Microsoft YaHei"/>
                  <a:cs typeface="Arial"/>
                </a:rPr>
                <a:t xml:space="preserve"> 第 13–14 页</a:t>
              </a:r>
            </a:p>
          </p:txBody>
        </p:sp>
        <p:sp>
          <p:nvSpPr>
            <p:cNvPr id="39" name="TextBox 39"/>
            <p:cNvSpPr txBox="1"/>
            <p:nvPr/>
          </p:nvSpPr>
          <p:spPr>
            <a:xfrm>
              <a:off x="8072438" y="5408295"/>
              <a:ext cx="2861310" cy="347662"/>
            </a:xfrm>
            <a:prstGeom prst="rect">
              <a:avLst/>
            </a:prstGeom>
            <a:noFill/>
            <a:ln>
              <a:noFill/>
            </a:ln>
          </p:spPr>
          <p:txBody>
            <a:bodyPr wrap="none" lIns="0" tIns="0" rIns="0" bIns="0" anchor="t" anchorCtr="0">
              <a:spAutoFit/>
            </a:bodyPr>
            <a:lstStyle/>
            <a:p>
              <a:pPr algn="l">
                <a:lnSpc>
                  <a:spcPts val="1350"/>
                </a:lnSpc>
              </a:pPr>
              <a:r>
                <a:rPr lang="zh-CN" sz="900" dirty="0">
                  <a:solidFill>
                    <a:schemeClr val="accent3"/>
                  </a:solidFill>
                  <a:latin typeface="+mn-lt"/>
                  <a:ea typeface="+mn-ea"/>
                  <a:cs typeface="+mn-cs"/>
                </a:rPr>
                <a:t>本季度请管理层决定的三件事、90 天内动作与负责角色;</a:t>
              </a:r>
              <a:br/>
              <a:r>
                <a:rPr lang="zh-CN" sz="900" dirty="0">
                  <a:solidFill>
                    <a:schemeClr val="accent3"/>
                  </a:solidFill>
                  <a:latin typeface="+mn-lt"/>
                  <a:ea typeface="+mn-ea"/>
                  <a:cs typeface="+mn-cs"/>
                </a:rPr>
                <a:t>附录列出全部数据、口径与来源链接</a:t>
              </a:r>
            </a:p>
          </p:txBody>
        </p:sp>
      </p:grpSp>
      <p:sp>
        <p:nvSpPr>
          <p:cNvPr id="41" name="TextBox 41"/>
          <p:cNvSpPr txBox="1"/>
          <p:nvPr/>
        </p:nvSpPr>
        <p:spPr>
          <a:xfrm>
            <a:off x="452438" y="6167438"/>
            <a:ext cx="7586662" cy="300038"/>
          </a:xfrm>
          <a:prstGeom prst="rect">
            <a:avLst/>
          </a:prstGeom>
          <a:noFill/>
          <a:ln>
            <a:noFill/>
          </a:ln>
        </p:spPr>
        <p:txBody>
          <a:bodyPr wrap="none" lIns="0" tIns="0" rIns="0" bIns="0" anchor="t" anchorCtr="0">
            <a:spAutoFit/>
          </a:bodyPr>
          <a:lstStyle/>
          <a:p>
            <a:pPr algn="l">
              <a:lnSpc>
                <a:spcPts val="1200"/>
              </a:lnSpc>
            </a:pPr>
            <a:r>
              <a:rPr lang="zh-CN" sz="750" dirty="0">
                <a:solidFill>
                  <a:schemeClr val="accent3"/>
                </a:solidFill>
                <a:latin typeface="+mn-lt"/>
                <a:ea typeface="+mn-ea"/>
                <a:cs typeface="+mn-cs"/>
              </a:rPr>
              <a:t>电动车 = 纯电(BEV)+ 插电混动(PHEV),乘用车口径;渗透率 = 电动车占新车销量的比例</a:t>
            </a:r>
            <a:br/>
            <a:r>
              <a:rPr lang="zh-CN" sz="750" dirty="0">
                <a:solidFill>
                  <a:schemeClr val="accent3"/>
                </a:solidFill>
                <a:latin typeface="+mn-lt"/>
                <a:ea typeface="+mn-ea"/>
                <a:cs typeface="+mn-cs"/>
              </a:rPr>
              <a:t>资料来源:IEA (2025), Global EV Outlook 2025, Global EV Data Explorer(CC BY 4.0);2025 年为 IEA 全年估计;本报告分析;数据通过官方接口于 2026-09-05 取得,未做数值修改</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childTnLst>
                          </p:cTn>
                        </p:par>
                        <p:par>
                          <p:cTn id="12" fill="hold">
                            <p:stCondLst>
                              <p:cond delay="14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324744" y="247650"/>
            <a:ext cx="1410056" cy="206216"/>
            <a:chOff x="10324744" y="247650"/>
            <a:chExt cx="1410056" cy="206216"/>
          </a:xfrm>
        </p:grpSpPr>
        <p:sp>
          <p:nvSpPr>
            <p:cNvPr id="2" name="TextBox 2"/>
            <p:cNvSpPr txBox="1"/>
            <p:nvPr/>
          </p:nvSpPr>
          <p:spPr>
            <a:xfrm>
              <a:off x="10324744" y="291941"/>
              <a:ext cx="481368"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执行摘要</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5885878" cy="637794"/>
            <a:chOff x="448056" y="472440"/>
            <a:chExt cx="5885878" cy="637794"/>
          </a:xfrm>
        </p:grpSpPr>
        <p:sp>
          <p:nvSpPr>
            <p:cNvPr id="6" name="TextBox 6"/>
            <p:cNvSpPr txBox="1"/>
            <p:nvPr/>
          </p:nvSpPr>
          <p:spPr>
            <a:xfrm>
              <a:off x="448056" y="472440"/>
              <a:ext cx="5885878"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增量重心已从欧美转向新兴市场,2026–2028 应分级投入,</a:t>
              </a:r>
              <a:br/>
              <a:r>
                <a:rPr lang="zh-CN" sz="1800" b="1" dirty="0">
                  <a:solidFill>
                    <a:schemeClr val="accent1"/>
                  </a:solidFill>
                  <a:latin typeface="+mn-lt"/>
                  <a:ea typeface="+mn-ea"/>
                  <a:cs typeface="+mn-cs"/>
                </a:rPr>
                <a:t>并以 PHEV 打开低渗透市场</a:t>
              </a:r>
            </a:p>
          </p:txBody>
        </p:sp>
      </p:grpSp>
      <p:grpSp>
        <p:nvGrpSpPr>
          <p:cNvPr id="9" name="unit-line"/>
          <p:cNvGrpSpPr/>
          <p:nvPr/>
        </p:nvGrpSpPr>
        <p:grpSpPr>
          <a:xfrm>
            <a:off x="452438" y="1160145"/>
            <a:ext cx="3832060" cy="176212"/>
            <a:chOff x="452438" y="1160145"/>
            <a:chExt cx="3832060" cy="176212"/>
          </a:xfrm>
        </p:grpSpPr>
        <p:sp>
          <p:nvSpPr>
            <p:cNvPr id="8" name="TextBox 8"/>
            <p:cNvSpPr txBox="1"/>
            <p:nvPr/>
          </p:nvSpPr>
          <p:spPr>
            <a:xfrm>
              <a:off x="452438" y="1160145"/>
              <a:ext cx="3832060"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执行摘要:三个事实判断、一个产品推论、四个基础数字、三项决策请求</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finding-1"/>
          <p:cNvGrpSpPr/>
          <p:nvPr/>
        </p:nvGrpSpPr>
        <p:grpSpPr>
          <a:xfrm>
            <a:off x="457200" y="1647825"/>
            <a:ext cx="6721412" cy="634936"/>
            <a:chOff x="457200" y="1647825"/>
            <a:chExt cx="6721412" cy="634936"/>
          </a:xfrm>
        </p:grpSpPr>
        <p:sp>
          <p:nvSpPr>
            <p:cNvPr id="11" name="Ellipse 11"/>
            <p:cNvSpPr/>
            <p:nvPr/>
          </p:nvSpPr>
          <p:spPr>
            <a:xfrm>
              <a:off x="457200" y="1647825"/>
              <a:ext cx="152400" cy="152400"/>
            </a:xfrm>
            <a:prstGeom prst="ellipse">
              <a:avLst/>
            </a:prstGeom>
            <a:solidFill>
              <a:schemeClr val="accent1"/>
            </a:solidFill>
            <a:ln>
              <a:noFill/>
            </a:ln>
          </p:spPr>
        </p:sp>
        <p:sp>
          <p:nvSpPr>
            <p:cNvPr id="12" name="TextBox 12"/>
            <p:cNvSpPr txBox="1"/>
            <p:nvPr/>
          </p:nvSpPr>
          <p:spPr>
            <a:xfrm>
              <a:off x="500559" y="16764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13" name="TextBox 13"/>
            <p:cNvSpPr txBox="1"/>
            <p:nvPr/>
          </p:nvSpPr>
          <p:spPr>
            <a:xfrm>
              <a:off x="680085" y="1650206"/>
              <a:ext cx="4699383"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成熟市场见顶:美国销量首次下滑、渗透率两年停在 10%,日本仍在 3%</a:t>
              </a:r>
            </a:p>
          </p:txBody>
        </p:sp>
        <p:sp>
          <p:nvSpPr>
            <p:cNvPr id="14" name="TextBox 14"/>
            <p:cNvSpPr txBox="1"/>
            <p:nvPr/>
          </p:nvSpPr>
          <p:spPr>
            <a:xfrm>
              <a:off x="680466" y="1886902"/>
              <a:ext cx="6498146"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美国 2025 年销量 160 万→150 万辆(−6%),是 2015 年以来首次下滑;渗透率 2024、2025 两年都是 10%;</a:t>
              </a:r>
              <a:br/>
              <a:r>
                <a:rPr lang="zh-CN" sz="1050" dirty="0">
                  <a:solidFill>
                    <a:schemeClr val="dk1"/>
                  </a:solidFill>
                  <a:latin typeface="+mn-lt"/>
                  <a:ea typeface="+mn-ea"/>
                  <a:cs typeface="+mn-cs"/>
                </a:rPr>
                <a:t>日本销量 10 万辆持平、渗透率 3%。成熟市场里只有韩国起量:13 万→22 万辆(+69%),渗透率 11%。(第 5 页)</a:t>
              </a:r>
            </a:p>
          </p:txBody>
        </p:sp>
      </p:grpSp>
      <p:grpSp>
        <p:nvGrpSpPr>
          <p:cNvPr id="20" name="finding-2"/>
          <p:cNvGrpSpPr/>
          <p:nvPr/>
        </p:nvGrpSpPr>
        <p:grpSpPr>
          <a:xfrm>
            <a:off x="457200" y="2638425"/>
            <a:ext cx="6674739" cy="634936"/>
            <a:chOff x="457200" y="2638425"/>
            <a:chExt cx="6674739" cy="634936"/>
          </a:xfrm>
        </p:grpSpPr>
        <p:sp>
          <p:nvSpPr>
            <p:cNvPr id="16" name="Ellipse 16"/>
            <p:cNvSpPr/>
            <p:nvPr/>
          </p:nvSpPr>
          <p:spPr>
            <a:xfrm>
              <a:off x="457200" y="2638425"/>
              <a:ext cx="152400" cy="152400"/>
            </a:xfrm>
            <a:prstGeom prst="ellipse">
              <a:avLst/>
            </a:prstGeom>
            <a:solidFill>
              <a:schemeClr val="accent1"/>
            </a:solidFill>
            <a:ln>
              <a:noFill/>
            </a:ln>
          </p:spPr>
        </p:sp>
        <p:sp>
          <p:nvSpPr>
            <p:cNvPr id="17" name="TextBox 17"/>
            <p:cNvSpPr txBox="1"/>
            <p:nvPr/>
          </p:nvSpPr>
          <p:spPr>
            <a:xfrm>
              <a:off x="500559" y="2667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18" name="TextBox 18"/>
            <p:cNvSpPr txBox="1"/>
            <p:nvPr/>
          </p:nvSpPr>
          <p:spPr>
            <a:xfrm>
              <a:off x="680085" y="2640806"/>
              <a:ext cx="4882197"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欧洲反弹到 28% 靠英国和德国,法国两年零增长——进入欧洲要按国家排序</a:t>
              </a:r>
            </a:p>
          </p:txBody>
        </p:sp>
        <p:sp>
          <p:nvSpPr>
            <p:cNvPr id="19" name="TextBox 19"/>
            <p:cNvSpPr txBox="1"/>
            <p:nvPr/>
          </p:nvSpPr>
          <p:spPr>
            <a:xfrm>
              <a:off x="680466" y="2877502"/>
              <a:ext cx="6451473"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英国渗透率两年 +12 个百分点到 35%、销量 46 万→70 万辆;德国 2024 年曾回落到 20%,2025 年反弹到 30%;</a:t>
              </a:r>
              <a:br/>
              <a:r>
                <a:rPr lang="zh-CN" sz="1050" dirty="0">
                  <a:solidFill>
                    <a:schemeClr val="dk1"/>
                  </a:solidFill>
                  <a:latin typeface="+mn-lt"/>
                  <a:ea typeface="+mn-ea"/>
                  <a:cs typeface="+mn-cs"/>
                </a:rPr>
                <a:t>法国持平在 26%、销量 47 万→45 万辆。欧洲 100 万辆增量集中在英德两国。(第 6 页)</a:t>
              </a:r>
            </a:p>
          </p:txBody>
        </p:sp>
      </p:grpSp>
      <p:grpSp>
        <p:nvGrpSpPr>
          <p:cNvPr id="25" name="finding-3"/>
          <p:cNvGrpSpPr/>
          <p:nvPr/>
        </p:nvGrpSpPr>
        <p:grpSpPr>
          <a:xfrm>
            <a:off x="457200" y="3629025"/>
            <a:ext cx="7221474" cy="634936"/>
            <a:chOff x="457200" y="3629025"/>
            <a:chExt cx="7221474" cy="634936"/>
          </a:xfrm>
        </p:grpSpPr>
        <p:sp>
          <p:nvSpPr>
            <p:cNvPr id="21" name="Ellipse 21"/>
            <p:cNvSpPr/>
            <p:nvPr/>
          </p:nvSpPr>
          <p:spPr>
            <a:xfrm>
              <a:off x="457200" y="3629025"/>
              <a:ext cx="152400" cy="152400"/>
            </a:xfrm>
            <a:prstGeom prst="ellipse">
              <a:avLst/>
            </a:prstGeom>
            <a:solidFill>
              <a:schemeClr val="accent1"/>
            </a:solidFill>
            <a:ln>
              <a:noFill/>
            </a:ln>
          </p:spPr>
        </p:sp>
        <p:sp>
          <p:nvSpPr>
            <p:cNvPr id="22" name="TextBox 22"/>
            <p:cNvSpPr txBox="1"/>
            <p:nvPr/>
          </p:nvSpPr>
          <p:spPr>
            <a:xfrm>
              <a:off x="500559" y="36576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23" name="TextBox 23"/>
            <p:cNvSpPr txBox="1"/>
            <p:nvPr/>
          </p:nvSpPr>
          <p:spPr>
            <a:xfrm>
              <a:off x="680085" y="3631406"/>
              <a:ext cx="5666978"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新兴市场进入加速段:东南亚渗透率 8.4%→18%,中美欧之外的市场增量首次超过欧洲</a:t>
              </a:r>
            </a:p>
          </p:txBody>
        </p:sp>
        <p:sp>
          <p:nvSpPr>
            <p:cNvPr id="24" name="TextBox 24"/>
            <p:cNvSpPr txBox="1"/>
            <p:nvPr/>
          </p:nvSpPr>
          <p:spPr>
            <a:xfrm>
              <a:off x="680466" y="3868102"/>
              <a:ext cx="6998208"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2025 年全球 400 万辆增量:中国 +200 万、欧洲 +100 万、美国 −10 万、其他市场 +110 万;</a:t>
              </a:r>
              <a:br/>
              <a:r>
                <a:rPr lang="zh-CN" sz="1050" dirty="0">
                  <a:solidFill>
                    <a:schemeClr val="dk1"/>
                  </a:solidFill>
                  <a:latin typeface="+mn-lt"/>
                  <a:ea typeface="+mn-ea"/>
                  <a:cs typeface="+mn-cs"/>
                </a:rPr>
                <a:t>东南亚销量 16 万→54 万辆(3.4 倍),泰国渗透率 23%;东南亚、印度、巴西、墨西哥合计 31 万→98 万辆。(第 4、7 页)</a:t>
              </a:r>
            </a:p>
          </p:txBody>
        </p:sp>
      </p:grpSp>
      <p:grpSp>
        <p:nvGrpSpPr>
          <p:cNvPr id="30" name="inference"/>
          <p:cNvGrpSpPr/>
          <p:nvPr/>
        </p:nvGrpSpPr>
        <p:grpSpPr>
          <a:xfrm>
            <a:off x="457200" y="4476750"/>
            <a:ext cx="7810500" cy="663511"/>
            <a:chOff x="457200" y="4476750"/>
            <a:chExt cx="7810500" cy="663511"/>
          </a:xfrm>
        </p:grpSpPr>
        <p:sp>
          <p:nvSpPr>
            <p:cNvPr id="26" name="Rectangle 26"/>
            <p:cNvSpPr/>
            <p:nvPr/>
          </p:nvSpPr>
          <p:spPr>
            <a:xfrm>
              <a:off x="457200" y="4476750"/>
              <a:ext cx="7810500" cy="628650"/>
            </a:xfrm>
            <a:prstGeom prst="rect">
              <a:avLst/>
            </a:prstGeom>
            <a:solidFill>
              <a:srgbClr val="F7F7F7"/>
            </a:solidFill>
            <a:ln>
              <a:noFill/>
            </a:ln>
          </p:spPr>
        </p:sp>
        <p:sp>
          <p:nvSpPr>
            <p:cNvPr id="27" name="Rectangle 27"/>
            <p:cNvSpPr/>
            <p:nvPr/>
          </p:nvSpPr>
          <p:spPr>
            <a:xfrm>
              <a:off x="457200" y="4476750"/>
              <a:ext cx="38100" cy="628650"/>
            </a:xfrm>
            <a:prstGeom prst="rect">
              <a:avLst/>
            </a:prstGeom>
            <a:solidFill>
              <a:schemeClr val="accent2"/>
            </a:solidFill>
            <a:ln>
              <a:noFill/>
            </a:ln>
          </p:spPr>
        </p:sp>
        <p:sp>
          <p:nvSpPr>
            <p:cNvPr id="28" name="TextBox 28"/>
            <p:cNvSpPr txBox="1"/>
            <p:nvPr/>
          </p:nvSpPr>
          <p:spPr>
            <a:xfrm>
              <a:off x="604838" y="4589145"/>
              <a:ext cx="494157"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产品推论</a:t>
              </a:r>
            </a:p>
          </p:txBody>
        </p:sp>
        <p:sp>
          <p:nvSpPr>
            <p:cNvPr id="29" name="TextBox 29"/>
            <p:cNvSpPr txBox="1"/>
            <p:nvPr/>
          </p:nvSpPr>
          <p:spPr>
            <a:xfrm>
              <a:off x="604266" y="4763452"/>
              <a:ext cx="5331333" cy="376809"/>
            </a:xfrm>
            <a:prstGeom prst="rect">
              <a:avLst/>
            </a:prstGeom>
            <a:noFill/>
            <a:ln>
              <a:noFill/>
            </a:ln>
          </p:spPr>
          <p:txBody>
            <a:bodyPr wrap="none" lIns="0" tIns="0" rIns="0" bIns="0" anchor="t" anchorCtr="0">
              <a:spAutoFit/>
            </a:bodyPr>
            <a:lstStyle/>
            <a:p>
              <a:pPr algn="l">
                <a:lnSpc>
                  <a:spcPts val="1350"/>
                </a:lnSpc>
              </a:pPr>
              <a:r>
                <a:rPr lang="zh-CN" sz="1050" dirty="0">
                  <a:solidFill>
                    <a:schemeClr val="dk1"/>
                  </a:solidFill>
                  <a:latin typeface="+mn-lt"/>
                  <a:ea typeface="+mn-ea"/>
                  <a:cs typeface="+mn-cs"/>
                </a:rPr>
                <a:t>PHEV 占全球电动车销量 34%、占中国 38%,中国 PHEV 三年增长 3.4 倍而 BEV 只有 1.8 倍</a:t>
              </a:r>
              <a:br/>
              <a:r>
                <a:rPr lang="zh-CN" sz="1050" dirty="0">
                  <a:solidFill>
                    <a:schemeClr val="dk1"/>
                  </a:solidFill>
                  <a:latin typeface="+mn-lt"/>
                  <a:ea typeface="+mn-ea"/>
                  <a:cs typeface="+mn-cs"/>
                </a:rPr>
                <a:t>——PHEV 是低渗透市场的破冰产品,不是过渡产品。(第 8 页)</a:t>
              </a:r>
            </a:p>
          </p:txBody>
        </p:sp>
      </p:grpSp>
      <p:grpSp>
        <p:nvGrpSpPr>
          <p:cNvPr id="41" name="data-basis"/>
          <p:cNvGrpSpPr/>
          <p:nvPr/>
        </p:nvGrpSpPr>
        <p:grpSpPr>
          <a:xfrm>
            <a:off x="447294" y="5283041"/>
            <a:ext cx="7820406" cy="752475"/>
            <a:chOff x="447294" y="5283041"/>
            <a:chExt cx="7820406" cy="752475"/>
          </a:xfrm>
        </p:grpSpPr>
        <p:sp>
          <p:nvSpPr>
            <p:cNvPr id="31" name="TextBox 31"/>
            <p:cNvSpPr txBox="1"/>
            <p:nvPr/>
          </p:nvSpPr>
          <p:spPr>
            <a:xfrm>
              <a:off x="452438" y="5283041"/>
              <a:ext cx="772820"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四个基础数字</a:t>
              </a:r>
            </a:p>
          </p:txBody>
        </p:sp>
        <p:sp>
          <p:nvSpPr>
            <p:cNvPr id="32" name="Line 32"/>
            <p:cNvSpPr/>
            <p:nvPr/>
          </p:nvSpPr>
          <p:spPr>
            <a:xfrm>
              <a:off x="457200" y="5448300"/>
              <a:ext cx="7810500" cy="9525"/>
            </a:xfrm>
            <a:custGeom>
              <a:avLst/>
              <a:gdLst/>
              <a:ahLst/>
              <a:cxnLst/>
              <a:rect l="l" t="t" r="r" b="b"/>
              <a:pathLst>
                <a:path w="7810500" h="9525">
                  <a:moveTo>
                    <a:pt x="0" y="0"/>
                  </a:moveTo>
                  <a:lnTo>
                    <a:pt x="7810500" y="0"/>
                  </a:lnTo>
                </a:path>
              </a:pathLst>
            </a:custGeom>
            <a:noFill/>
            <a:ln w="7144">
              <a:solidFill>
                <a:schemeClr val="accent1"/>
              </a:solidFill>
            </a:ln>
          </p:spPr>
        </p:sp>
        <p:sp>
          <p:nvSpPr>
            <p:cNvPr id="33" name="TextBox 33"/>
            <p:cNvSpPr txBox="1"/>
            <p:nvPr/>
          </p:nvSpPr>
          <p:spPr>
            <a:xfrm>
              <a:off x="447294" y="5561648"/>
              <a:ext cx="955430"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Arial"/>
                  <a:ea typeface="Arial"/>
                  <a:cs typeface="Arial"/>
                </a:rPr>
                <a:t>2,100</a:t>
              </a:r>
              <a:r>
                <a:rPr lang="zh-CN" sz="900" dirty="0">
                  <a:solidFill>
                    <a:schemeClr val="accent5"/>
                  </a:solidFill>
                  <a:latin typeface="+mn-lt"/>
                  <a:ea typeface="+mn-ea"/>
                  <a:cs typeface="+mn-cs"/>
                </a:rPr>
                <a:t xml:space="preserve"> 万辆</a:t>
              </a:r>
            </a:p>
          </p:txBody>
        </p:sp>
        <p:sp>
          <p:nvSpPr>
            <p:cNvPr id="34" name="TextBox 34"/>
            <p:cNvSpPr txBox="1"/>
            <p:nvPr/>
          </p:nvSpPr>
          <p:spPr>
            <a:xfrm>
              <a:off x="452438" y="5873591"/>
              <a:ext cx="227800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2025 年全球电动车销量,五年 7.0 倍(第 3 页)</a:t>
              </a:r>
            </a:p>
          </p:txBody>
        </p:sp>
        <p:sp>
          <p:nvSpPr>
            <p:cNvPr id="35" name="TextBox 35"/>
            <p:cNvSpPr txBox="1"/>
            <p:nvPr/>
          </p:nvSpPr>
          <p:spPr>
            <a:xfrm>
              <a:off x="2447544" y="5561648"/>
              <a:ext cx="545250"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Arial"/>
                  <a:ea typeface="Arial"/>
                  <a:cs typeface="Arial"/>
                </a:rPr>
                <a:t>25%</a:t>
              </a:r>
            </a:p>
          </p:txBody>
        </p:sp>
        <p:sp>
          <p:nvSpPr>
            <p:cNvPr id="36" name="TextBox 36"/>
            <p:cNvSpPr txBox="1"/>
            <p:nvPr/>
          </p:nvSpPr>
          <p:spPr>
            <a:xfrm>
              <a:off x="2452688" y="5873591"/>
              <a:ext cx="227248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2025 年全球渗透率,2020 年为 4.4%(第 3 页)</a:t>
              </a:r>
            </a:p>
          </p:txBody>
        </p:sp>
        <p:sp>
          <p:nvSpPr>
            <p:cNvPr id="37" name="TextBox 37"/>
            <p:cNvSpPr txBox="1"/>
            <p:nvPr/>
          </p:nvSpPr>
          <p:spPr>
            <a:xfrm>
              <a:off x="4447794" y="5561648"/>
              <a:ext cx="889803" cy="381381"/>
            </a:xfrm>
            <a:prstGeom prst="rect">
              <a:avLst/>
            </a:prstGeom>
            <a:noFill/>
            <a:ln>
              <a:noFill/>
            </a:ln>
          </p:spPr>
          <p:txBody>
            <a:bodyPr wrap="none" lIns="0" tIns="0" rIns="0" bIns="0" anchor="t" anchorCtr="0">
              <a:spAutoFit/>
            </a:bodyPr>
            <a:lstStyle/>
            <a:p>
              <a:pPr algn="l"/>
              <a:r>
                <a:rPr lang="zh-CN" sz="1950" b="1" dirty="0">
                  <a:solidFill>
                    <a:schemeClr val="accent2"/>
                  </a:solidFill>
                  <a:latin typeface="Arial"/>
                  <a:ea typeface="Arial"/>
                  <a:cs typeface="Arial"/>
                </a:rPr>
                <a:t>+400</a:t>
              </a:r>
              <a:r>
                <a:rPr lang="zh-CN" sz="900" dirty="0">
                  <a:solidFill>
                    <a:schemeClr val="accent5"/>
                  </a:solidFill>
                  <a:latin typeface="+mn-lt"/>
                  <a:ea typeface="+mn-ea"/>
                  <a:cs typeface="+mn-cs"/>
                </a:rPr>
                <a:t xml:space="preserve"> 万辆</a:t>
              </a:r>
            </a:p>
          </p:txBody>
        </p:sp>
        <p:sp>
          <p:nvSpPr>
            <p:cNvPr id="38" name="TextBox 38"/>
            <p:cNvSpPr txBox="1"/>
            <p:nvPr/>
          </p:nvSpPr>
          <p:spPr>
            <a:xfrm>
              <a:off x="4452938" y="5873591"/>
              <a:ext cx="1946841"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2025 年增量,其中美国 −10 万(第 4 页)</a:t>
              </a:r>
            </a:p>
          </p:txBody>
        </p:sp>
        <p:sp>
          <p:nvSpPr>
            <p:cNvPr id="39" name="TextBox 39"/>
            <p:cNvSpPr txBox="1"/>
            <p:nvPr/>
          </p:nvSpPr>
          <p:spPr>
            <a:xfrm>
              <a:off x="6448044" y="5561648"/>
              <a:ext cx="955430"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Arial"/>
                  <a:ea typeface="Arial"/>
                  <a:cs typeface="Arial"/>
                </a:rPr>
                <a:t>3,400</a:t>
              </a:r>
              <a:r>
                <a:rPr lang="zh-CN" sz="900" dirty="0">
                  <a:solidFill>
                    <a:schemeClr val="accent5"/>
                  </a:solidFill>
                  <a:latin typeface="+mn-lt"/>
                  <a:ea typeface="+mn-ea"/>
                  <a:cs typeface="+mn-cs"/>
                </a:rPr>
                <a:t xml:space="preserve"> 万辆</a:t>
              </a:r>
            </a:p>
          </p:txBody>
        </p:sp>
        <p:sp>
          <p:nvSpPr>
            <p:cNvPr id="40" name="TextBox 40"/>
            <p:cNvSpPr txBox="1"/>
            <p:nvPr/>
          </p:nvSpPr>
          <p:spPr>
            <a:xfrm>
              <a:off x="6453188" y="5873591"/>
              <a:ext cx="1278992"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2025→2035 增量(第 9 页)</a:t>
              </a:r>
            </a:p>
          </p:txBody>
        </p:sp>
      </p:grpSp>
      <p:grpSp>
        <p:nvGrpSpPr>
          <p:cNvPr id="60" name="decision-ask"/>
          <p:cNvGrpSpPr/>
          <p:nvPr/>
        </p:nvGrpSpPr>
        <p:grpSpPr>
          <a:xfrm>
            <a:off x="8572500" y="1524000"/>
            <a:ext cx="3162300" cy="4495800"/>
            <a:chOff x="8572500" y="1524000"/>
            <a:chExt cx="3162300" cy="4495800"/>
          </a:xfrm>
        </p:grpSpPr>
        <p:sp>
          <p:nvSpPr>
            <p:cNvPr id="42" name="Rectangle 42"/>
            <p:cNvSpPr/>
            <p:nvPr/>
          </p:nvSpPr>
          <p:spPr>
            <a:xfrm>
              <a:off x="8572500" y="1524000"/>
              <a:ext cx="3162300" cy="4495800"/>
            </a:xfrm>
            <a:prstGeom prst="rect">
              <a:avLst/>
            </a:prstGeom>
            <a:solidFill>
              <a:schemeClr val="accent1"/>
            </a:solidFill>
            <a:ln>
              <a:noFill/>
            </a:ln>
          </p:spPr>
        </p:sp>
        <p:sp>
          <p:nvSpPr>
            <p:cNvPr id="43" name="TextBox 43"/>
            <p:cNvSpPr txBox="1"/>
            <p:nvPr/>
          </p:nvSpPr>
          <p:spPr>
            <a:xfrm>
              <a:off x="8758238" y="1720691"/>
              <a:ext cx="1033983" cy="161925"/>
            </a:xfrm>
            <a:prstGeom prst="rect">
              <a:avLst/>
            </a:prstGeom>
            <a:noFill/>
            <a:ln>
              <a:noFill/>
            </a:ln>
          </p:spPr>
          <p:txBody>
            <a:bodyPr wrap="none" lIns="0" tIns="0" rIns="0" bIns="0" anchor="t" anchorCtr="0">
              <a:spAutoFit/>
            </a:bodyPr>
            <a:lstStyle/>
            <a:p>
              <a:pPr algn="l"/>
              <a:r>
                <a:rPr lang="zh-CN" sz="820" b="1" spc="150" dirty="0">
                  <a:solidFill>
                    <a:schemeClr val="accent3"/>
                  </a:solidFill>
                  <a:latin typeface="+mn-lt"/>
                  <a:ea typeface="+mn-ea"/>
                  <a:cs typeface="+mn-cs"/>
                </a:rPr>
                <a:t>本次请管理层决定</a:t>
              </a:r>
            </a:p>
          </p:txBody>
        </p:sp>
        <p:sp>
          <p:nvSpPr>
            <p:cNvPr id="44" name="Line 44"/>
            <p:cNvSpPr/>
            <p:nvPr/>
          </p:nvSpPr>
          <p:spPr>
            <a:xfrm>
              <a:off x="8763000" y="1905000"/>
              <a:ext cx="2781300" cy="9525"/>
            </a:xfrm>
            <a:custGeom>
              <a:avLst/>
              <a:gdLst/>
              <a:ahLst/>
              <a:cxnLst/>
              <a:rect l="l" t="t" r="r" b="b"/>
              <a:pathLst>
                <a:path w="2781300" h="9525">
                  <a:moveTo>
                    <a:pt x="0" y="0"/>
                  </a:moveTo>
                  <a:lnTo>
                    <a:pt x="2781300" y="0"/>
                  </a:lnTo>
                </a:path>
              </a:pathLst>
            </a:custGeom>
            <a:noFill/>
            <a:ln w="7144">
              <a:solidFill>
                <a:schemeClr val="accent3"/>
              </a:solidFill>
            </a:ln>
          </p:spPr>
        </p:sp>
        <p:sp>
          <p:nvSpPr>
            <p:cNvPr id="45" name="Ellipse 45"/>
            <p:cNvSpPr/>
            <p:nvPr/>
          </p:nvSpPr>
          <p:spPr>
            <a:xfrm>
              <a:off x="8763000" y="2124075"/>
              <a:ext cx="152400" cy="152400"/>
            </a:xfrm>
            <a:prstGeom prst="ellipse">
              <a:avLst/>
            </a:prstGeom>
            <a:solidFill>
              <a:schemeClr val="accent3"/>
            </a:solidFill>
            <a:ln>
              <a:noFill/>
            </a:ln>
          </p:spPr>
        </p:sp>
        <p:sp>
          <p:nvSpPr>
            <p:cNvPr id="46" name="TextBox 46"/>
            <p:cNvSpPr txBox="1"/>
            <p:nvPr/>
          </p:nvSpPr>
          <p:spPr>
            <a:xfrm>
              <a:off x="8806359" y="2152650"/>
              <a:ext cx="65682" cy="147638"/>
            </a:xfrm>
            <a:prstGeom prst="rect">
              <a:avLst/>
            </a:prstGeom>
            <a:noFill/>
            <a:ln>
              <a:noFill/>
            </a:ln>
          </p:spPr>
          <p:txBody>
            <a:bodyPr wrap="none" lIns="0" tIns="0" rIns="0" bIns="0" anchor="t" anchorCtr="0">
              <a:spAutoFit/>
            </a:bodyPr>
            <a:lstStyle/>
            <a:p>
              <a:pPr algn="ctr"/>
              <a:r>
                <a:rPr lang="zh-CN" sz="750" b="1" dirty="0">
                  <a:solidFill>
                    <a:schemeClr val="accent1"/>
                  </a:solidFill>
                  <a:latin typeface="Arial"/>
                  <a:ea typeface="Arial"/>
                  <a:cs typeface="Arial"/>
                </a:rPr>
                <a:t>1</a:t>
              </a:r>
            </a:p>
          </p:txBody>
        </p:sp>
        <p:sp>
          <p:nvSpPr>
            <p:cNvPr id="47" name="TextBox 47"/>
            <p:cNvSpPr txBox="1"/>
            <p:nvPr/>
          </p:nvSpPr>
          <p:spPr>
            <a:xfrm>
              <a:off x="8986266" y="2134552"/>
              <a:ext cx="1282827"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批准三级市场优先级</a:t>
              </a:r>
            </a:p>
          </p:txBody>
        </p:sp>
        <p:sp>
          <p:nvSpPr>
            <p:cNvPr id="48" name="TextBox 48"/>
            <p:cNvSpPr txBox="1"/>
            <p:nvPr/>
          </p:nvSpPr>
          <p:spPr>
            <a:xfrm>
              <a:off x="8986838" y="2379345"/>
              <a:ext cx="2358390" cy="519112"/>
            </a:xfrm>
            <a:prstGeom prst="rect">
              <a:avLst/>
            </a:prstGeom>
            <a:noFill/>
            <a:ln>
              <a:noFill/>
            </a:ln>
          </p:spPr>
          <p:txBody>
            <a:bodyPr wrap="none" lIns="0" tIns="0" rIns="0" bIns="0" anchor="t" anchorCtr="0">
              <a:spAutoFit/>
            </a:bodyPr>
            <a:lstStyle/>
            <a:p>
              <a:pPr algn="l">
                <a:lnSpc>
                  <a:spcPts val="1350"/>
                </a:lnSpc>
              </a:pPr>
              <a:r>
                <a:rPr lang="zh-CN" sz="900" dirty="0">
                  <a:solidFill>
                    <a:schemeClr val="accent3"/>
                  </a:solidFill>
                  <a:latin typeface="+mn-lt"/>
                  <a:ea typeface="+mn-ea"/>
                  <a:cs typeface="+mn-cs"/>
                </a:rPr>
                <a:t>中国深耕、东南亚与英德重点,巴西、墨西哥、</a:t>
              </a:r>
              <a:br/>
              <a:r>
                <a:rPr lang="zh-CN" sz="900" dirty="0">
                  <a:solidFill>
                    <a:schemeClr val="accent3"/>
                  </a:solidFill>
                  <a:latin typeface="+mn-lt"/>
                  <a:ea typeface="+mn-ea"/>
                  <a:cs typeface="+mn-cs"/>
                </a:rPr>
                <a:t>印度、韩国以 PHEV 试点择机,美国、日本、</a:t>
              </a:r>
              <a:br/>
              <a:r>
                <a:rPr lang="zh-CN" sz="900" dirty="0">
                  <a:solidFill>
                    <a:schemeClr val="accent3"/>
                  </a:solidFill>
                  <a:latin typeface="+mn-lt"/>
                  <a:ea typeface="+mn-ea"/>
                  <a:cs typeface="+mn-cs"/>
                </a:rPr>
                <a:t>法国守势(第 10 页)</a:t>
              </a:r>
            </a:p>
          </p:txBody>
        </p:sp>
        <p:sp>
          <p:nvSpPr>
            <p:cNvPr id="49" name="Ellipse 49"/>
            <p:cNvSpPr/>
            <p:nvPr/>
          </p:nvSpPr>
          <p:spPr>
            <a:xfrm>
              <a:off x="8763000" y="3228975"/>
              <a:ext cx="152400" cy="152400"/>
            </a:xfrm>
            <a:prstGeom prst="ellipse">
              <a:avLst/>
            </a:prstGeom>
            <a:solidFill>
              <a:schemeClr val="accent3"/>
            </a:solidFill>
            <a:ln>
              <a:noFill/>
            </a:ln>
          </p:spPr>
        </p:sp>
        <p:sp>
          <p:nvSpPr>
            <p:cNvPr id="50" name="TextBox 50"/>
            <p:cNvSpPr txBox="1"/>
            <p:nvPr/>
          </p:nvSpPr>
          <p:spPr>
            <a:xfrm>
              <a:off x="8806359" y="3257550"/>
              <a:ext cx="65682" cy="147638"/>
            </a:xfrm>
            <a:prstGeom prst="rect">
              <a:avLst/>
            </a:prstGeom>
            <a:noFill/>
            <a:ln>
              <a:noFill/>
            </a:ln>
          </p:spPr>
          <p:txBody>
            <a:bodyPr wrap="none" lIns="0" tIns="0" rIns="0" bIns="0" anchor="t" anchorCtr="0">
              <a:spAutoFit/>
            </a:bodyPr>
            <a:lstStyle/>
            <a:p>
              <a:pPr algn="ctr"/>
              <a:r>
                <a:rPr lang="zh-CN" sz="750" b="1" dirty="0">
                  <a:solidFill>
                    <a:schemeClr val="accent1"/>
                  </a:solidFill>
                  <a:latin typeface="Arial"/>
                  <a:ea typeface="Arial"/>
                  <a:cs typeface="Arial"/>
                </a:rPr>
                <a:t>2</a:t>
              </a:r>
            </a:p>
          </p:txBody>
        </p:sp>
        <p:sp>
          <p:nvSpPr>
            <p:cNvPr id="51" name="TextBox 51"/>
            <p:cNvSpPr txBox="1"/>
            <p:nvPr/>
          </p:nvSpPr>
          <p:spPr>
            <a:xfrm>
              <a:off x="8986266" y="3239452"/>
              <a:ext cx="1721922"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批准 PHEV 先行的产品节奏</a:t>
              </a:r>
            </a:p>
          </p:txBody>
        </p:sp>
        <p:sp>
          <p:nvSpPr>
            <p:cNvPr id="52" name="TextBox 52"/>
            <p:cNvSpPr txBox="1"/>
            <p:nvPr/>
          </p:nvSpPr>
          <p:spPr>
            <a:xfrm>
              <a:off x="8986838" y="3484245"/>
              <a:ext cx="2061210" cy="347662"/>
            </a:xfrm>
            <a:prstGeom prst="rect">
              <a:avLst/>
            </a:prstGeom>
            <a:noFill/>
            <a:ln>
              <a:noFill/>
            </a:ln>
          </p:spPr>
          <p:txBody>
            <a:bodyPr wrap="none" lIns="0" tIns="0" rIns="0" bIns="0" anchor="t" anchorCtr="0">
              <a:spAutoFit/>
            </a:bodyPr>
            <a:lstStyle/>
            <a:p>
              <a:pPr algn="l">
                <a:lnSpc>
                  <a:spcPts val="1350"/>
                </a:lnSpc>
              </a:pPr>
              <a:r>
                <a:rPr lang="zh-CN" sz="900" dirty="0">
                  <a:solidFill>
                    <a:schemeClr val="accent3"/>
                  </a:solidFill>
                  <a:latin typeface="+mn-lt"/>
                  <a:ea typeface="+mn-ea"/>
                  <a:cs typeface="+mn-cs"/>
                </a:rPr>
                <a:t>2026 试点、2027 放量并补齐英德 BEV、</a:t>
              </a:r>
              <a:br/>
              <a:r>
                <a:rPr lang="zh-CN" sz="900" dirty="0">
                  <a:solidFill>
                    <a:schemeClr val="accent3"/>
                  </a:solidFill>
                  <a:latin typeface="+mn-lt"/>
                  <a:ea typeface="+mn-ea"/>
                  <a:cs typeface="+mn-cs"/>
                </a:rPr>
                <a:t>2028 复盘美国后再决定加码(第 11 页)</a:t>
              </a:r>
            </a:p>
          </p:txBody>
        </p:sp>
        <p:sp>
          <p:nvSpPr>
            <p:cNvPr id="53" name="Ellipse 53"/>
            <p:cNvSpPr/>
            <p:nvPr/>
          </p:nvSpPr>
          <p:spPr>
            <a:xfrm>
              <a:off x="8763000" y="4162425"/>
              <a:ext cx="152400" cy="152400"/>
            </a:xfrm>
            <a:prstGeom prst="ellipse">
              <a:avLst/>
            </a:prstGeom>
            <a:solidFill>
              <a:schemeClr val="accent3"/>
            </a:solidFill>
            <a:ln>
              <a:noFill/>
            </a:ln>
          </p:spPr>
        </p:sp>
        <p:sp>
          <p:nvSpPr>
            <p:cNvPr id="54" name="TextBox 54"/>
            <p:cNvSpPr txBox="1"/>
            <p:nvPr/>
          </p:nvSpPr>
          <p:spPr>
            <a:xfrm>
              <a:off x="8806359" y="4191000"/>
              <a:ext cx="65682" cy="147638"/>
            </a:xfrm>
            <a:prstGeom prst="rect">
              <a:avLst/>
            </a:prstGeom>
            <a:noFill/>
            <a:ln>
              <a:noFill/>
            </a:ln>
          </p:spPr>
          <p:txBody>
            <a:bodyPr wrap="none" lIns="0" tIns="0" rIns="0" bIns="0" anchor="t" anchorCtr="0">
              <a:spAutoFit/>
            </a:bodyPr>
            <a:lstStyle/>
            <a:p>
              <a:pPr algn="ctr"/>
              <a:r>
                <a:rPr lang="zh-CN" sz="750" b="1" dirty="0">
                  <a:solidFill>
                    <a:schemeClr val="accent1"/>
                  </a:solidFill>
                  <a:latin typeface="Arial"/>
                  <a:ea typeface="Arial"/>
                  <a:cs typeface="Arial"/>
                </a:rPr>
                <a:t>3</a:t>
              </a:r>
            </a:p>
          </p:txBody>
        </p:sp>
        <p:sp>
          <p:nvSpPr>
            <p:cNvPr id="55" name="TextBox 55"/>
            <p:cNvSpPr txBox="1"/>
            <p:nvPr/>
          </p:nvSpPr>
          <p:spPr>
            <a:xfrm>
              <a:off x="8986266" y="4172902"/>
              <a:ext cx="1424178"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指定东南亚试点负责人</a:t>
              </a:r>
            </a:p>
          </p:txBody>
        </p:sp>
        <p:sp>
          <p:nvSpPr>
            <p:cNvPr id="56" name="TextBox 56"/>
            <p:cNvSpPr txBox="1"/>
            <p:nvPr/>
          </p:nvSpPr>
          <p:spPr>
            <a:xfrm>
              <a:off x="8986838" y="4417695"/>
              <a:ext cx="1946910" cy="519112"/>
            </a:xfrm>
            <a:prstGeom prst="rect">
              <a:avLst/>
            </a:prstGeom>
            <a:noFill/>
            <a:ln>
              <a:noFill/>
            </a:ln>
          </p:spPr>
          <p:txBody>
            <a:bodyPr wrap="none" lIns="0" tIns="0" rIns="0" bIns="0" anchor="t" anchorCtr="0">
              <a:spAutoFit/>
            </a:bodyPr>
            <a:lstStyle/>
            <a:p>
              <a:pPr algn="l">
                <a:lnSpc>
                  <a:spcPts val="1350"/>
                </a:lnSpc>
              </a:pPr>
              <a:r>
                <a:rPr lang="zh-CN" sz="900" dirty="0">
                  <a:solidFill>
                    <a:schemeClr val="accent3"/>
                  </a:solidFill>
                  <a:latin typeface="+mn-lt"/>
                  <a:ea typeface="+mn-ea"/>
                  <a:cs typeface="+mn-cs"/>
                </a:rPr>
                <a:t>90 天内成立试点小组、确定泰国首发;</a:t>
              </a:r>
              <a:br/>
              <a:r>
                <a:rPr lang="zh-CN" sz="900" dirty="0">
                  <a:solidFill>
                    <a:schemeClr val="accent3"/>
                  </a:solidFill>
                  <a:latin typeface="+mn-lt"/>
                  <a:ea typeface="+mn-ea"/>
                  <a:cs typeface="+mn-cs"/>
                </a:rPr>
                <a:t>2026 年 12 月以 IEA 同口径数据复盘</a:t>
              </a:r>
              <a:br/>
              <a:r>
                <a:rPr lang="zh-CN" sz="900" dirty="0">
                  <a:solidFill>
                    <a:schemeClr val="accent3"/>
                  </a:solidFill>
                  <a:latin typeface="+mn-lt"/>
                  <a:ea typeface="+mn-ea"/>
                  <a:cs typeface="+mn-cs"/>
                </a:rPr>
                <a:t>三项风险触发指标(第 12–13 页)</a:t>
              </a:r>
            </a:p>
          </p:txBody>
        </p:sp>
        <p:sp>
          <p:nvSpPr>
            <p:cNvPr id="57" name="Line 57"/>
            <p:cNvSpPr/>
            <p:nvPr/>
          </p:nvSpPr>
          <p:spPr>
            <a:xfrm>
              <a:off x="8763000" y="5295900"/>
              <a:ext cx="2781300" cy="9525"/>
            </a:xfrm>
            <a:custGeom>
              <a:avLst/>
              <a:gdLst/>
              <a:ahLst/>
              <a:cxnLst/>
              <a:rect l="l" t="t" r="r" b="b"/>
              <a:pathLst>
                <a:path w="2781300" h="9525">
                  <a:moveTo>
                    <a:pt x="0" y="0"/>
                  </a:moveTo>
                  <a:lnTo>
                    <a:pt x="2781300" y="0"/>
                  </a:lnTo>
                </a:path>
              </a:pathLst>
            </a:custGeom>
            <a:noFill/>
            <a:ln w="7144">
              <a:solidFill>
                <a:schemeClr val="accent3">
                  <a:alpha val="50000"/>
                </a:schemeClr>
              </a:solidFill>
            </a:ln>
          </p:spPr>
        </p:sp>
        <p:sp>
          <p:nvSpPr>
            <p:cNvPr id="58" name="TextBox 58"/>
            <p:cNvSpPr txBox="1"/>
            <p:nvPr/>
          </p:nvSpPr>
          <p:spPr>
            <a:xfrm>
              <a:off x="8758238" y="5427345"/>
              <a:ext cx="2078355" cy="347662"/>
            </a:xfrm>
            <a:prstGeom prst="rect">
              <a:avLst/>
            </a:prstGeom>
            <a:noFill/>
            <a:ln>
              <a:noFill/>
            </a:ln>
          </p:spPr>
          <p:txBody>
            <a:bodyPr wrap="none" lIns="0" tIns="0" rIns="0" bIns="0" anchor="t" anchorCtr="0">
              <a:spAutoFit/>
            </a:bodyPr>
            <a:lstStyle/>
            <a:p>
              <a:pPr algn="l">
                <a:lnSpc>
                  <a:spcPts val="1350"/>
                </a:lnSpc>
              </a:pPr>
              <a:r>
                <a:rPr lang="zh-CN" sz="900" dirty="0">
                  <a:solidFill>
                    <a:srgbClr val="FFFFFF"/>
                  </a:solidFill>
                  <a:latin typeface="+mn-lt"/>
                  <a:ea typeface="+mn-ea"/>
                  <a:cs typeface="+mn-cs"/>
                </a:rPr>
                <a:t>不决定的后果:预算继续按存量地图分配,</a:t>
              </a:r>
              <a:br/>
              <a:r>
                <a:rPr lang="zh-CN" sz="900" dirty="0">
                  <a:solidFill>
                    <a:srgbClr val="FFFFFF"/>
                  </a:solidFill>
                  <a:latin typeface="+mn-lt"/>
                  <a:ea typeface="+mn-ea"/>
                  <a:cs typeface="+mn-cs"/>
                </a:rPr>
                <a:t>错过东南亚 2026–28 窗口期(第 13 页)</a:t>
              </a:r>
            </a:p>
          </p:txBody>
        </p:sp>
        <p:sp>
          <p:nvSpPr>
            <p:cNvPr id="59" name="TextBox 59"/>
            <p:cNvSpPr txBox="1"/>
            <p:nvPr/>
          </p:nvSpPr>
          <p:spPr>
            <a:xfrm>
              <a:off x="8758238" y="5816441"/>
              <a:ext cx="1952361" cy="161925"/>
            </a:xfrm>
            <a:prstGeom prst="rect">
              <a:avLst/>
            </a:prstGeom>
            <a:noFill/>
            <a:ln>
              <a:noFill/>
            </a:ln>
          </p:spPr>
          <p:txBody>
            <a:bodyPr wrap="none" lIns="0" tIns="0" rIns="0" bIns="0" anchor="t" anchorCtr="0">
              <a:spAutoFit/>
            </a:bodyPr>
            <a:lstStyle/>
            <a:p>
              <a:pPr algn="l"/>
              <a:r>
                <a:rPr lang="zh-CN" sz="820" dirty="0">
                  <a:solidFill>
                    <a:schemeClr val="accent3"/>
                  </a:solidFill>
                  <a:latin typeface="+mn-lt"/>
                  <a:ea typeface="+mn-ea"/>
                  <a:cs typeface="+mn-cs"/>
                </a:rPr>
                <a:t>证据链:第 3–9 页;方法与口径:第 14 页</a:t>
              </a:r>
            </a:p>
          </p:txBody>
        </p:sp>
      </p:grpSp>
      <p:grpSp>
        <p:nvGrpSpPr>
          <p:cNvPr id="64" name="footer"/>
          <p:cNvGrpSpPr/>
          <p:nvPr/>
        </p:nvGrpSpPr>
        <p:grpSpPr>
          <a:xfrm>
            <a:off x="452438" y="6205538"/>
            <a:ext cx="11287125" cy="300038"/>
            <a:chOff x="452438" y="6205538"/>
            <a:chExt cx="11287125" cy="300038"/>
          </a:xfrm>
        </p:grpSpPr>
        <p:sp>
          <p:nvSpPr>
            <p:cNvPr id="61" name="TextBox 61"/>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62" name="TextBox 62"/>
            <p:cNvSpPr txBox="1"/>
            <p:nvPr/>
          </p:nvSpPr>
          <p:spPr>
            <a:xfrm>
              <a:off x="452438" y="635793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63" name="TextBox 63"/>
            <p:cNvSpPr txBox="1"/>
            <p:nvPr/>
          </p:nvSpPr>
          <p:spPr>
            <a:xfrm>
              <a:off x="11673881" y="635793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300"/>
                                        <p:tgtEl>
                                          <p:spTgt spid="15"/>
                                        </p:tgtEl>
                                      </p:cBhvr>
                                    </p:animEffect>
                                  </p:childTnLst>
                                </p:cTn>
                              </p:par>
                            </p:childTnLst>
                          </p:cTn>
                        </p:par>
                        <p:par>
                          <p:cTn id="12" fill="hold">
                            <p:stCondLst>
                              <p:cond delay="11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300"/>
                                        <p:tgtEl>
                                          <p:spTgt spid="20"/>
                                        </p:tgtEl>
                                      </p:cBhvr>
                                    </p:animEffect>
                                  </p:childTnLst>
                                </p:cTn>
                              </p:par>
                            </p:childTnLst>
                          </p:cTn>
                        </p:par>
                        <p:par>
                          <p:cTn id="16" fill="hold">
                            <p:stCondLst>
                              <p:cond delay="19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300"/>
                                        <p:tgtEl>
                                          <p:spTgt spid="25"/>
                                        </p:tgtEl>
                                      </p:cBhvr>
                                    </p:animEffect>
                                  </p:childTnLst>
                                </p:cTn>
                              </p:par>
                            </p:childTnLst>
                          </p:cTn>
                        </p:par>
                        <p:par>
                          <p:cTn id="20" fill="hold">
                            <p:stCondLst>
                              <p:cond delay="27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300"/>
                                        <p:tgtEl>
                                          <p:spTgt spid="30"/>
                                        </p:tgtEl>
                                      </p:cBhvr>
                                    </p:animEffect>
                                  </p:childTnLst>
                                </p:cTn>
                              </p:par>
                            </p:childTnLst>
                          </p:cTn>
                        </p:par>
                        <p:par>
                          <p:cTn id="24" fill="hold">
                            <p:stCondLst>
                              <p:cond delay="35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400"/>
                                        <p:tgtEl>
                                          <p:spTgt spid="41"/>
                                        </p:tgtEl>
                                      </p:cBhvr>
                                    </p:animEffect>
                                  </p:childTnLst>
                                </p:cTn>
                              </p:par>
                            </p:childTnLst>
                          </p:cTn>
                        </p:par>
                        <p:par>
                          <p:cTn id="28" fill="hold">
                            <p:stCondLst>
                              <p:cond delay="440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60"/>
                                        </p:tgtEl>
                                        <p:attrNameLst>
                                          <p:attrName>style.visibility</p:attrName>
                                        </p:attrNameLst>
                                      </p:cBhvr>
                                      <p:to>
                                        <p:strVal val="visible"/>
                                      </p:to>
                                    </p:set>
                                    <p:animEffect transition="in" filter="fade">
                                      <p:cBhvr>
                                        <p:cTn id="31"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204260" y="247650"/>
            <a:ext cx="1530540" cy="206216"/>
            <a:chOff x="10204260" y="247650"/>
            <a:chExt cx="1530540" cy="206216"/>
          </a:xfrm>
        </p:grpSpPr>
        <p:sp>
          <p:nvSpPr>
            <p:cNvPr id="2" name="TextBox 2"/>
            <p:cNvSpPr txBox="1"/>
            <p:nvPr/>
          </p:nvSpPr>
          <p:spPr>
            <a:xfrm>
              <a:off x="10204260" y="291941"/>
              <a:ext cx="601853"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现状与张力</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6642544" cy="637794"/>
            <a:chOff x="448056" y="472440"/>
            <a:chExt cx="6642544" cy="637794"/>
          </a:xfrm>
        </p:grpSpPr>
        <p:sp>
          <p:nvSpPr>
            <p:cNvPr id="6" name="TextBox 6"/>
            <p:cNvSpPr txBox="1"/>
            <p:nvPr/>
          </p:nvSpPr>
          <p:spPr>
            <a:xfrm>
              <a:off x="448056" y="472440"/>
              <a:ext cx="6642544"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2025 年全球电动车销量 2,100 万辆、渗透率 25%,五年增长七倍</a:t>
              </a:r>
              <a:br/>
              <a:r>
                <a:rPr lang="zh-CN" sz="1800" b="1" dirty="0">
                  <a:solidFill>
                    <a:schemeClr val="accent1"/>
                  </a:solidFill>
                  <a:latin typeface="+mn-lt"/>
                  <a:ea typeface="+mn-ea"/>
                  <a:cs typeface="+mn-cs"/>
                </a:rPr>
                <a:t>——电动车已是主流市场,不是利基</a:t>
              </a:r>
            </a:p>
          </p:txBody>
        </p:sp>
      </p:grpSp>
      <p:grpSp>
        <p:nvGrpSpPr>
          <p:cNvPr id="9" name="unit-line"/>
          <p:cNvGrpSpPr/>
          <p:nvPr/>
        </p:nvGrpSpPr>
        <p:grpSpPr>
          <a:xfrm>
            <a:off x="452438" y="1160145"/>
            <a:ext cx="3190608" cy="176212"/>
            <a:chOff x="452438" y="1160145"/>
            <a:chExt cx="3190608" cy="176212"/>
          </a:xfrm>
        </p:grpSpPr>
        <p:sp>
          <p:nvSpPr>
            <p:cNvPr id="8" name="TextBox 8"/>
            <p:cNvSpPr txBox="1"/>
            <p:nvPr/>
          </p:nvSpPr>
          <p:spPr>
            <a:xfrm>
              <a:off x="452438" y="1160145"/>
              <a:ext cx="319060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A:全球电动车销量,百万辆;B:电动车渗透率,%;2015–2025</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1572979" cy="349091"/>
            <a:chOff x="452438" y="1552575"/>
            <a:chExt cx="1572979"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933399"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全球电动车销量</a:t>
              </a:r>
            </a:p>
          </p:txBody>
        </p:sp>
        <p:sp>
          <p:nvSpPr>
            <p:cNvPr id="14" name="TextBox 14"/>
            <p:cNvSpPr txBox="1"/>
            <p:nvPr/>
          </p:nvSpPr>
          <p:spPr>
            <a:xfrm>
              <a:off x="452438" y="1739741"/>
              <a:ext cx="1572979"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百万辆;2025 年为 IEA 全年估计</a:t>
              </a:r>
            </a:p>
          </p:txBody>
        </p:sp>
      </p:grpSp>
      <p:grpSp>
        <p:nvGrpSpPr>
          <p:cNvPr id="18" name="world-sales"/>
          <p:cNvGrpSpPr/>
          <p:nvPr/>
        </p:nvGrpSpPr>
        <p:grpSpPr>
          <a:xfrm>
            <a:off x="457200" y="1943100"/>
            <a:ext cx="3848100" cy="2533650"/>
            <a:chOff x="457200" y="1943100"/>
            <a:chExt cx="3848100" cy="2533650"/>
          </a:xfrm>
        </p:grpSpPr>
        <p:graphicFrame>
          <p:nvGraphicFramePr>
            <p:cNvPr id="16" name="world-sales"/>
            <p:cNvGraphicFramePr>
              <a:graphicFrameLocks noGrp="1"/>
            </p:cNvGraphicFramePr>
            <p:nvPr/>
          </p:nvGraphicFramePr>
          <p:xfrm>
            <a:off x="457200" y="1943100"/>
            <a:ext cx="3848100" cy="2533650"/>
          </p:xfrm>
          <a:graphic>
            <a:graphicData uri="http://schemas.openxmlformats.org/drawingml/2006/chart">
              <c:chart xmlns:c="http://schemas.openxmlformats.org/drawingml/2006/chart" r:id="rId2"/>
            </a:graphicData>
          </a:graphic>
        </p:graphicFrame>
        <p:sp>
          <p:nvSpPr>
            <p:cNvPr id="17" name="Chart Note 17"/>
            <p:cNvSpPr txBox="1"/>
            <p:nvPr/>
          </p:nvSpPr>
          <p:spPr>
            <a:xfrm>
              <a:off x="571500" y="2107311"/>
              <a:ext cx="2095500" cy="166624"/>
            </a:xfrm>
            <a:prstGeom prst="rect">
              <a:avLst/>
            </a:prstGeom>
            <a:noFill/>
            <a:ln>
              <a:noFill/>
            </a:ln>
          </p:spPr>
          <p:txBody>
            <a:bodyPr wrap="square" lIns="0" tIns="0" rIns="0" bIns="0" anchor="b" anchorCtr="0"/>
            <a:lstStyle/>
            <a:p>
              <a:pPr algn="l"/>
              <a:r>
                <a:rPr lang="zh-CN" sz="820">
                  <a:solidFill>
                    <a:srgbClr val="2251FF"/>
                  </a:solidFill>
                  <a:latin typeface="Microsoft YaHei"/>
                  <a:ea typeface="Microsoft YaHei"/>
                  <a:cs typeface="Microsoft YaHei"/>
                </a:rPr>
                <a:t>2020–25 年均 +48%</a:t>
              </a:r>
            </a:p>
          </p:txBody>
        </p:sp>
      </p:grpSp>
      <p:grpSp>
        <p:nvGrpSpPr>
          <p:cNvPr id="23" name="exhibit-b-head"/>
          <p:cNvGrpSpPr/>
          <p:nvPr/>
        </p:nvGrpSpPr>
        <p:grpSpPr>
          <a:xfrm>
            <a:off x="4529138" y="1552575"/>
            <a:ext cx="1118928" cy="349091"/>
            <a:chOff x="4529138" y="1552575"/>
            <a:chExt cx="1118928" cy="349091"/>
          </a:xfrm>
        </p:grpSpPr>
        <p:sp>
          <p:nvSpPr>
            <p:cNvPr id="19" name="Ellipse 19"/>
            <p:cNvSpPr/>
            <p:nvPr/>
          </p:nvSpPr>
          <p:spPr>
            <a:xfrm>
              <a:off x="4533900" y="1552575"/>
              <a:ext cx="152400" cy="152400"/>
            </a:xfrm>
            <a:prstGeom prst="ellipse">
              <a:avLst/>
            </a:prstGeom>
            <a:solidFill>
              <a:schemeClr val="accent1"/>
            </a:solidFill>
            <a:ln>
              <a:noFill/>
            </a:ln>
          </p:spPr>
        </p:sp>
        <p:sp>
          <p:nvSpPr>
            <p:cNvPr id="20" name="TextBox 20"/>
            <p:cNvSpPr txBox="1"/>
            <p:nvPr/>
          </p:nvSpPr>
          <p:spPr>
            <a:xfrm>
              <a:off x="45668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21" name="TextBox 21"/>
            <p:cNvSpPr txBox="1"/>
            <p:nvPr/>
          </p:nvSpPr>
          <p:spPr>
            <a:xfrm>
              <a:off x="4738497" y="1571149"/>
              <a:ext cx="801472"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电动车渗透率</a:t>
              </a:r>
            </a:p>
          </p:txBody>
        </p:sp>
        <p:sp>
          <p:nvSpPr>
            <p:cNvPr id="22" name="TextBox 22"/>
            <p:cNvSpPr txBox="1"/>
            <p:nvPr/>
          </p:nvSpPr>
          <p:spPr>
            <a:xfrm>
              <a:off x="4529138" y="1739741"/>
              <a:ext cx="1118928"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电动车占新车销量的 %</a:t>
              </a:r>
            </a:p>
          </p:txBody>
        </p:sp>
      </p:grpSp>
      <p:grpSp>
        <p:nvGrpSpPr>
          <p:cNvPr id="28" name="world-share"/>
          <p:cNvGrpSpPr/>
          <p:nvPr/>
        </p:nvGrpSpPr>
        <p:grpSpPr>
          <a:xfrm>
            <a:off x="4301014" y="1943100"/>
            <a:ext cx="4161472" cy="2533650"/>
            <a:chOff x="4301014" y="1943100"/>
            <a:chExt cx="4161472" cy="2533650"/>
          </a:xfrm>
        </p:grpSpPr>
        <p:graphicFrame>
          <p:nvGraphicFramePr>
            <p:cNvPr id="24" name="world-share"/>
            <p:cNvGraphicFramePr>
              <a:graphicFrameLocks noGrp="1"/>
            </p:cNvGraphicFramePr>
            <p:nvPr/>
          </p:nvGraphicFramePr>
          <p:xfrm>
            <a:off x="4533900" y="1943100"/>
            <a:ext cx="3924300" cy="2533650"/>
          </p:xfrm>
          <a:graphic>
            <a:graphicData uri="http://schemas.openxmlformats.org/drawingml/2006/chart">
              <c:chart xmlns:c="http://schemas.openxmlformats.org/drawingml/2006/chart" r:id="rId3"/>
            </a:graphicData>
          </a:graphic>
        </p:graphicFrame>
        <p:sp>
          <p:nvSpPr>
            <p:cNvPr id="25" name="Chart Note 25"/>
            <p:cNvSpPr txBox="1"/>
            <p:nvPr/>
          </p:nvSpPr>
          <p:spPr>
            <a:xfrm>
              <a:off x="7795736" y="2380393"/>
              <a:ext cx="666750" cy="166624"/>
            </a:xfrm>
            <a:prstGeom prst="rect">
              <a:avLst/>
            </a:prstGeom>
            <a:noFill/>
            <a:ln>
              <a:noFill/>
            </a:ln>
          </p:spPr>
          <p:txBody>
            <a:bodyPr wrap="square" lIns="0" tIns="0" rIns="0" bIns="0" anchor="b" anchorCtr="0"/>
            <a:lstStyle/>
            <a:p>
              <a:pPr algn="l"/>
              <a:r>
                <a:rPr lang="zh-CN" sz="820" b="1">
                  <a:solidFill>
                    <a:srgbClr val="2251FF"/>
                  </a:solidFill>
                  <a:latin typeface="Microsoft YaHei"/>
                  <a:ea typeface="Microsoft YaHei"/>
                  <a:cs typeface="Microsoft YaHei"/>
                </a:rPr>
                <a:t>全球 25%</a:t>
              </a:r>
            </a:p>
          </p:txBody>
        </p:sp>
        <p:sp>
          <p:nvSpPr>
            <p:cNvPr id="26" name="Chart Note 26"/>
            <p:cNvSpPr txBox="1"/>
            <p:nvPr/>
          </p:nvSpPr>
          <p:spPr>
            <a:xfrm>
              <a:off x="4301014" y="3985165"/>
              <a:ext cx="381000" cy="166624"/>
            </a:xfrm>
            <a:prstGeom prst="rect">
              <a:avLst/>
            </a:prstGeom>
            <a:noFill/>
            <a:ln>
              <a:noFill/>
            </a:ln>
          </p:spPr>
          <p:txBody>
            <a:bodyPr wrap="square" lIns="0" tIns="0" rIns="0" bIns="0" anchor="b" anchorCtr="0"/>
            <a:lstStyle/>
            <a:p>
              <a:pPr algn="r"/>
              <a:r>
                <a:rPr lang="zh-CN" sz="820">
                  <a:solidFill>
                    <a:srgbClr val="2251FF"/>
                  </a:solidFill>
                  <a:latin typeface="Arial"/>
                  <a:ea typeface="Microsoft YaHei"/>
                  <a:cs typeface="Arial"/>
                </a:rPr>
                <a:t>1%</a:t>
              </a:r>
            </a:p>
          </p:txBody>
        </p:sp>
        <p:sp>
          <p:nvSpPr>
            <p:cNvPr id="27" name="Chart Note 27"/>
            <p:cNvSpPr txBox="1"/>
            <p:nvPr/>
          </p:nvSpPr>
          <p:spPr>
            <a:xfrm>
              <a:off x="5334000" y="2107311"/>
              <a:ext cx="2095500" cy="166624"/>
            </a:xfrm>
            <a:prstGeom prst="rect">
              <a:avLst/>
            </a:prstGeom>
            <a:noFill/>
            <a:ln>
              <a:noFill/>
            </a:ln>
          </p:spPr>
          <p:txBody>
            <a:bodyPr wrap="square" lIns="0" tIns="0" rIns="0" bIns="0" anchor="b" anchorCtr="0"/>
            <a:lstStyle/>
            <a:p>
              <a:pPr algn="l"/>
              <a:r>
                <a:rPr lang="zh-CN" sz="820">
                  <a:solidFill>
                    <a:srgbClr val="7F7F7F"/>
                  </a:solidFill>
                  <a:latin typeface="Microsoft YaHei"/>
                  <a:ea typeface="Microsoft YaHei"/>
                  <a:cs typeface="Microsoft YaHei"/>
                </a:rPr>
                <a:t>2020 年 4.4% → 2025 年 25%</a:t>
              </a:r>
            </a:p>
          </p:txBody>
        </p:sp>
      </p:grpSp>
      <p:grpSp>
        <p:nvGrpSpPr>
          <p:cNvPr id="33" name="exhibit-c-head"/>
          <p:cNvGrpSpPr/>
          <p:nvPr/>
        </p:nvGrpSpPr>
        <p:grpSpPr>
          <a:xfrm>
            <a:off x="452438" y="4581525"/>
            <a:ext cx="1819895" cy="349091"/>
            <a:chOff x="452438" y="4581525"/>
            <a:chExt cx="1819895" cy="349091"/>
          </a:xfrm>
        </p:grpSpPr>
        <p:sp>
          <p:nvSpPr>
            <p:cNvPr id="29" name="Ellipse 29"/>
            <p:cNvSpPr/>
            <p:nvPr/>
          </p:nvSpPr>
          <p:spPr>
            <a:xfrm>
              <a:off x="457200" y="4581525"/>
              <a:ext cx="152400" cy="152400"/>
            </a:xfrm>
            <a:prstGeom prst="ellipse">
              <a:avLst/>
            </a:prstGeom>
            <a:solidFill>
              <a:schemeClr val="accent1"/>
            </a:solidFill>
            <a:ln>
              <a:noFill/>
            </a:ln>
          </p:spPr>
        </p:sp>
        <p:sp>
          <p:nvSpPr>
            <p:cNvPr id="30" name="TextBox 30"/>
            <p:cNvSpPr txBox="1"/>
            <p:nvPr/>
          </p:nvSpPr>
          <p:spPr>
            <a:xfrm>
              <a:off x="490115" y="461010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C</a:t>
              </a:r>
            </a:p>
          </p:txBody>
        </p:sp>
        <p:sp>
          <p:nvSpPr>
            <p:cNvPr id="31" name="TextBox 31"/>
            <p:cNvSpPr txBox="1"/>
            <p:nvPr/>
          </p:nvSpPr>
          <p:spPr>
            <a:xfrm>
              <a:off x="661797" y="4600099"/>
              <a:ext cx="801472"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关键年份对照</a:t>
              </a:r>
            </a:p>
          </p:txBody>
        </p:sp>
        <p:sp>
          <p:nvSpPr>
            <p:cNvPr id="32" name="TextBox 32"/>
            <p:cNvSpPr txBox="1"/>
            <p:nvPr/>
          </p:nvSpPr>
          <p:spPr>
            <a:xfrm>
              <a:off x="452438" y="4768691"/>
              <a:ext cx="1819895"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销量与增量:百万辆;同比与渗透率:%</a:t>
              </a:r>
            </a:p>
          </p:txBody>
        </p:sp>
      </p:grpSp>
      <p:graphicFrame>
        <p:nvGraphicFramePr>
          <p:cNvPr id="34" name="key-years"/>
          <p:cNvGraphicFramePr>
            <a:graphicFrameLocks noGrp="1"/>
          </p:cNvGraphicFramePr>
          <p:nvPr/>
        </p:nvGraphicFramePr>
        <p:xfrm>
          <a:off x="457200" y="4953000"/>
          <a:ext cx="8001000" cy="990600"/>
        </p:xfrm>
        <a:graphic>
          <a:graphicData uri="http://schemas.openxmlformats.org/drawingml/2006/table">
            <a:tbl>
              <a:tblPr firstRow="1" bandRow="0">
                <a:tableStyleId>{5C22544A-7EE6-4342-B048-85BDC9FD1C3A}</a:tableStyleId>
              </a:tblPr>
              <a:tblGrid>
                <a:gridCol w="1143000"/>
                <a:gridCol w="1714500"/>
                <a:gridCol w="1714500"/>
                <a:gridCol w="1714500"/>
                <a:gridCol w="1714500"/>
              </a:tblGrid>
              <a:tr h="228600">
                <a:tc>
                  <a:txBody>
                    <a:bodyPr/>
                    <a:lstStyle/>
                    <a:p>
                      <a:pPr/>
                      <a:r>
                        <a:rPr lang="zh-CN" sz="820" b="1">
                          <a:solidFill>
                            <a:schemeClr val="accent1"/>
                          </a:solidFill>
                          <a:latin typeface="Microsoft YaHei"/>
                          <a:ea typeface="Microsoft YaHei"/>
                          <a:cs typeface="Microsoft YaHei"/>
                        </a:rPr>
                        <a:t>年份</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销量</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增量(较上年)</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同比</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渗透率</a:t>
                      </a:r>
                    </a:p>
                  </a:txBody>
                  <a:tcPr anchor="ctr" marL="76200" marR="76200" marT="9525" marB="9525">
                    <a:lnL>
                      <a:noFill/>
                    </a:lnL>
                    <a:lnR>
                      <a:noFill/>
                    </a:lnR>
                    <a:lnT>
                      <a:noFill/>
                    </a:lnT>
                    <a:lnB w="9525">
                      <a:solidFill>
                        <a:schemeClr val="accent1"/>
                      </a:solidFill>
                      <a:prstDash val="solid"/>
                    </a:lnB>
                    <a:noFill/>
                  </a:tcPr>
                </a:tc>
              </a:tr>
              <a:tr h="190500">
                <a:tc>
                  <a:txBody>
                    <a:bodyPr/>
                    <a:lstStyle/>
                    <a:p>
                      <a:pPr/>
                      <a:r>
                        <a:rPr lang="zh-CN" sz="820" b="1">
                          <a:solidFill>
                            <a:schemeClr val="dk1"/>
                          </a:solidFill>
                          <a:latin typeface="Microsoft YaHei"/>
                          <a:ea typeface="Microsoft YaHei"/>
                          <a:cs typeface="Microsoft YaHei"/>
                        </a:rPr>
                        <a:t>2020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3.0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+0.9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+43%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4.4%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dk1"/>
                          </a:solidFill>
                          <a:latin typeface="Microsoft YaHei"/>
                          <a:ea typeface="Microsoft YaHei"/>
                          <a:cs typeface="Microsoft YaHei"/>
                        </a:rPr>
                        <a:t>2021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6.6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+3.6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+120%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9.3%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dk1"/>
                          </a:solidFill>
                          <a:latin typeface="Microsoft YaHei"/>
                          <a:ea typeface="Microsoft YaHei"/>
                          <a:cs typeface="Microsoft YaHei"/>
                        </a:rPr>
                        <a:t>2023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+4.0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+40%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accent1"/>
                          </a:solidFill>
                          <a:latin typeface="Microsoft YaHei"/>
                          <a:ea typeface="Microsoft YaHei"/>
                          <a:cs typeface="Microsoft YaHei"/>
                        </a:rPr>
                        <a:t>2025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1">
                          <a:solidFill>
                            <a:schemeClr val="accent1"/>
                          </a:solidFill>
                          <a:latin typeface="Arial"/>
                          <a:ea typeface="Arial"/>
                          <a:cs typeface="Arial"/>
                        </a:rPr>
                        <a:t>21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1">
                          <a:solidFill>
                            <a:schemeClr val="accent1"/>
                          </a:solidFill>
                          <a:latin typeface="Arial"/>
                          <a:ea typeface="Arial"/>
                          <a:cs typeface="Arial"/>
                        </a:rPr>
                        <a:t>+4.0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1">
                          <a:solidFill>
                            <a:schemeClr val="accent1"/>
                          </a:solidFill>
                          <a:latin typeface="Arial"/>
                          <a:ea typeface="Arial"/>
                          <a:cs typeface="Arial"/>
                        </a:rPr>
                        <a:t>+24%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1">
                          <a:solidFill>
                            <a:schemeClr val="accent1"/>
                          </a:solidFill>
                          <a:latin typeface="Arial"/>
                          <a:ea typeface="Arial"/>
                          <a:cs typeface="Arial"/>
                        </a:rPr>
                        <a:t>25%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bl>
          </a:graphicData>
        </a:graphic>
      </p:graphicFrame>
      <p:grpSp>
        <p:nvGrpSpPr>
          <p:cNvPr id="50" name="insights"/>
          <p:cNvGrpSpPr/>
          <p:nvPr/>
        </p:nvGrpSpPr>
        <p:grpSpPr>
          <a:xfrm>
            <a:off x="8720138" y="1587341"/>
            <a:ext cx="3014662" cy="4432459"/>
            <a:chOff x="8720138" y="1587341"/>
            <a:chExt cx="3014662" cy="4432459"/>
          </a:xfrm>
        </p:grpSpPr>
        <p:sp>
          <p:nvSpPr>
            <p:cNvPr id="35" name="TextBox 35"/>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36" name="Line 36"/>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37" name="Ellipse 37"/>
            <p:cNvSpPr/>
            <p:nvPr/>
          </p:nvSpPr>
          <p:spPr>
            <a:xfrm>
              <a:off x="8724900" y="1876425"/>
              <a:ext cx="152400" cy="152400"/>
            </a:xfrm>
            <a:prstGeom prst="ellipse">
              <a:avLst/>
            </a:prstGeom>
            <a:solidFill>
              <a:schemeClr val="accent1"/>
            </a:solidFill>
            <a:ln>
              <a:noFill/>
            </a:ln>
          </p:spPr>
        </p:sp>
        <p:sp>
          <p:nvSpPr>
            <p:cNvPr id="38" name="TextBox 38"/>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39" name="TextBox 39"/>
            <p:cNvSpPr txBox="1"/>
            <p:nvPr/>
          </p:nvSpPr>
          <p:spPr>
            <a:xfrm>
              <a:off x="8948166" y="1886902"/>
              <a:ext cx="237763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销量五年增长 7.0 倍:2020 年 300 万辆</a:t>
              </a:r>
              <a:br/>
              <a:r>
                <a:rPr lang="zh-CN" sz="1050" dirty="0">
                  <a:solidFill>
                    <a:schemeClr val="dk1"/>
                  </a:solidFill>
                  <a:latin typeface="+mn-lt"/>
                  <a:ea typeface="+mn-ea"/>
                  <a:cs typeface="+mn-cs"/>
                </a:rPr>
                <a:t>→ 2025 年 2,100 万辆,年均增速 48%¹;</a:t>
              </a:r>
              <a:br/>
              <a:r>
                <a:rPr lang="zh-CN" sz="1050" dirty="0">
                  <a:solidFill>
                    <a:schemeClr val="dk1"/>
                  </a:solidFill>
                  <a:latin typeface="+mn-lt"/>
                  <a:ea typeface="+mn-ea"/>
                  <a:cs typeface="+mn-cs"/>
                </a:rPr>
                <a:t>2021 年起每年增量都不低于 300 万辆。</a:t>
              </a:r>
            </a:p>
          </p:txBody>
        </p:sp>
        <p:sp>
          <p:nvSpPr>
            <p:cNvPr id="40" name="Ellipse 40"/>
            <p:cNvSpPr/>
            <p:nvPr/>
          </p:nvSpPr>
          <p:spPr>
            <a:xfrm>
              <a:off x="8724900" y="2600325"/>
              <a:ext cx="152400" cy="152400"/>
            </a:xfrm>
            <a:prstGeom prst="ellipse">
              <a:avLst/>
            </a:prstGeom>
            <a:solidFill>
              <a:schemeClr val="accent1"/>
            </a:solidFill>
            <a:ln>
              <a:noFill/>
            </a:ln>
          </p:spPr>
        </p:sp>
        <p:sp>
          <p:nvSpPr>
            <p:cNvPr id="41" name="TextBox 41"/>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42" name="TextBox 42"/>
            <p:cNvSpPr txBox="1"/>
            <p:nvPr/>
          </p:nvSpPr>
          <p:spPr>
            <a:xfrm>
              <a:off x="8948166" y="2610802"/>
              <a:ext cx="235096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渗透率从 4.4% 升到 25%:每四辆新车</a:t>
              </a:r>
              <a:br/>
              <a:r>
                <a:rPr lang="zh-CN" sz="1050" dirty="0">
                  <a:solidFill>
                    <a:schemeClr val="dk1"/>
                  </a:solidFill>
                  <a:latin typeface="+mn-lt"/>
                  <a:ea typeface="+mn-ea"/>
                  <a:cs typeface="+mn-cs"/>
                </a:rPr>
                <a:t>就有一辆是电动车;2021 年翻倍(9.3%)</a:t>
              </a:r>
              <a:br/>
              <a:r>
                <a:rPr lang="zh-CN" sz="1050" dirty="0">
                  <a:solidFill>
                    <a:schemeClr val="dk1"/>
                  </a:solidFill>
                  <a:latin typeface="+mn-lt"/>
                  <a:ea typeface="+mn-ea"/>
                  <a:cs typeface="+mn-cs"/>
                </a:rPr>
                <a:t>是拐点,此后逐年抬升未回落。</a:t>
              </a:r>
            </a:p>
          </p:txBody>
        </p:sp>
        <p:sp>
          <p:nvSpPr>
            <p:cNvPr id="43" name="Ellipse 43"/>
            <p:cNvSpPr/>
            <p:nvPr/>
          </p:nvSpPr>
          <p:spPr>
            <a:xfrm>
              <a:off x="8724900" y="3324225"/>
              <a:ext cx="152400" cy="152400"/>
            </a:xfrm>
            <a:prstGeom prst="ellipse">
              <a:avLst/>
            </a:prstGeom>
            <a:solidFill>
              <a:schemeClr val="accent1"/>
            </a:solidFill>
            <a:ln>
              <a:noFill/>
            </a:ln>
          </p:spPr>
        </p:sp>
        <p:sp>
          <p:nvSpPr>
            <p:cNvPr id="44" name="TextBox 44"/>
            <p:cNvSpPr txBox="1"/>
            <p:nvPr/>
          </p:nvSpPr>
          <p:spPr>
            <a:xfrm>
              <a:off x="87682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45" name="TextBox 45"/>
            <p:cNvSpPr txBox="1"/>
            <p:nvPr/>
          </p:nvSpPr>
          <p:spPr>
            <a:xfrm>
              <a:off x="8948166" y="3334702"/>
              <a:ext cx="196424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基数已经不是"是否会来"的问题:</a:t>
              </a:r>
              <a:br/>
              <a:r>
                <a:rPr lang="zh-CN" sz="1050" dirty="0">
                  <a:solidFill>
                    <a:schemeClr val="dk1"/>
                  </a:solidFill>
                  <a:latin typeface="+mn-lt"/>
                  <a:ea typeface="+mn-ea"/>
                  <a:cs typeface="+mn-cs"/>
                </a:rPr>
                <a:t>2,100 万辆的存量市场足以支撑</a:t>
              </a:r>
              <a:br/>
              <a:r>
                <a:rPr lang="zh-CN" sz="1050" dirty="0">
                  <a:solidFill>
                    <a:schemeClr val="dk1"/>
                  </a:solidFill>
                  <a:latin typeface="+mn-lt"/>
                  <a:ea typeface="+mn-ea"/>
                  <a:cs typeface="+mn-cs"/>
                </a:rPr>
                <a:t>按地区分级的差异化投入决策。</a:t>
              </a:r>
            </a:p>
          </p:txBody>
        </p:sp>
        <p:sp>
          <p:nvSpPr>
            <p:cNvPr id="46" name="Rectangle 46"/>
            <p:cNvSpPr/>
            <p:nvPr/>
          </p:nvSpPr>
          <p:spPr>
            <a:xfrm>
              <a:off x="8724900" y="4914900"/>
              <a:ext cx="3009900" cy="1104900"/>
            </a:xfrm>
            <a:prstGeom prst="rect">
              <a:avLst/>
            </a:prstGeom>
            <a:solidFill>
              <a:srgbClr val="F7F7F7"/>
            </a:solidFill>
            <a:ln>
              <a:noFill/>
            </a:ln>
          </p:spPr>
        </p:sp>
        <p:sp>
          <p:nvSpPr>
            <p:cNvPr id="47" name="Rectangle 47"/>
            <p:cNvSpPr/>
            <p:nvPr/>
          </p:nvSpPr>
          <p:spPr>
            <a:xfrm>
              <a:off x="8724900" y="4914900"/>
              <a:ext cx="38100" cy="1104900"/>
            </a:xfrm>
            <a:prstGeom prst="rect">
              <a:avLst/>
            </a:prstGeom>
            <a:solidFill>
              <a:schemeClr val="accent2"/>
            </a:solidFill>
            <a:ln>
              <a:noFill/>
            </a:ln>
          </p:spPr>
        </p:sp>
        <p:sp>
          <p:nvSpPr>
            <p:cNvPr id="48" name="TextBox 48"/>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49" name="TextBox 49"/>
            <p:cNvSpPr txBox="1"/>
            <p:nvPr/>
          </p:nvSpPr>
          <p:spPr>
            <a:xfrm>
              <a:off x="8871966" y="5220652"/>
              <a:ext cx="221761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市场规模已不是投入前提;剩下的问题</a:t>
              </a:r>
              <a:br/>
              <a:r>
                <a:rPr lang="zh-CN" sz="1050" dirty="0">
                  <a:solidFill>
                    <a:schemeClr val="dk1"/>
                  </a:solidFill>
                  <a:latin typeface="+mn-lt"/>
                  <a:ea typeface="+mn-ea"/>
                  <a:cs typeface="+mn-cs"/>
                </a:rPr>
                <a:t>只有'投在哪'和'用什么产品进'——</a:t>
              </a:r>
              <a:br/>
              <a:r>
                <a:rPr lang="zh-CN" sz="1050" dirty="0">
                  <a:solidFill>
                    <a:schemeClr val="dk1"/>
                  </a:solidFill>
                  <a:latin typeface="+mn-lt"/>
                  <a:ea typeface="+mn-ea"/>
                  <a:cs typeface="+mn-cs"/>
                </a:rPr>
                <a:t>下两页按地区拆分增量。</a:t>
              </a:r>
            </a:p>
          </p:txBody>
        </p:sp>
      </p:grpSp>
      <p:grpSp>
        <p:nvGrpSpPr>
          <p:cNvPr id="55" name="footer"/>
          <p:cNvGrpSpPr/>
          <p:nvPr/>
        </p:nvGrpSpPr>
        <p:grpSpPr>
          <a:xfrm>
            <a:off x="452438" y="6205538"/>
            <a:ext cx="11287125" cy="433388"/>
            <a:chOff x="452438" y="6205538"/>
            <a:chExt cx="11287125" cy="433388"/>
          </a:xfrm>
        </p:grpSpPr>
        <p:sp>
          <p:nvSpPr>
            <p:cNvPr id="51" name="TextBox 51"/>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52" name="TextBox 52"/>
            <p:cNvSpPr txBox="1"/>
            <p:nvPr/>
          </p:nvSpPr>
          <p:spPr>
            <a:xfrm>
              <a:off x="452438" y="6338888"/>
              <a:ext cx="3481388"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年均增速(CAGR)按 2020–2025 五年复合计算:(21÷3)^(1/5) − 1 = 47.6%</a:t>
              </a:r>
            </a:p>
          </p:txBody>
        </p:sp>
        <p:sp>
          <p:nvSpPr>
            <p:cNvPr id="53" name="TextBox 53"/>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54" name="TextBox 54"/>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xmlns:p="http://schemas.openxmlformats.org/presentationml/2006/main" id="13" presetID="22" presetClass="entr" presetSubtype="1" fill="hold" grpId="0" nodeType="afterEffect">
                                  <p:stCondLst>
                                    <p:cond delay="500"/>
                                  </p:stCondLst>
                                  <p:childTnLst>
                                    <p:set>
                                      <p:cBhvr>
                                        <p:cTn id="14" dur="1" fill="hold">
                                          <p:stCondLst>
                                            <p:cond delay="0"/>
                                          </p:stCondLst>
                                        </p:cTn>
                                        <p:tgtEl>
                                          <p:spTgt spid="18"/>
                                        </p:tgtEl>
                                        <p:attrNameLst>
                                          <p:attrName>style.visibility</p:attrName>
                                        </p:attrNameLst>
                                      </p:cBhvr>
                                      <p:to>
                                        <p:strVal val="visible"/>
                                      </p:to>
                                    </p:set>
                                    <p:animEffect transition="in" filter="wipe(up)">
                                      <p:cBhvr>
                                        <p:cTn id="15" dur="600"/>
                                        <p:tgtEl>
                                          <p:spTgt spid="18"/>
                                        </p:tgtEl>
                                      </p:cBhvr>
                                    </p:animEffect>
                                  </p:childTnLst>
                                </p:cTn>
                              </p:par>
                            </p:childTnLst>
                          </p:cTn>
                        </p:par>
                        <p:par>
                          <p:cTn id="16" fill="hold">
                            <p:stCondLst>
                              <p:cond delay="21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200"/>
                                        <p:tgtEl>
                                          <p:spTgt spid="23"/>
                                        </p:tgtEl>
                                      </p:cBhvr>
                                    </p:animEffect>
                                  </p:childTnLst>
                                </p:cTn>
                              </p:par>
                            </p:childTnLst>
                          </p:cTn>
                        </p:par>
                        <p:par>
                          <p:cTn id="20" fill="hold">
                            <p:stCondLst>
                              <p:cond delay="2800"/>
                            </p:stCondLst>
                            <p:childTnLst>
                              <p:par>
                                <p:cTn xmlns:p="http://schemas.openxmlformats.org/presentationml/2006/main" id="21" presetID="22" presetClass="entr" presetSubtype="2" fill="hold" grpId="0" nodeType="afterEffect">
                                  <p:stCondLst>
                                    <p:cond delay="500"/>
                                  </p:stCondLst>
                                  <p:childTnLst>
                                    <p:set>
                                      <p:cBhvr>
                                        <p:cTn id="22" dur="1" fill="hold">
                                          <p:stCondLst>
                                            <p:cond delay="0"/>
                                          </p:stCondLst>
                                        </p:cTn>
                                        <p:tgtEl>
                                          <p:spTgt spid="28"/>
                                        </p:tgtEl>
                                        <p:attrNameLst>
                                          <p:attrName>style.visibility</p:attrName>
                                        </p:attrNameLst>
                                      </p:cBhvr>
                                      <p:to>
                                        <p:strVal val="visible"/>
                                      </p:to>
                                    </p:set>
                                    <p:animEffect transition="in" filter="wipe(right)">
                                      <p:cBhvr>
                                        <p:cTn id="23" dur="600"/>
                                        <p:tgtEl>
                                          <p:spTgt spid="28"/>
                                        </p:tgtEl>
                                      </p:cBhvr>
                                    </p:animEffect>
                                  </p:childTnLst>
                                </p:cTn>
                              </p:par>
                            </p:childTnLst>
                          </p:cTn>
                        </p:par>
                        <p:par>
                          <p:cTn id="24" fill="hold">
                            <p:stCondLst>
                              <p:cond delay="39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200"/>
                                        <p:tgtEl>
                                          <p:spTgt spid="33"/>
                                        </p:tgtEl>
                                      </p:cBhvr>
                                    </p:animEffect>
                                  </p:childTnLst>
                                </p:cTn>
                              </p:par>
                            </p:childTnLst>
                          </p:cTn>
                        </p:par>
                        <p:par>
                          <p:cTn id="28" fill="hold">
                            <p:stCondLst>
                              <p:cond delay="4600"/>
                            </p:stCondLst>
                            <p:childTnLst>
                              <p:par>
                                <p:cTn xmlns:p="http://schemas.openxmlformats.org/presentationml/2006/main" id="29" presetID="22" presetClass="entr" presetSubtype="4" fill="hold" grpId="0" nodeType="afterEffect">
                                  <p:stCondLst>
                                    <p:cond delay="500"/>
                                  </p:stCondLst>
                                  <p:childTnLst>
                                    <p:set>
                                      <p:cBhvr>
                                        <p:cTn id="30" dur="1" fill="hold">
                                          <p:stCondLst>
                                            <p:cond delay="0"/>
                                          </p:stCondLst>
                                        </p:cTn>
                                        <p:tgtEl>
                                          <p:spTgt spid="34"/>
                                        </p:tgtEl>
                                        <p:attrNameLst>
                                          <p:attrName>style.visibility</p:attrName>
                                        </p:attrNameLst>
                                      </p:cBhvr>
                                      <p:to>
                                        <p:strVal val="visible"/>
                                      </p:to>
                                    </p:set>
                                    <p:animEffect transition="in" filter="wipe(down)">
                                      <p:cBhvr>
                                        <p:cTn id="31" dur="500"/>
                                        <p:tgtEl>
                                          <p:spTgt spid="34"/>
                                        </p:tgtEl>
                                      </p:cBhvr>
                                    </p:animEffect>
                                  </p:childTnLst>
                                </p:cTn>
                              </p:par>
                            </p:childTnLst>
                          </p:cTn>
                        </p:par>
                        <p:par>
                          <p:cTn id="32" fill="hold">
                            <p:stCondLst>
                              <p:cond delay="5600"/>
                            </p:stCondLst>
                            <p:childTnLst>
                              <p:par>
                                <p:cTn xmlns:p="http://schemas.openxmlformats.org/presentationml/2006/main" id="33" presetID="10" presetClass="entr" presetSubtype="0" fill="hold" grpId="0" nodeType="afterEffect">
                                  <p:stCondLst>
                                    <p:cond delay="500"/>
                                  </p:stCondLst>
                                  <p:childTnLst>
                                    <p:set>
                                      <p:cBhvr>
                                        <p:cTn id="34" dur="1" fill="hold">
                                          <p:stCondLst>
                                            <p:cond delay="0"/>
                                          </p:stCondLst>
                                        </p:cTn>
                                        <p:tgtEl>
                                          <p:spTgt spid="50"/>
                                        </p:tgtEl>
                                        <p:attrNameLst>
                                          <p:attrName>style.visibility</p:attrName>
                                        </p:attrNameLst>
                                      </p:cBhvr>
                                      <p:to>
                                        <p:strVal val="visible"/>
                                      </p:to>
                                    </p:set>
                                    <p:animEffect transition="in" filter="fade">
                                      <p:cBhvr>
                                        <p:cTn id="35" dur="4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204260" y="247650"/>
            <a:ext cx="1530540" cy="206216"/>
            <a:chOff x="10204260" y="247650"/>
            <a:chExt cx="1530540" cy="206216"/>
          </a:xfrm>
        </p:grpSpPr>
        <p:sp>
          <p:nvSpPr>
            <p:cNvPr id="2" name="TextBox 2"/>
            <p:cNvSpPr txBox="1"/>
            <p:nvPr/>
          </p:nvSpPr>
          <p:spPr>
            <a:xfrm>
              <a:off x="10204260" y="291941"/>
              <a:ext cx="601853"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现状与张力</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5212080" cy="637794"/>
            <a:chOff x="448056" y="472440"/>
            <a:chExt cx="5212080" cy="637794"/>
          </a:xfrm>
        </p:grpSpPr>
        <p:sp>
          <p:nvSpPr>
            <p:cNvPr id="6" name="TextBox 6"/>
            <p:cNvSpPr txBox="1"/>
            <p:nvPr/>
          </p:nvSpPr>
          <p:spPr>
            <a:xfrm>
              <a:off x="448056" y="472440"/>
              <a:ext cx="5212080"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2025 年 400 万辆增量中,中国贡献一半,美国转负,</a:t>
              </a:r>
              <a:br/>
              <a:r>
                <a:rPr lang="zh-CN" sz="1800" b="1" dirty="0">
                  <a:solidFill>
                    <a:schemeClr val="accent1"/>
                  </a:solidFill>
                  <a:latin typeface="+mn-lt"/>
                  <a:ea typeface="+mn-ea"/>
                  <a:cs typeface="+mn-cs"/>
                </a:rPr>
                <a:t>中美欧之外的市场增量首次超过欧洲</a:t>
              </a:r>
            </a:p>
          </p:txBody>
        </p:sp>
      </p:grpSp>
      <p:grpSp>
        <p:nvGrpSpPr>
          <p:cNvPr id="9" name="unit-line"/>
          <p:cNvGrpSpPr/>
          <p:nvPr/>
        </p:nvGrpSpPr>
        <p:grpSpPr>
          <a:xfrm>
            <a:off x="452438" y="1160145"/>
            <a:ext cx="4184447" cy="176212"/>
            <a:chOff x="452438" y="1160145"/>
            <a:chExt cx="4184447" cy="176212"/>
          </a:xfrm>
        </p:grpSpPr>
        <p:sp>
          <p:nvSpPr>
            <p:cNvPr id="8" name="TextBox 8"/>
            <p:cNvSpPr txBox="1"/>
            <p:nvPr/>
          </p:nvSpPr>
          <p:spPr>
            <a:xfrm>
              <a:off x="452438" y="1160145"/>
              <a:ext cx="4184447"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A:全球电动车销量按地区,百万辆,2020–2025;B:2025 年增量按地区,百万辆</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1538541" cy="349091"/>
            <a:chOff x="452438" y="1552575"/>
            <a:chExt cx="1538541"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1329182"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全球电动车销量按地区</a:t>
              </a:r>
            </a:p>
          </p:txBody>
        </p:sp>
        <p:sp>
          <p:nvSpPr>
            <p:cNvPr id="14" name="TextBox 14"/>
            <p:cNvSpPr txBox="1"/>
            <p:nvPr/>
          </p:nvSpPr>
          <p:spPr>
            <a:xfrm>
              <a:off x="452438" y="1739741"/>
              <a:ext cx="1174123"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百万辆;柱顶为当年合计</a:t>
              </a:r>
            </a:p>
          </p:txBody>
        </p:sp>
      </p:grpSp>
      <p:grpSp>
        <p:nvGrpSpPr>
          <p:cNvPr id="23" name="regional-mix"/>
          <p:cNvGrpSpPr/>
          <p:nvPr/>
        </p:nvGrpSpPr>
        <p:grpSpPr>
          <a:xfrm>
            <a:off x="457200" y="1943100"/>
            <a:ext cx="3848100" cy="2533650"/>
            <a:chOff x="457200" y="1943100"/>
            <a:chExt cx="3848100" cy="2533650"/>
          </a:xfrm>
        </p:grpSpPr>
        <p:graphicFrame>
          <p:nvGraphicFramePr>
            <p:cNvPr id="16" name="regional-mix"/>
            <p:cNvGraphicFramePr>
              <a:graphicFrameLocks noGrp="1"/>
            </p:cNvGraphicFramePr>
            <p:nvPr/>
          </p:nvGraphicFramePr>
          <p:xfrm>
            <a:off x="457200" y="1943100"/>
            <a:ext cx="3848100" cy="2533650"/>
          </p:xfrm>
          <a:graphic>
            <a:graphicData uri="http://schemas.openxmlformats.org/drawingml/2006/chart">
              <c:chart xmlns:c="http://schemas.openxmlformats.org/drawingml/2006/chart" r:id="rId2"/>
            </a:graphicData>
          </a:graphic>
        </p:graphicFrame>
        <p:sp>
          <p:nvSpPr>
            <p:cNvPr id="17" name="Chart Note 17"/>
            <p:cNvSpPr txBox="1"/>
            <p:nvPr/>
          </p:nvSpPr>
          <p:spPr>
            <a:xfrm>
              <a:off x="555593" y="3707511"/>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3.0</a:t>
              </a:r>
            </a:p>
          </p:txBody>
        </p:sp>
        <p:sp>
          <p:nvSpPr>
            <p:cNvPr id="18" name="Chart Note 18"/>
            <p:cNvSpPr txBox="1"/>
            <p:nvPr/>
          </p:nvSpPr>
          <p:spPr>
            <a:xfrm>
              <a:off x="1171575" y="3433191"/>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6.6</a:t>
              </a:r>
            </a:p>
          </p:txBody>
        </p:sp>
        <p:sp>
          <p:nvSpPr>
            <p:cNvPr id="19" name="Chart Note 19"/>
            <p:cNvSpPr txBox="1"/>
            <p:nvPr/>
          </p:nvSpPr>
          <p:spPr>
            <a:xfrm>
              <a:off x="1787557" y="3174111"/>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10.0</a:t>
              </a:r>
            </a:p>
          </p:txBody>
        </p:sp>
        <p:sp>
          <p:nvSpPr>
            <p:cNvPr id="20" name="Chart Note 20"/>
            <p:cNvSpPr txBox="1"/>
            <p:nvPr/>
          </p:nvSpPr>
          <p:spPr>
            <a:xfrm>
              <a:off x="2403443" y="2869311"/>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14.0</a:t>
              </a:r>
            </a:p>
          </p:txBody>
        </p:sp>
        <p:sp>
          <p:nvSpPr>
            <p:cNvPr id="21" name="Chart Note 21"/>
            <p:cNvSpPr txBox="1"/>
            <p:nvPr/>
          </p:nvSpPr>
          <p:spPr>
            <a:xfrm>
              <a:off x="3019425" y="2640711"/>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17.0</a:t>
              </a:r>
            </a:p>
          </p:txBody>
        </p:sp>
        <p:sp>
          <p:nvSpPr>
            <p:cNvPr id="22" name="Chart Note 22"/>
            <p:cNvSpPr txBox="1"/>
            <p:nvPr/>
          </p:nvSpPr>
          <p:spPr>
            <a:xfrm>
              <a:off x="3635407" y="2335911"/>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21.0</a:t>
              </a:r>
            </a:p>
          </p:txBody>
        </p:sp>
      </p:grpSp>
      <p:grpSp>
        <p:nvGrpSpPr>
          <p:cNvPr id="34" name="growth-multiples"/>
          <p:cNvGrpSpPr/>
          <p:nvPr/>
        </p:nvGrpSpPr>
        <p:grpSpPr>
          <a:xfrm>
            <a:off x="448818" y="4673441"/>
            <a:ext cx="3856482" cy="619125"/>
            <a:chOff x="448818" y="4673441"/>
            <a:chExt cx="3856482" cy="619125"/>
          </a:xfrm>
        </p:grpSpPr>
        <p:sp>
          <p:nvSpPr>
            <p:cNvPr id="24" name="TextBox 24"/>
            <p:cNvSpPr txBox="1"/>
            <p:nvPr/>
          </p:nvSpPr>
          <p:spPr>
            <a:xfrm>
              <a:off x="452438" y="4673441"/>
              <a:ext cx="1877160"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2020→2025 销量倍数(百万辆)</a:t>
              </a:r>
            </a:p>
          </p:txBody>
        </p:sp>
        <p:sp>
          <p:nvSpPr>
            <p:cNvPr id="25" name="Line 25"/>
            <p:cNvSpPr/>
            <p:nvPr/>
          </p:nvSpPr>
          <p:spPr>
            <a:xfrm>
              <a:off x="457200" y="4838700"/>
              <a:ext cx="3848100" cy="9525"/>
            </a:xfrm>
            <a:custGeom>
              <a:avLst/>
              <a:gdLst/>
              <a:ahLst/>
              <a:cxnLst/>
              <a:rect l="l" t="t" r="r" b="b"/>
              <a:pathLst>
                <a:path w="3848100" h="9525">
                  <a:moveTo>
                    <a:pt x="0" y="0"/>
                  </a:moveTo>
                  <a:lnTo>
                    <a:pt x="3848100" y="0"/>
                  </a:lnTo>
                </a:path>
              </a:pathLst>
            </a:custGeom>
            <a:noFill/>
            <a:ln w="7144">
              <a:solidFill>
                <a:schemeClr val="accent1"/>
              </a:solidFill>
            </a:ln>
          </p:spPr>
        </p:sp>
        <p:sp>
          <p:nvSpPr>
            <p:cNvPr id="26" name="TextBox 26"/>
            <p:cNvSpPr txBox="1"/>
            <p:nvPr/>
          </p:nvSpPr>
          <p:spPr>
            <a:xfrm>
              <a:off x="448818" y="4889182"/>
              <a:ext cx="57882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Arial"/>
                  <a:ea typeface="Arial"/>
                  <a:cs typeface="Arial"/>
                </a:rPr>
                <a:t>11.8×</a:t>
              </a:r>
            </a:p>
          </p:txBody>
        </p:sp>
        <p:sp>
          <p:nvSpPr>
            <p:cNvPr id="27" name="TextBox 27"/>
            <p:cNvSpPr txBox="1"/>
            <p:nvPr/>
          </p:nvSpPr>
          <p:spPr>
            <a:xfrm>
              <a:off x="452438" y="5130641"/>
              <a:ext cx="74912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中国 1.1→13.0</a:t>
              </a:r>
            </a:p>
          </p:txBody>
        </p:sp>
        <p:sp>
          <p:nvSpPr>
            <p:cNvPr id="28" name="TextBox 28"/>
            <p:cNvSpPr txBox="1"/>
            <p:nvPr/>
          </p:nvSpPr>
          <p:spPr>
            <a:xfrm>
              <a:off x="1410843" y="4889182"/>
              <a:ext cx="455279"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Arial"/>
                  <a:ea typeface="Arial"/>
                  <a:cs typeface="Arial"/>
                </a:rPr>
                <a:t>3.0×</a:t>
              </a:r>
            </a:p>
          </p:txBody>
        </p:sp>
        <p:sp>
          <p:nvSpPr>
            <p:cNvPr id="29" name="TextBox 29"/>
            <p:cNvSpPr txBox="1"/>
            <p:nvPr/>
          </p:nvSpPr>
          <p:spPr>
            <a:xfrm>
              <a:off x="1414462" y="5130641"/>
              <a:ext cx="688414"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欧洲 1.4→4.2</a:t>
              </a:r>
            </a:p>
          </p:txBody>
        </p:sp>
        <p:sp>
          <p:nvSpPr>
            <p:cNvPr id="30" name="TextBox 30"/>
            <p:cNvSpPr txBox="1"/>
            <p:nvPr/>
          </p:nvSpPr>
          <p:spPr>
            <a:xfrm>
              <a:off x="2372868" y="4889182"/>
              <a:ext cx="455279"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Arial"/>
                  <a:ea typeface="Arial"/>
                  <a:cs typeface="Arial"/>
                </a:rPr>
                <a:t>5.0×</a:t>
              </a:r>
            </a:p>
          </p:txBody>
        </p:sp>
        <p:sp>
          <p:nvSpPr>
            <p:cNvPr id="31" name="TextBox 31"/>
            <p:cNvSpPr txBox="1"/>
            <p:nvPr/>
          </p:nvSpPr>
          <p:spPr>
            <a:xfrm>
              <a:off x="2376488" y="5130641"/>
              <a:ext cx="688414"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美国 0.3→1.5</a:t>
              </a:r>
            </a:p>
          </p:txBody>
        </p:sp>
        <p:sp>
          <p:nvSpPr>
            <p:cNvPr id="32" name="TextBox 32"/>
            <p:cNvSpPr txBox="1"/>
            <p:nvPr/>
          </p:nvSpPr>
          <p:spPr>
            <a:xfrm>
              <a:off x="3334893" y="4889182"/>
              <a:ext cx="57882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Arial"/>
                  <a:ea typeface="Arial"/>
                  <a:cs typeface="Arial"/>
                </a:rPr>
                <a:t>11.5×</a:t>
              </a:r>
            </a:p>
          </p:txBody>
        </p:sp>
        <p:sp>
          <p:nvSpPr>
            <p:cNvPr id="33" name="TextBox 33"/>
            <p:cNvSpPr txBox="1"/>
            <p:nvPr/>
          </p:nvSpPr>
          <p:spPr>
            <a:xfrm>
              <a:off x="3338512" y="5130641"/>
              <a:ext cx="688414"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其他 0.2→2.3</a:t>
              </a:r>
            </a:p>
          </p:txBody>
        </p:sp>
      </p:grpSp>
      <p:grpSp>
        <p:nvGrpSpPr>
          <p:cNvPr id="36" name="mix-note"/>
          <p:cNvGrpSpPr/>
          <p:nvPr/>
        </p:nvGrpSpPr>
        <p:grpSpPr>
          <a:xfrm>
            <a:off x="452438" y="5530691"/>
            <a:ext cx="2618232" cy="466725"/>
            <a:chOff x="452438" y="5530691"/>
            <a:chExt cx="2618232" cy="466725"/>
          </a:xfrm>
        </p:grpSpPr>
        <p:sp>
          <p:nvSpPr>
            <p:cNvPr id="35" name="TextBox 35"/>
            <p:cNvSpPr txBox="1"/>
            <p:nvPr/>
          </p:nvSpPr>
          <p:spPr>
            <a:xfrm>
              <a:off x="452438" y="5530691"/>
              <a:ext cx="2618232" cy="466725"/>
            </a:xfrm>
            <a:prstGeom prst="rect">
              <a:avLst/>
            </a:prstGeom>
            <a:noFill/>
            <a:ln>
              <a:noFill/>
            </a:ln>
          </p:spPr>
          <p:txBody>
            <a:bodyPr wrap="none" lIns="0" tIns="0" rIns="0" bIns="0" anchor="t" anchorCtr="0">
              <a:spAutoFit/>
            </a:bodyPr>
            <a:lstStyle/>
            <a:p>
              <a:pPr algn="l">
                <a:lnSpc>
                  <a:spcPts val="1200"/>
                </a:lnSpc>
              </a:pPr>
              <a:r>
                <a:rPr lang="zh-CN" sz="820" dirty="0">
                  <a:solidFill>
                    <a:schemeClr val="accent5"/>
                  </a:solidFill>
                  <a:latin typeface="+mn-lt"/>
                  <a:ea typeface="+mn-ea"/>
                  <a:cs typeface="+mn-cs"/>
                </a:rPr>
                <a:t>中国倍数最高但份额已从 2024 年 65% 回落到 62%;</a:t>
              </a:r>
              <a:br/>
              <a:r>
                <a:rPr lang="zh-CN" sz="820" dirty="0">
                  <a:solidFill>
                    <a:schemeClr val="accent5"/>
                  </a:solidFill>
                  <a:latin typeface="+mn-lt"/>
                  <a:ea typeface="+mn-ea"/>
                  <a:cs typeface="+mn-cs"/>
                </a:rPr>
                <a:t>其他市场倍数与中国相当,且 2025 年增量占比升到 28%,</a:t>
              </a:r>
              <a:br/>
              <a:r>
                <a:rPr lang="zh-CN" sz="820" dirty="0">
                  <a:solidFill>
                    <a:schemeClr val="accent5"/>
                  </a:solidFill>
                  <a:latin typeface="+mn-lt"/>
                  <a:ea typeface="+mn-ea"/>
                  <a:cs typeface="+mn-cs"/>
                </a:rPr>
                <a:t>是唯一"倍数高、份额低、增量占比上升"的分区。</a:t>
              </a:r>
            </a:p>
          </p:txBody>
        </p:sp>
      </p:grpSp>
      <p:grpSp>
        <p:nvGrpSpPr>
          <p:cNvPr id="41" name="exhibit-b-head"/>
          <p:cNvGrpSpPr/>
          <p:nvPr/>
        </p:nvGrpSpPr>
        <p:grpSpPr>
          <a:xfrm>
            <a:off x="4529138" y="1552575"/>
            <a:ext cx="1620996" cy="349091"/>
            <a:chOff x="4529138" y="1552575"/>
            <a:chExt cx="1620996" cy="349091"/>
          </a:xfrm>
        </p:grpSpPr>
        <p:sp>
          <p:nvSpPr>
            <p:cNvPr id="37" name="Ellipse 37"/>
            <p:cNvSpPr/>
            <p:nvPr/>
          </p:nvSpPr>
          <p:spPr>
            <a:xfrm>
              <a:off x="4533900" y="1552575"/>
              <a:ext cx="152400" cy="152400"/>
            </a:xfrm>
            <a:prstGeom prst="ellipse">
              <a:avLst/>
            </a:prstGeom>
            <a:solidFill>
              <a:schemeClr val="accent1"/>
            </a:solidFill>
            <a:ln>
              <a:noFill/>
            </a:ln>
          </p:spPr>
        </p:sp>
        <p:sp>
          <p:nvSpPr>
            <p:cNvPr id="38" name="TextBox 38"/>
            <p:cNvSpPr txBox="1"/>
            <p:nvPr/>
          </p:nvSpPr>
          <p:spPr>
            <a:xfrm>
              <a:off x="45668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39" name="TextBox 39"/>
            <p:cNvSpPr txBox="1"/>
            <p:nvPr/>
          </p:nvSpPr>
          <p:spPr>
            <a:xfrm>
              <a:off x="4738497" y="1571149"/>
              <a:ext cx="1411637"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2025 年销量增量按地区</a:t>
              </a:r>
            </a:p>
          </p:txBody>
        </p:sp>
        <p:sp>
          <p:nvSpPr>
            <p:cNvPr id="40" name="TextBox 40"/>
            <p:cNvSpPr txBox="1"/>
            <p:nvPr/>
          </p:nvSpPr>
          <p:spPr>
            <a:xfrm>
              <a:off x="4529138" y="1739741"/>
              <a:ext cx="991982"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百万辆,较 2024 年²</a:t>
              </a:r>
            </a:p>
          </p:txBody>
        </p:sp>
      </p:grpSp>
      <p:graphicFrame>
        <p:nvGraphicFramePr>
          <p:cNvPr id="42" name="increment-2025"/>
          <p:cNvGraphicFramePr>
            <a:graphicFrameLocks noGrp="1"/>
          </p:cNvGraphicFramePr>
          <p:nvPr/>
        </p:nvGraphicFramePr>
        <p:xfrm>
          <a:off x="4533900" y="1943100"/>
          <a:ext cx="3924300" cy="2133600"/>
        </p:xfrm>
        <a:graphic>
          <a:graphicData uri="http://schemas.openxmlformats.org/drawingml/2006/chart">
            <c:chart xmlns:c="http://schemas.openxmlformats.org/drawingml/2006/chart" r:id="rId3"/>
          </a:graphicData>
        </a:graphic>
      </p:graphicFrame>
      <p:grpSp>
        <p:nvGrpSpPr>
          <p:cNvPr id="61" name="share-2025"/>
          <p:cNvGrpSpPr/>
          <p:nvPr/>
        </p:nvGrpSpPr>
        <p:grpSpPr>
          <a:xfrm>
            <a:off x="4528566" y="4295299"/>
            <a:ext cx="3929634" cy="1359312"/>
            <a:chOff x="4528566" y="4295299"/>
            <a:chExt cx="3929634" cy="1359312"/>
          </a:xfrm>
        </p:grpSpPr>
        <p:sp>
          <p:nvSpPr>
            <p:cNvPr id="43" name="TextBox 43"/>
            <p:cNvSpPr txBox="1"/>
            <p:nvPr/>
          </p:nvSpPr>
          <p:spPr>
            <a:xfrm>
              <a:off x="4528947" y="4295299"/>
              <a:ext cx="1779055"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2025 年销量占比 vs 增量占比</a:t>
              </a:r>
            </a:p>
          </p:txBody>
        </p:sp>
        <p:sp>
          <p:nvSpPr>
            <p:cNvPr id="44" name="Line 44"/>
            <p:cNvSpPr/>
            <p:nvPr/>
          </p:nvSpPr>
          <p:spPr>
            <a:xfrm>
              <a:off x="4533900" y="4495800"/>
              <a:ext cx="3924300" cy="9525"/>
            </a:xfrm>
            <a:custGeom>
              <a:avLst/>
              <a:gdLst/>
              <a:ahLst/>
              <a:cxnLst/>
              <a:rect l="l" t="t" r="r" b="b"/>
              <a:pathLst>
                <a:path w="3924300" h="9525">
                  <a:moveTo>
                    <a:pt x="0" y="0"/>
                  </a:moveTo>
                  <a:lnTo>
                    <a:pt x="3924300" y="0"/>
                  </a:lnTo>
                </a:path>
              </a:pathLst>
            </a:custGeom>
            <a:noFill/>
            <a:ln w="7144">
              <a:solidFill>
                <a:schemeClr val="accent1"/>
              </a:solidFill>
            </a:ln>
          </p:spPr>
        </p:sp>
        <p:sp>
          <p:nvSpPr>
            <p:cNvPr id="45" name="TextBox 45"/>
            <p:cNvSpPr txBox="1"/>
            <p:nvPr/>
          </p:nvSpPr>
          <p:spPr>
            <a:xfrm>
              <a:off x="4529138" y="4597241"/>
              <a:ext cx="230302"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地区</a:t>
              </a:r>
            </a:p>
          </p:txBody>
        </p:sp>
        <p:sp>
          <p:nvSpPr>
            <p:cNvPr id="46" name="TextBox 46"/>
            <p:cNvSpPr txBox="1"/>
            <p:nvPr/>
          </p:nvSpPr>
          <p:spPr>
            <a:xfrm>
              <a:off x="6221184" y="4597241"/>
              <a:ext cx="451079" cy="161925"/>
            </a:xfrm>
            <a:prstGeom prst="rect">
              <a:avLst/>
            </a:prstGeom>
            <a:noFill/>
            <a:ln>
              <a:noFill/>
            </a:ln>
          </p:spPr>
          <p:txBody>
            <a:bodyPr wrap="none" lIns="0" tIns="0" rIns="0" bIns="0" anchor="t" anchorCtr="0">
              <a:spAutoFit/>
            </a:bodyPr>
            <a:lstStyle/>
            <a:p>
              <a:pPr algn="r"/>
              <a:r>
                <a:rPr lang="zh-CN" sz="820" dirty="0">
                  <a:solidFill>
                    <a:schemeClr val="accent5"/>
                  </a:solidFill>
                  <a:latin typeface="+mn-lt"/>
                  <a:ea typeface="+mn-ea"/>
                  <a:cs typeface="+mn-cs"/>
                </a:rPr>
                <a:t>存量占比</a:t>
              </a:r>
            </a:p>
          </p:txBody>
        </p:sp>
        <p:sp>
          <p:nvSpPr>
            <p:cNvPr id="47" name="TextBox 47"/>
            <p:cNvSpPr txBox="1"/>
            <p:nvPr/>
          </p:nvSpPr>
          <p:spPr>
            <a:xfrm>
              <a:off x="7935684" y="4597241"/>
              <a:ext cx="451079" cy="161925"/>
            </a:xfrm>
            <a:prstGeom prst="rect">
              <a:avLst/>
            </a:prstGeom>
            <a:noFill/>
            <a:ln>
              <a:noFill/>
            </a:ln>
          </p:spPr>
          <p:txBody>
            <a:bodyPr wrap="none" lIns="0" tIns="0" rIns="0" bIns="0" anchor="t" anchorCtr="0">
              <a:spAutoFit/>
            </a:bodyPr>
            <a:lstStyle/>
            <a:p>
              <a:pPr algn="r"/>
              <a:r>
                <a:rPr lang="zh-CN" sz="820" dirty="0">
                  <a:solidFill>
                    <a:schemeClr val="accent5"/>
                  </a:solidFill>
                  <a:latin typeface="+mn-lt"/>
                  <a:ea typeface="+mn-ea"/>
                  <a:cs typeface="+mn-cs"/>
                </a:rPr>
                <a:t>增量占比</a:t>
              </a:r>
            </a:p>
          </p:txBody>
        </p:sp>
        <p:sp>
          <p:nvSpPr>
            <p:cNvPr id="48" name="Line 48"/>
            <p:cNvSpPr/>
            <p:nvPr/>
          </p:nvSpPr>
          <p:spPr>
            <a:xfrm>
              <a:off x="4533900" y="4743450"/>
              <a:ext cx="3924300" cy="9525"/>
            </a:xfrm>
            <a:custGeom>
              <a:avLst/>
              <a:gdLst/>
              <a:ahLst/>
              <a:cxnLst/>
              <a:rect l="l" t="t" r="r" b="b"/>
              <a:pathLst>
                <a:path w="3924300" h="9525">
                  <a:moveTo>
                    <a:pt x="0" y="0"/>
                  </a:moveTo>
                  <a:lnTo>
                    <a:pt x="3924300" y="0"/>
                  </a:lnTo>
                </a:path>
              </a:pathLst>
            </a:custGeom>
            <a:noFill/>
            <a:ln w="7144">
              <a:solidFill>
                <a:srgbClr val="E3E3E3"/>
              </a:solidFill>
            </a:ln>
          </p:spPr>
        </p:sp>
        <p:sp>
          <p:nvSpPr>
            <p:cNvPr id="49" name="TextBox 49"/>
            <p:cNvSpPr txBox="1"/>
            <p:nvPr/>
          </p:nvSpPr>
          <p:spPr>
            <a:xfrm>
              <a:off x="4528566" y="4820602"/>
              <a:ext cx="293370"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中国</a:t>
              </a:r>
            </a:p>
          </p:txBody>
        </p:sp>
        <p:sp>
          <p:nvSpPr>
            <p:cNvPr id="50" name="TextBox 50"/>
            <p:cNvSpPr txBox="1"/>
            <p:nvPr/>
          </p:nvSpPr>
          <p:spPr>
            <a:xfrm>
              <a:off x="6379238" y="4820602"/>
              <a:ext cx="293596" cy="205359"/>
            </a:xfrm>
            <a:prstGeom prst="rect">
              <a:avLst/>
            </a:prstGeom>
            <a:noFill/>
            <a:ln>
              <a:noFill/>
            </a:ln>
          </p:spPr>
          <p:txBody>
            <a:bodyPr wrap="none" lIns="0" tIns="0" rIns="0" bIns="0" anchor="t" anchorCtr="0">
              <a:spAutoFit/>
            </a:bodyPr>
            <a:lstStyle/>
            <a:p>
              <a:pPr algn="r"/>
              <a:r>
                <a:rPr lang="zh-CN" sz="1050" dirty="0">
                  <a:solidFill>
                    <a:schemeClr val="dk1"/>
                  </a:solidFill>
                  <a:latin typeface="Arial"/>
                  <a:ea typeface="Arial"/>
                  <a:cs typeface="Arial"/>
                </a:rPr>
                <a:t>62%</a:t>
              </a:r>
            </a:p>
          </p:txBody>
        </p:sp>
        <p:sp>
          <p:nvSpPr>
            <p:cNvPr id="51" name="TextBox 51"/>
            <p:cNvSpPr txBox="1"/>
            <p:nvPr/>
          </p:nvSpPr>
          <p:spPr>
            <a:xfrm>
              <a:off x="8093738" y="4820602"/>
              <a:ext cx="293596" cy="205359"/>
            </a:xfrm>
            <a:prstGeom prst="rect">
              <a:avLst/>
            </a:prstGeom>
            <a:noFill/>
            <a:ln>
              <a:noFill/>
            </a:ln>
          </p:spPr>
          <p:txBody>
            <a:bodyPr wrap="none" lIns="0" tIns="0" rIns="0" bIns="0" anchor="t" anchorCtr="0">
              <a:spAutoFit/>
            </a:bodyPr>
            <a:lstStyle/>
            <a:p>
              <a:pPr algn="r"/>
              <a:r>
                <a:rPr lang="zh-CN" sz="1050" b="1" dirty="0">
                  <a:solidFill>
                    <a:schemeClr val="accent1"/>
                  </a:solidFill>
                  <a:latin typeface="Arial"/>
                  <a:ea typeface="Arial"/>
                  <a:cs typeface="Arial"/>
                </a:rPr>
                <a:t>50%</a:t>
              </a:r>
            </a:p>
          </p:txBody>
        </p:sp>
        <p:sp>
          <p:nvSpPr>
            <p:cNvPr id="52" name="TextBox 52"/>
            <p:cNvSpPr txBox="1"/>
            <p:nvPr/>
          </p:nvSpPr>
          <p:spPr>
            <a:xfrm>
              <a:off x="4528566" y="5030152"/>
              <a:ext cx="293370"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欧洲</a:t>
              </a:r>
            </a:p>
          </p:txBody>
        </p:sp>
        <p:sp>
          <p:nvSpPr>
            <p:cNvPr id="53" name="TextBox 53"/>
            <p:cNvSpPr txBox="1"/>
            <p:nvPr/>
          </p:nvSpPr>
          <p:spPr>
            <a:xfrm>
              <a:off x="6379238" y="5030152"/>
              <a:ext cx="293596" cy="205359"/>
            </a:xfrm>
            <a:prstGeom prst="rect">
              <a:avLst/>
            </a:prstGeom>
            <a:noFill/>
            <a:ln>
              <a:noFill/>
            </a:ln>
          </p:spPr>
          <p:txBody>
            <a:bodyPr wrap="none" lIns="0" tIns="0" rIns="0" bIns="0" anchor="t" anchorCtr="0">
              <a:spAutoFit/>
            </a:bodyPr>
            <a:lstStyle/>
            <a:p>
              <a:pPr algn="r"/>
              <a:r>
                <a:rPr lang="zh-CN" sz="1050" dirty="0">
                  <a:solidFill>
                    <a:schemeClr val="dk1"/>
                  </a:solidFill>
                  <a:latin typeface="Arial"/>
                  <a:ea typeface="Arial"/>
                  <a:cs typeface="Arial"/>
                </a:rPr>
                <a:t>20%</a:t>
              </a:r>
            </a:p>
          </p:txBody>
        </p:sp>
        <p:sp>
          <p:nvSpPr>
            <p:cNvPr id="54" name="TextBox 54"/>
            <p:cNvSpPr txBox="1"/>
            <p:nvPr/>
          </p:nvSpPr>
          <p:spPr>
            <a:xfrm>
              <a:off x="8093738" y="5030152"/>
              <a:ext cx="293596" cy="205359"/>
            </a:xfrm>
            <a:prstGeom prst="rect">
              <a:avLst/>
            </a:prstGeom>
            <a:noFill/>
            <a:ln>
              <a:noFill/>
            </a:ln>
          </p:spPr>
          <p:txBody>
            <a:bodyPr wrap="none" lIns="0" tIns="0" rIns="0" bIns="0" anchor="t" anchorCtr="0">
              <a:spAutoFit/>
            </a:bodyPr>
            <a:lstStyle/>
            <a:p>
              <a:pPr algn="r"/>
              <a:r>
                <a:rPr lang="zh-CN" sz="1050" dirty="0">
                  <a:solidFill>
                    <a:schemeClr val="dk1"/>
                  </a:solidFill>
                  <a:latin typeface="Arial"/>
                  <a:ea typeface="Arial"/>
                  <a:cs typeface="Arial"/>
                </a:rPr>
                <a:t>25%</a:t>
              </a:r>
            </a:p>
          </p:txBody>
        </p:sp>
        <p:sp>
          <p:nvSpPr>
            <p:cNvPr id="55" name="TextBox 55"/>
            <p:cNvSpPr txBox="1"/>
            <p:nvPr/>
          </p:nvSpPr>
          <p:spPr>
            <a:xfrm>
              <a:off x="4528566" y="5239702"/>
              <a:ext cx="293370"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美国</a:t>
              </a:r>
            </a:p>
          </p:txBody>
        </p:sp>
        <p:sp>
          <p:nvSpPr>
            <p:cNvPr id="56" name="TextBox 56"/>
            <p:cNvSpPr txBox="1"/>
            <p:nvPr/>
          </p:nvSpPr>
          <p:spPr>
            <a:xfrm>
              <a:off x="6457857" y="5239702"/>
              <a:ext cx="214977" cy="205359"/>
            </a:xfrm>
            <a:prstGeom prst="rect">
              <a:avLst/>
            </a:prstGeom>
            <a:noFill/>
            <a:ln>
              <a:noFill/>
            </a:ln>
          </p:spPr>
          <p:txBody>
            <a:bodyPr wrap="none" lIns="0" tIns="0" rIns="0" bIns="0" anchor="t" anchorCtr="0">
              <a:spAutoFit/>
            </a:bodyPr>
            <a:lstStyle/>
            <a:p>
              <a:pPr algn="r"/>
              <a:r>
                <a:rPr lang="zh-CN" sz="1050" dirty="0">
                  <a:solidFill>
                    <a:schemeClr val="dk1"/>
                  </a:solidFill>
                  <a:latin typeface="Arial"/>
                  <a:ea typeface="Arial"/>
                  <a:cs typeface="Arial"/>
                </a:rPr>
                <a:t>7%</a:t>
              </a:r>
            </a:p>
          </p:txBody>
        </p:sp>
        <p:sp>
          <p:nvSpPr>
            <p:cNvPr id="57" name="TextBox 57"/>
            <p:cNvSpPr txBox="1"/>
            <p:nvPr/>
          </p:nvSpPr>
          <p:spPr>
            <a:xfrm>
              <a:off x="8089808" y="5239702"/>
              <a:ext cx="297526" cy="205359"/>
            </a:xfrm>
            <a:prstGeom prst="rect">
              <a:avLst/>
            </a:prstGeom>
            <a:noFill/>
            <a:ln>
              <a:noFill/>
            </a:ln>
          </p:spPr>
          <p:txBody>
            <a:bodyPr wrap="none" lIns="0" tIns="0" rIns="0" bIns="0" anchor="t" anchorCtr="0">
              <a:spAutoFit/>
            </a:bodyPr>
            <a:lstStyle/>
            <a:p>
              <a:pPr algn="r"/>
              <a:r>
                <a:rPr lang="zh-CN" sz="1050" b="1" dirty="0">
                  <a:solidFill>
                    <a:srgbClr val="B3261E"/>
                  </a:solidFill>
                  <a:latin typeface="Arial"/>
                  <a:ea typeface="Arial"/>
                  <a:cs typeface="Arial"/>
                </a:rPr>
                <a:t>−3%</a:t>
              </a:r>
            </a:p>
          </p:txBody>
        </p:sp>
        <p:sp>
          <p:nvSpPr>
            <p:cNvPr id="58" name="TextBox 58"/>
            <p:cNvSpPr txBox="1"/>
            <p:nvPr/>
          </p:nvSpPr>
          <p:spPr>
            <a:xfrm>
              <a:off x="4528566" y="5449252"/>
              <a:ext cx="576072"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其他市场</a:t>
              </a:r>
            </a:p>
          </p:txBody>
        </p:sp>
        <p:sp>
          <p:nvSpPr>
            <p:cNvPr id="59" name="TextBox 59"/>
            <p:cNvSpPr txBox="1"/>
            <p:nvPr/>
          </p:nvSpPr>
          <p:spPr>
            <a:xfrm>
              <a:off x="6379238" y="5449252"/>
              <a:ext cx="293596" cy="205359"/>
            </a:xfrm>
            <a:prstGeom prst="rect">
              <a:avLst/>
            </a:prstGeom>
            <a:noFill/>
            <a:ln>
              <a:noFill/>
            </a:ln>
          </p:spPr>
          <p:txBody>
            <a:bodyPr wrap="none" lIns="0" tIns="0" rIns="0" bIns="0" anchor="t" anchorCtr="0">
              <a:spAutoFit/>
            </a:bodyPr>
            <a:lstStyle/>
            <a:p>
              <a:pPr algn="r"/>
              <a:r>
                <a:rPr lang="zh-CN" sz="1050" dirty="0">
                  <a:solidFill>
                    <a:schemeClr val="dk1"/>
                  </a:solidFill>
                  <a:latin typeface="Arial"/>
                  <a:ea typeface="Arial"/>
                  <a:cs typeface="Arial"/>
                </a:rPr>
                <a:t>11%</a:t>
              </a:r>
            </a:p>
          </p:txBody>
        </p:sp>
        <p:sp>
          <p:nvSpPr>
            <p:cNvPr id="60" name="TextBox 60"/>
            <p:cNvSpPr txBox="1"/>
            <p:nvPr/>
          </p:nvSpPr>
          <p:spPr>
            <a:xfrm>
              <a:off x="8093738" y="5449252"/>
              <a:ext cx="293596" cy="205359"/>
            </a:xfrm>
            <a:prstGeom prst="rect">
              <a:avLst/>
            </a:prstGeom>
            <a:noFill/>
            <a:ln>
              <a:noFill/>
            </a:ln>
          </p:spPr>
          <p:txBody>
            <a:bodyPr wrap="none" lIns="0" tIns="0" rIns="0" bIns="0" anchor="t" anchorCtr="0">
              <a:spAutoFit/>
            </a:bodyPr>
            <a:lstStyle/>
            <a:p>
              <a:pPr algn="r"/>
              <a:r>
                <a:rPr lang="zh-CN" sz="1050" b="1" dirty="0">
                  <a:solidFill>
                    <a:schemeClr val="accent2"/>
                  </a:solidFill>
                  <a:latin typeface="Arial"/>
                  <a:ea typeface="Arial"/>
                  <a:cs typeface="Arial"/>
                </a:rPr>
                <a:t>28%</a:t>
              </a:r>
            </a:p>
          </p:txBody>
        </p:sp>
      </p:grpSp>
      <p:grpSp>
        <p:nvGrpSpPr>
          <p:cNvPr id="80" name="insights"/>
          <p:cNvGrpSpPr/>
          <p:nvPr/>
        </p:nvGrpSpPr>
        <p:grpSpPr>
          <a:xfrm>
            <a:off x="8720138" y="1587341"/>
            <a:ext cx="3014662" cy="4432459"/>
            <a:chOff x="8720138" y="1587341"/>
            <a:chExt cx="3014662" cy="4432459"/>
          </a:xfrm>
        </p:grpSpPr>
        <p:sp>
          <p:nvSpPr>
            <p:cNvPr id="62" name="TextBox 62"/>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63" name="Line 63"/>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64" name="Ellipse 64"/>
            <p:cNvSpPr/>
            <p:nvPr/>
          </p:nvSpPr>
          <p:spPr>
            <a:xfrm>
              <a:off x="8724900" y="1876425"/>
              <a:ext cx="152400" cy="152400"/>
            </a:xfrm>
            <a:prstGeom prst="ellipse">
              <a:avLst/>
            </a:prstGeom>
            <a:solidFill>
              <a:schemeClr val="accent1"/>
            </a:solidFill>
            <a:ln>
              <a:noFill/>
            </a:ln>
          </p:spPr>
        </p:sp>
        <p:sp>
          <p:nvSpPr>
            <p:cNvPr id="65" name="TextBox 65"/>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66" name="TextBox 66"/>
            <p:cNvSpPr txBox="1"/>
            <p:nvPr/>
          </p:nvSpPr>
          <p:spPr>
            <a:xfrm>
              <a:off x="8948166" y="1886902"/>
              <a:ext cx="251764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中国占存量 62%、占增量 50%:</a:t>
              </a:r>
              <a:br/>
              <a:r>
                <a:rPr lang="zh-CN" sz="1050" dirty="0">
                  <a:solidFill>
                    <a:schemeClr val="dk1"/>
                  </a:solidFill>
                  <a:latin typeface="+mn-lt"/>
                  <a:ea typeface="+mn-ea"/>
                  <a:cs typeface="+mn-cs"/>
                </a:rPr>
                <a:t>1,100 万→1,300 万辆,仍是最大单一</a:t>
              </a:r>
              <a:br/>
              <a:r>
                <a:rPr lang="zh-CN" sz="1050" dirty="0">
                  <a:solidFill>
                    <a:schemeClr val="dk1"/>
                  </a:solidFill>
                  <a:latin typeface="+mn-lt"/>
                  <a:ea typeface="+mn-ea"/>
                  <a:cs typeface="+mn-cs"/>
                </a:rPr>
                <a:t>增量来源,但份额已从 2024 年 65% 回落。</a:t>
              </a:r>
            </a:p>
          </p:txBody>
        </p:sp>
        <p:sp>
          <p:nvSpPr>
            <p:cNvPr id="67" name="Ellipse 67"/>
            <p:cNvSpPr/>
            <p:nvPr/>
          </p:nvSpPr>
          <p:spPr>
            <a:xfrm>
              <a:off x="8724900" y="2600325"/>
              <a:ext cx="152400" cy="152400"/>
            </a:xfrm>
            <a:prstGeom prst="ellipse">
              <a:avLst/>
            </a:prstGeom>
            <a:solidFill>
              <a:schemeClr val="accent1"/>
            </a:solidFill>
            <a:ln>
              <a:noFill/>
            </a:ln>
          </p:spPr>
        </p:sp>
        <p:sp>
          <p:nvSpPr>
            <p:cNvPr id="68" name="TextBox 68"/>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69" name="TextBox 69"/>
            <p:cNvSpPr txBox="1"/>
            <p:nvPr/>
          </p:nvSpPr>
          <p:spPr>
            <a:xfrm>
              <a:off x="8948166" y="2610802"/>
              <a:ext cx="225094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其他市场增量 110 万辆,首次超过欧洲</a:t>
              </a:r>
              <a:br/>
              <a:r>
                <a:rPr lang="zh-CN" sz="1050" dirty="0">
                  <a:solidFill>
                    <a:schemeClr val="dk1"/>
                  </a:solidFill>
                  <a:latin typeface="+mn-lt"/>
                  <a:ea typeface="+mn-ea"/>
                  <a:cs typeface="+mn-cs"/>
                </a:rPr>
                <a:t>的 100 万辆:存量占比只有 11%,</a:t>
              </a:r>
              <a:br/>
              <a:r>
                <a:rPr lang="zh-CN" sz="1050" dirty="0">
                  <a:solidFill>
                    <a:schemeClr val="dk1"/>
                  </a:solidFill>
                  <a:latin typeface="+mn-lt"/>
                  <a:ea typeface="+mn-ea"/>
                  <a:cs typeface="+mn-cs"/>
                </a:rPr>
                <a:t>增量占比却有 28%(B、右表)。</a:t>
              </a:r>
            </a:p>
          </p:txBody>
        </p:sp>
        <p:sp>
          <p:nvSpPr>
            <p:cNvPr id="70" name="Ellipse 70"/>
            <p:cNvSpPr/>
            <p:nvPr/>
          </p:nvSpPr>
          <p:spPr>
            <a:xfrm>
              <a:off x="8724900" y="3324225"/>
              <a:ext cx="152400" cy="152400"/>
            </a:xfrm>
            <a:prstGeom prst="ellipse">
              <a:avLst/>
            </a:prstGeom>
            <a:solidFill>
              <a:schemeClr val="accent1"/>
            </a:solidFill>
            <a:ln>
              <a:noFill/>
            </a:ln>
          </p:spPr>
        </p:sp>
        <p:sp>
          <p:nvSpPr>
            <p:cNvPr id="71" name="TextBox 71"/>
            <p:cNvSpPr txBox="1"/>
            <p:nvPr/>
          </p:nvSpPr>
          <p:spPr>
            <a:xfrm>
              <a:off x="87682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72" name="TextBox 72"/>
            <p:cNvSpPr txBox="1"/>
            <p:nvPr/>
          </p:nvSpPr>
          <p:spPr>
            <a:xfrm>
              <a:off x="8948166" y="3334702"/>
              <a:ext cx="198424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美国 −10 万辆,是四个分区里唯一</a:t>
              </a:r>
              <a:br/>
              <a:r>
                <a:rPr lang="zh-CN" sz="1050" dirty="0">
                  <a:solidFill>
                    <a:schemeClr val="dk1"/>
                  </a:solidFill>
                  <a:latin typeface="+mn-lt"/>
                  <a:ea typeface="+mn-ea"/>
                  <a:cs typeface="+mn-cs"/>
                </a:rPr>
                <a:t>为负的:2020 年以来它从未贡献</a:t>
              </a:r>
              <a:br/>
              <a:r>
                <a:rPr lang="zh-CN" sz="1050" dirty="0">
                  <a:solidFill>
                    <a:schemeClr val="dk1"/>
                  </a:solidFill>
                  <a:latin typeface="+mn-lt"/>
                  <a:ea typeface="+mn-ea"/>
                  <a:cs typeface="+mn-cs"/>
                </a:rPr>
                <a:t>超过 10% 的年度增量。</a:t>
              </a:r>
            </a:p>
          </p:txBody>
        </p:sp>
        <p:sp>
          <p:nvSpPr>
            <p:cNvPr id="73" name="Ellipse 73"/>
            <p:cNvSpPr/>
            <p:nvPr/>
          </p:nvSpPr>
          <p:spPr>
            <a:xfrm>
              <a:off x="8724900" y="4048125"/>
              <a:ext cx="152400" cy="152400"/>
            </a:xfrm>
            <a:prstGeom prst="ellipse">
              <a:avLst/>
            </a:prstGeom>
            <a:solidFill>
              <a:schemeClr val="accent1"/>
            </a:solidFill>
            <a:ln>
              <a:noFill/>
            </a:ln>
          </p:spPr>
        </p:sp>
        <p:sp>
          <p:nvSpPr>
            <p:cNvPr id="74" name="TextBox 74"/>
            <p:cNvSpPr txBox="1"/>
            <p:nvPr/>
          </p:nvSpPr>
          <p:spPr>
            <a:xfrm>
              <a:off x="8768259" y="40767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75" name="TextBox 75"/>
            <p:cNvSpPr txBox="1"/>
            <p:nvPr/>
          </p:nvSpPr>
          <p:spPr>
            <a:xfrm>
              <a:off x="8948166" y="4058602"/>
              <a:ext cx="193757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结论:按存量地图分配预算会把</a:t>
              </a:r>
              <a:br/>
              <a:r>
                <a:rPr lang="zh-CN" sz="1050" dirty="0">
                  <a:solidFill>
                    <a:schemeClr val="dk1"/>
                  </a:solidFill>
                  <a:latin typeface="+mn-lt"/>
                  <a:ea typeface="+mn-ea"/>
                  <a:cs typeface="+mn-cs"/>
                </a:rPr>
                <a:t>一半以上投向增速放缓的市场;</a:t>
              </a:r>
              <a:br/>
              <a:r>
                <a:rPr lang="zh-CN" sz="1050" dirty="0">
                  <a:solidFill>
                    <a:schemeClr val="dk1"/>
                  </a:solidFill>
                  <a:latin typeface="+mn-lt"/>
                  <a:ea typeface="+mn-ea"/>
                  <a:cs typeface="+mn-cs"/>
                </a:rPr>
                <a:t>增量地图才是 2026–28 的依据。</a:t>
              </a:r>
            </a:p>
          </p:txBody>
        </p:sp>
        <p:sp>
          <p:nvSpPr>
            <p:cNvPr id="76" name="Rectangle 76"/>
            <p:cNvSpPr/>
            <p:nvPr/>
          </p:nvSpPr>
          <p:spPr>
            <a:xfrm>
              <a:off x="8724900" y="4914900"/>
              <a:ext cx="3009900" cy="1104900"/>
            </a:xfrm>
            <a:prstGeom prst="rect">
              <a:avLst/>
            </a:prstGeom>
            <a:solidFill>
              <a:srgbClr val="F7F7F7"/>
            </a:solidFill>
            <a:ln>
              <a:noFill/>
            </a:ln>
          </p:spPr>
        </p:sp>
        <p:sp>
          <p:nvSpPr>
            <p:cNvPr id="77" name="Rectangle 77"/>
            <p:cNvSpPr/>
            <p:nvPr/>
          </p:nvSpPr>
          <p:spPr>
            <a:xfrm>
              <a:off x="8724900" y="4914900"/>
              <a:ext cx="38100" cy="1104900"/>
            </a:xfrm>
            <a:prstGeom prst="rect">
              <a:avLst/>
            </a:prstGeom>
            <a:solidFill>
              <a:schemeClr val="accent2"/>
            </a:solidFill>
            <a:ln>
              <a:noFill/>
            </a:ln>
          </p:spPr>
        </p:sp>
        <p:sp>
          <p:nvSpPr>
            <p:cNvPr id="78" name="TextBox 78"/>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79" name="TextBox 79"/>
            <p:cNvSpPr txBox="1"/>
            <p:nvPr/>
          </p:nvSpPr>
          <p:spPr>
            <a:xfrm>
              <a:off x="8871966" y="5220652"/>
              <a:ext cx="221761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预算依据从存量地图切换到增量地图:</a:t>
              </a:r>
              <a:br/>
              <a:r>
                <a:rPr lang="zh-CN" sz="1050" dirty="0">
                  <a:solidFill>
                    <a:schemeClr val="dk1"/>
                  </a:solidFill>
                  <a:latin typeface="+mn-lt"/>
                  <a:ea typeface="+mn-ea"/>
                  <a:cs typeface="+mn-cs"/>
                </a:rPr>
                <a:t>中国保份额、其他市场抢增量、美国</a:t>
              </a:r>
              <a:br/>
              <a:r>
                <a:rPr lang="zh-CN" sz="1050" dirty="0">
                  <a:solidFill>
                    <a:schemeClr val="dk1"/>
                  </a:solidFill>
                  <a:latin typeface="+mn-lt"/>
                  <a:ea typeface="+mn-ea"/>
                  <a:cs typeface="+mn-cs"/>
                </a:rPr>
                <a:t>不追加(第 10 页分级)。</a:t>
              </a:r>
            </a:p>
          </p:txBody>
        </p:sp>
      </p:grpSp>
      <p:grpSp>
        <p:nvGrpSpPr>
          <p:cNvPr id="85" name="footer"/>
          <p:cNvGrpSpPr/>
          <p:nvPr/>
        </p:nvGrpSpPr>
        <p:grpSpPr>
          <a:xfrm>
            <a:off x="452438" y="6205538"/>
            <a:ext cx="11287125" cy="433388"/>
            <a:chOff x="452438" y="6205538"/>
            <a:chExt cx="11287125" cy="433388"/>
          </a:xfrm>
        </p:grpSpPr>
        <p:sp>
          <p:nvSpPr>
            <p:cNvPr id="81" name="TextBox 81"/>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82" name="TextBox 82"/>
            <p:cNvSpPr txBox="1"/>
            <p:nvPr/>
          </p:nvSpPr>
          <p:spPr>
            <a:xfrm>
              <a:off x="452438" y="6338888"/>
              <a:ext cx="4361116"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「其他市场」= 全球 − 中国 − 欧洲 − 美国,为本报告计算值;增量 = 2025 年销量 − 2024 年销量</a:t>
              </a:r>
            </a:p>
          </p:txBody>
        </p:sp>
        <p:sp>
          <p:nvSpPr>
            <p:cNvPr id="83" name="TextBox 83"/>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84" name="TextBox 84"/>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xmlns:p="http://schemas.openxmlformats.org/presentationml/2006/main" id="13" presetID="22" presetClass="entr" presetSubtype="1" fill="hold" grpId="0" nodeType="afterEffect">
                                  <p:stCondLst>
                                    <p:cond delay="500"/>
                                  </p:stCondLst>
                                  <p:childTnLst>
                                    <p:set>
                                      <p:cBhvr>
                                        <p:cTn id="14" dur="1" fill="hold">
                                          <p:stCondLst>
                                            <p:cond delay="0"/>
                                          </p:stCondLst>
                                        </p:cTn>
                                        <p:tgtEl>
                                          <p:spTgt spid="23"/>
                                        </p:tgtEl>
                                        <p:attrNameLst>
                                          <p:attrName>style.visibility</p:attrName>
                                        </p:attrNameLst>
                                      </p:cBhvr>
                                      <p:to>
                                        <p:strVal val="visible"/>
                                      </p:to>
                                    </p:set>
                                    <p:animEffect transition="in" filter="wipe(up)">
                                      <p:cBhvr>
                                        <p:cTn id="15" dur="600"/>
                                        <p:tgtEl>
                                          <p:spTgt spid="23"/>
                                        </p:tgtEl>
                                      </p:cBhvr>
                                    </p:animEffect>
                                  </p:childTnLst>
                                </p:cTn>
                              </p:par>
                            </p:childTnLst>
                          </p:cTn>
                        </p:par>
                        <p:par>
                          <p:cTn id="16" fill="hold">
                            <p:stCondLst>
                              <p:cond delay="21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300"/>
                                        <p:tgtEl>
                                          <p:spTgt spid="34"/>
                                        </p:tgtEl>
                                      </p:cBhvr>
                                    </p:animEffect>
                                  </p:childTnLst>
                                </p:cTn>
                              </p:par>
                            </p:childTnLst>
                          </p:cTn>
                        </p:par>
                        <p:par>
                          <p:cTn id="20" fill="hold">
                            <p:stCondLst>
                              <p:cond delay="29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300"/>
                                        <p:tgtEl>
                                          <p:spTgt spid="36"/>
                                        </p:tgtEl>
                                      </p:cBhvr>
                                    </p:animEffect>
                                  </p:childTnLst>
                                </p:cTn>
                              </p:par>
                            </p:childTnLst>
                          </p:cTn>
                        </p:par>
                        <p:par>
                          <p:cTn id="24" fill="hold">
                            <p:stCondLst>
                              <p:cond delay="37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200"/>
                                        <p:tgtEl>
                                          <p:spTgt spid="41"/>
                                        </p:tgtEl>
                                      </p:cBhvr>
                                    </p:animEffect>
                                  </p:childTnLst>
                                </p:cTn>
                              </p:par>
                            </p:childTnLst>
                          </p:cTn>
                        </p:par>
                        <p:par>
                          <p:cTn id="28" fill="hold">
                            <p:stCondLst>
                              <p:cond delay="4400"/>
                            </p:stCondLst>
                            <p:childTnLst>
                              <p:par>
                                <p:cTn xmlns:p="http://schemas.openxmlformats.org/presentationml/2006/main" id="29" presetID="22" presetClass="entr" presetSubtype="2" fill="hold" grpId="0" nodeType="afterEffect">
                                  <p:stCondLst>
                                    <p:cond delay="500"/>
                                  </p:stCondLst>
                                  <p:childTnLst>
                                    <p:set>
                                      <p:cBhvr>
                                        <p:cTn id="30" dur="1" fill="hold">
                                          <p:stCondLst>
                                            <p:cond delay="0"/>
                                          </p:stCondLst>
                                        </p:cTn>
                                        <p:tgtEl>
                                          <p:spTgt spid="42"/>
                                        </p:tgtEl>
                                        <p:attrNameLst>
                                          <p:attrName>style.visibility</p:attrName>
                                        </p:attrNameLst>
                                      </p:cBhvr>
                                      <p:to>
                                        <p:strVal val="visible"/>
                                      </p:to>
                                    </p:set>
                                    <p:animEffect transition="in" filter="wipe(right)">
                                      <p:cBhvr>
                                        <p:cTn id="31" dur="600"/>
                                        <p:tgtEl>
                                          <p:spTgt spid="42"/>
                                        </p:tgtEl>
                                      </p:cBhvr>
                                    </p:animEffect>
                                  </p:childTnLst>
                                </p:cTn>
                              </p:par>
                            </p:childTnLst>
                          </p:cTn>
                        </p:par>
                        <p:par>
                          <p:cTn id="32" fill="hold">
                            <p:stCondLst>
                              <p:cond delay="5500"/>
                            </p:stCondLst>
                            <p:childTnLst>
                              <p:par>
                                <p:cTn xmlns:p="http://schemas.openxmlformats.org/presentationml/2006/main" id="33" presetID="10" presetClass="entr" presetSubtype="0" fill="hold" grpId="0" nodeType="afterEffect">
                                  <p:stCondLst>
                                    <p:cond delay="500"/>
                                  </p:stCondLst>
                                  <p:childTnLst>
                                    <p:set>
                                      <p:cBhvr>
                                        <p:cTn id="34" dur="1" fill="hold">
                                          <p:stCondLst>
                                            <p:cond delay="0"/>
                                          </p:stCondLst>
                                        </p:cTn>
                                        <p:tgtEl>
                                          <p:spTgt spid="61"/>
                                        </p:tgtEl>
                                        <p:attrNameLst>
                                          <p:attrName>style.visibility</p:attrName>
                                        </p:attrNameLst>
                                      </p:cBhvr>
                                      <p:to>
                                        <p:strVal val="visible"/>
                                      </p:to>
                                    </p:set>
                                    <p:animEffect transition="in" filter="fade">
                                      <p:cBhvr>
                                        <p:cTn id="35" dur="300"/>
                                        <p:tgtEl>
                                          <p:spTgt spid="61"/>
                                        </p:tgtEl>
                                      </p:cBhvr>
                                    </p:animEffect>
                                  </p:childTnLst>
                                </p:cTn>
                              </p:par>
                            </p:childTnLst>
                          </p:cTn>
                        </p:par>
                        <p:par>
                          <p:cTn id="36" fill="hold">
                            <p:stCondLst>
                              <p:cond delay="6300"/>
                            </p:stCondLst>
                            <p:childTnLst>
                              <p:par>
                                <p:cTn xmlns:p="http://schemas.openxmlformats.org/presentationml/2006/main" id="37" presetID="10" presetClass="entr" presetSubtype="0" fill="hold" grpId="0" nodeType="afterEffect">
                                  <p:stCondLst>
                                    <p:cond delay="500"/>
                                  </p:stCondLst>
                                  <p:childTnLst>
                                    <p:set>
                                      <p:cBhvr>
                                        <p:cTn id="38" dur="1" fill="hold">
                                          <p:stCondLst>
                                            <p:cond delay="0"/>
                                          </p:stCondLst>
                                        </p:cTn>
                                        <p:tgtEl>
                                          <p:spTgt spid="80"/>
                                        </p:tgtEl>
                                        <p:attrNameLst>
                                          <p:attrName>style.visibility</p:attrName>
                                        </p:attrNameLst>
                                      </p:cBhvr>
                                      <p:to>
                                        <p:strVal val="visible"/>
                                      </p:to>
                                    </p:set>
                                    <p:animEffect transition="in" filter="fade">
                                      <p:cBhvr>
                                        <p:cTn id="39" dur="4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c="http://schemas.openxmlformats.org/drawingml/2006/chart"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9927681" y="247650"/>
            <a:ext cx="1807119" cy="206216"/>
            <a:chOff x="9927681" y="247650"/>
            <a:chExt cx="1807119" cy="206216"/>
          </a:xfrm>
        </p:grpSpPr>
        <p:sp>
          <p:nvSpPr>
            <p:cNvPr id="2" name="TextBox 2"/>
            <p:cNvSpPr txBox="1"/>
            <p:nvPr/>
          </p:nvSpPr>
          <p:spPr>
            <a:xfrm>
              <a:off x="9927681" y="291941"/>
              <a:ext cx="878431"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诊断 · 成熟市场</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6079617" cy="637794"/>
            <a:chOff x="448056" y="472440"/>
            <a:chExt cx="6079617" cy="637794"/>
          </a:xfrm>
        </p:grpSpPr>
        <p:sp>
          <p:nvSpPr>
            <p:cNvPr id="6" name="TextBox 6"/>
            <p:cNvSpPr txBox="1"/>
            <p:nvPr/>
          </p:nvSpPr>
          <p:spPr>
            <a:xfrm>
              <a:off x="448056" y="472440"/>
              <a:ext cx="6079617"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美国渗透率连续两年停在 10%、销量首次下滑,日本仍在 3%</a:t>
              </a:r>
              <a:br/>
              <a:r>
                <a:rPr lang="zh-CN" sz="1800" b="1" dirty="0">
                  <a:solidFill>
                    <a:schemeClr val="accent1"/>
                  </a:solidFill>
                  <a:latin typeface="+mn-lt"/>
                  <a:ea typeface="+mn-ea"/>
                  <a:cs typeface="+mn-cs"/>
                </a:rPr>
                <a:t>——成熟市场里只有韩国还在起量</a:t>
              </a:r>
            </a:p>
          </p:txBody>
        </p:sp>
      </p:grpSp>
      <p:grpSp>
        <p:nvGrpSpPr>
          <p:cNvPr id="9" name="unit-line"/>
          <p:cNvGrpSpPr/>
          <p:nvPr/>
        </p:nvGrpSpPr>
        <p:grpSpPr>
          <a:xfrm>
            <a:off x="452438" y="1160145"/>
            <a:ext cx="3540138" cy="176212"/>
            <a:chOff x="452438" y="1160145"/>
            <a:chExt cx="3540138" cy="176212"/>
          </a:xfrm>
        </p:grpSpPr>
        <p:sp>
          <p:nvSpPr>
            <p:cNvPr id="8" name="TextBox 8"/>
            <p:cNvSpPr txBox="1"/>
            <p:nvPr/>
          </p:nvSpPr>
          <p:spPr>
            <a:xfrm>
              <a:off x="452438" y="1160145"/>
              <a:ext cx="354013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A:电动车渗透率,%,2019–2025;B:电动车销量,万辆,2023–2025</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2010512" cy="349091"/>
            <a:chOff x="452438" y="1552575"/>
            <a:chExt cx="2010512"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1801153"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渗透率走势:欧洲、美国、日本</a:t>
              </a:r>
            </a:p>
          </p:txBody>
        </p:sp>
        <p:sp>
          <p:nvSpPr>
            <p:cNvPr id="14" name="TextBox 14"/>
            <p:cNvSpPr txBox="1"/>
            <p:nvPr/>
          </p:nvSpPr>
          <p:spPr>
            <a:xfrm>
              <a:off x="452438" y="1739741"/>
              <a:ext cx="1118928"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电动车占新车销量的 %</a:t>
              </a:r>
            </a:p>
          </p:txBody>
        </p:sp>
      </p:grpSp>
      <p:grpSp>
        <p:nvGrpSpPr>
          <p:cNvPr id="21" name="mature-share"/>
          <p:cNvGrpSpPr/>
          <p:nvPr/>
        </p:nvGrpSpPr>
        <p:grpSpPr>
          <a:xfrm>
            <a:off x="457200" y="1943100"/>
            <a:ext cx="3848100" cy="2533650"/>
            <a:chOff x="457200" y="1943100"/>
            <a:chExt cx="3848100" cy="2533650"/>
          </a:xfrm>
        </p:grpSpPr>
        <p:graphicFrame>
          <p:nvGraphicFramePr>
            <p:cNvPr id="16" name="mature-share"/>
            <p:cNvGraphicFramePr>
              <a:graphicFrameLocks noGrp="1"/>
            </p:cNvGraphicFramePr>
            <p:nvPr/>
          </p:nvGraphicFramePr>
          <p:xfrm>
            <a:off x="457200" y="1943100"/>
            <a:ext cx="3848100" cy="2533650"/>
          </p:xfrm>
          <a:graphic>
            <a:graphicData uri="http://schemas.openxmlformats.org/drawingml/2006/chart">
              <c:chart r:id="rId2"/>
            </a:graphicData>
          </a:graphic>
        </p:graphicFrame>
        <p:sp>
          <p:nvSpPr>
            <p:cNvPr id="17" name="Chart Note 17"/>
            <p:cNvSpPr txBox="1"/>
            <p:nvPr/>
          </p:nvSpPr>
          <p:spPr>
            <a:xfrm>
              <a:off x="3563684" y="2297811"/>
              <a:ext cx="666750" cy="166624"/>
            </a:xfrm>
            <a:prstGeom prst="rect">
              <a:avLst/>
            </a:prstGeom>
            <a:noFill/>
            <a:ln>
              <a:noFill/>
            </a:ln>
          </p:spPr>
          <p:txBody>
            <a:bodyPr wrap="square" lIns="0" tIns="0" rIns="0" bIns="0" anchor="b" anchorCtr="0"/>
            <a:lstStyle/>
            <a:p>
              <a:pPr algn="l"/>
              <a:r>
                <a:rPr lang="zh-CN" sz="820" b="1">
                  <a:solidFill>
                    <a:srgbClr val="8FB8FF"/>
                  </a:solidFill>
                  <a:latin typeface="Microsoft YaHei"/>
                  <a:ea typeface="Microsoft YaHei"/>
                  <a:cs typeface="Microsoft YaHei"/>
                </a:rPr>
                <a:t>欧洲 28%</a:t>
              </a:r>
            </a:p>
          </p:txBody>
        </p:sp>
        <p:sp>
          <p:nvSpPr>
            <p:cNvPr id="18" name="Chart Note 18"/>
            <p:cNvSpPr txBox="1"/>
            <p:nvPr/>
          </p:nvSpPr>
          <p:spPr>
            <a:xfrm>
              <a:off x="3563684" y="3412236"/>
              <a:ext cx="666750" cy="166624"/>
            </a:xfrm>
            <a:prstGeom prst="rect">
              <a:avLst/>
            </a:prstGeom>
            <a:noFill/>
            <a:ln>
              <a:noFill/>
            </a:ln>
          </p:spPr>
          <p:txBody>
            <a:bodyPr wrap="square" lIns="0" tIns="0" rIns="0" bIns="0" anchor="b" anchorCtr="0"/>
            <a:lstStyle/>
            <a:p>
              <a:pPr algn="l"/>
              <a:r>
                <a:rPr lang="zh-CN" sz="820" b="1">
                  <a:solidFill>
                    <a:srgbClr val="B3261E"/>
                  </a:solidFill>
                  <a:latin typeface="Microsoft YaHei"/>
                  <a:ea typeface="Microsoft YaHei"/>
                  <a:cs typeface="Microsoft YaHei"/>
                </a:rPr>
                <a:t>美国 10%</a:t>
              </a:r>
            </a:p>
          </p:txBody>
        </p:sp>
        <p:sp>
          <p:nvSpPr>
            <p:cNvPr id="19" name="Chart Note 19"/>
            <p:cNvSpPr txBox="1"/>
            <p:nvPr/>
          </p:nvSpPr>
          <p:spPr>
            <a:xfrm>
              <a:off x="3563684" y="3845624"/>
              <a:ext cx="666750" cy="166624"/>
            </a:xfrm>
            <a:prstGeom prst="rect">
              <a:avLst/>
            </a:prstGeom>
            <a:noFill/>
            <a:ln>
              <a:noFill/>
            </a:ln>
          </p:spPr>
          <p:txBody>
            <a:bodyPr wrap="square" lIns="0" tIns="0" rIns="0" bIns="0" anchor="b" anchorCtr="0"/>
            <a:lstStyle/>
            <a:p>
              <a:pPr algn="l"/>
              <a:r>
                <a:rPr lang="zh-CN" sz="820" b="1">
                  <a:solidFill>
                    <a:srgbClr val="B7B7B7"/>
                  </a:solidFill>
                  <a:latin typeface="Microsoft YaHei"/>
                  <a:ea typeface="Microsoft YaHei"/>
                  <a:cs typeface="Microsoft YaHei"/>
                </a:rPr>
                <a:t>日本 3%</a:t>
              </a:r>
            </a:p>
          </p:txBody>
        </p:sp>
        <p:sp>
          <p:nvSpPr>
            <p:cNvPr id="20" name="Chart Note 20"/>
            <p:cNvSpPr txBox="1"/>
            <p:nvPr/>
          </p:nvSpPr>
          <p:spPr>
            <a:xfrm>
              <a:off x="1428750" y="2107311"/>
              <a:ext cx="2095500" cy="166624"/>
            </a:xfrm>
            <a:prstGeom prst="rect">
              <a:avLst/>
            </a:prstGeom>
            <a:noFill/>
            <a:ln>
              <a:noFill/>
            </a:ln>
          </p:spPr>
          <p:txBody>
            <a:bodyPr wrap="square" lIns="0" tIns="0" rIns="0" bIns="0" anchor="b" anchorCtr="0"/>
            <a:lstStyle/>
            <a:p>
              <a:pPr algn="l"/>
              <a:r>
                <a:rPr lang="zh-CN" sz="820">
                  <a:solidFill>
                    <a:srgbClr val="B3261E"/>
                  </a:solidFill>
                  <a:latin typeface="Microsoft YaHei"/>
                  <a:ea typeface="Microsoft YaHei"/>
                  <a:cs typeface="Microsoft YaHei"/>
                </a:rPr>
                <a:t>美国 2024→25 持平</a:t>
              </a:r>
            </a:p>
          </p:txBody>
        </p:sp>
      </p:grpSp>
      <p:grpSp>
        <p:nvGrpSpPr>
          <p:cNvPr id="26" name="exhibit-b-head"/>
          <p:cNvGrpSpPr/>
          <p:nvPr/>
        </p:nvGrpSpPr>
        <p:grpSpPr>
          <a:xfrm>
            <a:off x="4529138" y="1552575"/>
            <a:ext cx="1614729" cy="349091"/>
            <a:chOff x="4529138" y="1552575"/>
            <a:chExt cx="1614729" cy="349091"/>
          </a:xfrm>
        </p:grpSpPr>
        <p:sp>
          <p:nvSpPr>
            <p:cNvPr id="22" name="Ellipse 22"/>
            <p:cNvSpPr/>
            <p:nvPr/>
          </p:nvSpPr>
          <p:spPr>
            <a:xfrm>
              <a:off x="4533900" y="1552575"/>
              <a:ext cx="152400" cy="152400"/>
            </a:xfrm>
            <a:prstGeom prst="ellipse">
              <a:avLst/>
            </a:prstGeom>
            <a:solidFill>
              <a:schemeClr val="accent1"/>
            </a:solidFill>
            <a:ln>
              <a:noFill/>
            </a:ln>
          </p:spPr>
        </p:sp>
        <p:sp>
          <p:nvSpPr>
            <p:cNvPr id="23" name="TextBox 23"/>
            <p:cNvSpPr txBox="1"/>
            <p:nvPr/>
          </p:nvSpPr>
          <p:spPr>
            <a:xfrm>
              <a:off x="45668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24" name="TextBox 24"/>
            <p:cNvSpPr txBox="1"/>
            <p:nvPr/>
          </p:nvSpPr>
          <p:spPr>
            <a:xfrm>
              <a:off x="4738497" y="1571149"/>
              <a:ext cx="1405370"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销量:美国、日本、韩国</a:t>
              </a:r>
            </a:p>
          </p:txBody>
        </p:sp>
        <p:sp>
          <p:nvSpPr>
            <p:cNvPr id="25" name="TextBox 25"/>
            <p:cNvSpPr txBox="1"/>
            <p:nvPr/>
          </p:nvSpPr>
          <p:spPr>
            <a:xfrm>
              <a:off x="4529138" y="1739741"/>
              <a:ext cx="1273472"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万辆;2023 / 2024 / 2025</a:t>
              </a:r>
            </a:p>
          </p:txBody>
        </p:sp>
      </p:grpSp>
      <p:graphicFrame>
        <p:nvGraphicFramePr>
          <p:cNvPr id="27" name="mature-sales"/>
          <p:cNvGraphicFramePr>
            <a:graphicFrameLocks noGrp="1"/>
          </p:cNvGraphicFramePr>
          <p:nvPr/>
        </p:nvGraphicFramePr>
        <p:xfrm>
          <a:off x="4533900" y="1943100"/>
          <a:ext cx="3924300" cy="2533650"/>
        </p:xfrm>
        <a:graphic>
          <a:graphicData uri="http://schemas.openxmlformats.org/drawingml/2006/chart">
            <c:chart r:id="rId3"/>
          </a:graphicData>
        </a:graphic>
      </p:graphicFrame>
      <p:grpSp>
        <p:nvGrpSpPr>
          <p:cNvPr id="32" name="exhibit-c-head"/>
          <p:cNvGrpSpPr/>
          <p:nvPr/>
        </p:nvGrpSpPr>
        <p:grpSpPr>
          <a:xfrm>
            <a:off x="452438" y="4581525"/>
            <a:ext cx="2609172" cy="349091"/>
            <a:chOff x="452438" y="4581525"/>
            <a:chExt cx="2609172" cy="349091"/>
          </a:xfrm>
        </p:grpSpPr>
        <p:sp>
          <p:nvSpPr>
            <p:cNvPr id="28" name="Ellipse 28"/>
            <p:cNvSpPr/>
            <p:nvPr/>
          </p:nvSpPr>
          <p:spPr>
            <a:xfrm>
              <a:off x="457200" y="4581525"/>
              <a:ext cx="152400" cy="152400"/>
            </a:xfrm>
            <a:prstGeom prst="ellipse">
              <a:avLst/>
            </a:prstGeom>
            <a:solidFill>
              <a:schemeClr val="accent1"/>
            </a:solidFill>
            <a:ln>
              <a:noFill/>
            </a:ln>
          </p:spPr>
        </p:sp>
        <p:sp>
          <p:nvSpPr>
            <p:cNvPr id="29" name="TextBox 29"/>
            <p:cNvSpPr txBox="1"/>
            <p:nvPr/>
          </p:nvSpPr>
          <p:spPr>
            <a:xfrm>
              <a:off x="490115" y="461010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C</a:t>
              </a:r>
            </a:p>
          </p:txBody>
        </p:sp>
        <p:sp>
          <p:nvSpPr>
            <p:cNvPr id="30" name="TextBox 30"/>
            <p:cNvSpPr txBox="1"/>
            <p:nvPr/>
          </p:nvSpPr>
          <p:spPr>
            <a:xfrm>
              <a:off x="661797" y="4600099"/>
              <a:ext cx="1321266"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成熟市场 2025 年概览</a:t>
              </a:r>
            </a:p>
          </p:txBody>
        </p:sp>
        <p:sp>
          <p:nvSpPr>
            <p:cNvPr id="31" name="TextBox 31"/>
            <p:cNvSpPr txBox="1"/>
            <p:nvPr/>
          </p:nvSpPr>
          <p:spPr>
            <a:xfrm>
              <a:off x="452438" y="4768691"/>
              <a:ext cx="2609172"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销量:万辆;渗透率:%;销量变化为 2025 年较 2023 年</a:t>
              </a:r>
            </a:p>
          </p:txBody>
        </p:sp>
      </p:grpSp>
      <p:graphicFrame>
        <p:nvGraphicFramePr>
          <p:cNvPr id="33" name="mature-overview"/>
          <p:cNvGraphicFramePr>
            <a:graphicFrameLocks noGrp="1"/>
          </p:cNvGraphicFramePr>
          <p:nvPr/>
        </p:nvGraphicFramePr>
        <p:xfrm>
          <a:off x="457200" y="4953000"/>
          <a:ext cx="8001000" cy="990600"/>
        </p:xfrm>
        <a:graphic>
          <a:graphicData uri="http://schemas.openxmlformats.org/drawingml/2006/table">
            <a:tbl>
              <a:tblPr firstRow="1" bandRow="0">
                <a:tableStyleId>{5C22544A-7EE6-4342-B048-85BDC9FD1C3A}</a:tableStyleId>
              </a:tblPr>
              <a:tblGrid>
                <a:gridCol w="1428750"/>
                <a:gridCol w="1619250"/>
                <a:gridCol w="1619250"/>
                <a:gridCol w="1619250"/>
                <a:gridCol w="1714500"/>
              </a:tblGrid>
              <a:tr h="228600">
                <a:tc>
                  <a:txBody>
                    <a:bodyPr/>
                    <a:lstStyle/>
                    <a:p>
                      <a:pPr/>
                      <a:r>
                        <a:rPr lang="zh-CN" sz="820" b="1">
                          <a:solidFill>
                            <a:schemeClr val="accent1"/>
                          </a:solidFill>
                          <a:latin typeface="Microsoft YaHei"/>
                          <a:ea typeface="Microsoft YaHei"/>
                          <a:cs typeface="Microsoft YaHei"/>
                        </a:rPr>
                        <a:t>市场</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2025 销量</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2023→25 销量变化</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2025 渗透率</a:t>
                      </a:r>
                    </a:p>
                  </a:txBody>
                  <a:tcPr anchor="ctr" marL="76200" marR="76200" marT="9525" marB="9525">
                    <a:lnL>
                      <a:noFill/>
                    </a:lnL>
                    <a:lnR>
                      <a:noFill/>
                    </a:lnR>
                    <a:lnT>
                      <a:noFill/>
                    </a:lnT>
                    <a:lnB w="9525">
                      <a:solidFill>
                        <a:schemeClr val="accent1"/>
                      </a:solidFill>
                      <a:prstDash val="solid"/>
                    </a:lnB>
                    <a:noFill/>
                  </a:tcPr>
                </a:tc>
                <a:tc>
                  <a:txBody>
                    <a:bodyPr/>
                    <a:lstStyle/>
                    <a:p>
                      <a:pPr/>
                      <a:r>
                        <a:rPr lang="zh-CN" sz="820" b="1">
                          <a:solidFill>
                            <a:schemeClr val="accent1"/>
                          </a:solidFill>
                          <a:latin typeface="Microsoft YaHei"/>
                          <a:ea typeface="Microsoft YaHei"/>
                          <a:cs typeface="Microsoft YaHei"/>
                        </a:rPr>
                        <a:t>优先级判断</a:t>
                      </a:r>
                    </a:p>
                  </a:txBody>
                  <a:tcPr anchor="ctr" marL="76200" marR="76200" marT="9525" marB="9525">
                    <a:lnL>
                      <a:noFill/>
                    </a:lnL>
                    <a:lnR>
                      <a:noFill/>
                    </a:lnR>
                    <a:lnT>
                      <a:noFill/>
                    </a:lnT>
                    <a:lnB w="9525">
                      <a:solidFill>
                        <a:schemeClr val="accent1"/>
                      </a:solidFill>
                      <a:prstDash val="solid"/>
                    </a:lnB>
                    <a:noFill/>
                  </a:tcPr>
                </a:tc>
              </a:tr>
              <a:tr h="190500">
                <a:tc>
                  <a:txBody>
                    <a:bodyPr/>
                    <a:lstStyle/>
                    <a:p>
                      <a:pPr/>
                      <a:r>
                        <a:rPr lang="zh-CN" sz="820" b="1">
                          <a:solidFill>
                            <a:schemeClr val="dk1"/>
                          </a:solidFill>
                          <a:latin typeface="Microsoft YaHei"/>
                          <a:ea typeface="Microsoft YaHei"/>
                          <a:cs typeface="Microsoft YaHei"/>
                        </a:rPr>
                        <a:t>美国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150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5"/>
                          </a:solidFill>
                          <a:latin typeface="Microsoft YaHei"/>
                          <a:ea typeface="Microsoft YaHei"/>
                          <a:cs typeface="Microsoft YaHei"/>
                        </a:rPr>
                        <a:t>三级 · 守势,不新增产能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dk1"/>
                          </a:solidFill>
                          <a:latin typeface="Microsoft YaHei"/>
                          <a:ea typeface="Microsoft YaHei"/>
                          <a:cs typeface="Microsoft YaHei"/>
                        </a:rPr>
                        <a:t>日本</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5"/>
                          </a:solidFill>
                          <a:latin typeface="Microsoft YaHei"/>
                          <a:ea typeface="Microsoft YaHei"/>
                          <a:cs typeface="Microsoft YaHei"/>
                        </a:rPr>
                        <a:t>三级 · 守势</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dk1"/>
                          </a:solidFill>
                          <a:latin typeface="Microsoft YaHei"/>
                          <a:ea typeface="Microsoft YaHei"/>
                          <a:cs typeface="Microsoft YaHei"/>
                        </a:rPr>
                        <a:t>韩国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22</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+69%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1"/>
                          </a:solidFill>
                          <a:latin typeface="Microsoft YaHei"/>
                          <a:ea typeface="Microsoft YaHei"/>
                          <a:cs typeface="Microsoft YaHei"/>
                        </a:rPr>
                        <a:t>二级 · 渠道试点</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dk1"/>
                          </a:solidFill>
                          <a:latin typeface="Microsoft YaHei"/>
                          <a:ea typeface="Microsoft YaHei"/>
                          <a:cs typeface="Microsoft YaHei"/>
                        </a:rPr>
                        <a:t>欧洲整体</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420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+31%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2"/>
                          </a:solidFill>
                          <a:latin typeface="Microsoft YaHei"/>
                          <a:ea typeface="Microsoft YaHei"/>
                          <a:cs typeface="Microsoft YaHei"/>
                        </a:rPr>
                        <a:t>按国家选点(第 6 页)</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bl>
          </a:graphicData>
        </a:graphic>
      </p:graphicFrame>
      <p:grpSp>
        <p:nvGrpSpPr>
          <p:cNvPr id="52" name="!!insight-column"/>
          <p:cNvGrpSpPr/>
          <p:nvPr/>
        </p:nvGrpSpPr>
        <p:grpSpPr>
          <a:xfrm>
            <a:off x="8720138" y="1587341"/>
            <a:ext cx="3014662" cy="4432459"/>
            <a:chOff x="8720138" y="1587341"/>
            <a:chExt cx="3014662" cy="4432459"/>
          </a:xfrm>
        </p:grpSpPr>
        <p:sp>
          <p:nvSpPr>
            <p:cNvPr id="34" name="TextBox 34"/>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35" name="Line 35"/>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36" name="Ellipse 36"/>
            <p:cNvSpPr/>
            <p:nvPr/>
          </p:nvSpPr>
          <p:spPr>
            <a:xfrm>
              <a:off x="8724900" y="1876425"/>
              <a:ext cx="152400" cy="152400"/>
            </a:xfrm>
            <a:prstGeom prst="ellipse">
              <a:avLst/>
            </a:prstGeom>
            <a:solidFill>
              <a:schemeClr val="accent1"/>
            </a:solidFill>
            <a:ln>
              <a:noFill/>
            </a:ln>
          </p:spPr>
        </p:sp>
        <p:sp>
          <p:nvSpPr>
            <p:cNvPr id="37" name="TextBox 37"/>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38" name="TextBox 38"/>
            <p:cNvSpPr txBox="1"/>
            <p:nvPr/>
          </p:nvSpPr>
          <p:spPr>
            <a:xfrm>
              <a:off x="8948166" y="1886902"/>
              <a:ext cx="244430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美国:渗透率 2024、2025 两年都是 10%,</a:t>
              </a:r>
              <a:br/>
              <a:r>
                <a:rPr lang="zh-CN" sz="1050" dirty="0">
                  <a:solidFill>
                    <a:schemeClr val="dk1"/>
                  </a:solidFill>
                  <a:latin typeface="+mn-lt"/>
                  <a:ea typeface="+mn-ea"/>
                  <a:cs typeface="+mn-cs"/>
                </a:rPr>
                <a:t>销量 160 万→150 万辆(−6%)²,</a:t>
              </a:r>
              <a:br/>
              <a:r>
                <a:rPr lang="zh-CN" sz="1050" dirty="0">
                  <a:solidFill>
                    <a:schemeClr val="dk1"/>
                  </a:solidFill>
                  <a:latin typeface="+mn-lt"/>
                  <a:ea typeface="+mn-ea"/>
                  <a:cs typeface="+mn-cs"/>
                </a:rPr>
                <a:t>2015 年以来首次下滑。</a:t>
              </a:r>
            </a:p>
          </p:txBody>
        </p:sp>
        <p:sp>
          <p:nvSpPr>
            <p:cNvPr id="39" name="Ellipse 39"/>
            <p:cNvSpPr/>
            <p:nvPr/>
          </p:nvSpPr>
          <p:spPr>
            <a:xfrm>
              <a:off x="8724900" y="2600325"/>
              <a:ext cx="152400" cy="152400"/>
            </a:xfrm>
            <a:prstGeom prst="ellipse">
              <a:avLst/>
            </a:prstGeom>
            <a:solidFill>
              <a:schemeClr val="accent1"/>
            </a:solidFill>
            <a:ln>
              <a:noFill/>
            </a:ln>
          </p:spPr>
        </p:sp>
        <p:sp>
          <p:nvSpPr>
            <p:cNvPr id="40" name="TextBox 40"/>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41" name="TextBox 41"/>
            <p:cNvSpPr txBox="1"/>
            <p:nvPr/>
          </p:nvSpPr>
          <p:spPr>
            <a:xfrm>
              <a:off x="8948166" y="2610802"/>
              <a:ext cx="2297620"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日本:销量 10 万辆持平,渗透率 3%,</a:t>
              </a:r>
              <a:br/>
              <a:r>
                <a:rPr lang="zh-CN" sz="1050" dirty="0">
                  <a:solidFill>
                    <a:schemeClr val="dk1"/>
                  </a:solidFill>
                  <a:latin typeface="+mn-lt"/>
                  <a:ea typeface="+mn-ea"/>
                  <a:cs typeface="+mn-cs"/>
                </a:rPr>
                <a:t>连续七年低于 4%,尚未进入起量区间。</a:t>
              </a:r>
            </a:p>
          </p:txBody>
        </p:sp>
        <p:sp>
          <p:nvSpPr>
            <p:cNvPr id="42" name="Ellipse 42"/>
            <p:cNvSpPr/>
            <p:nvPr/>
          </p:nvSpPr>
          <p:spPr>
            <a:xfrm>
              <a:off x="8724900" y="3133725"/>
              <a:ext cx="152400" cy="152400"/>
            </a:xfrm>
            <a:prstGeom prst="ellipse">
              <a:avLst/>
            </a:prstGeom>
            <a:solidFill>
              <a:schemeClr val="accent1"/>
            </a:solidFill>
            <a:ln>
              <a:noFill/>
            </a:ln>
          </p:spPr>
        </p:sp>
        <p:sp>
          <p:nvSpPr>
            <p:cNvPr id="43" name="TextBox 43"/>
            <p:cNvSpPr txBox="1"/>
            <p:nvPr/>
          </p:nvSpPr>
          <p:spPr>
            <a:xfrm>
              <a:off x="8768259" y="31623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44" name="TextBox 44"/>
            <p:cNvSpPr txBox="1"/>
            <p:nvPr/>
          </p:nvSpPr>
          <p:spPr>
            <a:xfrm>
              <a:off x="8948166" y="3144202"/>
              <a:ext cx="2157603"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韩国是成熟市场里唯一的例外:</a:t>
              </a:r>
              <a:br/>
              <a:r>
                <a:rPr lang="zh-CN" sz="1050" dirty="0">
                  <a:solidFill>
                    <a:schemeClr val="dk1"/>
                  </a:solidFill>
                  <a:latin typeface="+mn-lt"/>
                  <a:ea typeface="+mn-ea"/>
                  <a:cs typeface="+mn-cs"/>
                </a:rPr>
                <a:t>13 万→22 万辆(+69%),渗透率 11%,</a:t>
              </a:r>
              <a:br/>
              <a:r>
                <a:rPr lang="zh-CN" sz="1050" dirty="0">
                  <a:solidFill>
                    <a:schemeClr val="dk1"/>
                  </a:solidFill>
                  <a:latin typeface="+mn-lt"/>
                  <a:ea typeface="+mn-ea"/>
                  <a:cs typeface="+mn-cs"/>
                </a:rPr>
                <a:t>可作为二级市场的渠道试点。</a:t>
              </a:r>
            </a:p>
          </p:txBody>
        </p:sp>
        <p:sp>
          <p:nvSpPr>
            <p:cNvPr id="45" name="Ellipse 45"/>
            <p:cNvSpPr/>
            <p:nvPr/>
          </p:nvSpPr>
          <p:spPr>
            <a:xfrm>
              <a:off x="8724900" y="3857625"/>
              <a:ext cx="152400" cy="152400"/>
            </a:xfrm>
            <a:prstGeom prst="ellipse">
              <a:avLst/>
            </a:prstGeom>
            <a:solidFill>
              <a:schemeClr val="accent1"/>
            </a:solidFill>
            <a:ln>
              <a:noFill/>
            </a:ln>
          </p:spPr>
        </p:sp>
        <p:sp>
          <p:nvSpPr>
            <p:cNvPr id="46" name="TextBox 46"/>
            <p:cNvSpPr txBox="1"/>
            <p:nvPr/>
          </p:nvSpPr>
          <p:spPr>
            <a:xfrm>
              <a:off x="8768259" y="38862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47" name="TextBox 47"/>
            <p:cNvSpPr txBox="1"/>
            <p:nvPr/>
          </p:nvSpPr>
          <p:spPr>
            <a:xfrm>
              <a:off x="8948166" y="3868102"/>
              <a:ext cx="195091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推论:把美国当作确定增量来源的</a:t>
              </a:r>
              <a:br/>
              <a:r>
                <a:rPr lang="zh-CN" sz="1050" dirty="0">
                  <a:solidFill>
                    <a:schemeClr val="dk1"/>
                  </a:solidFill>
                  <a:latin typeface="+mn-lt"/>
                  <a:ea typeface="+mn-ea"/>
                  <a:cs typeface="+mn-cs"/>
                </a:rPr>
                <a:t>假设已经失效;2026–28 对美国</a:t>
              </a:r>
              <a:br/>
              <a:r>
                <a:rPr lang="zh-CN" sz="1050" dirty="0">
                  <a:solidFill>
                    <a:schemeClr val="dk1"/>
                  </a:solidFill>
                  <a:latin typeface="+mn-lt"/>
                  <a:ea typeface="+mn-ea"/>
                  <a:cs typeface="+mn-cs"/>
                </a:rPr>
                <a:t>只能按守势规划,不新增产能。</a:t>
              </a:r>
            </a:p>
          </p:txBody>
        </p:sp>
        <p:sp>
          <p:nvSpPr>
            <p:cNvPr id="48" name="Rectangle 48"/>
            <p:cNvSpPr/>
            <p:nvPr/>
          </p:nvSpPr>
          <p:spPr>
            <a:xfrm>
              <a:off x="8724900" y="4914900"/>
              <a:ext cx="3009900" cy="1104900"/>
            </a:xfrm>
            <a:prstGeom prst="rect">
              <a:avLst/>
            </a:prstGeom>
            <a:solidFill>
              <a:srgbClr val="F7F7F7"/>
            </a:solidFill>
            <a:ln>
              <a:noFill/>
            </a:ln>
          </p:spPr>
        </p:sp>
        <p:sp>
          <p:nvSpPr>
            <p:cNvPr id="49" name="Rectangle 49"/>
            <p:cNvSpPr/>
            <p:nvPr/>
          </p:nvSpPr>
          <p:spPr>
            <a:xfrm>
              <a:off x="8724900" y="4914900"/>
              <a:ext cx="38100" cy="1104900"/>
            </a:xfrm>
            <a:prstGeom prst="rect">
              <a:avLst/>
            </a:prstGeom>
            <a:solidFill>
              <a:schemeClr val="accent2"/>
            </a:solidFill>
            <a:ln>
              <a:noFill/>
            </a:ln>
          </p:spPr>
        </p:sp>
        <p:sp>
          <p:nvSpPr>
            <p:cNvPr id="50" name="TextBox 50"/>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51" name="TextBox 51"/>
            <p:cNvSpPr txBox="1"/>
            <p:nvPr/>
          </p:nvSpPr>
          <p:spPr>
            <a:xfrm>
              <a:off x="8871966" y="5220652"/>
              <a:ext cx="236429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美国、日本从'增量来源'改列守势市场;</a:t>
              </a:r>
              <a:br/>
              <a:r>
                <a:rPr lang="zh-CN" sz="1050" dirty="0">
                  <a:solidFill>
                    <a:schemeClr val="dk1"/>
                  </a:solidFill>
                  <a:latin typeface="+mn-lt"/>
                  <a:ea typeface="+mn-ea"/>
                  <a:cs typeface="+mn-cs"/>
                </a:rPr>
                <a:t>韩国以渠道试点验证二级市场打法</a:t>
              </a:r>
              <a:br/>
              <a:r>
                <a:rPr lang="zh-CN" sz="1050" dirty="0">
                  <a:solidFill>
                    <a:schemeClr val="dk1"/>
                  </a:solidFill>
                  <a:latin typeface="+mn-lt"/>
                  <a:ea typeface="+mn-ea"/>
                  <a:cs typeface="+mn-cs"/>
                </a:rPr>
                <a:t>(第 10、11 页)。</a:t>
              </a:r>
            </a:p>
          </p:txBody>
        </p:sp>
      </p:grpSp>
      <p:grpSp>
        <p:nvGrpSpPr>
          <p:cNvPr id="57" name="footer"/>
          <p:cNvGrpSpPr/>
          <p:nvPr/>
        </p:nvGrpSpPr>
        <p:grpSpPr>
          <a:xfrm>
            <a:off x="452438" y="6205538"/>
            <a:ext cx="11287125" cy="433388"/>
            <a:chOff x="452438" y="6205538"/>
            <a:chExt cx="11287125" cy="433388"/>
          </a:xfrm>
        </p:grpSpPr>
        <p:sp>
          <p:nvSpPr>
            <p:cNvPr id="53" name="TextBox 53"/>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54" name="TextBox 54"/>
            <p:cNvSpPr txBox="1"/>
            <p:nvPr/>
          </p:nvSpPr>
          <p:spPr>
            <a:xfrm>
              <a:off x="452438" y="6338888"/>
              <a:ext cx="3810857"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美国 2025 年销量变化 = (150 − 160) ÷ 160 = −6%;韩国 = (22 − 13) ÷ 13 = +69%</a:t>
              </a:r>
            </a:p>
          </p:txBody>
        </p:sp>
        <p:sp>
          <p:nvSpPr>
            <p:cNvPr id="55" name="TextBox 55"/>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56" name="TextBox 56"/>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5</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id="13" presetID="22" presetClass="entr" presetSubtype="2" fill="hold" grpId="0" nodeType="afterEffect">
                                  <p:stCondLst>
                                    <p:cond delay="500"/>
                                  </p:stCondLst>
                                  <p:childTnLst>
                                    <p:set>
                                      <p:cBhvr>
                                        <p:cTn id="14" dur="1" fill="hold">
                                          <p:stCondLst>
                                            <p:cond delay="0"/>
                                          </p:stCondLst>
                                        </p:cTn>
                                        <p:tgtEl>
                                          <p:spTgt spid="21"/>
                                        </p:tgtEl>
                                        <p:attrNameLst>
                                          <p:attrName>style.visibility</p:attrName>
                                        </p:attrNameLst>
                                      </p:cBhvr>
                                      <p:to>
                                        <p:strVal val="visible"/>
                                      </p:to>
                                    </p:set>
                                    <p:animEffect transition="in" filter="wipe(right)">
                                      <p:cBhvr>
                                        <p:cTn id="15" dur="800"/>
                                        <p:tgtEl>
                                          <p:spTgt spid="21"/>
                                        </p:tgtEl>
                                      </p:cBhvr>
                                    </p:animEffect>
                                  </p:childTnLst>
                                </p:cTn>
                              </p:par>
                            </p:childTnLst>
                          </p:cTn>
                        </p:par>
                        <p:par>
                          <p:cTn id="16" fill="hold">
                            <p:stCondLst>
                              <p:cond delay="2300"/>
                            </p:stCondLst>
                            <p:childTnLst>
                              <p:par>
                                <p:cTn id="17" presetID="10" presetClass="entr" presetSubtype="0" fill="hold" grpId="0" nodeType="afterEffect">
                                  <p:stCondLst>
                                    <p:cond delay="50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200"/>
                                        <p:tgtEl>
                                          <p:spTgt spid="26"/>
                                        </p:tgtEl>
                                      </p:cBhvr>
                                    </p:animEffect>
                                  </p:childTnLst>
                                </p:cTn>
                              </p:par>
                            </p:childTnLst>
                          </p:cTn>
                        </p:par>
                        <p:par>
                          <p:cTn id="20" fill="hold">
                            <p:stCondLst>
                              <p:cond delay="3000"/>
                            </p:stCondLst>
                            <p:childTnLst>
                              <p:par>
                                <p:cTn id="21" presetID="22" presetClass="entr" presetSubtype="1" fill="hold" grpId="0" nodeType="afterEffect">
                                  <p:stCondLst>
                                    <p:cond delay="500"/>
                                  </p:stCondLst>
                                  <p:childTnLst>
                                    <p:set>
                                      <p:cBhvr>
                                        <p:cTn id="22" dur="1" fill="hold">
                                          <p:stCondLst>
                                            <p:cond delay="0"/>
                                          </p:stCondLst>
                                        </p:cTn>
                                        <p:tgtEl>
                                          <p:spTgt spid="27"/>
                                        </p:tgtEl>
                                        <p:attrNameLst>
                                          <p:attrName>style.visibility</p:attrName>
                                        </p:attrNameLst>
                                      </p:cBhvr>
                                      <p:to>
                                        <p:strVal val="visible"/>
                                      </p:to>
                                    </p:set>
                                    <p:animEffect transition="in" filter="wipe(up)">
                                      <p:cBhvr>
                                        <p:cTn id="23" dur="600"/>
                                        <p:tgtEl>
                                          <p:spTgt spid="27"/>
                                        </p:tgtEl>
                                      </p:cBhvr>
                                    </p:animEffect>
                                  </p:childTnLst>
                                </p:cTn>
                              </p:par>
                            </p:childTnLst>
                          </p:cTn>
                        </p:par>
                        <p:par>
                          <p:cTn id="24" fill="hold">
                            <p:stCondLst>
                              <p:cond delay="4100"/>
                            </p:stCondLst>
                            <p:childTnLst>
                              <p:par>
                                <p:cTn id="25" presetID="10" presetClass="entr" presetSubtype="0" fill="hold" grpId="0" nodeType="afterEffect">
                                  <p:stCondLst>
                                    <p:cond delay="50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200"/>
                                        <p:tgtEl>
                                          <p:spTgt spid="32"/>
                                        </p:tgtEl>
                                      </p:cBhvr>
                                    </p:animEffect>
                                  </p:childTnLst>
                                </p:cTn>
                              </p:par>
                            </p:childTnLst>
                          </p:cTn>
                        </p:par>
                        <p:par>
                          <p:cTn id="28" fill="hold">
                            <p:stCondLst>
                              <p:cond delay="4800"/>
                            </p:stCondLst>
                            <p:childTnLst>
                              <p:par>
                                <p:cTn id="29" presetID="22" presetClass="entr" presetSubtype="4" fill="hold" grpId="0" nodeType="afterEffect">
                                  <p:stCondLst>
                                    <p:cond delay="500"/>
                                  </p:stCondLst>
                                  <p:childTnLst>
                                    <p:set>
                                      <p:cBhvr>
                                        <p:cTn id="30" dur="1" fill="hold">
                                          <p:stCondLst>
                                            <p:cond delay="0"/>
                                          </p:stCondLst>
                                        </p:cTn>
                                        <p:tgtEl>
                                          <p:spTgt spid="33"/>
                                        </p:tgtEl>
                                        <p:attrNameLst>
                                          <p:attrName>style.visibility</p:attrName>
                                        </p:attrNameLst>
                                      </p:cBhvr>
                                      <p:to>
                                        <p:strVal val="visible"/>
                                      </p:to>
                                    </p:set>
                                    <p:animEffect transition="in" filter="wipe(down)">
                                      <p:cBhvr>
                                        <p:cTn id="31" dur="500"/>
                                        <p:tgtEl>
                                          <p:spTgt spid="33"/>
                                        </p:tgtEl>
                                      </p:cBhvr>
                                    </p:animEffect>
                                  </p:childTnLst>
                                </p:cTn>
                              </p:par>
                            </p:childTnLst>
                          </p:cTn>
                        </p:par>
                        <p:par>
                          <p:cTn id="32" fill="hold">
                            <p:stCondLst>
                              <p:cond delay="5800"/>
                            </p:stCondLst>
                            <p:childTnLst>
                              <p:par>
                                <p:cTn id="33" presetID="10" presetClass="entr" presetSubtype="0" fill="hold" grpId="0" nodeType="afterEffect">
                                  <p:stCondLst>
                                    <p:cond delay="50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c="http://schemas.openxmlformats.org/drawingml/2006/chart"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168651" y="247650"/>
            <a:ext cx="1566149" cy="206216"/>
            <a:chOff x="10168651" y="247650"/>
            <a:chExt cx="1566149" cy="206216"/>
          </a:xfrm>
        </p:grpSpPr>
        <p:sp>
          <p:nvSpPr>
            <p:cNvPr id="2" name="TextBox 2"/>
            <p:cNvSpPr txBox="1"/>
            <p:nvPr/>
          </p:nvSpPr>
          <p:spPr>
            <a:xfrm>
              <a:off x="10168651" y="291941"/>
              <a:ext cx="637461"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诊断 · 欧洲</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6726555" cy="637794"/>
            <a:chOff x="448056" y="472440"/>
            <a:chExt cx="6726555" cy="637794"/>
          </a:xfrm>
        </p:grpSpPr>
        <p:sp>
          <p:nvSpPr>
            <p:cNvPr id="6" name="TextBox 6"/>
            <p:cNvSpPr txBox="1"/>
            <p:nvPr/>
          </p:nvSpPr>
          <p:spPr>
            <a:xfrm>
              <a:off x="448056" y="472440"/>
              <a:ext cx="6726555"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欧洲反弹到 28% 靠英国(35%)和德国(30%)拉动,法国两年零增长</a:t>
              </a:r>
              <a:br/>
              <a:r>
                <a:rPr lang="zh-CN" sz="1800" b="1" dirty="0">
                  <a:solidFill>
                    <a:schemeClr val="accent1"/>
                  </a:solidFill>
                  <a:latin typeface="+mn-lt"/>
                  <a:ea typeface="+mn-ea"/>
                  <a:cs typeface="+mn-cs"/>
                </a:rPr>
                <a:t>——进入欧洲要选国家,而不是选大区</a:t>
              </a:r>
            </a:p>
          </p:txBody>
        </p:sp>
      </p:grpSp>
      <p:grpSp>
        <p:nvGrpSpPr>
          <p:cNvPr id="9" name="unit-line"/>
          <p:cNvGrpSpPr/>
          <p:nvPr/>
        </p:nvGrpSpPr>
        <p:grpSpPr>
          <a:xfrm>
            <a:off x="452438" y="1160145"/>
            <a:ext cx="4903965" cy="176212"/>
            <a:chOff x="452438" y="1160145"/>
            <a:chExt cx="4903965" cy="176212"/>
          </a:xfrm>
        </p:grpSpPr>
        <p:sp>
          <p:nvSpPr>
            <p:cNvPr id="8" name="TextBox 8"/>
            <p:cNvSpPr txBox="1"/>
            <p:nvPr/>
          </p:nvSpPr>
          <p:spPr>
            <a:xfrm>
              <a:off x="452438" y="1160145"/>
              <a:ext cx="4903965"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A:2025 年电动车渗透率,%,及较 2023 年的百分点变化;B:电动车销量,万辆,2023 vs 2025</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2763716" cy="349091"/>
            <a:chOff x="452438" y="1552575"/>
            <a:chExt cx="2763716"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1543564"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2025 年渗透率与两年变化</a:t>
              </a:r>
            </a:p>
          </p:txBody>
        </p:sp>
        <p:sp>
          <p:nvSpPr>
            <p:cNvPr id="14" name="TextBox 14"/>
            <p:cNvSpPr txBox="1"/>
            <p:nvPr/>
          </p:nvSpPr>
          <p:spPr>
            <a:xfrm>
              <a:off x="452438" y="1739741"/>
              <a:ext cx="2763716"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电动车占新车销量的 %;右侧为较 2023 年的百分点变化²</a:t>
              </a:r>
            </a:p>
          </p:txBody>
        </p:sp>
      </p:grpSp>
      <p:grpSp>
        <p:nvGrpSpPr>
          <p:cNvPr id="22" name="europe-share"/>
          <p:cNvGrpSpPr/>
          <p:nvPr/>
        </p:nvGrpSpPr>
        <p:grpSpPr>
          <a:xfrm>
            <a:off x="457200" y="0"/>
            <a:ext cx="4214241" cy="4476750"/>
            <a:chOff x="457200" y="0"/>
            <a:chExt cx="4214241" cy="4476750"/>
          </a:xfrm>
        </p:grpSpPr>
        <p:graphicFrame>
          <p:nvGraphicFramePr>
            <p:cNvPr id="16" name="europe-share"/>
            <p:cNvGraphicFramePr>
              <a:graphicFrameLocks noGrp="1"/>
            </p:cNvGraphicFramePr>
            <p:nvPr/>
          </p:nvGraphicFramePr>
          <p:xfrm>
            <a:off x="457200" y="1943100"/>
            <a:ext cx="3848100" cy="2533650"/>
          </p:xfrm>
          <a:graphic>
            <a:graphicData uri="http://schemas.openxmlformats.org/drawingml/2006/chart">
              <c:chart r:id="rId2"/>
            </a:graphicData>
          </a:graphic>
        </p:graphicFrame>
        <p:sp>
          <p:nvSpPr>
            <p:cNvPr id="17" name="Chart Note 17"/>
            <p:cNvSpPr txBox="1"/>
            <p:nvPr/>
          </p:nvSpPr>
          <p:spPr>
            <a:xfrm>
              <a:off x="3909441" y="2236851"/>
              <a:ext cx="762000" cy="166624"/>
            </a:xfrm>
            <a:prstGeom prst="rect">
              <a:avLst/>
            </a:prstGeom>
            <a:noFill/>
            <a:ln>
              <a:noFill/>
            </a:ln>
          </p:spPr>
          <p:txBody>
            <a:bodyPr wrap="square" lIns="0" tIns="0" rIns="0" bIns="0" anchor="b" anchorCtr="0"/>
            <a:lstStyle/>
            <a:p>
              <a:pPr algn="l"/>
              <a:r>
                <a:rPr lang="en-US" sz="820">
                  <a:solidFill>
                    <a:srgbClr val="7F7F7F"/>
                  </a:solidFill>
                  <a:latin typeface="Arial"/>
                  <a:ea typeface="Microsoft YaHei"/>
                  <a:cs typeface="Arial"/>
                </a:rPr>
                <a:t>+7pt</a:t>
              </a:r>
            </a:p>
          </p:txBody>
        </p:sp>
        <p:sp>
          <p:nvSpPr>
            <p:cNvPr id="18" name="Chart Note 18"/>
            <p:cNvSpPr txBox="1"/>
            <p:nvPr/>
          </p:nvSpPr>
          <p:spPr>
            <a:xfrm>
              <a:off x="2421255" y="2686431"/>
              <a:ext cx="762000" cy="166624"/>
            </a:xfrm>
            <a:prstGeom prst="rect">
              <a:avLst/>
            </a:prstGeom>
            <a:noFill/>
            <a:ln>
              <a:noFill/>
            </a:ln>
          </p:spPr>
          <p:txBody>
            <a:bodyPr wrap="square" lIns="0" tIns="0" rIns="0" bIns="0" anchor="b" anchorCtr="0"/>
            <a:lstStyle/>
            <a:p>
              <a:pPr algn="l"/>
              <a:r>
                <a:rPr lang="en-US" sz="820">
                  <a:solidFill>
                    <a:srgbClr val="2251FF"/>
                  </a:solidFill>
                  <a:latin typeface="Arial"/>
                  <a:ea typeface="Microsoft YaHei"/>
                  <a:cs typeface="Arial"/>
                </a:rPr>
                <a:t>+12pt</a:t>
              </a:r>
            </a:p>
          </p:txBody>
        </p:sp>
        <p:sp>
          <p:nvSpPr>
            <p:cNvPr id="19" name="Chart Note 19"/>
            <p:cNvSpPr txBox="1"/>
            <p:nvPr/>
          </p:nvSpPr>
          <p:spPr>
            <a:xfrm>
              <a:off x="2301240" y="0"/>
              <a:ext cx="762000" cy="152400"/>
            </a:xfrm>
            <a:prstGeom prst="rect">
              <a:avLst/>
            </a:prstGeom>
            <a:noFill/>
            <a:ln>
              <a:noFill/>
            </a:ln>
          </p:spPr>
          <p:txBody>
            <a:bodyPr wrap="square" lIns="0" tIns="0" rIns="0" bIns="0" anchor="t" anchorCtr="0"/>
            <a:lstStyle/>
            <a:p>
              <a:pPr algn="l"/>
              <a:r>
                <a:rPr lang="en-US" sz="820">
                  <a:solidFill>
                    <a:srgbClr val="2251FF"/>
                  </a:solidFill>
                  <a:latin typeface="Arial"/>
                  <a:ea typeface="Microsoft YaHei"/>
                  <a:cs typeface="Arial"/>
                </a:rPr>
                <a:t>+6pt</a:t>
              </a:r>
            </a:p>
          </p:txBody>
        </p:sp>
        <p:sp>
          <p:nvSpPr>
            <p:cNvPr id="20" name="Chart Note 20"/>
            <p:cNvSpPr txBox="1"/>
            <p:nvPr/>
          </p:nvSpPr>
          <p:spPr>
            <a:xfrm>
              <a:off x="2253234" y="0"/>
              <a:ext cx="762000" cy="152400"/>
            </a:xfrm>
            <a:prstGeom prst="rect">
              <a:avLst/>
            </a:prstGeom>
            <a:noFill/>
            <a:ln>
              <a:noFill/>
            </a:ln>
          </p:spPr>
          <p:txBody>
            <a:bodyPr wrap="square" lIns="0" tIns="0" rIns="0" bIns="0" anchor="t" anchorCtr="0"/>
            <a:lstStyle/>
            <a:p>
              <a:pPr algn="l"/>
              <a:r>
                <a:rPr lang="en-US" sz="820">
                  <a:solidFill>
                    <a:srgbClr val="051C2C"/>
                  </a:solidFill>
                  <a:latin typeface="Arial"/>
                  <a:ea typeface="Microsoft YaHei"/>
                  <a:cs typeface="Arial"/>
                </a:rPr>
                <a:t>+6pt</a:t>
              </a:r>
            </a:p>
          </p:txBody>
        </p:sp>
        <p:sp>
          <p:nvSpPr>
            <p:cNvPr id="21" name="Chart Note 21"/>
            <p:cNvSpPr txBox="1"/>
            <p:nvPr/>
          </p:nvSpPr>
          <p:spPr>
            <a:xfrm>
              <a:off x="2205228" y="4035171"/>
              <a:ext cx="762000" cy="166624"/>
            </a:xfrm>
            <a:prstGeom prst="rect">
              <a:avLst/>
            </a:prstGeom>
            <a:noFill/>
            <a:ln>
              <a:noFill/>
            </a:ln>
          </p:spPr>
          <p:txBody>
            <a:bodyPr wrap="square" lIns="0" tIns="0" rIns="0" bIns="0" anchor="b" anchorCtr="0"/>
            <a:lstStyle/>
            <a:p>
              <a:pPr algn="l"/>
              <a:r>
                <a:rPr lang="en-US" sz="820">
                  <a:solidFill>
                    <a:srgbClr val="7F7F7F"/>
                  </a:solidFill>
                  <a:latin typeface="Arial"/>
                  <a:ea typeface="Microsoft YaHei"/>
                  <a:cs typeface="Arial"/>
                </a:rPr>
                <a:t>+1pt</a:t>
              </a:r>
            </a:p>
          </p:txBody>
        </p:sp>
      </p:grpSp>
      <p:grpSp>
        <p:nvGrpSpPr>
          <p:cNvPr id="27" name="exhibit-b-head"/>
          <p:cNvGrpSpPr/>
          <p:nvPr/>
        </p:nvGrpSpPr>
        <p:grpSpPr>
          <a:xfrm>
            <a:off x="4529138" y="1552575"/>
            <a:ext cx="1404305" cy="349091"/>
            <a:chOff x="4529138" y="1552575"/>
            <a:chExt cx="1404305" cy="349091"/>
          </a:xfrm>
        </p:grpSpPr>
        <p:sp>
          <p:nvSpPr>
            <p:cNvPr id="23" name="Ellipse 23"/>
            <p:cNvSpPr/>
            <p:nvPr/>
          </p:nvSpPr>
          <p:spPr>
            <a:xfrm>
              <a:off x="4533900" y="1552575"/>
              <a:ext cx="152400" cy="152400"/>
            </a:xfrm>
            <a:prstGeom prst="ellipse">
              <a:avLst/>
            </a:prstGeom>
            <a:solidFill>
              <a:schemeClr val="accent1"/>
            </a:solidFill>
            <a:ln>
              <a:noFill/>
            </a:ln>
          </p:spPr>
        </p:sp>
        <p:sp>
          <p:nvSpPr>
            <p:cNvPr id="24" name="TextBox 24"/>
            <p:cNvSpPr txBox="1"/>
            <p:nvPr/>
          </p:nvSpPr>
          <p:spPr>
            <a:xfrm>
              <a:off x="45668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25" name="TextBox 25"/>
            <p:cNvSpPr txBox="1"/>
            <p:nvPr/>
          </p:nvSpPr>
          <p:spPr>
            <a:xfrm>
              <a:off x="4738497" y="1571149"/>
              <a:ext cx="1194946"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销量:2023 vs 2025</a:t>
              </a:r>
            </a:p>
          </p:txBody>
        </p:sp>
        <p:sp>
          <p:nvSpPr>
            <p:cNvPr id="26" name="TextBox 26"/>
            <p:cNvSpPr txBox="1"/>
            <p:nvPr/>
          </p:nvSpPr>
          <p:spPr>
            <a:xfrm>
              <a:off x="4529138" y="1739741"/>
              <a:ext cx="230302"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万辆</a:t>
              </a:r>
            </a:p>
          </p:txBody>
        </p:sp>
      </p:grpSp>
      <p:graphicFrame>
        <p:nvGraphicFramePr>
          <p:cNvPr id="28" name="europe-sales"/>
          <p:cNvGraphicFramePr>
            <a:graphicFrameLocks noGrp="1"/>
          </p:cNvGraphicFramePr>
          <p:nvPr/>
        </p:nvGraphicFramePr>
        <p:xfrm>
          <a:off x="4533900" y="1943100"/>
          <a:ext cx="3924300" cy="2533650"/>
        </p:xfrm>
        <a:graphic>
          <a:graphicData uri="http://schemas.openxmlformats.org/drawingml/2006/chart">
            <c:chart r:id="rId3"/>
          </a:graphicData>
        </a:graphic>
      </p:graphicFrame>
      <p:grpSp>
        <p:nvGrpSpPr>
          <p:cNvPr id="33" name="exhibit-c-head"/>
          <p:cNvGrpSpPr/>
          <p:nvPr/>
        </p:nvGrpSpPr>
        <p:grpSpPr>
          <a:xfrm>
            <a:off x="452438" y="4581525"/>
            <a:ext cx="2498783" cy="349091"/>
            <a:chOff x="452438" y="4581525"/>
            <a:chExt cx="2498783" cy="349091"/>
          </a:xfrm>
        </p:grpSpPr>
        <p:sp>
          <p:nvSpPr>
            <p:cNvPr id="29" name="Ellipse 29"/>
            <p:cNvSpPr/>
            <p:nvPr/>
          </p:nvSpPr>
          <p:spPr>
            <a:xfrm>
              <a:off x="457200" y="4581525"/>
              <a:ext cx="152400" cy="152400"/>
            </a:xfrm>
            <a:prstGeom prst="ellipse">
              <a:avLst/>
            </a:prstGeom>
            <a:solidFill>
              <a:schemeClr val="accent1"/>
            </a:solidFill>
            <a:ln>
              <a:noFill/>
            </a:ln>
          </p:spPr>
        </p:sp>
        <p:sp>
          <p:nvSpPr>
            <p:cNvPr id="30" name="TextBox 30"/>
            <p:cNvSpPr txBox="1"/>
            <p:nvPr/>
          </p:nvSpPr>
          <p:spPr>
            <a:xfrm>
              <a:off x="490115" y="461010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C</a:t>
              </a:r>
            </a:p>
          </p:txBody>
        </p:sp>
        <p:sp>
          <p:nvSpPr>
            <p:cNvPr id="31" name="TextBox 31"/>
            <p:cNvSpPr txBox="1"/>
            <p:nvPr/>
          </p:nvSpPr>
          <p:spPr>
            <a:xfrm>
              <a:off x="661797" y="4600099"/>
              <a:ext cx="1321266"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欧洲四国 2025 年概览</a:t>
              </a:r>
            </a:p>
          </p:txBody>
        </p:sp>
        <p:sp>
          <p:nvSpPr>
            <p:cNvPr id="32" name="TextBox 32"/>
            <p:cNvSpPr txBox="1"/>
            <p:nvPr/>
          </p:nvSpPr>
          <p:spPr>
            <a:xfrm>
              <a:off x="452438" y="4768691"/>
              <a:ext cx="2498783"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销量:万辆;渗透率:%;变化均为 2025 年较 2023 年</a:t>
              </a:r>
            </a:p>
          </p:txBody>
        </p:sp>
      </p:grpSp>
      <p:graphicFrame>
        <p:nvGraphicFramePr>
          <p:cNvPr id="34" name="europe-overview"/>
          <p:cNvGraphicFramePr>
            <a:graphicFrameLocks noGrp="1"/>
          </p:cNvGraphicFramePr>
          <p:nvPr/>
        </p:nvGraphicFramePr>
        <p:xfrm>
          <a:off x="457200" y="4953000"/>
          <a:ext cx="8001000" cy="990600"/>
        </p:xfrm>
        <a:graphic>
          <a:graphicData uri="http://schemas.openxmlformats.org/drawingml/2006/table">
            <a:tbl>
              <a:tblPr firstRow="1" bandRow="0">
                <a:tableStyleId>{5C22544A-7EE6-4342-B048-85BDC9FD1C3A}</a:tableStyleId>
              </a:tblPr>
              <a:tblGrid>
                <a:gridCol w="1143000"/>
                <a:gridCol w="1428750"/>
                <a:gridCol w="1428750"/>
                <a:gridCol w="1333500"/>
                <a:gridCol w="1238250"/>
                <a:gridCol w="1428750"/>
              </a:tblGrid>
              <a:tr h="228600">
                <a:tc>
                  <a:txBody>
                    <a:bodyPr/>
                    <a:lstStyle/>
                    <a:p>
                      <a:pPr/>
                      <a:r>
                        <a:rPr lang="zh-CN" sz="820" b="1">
                          <a:solidFill>
                            <a:schemeClr val="accent1"/>
                          </a:solidFill>
                          <a:latin typeface="Microsoft YaHei"/>
                          <a:ea typeface="Microsoft YaHei"/>
                          <a:cs typeface="Microsoft YaHei"/>
                        </a:rPr>
                        <a:t>国家</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2025 销量</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销量变化</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2025 渗透率</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渗透率变化</a:t>
                      </a:r>
                    </a:p>
                  </a:txBody>
                  <a:tcPr anchor="ctr" marL="76200" marR="76200" marT="9525" marB="9525">
                    <a:lnL>
                      <a:noFill/>
                    </a:lnL>
                    <a:lnR>
                      <a:noFill/>
                    </a:lnR>
                    <a:lnT>
                      <a:noFill/>
                    </a:lnT>
                    <a:lnB w="9525">
                      <a:solidFill>
                        <a:schemeClr val="accent1"/>
                      </a:solidFill>
                      <a:prstDash val="solid"/>
                    </a:lnB>
                    <a:noFill/>
                  </a:tcPr>
                </a:tc>
                <a:tc>
                  <a:txBody>
                    <a:bodyPr/>
                    <a:lstStyle/>
                    <a:p>
                      <a:pPr/>
                      <a:r>
                        <a:rPr lang="zh-CN" sz="820" b="1">
                          <a:solidFill>
                            <a:schemeClr val="accent1"/>
                          </a:solidFill>
                          <a:latin typeface="Microsoft YaHei"/>
                          <a:ea typeface="Microsoft YaHei"/>
                          <a:cs typeface="Microsoft YaHei"/>
                        </a:rPr>
                        <a:t>优先级</a:t>
                      </a:r>
                    </a:p>
                  </a:txBody>
                  <a:tcPr anchor="ctr" marL="76200" marR="76200" marT="9525" marB="9525">
                    <a:lnL>
                      <a:noFill/>
                    </a:lnL>
                    <a:lnR>
                      <a:noFill/>
                    </a:lnR>
                    <a:lnT>
                      <a:noFill/>
                    </a:lnT>
                    <a:lnB w="9525">
                      <a:solidFill>
                        <a:schemeClr val="accent1"/>
                      </a:solidFill>
                      <a:prstDash val="solid"/>
                    </a:lnB>
                    <a:noFill/>
                  </a:tcPr>
                </a:tc>
              </a:tr>
              <a:tr h="190500">
                <a:tc>
                  <a:txBody>
                    <a:bodyPr/>
                    <a:lstStyle/>
                    <a:p>
                      <a:pPr/>
                      <a:r>
                        <a:rPr lang="zh-CN" sz="820" b="1">
                          <a:solidFill>
                            <a:schemeClr val="dk1"/>
                          </a:solidFill>
                          <a:latin typeface="Microsoft YaHei"/>
                          <a:ea typeface="Microsoft YaHei"/>
                          <a:cs typeface="Microsoft YaHei"/>
                        </a:rPr>
                        <a:t>英国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70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+52%</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35%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en-US" sz="820" b="0">
                          <a:solidFill>
                            <a:schemeClr val="dk1"/>
                          </a:solidFill>
                          <a:latin typeface="Arial"/>
                          <a:ea typeface="Arial"/>
                          <a:cs typeface="Arial"/>
                        </a:rPr>
                        <a:t>+12pt</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2"/>
                          </a:solidFill>
                          <a:latin typeface="Microsoft YaHei"/>
                          <a:ea typeface="Microsoft YaHei"/>
                          <a:cs typeface="Microsoft YaHei"/>
                        </a:rPr>
                        <a:t>一级 · 重点</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dk1"/>
                          </a:solidFill>
                          <a:latin typeface="Microsoft YaHei"/>
                          <a:ea typeface="Microsoft YaHei"/>
                          <a:cs typeface="Microsoft YaHei"/>
                        </a:rPr>
                        <a:t>德国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86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30%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en-US" sz="820" b="0">
                          <a:solidFill>
                            <a:schemeClr val="dk1"/>
                          </a:solidFill>
                          <a:latin typeface="Arial"/>
                          <a:ea typeface="Arial"/>
                          <a:cs typeface="Arial"/>
                        </a:rPr>
                        <a:t>+6pt</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2"/>
                          </a:solidFill>
                          <a:latin typeface="Microsoft YaHei"/>
                          <a:ea typeface="Microsoft YaHei"/>
                          <a:cs typeface="Microsoft YaHei"/>
                        </a:rPr>
                        <a:t>一级 · 重点,按季评估</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dk1"/>
                          </a:solidFill>
                          <a:latin typeface="Microsoft YaHei"/>
                          <a:ea typeface="Microsoft YaHei"/>
                          <a:cs typeface="Microsoft YaHei"/>
                        </a:rPr>
                        <a:t>法国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45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en-US" sz="820" b="0">
                          <a:solidFill>
                            <a:schemeClr val="dk1"/>
                          </a:solidFill>
                          <a:latin typeface="Arial"/>
                          <a:ea typeface="Arial"/>
                          <a:cs typeface="Arial"/>
                        </a:rPr>
                        <a:t>+1pt</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5"/>
                          </a:solidFill>
                          <a:latin typeface="Microsoft YaHei"/>
                          <a:ea typeface="Microsoft YaHei"/>
                          <a:cs typeface="Microsoft YaHei"/>
                        </a:rPr>
                        <a:t>三级 · 守势</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dk1"/>
                          </a:solidFill>
                          <a:latin typeface="Microsoft YaHei"/>
                          <a:ea typeface="Microsoft YaHei"/>
                          <a:cs typeface="Microsoft YaHei"/>
                        </a:rPr>
                        <a:t>挪威</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+55%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97%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en-US" sz="820" b="0">
                          <a:solidFill>
                            <a:schemeClr val="dk1"/>
                          </a:solidFill>
                          <a:latin typeface="Arial"/>
                          <a:ea typeface="Arial"/>
                          <a:cs typeface="Arial"/>
                        </a:rPr>
                        <a:t>+7pt</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5"/>
                          </a:solidFill>
                          <a:latin typeface="Microsoft YaHei"/>
                          <a:ea typeface="Microsoft YaHei"/>
                          <a:cs typeface="Microsoft YaHei"/>
                        </a:rPr>
                        <a:t>饱和,不新增投入</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bl>
          </a:graphicData>
        </a:graphic>
      </p:graphicFrame>
      <p:grpSp>
        <p:nvGrpSpPr>
          <p:cNvPr id="53" name="!!insight-column"/>
          <p:cNvGrpSpPr/>
          <p:nvPr/>
        </p:nvGrpSpPr>
        <p:grpSpPr>
          <a:xfrm>
            <a:off x="8720138" y="1587341"/>
            <a:ext cx="3014662" cy="4432459"/>
            <a:chOff x="8720138" y="1587341"/>
            <a:chExt cx="3014662" cy="4432459"/>
          </a:xfrm>
        </p:grpSpPr>
        <p:sp>
          <p:nvSpPr>
            <p:cNvPr id="35" name="TextBox 35"/>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36" name="Line 36"/>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37" name="Ellipse 37"/>
            <p:cNvSpPr/>
            <p:nvPr/>
          </p:nvSpPr>
          <p:spPr>
            <a:xfrm>
              <a:off x="8724900" y="1876425"/>
              <a:ext cx="152400" cy="152400"/>
            </a:xfrm>
            <a:prstGeom prst="ellipse">
              <a:avLst/>
            </a:prstGeom>
            <a:solidFill>
              <a:schemeClr val="accent1"/>
            </a:solidFill>
            <a:ln>
              <a:noFill/>
            </a:ln>
          </p:spPr>
        </p:sp>
        <p:sp>
          <p:nvSpPr>
            <p:cNvPr id="38" name="TextBox 38"/>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39" name="TextBox 39"/>
            <p:cNvSpPr txBox="1"/>
            <p:nvPr/>
          </p:nvSpPr>
          <p:spPr>
            <a:xfrm>
              <a:off x="8948166" y="1886902"/>
              <a:ext cx="1944243"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英国:渗透率 23%→35%(+12pt),</a:t>
              </a:r>
              <a:br/>
              <a:r>
                <a:rPr lang="zh-CN" sz="1050" dirty="0">
                  <a:solidFill>
                    <a:schemeClr val="dk1"/>
                  </a:solidFill>
                  <a:latin typeface="+mn-lt"/>
                  <a:ea typeface="+mn-ea"/>
                  <a:cs typeface="+mn-cs"/>
                </a:rPr>
                <a:t>销量 46 万→70 万辆(+52%),</a:t>
              </a:r>
              <a:br/>
              <a:r>
                <a:rPr lang="zh-CN" sz="1050" dirty="0">
                  <a:solidFill>
                    <a:schemeClr val="dk1"/>
                  </a:solidFill>
                  <a:latin typeface="+mn-lt"/>
                  <a:ea typeface="+mn-ea"/>
                  <a:cs typeface="+mn-cs"/>
                </a:rPr>
                <a:t>是欧洲增量最确定的国家。</a:t>
              </a:r>
            </a:p>
          </p:txBody>
        </p:sp>
        <p:sp>
          <p:nvSpPr>
            <p:cNvPr id="40" name="Ellipse 40"/>
            <p:cNvSpPr/>
            <p:nvPr/>
          </p:nvSpPr>
          <p:spPr>
            <a:xfrm>
              <a:off x="8724900" y="2600325"/>
              <a:ext cx="152400" cy="152400"/>
            </a:xfrm>
            <a:prstGeom prst="ellipse">
              <a:avLst/>
            </a:prstGeom>
            <a:solidFill>
              <a:schemeClr val="accent1"/>
            </a:solidFill>
            <a:ln>
              <a:noFill/>
            </a:ln>
          </p:spPr>
        </p:sp>
        <p:sp>
          <p:nvSpPr>
            <p:cNvPr id="41" name="TextBox 41"/>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42" name="TextBox 42"/>
            <p:cNvSpPr txBox="1"/>
            <p:nvPr/>
          </p:nvSpPr>
          <p:spPr>
            <a:xfrm>
              <a:off x="8948166" y="2610802"/>
              <a:ext cx="246430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德国:2024 年从 24% 回落到 20%,</a:t>
              </a:r>
              <a:br/>
              <a:r>
                <a:rPr lang="zh-CN" sz="1050" dirty="0">
                  <a:solidFill>
                    <a:schemeClr val="dk1"/>
                  </a:solidFill>
                  <a:latin typeface="+mn-lt"/>
                  <a:ea typeface="+mn-ea"/>
                  <a:cs typeface="+mn-cs"/>
                </a:rPr>
                <a:t>2025 年反弹到 30%,销量 70 万→86 万辆;</a:t>
              </a:r>
              <a:br/>
              <a:r>
                <a:rPr lang="zh-CN" sz="1050" dirty="0">
                  <a:solidFill>
                    <a:schemeClr val="dk1"/>
                  </a:solidFill>
                  <a:latin typeface="+mn-lt"/>
                  <a:ea typeface="+mn-ea"/>
                  <a:cs typeface="+mn-cs"/>
                </a:rPr>
                <a:t>政策反复是主要波动来源(第 12 页)。</a:t>
              </a:r>
            </a:p>
          </p:txBody>
        </p:sp>
        <p:sp>
          <p:nvSpPr>
            <p:cNvPr id="43" name="Ellipse 43"/>
            <p:cNvSpPr/>
            <p:nvPr/>
          </p:nvSpPr>
          <p:spPr>
            <a:xfrm>
              <a:off x="8724900" y="3324225"/>
              <a:ext cx="152400" cy="152400"/>
            </a:xfrm>
            <a:prstGeom prst="ellipse">
              <a:avLst/>
            </a:prstGeom>
            <a:solidFill>
              <a:schemeClr val="accent1"/>
            </a:solidFill>
            <a:ln>
              <a:noFill/>
            </a:ln>
          </p:spPr>
        </p:sp>
        <p:sp>
          <p:nvSpPr>
            <p:cNvPr id="44" name="TextBox 44"/>
            <p:cNvSpPr txBox="1"/>
            <p:nvPr/>
          </p:nvSpPr>
          <p:spPr>
            <a:xfrm>
              <a:off x="87682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45" name="TextBox 45"/>
            <p:cNvSpPr txBox="1"/>
            <p:nvPr/>
          </p:nvSpPr>
          <p:spPr>
            <a:xfrm>
              <a:off x="8948166" y="3334702"/>
              <a:ext cx="1944243"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法国:26% 两年持平,销量 47 万→</a:t>
              </a:r>
              <a:br/>
              <a:r>
                <a:rPr lang="zh-CN" sz="1050" dirty="0">
                  <a:solidFill>
                    <a:schemeClr val="dk1"/>
                  </a:solidFill>
                  <a:latin typeface="+mn-lt"/>
                  <a:ea typeface="+mn-ea"/>
                  <a:cs typeface="+mn-cs"/>
                </a:rPr>
                <a:t>45 万辆(−4%),欧洲第三大市场</a:t>
              </a:r>
              <a:br/>
              <a:r>
                <a:rPr lang="zh-CN" sz="1050" dirty="0">
                  <a:solidFill>
                    <a:schemeClr val="dk1"/>
                  </a:solidFill>
                  <a:latin typeface="+mn-lt"/>
                  <a:ea typeface="+mn-ea"/>
                  <a:cs typeface="+mn-cs"/>
                </a:rPr>
                <a:t>没有贡献增量。</a:t>
              </a:r>
            </a:p>
          </p:txBody>
        </p:sp>
        <p:sp>
          <p:nvSpPr>
            <p:cNvPr id="46" name="Ellipse 46"/>
            <p:cNvSpPr/>
            <p:nvPr/>
          </p:nvSpPr>
          <p:spPr>
            <a:xfrm>
              <a:off x="8724900" y="4048125"/>
              <a:ext cx="152400" cy="152400"/>
            </a:xfrm>
            <a:prstGeom prst="ellipse">
              <a:avLst/>
            </a:prstGeom>
            <a:solidFill>
              <a:schemeClr val="accent1"/>
            </a:solidFill>
            <a:ln>
              <a:noFill/>
            </a:ln>
          </p:spPr>
        </p:sp>
        <p:sp>
          <p:nvSpPr>
            <p:cNvPr id="47" name="TextBox 47"/>
            <p:cNvSpPr txBox="1"/>
            <p:nvPr/>
          </p:nvSpPr>
          <p:spPr>
            <a:xfrm>
              <a:off x="8768259" y="40767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48" name="TextBox 48"/>
            <p:cNvSpPr txBox="1"/>
            <p:nvPr/>
          </p:nvSpPr>
          <p:spPr>
            <a:xfrm>
              <a:off x="8948166" y="4058602"/>
              <a:ext cx="201091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挪威 97% 已接近饱和,增量有限。</a:t>
              </a:r>
              <a:br/>
              <a:r>
                <a:rPr lang="zh-CN" sz="1050" dirty="0">
                  <a:solidFill>
                    <a:schemeClr val="dk1"/>
                  </a:solidFill>
                  <a:latin typeface="+mn-lt"/>
                  <a:ea typeface="+mn-ea"/>
                  <a:cs typeface="+mn-cs"/>
                </a:rPr>
                <a:t>结论:英德优先,法国观望,</a:t>
              </a:r>
              <a:br/>
              <a:r>
                <a:rPr lang="zh-CN" sz="1050" dirty="0">
                  <a:solidFill>
                    <a:schemeClr val="dk1"/>
                  </a:solidFill>
                  <a:latin typeface="+mn-lt"/>
                  <a:ea typeface="+mn-ea"/>
                  <a:cs typeface="+mn-cs"/>
                </a:rPr>
                <a:t>不按"欧洲"整体做预算。</a:t>
              </a:r>
            </a:p>
          </p:txBody>
        </p:sp>
        <p:sp>
          <p:nvSpPr>
            <p:cNvPr id="49" name="Rectangle 49"/>
            <p:cNvSpPr/>
            <p:nvPr/>
          </p:nvSpPr>
          <p:spPr>
            <a:xfrm>
              <a:off x="8724900" y="4914900"/>
              <a:ext cx="3009900" cy="1104900"/>
            </a:xfrm>
            <a:prstGeom prst="rect">
              <a:avLst/>
            </a:prstGeom>
            <a:solidFill>
              <a:srgbClr val="F7F7F7"/>
            </a:solidFill>
            <a:ln>
              <a:noFill/>
            </a:ln>
          </p:spPr>
        </p:sp>
        <p:sp>
          <p:nvSpPr>
            <p:cNvPr id="50" name="Rectangle 50"/>
            <p:cNvSpPr/>
            <p:nvPr/>
          </p:nvSpPr>
          <p:spPr>
            <a:xfrm>
              <a:off x="8724900" y="4914900"/>
              <a:ext cx="38100" cy="1104900"/>
            </a:xfrm>
            <a:prstGeom prst="rect">
              <a:avLst/>
            </a:prstGeom>
            <a:solidFill>
              <a:schemeClr val="accent2"/>
            </a:solidFill>
            <a:ln>
              <a:noFill/>
            </a:ln>
          </p:spPr>
        </p:sp>
        <p:sp>
          <p:nvSpPr>
            <p:cNvPr id="51" name="TextBox 51"/>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52" name="TextBox 52"/>
            <p:cNvSpPr txBox="1"/>
            <p:nvPr/>
          </p:nvSpPr>
          <p:spPr>
            <a:xfrm>
              <a:off x="8871966" y="5220652"/>
              <a:ext cx="221761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英德列一级、法国列三级;欧洲预算按</a:t>
              </a:r>
              <a:br/>
              <a:r>
                <a:rPr lang="zh-CN" sz="1050" dirty="0">
                  <a:solidFill>
                    <a:schemeClr val="dk1"/>
                  </a:solidFill>
                  <a:latin typeface="+mn-lt"/>
                  <a:ea typeface="+mn-ea"/>
                  <a:cs typeface="+mn-cs"/>
                </a:rPr>
                <a:t>国家而非大区分配,德国按季评估</a:t>
              </a:r>
              <a:br/>
              <a:r>
                <a:rPr lang="zh-CN" sz="1050" dirty="0">
                  <a:solidFill>
                    <a:schemeClr val="dk1"/>
                  </a:solidFill>
                  <a:latin typeface="+mn-lt"/>
                  <a:ea typeface="+mn-ea"/>
                  <a:cs typeface="+mn-cs"/>
                </a:rPr>
                <a:t>(第 10、12 页)。</a:t>
              </a:r>
            </a:p>
          </p:txBody>
        </p:sp>
      </p:grpSp>
      <p:grpSp>
        <p:nvGrpSpPr>
          <p:cNvPr id="58" name="footer"/>
          <p:cNvGrpSpPr/>
          <p:nvPr/>
        </p:nvGrpSpPr>
        <p:grpSpPr>
          <a:xfrm>
            <a:off x="452438" y="6205538"/>
            <a:ext cx="11287125" cy="433388"/>
            <a:chOff x="452438" y="6205538"/>
            <a:chExt cx="11287125" cy="433388"/>
          </a:xfrm>
        </p:grpSpPr>
        <p:sp>
          <p:nvSpPr>
            <p:cNvPr id="54" name="TextBox 54"/>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55" name="TextBox 55"/>
            <p:cNvSpPr txBox="1"/>
            <p:nvPr/>
          </p:nvSpPr>
          <p:spPr>
            <a:xfrm>
              <a:off x="452438" y="6338888"/>
              <a:ext cx="4056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欧洲 = EU27 + 英国 + 挪威等(IEA 定义);百分点变化 = 2025 年渗透率 − 2023 年渗透率</a:t>
              </a:r>
            </a:p>
          </p:txBody>
        </p:sp>
        <p:sp>
          <p:nvSpPr>
            <p:cNvPr id="56" name="TextBox 56"/>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57" name="TextBox 57"/>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6</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id="13" presetID="22" presetClass="entr" presetSubtype="2" fill="hold" grpId="0"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wipe(right)">
                                      <p:cBhvr>
                                        <p:cTn id="15" dur="600"/>
                                        <p:tgtEl>
                                          <p:spTgt spid="22"/>
                                        </p:tgtEl>
                                      </p:cBhvr>
                                    </p:animEffect>
                                  </p:childTnLst>
                                </p:cTn>
                              </p:par>
                            </p:childTnLst>
                          </p:cTn>
                        </p:par>
                        <p:par>
                          <p:cTn id="16" fill="hold">
                            <p:stCondLst>
                              <p:cond delay="2100"/>
                            </p:stCondLst>
                            <p:childTnLst>
                              <p:par>
                                <p:cTn id="17" presetID="10" presetClass="entr" presetSubtype="0" fill="hold" grpId="0" nodeType="afterEffect">
                                  <p:stCondLst>
                                    <p:cond delay="50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200"/>
                                        <p:tgtEl>
                                          <p:spTgt spid="27"/>
                                        </p:tgtEl>
                                      </p:cBhvr>
                                    </p:animEffect>
                                  </p:childTnLst>
                                </p:cTn>
                              </p:par>
                            </p:childTnLst>
                          </p:cTn>
                        </p:par>
                        <p:par>
                          <p:cTn id="20" fill="hold">
                            <p:stCondLst>
                              <p:cond delay="2800"/>
                            </p:stCondLst>
                            <p:childTnLst>
                              <p:par>
                                <p:cTn id="21" presetID="22" presetClass="entr" presetSubtype="1" fill="hold" grpId="0" nodeType="afterEffect">
                                  <p:stCondLst>
                                    <p:cond delay="500"/>
                                  </p:stCondLst>
                                  <p:childTnLst>
                                    <p:set>
                                      <p:cBhvr>
                                        <p:cTn id="22" dur="1" fill="hold">
                                          <p:stCondLst>
                                            <p:cond delay="0"/>
                                          </p:stCondLst>
                                        </p:cTn>
                                        <p:tgtEl>
                                          <p:spTgt spid="28"/>
                                        </p:tgtEl>
                                        <p:attrNameLst>
                                          <p:attrName>style.visibility</p:attrName>
                                        </p:attrNameLst>
                                      </p:cBhvr>
                                      <p:to>
                                        <p:strVal val="visible"/>
                                      </p:to>
                                    </p:set>
                                    <p:animEffect transition="in" filter="wipe(up)">
                                      <p:cBhvr>
                                        <p:cTn id="23" dur="600"/>
                                        <p:tgtEl>
                                          <p:spTgt spid="28"/>
                                        </p:tgtEl>
                                      </p:cBhvr>
                                    </p:animEffect>
                                  </p:childTnLst>
                                </p:cTn>
                              </p:par>
                            </p:childTnLst>
                          </p:cTn>
                        </p:par>
                        <p:par>
                          <p:cTn id="24" fill="hold">
                            <p:stCondLst>
                              <p:cond delay="3900"/>
                            </p:stCondLst>
                            <p:childTnLst>
                              <p:par>
                                <p:cTn id="25" presetID="10" presetClass="entr" presetSubtype="0" fill="hold" grpId="0" nodeType="afterEffect">
                                  <p:stCondLst>
                                    <p:cond delay="50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200"/>
                                        <p:tgtEl>
                                          <p:spTgt spid="33"/>
                                        </p:tgtEl>
                                      </p:cBhvr>
                                    </p:animEffect>
                                  </p:childTnLst>
                                </p:cTn>
                              </p:par>
                            </p:childTnLst>
                          </p:cTn>
                        </p:par>
                        <p:par>
                          <p:cTn id="28" fill="hold">
                            <p:stCondLst>
                              <p:cond delay="4600"/>
                            </p:stCondLst>
                            <p:childTnLst>
                              <p:par>
                                <p:cTn id="29" presetID="22" presetClass="entr" presetSubtype="4" fill="hold" grpId="0" nodeType="afterEffect">
                                  <p:stCondLst>
                                    <p:cond delay="500"/>
                                  </p:stCondLst>
                                  <p:childTnLst>
                                    <p:set>
                                      <p:cBhvr>
                                        <p:cTn id="30" dur="1" fill="hold">
                                          <p:stCondLst>
                                            <p:cond delay="0"/>
                                          </p:stCondLst>
                                        </p:cTn>
                                        <p:tgtEl>
                                          <p:spTgt spid="34"/>
                                        </p:tgtEl>
                                        <p:attrNameLst>
                                          <p:attrName>style.visibility</p:attrName>
                                        </p:attrNameLst>
                                      </p:cBhvr>
                                      <p:to>
                                        <p:strVal val="visible"/>
                                      </p:to>
                                    </p:set>
                                    <p:animEffect transition="in" filter="wipe(down)">
                                      <p:cBhvr>
                                        <p:cTn id="31" dur="500"/>
                                        <p:tgtEl>
                                          <p:spTgt spid="34"/>
                                        </p:tgtEl>
                                      </p:cBhvr>
                                    </p:animEffect>
                                  </p:childTnLst>
                                </p:cTn>
                              </p:par>
                            </p:childTnLst>
                          </p:cTn>
                        </p:par>
                        <p:par>
                          <p:cTn id="32" fill="hold">
                            <p:stCondLst>
                              <p:cond delay="5600"/>
                            </p:stCondLst>
                            <p:childTnLst>
                              <p:par>
                                <p:cTn id="33" presetID="10" presetClass="entr" presetSubtype="0" fill="hold" grpId="0" nodeType="afterEffect">
                                  <p:stCondLst>
                                    <p:cond delay="500"/>
                                  </p:stCondLst>
                                  <p:childTnLst>
                                    <p:set>
                                      <p:cBhvr>
                                        <p:cTn id="34" dur="1" fill="hold">
                                          <p:stCondLst>
                                            <p:cond delay="0"/>
                                          </p:stCondLst>
                                        </p:cTn>
                                        <p:tgtEl>
                                          <p:spTgt spid="53"/>
                                        </p:tgtEl>
                                        <p:attrNameLst>
                                          <p:attrName>style.visibility</p:attrName>
                                        </p:attrNameLst>
                                      </p:cBhvr>
                                      <p:to>
                                        <p:strVal val="visible"/>
                                      </p:to>
                                    </p:set>
                                    <p:animEffect transition="in" filter="fade">
                                      <p:cBhvr>
                                        <p:cTn id="35"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c="http://schemas.openxmlformats.org/drawingml/2006/chart"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9927681" y="247650"/>
            <a:ext cx="1807119" cy="206216"/>
            <a:chOff x="9927681" y="247650"/>
            <a:chExt cx="1807119" cy="206216"/>
          </a:xfrm>
        </p:grpSpPr>
        <p:sp>
          <p:nvSpPr>
            <p:cNvPr id="2" name="TextBox 2"/>
            <p:cNvSpPr txBox="1"/>
            <p:nvPr/>
          </p:nvSpPr>
          <p:spPr>
            <a:xfrm>
              <a:off x="9927681" y="291941"/>
              <a:ext cx="878431"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诊断 · 新兴市场</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8303324" cy="637794"/>
            <a:chOff x="448056" y="472440"/>
            <a:chExt cx="8303324" cy="637794"/>
          </a:xfrm>
        </p:grpSpPr>
        <p:sp>
          <p:nvSpPr>
            <p:cNvPr id="6" name="TextBox 6"/>
            <p:cNvSpPr txBox="1"/>
            <p:nvPr/>
          </p:nvSpPr>
          <p:spPr>
            <a:xfrm>
              <a:off x="448056" y="472440"/>
              <a:ext cx="8303324"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东南亚渗透率两年从 8.4% 升到 18%、泰国达 23%,巴西、墨西哥、印度同步起量</a:t>
              </a:r>
              <a:br/>
              <a:r>
                <a:rPr lang="zh-CN" sz="1800" b="1" dirty="0">
                  <a:solidFill>
                    <a:schemeClr val="accent1"/>
                  </a:solidFill>
                  <a:latin typeface="+mn-lt"/>
                  <a:ea typeface="+mn-ea"/>
                  <a:cs typeface="+mn-cs"/>
                </a:rPr>
                <a:t>——新兴市场已经进入加速段</a:t>
              </a:r>
            </a:p>
          </p:txBody>
        </p:sp>
      </p:grpSp>
      <p:grpSp>
        <p:nvGrpSpPr>
          <p:cNvPr id="9" name="unit-line"/>
          <p:cNvGrpSpPr/>
          <p:nvPr/>
        </p:nvGrpSpPr>
        <p:grpSpPr>
          <a:xfrm>
            <a:off x="452438" y="1160145"/>
            <a:ext cx="4509402" cy="176212"/>
            <a:chOff x="452438" y="1160145"/>
            <a:chExt cx="4509402" cy="176212"/>
          </a:xfrm>
        </p:grpSpPr>
        <p:sp>
          <p:nvSpPr>
            <p:cNvPr id="8" name="TextBox 8"/>
            <p:cNvSpPr txBox="1"/>
            <p:nvPr/>
          </p:nvSpPr>
          <p:spPr>
            <a:xfrm>
              <a:off x="452438" y="1160145"/>
              <a:ext cx="4509402"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A:电动车渗透率,%,2023 vs 2025;B:2025 年电动车销量,万辆,及 2023→2025 倍数</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1536232" cy="349091"/>
            <a:chOff x="452438" y="1552575"/>
            <a:chExt cx="1536232"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1326873"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渗透率:2023 vs 2025</a:t>
              </a:r>
            </a:p>
          </p:txBody>
        </p:sp>
        <p:sp>
          <p:nvSpPr>
            <p:cNvPr id="14" name="TextBox 14"/>
            <p:cNvSpPr txBox="1"/>
            <p:nvPr/>
          </p:nvSpPr>
          <p:spPr>
            <a:xfrm>
              <a:off x="452438" y="1739741"/>
              <a:ext cx="1118928"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电动车占新车销量的 %</a:t>
              </a:r>
            </a:p>
          </p:txBody>
        </p:sp>
      </p:grpSp>
      <p:graphicFrame>
        <p:nvGraphicFramePr>
          <p:cNvPr id="16" name="emerging-share"/>
          <p:cNvGraphicFramePr>
            <a:graphicFrameLocks noGrp="1"/>
          </p:cNvGraphicFramePr>
          <p:nvPr/>
        </p:nvGraphicFramePr>
        <p:xfrm>
          <a:off x="457200" y="1943100"/>
          <a:ext cx="3848100" cy="2533650"/>
        </p:xfrm>
        <a:graphic>
          <a:graphicData uri="http://schemas.openxmlformats.org/drawingml/2006/chart">
            <c:chart r:id="rId2"/>
          </a:graphicData>
        </a:graphic>
      </p:graphicFrame>
      <p:grpSp>
        <p:nvGrpSpPr>
          <p:cNvPr id="21" name="exhibit-b-head"/>
          <p:cNvGrpSpPr/>
          <p:nvPr/>
        </p:nvGrpSpPr>
        <p:grpSpPr>
          <a:xfrm>
            <a:off x="4529138" y="1552575"/>
            <a:ext cx="1620996" cy="349091"/>
            <a:chOff x="4529138" y="1552575"/>
            <a:chExt cx="1620996" cy="349091"/>
          </a:xfrm>
        </p:grpSpPr>
        <p:sp>
          <p:nvSpPr>
            <p:cNvPr id="17" name="Ellipse 17"/>
            <p:cNvSpPr/>
            <p:nvPr/>
          </p:nvSpPr>
          <p:spPr>
            <a:xfrm>
              <a:off x="4533900" y="1552575"/>
              <a:ext cx="152400" cy="152400"/>
            </a:xfrm>
            <a:prstGeom prst="ellipse">
              <a:avLst/>
            </a:prstGeom>
            <a:solidFill>
              <a:schemeClr val="accent1"/>
            </a:solidFill>
            <a:ln>
              <a:noFill/>
            </a:ln>
          </p:spPr>
        </p:sp>
        <p:sp>
          <p:nvSpPr>
            <p:cNvPr id="18" name="TextBox 18"/>
            <p:cNvSpPr txBox="1"/>
            <p:nvPr/>
          </p:nvSpPr>
          <p:spPr>
            <a:xfrm>
              <a:off x="45668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19" name="TextBox 19"/>
            <p:cNvSpPr txBox="1"/>
            <p:nvPr/>
          </p:nvSpPr>
          <p:spPr>
            <a:xfrm>
              <a:off x="4738497" y="1571149"/>
              <a:ext cx="1411637"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2025 年销量与两年倍数</a:t>
              </a:r>
            </a:p>
          </p:txBody>
        </p:sp>
        <p:sp>
          <p:nvSpPr>
            <p:cNvPr id="20" name="TextBox 20"/>
            <p:cNvSpPr txBox="1"/>
            <p:nvPr/>
          </p:nvSpPr>
          <p:spPr>
            <a:xfrm>
              <a:off x="4529138" y="1739741"/>
              <a:ext cx="151632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万辆;右侧为 2023→2025 倍数²</a:t>
              </a:r>
            </a:p>
          </p:txBody>
        </p:sp>
      </p:grpSp>
      <p:grpSp>
        <p:nvGrpSpPr>
          <p:cNvPr id="28" name="emerging-sales"/>
          <p:cNvGrpSpPr/>
          <p:nvPr/>
        </p:nvGrpSpPr>
        <p:grpSpPr>
          <a:xfrm>
            <a:off x="4533900" y="1943100"/>
            <a:ext cx="4114800" cy="2533650"/>
            <a:chOff x="4533900" y="1943100"/>
            <a:chExt cx="4114800" cy="2533650"/>
          </a:xfrm>
        </p:grpSpPr>
        <p:graphicFrame>
          <p:nvGraphicFramePr>
            <p:cNvPr id="22" name="emerging-sales"/>
            <p:cNvGraphicFramePr>
              <a:graphicFrameLocks noGrp="1"/>
            </p:cNvGraphicFramePr>
            <p:nvPr/>
          </p:nvGraphicFramePr>
          <p:xfrm>
            <a:off x="4533900" y="1943100"/>
            <a:ext cx="3924300" cy="2533650"/>
          </p:xfrm>
          <a:graphic>
            <a:graphicData uri="http://schemas.openxmlformats.org/drawingml/2006/chart">
              <c:chart r:id="rId3"/>
            </a:graphicData>
          </a:graphic>
        </p:graphicFrame>
        <p:sp>
          <p:nvSpPr>
            <p:cNvPr id="23" name="Chart Note 23"/>
            <p:cNvSpPr txBox="1"/>
            <p:nvPr/>
          </p:nvSpPr>
          <p:spPr>
            <a:xfrm>
              <a:off x="7886700" y="2236851"/>
              <a:ext cx="762000" cy="166624"/>
            </a:xfrm>
            <a:prstGeom prst="rect">
              <a:avLst/>
            </a:prstGeom>
            <a:noFill/>
            <a:ln>
              <a:noFill/>
            </a:ln>
          </p:spPr>
          <p:txBody>
            <a:bodyPr wrap="square" lIns="0" tIns="0" rIns="0" bIns="0" anchor="b" anchorCtr="0"/>
            <a:lstStyle/>
            <a:p>
              <a:pPr algn="l"/>
              <a:r>
                <a:rPr lang="zh-CN" sz="820">
                  <a:solidFill>
                    <a:srgbClr val="2251FF"/>
                  </a:solidFill>
                  <a:latin typeface="Arial"/>
                  <a:ea typeface="Microsoft YaHei"/>
                  <a:cs typeface="Arial"/>
                </a:rPr>
                <a:t>3.4×</a:t>
              </a:r>
            </a:p>
          </p:txBody>
        </p:sp>
        <p:sp>
          <p:nvSpPr>
            <p:cNvPr id="24" name="Chart Note 24"/>
            <p:cNvSpPr txBox="1"/>
            <p:nvPr/>
          </p:nvSpPr>
          <p:spPr>
            <a:xfrm>
              <a:off x="6400800" y="2686431"/>
              <a:ext cx="762000" cy="166624"/>
            </a:xfrm>
            <a:prstGeom prst="rect">
              <a:avLst/>
            </a:prstGeom>
            <a:noFill/>
            <a:ln>
              <a:noFill/>
            </a:ln>
          </p:spPr>
          <p:txBody>
            <a:bodyPr wrap="square" lIns="0" tIns="0" rIns="0" bIns="0" anchor="b" anchorCtr="0"/>
            <a:lstStyle/>
            <a:p>
              <a:pPr algn="l"/>
              <a:r>
                <a:rPr lang="zh-CN" sz="820">
                  <a:solidFill>
                    <a:srgbClr val="2251FF"/>
                  </a:solidFill>
                  <a:latin typeface="Arial"/>
                  <a:ea typeface="Microsoft YaHei"/>
                  <a:cs typeface="Arial"/>
                </a:rPr>
                <a:t>3.5×</a:t>
              </a:r>
            </a:p>
          </p:txBody>
        </p:sp>
        <p:sp>
          <p:nvSpPr>
            <p:cNvPr id="25" name="Chart Note 25"/>
            <p:cNvSpPr txBox="1"/>
            <p:nvPr/>
          </p:nvSpPr>
          <p:spPr>
            <a:xfrm>
              <a:off x="6359557" y="3136011"/>
              <a:ext cx="762000" cy="166624"/>
            </a:xfrm>
            <a:prstGeom prst="rect">
              <a:avLst/>
            </a:prstGeom>
            <a:noFill/>
            <a:ln>
              <a:noFill/>
            </a:ln>
          </p:spPr>
          <p:txBody>
            <a:bodyPr wrap="square" lIns="0" tIns="0" rIns="0" bIns="0" anchor="b" anchorCtr="0"/>
            <a:lstStyle/>
            <a:p>
              <a:pPr algn="l"/>
              <a:r>
                <a:rPr lang="zh-CN" sz="820">
                  <a:solidFill>
                    <a:srgbClr val="051C2C"/>
                  </a:solidFill>
                  <a:latin typeface="Arial"/>
                  <a:ea typeface="Microsoft YaHei"/>
                  <a:cs typeface="Arial"/>
                </a:rPr>
                <a:t>2.1×</a:t>
              </a:r>
            </a:p>
          </p:txBody>
        </p:sp>
        <p:sp>
          <p:nvSpPr>
            <p:cNvPr id="26" name="Chart Note 26"/>
            <p:cNvSpPr txBox="1"/>
            <p:nvPr/>
          </p:nvSpPr>
          <p:spPr>
            <a:xfrm>
              <a:off x="6235732" y="3585591"/>
              <a:ext cx="762000" cy="166624"/>
            </a:xfrm>
            <a:prstGeom prst="rect">
              <a:avLst/>
            </a:prstGeom>
            <a:noFill/>
            <a:ln>
              <a:noFill/>
            </a:ln>
          </p:spPr>
          <p:txBody>
            <a:bodyPr wrap="square" lIns="0" tIns="0" rIns="0" bIns="0" anchor="b" anchorCtr="0"/>
            <a:lstStyle/>
            <a:p>
              <a:pPr algn="l"/>
              <a:r>
                <a:rPr lang="zh-CN" sz="820">
                  <a:solidFill>
                    <a:srgbClr val="051C2C"/>
                  </a:solidFill>
                  <a:latin typeface="Arial"/>
                  <a:ea typeface="Microsoft YaHei"/>
                  <a:cs typeface="Arial"/>
                </a:rPr>
                <a:t>1.6×</a:t>
              </a:r>
            </a:p>
          </p:txBody>
        </p:sp>
        <p:sp>
          <p:nvSpPr>
            <p:cNvPr id="27" name="Chart Note 27"/>
            <p:cNvSpPr txBox="1"/>
            <p:nvPr/>
          </p:nvSpPr>
          <p:spPr>
            <a:xfrm>
              <a:off x="6029325" y="4035171"/>
              <a:ext cx="762000" cy="166624"/>
            </a:xfrm>
            <a:prstGeom prst="rect">
              <a:avLst/>
            </a:prstGeom>
            <a:noFill/>
            <a:ln>
              <a:noFill/>
            </a:ln>
          </p:spPr>
          <p:txBody>
            <a:bodyPr wrap="square" lIns="0" tIns="0" rIns="0" bIns="0" anchor="b" anchorCtr="0"/>
            <a:lstStyle/>
            <a:p>
              <a:pPr algn="l"/>
              <a:r>
                <a:rPr lang="zh-CN" sz="820">
                  <a:solidFill>
                    <a:srgbClr val="2251FF"/>
                  </a:solidFill>
                  <a:latin typeface="Arial"/>
                  <a:ea typeface="Microsoft YaHei"/>
                  <a:cs typeface="Arial"/>
                </a:rPr>
                <a:t>5.3×</a:t>
              </a:r>
            </a:p>
          </p:txBody>
        </p:sp>
      </p:grpSp>
      <p:grpSp>
        <p:nvGrpSpPr>
          <p:cNvPr id="33" name="exhibit-c-head"/>
          <p:cNvGrpSpPr/>
          <p:nvPr/>
        </p:nvGrpSpPr>
        <p:grpSpPr>
          <a:xfrm>
            <a:off x="452438" y="4581525"/>
            <a:ext cx="3056245" cy="349091"/>
            <a:chOff x="452438" y="4581525"/>
            <a:chExt cx="3056245" cy="349091"/>
          </a:xfrm>
        </p:grpSpPr>
        <p:sp>
          <p:nvSpPr>
            <p:cNvPr id="29" name="Ellipse 29"/>
            <p:cNvSpPr/>
            <p:nvPr/>
          </p:nvSpPr>
          <p:spPr>
            <a:xfrm>
              <a:off x="457200" y="4581525"/>
              <a:ext cx="152400" cy="152400"/>
            </a:xfrm>
            <a:prstGeom prst="ellipse">
              <a:avLst/>
            </a:prstGeom>
            <a:solidFill>
              <a:schemeClr val="accent1"/>
            </a:solidFill>
            <a:ln>
              <a:noFill/>
            </a:ln>
          </p:spPr>
        </p:sp>
        <p:sp>
          <p:nvSpPr>
            <p:cNvPr id="30" name="TextBox 30"/>
            <p:cNvSpPr txBox="1"/>
            <p:nvPr/>
          </p:nvSpPr>
          <p:spPr>
            <a:xfrm>
              <a:off x="490115" y="461010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C</a:t>
              </a:r>
            </a:p>
          </p:txBody>
        </p:sp>
        <p:sp>
          <p:nvSpPr>
            <p:cNvPr id="31" name="TextBox 31"/>
            <p:cNvSpPr txBox="1"/>
            <p:nvPr/>
          </p:nvSpPr>
          <p:spPr>
            <a:xfrm>
              <a:off x="661797" y="4600099"/>
              <a:ext cx="1453194"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新兴五市场 2025 年概览</a:t>
              </a:r>
            </a:p>
          </p:txBody>
        </p:sp>
        <p:sp>
          <p:nvSpPr>
            <p:cNvPr id="32" name="TextBox 32"/>
            <p:cNvSpPr txBox="1"/>
            <p:nvPr/>
          </p:nvSpPr>
          <p:spPr>
            <a:xfrm>
              <a:off x="452438" y="4768691"/>
              <a:ext cx="3056245"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销量:万辆;渗透率:%;2035 情景为 IEA STEPS,「—」为未单列</a:t>
              </a:r>
            </a:p>
          </p:txBody>
        </p:sp>
      </p:grpSp>
      <p:graphicFrame>
        <p:nvGraphicFramePr>
          <p:cNvPr id="34" name="emerging-overview"/>
          <p:cNvGraphicFramePr>
            <a:graphicFrameLocks noGrp="1"/>
          </p:cNvGraphicFramePr>
          <p:nvPr/>
        </p:nvGraphicFramePr>
        <p:xfrm>
          <a:off x="457200" y="4953000"/>
          <a:ext cx="8001000" cy="1181100"/>
        </p:xfrm>
        <a:graphic>
          <a:graphicData uri="http://schemas.openxmlformats.org/drawingml/2006/table">
            <a:tbl>
              <a:tblPr firstRow="1" bandRow="0">
                <a:tableStyleId>{5C22544A-7EE6-4342-B048-85BDC9FD1C3A}</a:tableStyleId>
              </a:tblPr>
              <a:tblGrid>
                <a:gridCol w="1143000"/>
                <a:gridCol w="1428750"/>
                <a:gridCol w="1428750"/>
                <a:gridCol w="1428750"/>
                <a:gridCol w="1238250"/>
                <a:gridCol w="1333500"/>
              </a:tblGrid>
              <a:tr h="228600">
                <a:tc>
                  <a:txBody>
                    <a:bodyPr/>
                    <a:lstStyle/>
                    <a:p>
                      <a:pPr/>
                      <a:r>
                        <a:rPr lang="zh-CN" sz="820" b="1">
                          <a:solidFill>
                            <a:schemeClr val="accent1"/>
                          </a:solidFill>
                          <a:latin typeface="Microsoft YaHei"/>
                          <a:ea typeface="Microsoft YaHei"/>
                          <a:cs typeface="Microsoft YaHei"/>
                        </a:rPr>
                        <a:t>市场</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2025 销量</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2023→25 倍数</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2025 渗透率</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2035 情景</a:t>
                      </a:r>
                    </a:p>
                  </a:txBody>
                  <a:tcPr anchor="ctr" marL="76200" marR="76200" marT="9525" marB="9525">
                    <a:lnL>
                      <a:noFill/>
                    </a:lnL>
                    <a:lnR>
                      <a:noFill/>
                    </a:lnR>
                    <a:lnT>
                      <a:noFill/>
                    </a:lnT>
                    <a:lnB w="9525">
                      <a:solidFill>
                        <a:schemeClr val="accent1"/>
                      </a:solidFill>
                      <a:prstDash val="solid"/>
                    </a:lnB>
                    <a:noFill/>
                  </a:tcPr>
                </a:tc>
                <a:tc>
                  <a:txBody>
                    <a:bodyPr/>
                    <a:lstStyle/>
                    <a:p>
                      <a:pPr/>
                      <a:r>
                        <a:rPr lang="zh-CN" sz="820" b="1">
                          <a:solidFill>
                            <a:schemeClr val="accent1"/>
                          </a:solidFill>
                          <a:latin typeface="Microsoft YaHei"/>
                          <a:ea typeface="Microsoft YaHei"/>
                          <a:cs typeface="Microsoft YaHei"/>
                        </a:rPr>
                        <a:t>进入方式</a:t>
                      </a:r>
                    </a:p>
                  </a:txBody>
                  <a:tcPr anchor="ctr" marL="76200" marR="76200" marT="9525" marB="9525">
                    <a:lnL>
                      <a:noFill/>
                    </a:lnL>
                    <a:lnR>
                      <a:noFill/>
                    </a:lnR>
                    <a:lnT>
                      <a:noFill/>
                    </a:lnT>
                    <a:lnB w="9525">
                      <a:solidFill>
                        <a:schemeClr val="accent1"/>
                      </a:solidFill>
                      <a:prstDash val="solid"/>
                    </a:lnB>
                    <a:noFill/>
                  </a:tcPr>
                </a:tc>
              </a:tr>
              <a:tr h="190500">
                <a:tc>
                  <a:txBody>
                    <a:bodyPr/>
                    <a:lstStyle/>
                    <a:p>
                      <a:pPr/>
                      <a:r>
                        <a:rPr lang="zh-CN" sz="820" b="1">
                          <a:solidFill>
                            <a:schemeClr val="dk1"/>
                          </a:solidFill>
                          <a:latin typeface="Microsoft YaHei"/>
                          <a:ea typeface="Microsoft YaHei"/>
                          <a:cs typeface="Microsoft YaHei"/>
                        </a:rPr>
                        <a:t>东南亚</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54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3.4×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270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2"/>
                          </a:solidFill>
                          <a:latin typeface="Microsoft YaHei"/>
                          <a:ea typeface="Microsoft YaHei"/>
                          <a:cs typeface="Microsoft YaHei"/>
                        </a:rPr>
                        <a:t>一级 · PHEV 先行</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dk1"/>
                          </a:solidFill>
                          <a:latin typeface="Microsoft YaHei"/>
                          <a:ea typeface="Microsoft YaHei"/>
                          <a:cs typeface="Microsoft YaHei"/>
                        </a:rPr>
                        <a:t>泰国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2"/>
                          </a:solidFill>
                          <a:latin typeface="Microsoft YaHei"/>
                          <a:ea typeface="Microsoft YaHei"/>
                          <a:cs typeface="Microsoft YaHei"/>
                        </a:rPr>
                        <a:t>东南亚首发国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dk1"/>
                          </a:solidFill>
                          <a:latin typeface="Microsoft YaHei"/>
                          <a:ea typeface="Microsoft YaHei"/>
                          <a:cs typeface="Microsoft YaHei"/>
                        </a:rPr>
                        <a:t>巴西</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3.5×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1"/>
                          </a:solidFill>
                          <a:latin typeface="Microsoft YaHei"/>
                          <a:ea typeface="Microsoft YaHei"/>
                          <a:cs typeface="Microsoft YaHei"/>
                        </a:rPr>
                        <a:t>二级 · PHEV 试点</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dk1"/>
                          </a:solidFill>
                          <a:latin typeface="Microsoft YaHei"/>
                          <a:ea typeface="Microsoft YaHei"/>
                          <a:cs typeface="Microsoft YaHei"/>
                        </a:rPr>
                        <a:t>墨西哥</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5.3×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1"/>
                          </a:solidFill>
                          <a:latin typeface="Microsoft YaHei"/>
                          <a:ea typeface="Microsoft YaHei"/>
                          <a:cs typeface="Microsoft YaHei"/>
                        </a:rPr>
                        <a:t>二级 · PHEV 试点</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90500">
                <a:tc>
                  <a:txBody>
                    <a:bodyPr/>
                    <a:lstStyle/>
                    <a:p>
                      <a:pPr/>
                      <a:r>
                        <a:rPr lang="zh-CN" sz="820" b="1">
                          <a:solidFill>
                            <a:schemeClr val="dk1"/>
                          </a:solidFill>
                          <a:latin typeface="Microsoft YaHei"/>
                          <a:ea typeface="Microsoft YaHei"/>
                          <a:cs typeface="Microsoft YaHei"/>
                        </a:rPr>
                        <a:t>印度</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820" b="1">
                          <a:solidFill>
                            <a:schemeClr val="accent1"/>
                          </a:solidFill>
                          <a:latin typeface="Microsoft YaHei"/>
                          <a:ea typeface="Microsoft YaHei"/>
                          <a:cs typeface="Microsoft YaHei"/>
                        </a:rPr>
                        <a:t>二级 · 2027 起试点</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bl>
          </a:graphicData>
        </a:graphic>
      </p:graphicFrame>
      <p:grpSp>
        <p:nvGrpSpPr>
          <p:cNvPr id="53" name="!!insight-column"/>
          <p:cNvGrpSpPr/>
          <p:nvPr/>
        </p:nvGrpSpPr>
        <p:grpSpPr>
          <a:xfrm>
            <a:off x="8720138" y="1587341"/>
            <a:ext cx="3014662" cy="4432459"/>
            <a:chOff x="8720138" y="1587341"/>
            <a:chExt cx="3014662" cy="4432459"/>
          </a:xfrm>
        </p:grpSpPr>
        <p:sp>
          <p:nvSpPr>
            <p:cNvPr id="35" name="TextBox 35"/>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36" name="Line 36"/>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37" name="Ellipse 37"/>
            <p:cNvSpPr/>
            <p:nvPr/>
          </p:nvSpPr>
          <p:spPr>
            <a:xfrm>
              <a:off x="8724900" y="1876425"/>
              <a:ext cx="152400" cy="152400"/>
            </a:xfrm>
            <a:prstGeom prst="ellipse">
              <a:avLst/>
            </a:prstGeom>
            <a:solidFill>
              <a:schemeClr val="accent1"/>
            </a:solidFill>
            <a:ln>
              <a:noFill/>
            </a:ln>
          </p:spPr>
        </p:sp>
        <p:sp>
          <p:nvSpPr>
            <p:cNvPr id="38" name="TextBox 38"/>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39" name="TextBox 39"/>
            <p:cNvSpPr txBox="1"/>
            <p:nvPr/>
          </p:nvSpPr>
          <p:spPr>
            <a:xfrm>
              <a:off x="8948166" y="1886902"/>
              <a:ext cx="2024253"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东南亚:渗透率 8.4%→18%,销量</a:t>
              </a:r>
              <a:br/>
              <a:r>
                <a:rPr lang="zh-CN" sz="1050" dirty="0">
                  <a:solidFill>
                    <a:schemeClr val="dk1"/>
                  </a:solidFill>
                  <a:latin typeface="+mn-lt"/>
                  <a:ea typeface="+mn-ea"/>
                  <a:cs typeface="+mn-cs"/>
                </a:rPr>
                <a:t>16 万→54 万辆(3.4 倍);泰国 23%</a:t>
              </a:r>
              <a:br/>
              <a:r>
                <a:rPr lang="zh-CN" sz="1050" dirty="0">
                  <a:solidFill>
                    <a:schemeClr val="dk1"/>
                  </a:solidFill>
                  <a:latin typeface="+mn-lt"/>
                  <a:ea typeface="+mn-ea"/>
                  <a:cs typeface="+mn-cs"/>
                </a:rPr>
                <a:t>已经是美国的两倍以上。</a:t>
              </a:r>
            </a:p>
          </p:txBody>
        </p:sp>
        <p:sp>
          <p:nvSpPr>
            <p:cNvPr id="40" name="Ellipse 40"/>
            <p:cNvSpPr/>
            <p:nvPr/>
          </p:nvSpPr>
          <p:spPr>
            <a:xfrm>
              <a:off x="8724900" y="2600325"/>
              <a:ext cx="152400" cy="152400"/>
            </a:xfrm>
            <a:prstGeom prst="ellipse">
              <a:avLst/>
            </a:prstGeom>
            <a:solidFill>
              <a:schemeClr val="accent1"/>
            </a:solidFill>
            <a:ln>
              <a:noFill/>
            </a:ln>
          </p:spPr>
        </p:sp>
        <p:sp>
          <p:nvSpPr>
            <p:cNvPr id="41" name="TextBox 41"/>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42" name="TextBox 42"/>
            <p:cNvSpPr txBox="1"/>
            <p:nvPr/>
          </p:nvSpPr>
          <p:spPr>
            <a:xfrm>
              <a:off x="8948166" y="2610802"/>
              <a:ext cx="211093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巴西 3%→9%、墨西哥 1.5%→7%:</a:t>
              </a:r>
              <a:br/>
              <a:r>
                <a:rPr lang="zh-CN" sz="1050" dirty="0">
                  <a:solidFill>
                    <a:schemeClr val="dk1"/>
                  </a:solidFill>
                  <a:latin typeface="+mn-lt"/>
                  <a:ea typeface="+mn-ea"/>
                  <a:cs typeface="+mn-cs"/>
                </a:rPr>
                <a:t>拉美两国销量合计 6.9 万→27 万辆,</a:t>
              </a:r>
              <a:br/>
              <a:r>
                <a:rPr lang="zh-CN" sz="1050" dirty="0">
                  <a:solidFill>
                    <a:schemeClr val="dk1"/>
                  </a:solidFill>
                  <a:latin typeface="+mn-lt"/>
                  <a:ea typeface="+mn-ea"/>
                  <a:cs typeface="+mn-cs"/>
                </a:rPr>
                <a:t>两年 3.9 倍。</a:t>
              </a:r>
            </a:p>
          </p:txBody>
        </p:sp>
        <p:sp>
          <p:nvSpPr>
            <p:cNvPr id="43" name="Ellipse 43"/>
            <p:cNvSpPr/>
            <p:nvPr/>
          </p:nvSpPr>
          <p:spPr>
            <a:xfrm>
              <a:off x="8724900" y="3324225"/>
              <a:ext cx="152400" cy="152400"/>
            </a:xfrm>
            <a:prstGeom prst="ellipse">
              <a:avLst/>
            </a:prstGeom>
            <a:solidFill>
              <a:schemeClr val="accent1"/>
            </a:solidFill>
            <a:ln>
              <a:noFill/>
            </a:ln>
          </p:spPr>
        </p:sp>
        <p:sp>
          <p:nvSpPr>
            <p:cNvPr id="44" name="TextBox 44"/>
            <p:cNvSpPr txBox="1"/>
            <p:nvPr/>
          </p:nvSpPr>
          <p:spPr>
            <a:xfrm>
              <a:off x="87682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45" name="TextBox 45"/>
            <p:cNvSpPr txBox="1"/>
            <p:nvPr/>
          </p:nvSpPr>
          <p:spPr>
            <a:xfrm>
              <a:off x="8948166" y="3334702"/>
              <a:ext cx="196424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印度 2.1%→4%:起点最低,但销量</a:t>
              </a:r>
              <a:br/>
              <a:r>
                <a:rPr lang="zh-CN" sz="1050" dirty="0">
                  <a:solidFill>
                    <a:schemeClr val="dk1"/>
                  </a:solidFill>
                  <a:latin typeface="+mn-lt"/>
                  <a:ea typeface="+mn-ea"/>
                  <a:cs typeface="+mn-cs"/>
                </a:rPr>
                <a:t>8.2 万→17 万辆翻倍,2035 年</a:t>
              </a:r>
              <a:br/>
              <a:r>
                <a:rPr lang="zh-CN" sz="1050" dirty="0">
                  <a:solidFill>
                    <a:schemeClr val="dk1"/>
                  </a:solidFill>
                  <a:latin typeface="+mn-lt"/>
                  <a:ea typeface="+mn-ea"/>
                  <a:cs typeface="+mn-cs"/>
                </a:rPr>
                <a:t>情景达 210 万辆(第 9 页)。</a:t>
              </a:r>
            </a:p>
          </p:txBody>
        </p:sp>
        <p:sp>
          <p:nvSpPr>
            <p:cNvPr id="46" name="Ellipse 46"/>
            <p:cNvSpPr/>
            <p:nvPr/>
          </p:nvSpPr>
          <p:spPr>
            <a:xfrm>
              <a:off x="8724900" y="4048125"/>
              <a:ext cx="152400" cy="152400"/>
            </a:xfrm>
            <a:prstGeom prst="ellipse">
              <a:avLst/>
            </a:prstGeom>
            <a:solidFill>
              <a:schemeClr val="accent1"/>
            </a:solidFill>
            <a:ln>
              <a:noFill/>
            </a:ln>
          </p:spPr>
        </p:sp>
        <p:sp>
          <p:nvSpPr>
            <p:cNvPr id="47" name="TextBox 47"/>
            <p:cNvSpPr txBox="1"/>
            <p:nvPr/>
          </p:nvSpPr>
          <p:spPr>
            <a:xfrm>
              <a:off x="8768259" y="40767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48" name="TextBox 48"/>
            <p:cNvSpPr txBox="1"/>
            <p:nvPr/>
          </p:nvSpPr>
          <p:spPr>
            <a:xfrm>
              <a:off x="8948166" y="4058602"/>
              <a:ext cx="217760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四市场合计 31 万→98 万辆(3.2 倍),</a:t>
              </a:r>
              <a:br/>
              <a:r>
                <a:rPr lang="zh-CN" sz="1050" dirty="0">
                  <a:solidFill>
                    <a:schemeClr val="dk1"/>
                  </a:solidFill>
                  <a:latin typeface="+mn-lt"/>
                  <a:ea typeface="+mn-ea"/>
                  <a:cs typeface="+mn-cs"/>
                </a:rPr>
                <a:t>窗口期就是 2026–2028;</a:t>
              </a:r>
              <a:br/>
              <a:r>
                <a:rPr lang="zh-CN" sz="1050" dirty="0">
                  <a:solidFill>
                    <a:schemeClr val="dk1"/>
                  </a:solidFill>
                  <a:latin typeface="+mn-lt"/>
                  <a:ea typeface="+mn-ea"/>
                  <a:cs typeface="+mn-cs"/>
                </a:rPr>
                <a:t>进入方式见第 8、10 页。</a:t>
              </a:r>
            </a:p>
          </p:txBody>
        </p:sp>
        <p:sp>
          <p:nvSpPr>
            <p:cNvPr id="49" name="Rectangle 49"/>
            <p:cNvSpPr/>
            <p:nvPr/>
          </p:nvSpPr>
          <p:spPr>
            <a:xfrm>
              <a:off x="8724900" y="4914900"/>
              <a:ext cx="3009900" cy="1104900"/>
            </a:xfrm>
            <a:prstGeom prst="rect">
              <a:avLst/>
            </a:prstGeom>
            <a:solidFill>
              <a:srgbClr val="F7F7F7"/>
            </a:solidFill>
            <a:ln>
              <a:noFill/>
            </a:ln>
          </p:spPr>
        </p:sp>
        <p:sp>
          <p:nvSpPr>
            <p:cNvPr id="50" name="Rectangle 50"/>
            <p:cNvSpPr/>
            <p:nvPr/>
          </p:nvSpPr>
          <p:spPr>
            <a:xfrm>
              <a:off x="8724900" y="4914900"/>
              <a:ext cx="38100" cy="1104900"/>
            </a:xfrm>
            <a:prstGeom prst="rect">
              <a:avLst/>
            </a:prstGeom>
            <a:solidFill>
              <a:schemeClr val="accent2"/>
            </a:solidFill>
            <a:ln>
              <a:noFill/>
            </a:ln>
          </p:spPr>
        </p:sp>
        <p:sp>
          <p:nvSpPr>
            <p:cNvPr id="51" name="TextBox 51"/>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52" name="TextBox 52"/>
            <p:cNvSpPr txBox="1"/>
            <p:nvPr/>
          </p:nvSpPr>
          <p:spPr>
            <a:xfrm>
              <a:off x="8871966" y="5220652"/>
              <a:ext cx="221761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东南亚列一级抢滩、泰国首发;巴西、</a:t>
              </a:r>
              <a:br/>
              <a:r>
                <a:rPr lang="zh-CN" sz="1050" dirty="0">
                  <a:solidFill>
                    <a:schemeClr val="dk1"/>
                  </a:solidFill>
                  <a:latin typeface="+mn-lt"/>
                  <a:ea typeface="+mn-ea"/>
                  <a:cs typeface="+mn-cs"/>
                </a:rPr>
                <a:t>墨西哥、印度列二级 PHEV 试点,</a:t>
              </a:r>
              <a:br/>
              <a:r>
                <a:rPr lang="zh-CN" sz="1050" dirty="0">
                  <a:solidFill>
                    <a:schemeClr val="dk1"/>
                  </a:solidFill>
                  <a:latin typeface="+mn-lt"/>
                  <a:ea typeface="+mn-ea"/>
                  <a:cs typeface="+mn-cs"/>
                </a:rPr>
                <a:t>2026 年内启动(第 10、11 页)。</a:t>
              </a:r>
            </a:p>
          </p:txBody>
        </p:sp>
      </p:grpSp>
      <p:grpSp>
        <p:nvGrpSpPr>
          <p:cNvPr id="58" name="footer"/>
          <p:cNvGrpSpPr/>
          <p:nvPr/>
        </p:nvGrpSpPr>
        <p:grpSpPr>
          <a:xfrm>
            <a:off x="452438" y="6205538"/>
            <a:ext cx="11287125" cy="433388"/>
            <a:chOff x="452438" y="6205538"/>
            <a:chExt cx="11287125" cy="433388"/>
          </a:xfrm>
        </p:grpSpPr>
        <p:sp>
          <p:nvSpPr>
            <p:cNvPr id="54" name="TextBox 54"/>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55" name="TextBox 55"/>
            <p:cNvSpPr txBox="1"/>
            <p:nvPr/>
          </p:nvSpPr>
          <p:spPr>
            <a:xfrm>
              <a:off x="452438" y="6338888"/>
              <a:ext cx="323164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东南亚为 IEA 区域汇总,泰国单列;倍数 = 2025 年销量 ÷ 2023 年销量</a:t>
              </a:r>
            </a:p>
          </p:txBody>
        </p:sp>
        <p:sp>
          <p:nvSpPr>
            <p:cNvPr id="56" name="TextBox 56"/>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57" name="TextBox 57"/>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7</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id="13" presetID="22" presetClass="entr" presetSubtype="1" fill="hold" grpId="0" nodeType="afterEffect">
                                  <p:stCondLst>
                                    <p:cond delay="500"/>
                                  </p:stCondLst>
                                  <p:childTnLst>
                                    <p:set>
                                      <p:cBhvr>
                                        <p:cTn id="14" dur="1" fill="hold">
                                          <p:stCondLst>
                                            <p:cond delay="0"/>
                                          </p:stCondLst>
                                        </p:cTn>
                                        <p:tgtEl>
                                          <p:spTgt spid="16"/>
                                        </p:tgtEl>
                                        <p:attrNameLst>
                                          <p:attrName>style.visibility</p:attrName>
                                        </p:attrNameLst>
                                      </p:cBhvr>
                                      <p:to>
                                        <p:strVal val="visible"/>
                                      </p:to>
                                    </p:set>
                                    <p:animEffect transition="in" filter="wipe(up)">
                                      <p:cBhvr>
                                        <p:cTn id="15" dur="600"/>
                                        <p:tgtEl>
                                          <p:spTgt spid="16"/>
                                        </p:tgtEl>
                                      </p:cBhvr>
                                    </p:animEffect>
                                  </p:childTnLst>
                                </p:cTn>
                              </p:par>
                            </p:childTnLst>
                          </p:cTn>
                        </p:par>
                        <p:par>
                          <p:cTn id="16" fill="hold">
                            <p:stCondLst>
                              <p:cond delay="2100"/>
                            </p:stCondLst>
                            <p:childTnLst>
                              <p:par>
                                <p:cTn id="17" presetID="10" presetClass="entr" presetSubtype="0" fill="hold" grpId="0" nodeType="afterEffect">
                                  <p:stCondLst>
                                    <p:cond delay="5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200"/>
                                        <p:tgtEl>
                                          <p:spTgt spid="21"/>
                                        </p:tgtEl>
                                      </p:cBhvr>
                                    </p:animEffect>
                                  </p:childTnLst>
                                </p:cTn>
                              </p:par>
                            </p:childTnLst>
                          </p:cTn>
                        </p:par>
                        <p:par>
                          <p:cTn id="20" fill="hold">
                            <p:stCondLst>
                              <p:cond delay="2800"/>
                            </p:stCondLst>
                            <p:childTnLst>
                              <p:par>
                                <p:cTn id="21" presetID="22" presetClass="entr" presetSubtype="2" fill="hold" grpId="0" nodeType="afterEffect">
                                  <p:stCondLst>
                                    <p:cond delay="500"/>
                                  </p:stCondLst>
                                  <p:childTnLst>
                                    <p:set>
                                      <p:cBhvr>
                                        <p:cTn id="22" dur="1" fill="hold">
                                          <p:stCondLst>
                                            <p:cond delay="0"/>
                                          </p:stCondLst>
                                        </p:cTn>
                                        <p:tgtEl>
                                          <p:spTgt spid="28"/>
                                        </p:tgtEl>
                                        <p:attrNameLst>
                                          <p:attrName>style.visibility</p:attrName>
                                        </p:attrNameLst>
                                      </p:cBhvr>
                                      <p:to>
                                        <p:strVal val="visible"/>
                                      </p:to>
                                    </p:set>
                                    <p:animEffect transition="in" filter="wipe(right)">
                                      <p:cBhvr>
                                        <p:cTn id="23" dur="600"/>
                                        <p:tgtEl>
                                          <p:spTgt spid="28"/>
                                        </p:tgtEl>
                                      </p:cBhvr>
                                    </p:animEffect>
                                  </p:childTnLst>
                                </p:cTn>
                              </p:par>
                            </p:childTnLst>
                          </p:cTn>
                        </p:par>
                        <p:par>
                          <p:cTn id="24" fill="hold">
                            <p:stCondLst>
                              <p:cond delay="3900"/>
                            </p:stCondLst>
                            <p:childTnLst>
                              <p:par>
                                <p:cTn id="25" presetID="10" presetClass="entr" presetSubtype="0" fill="hold" grpId="0" nodeType="afterEffect">
                                  <p:stCondLst>
                                    <p:cond delay="50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200"/>
                                        <p:tgtEl>
                                          <p:spTgt spid="33"/>
                                        </p:tgtEl>
                                      </p:cBhvr>
                                    </p:animEffect>
                                  </p:childTnLst>
                                </p:cTn>
                              </p:par>
                            </p:childTnLst>
                          </p:cTn>
                        </p:par>
                        <p:par>
                          <p:cTn id="28" fill="hold">
                            <p:stCondLst>
                              <p:cond delay="4600"/>
                            </p:stCondLst>
                            <p:childTnLst>
                              <p:par>
                                <p:cTn id="29" presetID="22" presetClass="entr" presetSubtype="4" fill="hold" grpId="0" nodeType="afterEffect">
                                  <p:stCondLst>
                                    <p:cond delay="500"/>
                                  </p:stCondLst>
                                  <p:childTnLst>
                                    <p:set>
                                      <p:cBhvr>
                                        <p:cTn id="30" dur="1" fill="hold">
                                          <p:stCondLst>
                                            <p:cond delay="0"/>
                                          </p:stCondLst>
                                        </p:cTn>
                                        <p:tgtEl>
                                          <p:spTgt spid="34"/>
                                        </p:tgtEl>
                                        <p:attrNameLst>
                                          <p:attrName>style.visibility</p:attrName>
                                        </p:attrNameLst>
                                      </p:cBhvr>
                                      <p:to>
                                        <p:strVal val="visible"/>
                                      </p:to>
                                    </p:set>
                                    <p:animEffect transition="in" filter="wipe(down)">
                                      <p:cBhvr>
                                        <p:cTn id="31" dur="500"/>
                                        <p:tgtEl>
                                          <p:spTgt spid="34"/>
                                        </p:tgtEl>
                                      </p:cBhvr>
                                    </p:animEffect>
                                  </p:childTnLst>
                                </p:cTn>
                              </p:par>
                            </p:childTnLst>
                          </p:cTn>
                        </p:par>
                        <p:par>
                          <p:cTn id="32" fill="hold">
                            <p:stCondLst>
                              <p:cond delay="5600"/>
                            </p:stCondLst>
                            <p:childTnLst>
                              <p:par>
                                <p:cTn id="33" presetID="10" presetClass="entr" presetSubtype="0" fill="hold" grpId="0" nodeType="afterEffect">
                                  <p:stCondLst>
                                    <p:cond delay="500"/>
                                  </p:stCondLst>
                                  <p:childTnLst>
                                    <p:set>
                                      <p:cBhvr>
                                        <p:cTn id="34" dur="1" fill="hold">
                                          <p:stCondLst>
                                            <p:cond delay="0"/>
                                          </p:stCondLst>
                                        </p:cTn>
                                        <p:tgtEl>
                                          <p:spTgt spid="53"/>
                                        </p:tgtEl>
                                        <p:attrNameLst>
                                          <p:attrName>style.visibility</p:attrName>
                                        </p:attrNameLst>
                                      </p:cBhvr>
                                      <p:to>
                                        <p:strVal val="visible"/>
                                      </p:to>
                                    </p:set>
                                    <p:animEffect transition="in" filter="fade">
                                      <p:cBhvr>
                                        <p:cTn id="35"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c="http://schemas.openxmlformats.org/drawingml/2006/chart"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9927681" y="247650"/>
            <a:ext cx="1807119" cy="206216"/>
            <a:chOff x="9927681" y="247650"/>
            <a:chExt cx="1807119" cy="206216"/>
          </a:xfrm>
        </p:grpSpPr>
        <p:sp>
          <p:nvSpPr>
            <p:cNvPr id="2" name="TextBox 2"/>
            <p:cNvSpPr txBox="1"/>
            <p:nvPr/>
          </p:nvSpPr>
          <p:spPr>
            <a:xfrm>
              <a:off x="9927681" y="291941"/>
              <a:ext cx="878431"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诊断 · 产品组合</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5921312" cy="637794"/>
            <a:chOff x="448056" y="472440"/>
            <a:chExt cx="5921312" cy="637794"/>
          </a:xfrm>
        </p:grpSpPr>
        <p:sp>
          <p:nvSpPr>
            <p:cNvPr id="6" name="TextBox 6"/>
            <p:cNvSpPr txBox="1"/>
            <p:nvPr/>
          </p:nvSpPr>
          <p:spPr>
            <a:xfrm>
              <a:off x="448056" y="472440"/>
              <a:ext cx="5921312"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PHEV 已占全球电动车销量的 34%,在中国三年增长 3.4 倍</a:t>
              </a:r>
              <a:br/>
              <a:r>
                <a:rPr lang="zh-CN" sz="1800" b="1" dirty="0">
                  <a:solidFill>
                    <a:schemeClr val="accent1"/>
                  </a:solidFill>
                  <a:latin typeface="+mn-lt"/>
                  <a:ea typeface="+mn-ea"/>
                  <a:cs typeface="+mn-cs"/>
                </a:rPr>
                <a:t>——它是低渗透市场的破冰产品,不是过渡产品</a:t>
              </a:r>
            </a:p>
          </p:txBody>
        </p:sp>
      </p:grpSp>
      <p:grpSp>
        <p:nvGrpSpPr>
          <p:cNvPr id="9" name="unit-line"/>
          <p:cNvGrpSpPr/>
          <p:nvPr/>
        </p:nvGrpSpPr>
        <p:grpSpPr>
          <a:xfrm>
            <a:off x="452438" y="1160145"/>
            <a:ext cx="7115785" cy="176212"/>
            <a:chOff x="452438" y="1160145"/>
            <a:chExt cx="7115785" cy="176212"/>
          </a:xfrm>
        </p:grpSpPr>
        <p:sp>
          <p:nvSpPr>
            <p:cNvPr id="8" name="TextBox 8"/>
            <p:cNvSpPr txBox="1"/>
            <p:nvPr/>
          </p:nvSpPr>
          <p:spPr>
            <a:xfrm>
              <a:off x="452438" y="1160145"/>
              <a:ext cx="7115785"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A:全球 BEV 与 PHEV 销量,百万辆,2019–2025;B:PHEV 占电动车销量比例,%,2025;C:中国 BEV 与 PHEV 销量,百万辆,2022–2025</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1618046" cy="349091"/>
            <a:chOff x="452438" y="1552575"/>
            <a:chExt cx="1618046"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1408687"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全球 BEV 与 PHEV 销量</a:t>
              </a:r>
            </a:p>
          </p:txBody>
        </p:sp>
        <p:sp>
          <p:nvSpPr>
            <p:cNvPr id="14" name="TextBox 14"/>
            <p:cNvSpPr txBox="1"/>
            <p:nvPr/>
          </p:nvSpPr>
          <p:spPr>
            <a:xfrm>
              <a:off x="452438" y="1739741"/>
              <a:ext cx="84295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百万辆,堆叠面积</a:t>
              </a:r>
            </a:p>
          </p:txBody>
        </p:sp>
      </p:grpSp>
      <p:grpSp>
        <p:nvGrpSpPr>
          <p:cNvPr id="19" name="powertrain-mix"/>
          <p:cNvGrpSpPr/>
          <p:nvPr/>
        </p:nvGrpSpPr>
        <p:grpSpPr>
          <a:xfrm>
            <a:off x="457200" y="1943100"/>
            <a:ext cx="3848100" cy="2533650"/>
            <a:chOff x="457200" y="1943100"/>
            <a:chExt cx="3848100" cy="2533650"/>
          </a:xfrm>
        </p:grpSpPr>
        <p:graphicFrame>
          <p:nvGraphicFramePr>
            <p:cNvPr id="16" name="powertrain-mix"/>
            <p:cNvGraphicFramePr>
              <a:graphicFrameLocks noGrp="1"/>
            </p:cNvGraphicFramePr>
            <p:nvPr/>
          </p:nvGraphicFramePr>
          <p:xfrm>
            <a:off x="457200" y="1943100"/>
            <a:ext cx="3848100" cy="2533650"/>
          </p:xfrm>
          <a:graphic>
            <a:graphicData uri="http://schemas.openxmlformats.org/drawingml/2006/chart">
              <c:chart r:id="rId2"/>
            </a:graphicData>
          </a:graphic>
        </p:graphicFrame>
        <p:sp>
          <p:nvSpPr>
            <p:cNvPr id="17" name="Chart Note 17"/>
            <p:cNvSpPr txBox="1"/>
            <p:nvPr/>
          </p:nvSpPr>
          <p:spPr>
            <a:xfrm>
              <a:off x="2571750" y="3859911"/>
              <a:ext cx="1524000" cy="166624"/>
            </a:xfrm>
            <a:prstGeom prst="rect">
              <a:avLst/>
            </a:prstGeom>
            <a:noFill/>
            <a:ln>
              <a:noFill/>
            </a:ln>
          </p:spPr>
          <p:txBody>
            <a:bodyPr wrap="square" lIns="0" tIns="0" rIns="0" bIns="0" anchor="b" anchorCtr="0"/>
            <a:lstStyle/>
            <a:p>
              <a:pPr algn="r"/>
              <a:r>
                <a:rPr lang="zh-CN" sz="820" b="1">
                  <a:solidFill>
                    <a:srgbClr val="FFFFFF"/>
                  </a:solidFill>
                  <a:latin typeface="Microsoft YaHei"/>
                  <a:ea typeface="Microsoft YaHei"/>
                  <a:cs typeface="Microsoft YaHei"/>
                </a:rPr>
                <a:t>BEV 1,400 万辆</a:t>
              </a:r>
            </a:p>
          </p:txBody>
        </p:sp>
        <p:sp>
          <p:nvSpPr>
            <p:cNvPr id="18" name="Chart Note 18"/>
            <p:cNvSpPr txBox="1"/>
            <p:nvPr/>
          </p:nvSpPr>
          <p:spPr>
            <a:xfrm>
              <a:off x="2571750" y="2507361"/>
              <a:ext cx="1524000" cy="166624"/>
            </a:xfrm>
            <a:prstGeom prst="rect">
              <a:avLst/>
            </a:prstGeom>
            <a:noFill/>
            <a:ln>
              <a:noFill/>
            </a:ln>
          </p:spPr>
          <p:txBody>
            <a:bodyPr wrap="square" lIns="0" tIns="0" rIns="0" bIns="0" anchor="b" anchorCtr="0"/>
            <a:lstStyle/>
            <a:p>
              <a:pPr algn="r"/>
              <a:r>
                <a:rPr lang="zh-CN" sz="820" b="1">
                  <a:solidFill>
                    <a:srgbClr val="FFFFFF"/>
                  </a:solidFill>
                  <a:latin typeface="Microsoft YaHei"/>
                  <a:ea typeface="Microsoft YaHei"/>
                  <a:cs typeface="Microsoft YaHei"/>
                </a:rPr>
                <a:t>PHEV 720 万辆</a:t>
              </a:r>
            </a:p>
          </p:txBody>
        </p:sp>
      </p:grpSp>
      <p:grpSp>
        <p:nvGrpSpPr>
          <p:cNvPr id="30" name="powertrain-multiples"/>
          <p:cNvGrpSpPr/>
          <p:nvPr/>
        </p:nvGrpSpPr>
        <p:grpSpPr>
          <a:xfrm>
            <a:off x="448818" y="4673441"/>
            <a:ext cx="3856482" cy="619125"/>
            <a:chOff x="448818" y="4673441"/>
            <a:chExt cx="3856482" cy="619125"/>
          </a:xfrm>
        </p:grpSpPr>
        <p:sp>
          <p:nvSpPr>
            <p:cNvPr id="20" name="TextBox 20"/>
            <p:cNvSpPr txBox="1"/>
            <p:nvPr/>
          </p:nvSpPr>
          <p:spPr>
            <a:xfrm>
              <a:off x="452438" y="4673441"/>
              <a:ext cx="1067857"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增长倍数(百万辆)</a:t>
              </a:r>
            </a:p>
          </p:txBody>
        </p:sp>
        <p:sp>
          <p:nvSpPr>
            <p:cNvPr id="21" name="Line 21"/>
            <p:cNvSpPr/>
            <p:nvPr/>
          </p:nvSpPr>
          <p:spPr>
            <a:xfrm>
              <a:off x="457200" y="4838700"/>
              <a:ext cx="3848100" cy="9525"/>
            </a:xfrm>
            <a:custGeom>
              <a:avLst/>
              <a:gdLst/>
              <a:ahLst/>
              <a:cxnLst/>
              <a:rect l="l" t="t" r="r" b="b"/>
              <a:pathLst>
                <a:path w="3848100" h="9525">
                  <a:moveTo>
                    <a:pt x="0" y="0"/>
                  </a:moveTo>
                  <a:lnTo>
                    <a:pt x="3848100" y="0"/>
                  </a:lnTo>
                </a:path>
              </a:pathLst>
            </a:custGeom>
            <a:noFill/>
            <a:ln w="7144">
              <a:solidFill>
                <a:schemeClr val="accent1"/>
              </a:solidFill>
            </a:ln>
          </p:spPr>
        </p:sp>
        <p:sp>
          <p:nvSpPr>
            <p:cNvPr id="22" name="TextBox 22"/>
            <p:cNvSpPr txBox="1"/>
            <p:nvPr/>
          </p:nvSpPr>
          <p:spPr>
            <a:xfrm>
              <a:off x="448818" y="4889182"/>
              <a:ext cx="393573"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Arial"/>
                  <a:ea typeface="Arial"/>
                  <a:cs typeface="Arial"/>
                </a:rPr>
                <a:t>12×</a:t>
              </a:r>
            </a:p>
          </p:txBody>
        </p:sp>
        <p:sp>
          <p:nvSpPr>
            <p:cNvPr id="23" name="TextBox 23"/>
            <p:cNvSpPr txBox="1"/>
            <p:nvPr/>
          </p:nvSpPr>
          <p:spPr>
            <a:xfrm>
              <a:off x="452438" y="5130641"/>
              <a:ext cx="107008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全球 PHEV 0.58→7.2</a:t>
              </a:r>
            </a:p>
          </p:txBody>
        </p:sp>
        <p:sp>
          <p:nvSpPr>
            <p:cNvPr id="24" name="TextBox 24"/>
            <p:cNvSpPr txBox="1"/>
            <p:nvPr/>
          </p:nvSpPr>
          <p:spPr>
            <a:xfrm>
              <a:off x="1410843" y="4889182"/>
              <a:ext cx="270029"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Arial"/>
                  <a:ea typeface="Arial"/>
                  <a:cs typeface="Arial"/>
                </a:rPr>
                <a:t>9×</a:t>
              </a:r>
            </a:p>
          </p:txBody>
        </p:sp>
        <p:sp>
          <p:nvSpPr>
            <p:cNvPr id="25" name="TextBox 25"/>
            <p:cNvSpPr txBox="1"/>
            <p:nvPr/>
          </p:nvSpPr>
          <p:spPr>
            <a:xfrm>
              <a:off x="1414462" y="5130641"/>
              <a:ext cx="877636"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全球 BEV 1.5→14</a:t>
              </a:r>
            </a:p>
          </p:txBody>
        </p:sp>
        <p:sp>
          <p:nvSpPr>
            <p:cNvPr id="26" name="TextBox 26"/>
            <p:cNvSpPr txBox="1"/>
            <p:nvPr/>
          </p:nvSpPr>
          <p:spPr>
            <a:xfrm>
              <a:off x="2372868" y="4889182"/>
              <a:ext cx="455279"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Arial"/>
                  <a:ea typeface="Arial"/>
                  <a:cs typeface="Arial"/>
                </a:rPr>
                <a:t>3.4×</a:t>
              </a:r>
            </a:p>
          </p:txBody>
        </p:sp>
        <p:sp>
          <p:nvSpPr>
            <p:cNvPr id="27" name="TextBox 27"/>
            <p:cNvSpPr txBox="1"/>
            <p:nvPr/>
          </p:nvSpPr>
          <p:spPr>
            <a:xfrm>
              <a:off x="2376488" y="5130641"/>
              <a:ext cx="100593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中国 PHEV 1.5→5.1</a:t>
              </a:r>
            </a:p>
          </p:txBody>
        </p:sp>
        <p:sp>
          <p:nvSpPr>
            <p:cNvPr id="28" name="TextBox 28"/>
            <p:cNvSpPr txBox="1"/>
            <p:nvPr/>
          </p:nvSpPr>
          <p:spPr>
            <a:xfrm>
              <a:off x="3334893" y="4889182"/>
              <a:ext cx="455279"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Arial"/>
                  <a:ea typeface="Arial"/>
                  <a:cs typeface="Arial"/>
                </a:rPr>
                <a:t>1.8×</a:t>
              </a:r>
            </a:p>
          </p:txBody>
        </p:sp>
        <p:sp>
          <p:nvSpPr>
            <p:cNvPr id="29" name="TextBox 29"/>
            <p:cNvSpPr txBox="1"/>
            <p:nvPr/>
          </p:nvSpPr>
          <p:spPr>
            <a:xfrm>
              <a:off x="3338512" y="5130641"/>
              <a:ext cx="941786"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中国 BEV 4.5→8.2</a:t>
              </a:r>
            </a:p>
          </p:txBody>
        </p:sp>
      </p:grpSp>
      <p:grpSp>
        <p:nvGrpSpPr>
          <p:cNvPr id="32" name="powertrain-note"/>
          <p:cNvGrpSpPr/>
          <p:nvPr/>
        </p:nvGrpSpPr>
        <p:grpSpPr>
          <a:xfrm>
            <a:off x="452438" y="5530691"/>
            <a:ext cx="2331847" cy="466725"/>
            <a:chOff x="452438" y="5530691"/>
            <a:chExt cx="2331847" cy="466725"/>
          </a:xfrm>
        </p:grpSpPr>
        <p:sp>
          <p:nvSpPr>
            <p:cNvPr id="31" name="TextBox 31"/>
            <p:cNvSpPr txBox="1"/>
            <p:nvPr/>
          </p:nvSpPr>
          <p:spPr>
            <a:xfrm>
              <a:off x="452438" y="5530691"/>
              <a:ext cx="2331847" cy="466725"/>
            </a:xfrm>
            <a:prstGeom prst="rect">
              <a:avLst/>
            </a:prstGeom>
            <a:noFill/>
            <a:ln>
              <a:noFill/>
            </a:ln>
          </p:spPr>
          <p:txBody>
            <a:bodyPr wrap="none" lIns="0" tIns="0" rIns="0" bIns="0" anchor="t" anchorCtr="0">
              <a:spAutoFit/>
            </a:bodyPr>
            <a:lstStyle/>
            <a:p>
              <a:pPr algn="l">
                <a:lnSpc>
                  <a:spcPts val="1200"/>
                </a:lnSpc>
              </a:pPr>
              <a:r>
                <a:rPr lang="zh-CN" sz="820" dirty="0">
                  <a:solidFill>
                    <a:schemeClr val="accent5"/>
                  </a:solidFill>
                  <a:latin typeface="+mn-lt"/>
                  <a:ea typeface="+mn-ea"/>
                  <a:cs typeface="+mn-cs"/>
                </a:rPr>
                <a:t>全球倍数按 2019→2025,中国按 2022→2025;</a:t>
              </a:r>
              <a:br/>
              <a:r>
                <a:rPr lang="zh-CN" sz="820" dirty="0">
                  <a:solidFill>
                    <a:schemeClr val="accent5"/>
                  </a:solidFill>
                  <a:latin typeface="+mn-lt"/>
                  <a:ea typeface="+mn-ea"/>
                  <a:cs typeface="+mn-cs"/>
                </a:rPr>
                <a:t>两组口径下 PHEV 的倍数都高于 BEV,且差距在中国</a:t>
              </a:r>
              <a:br/>
              <a:r>
                <a:rPr lang="zh-CN" sz="820" dirty="0">
                  <a:solidFill>
                    <a:schemeClr val="accent5"/>
                  </a:solidFill>
                  <a:latin typeface="+mn-lt"/>
                  <a:ea typeface="+mn-ea"/>
                  <a:cs typeface="+mn-cs"/>
                </a:rPr>
                <a:t>这个渗透率最高的市场里最大——不是低基数效应。</a:t>
              </a:r>
            </a:p>
          </p:txBody>
        </p:sp>
      </p:grpSp>
      <p:grpSp>
        <p:nvGrpSpPr>
          <p:cNvPr id="37" name="exhibit-b-head"/>
          <p:cNvGrpSpPr/>
          <p:nvPr/>
        </p:nvGrpSpPr>
        <p:grpSpPr>
          <a:xfrm>
            <a:off x="4529138" y="1552575"/>
            <a:ext cx="2021539" cy="349091"/>
            <a:chOff x="4529138" y="1552575"/>
            <a:chExt cx="2021539" cy="349091"/>
          </a:xfrm>
        </p:grpSpPr>
        <p:sp>
          <p:nvSpPr>
            <p:cNvPr id="33" name="Ellipse 33"/>
            <p:cNvSpPr/>
            <p:nvPr/>
          </p:nvSpPr>
          <p:spPr>
            <a:xfrm>
              <a:off x="4533900" y="1552575"/>
              <a:ext cx="152400" cy="152400"/>
            </a:xfrm>
            <a:prstGeom prst="ellipse">
              <a:avLst/>
            </a:prstGeom>
            <a:solidFill>
              <a:schemeClr val="accent1"/>
            </a:solidFill>
            <a:ln>
              <a:noFill/>
            </a:ln>
          </p:spPr>
        </p:sp>
        <p:sp>
          <p:nvSpPr>
            <p:cNvPr id="34" name="TextBox 34"/>
            <p:cNvSpPr txBox="1"/>
            <p:nvPr/>
          </p:nvSpPr>
          <p:spPr>
            <a:xfrm>
              <a:off x="45668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35" name="TextBox 35"/>
            <p:cNvSpPr txBox="1"/>
            <p:nvPr/>
          </p:nvSpPr>
          <p:spPr>
            <a:xfrm>
              <a:off x="4738497" y="1571149"/>
              <a:ext cx="1812180"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PHEV 占电动车销量比例,2025</a:t>
              </a:r>
            </a:p>
          </p:txBody>
        </p:sp>
        <p:sp>
          <p:nvSpPr>
            <p:cNvPr id="36" name="TextBox 36"/>
            <p:cNvSpPr txBox="1"/>
            <p:nvPr/>
          </p:nvSpPr>
          <p:spPr>
            <a:xfrm>
              <a:off x="4529138" y="1739741"/>
              <a:ext cx="153030"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%²</a:t>
              </a:r>
            </a:p>
          </p:txBody>
        </p:sp>
      </p:grpSp>
      <p:graphicFrame>
        <p:nvGraphicFramePr>
          <p:cNvPr id="38" name="phev-share-region"/>
          <p:cNvGraphicFramePr>
            <a:graphicFrameLocks noGrp="1"/>
          </p:cNvGraphicFramePr>
          <p:nvPr/>
        </p:nvGraphicFramePr>
        <p:xfrm>
          <a:off x="4533900" y="1943100"/>
          <a:ext cx="3924300" cy="1619250"/>
        </p:xfrm>
        <a:graphic>
          <a:graphicData uri="http://schemas.openxmlformats.org/drawingml/2006/chart">
            <c:chart r:id="rId3"/>
          </a:graphicData>
        </a:graphic>
      </p:graphicFrame>
      <p:grpSp>
        <p:nvGrpSpPr>
          <p:cNvPr id="43" name="exhibit-c-head"/>
          <p:cNvGrpSpPr/>
          <p:nvPr/>
        </p:nvGrpSpPr>
        <p:grpSpPr>
          <a:xfrm>
            <a:off x="4529138" y="3705225"/>
            <a:ext cx="1618046" cy="349091"/>
            <a:chOff x="4529138" y="3705225"/>
            <a:chExt cx="1618046" cy="349091"/>
          </a:xfrm>
        </p:grpSpPr>
        <p:sp>
          <p:nvSpPr>
            <p:cNvPr id="39" name="Ellipse 39"/>
            <p:cNvSpPr/>
            <p:nvPr/>
          </p:nvSpPr>
          <p:spPr>
            <a:xfrm>
              <a:off x="4533900" y="3705225"/>
              <a:ext cx="152400" cy="152400"/>
            </a:xfrm>
            <a:prstGeom prst="ellipse">
              <a:avLst/>
            </a:prstGeom>
            <a:solidFill>
              <a:schemeClr val="accent1"/>
            </a:solidFill>
            <a:ln>
              <a:noFill/>
            </a:ln>
          </p:spPr>
        </p:sp>
        <p:sp>
          <p:nvSpPr>
            <p:cNvPr id="40" name="TextBox 40"/>
            <p:cNvSpPr txBox="1"/>
            <p:nvPr/>
          </p:nvSpPr>
          <p:spPr>
            <a:xfrm>
              <a:off x="4566815" y="373380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C</a:t>
              </a:r>
            </a:p>
          </p:txBody>
        </p:sp>
        <p:sp>
          <p:nvSpPr>
            <p:cNvPr id="41" name="TextBox 41"/>
            <p:cNvSpPr txBox="1"/>
            <p:nvPr/>
          </p:nvSpPr>
          <p:spPr>
            <a:xfrm>
              <a:off x="4738497" y="3723799"/>
              <a:ext cx="1408687"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中国 BEV 与 PHEV 销量</a:t>
              </a:r>
            </a:p>
          </p:txBody>
        </p:sp>
        <p:sp>
          <p:nvSpPr>
            <p:cNvPr id="42" name="TextBox 42"/>
            <p:cNvSpPr txBox="1"/>
            <p:nvPr/>
          </p:nvSpPr>
          <p:spPr>
            <a:xfrm>
              <a:off x="4529138" y="3892391"/>
              <a:ext cx="947826"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百万辆,2022–2025</a:t>
              </a:r>
            </a:p>
          </p:txBody>
        </p:sp>
      </p:grpSp>
      <p:graphicFrame>
        <p:nvGraphicFramePr>
          <p:cNvPr id="44" name="china-powertrain"/>
          <p:cNvGraphicFramePr>
            <a:graphicFrameLocks noGrp="1"/>
          </p:cNvGraphicFramePr>
          <p:nvPr/>
        </p:nvGraphicFramePr>
        <p:xfrm>
          <a:off x="4533900" y="4095750"/>
          <a:ext cx="3924300" cy="1619250"/>
        </p:xfrm>
        <a:graphic>
          <a:graphicData uri="http://schemas.openxmlformats.org/drawingml/2006/chart">
            <c:chart r:id="rId4"/>
          </a:graphicData>
        </a:graphic>
      </p:graphicFrame>
      <p:grpSp>
        <p:nvGrpSpPr>
          <p:cNvPr id="63" name="!!insight-column"/>
          <p:cNvGrpSpPr/>
          <p:nvPr/>
        </p:nvGrpSpPr>
        <p:grpSpPr>
          <a:xfrm>
            <a:off x="8720138" y="1587341"/>
            <a:ext cx="3014662" cy="4432459"/>
            <a:chOff x="8720138" y="1587341"/>
            <a:chExt cx="3014662" cy="4432459"/>
          </a:xfrm>
        </p:grpSpPr>
        <p:sp>
          <p:nvSpPr>
            <p:cNvPr id="45" name="TextBox 45"/>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46" name="Line 46"/>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47" name="Ellipse 47"/>
            <p:cNvSpPr/>
            <p:nvPr/>
          </p:nvSpPr>
          <p:spPr>
            <a:xfrm>
              <a:off x="8724900" y="1876425"/>
              <a:ext cx="152400" cy="152400"/>
            </a:xfrm>
            <a:prstGeom prst="ellipse">
              <a:avLst/>
            </a:prstGeom>
            <a:solidFill>
              <a:schemeClr val="accent1"/>
            </a:solidFill>
            <a:ln>
              <a:noFill/>
            </a:ln>
          </p:spPr>
        </p:sp>
        <p:sp>
          <p:nvSpPr>
            <p:cNvPr id="48" name="TextBox 48"/>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49" name="TextBox 49"/>
            <p:cNvSpPr txBox="1"/>
            <p:nvPr/>
          </p:nvSpPr>
          <p:spPr>
            <a:xfrm>
              <a:off x="8948166" y="1886902"/>
              <a:ext cx="246430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全球 2,100 万辆电动车里 PHEV 占 720 万</a:t>
              </a:r>
              <a:br/>
              <a:r>
                <a:rPr lang="zh-CN" sz="1050" dirty="0">
                  <a:solidFill>
                    <a:schemeClr val="dk1"/>
                  </a:solidFill>
                  <a:latin typeface="+mn-lt"/>
                  <a:ea typeface="+mn-ea"/>
                  <a:cs typeface="+mn-cs"/>
                </a:rPr>
                <a:t>(34%);2019 年以来 PHEV 增 12 倍,</a:t>
              </a:r>
              <a:br/>
              <a:r>
                <a:rPr lang="zh-CN" sz="1050" dirty="0">
                  <a:solidFill>
                    <a:schemeClr val="dk1"/>
                  </a:solidFill>
                  <a:latin typeface="+mn-lt"/>
                  <a:ea typeface="+mn-ea"/>
                  <a:cs typeface="+mn-cs"/>
                </a:rPr>
                <a:t>BEV 增 9 倍(A)。</a:t>
              </a:r>
            </a:p>
          </p:txBody>
        </p:sp>
        <p:sp>
          <p:nvSpPr>
            <p:cNvPr id="50" name="Ellipse 50"/>
            <p:cNvSpPr/>
            <p:nvPr/>
          </p:nvSpPr>
          <p:spPr>
            <a:xfrm>
              <a:off x="8724900" y="2600325"/>
              <a:ext cx="152400" cy="152400"/>
            </a:xfrm>
            <a:prstGeom prst="ellipse">
              <a:avLst/>
            </a:prstGeom>
            <a:solidFill>
              <a:schemeClr val="accent1"/>
            </a:solidFill>
            <a:ln>
              <a:noFill/>
            </a:ln>
          </p:spPr>
        </p:sp>
        <p:sp>
          <p:nvSpPr>
            <p:cNvPr id="51" name="TextBox 51"/>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52" name="TextBox 52"/>
            <p:cNvSpPr txBox="1"/>
            <p:nvPr/>
          </p:nvSpPr>
          <p:spPr>
            <a:xfrm>
              <a:off x="8948166" y="2610802"/>
              <a:ext cx="211093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中国 PHEV 占比 38%,三年从 150 万</a:t>
              </a:r>
              <a:br/>
              <a:r>
                <a:rPr lang="zh-CN" sz="1050" dirty="0">
                  <a:solidFill>
                    <a:schemeClr val="dk1"/>
                  </a:solidFill>
                  <a:latin typeface="+mn-lt"/>
                  <a:ea typeface="+mn-ea"/>
                  <a:cs typeface="+mn-cs"/>
                </a:rPr>
                <a:t>增到 510 万辆(3.4 倍),BEV 同期</a:t>
              </a:r>
              <a:br/>
              <a:r>
                <a:rPr lang="zh-CN" sz="1050" dirty="0">
                  <a:solidFill>
                    <a:schemeClr val="dk1"/>
                  </a:solidFill>
                  <a:latin typeface="+mn-lt"/>
                  <a:ea typeface="+mn-ea"/>
                  <a:cs typeface="+mn-cs"/>
                </a:rPr>
                <a:t>450 万→820 万辆(1.8 倍)(C)。</a:t>
              </a:r>
            </a:p>
          </p:txBody>
        </p:sp>
        <p:sp>
          <p:nvSpPr>
            <p:cNvPr id="53" name="Ellipse 53"/>
            <p:cNvSpPr/>
            <p:nvPr/>
          </p:nvSpPr>
          <p:spPr>
            <a:xfrm>
              <a:off x="8724900" y="3324225"/>
              <a:ext cx="152400" cy="152400"/>
            </a:xfrm>
            <a:prstGeom prst="ellipse">
              <a:avLst/>
            </a:prstGeom>
            <a:solidFill>
              <a:schemeClr val="accent1"/>
            </a:solidFill>
            <a:ln>
              <a:noFill/>
            </a:ln>
          </p:spPr>
        </p:sp>
        <p:sp>
          <p:nvSpPr>
            <p:cNvPr id="54" name="TextBox 54"/>
            <p:cNvSpPr txBox="1"/>
            <p:nvPr/>
          </p:nvSpPr>
          <p:spPr>
            <a:xfrm>
              <a:off x="87682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55" name="TextBox 55"/>
            <p:cNvSpPr txBox="1"/>
            <p:nvPr/>
          </p:nvSpPr>
          <p:spPr>
            <a:xfrm>
              <a:off x="8948166" y="3334702"/>
              <a:ext cx="219094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PHEV 占比与渗透率并不同向:美国</a:t>
              </a:r>
              <a:br/>
              <a:r>
                <a:rPr lang="zh-CN" sz="1050" dirty="0">
                  <a:solidFill>
                    <a:schemeClr val="dk1"/>
                  </a:solidFill>
                  <a:latin typeface="+mn-lt"/>
                  <a:ea typeface="+mn-ea"/>
                  <a:cs typeface="+mn-cs"/>
                </a:rPr>
                <a:t>渗透率 10%、PHEV 占比只有 22%,是</a:t>
              </a:r>
              <a:br/>
              <a:r>
                <a:rPr lang="zh-CN" sz="1050" dirty="0">
                  <a:solidFill>
                    <a:schemeClr val="dk1"/>
                  </a:solidFill>
                  <a:latin typeface="+mn-lt"/>
                  <a:ea typeface="+mn-ea"/>
                  <a:cs typeface="+mn-cs"/>
                </a:rPr>
                <a:t>唯一占比低于 25% 的大市场(B)。</a:t>
              </a:r>
            </a:p>
          </p:txBody>
        </p:sp>
        <p:sp>
          <p:nvSpPr>
            <p:cNvPr id="56" name="Ellipse 56"/>
            <p:cNvSpPr/>
            <p:nvPr/>
          </p:nvSpPr>
          <p:spPr>
            <a:xfrm>
              <a:off x="8724900" y="4048125"/>
              <a:ext cx="152400" cy="152400"/>
            </a:xfrm>
            <a:prstGeom prst="ellipse">
              <a:avLst/>
            </a:prstGeom>
            <a:solidFill>
              <a:schemeClr val="accent1"/>
            </a:solidFill>
            <a:ln>
              <a:noFill/>
            </a:ln>
          </p:spPr>
        </p:sp>
        <p:sp>
          <p:nvSpPr>
            <p:cNvPr id="57" name="TextBox 57"/>
            <p:cNvSpPr txBox="1"/>
            <p:nvPr/>
          </p:nvSpPr>
          <p:spPr>
            <a:xfrm>
              <a:off x="8768259" y="40767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58" name="TextBox 58"/>
            <p:cNvSpPr txBox="1"/>
            <p:nvPr/>
          </p:nvSpPr>
          <p:spPr>
            <a:xfrm>
              <a:off x="8948166" y="4058602"/>
              <a:ext cx="201091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推论:进入渗透率低于 10% 的市场</a:t>
              </a:r>
              <a:br/>
              <a:r>
                <a:rPr lang="zh-CN" sz="1050" dirty="0">
                  <a:solidFill>
                    <a:schemeClr val="dk1"/>
                  </a:solidFill>
                  <a:latin typeface="+mn-lt"/>
                  <a:ea typeface="+mn-ea"/>
                  <a:cs typeface="+mn-cs"/>
                </a:rPr>
                <a:t>(拉美、印度、东南亚多数国家),</a:t>
              </a:r>
              <a:br/>
              <a:r>
                <a:rPr lang="zh-CN" sz="1050" dirty="0">
                  <a:solidFill>
                    <a:schemeClr val="dk1"/>
                  </a:solidFill>
                  <a:latin typeface="+mn-lt"/>
                  <a:ea typeface="+mn-ea"/>
                  <a:cs typeface="+mn-cs"/>
                </a:rPr>
                <a:t>以 PHEV 先行、BEV 跟进。</a:t>
              </a:r>
            </a:p>
          </p:txBody>
        </p:sp>
        <p:sp>
          <p:nvSpPr>
            <p:cNvPr id="59" name="Rectangle 59"/>
            <p:cNvSpPr/>
            <p:nvPr/>
          </p:nvSpPr>
          <p:spPr>
            <a:xfrm>
              <a:off x="8724900" y="4914900"/>
              <a:ext cx="3009900" cy="1104900"/>
            </a:xfrm>
            <a:prstGeom prst="rect">
              <a:avLst/>
            </a:prstGeom>
            <a:solidFill>
              <a:srgbClr val="F7F7F7"/>
            </a:solidFill>
            <a:ln>
              <a:noFill/>
            </a:ln>
          </p:spPr>
        </p:sp>
        <p:sp>
          <p:nvSpPr>
            <p:cNvPr id="60" name="Rectangle 60"/>
            <p:cNvSpPr/>
            <p:nvPr/>
          </p:nvSpPr>
          <p:spPr>
            <a:xfrm>
              <a:off x="8724900" y="4914900"/>
              <a:ext cx="38100" cy="1104900"/>
            </a:xfrm>
            <a:prstGeom prst="rect">
              <a:avLst/>
            </a:prstGeom>
            <a:solidFill>
              <a:schemeClr val="accent2"/>
            </a:solidFill>
            <a:ln>
              <a:noFill/>
            </a:ln>
          </p:spPr>
        </p:sp>
        <p:sp>
          <p:nvSpPr>
            <p:cNvPr id="61" name="TextBox 61"/>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62" name="TextBox 62"/>
            <p:cNvSpPr txBox="1"/>
            <p:nvPr/>
          </p:nvSpPr>
          <p:spPr>
            <a:xfrm>
              <a:off x="8871966" y="5220652"/>
              <a:ext cx="219094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产品节奏改为 PHEV 先行:渗透率低于</a:t>
              </a:r>
              <a:br/>
              <a:r>
                <a:rPr lang="zh-CN" sz="1050" dirty="0">
                  <a:solidFill>
                    <a:schemeClr val="dk1"/>
                  </a:solidFill>
                  <a:latin typeface="+mn-lt"/>
                  <a:ea typeface="+mn-ea"/>
                  <a:cs typeface="+mn-cs"/>
                </a:rPr>
                <a:t>10% 的市场先上 PHEV,渗透率过 15%</a:t>
              </a:r>
              <a:br/>
              <a:r>
                <a:rPr lang="zh-CN" sz="1050" dirty="0">
                  <a:solidFill>
                    <a:schemeClr val="dk1"/>
                  </a:solidFill>
                  <a:latin typeface="+mn-lt"/>
                  <a:ea typeface="+mn-ea"/>
                  <a:cs typeface="+mn-cs"/>
                </a:rPr>
                <a:t>后 BEV 跟进(第 11 页)。</a:t>
              </a:r>
            </a:p>
          </p:txBody>
        </p:sp>
      </p:grpSp>
      <p:grpSp>
        <p:nvGrpSpPr>
          <p:cNvPr id="68" name="footer"/>
          <p:cNvGrpSpPr/>
          <p:nvPr/>
        </p:nvGrpSpPr>
        <p:grpSpPr>
          <a:xfrm>
            <a:off x="452438" y="6205538"/>
            <a:ext cx="11287125" cy="433388"/>
            <a:chOff x="452438" y="6205538"/>
            <a:chExt cx="11287125" cy="433388"/>
          </a:xfrm>
        </p:grpSpPr>
        <p:sp>
          <p:nvSpPr>
            <p:cNvPr id="64" name="TextBox 64"/>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65" name="TextBox 65"/>
            <p:cNvSpPr txBox="1"/>
            <p:nvPr/>
          </p:nvSpPr>
          <p:spPr>
            <a:xfrm>
              <a:off x="452438" y="6338888"/>
              <a:ext cx="4920139"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PHEV 占比 = PHEV ÷ (BEV + PHEV);中国 2022→2025 倍数:PHEV 5.1 ÷ 1.5 = 3.4,BEV 8.2 ÷ 4.5 = 1.8</a:t>
              </a:r>
            </a:p>
          </p:txBody>
        </p:sp>
        <p:sp>
          <p:nvSpPr>
            <p:cNvPr id="66" name="TextBox 66"/>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67" name="TextBox 67"/>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id="13" presetID="22" presetClass="entr" presetSubtype="2"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wipe(right)">
                                      <p:cBhvr>
                                        <p:cTn id="15" dur="800"/>
                                        <p:tgtEl>
                                          <p:spTgt spid="19"/>
                                        </p:tgtEl>
                                      </p:cBhvr>
                                    </p:animEffect>
                                  </p:childTnLst>
                                </p:cTn>
                              </p:par>
                            </p:childTnLst>
                          </p:cTn>
                        </p:par>
                        <p:par>
                          <p:cTn id="16" fill="hold">
                            <p:stCondLst>
                              <p:cond delay="2300"/>
                            </p:stCondLst>
                            <p:childTnLst>
                              <p:par>
                                <p:cTn id="17" presetID="10" presetClass="entr" presetSubtype="0" fill="hold" grpId="0" nodeType="afterEffect">
                                  <p:stCondLst>
                                    <p:cond delay="5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300"/>
                                        <p:tgtEl>
                                          <p:spTgt spid="30"/>
                                        </p:tgtEl>
                                      </p:cBhvr>
                                    </p:animEffect>
                                  </p:childTnLst>
                                </p:cTn>
                              </p:par>
                            </p:childTnLst>
                          </p:cTn>
                        </p:par>
                        <p:par>
                          <p:cTn id="20" fill="hold">
                            <p:stCondLst>
                              <p:cond delay="3100"/>
                            </p:stCondLst>
                            <p:childTnLst>
                              <p:par>
                                <p:cTn id="21" presetID="10" presetClass="entr" presetSubtype="0" fill="hold" grpId="0" nodeType="afterEffect">
                                  <p:stCondLst>
                                    <p:cond delay="50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300"/>
                                        <p:tgtEl>
                                          <p:spTgt spid="32"/>
                                        </p:tgtEl>
                                      </p:cBhvr>
                                    </p:animEffect>
                                  </p:childTnLst>
                                </p:cTn>
                              </p:par>
                            </p:childTnLst>
                          </p:cTn>
                        </p:par>
                        <p:par>
                          <p:cTn id="24" fill="hold">
                            <p:stCondLst>
                              <p:cond delay="3900"/>
                            </p:stCondLst>
                            <p:childTnLst>
                              <p:par>
                                <p:cTn id="25" presetID="10" presetClass="entr" presetSubtype="0" fill="hold" grpId="0" nodeType="afterEffect">
                                  <p:stCondLst>
                                    <p:cond delay="50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200"/>
                                        <p:tgtEl>
                                          <p:spTgt spid="37"/>
                                        </p:tgtEl>
                                      </p:cBhvr>
                                    </p:animEffect>
                                  </p:childTnLst>
                                </p:cTn>
                              </p:par>
                            </p:childTnLst>
                          </p:cTn>
                        </p:par>
                        <p:par>
                          <p:cTn id="28" fill="hold">
                            <p:stCondLst>
                              <p:cond delay="4600"/>
                            </p:stCondLst>
                            <p:childTnLst>
                              <p:par>
                                <p:cTn id="29" presetID="22" presetClass="entr" presetSubtype="2" fill="hold" grpId="0" nodeType="afterEffect">
                                  <p:stCondLst>
                                    <p:cond delay="500"/>
                                  </p:stCondLst>
                                  <p:childTnLst>
                                    <p:set>
                                      <p:cBhvr>
                                        <p:cTn id="30" dur="1" fill="hold">
                                          <p:stCondLst>
                                            <p:cond delay="0"/>
                                          </p:stCondLst>
                                        </p:cTn>
                                        <p:tgtEl>
                                          <p:spTgt spid="38"/>
                                        </p:tgtEl>
                                        <p:attrNameLst>
                                          <p:attrName>style.visibility</p:attrName>
                                        </p:attrNameLst>
                                      </p:cBhvr>
                                      <p:to>
                                        <p:strVal val="visible"/>
                                      </p:to>
                                    </p:set>
                                    <p:animEffect transition="in" filter="wipe(right)">
                                      <p:cBhvr>
                                        <p:cTn id="31" dur="600"/>
                                        <p:tgtEl>
                                          <p:spTgt spid="38"/>
                                        </p:tgtEl>
                                      </p:cBhvr>
                                    </p:animEffect>
                                  </p:childTnLst>
                                </p:cTn>
                              </p:par>
                            </p:childTnLst>
                          </p:cTn>
                        </p:par>
                        <p:par>
                          <p:cTn id="32" fill="hold">
                            <p:stCondLst>
                              <p:cond delay="5700"/>
                            </p:stCondLst>
                            <p:childTnLst>
                              <p:par>
                                <p:cTn id="33" presetID="10" presetClass="entr" presetSubtype="0" fill="hold" grpId="0" nodeType="afterEffect">
                                  <p:stCondLst>
                                    <p:cond delay="500"/>
                                  </p:stCondLst>
                                  <p:childTnLst>
                                    <p:set>
                                      <p:cBhvr>
                                        <p:cTn id="34" dur="1" fill="hold">
                                          <p:stCondLst>
                                            <p:cond delay="0"/>
                                          </p:stCondLst>
                                        </p:cTn>
                                        <p:tgtEl>
                                          <p:spTgt spid="43"/>
                                        </p:tgtEl>
                                        <p:attrNameLst>
                                          <p:attrName>style.visibility</p:attrName>
                                        </p:attrNameLst>
                                      </p:cBhvr>
                                      <p:to>
                                        <p:strVal val="visible"/>
                                      </p:to>
                                    </p:set>
                                    <p:animEffect transition="in" filter="fade">
                                      <p:cBhvr>
                                        <p:cTn id="35" dur="200"/>
                                        <p:tgtEl>
                                          <p:spTgt spid="43"/>
                                        </p:tgtEl>
                                      </p:cBhvr>
                                    </p:animEffect>
                                  </p:childTnLst>
                                </p:cTn>
                              </p:par>
                            </p:childTnLst>
                          </p:cTn>
                        </p:par>
                        <p:par>
                          <p:cTn id="36" fill="hold">
                            <p:stCondLst>
                              <p:cond delay="6400"/>
                            </p:stCondLst>
                            <p:childTnLst>
                              <p:par>
                                <p:cTn id="37" presetID="22" presetClass="entr" presetSubtype="1" fill="hold" grpId="0" nodeType="afterEffect">
                                  <p:stCondLst>
                                    <p:cond delay="500"/>
                                  </p:stCondLst>
                                  <p:childTnLst>
                                    <p:set>
                                      <p:cBhvr>
                                        <p:cTn id="38" dur="1" fill="hold">
                                          <p:stCondLst>
                                            <p:cond delay="0"/>
                                          </p:stCondLst>
                                        </p:cTn>
                                        <p:tgtEl>
                                          <p:spTgt spid="44"/>
                                        </p:tgtEl>
                                        <p:attrNameLst>
                                          <p:attrName>style.visibility</p:attrName>
                                        </p:attrNameLst>
                                      </p:cBhvr>
                                      <p:to>
                                        <p:strVal val="visible"/>
                                      </p:to>
                                    </p:set>
                                    <p:animEffect transition="in" filter="wipe(up)">
                                      <p:cBhvr>
                                        <p:cTn id="39" dur="600"/>
                                        <p:tgtEl>
                                          <p:spTgt spid="44"/>
                                        </p:tgtEl>
                                      </p:cBhvr>
                                    </p:animEffect>
                                  </p:childTnLst>
                                </p:cTn>
                              </p:par>
                            </p:childTnLst>
                          </p:cTn>
                        </p:par>
                        <p:par>
                          <p:cTn id="40" fill="hold">
                            <p:stCondLst>
                              <p:cond delay="7500"/>
                            </p:stCondLst>
                            <p:childTnLst>
                              <p:par>
                                <p:cTn id="41" presetID="10" presetClass="entr" presetSubtype="0" fill="hold" grpId="0" nodeType="afterEffect">
                                  <p:stCondLst>
                                    <p:cond delay="500"/>
                                  </p:stCondLst>
                                  <p:childTnLst>
                                    <p:set>
                                      <p:cBhvr>
                                        <p:cTn id="42" dur="1" fill="hold">
                                          <p:stCondLst>
                                            <p:cond delay="0"/>
                                          </p:stCondLst>
                                        </p:cTn>
                                        <p:tgtEl>
                                          <p:spTgt spid="63"/>
                                        </p:tgtEl>
                                        <p:attrNameLst>
                                          <p:attrName>style.visibility</p:attrName>
                                        </p:attrNameLst>
                                      </p:cBhvr>
                                      <p:to>
                                        <p:strVal val="visible"/>
                                      </p:to>
                                    </p:set>
                                    <p:animEffect transition="in" filter="fade">
                                      <p:cBhvr>
                                        <p:cTn id="43"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mc="http://schemas.openxmlformats.org/markup-compatibility/2006" xmlns:ns2="http://schemas.microsoft.com/office/drawing/2014/chartex"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565714" y="247650"/>
            <a:ext cx="1169086" cy="206216"/>
            <a:chOff x="10565714" y="247650"/>
            <a:chExt cx="1169086" cy="206216"/>
          </a:xfrm>
        </p:grpSpPr>
        <p:sp>
          <p:nvSpPr>
            <p:cNvPr id="2" name="TextBox 2"/>
            <p:cNvSpPr txBox="1"/>
            <p:nvPr/>
          </p:nvSpPr>
          <p:spPr>
            <a:xfrm>
              <a:off x="10565714" y="291941"/>
              <a:ext cx="240398"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前瞻</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8564499" cy="637794"/>
            <a:chOff x="448056" y="472440"/>
            <a:chExt cx="8564499" cy="637794"/>
          </a:xfrm>
        </p:grpSpPr>
        <p:sp>
          <p:nvSpPr>
            <p:cNvPr id="6" name="TextBox 6"/>
            <p:cNvSpPr txBox="1"/>
            <p:nvPr/>
          </p:nvSpPr>
          <p:spPr>
            <a:xfrm>
              <a:off x="448056" y="472440"/>
              <a:ext cx="8564499"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到 2035 年的 3,400 万辆增量中,中国占 38%、欧洲 29%、印度与东南亚合计 12%,</a:t>
              </a:r>
              <a:br/>
              <a:r>
                <a:rPr lang="zh-CN" sz="1800" b="1" dirty="0">
                  <a:solidFill>
                    <a:schemeClr val="accent1"/>
                  </a:solidFill>
                  <a:latin typeface="+mn-lt"/>
                  <a:ea typeface="+mn-ea"/>
                  <a:cs typeface="+mn-cs"/>
                </a:rPr>
                <a:t>美国仅 5%——增量地图与今天的存量地图不同</a:t>
              </a:r>
            </a:p>
          </p:txBody>
        </p:sp>
      </p:grpSp>
      <p:grpSp>
        <p:nvGrpSpPr>
          <p:cNvPr id="9" name="unit-line"/>
          <p:cNvGrpSpPr/>
          <p:nvPr/>
        </p:nvGrpSpPr>
        <p:grpSpPr>
          <a:xfrm>
            <a:off x="452438" y="1160145"/>
            <a:ext cx="4350182" cy="176212"/>
            <a:chOff x="452438" y="1160145"/>
            <a:chExt cx="4350182" cy="176212"/>
          </a:xfrm>
        </p:grpSpPr>
        <p:sp>
          <p:nvSpPr>
            <p:cNvPr id="8" name="TextBox 8"/>
            <p:cNvSpPr txBox="1"/>
            <p:nvPr/>
          </p:nvSpPr>
          <p:spPr>
            <a:xfrm>
              <a:off x="452438" y="1160145"/>
              <a:ext cx="4350182"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2025→2035 电动车年销量增量分解,百万辆;IEA 既定政策情景(STEPS),仅供参照</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2265792" cy="349091"/>
            <a:chOff x="452438" y="1552575"/>
            <a:chExt cx="2265792"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2056433"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2025→2035 年销量增量按地区分解</a:t>
              </a:r>
            </a:p>
          </p:txBody>
        </p:sp>
        <p:sp>
          <p:nvSpPr>
            <p:cNvPr id="14" name="TextBox 14"/>
            <p:cNvSpPr txBox="1"/>
            <p:nvPr/>
          </p:nvSpPr>
          <p:spPr>
            <a:xfrm>
              <a:off x="452438" y="1739741"/>
              <a:ext cx="1174123"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百万辆;柱顶为各项增量</a:t>
              </a:r>
            </a:p>
          </p:txBody>
        </p:sp>
      </p:grpSp>
      <p:grpSp>
        <p:nvGrpSpPr>
          <p:cNvPr id="27" name="steps-waterfall"/>
          <p:cNvGrpSpPr/>
          <p:nvPr/>
        </p:nvGrpSpPr>
        <p:grpSpPr>
          <a:xfrm>
            <a:off x="457200" y="1943100"/>
            <a:ext cx="8001000" cy="1905000"/>
            <a:chOff x="457200" y="1943100"/>
            <a:chExt cx="8001000" cy="1905000"/>
          </a:xfrm>
        </p:grpSpPr>
        <p:graphicFrame>
          <p:nvGraphicFramePr>
            <p:cNvPr id="16" name="steps-waterfall"/>
            <p:cNvGraphicFramePr>
              <a:graphicFrameLocks noGrp="1"/>
            </p:cNvGraphicFramePr>
            <p:nvPr/>
          </p:nvGraphicFramePr>
          <p:xfrm>
            <a:off x="457200" y="1943100"/>
            <a:ext cx="8001000" cy="1905000"/>
          </p:xfrm>
          <a:graphic>
            <a:graphicData uri="http://schemas.microsoft.com/office/drawing/2014/chartex">
              <ns2:chart r:id="rId2"/>
            </a:graphicData>
          </a:graphic>
        </p:graphicFrame>
        <p:sp>
          <p:nvSpPr>
            <p:cNvPr id="17" name="Chart Note 17"/>
            <p:cNvSpPr txBox="1"/>
            <p:nvPr/>
          </p:nvSpPr>
          <p:spPr>
            <a:xfrm>
              <a:off x="640080" y="2838831"/>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21.0</a:t>
              </a:r>
            </a:p>
          </p:txBody>
        </p:sp>
        <p:sp>
          <p:nvSpPr>
            <p:cNvPr id="18" name="Chart Note 18"/>
            <p:cNvSpPr txBox="1"/>
            <p:nvPr/>
          </p:nvSpPr>
          <p:spPr>
            <a:xfrm>
              <a:off x="1424940" y="2542794"/>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+13.0</a:t>
              </a:r>
            </a:p>
          </p:txBody>
        </p:sp>
        <p:sp>
          <p:nvSpPr>
            <p:cNvPr id="19" name="Chart Note 19"/>
            <p:cNvSpPr txBox="1"/>
            <p:nvPr/>
          </p:nvSpPr>
          <p:spPr>
            <a:xfrm>
              <a:off x="2209800" y="2319623"/>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+9.8</a:t>
              </a:r>
            </a:p>
          </p:txBody>
        </p:sp>
        <p:sp>
          <p:nvSpPr>
            <p:cNvPr id="20" name="Chart Note 20"/>
            <p:cNvSpPr txBox="1"/>
            <p:nvPr/>
          </p:nvSpPr>
          <p:spPr>
            <a:xfrm>
              <a:off x="2994660" y="2270474"/>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+2.2</a:t>
              </a:r>
            </a:p>
          </p:txBody>
        </p:sp>
        <p:sp>
          <p:nvSpPr>
            <p:cNvPr id="21" name="Chart Note 21"/>
            <p:cNvSpPr txBox="1"/>
            <p:nvPr/>
          </p:nvSpPr>
          <p:spPr>
            <a:xfrm>
              <a:off x="3779520" y="2226564"/>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+1.9</a:t>
              </a:r>
            </a:p>
          </p:txBody>
        </p:sp>
        <p:sp>
          <p:nvSpPr>
            <p:cNvPr id="22" name="Chart Note 22"/>
            <p:cNvSpPr txBox="1"/>
            <p:nvPr/>
          </p:nvSpPr>
          <p:spPr>
            <a:xfrm>
              <a:off x="4564380" y="2190083"/>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+1.6</a:t>
              </a:r>
            </a:p>
          </p:txBody>
        </p:sp>
        <p:sp>
          <p:nvSpPr>
            <p:cNvPr id="23" name="Chart Note 23"/>
            <p:cNvSpPr txBox="1"/>
            <p:nvPr/>
          </p:nvSpPr>
          <p:spPr>
            <a:xfrm>
              <a:off x="5349240" y="2175034"/>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+0.7</a:t>
              </a:r>
            </a:p>
          </p:txBody>
        </p:sp>
        <p:sp>
          <p:nvSpPr>
            <p:cNvPr id="24" name="Chart Note 24"/>
            <p:cNvSpPr txBox="1"/>
            <p:nvPr/>
          </p:nvSpPr>
          <p:spPr>
            <a:xfrm>
              <a:off x="6134100" y="2161413"/>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+0.6</a:t>
              </a:r>
            </a:p>
          </p:txBody>
        </p:sp>
        <p:sp>
          <p:nvSpPr>
            <p:cNvPr id="25" name="Chart Note 25"/>
            <p:cNvSpPr txBox="1"/>
            <p:nvPr/>
          </p:nvSpPr>
          <p:spPr>
            <a:xfrm>
              <a:off x="6918960" y="2064639"/>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+4.3</a:t>
              </a:r>
            </a:p>
          </p:txBody>
        </p:sp>
        <p:sp>
          <p:nvSpPr>
            <p:cNvPr id="26" name="Chart Note 26"/>
            <p:cNvSpPr txBox="1"/>
            <p:nvPr/>
          </p:nvSpPr>
          <p:spPr>
            <a:xfrm>
              <a:off x="7703820" y="2064639"/>
              <a:ext cx="571500" cy="166624"/>
            </a:xfrm>
            <a:prstGeom prst="rect">
              <a:avLst/>
            </a:prstGeom>
            <a:noFill/>
            <a:ln>
              <a:noFill/>
            </a:ln>
          </p:spPr>
          <p:txBody>
            <a:bodyPr wrap="square" lIns="0" tIns="0" rIns="0" bIns="0" anchor="b" anchorCtr="0"/>
            <a:lstStyle/>
            <a:p>
              <a:pPr algn="ctr"/>
              <a:r>
                <a:rPr lang="zh-CN" sz="820" b="1">
                  <a:solidFill>
                    <a:srgbClr val="051C2C"/>
                  </a:solidFill>
                  <a:latin typeface="Arial"/>
                  <a:ea typeface="Microsoft YaHei"/>
                  <a:cs typeface="Arial"/>
                </a:rPr>
                <a:t>55.0</a:t>
              </a:r>
            </a:p>
          </p:txBody>
        </p:sp>
      </p:grpSp>
      <p:grpSp>
        <p:nvGrpSpPr>
          <p:cNvPr id="40" name="increment-share"/>
          <p:cNvGrpSpPr/>
          <p:nvPr/>
        </p:nvGrpSpPr>
        <p:grpSpPr>
          <a:xfrm>
            <a:off x="452438" y="3960495"/>
            <a:ext cx="8005762" cy="423862"/>
            <a:chOff x="452438" y="3960495"/>
            <a:chExt cx="8005762" cy="423862"/>
          </a:xfrm>
        </p:grpSpPr>
        <p:sp>
          <p:nvSpPr>
            <p:cNvPr id="28" name="TextBox 28"/>
            <p:cNvSpPr txBox="1"/>
            <p:nvPr/>
          </p:nvSpPr>
          <p:spPr>
            <a:xfrm>
              <a:off x="452438" y="39604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占总增量比例</a:t>
              </a:r>
            </a:p>
          </p:txBody>
        </p:sp>
        <p:sp>
          <p:nvSpPr>
            <p:cNvPr id="29" name="Line 29"/>
            <p:cNvSpPr/>
            <p:nvPr/>
          </p:nvSpPr>
          <p:spPr>
            <a:xfrm>
              <a:off x="457200" y="413385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30" name="TextBox 30"/>
            <p:cNvSpPr txBox="1"/>
            <p:nvPr/>
          </p:nvSpPr>
          <p:spPr>
            <a:xfrm>
              <a:off x="1268158" y="4208145"/>
              <a:ext cx="130683"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Arial"/>
                  <a:ea typeface="Arial"/>
                  <a:cs typeface="Arial"/>
                </a:rPr>
                <a:t>—</a:t>
              </a:r>
            </a:p>
          </p:txBody>
        </p:sp>
        <p:sp>
          <p:nvSpPr>
            <p:cNvPr id="31" name="TextBox 31"/>
            <p:cNvSpPr txBox="1"/>
            <p:nvPr/>
          </p:nvSpPr>
          <p:spPr>
            <a:xfrm>
              <a:off x="1988533" y="4208145"/>
              <a:ext cx="252035" cy="176212"/>
            </a:xfrm>
            <a:prstGeom prst="rect">
              <a:avLst/>
            </a:prstGeom>
            <a:noFill/>
            <a:ln>
              <a:noFill/>
            </a:ln>
          </p:spPr>
          <p:txBody>
            <a:bodyPr wrap="none" lIns="0" tIns="0" rIns="0" bIns="0" anchor="t" anchorCtr="0">
              <a:spAutoFit/>
            </a:bodyPr>
            <a:lstStyle/>
            <a:p>
              <a:pPr algn="ctr"/>
              <a:r>
                <a:rPr lang="zh-CN" sz="900" b="1" dirty="0">
                  <a:solidFill>
                    <a:schemeClr val="accent1"/>
                  </a:solidFill>
                  <a:latin typeface="Arial"/>
                  <a:ea typeface="Arial"/>
                  <a:cs typeface="Arial"/>
                </a:rPr>
                <a:t>38%</a:t>
              </a:r>
            </a:p>
          </p:txBody>
        </p:sp>
        <p:sp>
          <p:nvSpPr>
            <p:cNvPr id="32" name="TextBox 32"/>
            <p:cNvSpPr txBox="1"/>
            <p:nvPr/>
          </p:nvSpPr>
          <p:spPr>
            <a:xfrm>
              <a:off x="2769583" y="4208145"/>
              <a:ext cx="252035" cy="176212"/>
            </a:xfrm>
            <a:prstGeom prst="rect">
              <a:avLst/>
            </a:prstGeom>
            <a:noFill/>
            <a:ln>
              <a:noFill/>
            </a:ln>
          </p:spPr>
          <p:txBody>
            <a:bodyPr wrap="none" lIns="0" tIns="0" rIns="0" bIns="0" anchor="t" anchorCtr="0">
              <a:spAutoFit/>
            </a:bodyPr>
            <a:lstStyle/>
            <a:p>
              <a:pPr algn="ctr"/>
              <a:r>
                <a:rPr lang="zh-CN" sz="900" b="1" dirty="0">
                  <a:solidFill>
                    <a:schemeClr val="accent1"/>
                  </a:solidFill>
                  <a:latin typeface="Arial"/>
                  <a:ea typeface="Arial"/>
                  <a:cs typeface="Arial"/>
                </a:rPr>
                <a:t>29%</a:t>
              </a:r>
            </a:p>
          </p:txBody>
        </p:sp>
        <p:sp>
          <p:nvSpPr>
            <p:cNvPr id="33" name="TextBox 33"/>
            <p:cNvSpPr txBox="1"/>
            <p:nvPr/>
          </p:nvSpPr>
          <p:spPr>
            <a:xfrm>
              <a:off x="3584327" y="4208145"/>
              <a:ext cx="184647" cy="176212"/>
            </a:xfrm>
            <a:prstGeom prst="rect">
              <a:avLst/>
            </a:prstGeom>
            <a:noFill/>
            <a:ln>
              <a:noFill/>
            </a:ln>
          </p:spPr>
          <p:txBody>
            <a:bodyPr wrap="none" lIns="0" tIns="0" rIns="0" bIns="0" anchor="t" anchorCtr="0">
              <a:spAutoFit/>
            </a:bodyPr>
            <a:lstStyle/>
            <a:p>
              <a:pPr algn="ctr"/>
              <a:r>
                <a:rPr lang="zh-CN" sz="900" b="1" dirty="0">
                  <a:solidFill>
                    <a:schemeClr val="accent2"/>
                  </a:solidFill>
                  <a:latin typeface="Arial"/>
                  <a:ea typeface="Arial"/>
                  <a:cs typeface="Arial"/>
                </a:rPr>
                <a:t>6%</a:t>
              </a:r>
            </a:p>
          </p:txBody>
        </p:sp>
        <p:sp>
          <p:nvSpPr>
            <p:cNvPr id="34" name="TextBox 34"/>
            <p:cNvSpPr txBox="1"/>
            <p:nvPr/>
          </p:nvSpPr>
          <p:spPr>
            <a:xfrm>
              <a:off x="4365377" y="4208145"/>
              <a:ext cx="184647" cy="176212"/>
            </a:xfrm>
            <a:prstGeom prst="rect">
              <a:avLst/>
            </a:prstGeom>
            <a:noFill/>
            <a:ln>
              <a:noFill/>
            </a:ln>
          </p:spPr>
          <p:txBody>
            <a:bodyPr wrap="none" lIns="0" tIns="0" rIns="0" bIns="0" anchor="t" anchorCtr="0">
              <a:spAutoFit/>
            </a:bodyPr>
            <a:lstStyle/>
            <a:p>
              <a:pPr algn="ctr"/>
              <a:r>
                <a:rPr lang="zh-CN" sz="900" b="1" dirty="0">
                  <a:solidFill>
                    <a:schemeClr val="accent2"/>
                  </a:solidFill>
                  <a:latin typeface="Arial"/>
                  <a:ea typeface="Arial"/>
                  <a:cs typeface="Arial"/>
                </a:rPr>
                <a:t>6%</a:t>
              </a:r>
            </a:p>
          </p:txBody>
        </p:sp>
        <p:sp>
          <p:nvSpPr>
            <p:cNvPr id="35" name="TextBox 35"/>
            <p:cNvSpPr txBox="1"/>
            <p:nvPr/>
          </p:nvSpPr>
          <p:spPr>
            <a:xfrm>
              <a:off x="5146427" y="4208145"/>
              <a:ext cx="184647" cy="176212"/>
            </a:xfrm>
            <a:prstGeom prst="rect">
              <a:avLst/>
            </a:prstGeom>
            <a:noFill/>
            <a:ln>
              <a:noFill/>
            </a:ln>
          </p:spPr>
          <p:txBody>
            <a:bodyPr wrap="none" lIns="0" tIns="0" rIns="0" bIns="0" anchor="t" anchorCtr="0">
              <a:spAutoFit/>
            </a:bodyPr>
            <a:lstStyle/>
            <a:p>
              <a:pPr algn="ctr"/>
              <a:r>
                <a:rPr lang="zh-CN" sz="900" b="1" dirty="0">
                  <a:solidFill>
                    <a:srgbClr val="B3261E"/>
                  </a:solidFill>
                  <a:latin typeface="Arial"/>
                  <a:ea typeface="Arial"/>
                  <a:cs typeface="Arial"/>
                </a:rPr>
                <a:t>5%</a:t>
              </a:r>
            </a:p>
          </p:txBody>
        </p:sp>
        <p:sp>
          <p:nvSpPr>
            <p:cNvPr id="36" name="TextBox 36"/>
            <p:cNvSpPr txBox="1"/>
            <p:nvPr/>
          </p:nvSpPr>
          <p:spPr>
            <a:xfrm>
              <a:off x="5927477" y="4208145"/>
              <a:ext cx="184647" cy="176212"/>
            </a:xfrm>
            <a:prstGeom prst="rect">
              <a:avLst/>
            </a:prstGeom>
            <a:noFill/>
            <a:ln>
              <a:noFill/>
            </a:ln>
          </p:spPr>
          <p:txBody>
            <a:bodyPr wrap="none" lIns="0" tIns="0" rIns="0" bIns="0" anchor="t" anchorCtr="0">
              <a:spAutoFit/>
            </a:bodyPr>
            <a:lstStyle/>
            <a:p>
              <a:pPr algn="ctr"/>
              <a:r>
                <a:rPr lang="zh-CN" sz="900" dirty="0">
                  <a:solidFill>
                    <a:schemeClr val="accent1"/>
                  </a:solidFill>
                  <a:latin typeface="Arial"/>
                  <a:ea typeface="Arial"/>
                  <a:cs typeface="Arial"/>
                </a:rPr>
                <a:t>2%</a:t>
              </a:r>
            </a:p>
          </p:txBody>
        </p:sp>
        <p:sp>
          <p:nvSpPr>
            <p:cNvPr id="37" name="TextBox 37"/>
            <p:cNvSpPr txBox="1"/>
            <p:nvPr/>
          </p:nvSpPr>
          <p:spPr>
            <a:xfrm>
              <a:off x="6708527" y="4208145"/>
              <a:ext cx="184647" cy="176212"/>
            </a:xfrm>
            <a:prstGeom prst="rect">
              <a:avLst/>
            </a:prstGeom>
            <a:noFill/>
            <a:ln>
              <a:noFill/>
            </a:ln>
          </p:spPr>
          <p:txBody>
            <a:bodyPr wrap="none" lIns="0" tIns="0" rIns="0" bIns="0" anchor="t" anchorCtr="0">
              <a:spAutoFit/>
            </a:bodyPr>
            <a:lstStyle/>
            <a:p>
              <a:pPr algn="ctr"/>
              <a:r>
                <a:rPr lang="zh-CN" sz="900" dirty="0">
                  <a:solidFill>
                    <a:schemeClr val="accent1"/>
                  </a:solidFill>
                  <a:latin typeface="Arial"/>
                  <a:ea typeface="Arial"/>
                  <a:cs typeface="Arial"/>
                </a:rPr>
                <a:t>2%</a:t>
              </a:r>
            </a:p>
          </p:txBody>
        </p:sp>
        <p:sp>
          <p:nvSpPr>
            <p:cNvPr id="38" name="TextBox 38"/>
            <p:cNvSpPr txBox="1"/>
            <p:nvPr/>
          </p:nvSpPr>
          <p:spPr>
            <a:xfrm>
              <a:off x="7455883" y="4208145"/>
              <a:ext cx="252035" cy="176212"/>
            </a:xfrm>
            <a:prstGeom prst="rect">
              <a:avLst/>
            </a:prstGeom>
            <a:noFill/>
            <a:ln>
              <a:noFill/>
            </a:ln>
          </p:spPr>
          <p:txBody>
            <a:bodyPr wrap="none" lIns="0" tIns="0" rIns="0" bIns="0" anchor="t" anchorCtr="0">
              <a:spAutoFit/>
            </a:bodyPr>
            <a:lstStyle/>
            <a:p>
              <a:pPr algn="ctr"/>
              <a:r>
                <a:rPr lang="zh-CN" sz="900" dirty="0">
                  <a:solidFill>
                    <a:schemeClr val="accent1"/>
                  </a:solidFill>
                  <a:latin typeface="Arial"/>
                  <a:ea typeface="Arial"/>
                  <a:cs typeface="Arial"/>
                </a:rPr>
                <a:t>12%</a:t>
              </a:r>
            </a:p>
          </p:txBody>
        </p:sp>
        <p:sp>
          <p:nvSpPr>
            <p:cNvPr id="39" name="TextBox 39"/>
            <p:cNvSpPr txBox="1"/>
            <p:nvPr/>
          </p:nvSpPr>
          <p:spPr>
            <a:xfrm>
              <a:off x="8297608" y="4208145"/>
              <a:ext cx="130683"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Arial"/>
                  <a:ea typeface="Arial"/>
                  <a:cs typeface="Arial"/>
                </a:rPr>
                <a:t>—</a:t>
              </a:r>
            </a:p>
          </p:txBody>
        </p:sp>
      </p:grpSp>
      <p:grpSp>
        <p:nvGrpSpPr>
          <p:cNvPr id="45" name="exhibit-b-head"/>
          <p:cNvGrpSpPr/>
          <p:nvPr/>
        </p:nvGrpSpPr>
        <p:grpSpPr>
          <a:xfrm>
            <a:off x="452438" y="4505325"/>
            <a:ext cx="2945856" cy="349091"/>
            <a:chOff x="452438" y="4505325"/>
            <a:chExt cx="2945856" cy="349091"/>
          </a:xfrm>
        </p:grpSpPr>
        <p:sp>
          <p:nvSpPr>
            <p:cNvPr id="41" name="Ellipse 41"/>
            <p:cNvSpPr/>
            <p:nvPr/>
          </p:nvSpPr>
          <p:spPr>
            <a:xfrm>
              <a:off x="457200" y="4505325"/>
              <a:ext cx="152400" cy="152400"/>
            </a:xfrm>
            <a:prstGeom prst="ellipse">
              <a:avLst/>
            </a:prstGeom>
            <a:solidFill>
              <a:schemeClr val="accent1"/>
            </a:solidFill>
            <a:ln>
              <a:noFill/>
            </a:ln>
          </p:spPr>
        </p:sp>
        <p:sp>
          <p:nvSpPr>
            <p:cNvPr id="42" name="TextBox 42"/>
            <p:cNvSpPr txBox="1"/>
            <p:nvPr/>
          </p:nvSpPr>
          <p:spPr>
            <a:xfrm>
              <a:off x="490115" y="453390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43" name="TextBox 43"/>
            <p:cNvSpPr txBox="1"/>
            <p:nvPr/>
          </p:nvSpPr>
          <p:spPr>
            <a:xfrm>
              <a:off x="661797" y="4523899"/>
              <a:ext cx="2271475"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增量前五地区:2025 与 2035 情景对照</a:t>
              </a:r>
            </a:p>
          </p:txBody>
        </p:sp>
        <p:sp>
          <p:nvSpPr>
            <p:cNvPr id="44" name="TextBox 44"/>
            <p:cNvSpPr txBox="1"/>
            <p:nvPr/>
          </p:nvSpPr>
          <p:spPr>
            <a:xfrm>
              <a:off x="452438" y="4692491"/>
              <a:ext cx="2945856"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销量:万辆;渗透率:%;占比 = 该地区增量 ÷ 总增量 3,400 万</a:t>
              </a:r>
            </a:p>
          </p:txBody>
        </p:sp>
      </p:grpSp>
      <p:graphicFrame>
        <p:nvGraphicFramePr>
          <p:cNvPr id="46" name="steps-top5"/>
          <p:cNvGraphicFramePr>
            <a:graphicFrameLocks noGrp="1"/>
          </p:cNvGraphicFramePr>
          <p:nvPr/>
        </p:nvGraphicFramePr>
        <p:xfrm>
          <a:off x="457200" y="4876800"/>
          <a:ext cx="8001000" cy="1085850"/>
        </p:xfrm>
        <a:graphic>
          <a:graphicData uri="http://schemas.openxmlformats.org/drawingml/2006/table">
            <a:tbl>
              <a:tblPr firstRow="1" bandRow="0">
                <a:tableStyleId>{5C22544A-7EE6-4342-B048-85BDC9FD1C3A}</a:tableStyleId>
              </a:tblPr>
              <a:tblGrid>
                <a:gridCol w="1143000"/>
                <a:gridCol w="1238250"/>
                <a:gridCol w="1238250"/>
                <a:gridCol w="1428750"/>
                <a:gridCol w="1428750"/>
                <a:gridCol w="1524000"/>
              </a:tblGrid>
              <a:tr h="228600">
                <a:tc>
                  <a:txBody>
                    <a:bodyPr/>
                    <a:lstStyle/>
                    <a:p>
                      <a:pPr/>
                      <a:r>
                        <a:rPr lang="zh-CN" sz="820" b="1">
                          <a:solidFill>
                            <a:schemeClr val="accent1"/>
                          </a:solidFill>
                          <a:latin typeface="Microsoft YaHei"/>
                          <a:ea typeface="Microsoft YaHei"/>
                          <a:cs typeface="Microsoft YaHei"/>
                        </a:rPr>
                        <a:t>地区</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2025 销量</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2035 情景</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2025 渗透率</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2035 渗透率</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占总增量</a:t>
                      </a:r>
                    </a:p>
                  </a:txBody>
                  <a:tcPr anchor="ctr" marL="76200" marR="76200" marT="9525" marB="9525">
                    <a:lnL>
                      <a:noFill/>
                    </a:lnL>
                    <a:lnR>
                      <a:noFill/>
                    </a:lnR>
                    <a:lnT>
                      <a:noFill/>
                    </a:lnT>
                    <a:lnB w="9525">
                      <a:solidFill>
                        <a:schemeClr val="accent1"/>
                      </a:solidFill>
                      <a:prstDash val="solid"/>
                    </a:lnB>
                    <a:noFill/>
                  </a:tcPr>
                </a:tc>
              </a:tr>
              <a:tr h="171450">
                <a:tc>
                  <a:txBody>
                    <a:bodyPr/>
                    <a:lstStyle/>
                    <a:p>
                      <a:pPr/>
                      <a:r>
                        <a:rPr lang="zh-CN" sz="820" b="1">
                          <a:solidFill>
                            <a:schemeClr val="dk1"/>
                          </a:solidFill>
                          <a:latin typeface="Microsoft YaHei"/>
                          <a:ea typeface="Microsoft YaHei"/>
                          <a:cs typeface="Microsoft YaHei"/>
                        </a:rPr>
                        <a:t>中国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1,300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2,600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53%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94%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38%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71450">
                <a:tc>
                  <a:txBody>
                    <a:bodyPr/>
                    <a:lstStyle/>
                    <a:p>
                      <a:pPr/>
                      <a:r>
                        <a:rPr lang="zh-CN" sz="820" b="1">
                          <a:solidFill>
                            <a:schemeClr val="dk1"/>
                          </a:solidFill>
                          <a:latin typeface="Microsoft YaHei"/>
                          <a:ea typeface="Microsoft YaHei"/>
                          <a:cs typeface="Microsoft YaHei"/>
                        </a:rPr>
                        <a:t>欧洲</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420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1,400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85%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71450">
                <a:tc>
                  <a:txBody>
                    <a:bodyPr/>
                    <a:lstStyle/>
                    <a:p>
                      <a:pPr/>
                      <a:r>
                        <a:rPr lang="zh-CN" sz="820" b="1">
                          <a:solidFill>
                            <a:schemeClr val="dk1"/>
                          </a:solidFill>
                          <a:latin typeface="Microsoft YaHei"/>
                          <a:ea typeface="Microsoft YaHei"/>
                          <a:cs typeface="Microsoft YaHei"/>
                        </a:rPr>
                        <a:t>东南亚</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54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270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58%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1">
                          <a:solidFill>
                            <a:schemeClr val="accent2"/>
                          </a:solidFill>
                          <a:latin typeface="Arial"/>
                          <a:ea typeface="Arial"/>
                          <a:cs typeface="Arial"/>
                        </a:rPr>
                        <a:t>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71450">
                <a:tc>
                  <a:txBody>
                    <a:bodyPr/>
                    <a:lstStyle/>
                    <a:p>
                      <a:pPr/>
                      <a:r>
                        <a:rPr lang="zh-CN" sz="820" b="1">
                          <a:solidFill>
                            <a:schemeClr val="dk1"/>
                          </a:solidFill>
                          <a:latin typeface="Microsoft YaHei"/>
                          <a:ea typeface="Microsoft YaHei"/>
                          <a:cs typeface="Microsoft YaHei"/>
                        </a:rPr>
                        <a:t>印度</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1">
                          <a:solidFill>
                            <a:schemeClr val="accent2"/>
                          </a:solidFill>
                          <a:latin typeface="Arial"/>
                          <a:ea typeface="Arial"/>
                          <a:cs typeface="Arial"/>
                        </a:rPr>
                        <a:t>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171450">
                <a:tc>
                  <a:txBody>
                    <a:bodyPr/>
                    <a:lstStyle/>
                    <a:p>
                      <a:pPr/>
                      <a:r>
                        <a:rPr lang="zh-CN" sz="820" b="1">
                          <a:solidFill>
                            <a:schemeClr val="dk1"/>
                          </a:solidFill>
                          <a:latin typeface="Microsoft YaHei"/>
                          <a:ea typeface="Microsoft YaHei"/>
                          <a:cs typeface="Microsoft YaHei"/>
                        </a:rPr>
                        <a:t>美国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150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310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0">
                          <a:solidFill>
                            <a:schemeClr val="dk1"/>
                          </a:solidFill>
                          <a:latin typeface="Arial"/>
                          <a:ea typeface="Arial"/>
                          <a:cs typeface="Arial"/>
                        </a:rPr>
                        <a:t>20%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820" b="1">
                          <a:solidFill>
                            <a:srgbClr val="B3261E"/>
                          </a:solidFill>
                          <a:latin typeface="Arial"/>
                          <a:ea typeface="Arial"/>
                          <a:cs typeface="Arial"/>
                        </a:rPr>
                        <a:t>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bl>
          </a:graphicData>
        </a:graphic>
      </p:graphicFrame>
      <p:grpSp>
        <p:nvGrpSpPr>
          <p:cNvPr id="65" name="!!insight-column"/>
          <p:cNvGrpSpPr/>
          <p:nvPr/>
        </p:nvGrpSpPr>
        <p:grpSpPr>
          <a:xfrm>
            <a:off x="8720138" y="1587341"/>
            <a:ext cx="3014662" cy="4432459"/>
            <a:chOff x="8720138" y="1587341"/>
            <a:chExt cx="3014662" cy="4432459"/>
          </a:xfrm>
        </p:grpSpPr>
        <p:sp>
          <p:nvSpPr>
            <p:cNvPr id="47" name="TextBox 47"/>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48" name="Line 48"/>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49" name="Ellipse 49"/>
            <p:cNvSpPr/>
            <p:nvPr/>
          </p:nvSpPr>
          <p:spPr>
            <a:xfrm>
              <a:off x="8724900" y="1876425"/>
              <a:ext cx="152400" cy="152400"/>
            </a:xfrm>
            <a:prstGeom prst="ellipse">
              <a:avLst/>
            </a:prstGeom>
            <a:solidFill>
              <a:schemeClr val="accent1"/>
            </a:solidFill>
            <a:ln>
              <a:noFill/>
            </a:ln>
          </p:spPr>
        </p:sp>
        <p:sp>
          <p:nvSpPr>
            <p:cNvPr id="50" name="TextBox 50"/>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51" name="TextBox 51"/>
            <p:cNvSpPr txBox="1"/>
            <p:nvPr/>
          </p:nvSpPr>
          <p:spPr>
            <a:xfrm>
              <a:off x="8948166" y="1886902"/>
              <a:ext cx="228428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总增量 3,400 万辆:2025 年 2,100 万</a:t>
              </a:r>
              <a:br/>
              <a:r>
                <a:rPr lang="zh-CN" sz="1050" dirty="0">
                  <a:solidFill>
                    <a:schemeClr val="dk1"/>
                  </a:solidFill>
                  <a:latin typeface="+mn-lt"/>
                  <a:ea typeface="+mn-ea"/>
                  <a:cs typeface="+mn-cs"/>
                </a:rPr>
                <a:t>→ 2035 年 5,500 万,十年再增 1.6 倍,</a:t>
              </a:r>
              <a:br/>
              <a:r>
                <a:rPr lang="zh-CN" sz="1050" dirty="0">
                  <a:solidFill>
                    <a:schemeClr val="dk1"/>
                  </a:solidFill>
                  <a:latin typeface="+mn-lt"/>
                  <a:ea typeface="+mn-ea"/>
                  <a:cs typeface="+mn-cs"/>
                </a:rPr>
                <a:t>增速低于过去五年但绝对量更大。</a:t>
              </a:r>
            </a:p>
          </p:txBody>
        </p:sp>
        <p:sp>
          <p:nvSpPr>
            <p:cNvPr id="52" name="Ellipse 52"/>
            <p:cNvSpPr/>
            <p:nvPr/>
          </p:nvSpPr>
          <p:spPr>
            <a:xfrm>
              <a:off x="8724900" y="2600325"/>
              <a:ext cx="152400" cy="152400"/>
            </a:xfrm>
            <a:prstGeom prst="ellipse">
              <a:avLst/>
            </a:prstGeom>
            <a:solidFill>
              <a:schemeClr val="accent1"/>
            </a:solidFill>
            <a:ln>
              <a:noFill/>
            </a:ln>
          </p:spPr>
        </p:sp>
        <p:sp>
          <p:nvSpPr>
            <p:cNvPr id="53" name="TextBox 53"/>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54" name="TextBox 54"/>
            <p:cNvSpPr txBox="1"/>
            <p:nvPr/>
          </p:nvSpPr>
          <p:spPr>
            <a:xfrm>
              <a:off x="8948166" y="2610802"/>
              <a:ext cx="223094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中国 +1,300 万(38%)、欧洲 +980 万</a:t>
              </a:r>
              <a:br/>
              <a:r>
                <a:rPr lang="zh-CN" sz="1050" dirty="0">
                  <a:solidFill>
                    <a:schemeClr val="dk1"/>
                  </a:solidFill>
                  <a:latin typeface="+mn-lt"/>
                  <a:ea typeface="+mn-ea"/>
                  <a:cs typeface="+mn-cs"/>
                </a:rPr>
                <a:t>(29%):两者合计三分之二,仍是</a:t>
              </a:r>
              <a:br/>
              <a:r>
                <a:rPr lang="zh-CN" sz="1050" dirty="0">
                  <a:solidFill>
                    <a:schemeClr val="dk1"/>
                  </a:solidFill>
                  <a:latin typeface="+mn-lt"/>
                  <a:ea typeface="+mn-ea"/>
                  <a:cs typeface="+mn-cs"/>
                </a:rPr>
                <a:t>2035 年前最大的增量池。</a:t>
              </a:r>
            </a:p>
          </p:txBody>
        </p:sp>
        <p:sp>
          <p:nvSpPr>
            <p:cNvPr id="55" name="Ellipse 55"/>
            <p:cNvSpPr/>
            <p:nvPr/>
          </p:nvSpPr>
          <p:spPr>
            <a:xfrm>
              <a:off x="8724900" y="3324225"/>
              <a:ext cx="152400" cy="152400"/>
            </a:xfrm>
            <a:prstGeom prst="ellipse">
              <a:avLst/>
            </a:prstGeom>
            <a:solidFill>
              <a:schemeClr val="accent1"/>
            </a:solidFill>
            <a:ln>
              <a:noFill/>
            </a:ln>
          </p:spPr>
        </p:sp>
        <p:sp>
          <p:nvSpPr>
            <p:cNvPr id="56" name="TextBox 56"/>
            <p:cNvSpPr txBox="1"/>
            <p:nvPr/>
          </p:nvSpPr>
          <p:spPr>
            <a:xfrm>
              <a:off x="87682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57" name="TextBox 57"/>
            <p:cNvSpPr txBox="1"/>
            <p:nvPr/>
          </p:nvSpPr>
          <p:spPr>
            <a:xfrm>
              <a:off x="8948166" y="3334702"/>
              <a:ext cx="2164271"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印度 +193 万、东南亚 +216 万,合计</a:t>
              </a:r>
              <a:br/>
              <a:r>
                <a:rPr lang="zh-CN" sz="1050" dirty="0">
                  <a:solidFill>
                    <a:schemeClr val="dk1"/>
                  </a:solidFill>
                  <a:latin typeface="+mn-lt"/>
                  <a:ea typeface="+mn-ea"/>
                  <a:cs typeface="+mn-cs"/>
                </a:rPr>
                <a:t>12%,超过美国的 5%(+160 万):</a:t>
              </a:r>
              <a:br/>
              <a:r>
                <a:rPr lang="zh-CN" sz="1050" dirty="0">
                  <a:solidFill>
                    <a:schemeClr val="dk1"/>
                  </a:solidFill>
                  <a:latin typeface="+mn-lt"/>
                  <a:ea typeface="+mn-ea"/>
                  <a:cs typeface="+mn-cs"/>
                </a:rPr>
                <a:t>美国在情景里也只是守势市场。</a:t>
              </a:r>
            </a:p>
          </p:txBody>
        </p:sp>
        <p:sp>
          <p:nvSpPr>
            <p:cNvPr id="58" name="Ellipse 58"/>
            <p:cNvSpPr/>
            <p:nvPr/>
          </p:nvSpPr>
          <p:spPr>
            <a:xfrm>
              <a:off x="8724900" y="4048125"/>
              <a:ext cx="152400" cy="152400"/>
            </a:xfrm>
            <a:prstGeom prst="ellipse">
              <a:avLst/>
            </a:prstGeom>
            <a:solidFill>
              <a:schemeClr val="accent1"/>
            </a:solidFill>
            <a:ln>
              <a:noFill/>
            </a:ln>
          </p:spPr>
        </p:sp>
        <p:sp>
          <p:nvSpPr>
            <p:cNvPr id="59" name="TextBox 59"/>
            <p:cNvSpPr txBox="1"/>
            <p:nvPr/>
          </p:nvSpPr>
          <p:spPr>
            <a:xfrm>
              <a:off x="8768259" y="40767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60" name="TextBox 60"/>
            <p:cNvSpPr txBox="1"/>
            <p:nvPr/>
          </p:nvSpPr>
          <p:spPr>
            <a:xfrm>
              <a:off x="8948166" y="4058602"/>
              <a:ext cx="211093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其他 +425 万(12%)是拉美、中东等</a:t>
              </a:r>
              <a:br/>
              <a:r>
                <a:rPr lang="zh-CN" sz="1050" dirty="0">
                  <a:solidFill>
                    <a:schemeClr val="dk1"/>
                  </a:solidFill>
                  <a:latin typeface="+mn-lt"/>
                  <a:ea typeface="+mn-ea"/>
                  <a:cs typeface="+mn-cs"/>
                </a:rPr>
                <a:t>IEA 未单列的市场,与第 7 页的</a:t>
              </a:r>
              <a:br/>
              <a:r>
                <a:rPr lang="zh-CN" sz="1050" dirty="0">
                  <a:solidFill>
                    <a:schemeClr val="dk1"/>
                  </a:solidFill>
                  <a:latin typeface="+mn-lt"/>
                  <a:ea typeface="+mn-ea"/>
                  <a:cs typeface="+mn-cs"/>
                </a:rPr>
                <a:t>巴西、墨西哥趋势一致。</a:t>
              </a:r>
            </a:p>
          </p:txBody>
        </p:sp>
        <p:sp>
          <p:nvSpPr>
            <p:cNvPr id="61" name="Rectangle 61"/>
            <p:cNvSpPr/>
            <p:nvPr/>
          </p:nvSpPr>
          <p:spPr>
            <a:xfrm>
              <a:off x="8724900" y="4914900"/>
              <a:ext cx="3009900" cy="1104900"/>
            </a:xfrm>
            <a:prstGeom prst="rect">
              <a:avLst/>
            </a:prstGeom>
            <a:solidFill>
              <a:srgbClr val="F7F7F7"/>
            </a:solidFill>
            <a:ln>
              <a:noFill/>
            </a:ln>
          </p:spPr>
        </p:sp>
        <p:sp>
          <p:nvSpPr>
            <p:cNvPr id="62" name="Rectangle 62"/>
            <p:cNvSpPr/>
            <p:nvPr/>
          </p:nvSpPr>
          <p:spPr>
            <a:xfrm>
              <a:off x="8724900" y="4914900"/>
              <a:ext cx="38100" cy="1104900"/>
            </a:xfrm>
            <a:prstGeom prst="rect">
              <a:avLst/>
            </a:prstGeom>
            <a:solidFill>
              <a:schemeClr val="accent2"/>
            </a:solidFill>
            <a:ln>
              <a:noFill/>
            </a:ln>
          </p:spPr>
        </p:sp>
        <p:sp>
          <p:nvSpPr>
            <p:cNvPr id="63" name="TextBox 63"/>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64" name="TextBox 64"/>
            <p:cNvSpPr txBox="1"/>
            <p:nvPr/>
          </p:nvSpPr>
          <p:spPr>
            <a:xfrm>
              <a:off x="8871966" y="5220652"/>
              <a:ext cx="228428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2035 年前中国与欧洲仍是主池;印度加</a:t>
              </a:r>
              <a:br/>
              <a:r>
                <a:rPr lang="zh-CN" sz="1050" dirty="0">
                  <a:solidFill>
                    <a:schemeClr val="dk1"/>
                  </a:solidFill>
                  <a:latin typeface="+mn-lt"/>
                  <a:ea typeface="+mn-ea"/>
                  <a:cs typeface="+mn-cs"/>
                </a:rPr>
                <a:t>东南亚 12% 的增量要在 2026–28 建立</a:t>
              </a:r>
              <a:br/>
              <a:r>
                <a:rPr lang="zh-CN" sz="1050" dirty="0">
                  <a:solidFill>
                    <a:schemeClr val="dk1"/>
                  </a:solidFill>
                  <a:latin typeface="+mn-lt"/>
                  <a:ea typeface="+mn-ea"/>
                  <a:cs typeface="+mn-cs"/>
                </a:rPr>
                <a:t>位置,否则后期进不去(第 10 页)。</a:t>
              </a:r>
            </a:p>
          </p:txBody>
        </p:sp>
      </p:grpSp>
      <p:grpSp>
        <p:nvGrpSpPr>
          <p:cNvPr id="70" name="footer"/>
          <p:cNvGrpSpPr/>
          <p:nvPr/>
        </p:nvGrpSpPr>
        <p:grpSpPr>
          <a:xfrm>
            <a:off x="452438" y="6205538"/>
            <a:ext cx="11287125" cy="433388"/>
            <a:chOff x="452438" y="6205538"/>
            <a:chExt cx="11287125" cy="433388"/>
          </a:xfrm>
        </p:grpSpPr>
        <p:sp>
          <p:nvSpPr>
            <p:cNvPr id="66" name="TextBox 66"/>
            <p:cNvSpPr txBox="1"/>
            <p:nvPr/>
          </p:nvSpPr>
          <p:spPr>
            <a:xfrm>
              <a:off x="452438" y="6205538"/>
              <a:ext cx="5175361"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STEPS = IEA Stated Policies Scenario,2035 年值来自 IEA 数据浏览器;各项增量 = 2035 情景销量 − 2025 销量</a:t>
              </a:r>
            </a:p>
          </p:txBody>
        </p:sp>
        <p:sp>
          <p:nvSpPr>
            <p:cNvPr id="67" name="TextBox 67"/>
            <p:cNvSpPr txBox="1"/>
            <p:nvPr/>
          </p:nvSpPr>
          <p:spPr>
            <a:xfrm>
              <a:off x="452438" y="6338888"/>
              <a:ext cx="4381310"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「其他」= 总增量 3,400 万 − 上列各项之和 = 425 万,为本报告计算值;占比 = 各项 ÷ 3,400 万</a:t>
              </a:r>
            </a:p>
          </p:txBody>
        </p:sp>
        <p:sp>
          <p:nvSpPr>
            <p:cNvPr id="68" name="TextBox 68"/>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69" name="TextBox 69"/>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9</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id="13" presetID="22" presetClass="entr" presetSubtype="2" fill="hold" grpId="0" nodeType="afterEffect">
                                  <p:stCondLst>
                                    <p:cond delay="500"/>
                                  </p:stCondLst>
                                  <p:childTnLst>
                                    <p:set>
                                      <p:cBhvr>
                                        <p:cTn id="14" dur="1" fill="hold">
                                          <p:stCondLst>
                                            <p:cond delay="0"/>
                                          </p:stCondLst>
                                        </p:cTn>
                                        <p:tgtEl>
                                          <p:spTgt spid="27"/>
                                        </p:tgtEl>
                                        <p:attrNameLst>
                                          <p:attrName>style.visibility</p:attrName>
                                        </p:attrNameLst>
                                      </p:cBhvr>
                                      <p:to>
                                        <p:strVal val="visible"/>
                                      </p:to>
                                    </p:set>
                                    <p:animEffect transition="in" filter="wipe(right)">
                                      <p:cBhvr>
                                        <p:cTn id="15" dur="1000"/>
                                        <p:tgtEl>
                                          <p:spTgt spid="27"/>
                                        </p:tgtEl>
                                      </p:cBhvr>
                                    </p:animEffect>
                                  </p:childTnLst>
                                </p:cTn>
                              </p:par>
                            </p:childTnLst>
                          </p:cTn>
                        </p:par>
                        <p:par>
                          <p:cTn id="16" fill="hold">
                            <p:stCondLst>
                              <p:cond delay="2500"/>
                            </p:stCondLst>
                            <p:childTnLst>
                              <p:par>
                                <p:cTn id="17" presetID="10" presetClass="entr" presetSubtype="0" fill="hold" grpId="0" nodeType="afterEffect">
                                  <p:stCondLst>
                                    <p:cond delay="50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300"/>
                                        <p:tgtEl>
                                          <p:spTgt spid="40"/>
                                        </p:tgtEl>
                                      </p:cBhvr>
                                    </p:animEffect>
                                  </p:childTnLst>
                                </p:cTn>
                              </p:par>
                            </p:childTnLst>
                          </p:cTn>
                        </p:par>
                        <p:par>
                          <p:cTn id="20" fill="hold">
                            <p:stCondLst>
                              <p:cond delay="3300"/>
                            </p:stCondLst>
                            <p:childTnLst>
                              <p:par>
                                <p:cTn id="21" presetID="10" presetClass="entr" presetSubtype="0" fill="hold" grpId="0" nodeType="afterEffect">
                                  <p:stCondLst>
                                    <p:cond delay="50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200"/>
                                        <p:tgtEl>
                                          <p:spTgt spid="45"/>
                                        </p:tgtEl>
                                      </p:cBhvr>
                                    </p:animEffect>
                                  </p:childTnLst>
                                </p:cTn>
                              </p:par>
                            </p:childTnLst>
                          </p:cTn>
                        </p:par>
                        <p:par>
                          <p:cTn id="24" fill="hold">
                            <p:stCondLst>
                              <p:cond delay="4000"/>
                            </p:stCondLst>
                            <p:childTnLst>
                              <p:par>
                                <p:cTn id="25" presetID="22" presetClass="entr" presetSubtype="4" fill="hold" grpId="0" nodeType="afterEffect">
                                  <p:stCondLst>
                                    <p:cond delay="500"/>
                                  </p:stCondLst>
                                  <p:childTnLst>
                                    <p:set>
                                      <p:cBhvr>
                                        <p:cTn id="26" dur="1" fill="hold">
                                          <p:stCondLst>
                                            <p:cond delay="0"/>
                                          </p:stCondLst>
                                        </p:cTn>
                                        <p:tgtEl>
                                          <p:spTgt spid="46"/>
                                        </p:tgtEl>
                                        <p:attrNameLst>
                                          <p:attrName>style.visibility</p:attrName>
                                        </p:attrNameLst>
                                      </p:cBhvr>
                                      <p:to>
                                        <p:strVal val="visible"/>
                                      </p:to>
                                    </p:set>
                                    <p:animEffect transition="in" filter="wipe(down)">
                                      <p:cBhvr>
                                        <p:cTn id="27" dur="500"/>
                                        <p:tgtEl>
                                          <p:spTgt spid="46"/>
                                        </p:tgtEl>
                                      </p:cBhvr>
                                    </p:animEffect>
                                  </p:childTnLst>
                                </p:cTn>
                              </p:par>
                            </p:childTnLst>
                          </p:cTn>
                        </p:par>
                        <p:par>
                          <p:cTn id="28" fill="hold">
                            <p:stCondLst>
                              <p:cond delay="5000"/>
                            </p:stCondLst>
                            <p:childTnLst>
                              <p:par>
                                <p:cTn id="29" presetID="10" presetClass="entr" presetSubtype="0" fill="hold" grpId="0" nodeType="afterEffect">
                                  <p:stCondLst>
                                    <p:cond delay="500"/>
                                  </p:stCondLst>
                                  <p:childTnLst>
                                    <p:set>
                                      <p:cBhvr>
                                        <p:cTn id="30" dur="1" fill="hold">
                                          <p:stCondLst>
                                            <p:cond delay="0"/>
                                          </p:stCondLst>
                                        </p:cTn>
                                        <p:tgtEl>
                                          <p:spTgt spid="65"/>
                                        </p:tgtEl>
                                        <p:attrNameLst>
                                          <p:attrName>style.visibility</p:attrName>
                                        </p:attrNameLst>
                                      </p:cBhvr>
                                      <p:to>
                                        <p:strVal val="visible"/>
                                      </p:to>
                                    </p:set>
                                    <p:animEffect transition="in" filter="fade">
                                      <p:cBhvr>
                                        <p:cTn id="31"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565714" y="247650"/>
            <a:ext cx="1169086" cy="206216"/>
            <a:chOff x="10565714" y="247650"/>
            <a:chExt cx="1169086" cy="206216"/>
          </a:xfrm>
        </p:grpSpPr>
        <p:sp>
          <p:nvSpPr>
            <p:cNvPr id="2" name="TextBox 2"/>
            <p:cNvSpPr txBox="1"/>
            <p:nvPr/>
          </p:nvSpPr>
          <p:spPr>
            <a:xfrm>
              <a:off x="10565714" y="291941"/>
              <a:ext cx="240398"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建议</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6968871" cy="637794"/>
            <a:chOff x="448056" y="472440"/>
            <a:chExt cx="6968871" cy="637794"/>
          </a:xfrm>
        </p:grpSpPr>
        <p:sp>
          <p:nvSpPr>
            <p:cNvPr id="6" name="TextBox 6"/>
            <p:cNvSpPr txBox="1"/>
            <p:nvPr/>
          </p:nvSpPr>
          <p:spPr>
            <a:xfrm>
              <a:off x="448056" y="472440"/>
              <a:ext cx="6968871"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建议按三级优先级分配 2026–2028 增量投入:中国深耕、欧洲选点、</a:t>
              </a:r>
              <a:br/>
              <a:r>
                <a:rPr lang="zh-CN" sz="1800" b="1" dirty="0">
                  <a:solidFill>
                    <a:schemeClr val="accent1"/>
                  </a:solidFill>
                  <a:latin typeface="+mn-lt"/>
                  <a:ea typeface="+mn-ea"/>
                  <a:cs typeface="+mn-cs"/>
                </a:rPr>
                <a:t>东南亚与拉美抢滩,美国转为守势</a:t>
              </a:r>
            </a:p>
          </p:txBody>
        </p:sp>
      </p:grpSp>
      <p:grpSp>
        <p:nvGrpSpPr>
          <p:cNvPr id="9" name="unit-line"/>
          <p:cNvGrpSpPr/>
          <p:nvPr/>
        </p:nvGrpSpPr>
        <p:grpSpPr>
          <a:xfrm>
            <a:off x="452438" y="1160145"/>
            <a:ext cx="5073929" cy="176212"/>
            <a:chOff x="452438" y="1160145"/>
            <a:chExt cx="5073929" cy="176212"/>
          </a:xfrm>
        </p:grpSpPr>
        <p:sp>
          <p:nvSpPr>
            <p:cNvPr id="8" name="TextBox 8"/>
            <p:cNvSpPr txBox="1"/>
            <p:nvPr/>
          </p:nvSpPr>
          <p:spPr>
            <a:xfrm>
              <a:off x="452438" y="1160145"/>
              <a:ext cx="507392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市场优先级分级:2025 年销量与渗透率、2023→2025 销量倍数、2035 年情景、进入方式与依据</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aphicFrame>
        <p:nvGraphicFramePr>
          <p:cNvPr id="11" name="market-tiers"/>
          <p:cNvGraphicFramePr>
            <a:graphicFrameLocks noGrp="1"/>
          </p:cNvGraphicFramePr>
          <p:nvPr/>
        </p:nvGraphicFramePr>
        <p:xfrm>
          <a:off x="457200" y="1524000"/>
          <a:ext cx="11277600" cy="3429000"/>
        </p:xfrm>
        <a:graphic>
          <a:graphicData uri="http://schemas.openxmlformats.org/drawingml/2006/table">
            <a:tbl>
              <a:tblPr firstRow="1" bandRow="0">
                <a:tableStyleId>{5C22544A-7EE6-4342-B048-85BDC9FD1C3A}</a:tableStyleId>
              </a:tblPr>
              <a:tblGrid>
                <a:gridCol w="1047751"/>
                <a:gridCol w="1238250"/>
                <a:gridCol w="1047750"/>
                <a:gridCol w="1047750"/>
                <a:gridCol w="1333500"/>
                <a:gridCol w="1143000"/>
                <a:gridCol w="2857499"/>
                <a:gridCol w="1562100"/>
              </a:tblGrid>
              <a:tr h="285750">
                <a:tc>
                  <a:txBody>
                    <a:bodyPr/>
                    <a:lstStyle/>
                    <a:p>
                      <a:pPr/>
                      <a:r>
                        <a:rPr lang="zh-CN" sz="820" b="1">
                          <a:solidFill>
                            <a:schemeClr val="accent1"/>
                          </a:solidFill>
                          <a:latin typeface="Microsoft YaHei"/>
                          <a:ea typeface="Microsoft YaHei"/>
                          <a:cs typeface="Microsoft YaHei"/>
                        </a:rPr>
                        <a:t>市场</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2025 销量(万辆)</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2023→25 倍数</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2025 渗透率</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2035 情景(万辆)</a:t>
                      </a:r>
                    </a:p>
                  </a:txBody>
                  <a:tcPr anchor="ctr" marL="76200" marR="76200" marT="9525" marB="9525">
                    <a:lnL>
                      <a:noFill/>
                    </a:lnL>
                    <a:lnR>
                      <a:noFill/>
                    </a:lnR>
                    <a:lnT>
                      <a:noFill/>
                    </a:lnT>
                    <a:lnB w="9525">
                      <a:solidFill>
                        <a:schemeClr val="accent1"/>
                      </a:solidFill>
                      <a:prstDash val="solid"/>
                    </a:lnB>
                    <a:noFill/>
                  </a:tcPr>
                </a:tc>
                <a:tc>
                  <a:txBody>
                    <a:bodyPr/>
                    <a:lstStyle/>
                    <a:p>
                      <a:pPr/>
                      <a:r>
                        <a:rPr lang="zh-CN" sz="820" b="1">
                          <a:solidFill>
                            <a:schemeClr val="accent1"/>
                          </a:solidFill>
                          <a:latin typeface="Microsoft YaHei"/>
                          <a:ea typeface="Microsoft YaHei"/>
                          <a:cs typeface="Microsoft YaHei"/>
                        </a:rPr>
                        <a:t>优先级</a:t>
                      </a:r>
                    </a:p>
                  </a:txBody>
                  <a:tcPr anchor="ctr" marL="76200" marR="76200" marT="9525" marB="9525">
                    <a:lnL>
                      <a:noFill/>
                    </a:lnL>
                    <a:lnR>
                      <a:noFill/>
                    </a:lnR>
                    <a:lnT>
                      <a:noFill/>
                    </a:lnT>
                    <a:lnB w="9525">
                      <a:solidFill>
                        <a:schemeClr val="accent1"/>
                      </a:solidFill>
                      <a:prstDash val="solid"/>
                    </a:lnB>
                    <a:noFill/>
                  </a:tcPr>
                </a:tc>
                <a:tc>
                  <a:txBody>
                    <a:bodyPr/>
                    <a:lstStyle/>
                    <a:p>
                      <a:pPr/>
                      <a:r>
                        <a:rPr lang="zh-CN" sz="820" b="1">
                          <a:solidFill>
                            <a:schemeClr val="accent1"/>
                          </a:solidFill>
                          <a:latin typeface="Microsoft YaHei"/>
                          <a:ea typeface="Microsoft YaHei"/>
                          <a:cs typeface="Microsoft YaHei"/>
                        </a:rPr>
                        <a:t>进入方式</a:t>
                      </a:r>
                    </a:p>
                  </a:txBody>
                  <a:tcPr anchor="ctr" marL="76200" marR="76200" marT="9525" marB="9525">
                    <a:lnL>
                      <a:noFill/>
                    </a:lnL>
                    <a:lnR>
                      <a:noFill/>
                    </a:lnR>
                    <a:lnT>
                      <a:noFill/>
                    </a:lnT>
                    <a:lnB w="9525">
                      <a:solidFill>
                        <a:schemeClr val="accent1"/>
                      </a:solidFill>
                      <a:prstDash val="solid"/>
                    </a:lnB>
                    <a:noFill/>
                  </a:tcPr>
                </a:tc>
                <a:tc>
                  <a:txBody>
                    <a:bodyPr/>
                    <a:lstStyle/>
                    <a:p>
                      <a:pPr/>
                      <a:r>
                        <a:rPr lang="zh-CN" sz="820" b="1">
                          <a:solidFill>
                            <a:schemeClr val="accent1"/>
                          </a:solidFill>
                          <a:latin typeface="Microsoft YaHei"/>
                          <a:ea typeface="Microsoft YaHei"/>
                          <a:cs typeface="Microsoft YaHei"/>
                        </a:rPr>
                        <a:t>依据(页)</a:t>
                      </a:r>
                    </a:p>
                  </a:txBody>
                  <a:tcPr anchor="ctr" marL="76200" marR="76200" marT="9525" marB="9525">
                    <a:lnL>
                      <a:noFill/>
                    </a:lnL>
                    <a:lnR>
                      <a:noFill/>
                    </a:lnR>
                    <a:lnT>
                      <a:noFill/>
                    </a:lnT>
                    <a:lnB w="9525">
                      <a:solidFill>
                        <a:schemeClr val="accent1"/>
                      </a:solidFill>
                      <a:prstDash val="solid"/>
                    </a:lnB>
                    <a:noFill/>
                  </a:tcPr>
                </a:tc>
              </a:tr>
              <a:tr h="285750">
                <a:tc>
                  <a:txBody>
                    <a:bodyPr/>
                    <a:lstStyle/>
                    <a:p>
                      <a:pPr/>
                      <a:r>
                        <a:rPr lang="zh-CN" sz="900" b="1">
                          <a:solidFill>
                            <a:schemeClr val="dk1"/>
                          </a:solidFill>
                          <a:latin typeface="Microsoft YaHei"/>
                          <a:ea typeface="Microsoft YaHei"/>
                          <a:cs typeface="Microsoft YaHei"/>
                        </a:rPr>
                        <a:t>中国</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1,300</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1.6×</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53%</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2,600</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r>
                        <a:rPr lang="zh-CN" sz="900" b="1">
                          <a:solidFill>
                            <a:schemeClr val="accent2"/>
                          </a:solidFill>
                          <a:latin typeface="Microsoft YaHei"/>
                          <a:ea typeface="Microsoft YaHei"/>
                          <a:cs typeface="Microsoft YaHei"/>
                        </a:rPr>
                        <a:t>一级 · 深耕</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r>
                        <a:rPr lang="zh-CN" sz="900" b="0">
                          <a:solidFill>
                            <a:schemeClr val="dk1"/>
                          </a:solidFill>
                          <a:latin typeface="Microsoft YaHei"/>
                          <a:ea typeface="Microsoft YaHei"/>
                          <a:cs typeface="Microsoft YaHei"/>
                        </a:rPr>
                        <a:t>BEV + PHEV 双线,巩固份额</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r>
                        <a:rPr lang="zh-CN" sz="900" b="0">
                          <a:solidFill>
                            <a:schemeClr val="dk1"/>
                          </a:solidFill>
                          <a:latin typeface="Microsoft YaHei"/>
                          <a:ea typeface="Microsoft YaHei"/>
                          <a:cs typeface="Microsoft YaHei"/>
                        </a:rPr>
                        <a:t>3、4、8</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r>
              <a:tr h="285750">
                <a:tc>
                  <a:txBody>
                    <a:bodyPr/>
                    <a:lstStyle/>
                    <a:p>
                      <a:pPr/>
                      <a:r>
                        <a:rPr lang="zh-CN" sz="900" b="1">
                          <a:solidFill>
                            <a:schemeClr val="dk1"/>
                          </a:solidFill>
                          <a:latin typeface="Microsoft YaHei"/>
                          <a:ea typeface="Microsoft YaHei"/>
                          <a:cs typeface="Microsoft YaHei"/>
                        </a:rPr>
                        <a:t>东南亚</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54</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3.4×</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18%</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270</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r>
                        <a:rPr lang="zh-CN" sz="900" b="1">
                          <a:solidFill>
                            <a:schemeClr val="accent2"/>
                          </a:solidFill>
                          <a:latin typeface="Microsoft YaHei"/>
                          <a:ea typeface="Microsoft YaHei"/>
                          <a:cs typeface="Microsoft YaHei"/>
                        </a:rPr>
                        <a:t>一级 · 抢滩</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r>
                        <a:rPr lang="zh-CN" sz="900" b="0">
                          <a:solidFill>
                            <a:schemeClr val="dk1"/>
                          </a:solidFill>
                          <a:latin typeface="Microsoft YaHei"/>
                          <a:ea typeface="Microsoft YaHei"/>
                          <a:cs typeface="Microsoft YaHei"/>
                        </a:rPr>
                        <a:t>PHEV 先行,泰国首发</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r>
                        <a:rPr lang="zh-CN" sz="900" b="0">
                          <a:solidFill>
                            <a:schemeClr val="dk1"/>
                          </a:solidFill>
                          <a:latin typeface="Microsoft YaHei"/>
                          <a:ea typeface="Microsoft YaHei"/>
                          <a:cs typeface="Microsoft YaHei"/>
                        </a:rPr>
                        <a:t>7、9</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r>
              <a:tr h="285750">
                <a:tc>
                  <a:txBody>
                    <a:bodyPr/>
                    <a:lstStyle/>
                    <a:p>
                      <a:pPr/>
                      <a:r>
                        <a:rPr lang="zh-CN" sz="900" b="1">
                          <a:solidFill>
                            <a:schemeClr val="dk1"/>
                          </a:solidFill>
                          <a:latin typeface="Microsoft YaHei"/>
                          <a:ea typeface="Microsoft YaHei"/>
                          <a:cs typeface="Microsoft YaHei"/>
                        </a:rPr>
                        <a:t>英国</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70</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1.5×</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35%</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r>
                        <a:rPr lang="zh-CN" sz="900" b="1">
                          <a:solidFill>
                            <a:schemeClr val="accent2"/>
                          </a:solidFill>
                          <a:latin typeface="Microsoft YaHei"/>
                          <a:ea typeface="Microsoft YaHei"/>
                          <a:cs typeface="Microsoft YaHei"/>
                        </a:rPr>
                        <a:t>一级 · 重点</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r>
                        <a:rPr lang="zh-CN" sz="900" b="0">
                          <a:solidFill>
                            <a:schemeClr val="dk1"/>
                          </a:solidFill>
                          <a:latin typeface="Microsoft YaHei"/>
                          <a:ea typeface="Microsoft YaHei"/>
                          <a:cs typeface="Microsoft YaHei"/>
                        </a:rPr>
                        <a:t>补齐 BEV 车型</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r>
                        <a:rPr lang="zh-CN" sz="900" b="0">
                          <a:solidFill>
                            <a:schemeClr val="dk1"/>
                          </a:solidFill>
                          <a:latin typeface="Microsoft YaHei"/>
                          <a:ea typeface="Microsoft YaHei"/>
                          <a:cs typeface="Microsoft YaHei"/>
                        </a:rPr>
                        <a:t>6</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r>
              <a:tr h="285750">
                <a:tc>
                  <a:txBody>
                    <a:bodyPr/>
                    <a:lstStyle/>
                    <a:p>
                      <a:pPr/>
                      <a:r>
                        <a:rPr lang="zh-CN" sz="900" b="1">
                          <a:solidFill>
                            <a:schemeClr val="dk1"/>
                          </a:solidFill>
                          <a:latin typeface="Microsoft YaHei"/>
                          <a:ea typeface="Microsoft YaHei"/>
                          <a:cs typeface="Microsoft YaHei"/>
                        </a:rPr>
                        <a:t>德国</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86</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1.2×</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30%</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lgn="r"/>
                      <a:r>
                        <a:rPr lang="zh-CN" sz="900" b="0">
                          <a:solidFill>
                            <a:schemeClr val="dk1"/>
                          </a:solidFill>
                          <a:latin typeface="Arial"/>
                          <a:ea typeface="Arial"/>
                          <a:cs typeface="Arial"/>
                        </a:rPr>
                        <a:t>—</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r>
                        <a:rPr lang="zh-CN" sz="900" b="1">
                          <a:solidFill>
                            <a:schemeClr val="accent2"/>
                          </a:solidFill>
                          <a:latin typeface="Microsoft YaHei"/>
                          <a:ea typeface="Microsoft YaHei"/>
                          <a:cs typeface="Microsoft YaHei"/>
                        </a:rPr>
                        <a:t>一级 · 重点</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r>
                        <a:rPr lang="zh-CN" sz="900" b="0">
                          <a:solidFill>
                            <a:schemeClr val="dk1"/>
                          </a:solidFill>
                          <a:latin typeface="Microsoft YaHei"/>
                          <a:ea typeface="Microsoft YaHei"/>
                          <a:cs typeface="Microsoft YaHei"/>
                        </a:rPr>
                        <a:t>补齐 BEV 车型,按季评估</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c>
                  <a:txBody>
                    <a:bodyPr/>
                    <a:lstStyle/>
                    <a:p>
                      <a:pPr/>
                      <a:r>
                        <a:rPr lang="zh-CN" sz="900" b="0">
                          <a:solidFill>
                            <a:schemeClr val="dk1"/>
                          </a:solidFill>
                          <a:latin typeface="Microsoft YaHei"/>
                          <a:ea typeface="Microsoft YaHei"/>
                          <a:cs typeface="Microsoft YaHei"/>
                        </a:rPr>
                        <a:t>6、12</a:t>
                      </a:r>
                    </a:p>
                  </a:txBody>
                  <a:tcPr anchor="ctr" marL="76200" marR="76200" marT="9525" marB="9525">
                    <a:lnL>
                      <a:noFill/>
                    </a:lnL>
                    <a:lnR>
                      <a:noFill/>
                    </a:lnR>
                    <a:lnT w="7144">
                      <a:solidFill>
                        <a:srgbClr val="E3E3E3"/>
                      </a:solidFill>
                      <a:prstDash val="solid"/>
                    </a:lnT>
                    <a:lnB w="7144">
                      <a:solidFill>
                        <a:srgbClr val="E3E3E3"/>
                      </a:solidFill>
                      <a:prstDash val="solid"/>
                    </a:lnB>
                    <a:solidFill>
                      <a:srgbClr val="EEF2FF"/>
                    </a:solidFill>
                  </a:tcPr>
                </a:tc>
              </a:tr>
              <a:tr h="285750">
                <a:tc>
                  <a:txBody>
                    <a:bodyPr/>
                    <a:lstStyle/>
                    <a:p>
                      <a:pPr/>
                      <a:r>
                        <a:rPr lang="zh-CN" sz="900" b="1">
                          <a:solidFill>
                            <a:schemeClr val="dk1"/>
                          </a:solidFill>
                          <a:latin typeface="Microsoft YaHei"/>
                          <a:ea typeface="Microsoft YaHei"/>
                          <a:cs typeface="Microsoft YaHei"/>
                        </a:rPr>
                        <a:t>巴西</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1">
                          <a:solidFill>
                            <a:schemeClr val="accent1"/>
                          </a:solidFill>
                          <a:latin typeface="Microsoft YaHei"/>
                          <a:ea typeface="Microsoft YaHei"/>
                          <a:cs typeface="Microsoft YaHei"/>
                        </a:rPr>
                        <a:t>二级 · 择机</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PHEV 试点</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墨西哥</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5.3×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1">
                          <a:solidFill>
                            <a:schemeClr val="accent1"/>
                          </a:solidFill>
                          <a:latin typeface="Microsoft YaHei"/>
                          <a:ea typeface="Microsoft YaHei"/>
                          <a:cs typeface="Microsoft YaHei"/>
                        </a:rPr>
                        <a:t>二级 · 择机</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PHEV 试点</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印度</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1">
                          <a:solidFill>
                            <a:schemeClr val="accent1"/>
                          </a:solidFill>
                          <a:latin typeface="Microsoft YaHei"/>
                          <a:ea typeface="Microsoft YaHei"/>
                          <a:cs typeface="Microsoft YaHei"/>
                        </a:rPr>
                        <a:t>二级 · 择机</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PHEV 试点,2027 起</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7、9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韩国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22</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88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1">
                          <a:solidFill>
                            <a:schemeClr val="accent1"/>
                          </a:solidFill>
                          <a:latin typeface="Microsoft YaHei"/>
                          <a:ea typeface="Microsoft YaHei"/>
                          <a:cs typeface="Microsoft YaHei"/>
                        </a:rPr>
                        <a:t>二级 · 择机</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渠道试点</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美国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150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1">
                          <a:solidFill>
                            <a:schemeClr val="accent5"/>
                          </a:solidFill>
                          <a:latin typeface="Microsoft YaHei"/>
                          <a:ea typeface="Microsoft YaHei"/>
                          <a:cs typeface="Microsoft YaHei"/>
                        </a:rPr>
                        <a:t>三级 · 守势</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不新增产能,2028 复盘</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5、9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日本</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0.7×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70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1">
                          <a:solidFill>
                            <a:schemeClr val="accent5"/>
                          </a:solidFill>
                          <a:latin typeface="Microsoft YaHei"/>
                          <a:ea typeface="Microsoft YaHei"/>
                          <a:cs typeface="Microsoft YaHei"/>
                        </a:rPr>
                        <a:t>三级 · 守势</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维持现状</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法国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45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1">
                          <a:solidFill>
                            <a:schemeClr val="accent5"/>
                          </a:solidFill>
                          <a:latin typeface="Microsoft YaHei"/>
                          <a:ea typeface="Microsoft YaHei"/>
                          <a:cs typeface="Microsoft YaHei"/>
                        </a:rPr>
                        <a:t>三级 · 守势</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维持现状</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r>
                        <a:rPr lang="zh-CN" sz="900" b="0">
                          <a:solidFill>
                            <a:schemeClr val="dk1"/>
                          </a:solidFill>
                          <a:latin typeface="Microsoft YaHei"/>
                          <a:ea typeface="Microsoft YaHei"/>
                          <a:cs typeface="Microsoft YaHei"/>
                        </a:rPr>
                        <a:t>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bl>
          </a:graphicData>
        </a:graphic>
      </p:graphicFrame>
      <p:grpSp>
        <p:nvGrpSpPr>
          <p:cNvPr id="20" name="tier-totals"/>
          <p:cNvGrpSpPr/>
          <p:nvPr/>
        </p:nvGrpSpPr>
        <p:grpSpPr>
          <a:xfrm>
            <a:off x="448818" y="5130641"/>
            <a:ext cx="5342382" cy="619125"/>
            <a:chOff x="448818" y="5130641"/>
            <a:chExt cx="5342382" cy="619125"/>
          </a:xfrm>
        </p:grpSpPr>
        <p:sp>
          <p:nvSpPr>
            <p:cNvPr id="12" name="TextBox 12"/>
            <p:cNvSpPr txBox="1"/>
            <p:nvPr/>
          </p:nvSpPr>
          <p:spPr>
            <a:xfrm>
              <a:off x="452438" y="5130641"/>
              <a:ext cx="2888396"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三级合计:2025 年销量与 2023→25 增量(万辆)</a:t>
              </a:r>
            </a:p>
          </p:txBody>
        </p:sp>
        <p:sp>
          <p:nvSpPr>
            <p:cNvPr id="13" name="Line 13"/>
            <p:cNvSpPr/>
            <p:nvPr/>
          </p:nvSpPr>
          <p:spPr>
            <a:xfrm>
              <a:off x="457200" y="5295900"/>
              <a:ext cx="5334000" cy="9525"/>
            </a:xfrm>
            <a:custGeom>
              <a:avLst/>
              <a:gdLst/>
              <a:ahLst/>
              <a:cxnLst/>
              <a:rect l="l" t="t" r="r" b="b"/>
              <a:pathLst>
                <a:path w="5334000" h="9525">
                  <a:moveTo>
                    <a:pt x="0" y="0"/>
                  </a:moveTo>
                  <a:lnTo>
                    <a:pt x="5334000" y="0"/>
                  </a:lnTo>
                </a:path>
              </a:pathLst>
            </a:custGeom>
            <a:noFill/>
            <a:ln w="7144">
              <a:solidFill>
                <a:schemeClr val="accent1"/>
              </a:solidFill>
            </a:ln>
          </p:spPr>
        </p:sp>
        <p:sp>
          <p:nvSpPr>
            <p:cNvPr id="14" name="TextBox 14"/>
            <p:cNvSpPr txBox="1"/>
            <p:nvPr/>
          </p:nvSpPr>
          <p:spPr>
            <a:xfrm>
              <a:off x="448818" y="5346382"/>
              <a:ext cx="572649"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Arial"/>
                  <a:ea typeface="Arial"/>
                  <a:cs typeface="Arial"/>
                </a:rPr>
                <a:t>1,510</a:t>
              </a:r>
            </a:p>
          </p:txBody>
        </p:sp>
        <p:sp>
          <p:nvSpPr>
            <p:cNvPr id="15" name="TextBox 15"/>
            <p:cNvSpPr txBox="1"/>
            <p:nvPr/>
          </p:nvSpPr>
          <p:spPr>
            <a:xfrm>
              <a:off x="452438" y="5587841"/>
              <a:ext cx="113548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一级 4 市场,增量 +370</a:t>
              </a:r>
            </a:p>
          </p:txBody>
        </p:sp>
        <p:sp>
          <p:nvSpPr>
            <p:cNvPr id="16" name="TextBox 16"/>
            <p:cNvSpPr txBox="1"/>
            <p:nvPr/>
          </p:nvSpPr>
          <p:spPr>
            <a:xfrm>
              <a:off x="2227136" y="5346382"/>
              <a:ext cx="26385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Arial"/>
                  <a:ea typeface="Arial"/>
                  <a:cs typeface="Arial"/>
                </a:rPr>
                <a:t>66</a:t>
              </a:r>
            </a:p>
          </p:txBody>
        </p:sp>
        <p:sp>
          <p:nvSpPr>
            <p:cNvPr id="17" name="TextBox 17"/>
            <p:cNvSpPr txBox="1"/>
            <p:nvPr/>
          </p:nvSpPr>
          <p:spPr>
            <a:xfrm>
              <a:off x="2230755" y="5587841"/>
              <a:ext cx="1074773"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二级 4 市场,增量 +37</a:t>
              </a:r>
            </a:p>
          </p:txBody>
        </p:sp>
        <p:sp>
          <p:nvSpPr>
            <p:cNvPr id="18" name="TextBox 18"/>
            <p:cNvSpPr txBox="1"/>
            <p:nvPr/>
          </p:nvSpPr>
          <p:spPr>
            <a:xfrm>
              <a:off x="4004500" y="5346382"/>
              <a:ext cx="387398" cy="322707"/>
            </a:xfrm>
            <a:prstGeom prst="rect">
              <a:avLst/>
            </a:prstGeom>
            <a:noFill/>
            <a:ln>
              <a:noFill/>
            </a:ln>
          </p:spPr>
          <p:txBody>
            <a:bodyPr wrap="none" lIns="0" tIns="0" rIns="0" bIns="0" anchor="t" anchorCtr="0">
              <a:spAutoFit/>
            </a:bodyPr>
            <a:lstStyle/>
            <a:p>
              <a:pPr algn="l"/>
              <a:r>
                <a:rPr lang="zh-CN" sz="1650" b="1" dirty="0">
                  <a:solidFill>
                    <a:schemeClr val="accent5"/>
                  </a:solidFill>
                  <a:latin typeface="Arial"/>
                  <a:ea typeface="Arial"/>
                  <a:cs typeface="Arial"/>
                </a:rPr>
                <a:t>205</a:t>
              </a:r>
            </a:p>
          </p:txBody>
        </p:sp>
        <p:sp>
          <p:nvSpPr>
            <p:cNvPr id="19" name="TextBox 19"/>
            <p:cNvSpPr txBox="1"/>
            <p:nvPr/>
          </p:nvSpPr>
          <p:spPr>
            <a:xfrm>
              <a:off x="4008120" y="5587841"/>
              <a:ext cx="1014059"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三级 3 市场,增量 −2</a:t>
              </a:r>
            </a:p>
          </p:txBody>
        </p:sp>
      </p:grpSp>
      <p:grpSp>
        <p:nvGrpSpPr>
          <p:cNvPr id="24" name="tier-note"/>
          <p:cNvGrpSpPr/>
          <p:nvPr/>
        </p:nvGrpSpPr>
        <p:grpSpPr>
          <a:xfrm>
            <a:off x="6090666" y="5130641"/>
            <a:ext cx="5644134" cy="962120"/>
            <a:chOff x="6090666" y="5130641"/>
            <a:chExt cx="5644134" cy="962120"/>
          </a:xfrm>
        </p:grpSpPr>
        <p:sp>
          <p:nvSpPr>
            <p:cNvPr id="21" name="TextBox 21"/>
            <p:cNvSpPr txBox="1"/>
            <p:nvPr/>
          </p:nvSpPr>
          <p:spPr>
            <a:xfrm>
              <a:off x="6091238" y="51306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分级含义</a:t>
              </a:r>
            </a:p>
          </p:txBody>
        </p:sp>
        <p:sp>
          <p:nvSpPr>
            <p:cNvPr id="22" name="Line 22"/>
            <p:cNvSpPr/>
            <p:nvPr/>
          </p:nvSpPr>
          <p:spPr>
            <a:xfrm>
              <a:off x="6096000" y="5295900"/>
              <a:ext cx="5638800" cy="9525"/>
            </a:xfrm>
            <a:custGeom>
              <a:avLst/>
              <a:gdLst/>
              <a:ahLst/>
              <a:cxnLst/>
              <a:rect l="l" t="t" r="r" b="b"/>
              <a:pathLst>
                <a:path w="5638800" h="9525">
                  <a:moveTo>
                    <a:pt x="0" y="0"/>
                  </a:moveTo>
                  <a:lnTo>
                    <a:pt x="5638800" y="0"/>
                  </a:lnTo>
                </a:path>
              </a:pathLst>
            </a:custGeom>
            <a:noFill/>
            <a:ln w="7144">
              <a:solidFill>
                <a:schemeClr val="accent1"/>
              </a:solidFill>
            </a:ln>
          </p:spPr>
        </p:sp>
        <p:sp>
          <p:nvSpPr>
            <p:cNvPr id="23" name="TextBox 23"/>
            <p:cNvSpPr txBox="1"/>
            <p:nvPr/>
          </p:nvSpPr>
          <p:spPr>
            <a:xfrm>
              <a:off x="6090666" y="5373052"/>
              <a:ext cx="3791140" cy="719709"/>
            </a:xfrm>
            <a:prstGeom prst="rect">
              <a:avLst/>
            </a:prstGeom>
            <a:noFill/>
            <a:ln>
              <a:noFill/>
            </a:ln>
          </p:spPr>
          <p:txBody>
            <a:bodyPr wrap="none" lIns="0" tIns="0" rIns="0" bIns="0" anchor="t" anchorCtr="0">
              <a:spAutoFit/>
            </a:bodyPr>
            <a:lstStyle/>
            <a:p>
              <a:pPr algn="l">
                <a:lnSpc>
                  <a:spcPts val="1350"/>
                </a:lnSpc>
              </a:pPr>
              <a:r>
                <a:rPr lang="zh-CN" sz="1050" b="1" dirty="0">
                  <a:solidFill>
                    <a:schemeClr val="accent2"/>
                  </a:solidFill>
                  <a:latin typeface="+mn-lt"/>
                  <a:ea typeface="+mn-ea"/>
                  <a:cs typeface="+mn-cs"/>
                </a:rPr>
                <a:t>一级</a:t>
              </a:r>
              <a:r>
                <a:rPr lang="zh-CN" sz="1050" dirty="0">
                  <a:solidFill>
                    <a:schemeClr val="dk1"/>
                  </a:solidFill>
                  <a:latin typeface="+mn-lt"/>
                  <a:ea typeface="+mn-ea"/>
                  <a:cs typeface="+mn-cs"/>
                </a:rPr>
                <a:t xml:space="preserve"> 2026–28 增量投入主战场:中国守存量、东南亚抢窗口、</a:t>
              </a:r>
              <a:br/>
              <a:r>
                <a:rPr lang="zh-CN" sz="1050" dirty="0">
                  <a:solidFill>
                    <a:schemeClr val="dk1"/>
                  </a:solidFill>
                  <a:latin typeface="+mn-lt"/>
                  <a:ea typeface="+mn-ea"/>
                  <a:cs typeface="+mn-cs"/>
                </a:rPr>
                <a:t>英德是欧洲仅有的确定增量;</a:t>
              </a:r>
              <a:br/>
              <a:r>
                <a:rPr lang="zh-CN" sz="1050" b="1" dirty="0">
                  <a:solidFill>
                    <a:schemeClr val="accent1"/>
                  </a:solidFill>
                  <a:latin typeface="+mn-lt"/>
                  <a:ea typeface="+mn-ea"/>
                  <a:cs typeface="+mn-cs"/>
                </a:rPr>
                <a:t>二级</a:t>
              </a:r>
              <a:r>
                <a:rPr lang="zh-CN" sz="1050" dirty="0">
                  <a:solidFill>
                    <a:schemeClr val="dk1"/>
                  </a:solidFill>
                  <a:latin typeface="+mn-lt"/>
                  <a:ea typeface="+mn-ea"/>
                  <a:cs typeface="+mn-cs"/>
                </a:rPr>
                <a:t xml:space="preserve"> 以 PHEV 试点验证后择机放量,试点规模受控;</a:t>
              </a:r>
              <a:br/>
              <a:r>
                <a:rPr lang="zh-CN" sz="1050" b="1" dirty="0">
                  <a:solidFill>
                    <a:schemeClr val="accent5"/>
                  </a:solidFill>
                  <a:latin typeface="+mn-lt"/>
                  <a:ea typeface="+mn-ea"/>
                  <a:cs typeface="+mn-cs"/>
                </a:rPr>
                <a:t>三级</a:t>
              </a:r>
              <a:r>
                <a:rPr lang="zh-CN" sz="1050" dirty="0">
                  <a:solidFill>
                    <a:schemeClr val="dk1"/>
                  </a:solidFill>
                  <a:latin typeface="+mn-lt"/>
                  <a:ea typeface="+mn-ea"/>
                  <a:cs typeface="+mn-cs"/>
                </a:rPr>
                <a:t xml:space="preserve"> 停滞或饱和市场维持布局、不新增投入,2028 年复盘美国。</a:t>
              </a:r>
            </a:p>
          </p:txBody>
        </p:sp>
      </p:grpSp>
      <p:grpSp>
        <p:nvGrpSpPr>
          <p:cNvPr id="29" name="footer"/>
          <p:cNvGrpSpPr/>
          <p:nvPr/>
        </p:nvGrpSpPr>
        <p:grpSpPr>
          <a:xfrm>
            <a:off x="452438" y="6205538"/>
            <a:ext cx="11287124" cy="433388"/>
            <a:chOff x="452438" y="6205538"/>
            <a:chExt cx="11287124" cy="433388"/>
          </a:xfrm>
        </p:grpSpPr>
        <p:sp>
          <p:nvSpPr>
            <p:cNvPr id="25" name="TextBox 25"/>
            <p:cNvSpPr txBox="1"/>
            <p:nvPr/>
          </p:nvSpPr>
          <p:spPr>
            <a:xfrm>
              <a:off x="452438" y="6205538"/>
              <a:ext cx="6111335"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电动车占新车销量的比例;2035 情景为 IEA STEPS,「—」为 IEA 未单列</a:t>
              </a:r>
            </a:p>
          </p:txBody>
        </p:sp>
        <p:sp>
          <p:nvSpPr>
            <p:cNvPr id="26" name="TextBox 26"/>
            <p:cNvSpPr txBox="1"/>
            <p:nvPr/>
          </p:nvSpPr>
          <p:spPr>
            <a:xfrm>
              <a:off x="452438" y="6338888"/>
              <a:ext cx="5765387"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分级规则:一级 = 增量确定且渗透率仍有空间或已是最大存量;二级 = 起量中、以 PHEV 试点验证;三级 = 停滞或饱和,维持不加</a:t>
              </a:r>
            </a:p>
          </p:txBody>
        </p:sp>
        <p:sp>
          <p:nvSpPr>
            <p:cNvPr id="27" name="TextBox 27"/>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28" name="TextBox 28"/>
            <p:cNvSpPr txBox="1"/>
            <p:nvPr/>
          </p:nvSpPr>
          <p:spPr>
            <a:xfrm>
              <a:off x="11617724" y="6491288"/>
              <a:ext cx="121838"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700"/>
                                        <p:tgtEl>
                                          <p:spTgt spid="11"/>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300"/>
                                        <p:tgtEl>
                                          <p:spTgt spid="20"/>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565714" y="247650"/>
            <a:ext cx="1169086" cy="206216"/>
            <a:chOff x="10565714" y="247650"/>
            <a:chExt cx="1169086" cy="206216"/>
          </a:xfrm>
        </p:grpSpPr>
        <p:sp>
          <p:nvSpPr>
            <p:cNvPr id="2" name="TextBox 2"/>
            <p:cNvSpPr txBox="1"/>
            <p:nvPr/>
          </p:nvSpPr>
          <p:spPr>
            <a:xfrm>
              <a:off x="10565714" y="291941"/>
              <a:ext cx="240398"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建议</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7194614" cy="637794"/>
            <a:chOff x="448056" y="472440"/>
            <a:chExt cx="7194614" cy="637794"/>
          </a:xfrm>
        </p:grpSpPr>
        <p:sp>
          <p:nvSpPr>
            <p:cNvPr id="6" name="TextBox 6"/>
            <p:cNvSpPr txBox="1"/>
            <p:nvPr/>
          </p:nvSpPr>
          <p:spPr>
            <a:xfrm>
              <a:off x="448056" y="472440"/>
              <a:ext cx="7194614"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2026 年 PHEV 试点东南亚与拉美,2027 年按结果放量并补齐英德 BEV,</a:t>
              </a:r>
              <a:br/>
              <a:r>
                <a:rPr lang="zh-CN" sz="1800" b="1" dirty="0">
                  <a:solidFill>
                    <a:schemeClr val="accent1"/>
                  </a:solidFill>
                  <a:latin typeface="+mn-lt"/>
                  <a:ea typeface="+mn-ea"/>
                  <a:cs typeface="+mn-cs"/>
                </a:rPr>
                <a:t>2028 年再决定是否加码美国</a:t>
              </a:r>
            </a:p>
          </p:txBody>
        </p:sp>
      </p:grpSp>
      <p:grpSp>
        <p:nvGrpSpPr>
          <p:cNvPr id="9" name="unit-line"/>
          <p:cNvGrpSpPr/>
          <p:nvPr/>
        </p:nvGrpSpPr>
        <p:grpSpPr>
          <a:xfrm>
            <a:off x="452438" y="1160145"/>
            <a:ext cx="4136555" cy="176212"/>
            <a:chOff x="452438" y="1160145"/>
            <a:chExt cx="4136555" cy="176212"/>
          </a:xfrm>
        </p:grpSpPr>
        <p:sp>
          <p:nvSpPr>
            <p:cNvPr id="8" name="TextBox 8"/>
            <p:cNvSpPr txBox="1"/>
            <p:nvPr/>
          </p:nvSpPr>
          <p:spPr>
            <a:xfrm>
              <a:off x="452438" y="1160145"/>
              <a:ext cx="4136555"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三年行动节奏:三个层级 × 三个阶段,每年 12 月以 IEA 同口径数据通过决策门</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4" name="stage-2026"/>
          <p:cNvGrpSpPr/>
          <p:nvPr/>
        </p:nvGrpSpPr>
        <p:grpSpPr>
          <a:xfrm>
            <a:off x="1257300" y="1524000"/>
            <a:ext cx="3352800" cy="342900"/>
            <a:chOff x="1257300" y="1524000"/>
            <a:chExt cx="3352800" cy="342900"/>
          </a:xfrm>
        </p:grpSpPr>
        <p:sp>
          <p:nvSpPr>
            <p:cNvPr id="11" name="Freeform 11"/>
            <p:cNvSpPr/>
            <p:nvPr/>
          </p:nvSpPr>
          <p:spPr>
            <a:xfrm>
              <a:off x="1257300" y="1524000"/>
              <a:ext cx="3352800" cy="342900"/>
            </a:xfrm>
            <a:prstGeom prst="chevron">
              <a:avLst>
                <a:gd name="adj" fmla="val 20000"/>
              </a:avLst>
            </a:prstGeom>
            <a:solidFill>
              <a:schemeClr val="accent1"/>
            </a:solidFill>
            <a:ln>
              <a:noFill/>
            </a:ln>
          </p:spPr>
        </p:sp>
        <p:sp>
          <p:nvSpPr>
            <p:cNvPr id="12" name="TextBox 12"/>
            <p:cNvSpPr txBox="1"/>
            <p:nvPr/>
          </p:nvSpPr>
          <p:spPr>
            <a:xfrm>
              <a:off x="1442466" y="1629728"/>
              <a:ext cx="325146"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Arial"/>
                  <a:cs typeface="Arial"/>
                </a:rPr>
                <a:t>2026</a:t>
              </a:r>
            </a:p>
          </p:txBody>
        </p:sp>
        <p:sp>
          <p:nvSpPr>
            <p:cNvPr id="13" name="TextBox 13"/>
            <p:cNvSpPr txBox="1"/>
            <p:nvPr/>
          </p:nvSpPr>
          <p:spPr>
            <a:xfrm>
              <a:off x="1900238" y="1645920"/>
              <a:ext cx="251841" cy="176212"/>
            </a:xfrm>
            <a:prstGeom prst="rect">
              <a:avLst/>
            </a:prstGeom>
            <a:noFill/>
            <a:ln>
              <a:noFill/>
            </a:ln>
          </p:spPr>
          <p:txBody>
            <a:bodyPr wrap="none" lIns="0" tIns="0" rIns="0" bIns="0" anchor="t" anchorCtr="0">
              <a:spAutoFit/>
            </a:bodyPr>
            <a:lstStyle/>
            <a:p>
              <a:pPr algn="l"/>
              <a:r>
                <a:rPr lang="zh-CN" sz="900" dirty="0">
                  <a:solidFill>
                    <a:srgbClr val="FFFFFF"/>
                  </a:solidFill>
                  <a:latin typeface="+mn-lt"/>
                  <a:ea typeface="+mn-ea"/>
                  <a:cs typeface="+mn-cs"/>
                </a:rPr>
                <a:t>试点</a:t>
              </a:r>
            </a:p>
          </p:txBody>
        </p:sp>
      </p:grpSp>
      <p:grpSp>
        <p:nvGrpSpPr>
          <p:cNvPr id="18" name="stage-2027"/>
          <p:cNvGrpSpPr/>
          <p:nvPr/>
        </p:nvGrpSpPr>
        <p:grpSpPr>
          <a:xfrm>
            <a:off x="4762500" y="1524000"/>
            <a:ext cx="3352800" cy="342900"/>
            <a:chOff x="4762500" y="1524000"/>
            <a:chExt cx="3352800" cy="342900"/>
          </a:xfrm>
        </p:grpSpPr>
        <p:sp>
          <p:nvSpPr>
            <p:cNvPr id="15" name="Freeform 15"/>
            <p:cNvSpPr/>
            <p:nvPr/>
          </p:nvSpPr>
          <p:spPr>
            <a:xfrm>
              <a:off x="4762500" y="1524000"/>
              <a:ext cx="3352800" cy="342900"/>
            </a:xfrm>
            <a:prstGeom prst="chevron">
              <a:avLst>
                <a:gd name="adj" fmla="val 20000"/>
              </a:avLst>
            </a:prstGeom>
            <a:solidFill>
              <a:schemeClr val="accent2"/>
            </a:solidFill>
            <a:ln>
              <a:noFill/>
            </a:ln>
          </p:spPr>
        </p:sp>
        <p:sp>
          <p:nvSpPr>
            <p:cNvPr id="16" name="TextBox 16"/>
            <p:cNvSpPr txBox="1"/>
            <p:nvPr/>
          </p:nvSpPr>
          <p:spPr>
            <a:xfrm>
              <a:off x="4947666" y="1629728"/>
              <a:ext cx="325146"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Arial"/>
                  <a:cs typeface="Arial"/>
                </a:rPr>
                <a:t>2027</a:t>
              </a:r>
            </a:p>
          </p:txBody>
        </p:sp>
        <p:sp>
          <p:nvSpPr>
            <p:cNvPr id="17" name="TextBox 17"/>
            <p:cNvSpPr txBox="1"/>
            <p:nvPr/>
          </p:nvSpPr>
          <p:spPr>
            <a:xfrm>
              <a:off x="5405438" y="1645920"/>
              <a:ext cx="251841" cy="176212"/>
            </a:xfrm>
            <a:prstGeom prst="rect">
              <a:avLst/>
            </a:prstGeom>
            <a:noFill/>
            <a:ln>
              <a:noFill/>
            </a:ln>
          </p:spPr>
          <p:txBody>
            <a:bodyPr wrap="none" lIns="0" tIns="0" rIns="0" bIns="0" anchor="t" anchorCtr="0">
              <a:spAutoFit/>
            </a:bodyPr>
            <a:lstStyle/>
            <a:p>
              <a:pPr algn="l"/>
              <a:r>
                <a:rPr lang="zh-CN" sz="900" dirty="0">
                  <a:solidFill>
                    <a:srgbClr val="FFFFFF"/>
                  </a:solidFill>
                  <a:latin typeface="+mn-lt"/>
                  <a:ea typeface="+mn-ea"/>
                  <a:cs typeface="+mn-cs"/>
                </a:rPr>
                <a:t>放量</a:t>
              </a:r>
            </a:p>
          </p:txBody>
        </p:sp>
      </p:grpSp>
      <p:grpSp>
        <p:nvGrpSpPr>
          <p:cNvPr id="22" name="stage-2028"/>
          <p:cNvGrpSpPr/>
          <p:nvPr/>
        </p:nvGrpSpPr>
        <p:grpSpPr>
          <a:xfrm>
            <a:off x="8267700" y="1524000"/>
            <a:ext cx="3467100" cy="342900"/>
            <a:chOff x="8267700" y="1524000"/>
            <a:chExt cx="3467100" cy="342900"/>
          </a:xfrm>
        </p:grpSpPr>
        <p:sp>
          <p:nvSpPr>
            <p:cNvPr id="19" name="Freeform 19"/>
            <p:cNvSpPr/>
            <p:nvPr/>
          </p:nvSpPr>
          <p:spPr>
            <a:xfrm>
              <a:off x="8267700" y="1524000"/>
              <a:ext cx="3467100" cy="342900"/>
            </a:xfrm>
            <a:prstGeom prst="chevron">
              <a:avLst>
                <a:gd name="adj" fmla="val 20000"/>
              </a:avLst>
            </a:prstGeom>
            <a:solidFill>
              <a:schemeClr val="accent3"/>
            </a:solidFill>
            <a:ln>
              <a:noFill/>
            </a:ln>
          </p:spPr>
        </p:sp>
        <p:sp>
          <p:nvSpPr>
            <p:cNvPr id="20" name="TextBox 20"/>
            <p:cNvSpPr txBox="1"/>
            <p:nvPr/>
          </p:nvSpPr>
          <p:spPr>
            <a:xfrm>
              <a:off x="8452866" y="1629728"/>
              <a:ext cx="325146"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Arial"/>
                  <a:ea typeface="Arial"/>
                  <a:cs typeface="Arial"/>
                </a:rPr>
                <a:t>2028</a:t>
              </a:r>
            </a:p>
          </p:txBody>
        </p:sp>
        <p:sp>
          <p:nvSpPr>
            <p:cNvPr id="21" name="TextBox 21"/>
            <p:cNvSpPr txBox="1"/>
            <p:nvPr/>
          </p:nvSpPr>
          <p:spPr>
            <a:xfrm>
              <a:off x="8910638" y="1645920"/>
              <a:ext cx="251841" cy="176212"/>
            </a:xfrm>
            <a:prstGeom prst="rect">
              <a:avLst/>
            </a:prstGeom>
            <a:noFill/>
            <a:ln>
              <a:noFill/>
            </a:ln>
          </p:spPr>
          <p:txBody>
            <a:bodyPr wrap="none" lIns="0" tIns="0" rIns="0" bIns="0" anchor="t" anchorCtr="0">
              <a:spAutoFit/>
            </a:bodyPr>
            <a:lstStyle/>
            <a:p>
              <a:pPr algn="l"/>
              <a:r>
                <a:rPr lang="zh-CN" sz="900" dirty="0">
                  <a:solidFill>
                    <a:schemeClr val="accent1"/>
                  </a:solidFill>
                  <a:latin typeface="+mn-lt"/>
                  <a:ea typeface="+mn-ea"/>
                  <a:cs typeface="+mn-cs"/>
                </a:rPr>
                <a:t>决定</a:t>
              </a:r>
            </a:p>
          </p:txBody>
        </p:sp>
      </p:grpSp>
      <p:grpSp>
        <p:nvGrpSpPr>
          <p:cNvPr id="27" name="stage-outputs"/>
          <p:cNvGrpSpPr/>
          <p:nvPr/>
        </p:nvGrpSpPr>
        <p:grpSpPr>
          <a:xfrm>
            <a:off x="566738" y="2055495"/>
            <a:ext cx="10000869" cy="176212"/>
            <a:chOff x="566738" y="2055495"/>
            <a:chExt cx="10000869" cy="176212"/>
          </a:xfrm>
        </p:grpSpPr>
        <p:sp>
          <p:nvSpPr>
            <p:cNvPr id="23" name="TextBox 23"/>
            <p:cNvSpPr txBox="1"/>
            <p:nvPr/>
          </p:nvSpPr>
          <p:spPr>
            <a:xfrm>
              <a:off x="566738" y="2063591"/>
              <a:ext cx="481368" cy="161925"/>
            </a:xfrm>
            <a:prstGeom prst="rect">
              <a:avLst/>
            </a:prstGeom>
            <a:noFill/>
            <a:ln>
              <a:noFill/>
            </a:ln>
          </p:spPr>
          <p:txBody>
            <a:bodyPr wrap="none" lIns="0" tIns="0" rIns="0" bIns="0" anchor="t" anchorCtr="0">
              <a:spAutoFit/>
            </a:bodyPr>
            <a:lstStyle/>
            <a:p>
              <a:pPr algn="l"/>
              <a:r>
                <a:rPr lang="zh-CN" sz="820" spc="75" dirty="0">
                  <a:solidFill>
                    <a:schemeClr val="accent5"/>
                  </a:solidFill>
                  <a:latin typeface="+mn-lt"/>
                  <a:ea typeface="+mn-ea"/>
                  <a:cs typeface="+mn-cs"/>
                </a:rPr>
                <a:t>阶段产出</a:t>
              </a:r>
            </a:p>
          </p:txBody>
        </p:sp>
        <p:sp>
          <p:nvSpPr>
            <p:cNvPr id="24" name="TextBox 24"/>
            <p:cNvSpPr txBox="1"/>
            <p:nvPr/>
          </p:nvSpPr>
          <p:spPr>
            <a:xfrm>
              <a:off x="1366838" y="2055495"/>
              <a:ext cx="2917317" cy="176212"/>
            </a:xfrm>
            <a:prstGeom prst="rect">
              <a:avLst/>
            </a:prstGeom>
            <a:noFill/>
            <a:ln>
              <a:noFill/>
            </a:ln>
          </p:spPr>
          <p:txBody>
            <a:bodyPr wrap="none" lIns="0" tIns="0" rIns="0" bIns="0" anchor="t" anchorCtr="0">
              <a:spAutoFit/>
            </a:bodyPr>
            <a:lstStyle/>
            <a:p>
              <a:pPr algn="l"/>
              <a:r>
                <a:rPr lang="zh-CN" sz="900" dirty="0">
                  <a:solidFill>
                    <a:schemeClr val="accent1"/>
                  </a:solidFill>
                  <a:latin typeface="+mn-lt"/>
                  <a:ea typeface="+mn-ea"/>
                  <a:cs typeface="+mn-cs"/>
                </a:rPr>
                <a:t>东南亚试点渗透率数据、泰国首发结果、英德车型上市</a:t>
              </a:r>
            </a:p>
          </p:txBody>
        </p:sp>
        <p:sp>
          <p:nvSpPr>
            <p:cNvPr id="25" name="TextBox 25"/>
            <p:cNvSpPr txBox="1"/>
            <p:nvPr/>
          </p:nvSpPr>
          <p:spPr>
            <a:xfrm>
              <a:off x="4872038" y="2055495"/>
              <a:ext cx="2791130" cy="176212"/>
            </a:xfrm>
            <a:prstGeom prst="rect">
              <a:avLst/>
            </a:prstGeom>
            <a:noFill/>
            <a:ln>
              <a:noFill/>
            </a:ln>
          </p:spPr>
          <p:txBody>
            <a:bodyPr wrap="none" lIns="0" tIns="0" rIns="0" bIns="0" anchor="t" anchorCtr="0">
              <a:spAutoFit/>
            </a:bodyPr>
            <a:lstStyle/>
            <a:p>
              <a:pPr algn="l"/>
              <a:r>
                <a:rPr lang="zh-CN" sz="900" dirty="0">
                  <a:solidFill>
                    <a:schemeClr val="accent1"/>
                  </a:solidFill>
                  <a:latin typeface="+mn-lt"/>
                  <a:ea typeface="+mn-ea"/>
                  <a:cs typeface="+mn-cs"/>
                </a:rPr>
                <a:t>二级市场放量决定、印度试点启动、拉美 PHEV 上市</a:t>
              </a:r>
            </a:p>
          </p:txBody>
        </p:sp>
        <p:sp>
          <p:nvSpPr>
            <p:cNvPr id="26" name="TextBox 26"/>
            <p:cNvSpPr txBox="1"/>
            <p:nvPr/>
          </p:nvSpPr>
          <p:spPr>
            <a:xfrm>
              <a:off x="8377238" y="2055495"/>
              <a:ext cx="2190369" cy="176212"/>
            </a:xfrm>
            <a:prstGeom prst="rect">
              <a:avLst/>
            </a:prstGeom>
            <a:noFill/>
            <a:ln>
              <a:noFill/>
            </a:ln>
          </p:spPr>
          <p:txBody>
            <a:bodyPr wrap="none" lIns="0" tIns="0" rIns="0" bIns="0" anchor="t" anchorCtr="0">
              <a:spAutoFit/>
            </a:bodyPr>
            <a:lstStyle/>
            <a:p>
              <a:pPr algn="l"/>
              <a:r>
                <a:rPr lang="zh-CN" sz="900" dirty="0">
                  <a:solidFill>
                    <a:schemeClr val="accent1"/>
                  </a:solidFill>
                  <a:latin typeface="+mn-lt"/>
                  <a:ea typeface="+mn-ea"/>
                  <a:cs typeface="+mn-cs"/>
                </a:rPr>
                <a:t>美国加码与否的决定、下一轮三年优先级</a:t>
              </a:r>
            </a:p>
          </p:txBody>
        </p:sp>
      </p:grpSp>
      <p:grpSp>
        <p:nvGrpSpPr>
          <p:cNvPr id="33" name="lane-1"/>
          <p:cNvGrpSpPr/>
          <p:nvPr/>
        </p:nvGrpSpPr>
        <p:grpSpPr>
          <a:xfrm>
            <a:off x="457200" y="2324100"/>
            <a:ext cx="11277600" cy="990600"/>
            <a:chOff x="457200" y="2324100"/>
            <a:chExt cx="11277600" cy="990600"/>
          </a:xfrm>
        </p:grpSpPr>
        <p:sp>
          <p:nvSpPr>
            <p:cNvPr id="28" name="Rectangle 28"/>
            <p:cNvSpPr/>
            <p:nvPr/>
          </p:nvSpPr>
          <p:spPr>
            <a:xfrm>
              <a:off x="457200" y="2324100"/>
              <a:ext cx="11277600" cy="990600"/>
            </a:xfrm>
            <a:prstGeom prst="rect">
              <a:avLst/>
            </a:prstGeom>
            <a:solidFill>
              <a:srgbClr val="F7F7F7"/>
            </a:solidFill>
            <a:ln>
              <a:noFill/>
            </a:ln>
          </p:spPr>
        </p:sp>
        <p:sp>
          <p:nvSpPr>
            <p:cNvPr id="29" name="TextBox 29"/>
            <p:cNvSpPr txBox="1"/>
            <p:nvPr/>
          </p:nvSpPr>
          <p:spPr>
            <a:xfrm>
              <a:off x="566547" y="2447449"/>
              <a:ext cx="273761"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一级</a:t>
              </a:r>
            </a:p>
          </p:txBody>
        </p:sp>
        <p:sp>
          <p:nvSpPr>
            <p:cNvPr id="30" name="TextBox 30"/>
            <p:cNvSpPr txBox="1"/>
            <p:nvPr/>
          </p:nvSpPr>
          <p:spPr>
            <a:xfrm>
              <a:off x="1366266" y="2439352"/>
              <a:ext cx="2037588" cy="5863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东南亚 PHEV 试点上市,泰国首发</a:t>
              </a:r>
            </a:p>
            <a:p>
              <a:pPr algn="l" marL="113348" indent="-113348">
                <a:lnSpc>
                  <a:spcPts val="1500"/>
                </a:lnSpc>
                <a:buClr>
                  <a:schemeClr val="dk1"/>
                </a:buClr>
                <a:buSzTx/>
                <a:buFontTx/>
                <a:buChar char="•"/>
              </a:pPr>
              <a:r>
                <a:rPr lang="zh-CN" sz="1050" dirty="0">
                  <a:solidFill>
                    <a:schemeClr val="dk1"/>
                  </a:solidFill>
                  <a:latin typeface="+mn-lt"/>
                  <a:ea typeface="+mn-ea"/>
                  <a:cs typeface="+mn-cs"/>
                </a:rPr>
                <a:t>英国、德国补齐 BEV 车型</a:t>
              </a:r>
            </a:p>
            <a:p>
              <a:pPr algn="l" marL="113348" indent="-113348">
                <a:lnSpc>
                  <a:spcPts val="1500"/>
                </a:lnSpc>
                <a:buClr>
                  <a:schemeClr val="dk1"/>
                </a:buClr>
                <a:buSzTx/>
                <a:buFontTx/>
                <a:buChar char="•"/>
              </a:pPr>
              <a:r>
                <a:rPr lang="zh-CN" sz="1050" dirty="0">
                  <a:solidFill>
                    <a:schemeClr val="dk1"/>
                  </a:solidFill>
                  <a:latin typeface="+mn-lt"/>
                  <a:ea typeface="+mn-ea"/>
                  <a:cs typeface="+mn-cs"/>
                </a:rPr>
                <a:t>中国维持 BEV + PHEV 双线</a:t>
              </a:r>
            </a:p>
          </p:txBody>
        </p:sp>
        <p:sp>
          <p:nvSpPr>
            <p:cNvPr id="31" name="TextBox 31"/>
            <p:cNvSpPr txBox="1"/>
            <p:nvPr/>
          </p:nvSpPr>
          <p:spPr>
            <a:xfrm>
              <a:off x="4871466" y="2439352"/>
              <a:ext cx="199091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按试点渗透率数据在东南亚放量</a:t>
              </a:r>
            </a:p>
            <a:p>
              <a:pPr algn="l" marL="113348" indent="-113348">
                <a:lnSpc>
                  <a:spcPts val="1500"/>
                </a:lnSpc>
                <a:buClr>
                  <a:schemeClr val="dk1"/>
                </a:buClr>
                <a:buSzTx/>
                <a:buFontTx/>
                <a:buChar char="•"/>
              </a:pPr>
              <a:r>
                <a:rPr lang="zh-CN" sz="1050" dirty="0">
                  <a:solidFill>
                    <a:schemeClr val="dk1"/>
                  </a:solidFill>
                  <a:latin typeface="+mn-lt"/>
                  <a:ea typeface="+mn-ea"/>
                  <a:cs typeface="+mn-cs"/>
                </a:rPr>
                <a:t>英德 BEV 车型全面上市</a:t>
              </a:r>
            </a:p>
          </p:txBody>
        </p:sp>
        <p:sp>
          <p:nvSpPr>
            <p:cNvPr id="32" name="TextBox 32"/>
            <p:cNvSpPr txBox="1"/>
            <p:nvPr/>
          </p:nvSpPr>
          <p:spPr>
            <a:xfrm>
              <a:off x="8376666" y="2439352"/>
              <a:ext cx="172421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东南亚补齐 BEV 车型</a:t>
              </a:r>
            </a:p>
            <a:p>
              <a:pPr algn="l" marL="113348" indent="-113348">
                <a:lnSpc>
                  <a:spcPts val="1500"/>
                </a:lnSpc>
                <a:buClr>
                  <a:schemeClr val="dk1"/>
                </a:buClr>
                <a:buSzTx/>
                <a:buFontTx/>
                <a:buChar char="•"/>
              </a:pPr>
              <a:r>
                <a:rPr lang="zh-CN" sz="1050" dirty="0">
                  <a:solidFill>
                    <a:schemeClr val="dk1"/>
                  </a:solidFill>
                  <a:latin typeface="+mn-lt"/>
                  <a:ea typeface="+mn-ea"/>
                  <a:cs typeface="+mn-cs"/>
                </a:rPr>
                <a:t>中国、英德按年度复盘调整</a:t>
              </a:r>
            </a:p>
          </p:txBody>
        </p:sp>
      </p:grpSp>
      <p:grpSp>
        <p:nvGrpSpPr>
          <p:cNvPr id="38" name="lane-2"/>
          <p:cNvGrpSpPr/>
          <p:nvPr/>
        </p:nvGrpSpPr>
        <p:grpSpPr>
          <a:xfrm>
            <a:off x="566547" y="3506152"/>
            <a:ext cx="9534335" cy="395859"/>
            <a:chOff x="566547" y="3506152"/>
            <a:chExt cx="9534335" cy="395859"/>
          </a:xfrm>
        </p:grpSpPr>
        <p:sp>
          <p:nvSpPr>
            <p:cNvPr id="34" name="TextBox 34"/>
            <p:cNvSpPr txBox="1"/>
            <p:nvPr/>
          </p:nvSpPr>
          <p:spPr>
            <a:xfrm>
              <a:off x="566547" y="3514249"/>
              <a:ext cx="273761"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二级</a:t>
              </a:r>
            </a:p>
          </p:txBody>
        </p:sp>
        <p:sp>
          <p:nvSpPr>
            <p:cNvPr id="35" name="TextBox 35"/>
            <p:cNvSpPr txBox="1"/>
            <p:nvPr/>
          </p:nvSpPr>
          <p:spPr>
            <a:xfrm>
              <a:off x="1366266" y="3506152"/>
              <a:ext cx="145751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巴西、墨西哥搭建渠道</a:t>
              </a:r>
            </a:p>
            <a:p>
              <a:pPr algn="l" marL="113348" indent="-113348">
                <a:lnSpc>
                  <a:spcPts val="1500"/>
                </a:lnSpc>
                <a:buClr>
                  <a:schemeClr val="dk1"/>
                </a:buClr>
                <a:buSzTx/>
                <a:buFontTx/>
                <a:buChar char="•"/>
              </a:pPr>
              <a:r>
                <a:rPr lang="zh-CN" sz="1050" dirty="0">
                  <a:solidFill>
                    <a:schemeClr val="dk1"/>
                  </a:solidFill>
                  <a:latin typeface="+mn-lt"/>
                  <a:ea typeface="+mn-ea"/>
                  <a:cs typeface="+mn-cs"/>
                </a:rPr>
                <a:t>韩国渠道试点</a:t>
              </a:r>
            </a:p>
          </p:txBody>
        </p:sp>
        <p:sp>
          <p:nvSpPr>
            <p:cNvPr id="36" name="TextBox 36"/>
            <p:cNvSpPr txBox="1"/>
            <p:nvPr/>
          </p:nvSpPr>
          <p:spPr>
            <a:xfrm>
              <a:off x="4871466" y="3506152"/>
              <a:ext cx="156419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印度启动 PHEV 试点</a:t>
              </a:r>
            </a:p>
            <a:p>
              <a:pPr algn="l" marL="113348" indent="-113348">
                <a:lnSpc>
                  <a:spcPts val="1500"/>
                </a:lnSpc>
                <a:buClr>
                  <a:schemeClr val="dk1"/>
                </a:buClr>
                <a:buSzTx/>
                <a:buFontTx/>
                <a:buChar char="•"/>
              </a:pPr>
              <a:r>
                <a:rPr lang="zh-CN" sz="1050" dirty="0">
                  <a:solidFill>
                    <a:schemeClr val="dk1"/>
                  </a:solidFill>
                  <a:latin typeface="+mn-lt"/>
                  <a:ea typeface="+mn-ea"/>
                  <a:cs typeface="+mn-cs"/>
                </a:rPr>
                <a:t>巴西、墨西哥 PHEV 上市</a:t>
              </a:r>
            </a:p>
          </p:txBody>
        </p:sp>
        <p:sp>
          <p:nvSpPr>
            <p:cNvPr id="37" name="TextBox 37"/>
            <p:cNvSpPr txBox="1"/>
            <p:nvPr/>
          </p:nvSpPr>
          <p:spPr>
            <a:xfrm>
              <a:off x="8376666" y="3506152"/>
              <a:ext cx="172421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印度按试点结果放量</a:t>
              </a:r>
            </a:p>
            <a:p>
              <a:pPr algn="l" marL="113348" indent="-113348">
                <a:lnSpc>
                  <a:spcPts val="1500"/>
                </a:lnSpc>
                <a:buClr>
                  <a:schemeClr val="dk1"/>
                </a:buClr>
                <a:buSzTx/>
                <a:buFontTx/>
                <a:buChar char="•"/>
              </a:pPr>
              <a:r>
                <a:rPr lang="zh-CN" sz="1050" dirty="0">
                  <a:solidFill>
                    <a:schemeClr val="dk1"/>
                  </a:solidFill>
                  <a:latin typeface="+mn-lt"/>
                  <a:ea typeface="+mn-ea"/>
                  <a:cs typeface="+mn-cs"/>
                </a:rPr>
                <a:t>拉美按渗透率数据决定加码</a:t>
              </a:r>
            </a:p>
          </p:txBody>
        </p:sp>
      </p:grpSp>
      <p:grpSp>
        <p:nvGrpSpPr>
          <p:cNvPr id="44" name="lane-3"/>
          <p:cNvGrpSpPr/>
          <p:nvPr/>
        </p:nvGrpSpPr>
        <p:grpSpPr>
          <a:xfrm>
            <a:off x="457200" y="4381500"/>
            <a:ext cx="11277600" cy="914400"/>
            <a:chOff x="457200" y="4381500"/>
            <a:chExt cx="11277600" cy="914400"/>
          </a:xfrm>
        </p:grpSpPr>
        <p:sp>
          <p:nvSpPr>
            <p:cNvPr id="39" name="Rectangle 39"/>
            <p:cNvSpPr/>
            <p:nvPr/>
          </p:nvSpPr>
          <p:spPr>
            <a:xfrm>
              <a:off x="457200" y="4381500"/>
              <a:ext cx="11277600" cy="914400"/>
            </a:xfrm>
            <a:prstGeom prst="rect">
              <a:avLst/>
            </a:prstGeom>
            <a:solidFill>
              <a:srgbClr val="F7F7F7"/>
            </a:solidFill>
            <a:ln>
              <a:noFill/>
            </a:ln>
          </p:spPr>
        </p:sp>
        <p:sp>
          <p:nvSpPr>
            <p:cNvPr id="40" name="TextBox 40"/>
            <p:cNvSpPr txBox="1"/>
            <p:nvPr/>
          </p:nvSpPr>
          <p:spPr>
            <a:xfrm>
              <a:off x="566547" y="4504849"/>
              <a:ext cx="273761" cy="190690"/>
            </a:xfrm>
            <a:prstGeom prst="rect">
              <a:avLst/>
            </a:prstGeom>
            <a:noFill/>
            <a:ln>
              <a:noFill/>
            </a:ln>
          </p:spPr>
          <p:txBody>
            <a:bodyPr wrap="none" lIns="0" tIns="0" rIns="0" bIns="0" anchor="t" anchorCtr="0">
              <a:spAutoFit/>
            </a:bodyPr>
            <a:lstStyle/>
            <a:p>
              <a:pPr algn="l"/>
              <a:r>
                <a:rPr lang="zh-CN" sz="980" b="1" dirty="0">
                  <a:solidFill>
                    <a:schemeClr val="accent5"/>
                  </a:solidFill>
                  <a:latin typeface="+mn-lt"/>
                  <a:ea typeface="+mn-ea"/>
                  <a:cs typeface="+mn-cs"/>
                </a:rPr>
                <a:t>三级</a:t>
              </a:r>
            </a:p>
          </p:txBody>
        </p:sp>
        <p:sp>
          <p:nvSpPr>
            <p:cNvPr id="41" name="TextBox 41"/>
            <p:cNvSpPr txBox="1"/>
            <p:nvPr/>
          </p:nvSpPr>
          <p:spPr>
            <a:xfrm>
              <a:off x="1366266" y="4496752"/>
              <a:ext cx="172421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美国、日本、法国维持现状</a:t>
              </a:r>
            </a:p>
            <a:p>
              <a:pPr algn="l" marL="113348" indent="-113348">
                <a:lnSpc>
                  <a:spcPts val="1500"/>
                </a:lnSpc>
                <a:buClr>
                  <a:schemeClr val="dk1"/>
                </a:buClr>
                <a:buSzTx/>
                <a:buFontTx/>
                <a:buChar char="•"/>
              </a:pPr>
              <a:r>
                <a:rPr lang="zh-CN" sz="1050" dirty="0">
                  <a:solidFill>
                    <a:schemeClr val="dk1"/>
                  </a:solidFill>
                  <a:latin typeface="+mn-lt"/>
                  <a:ea typeface="+mn-ea"/>
                  <a:cs typeface="+mn-cs"/>
                </a:rPr>
                <a:t>美国不新增产能</a:t>
              </a:r>
            </a:p>
          </p:txBody>
        </p:sp>
        <p:sp>
          <p:nvSpPr>
            <p:cNvPr id="42" name="TextBox 42"/>
            <p:cNvSpPr txBox="1"/>
            <p:nvPr/>
          </p:nvSpPr>
          <p:spPr>
            <a:xfrm>
              <a:off x="4871466" y="4496752"/>
              <a:ext cx="132416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美国不新增产能</a:t>
              </a:r>
            </a:p>
            <a:p>
              <a:pPr algn="l" marL="113348" indent="-113348">
                <a:lnSpc>
                  <a:spcPts val="1500"/>
                </a:lnSpc>
                <a:buClr>
                  <a:schemeClr val="dk1"/>
                </a:buClr>
                <a:buSzTx/>
                <a:buFontTx/>
                <a:buChar char="•"/>
              </a:pPr>
              <a:r>
                <a:rPr lang="zh-CN" sz="1050" dirty="0">
                  <a:solidFill>
                    <a:schemeClr val="dk1"/>
                  </a:solidFill>
                  <a:latin typeface="+mn-lt"/>
                  <a:ea typeface="+mn-ea"/>
                  <a:cs typeface="+mn-cs"/>
                </a:rPr>
                <a:t>法国按英德节奏观望</a:t>
              </a:r>
            </a:p>
          </p:txBody>
        </p:sp>
        <p:sp>
          <p:nvSpPr>
            <p:cNvPr id="43" name="TextBox 43"/>
            <p:cNvSpPr txBox="1"/>
            <p:nvPr/>
          </p:nvSpPr>
          <p:spPr>
            <a:xfrm>
              <a:off x="8376666" y="4496752"/>
              <a:ext cx="1877568"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复盘美国渗透率是否突破 10%</a:t>
              </a:r>
            </a:p>
            <a:p>
              <a:pPr algn="l" marL="113348" indent="-113348">
                <a:lnSpc>
                  <a:spcPts val="1500"/>
                </a:lnSpc>
                <a:buClr>
                  <a:schemeClr val="dk1"/>
                </a:buClr>
                <a:buSzTx/>
                <a:buFontTx/>
                <a:buChar char="•"/>
              </a:pPr>
              <a:r>
                <a:rPr lang="zh-CN" sz="1050" dirty="0">
                  <a:solidFill>
                    <a:schemeClr val="dk1"/>
                  </a:solidFill>
                  <a:latin typeface="+mn-lt"/>
                  <a:ea typeface="+mn-ea"/>
                  <a:cs typeface="+mn-cs"/>
                </a:rPr>
                <a:t>决定是否加码美国</a:t>
              </a:r>
            </a:p>
          </p:txBody>
        </p:sp>
      </p:grpSp>
      <p:grpSp>
        <p:nvGrpSpPr>
          <p:cNvPr id="48" name="decision-gate"/>
          <p:cNvGrpSpPr/>
          <p:nvPr/>
        </p:nvGrpSpPr>
        <p:grpSpPr>
          <a:xfrm>
            <a:off x="457200" y="5391150"/>
            <a:ext cx="11277600" cy="666750"/>
            <a:chOff x="457200" y="5391150"/>
            <a:chExt cx="11277600" cy="666750"/>
          </a:xfrm>
        </p:grpSpPr>
        <p:sp>
          <p:nvSpPr>
            <p:cNvPr id="45" name="Rectangle 45"/>
            <p:cNvSpPr/>
            <p:nvPr/>
          </p:nvSpPr>
          <p:spPr>
            <a:xfrm>
              <a:off x="457200" y="5391150"/>
              <a:ext cx="11277600" cy="666750"/>
            </a:xfrm>
            <a:prstGeom prst="rect">
              <a:avLst/>
            </a:prstGeom>
            <a:noFill/>
            <a:ln w="7144">
              <a:solidFill>
                <a:schemeClr val="accent1"/>
              </a:solidFill>
            </a:ln>
          </p:spPr>
        </p:sp>
        <p:sp>
          <p:nvSpPr>
            <p:cNvPr id="46" name="TextBox 46"/>
            <p:cNvSpPr txBox="1"/>
            <p:nvPr/>
          </p:nvSpPr>
          <p:spPr>
            <a:xfrm>
              <a:off x="604838" y="5503545"/>
              <a:ext cx="2158428"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决策门(每年 12 月,以 IEA 同口径数据)</a:t>
              </a:r>
            </a:p>
          </p:txBody>
        </p:sp>
        <p:sp>
          <p:nvSpPr>
            <p:cNvPr id="47" name="TextBox 47"/>
            <p:cNvSpPr txBox="1"/>
            <p:nvPr/>
          </p:nvSpPr>
          <p:spPr>
            <a:xfrm>
              <a:off x="604266" y="5677852"/>
              <a:ext cx="8371713" cy="376809"/>
            </a:xfrm>
            <a:prstGeom prst="rect">
              <a:avLst/>
            </a:prstGeom>
            <a:noFill/>
            <a:ln>
              <a:noFill/>
            </a:ln>
          </p:spPr>
          <p:txBody>
            <a:bodyPr wrap="none" lIns="0" tIns="0" rIns="0" bIns="0" anchor="t" anchorCtr="0">
              <a:spAutoFit/>
            </a:bodyPr>
            <a:lstStyle/>
            <a:p>
              <a:pPr algn="l">
                <a:lnSpc>
                  <a:spcPts val="1350"/>
                </a:lnSpc>
              </a:pPr>
              <a:r>
                <a:rPr lang="zh-CN" sz="1050" dirty="0">
                  <a:solidFill>
                    <a:schemeClr val="dk1"/>
                  </a:solidFill>
                  <a:latin typeface="+mn-lt"/>
                  <a:ea typeface="+mn-ea"/>
                  <a:cs typeface="+mn-cs"/>
                </a:rPr>
                <a:t>2026 年底:东南亚试点渗透率是否守住 18%(低于则冻结二级放量);2027 年底:德国是否回落到 25% 以下、中国 PHEV 占比是否连续两季下降;</a:t>
              </a:r>
              <a:br/>
              <a:r>
                <a:rPr lang="zh-CN" sz="1050" dirty="0">
                  <a:solidFill>
                    <a:schemeClr val="dk1"/>
                  </a:solidFill>
                  <a:latin typeface="+mn-lt"/>
                  <a:ea typeface="+mn-ea"/>
                  <a:cs typeface="+mn-cs"/>
                </a:rPr>
                <a:t>2028 年底:美国渗透率是否突破 10%(突破则进入下一轮三年优先级评估,否则维持守势)。</a:t>
              </a:r>
            </a:p>
          </p:txBody>
        </p:sp>
      </p:grpSp>
      <p:grpSp>
        <p:nvGrpSpPr>
          <p:cNvPr id="52" name="footer"/>
          <p:cNvGrpSpPr/>
          <p:nvPr/>
        </p:nvGrpSpPr>
        <p:grpSpPr>
          <a:xfrm>
            <a:off x="452438" y="6205538"/>
            <a:ext cx="11287124" cy="300038"/>
            <a:chOff x="452438" y="6205538"/>
            <a:chExt cx="11287124" cy="300038"/>
          </a:xfrm>
        </p:grpSpPr>
        <p:sp>
          <p:nvSpPr>
            <p:cNvPr id="49" name="TextBox 49"/>
            <p:cNvSpPr txBox="1"/>
            <p:nvPr/>
          </p:nvSpPr>
          <p:spPr>
            <a:xfrm>
              <a:off x="452438" y="6205538"/>
              <a:ext cx="3058668"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本页为建议的行动节奏,不含新的数据事实;决策门阈值见第 12 页</a:t>
              </a:r>
            </a:p>
          </p:txBody>
        </p:sp>
        <p:sp>
          <p:nvSpPr>
            <p:cNvPr id="50" name="TextBox 50"/>
            <p:cNvSpPr txBox="1"/>
            <p:nvPr/>
          </p:nvSpPr>
          <p:spPr>
            <a:xfrm>
              <a:off x="452438" y="635793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51" name="TextBox 51"/>
            <p:cNvSpPr txBox="1"/>
            <p:nvPr/>
          </p:nvSpPr>
          <p:spPr>
            <a:xfrm>
              <a:off x="11617724" y="6357938"/>
              <a:ext cx="121838"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wipe(right)">
                                      <p:cBhvr>
                                        <p:cTn id="11" dur="400"/>
                                        <p:tgtEl>
                                          <p:spTgt spid="14"/>
                                        </p:tgtEl>
                                      </p:cBhvr>
                                    </p:animEffect>
                                  </p:childTnLst>
                                </p:cTn>
                              </p:par>
                            </p:childTnLst>
                          </p:cTn>
                        </p:par>
                        <p:par>
                          <p:cTn id="12" fill="hold">
                            <p:stCondLst>
                              <p:cond delay="12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18"/>
                                        </p:tgtEl>
                                        <p:attrNameLst>
                                          <p:attrName>style.visibility</p:attrName>
                                        </p:attrNameLst>
                                      </p:cBhvr>
                                      <p:to>
                                        <p:strVal val="visible"/>
                                      </p:to>
                                    </p:set>
                                    <p:animEffect transition="in" filter="wipe(right)">
                                      <p:cBhvr>
                                        <p:cTn id="15" dur="400"/>
                                        <p:tgtEl>
                                          <p:spTgt spid="18"/>
                                        </p:tgtEl>
                                      </p:cBhvr>
                                    </p:animEffect>
                                  </p:childTnLst>
                                </p:cTn>
                              </p:par>
                            </p:childTnLst>
                          </p:cTn>
                        </p:par>
                        <p:par>
                          <p:cTn id="16" fill="hold">
                            <p:stCondLst>
                              <p:cond delay="2100"/>
                            </p:stCondLst>
                            <p:childTnLst>
                              <p:par>
                                <p:cTn xmlns:p="http://schemas.openxmlformats.org/presentationml/2006/main" id="17" presetID="22" presetClass="entr" presetSubtype="2" fill="hold" grpId="0" nodeType="afterEffect">
                                  <p:stCondLst>
                                    <p:cond delay="500"/>
                                  </p:stCondLst>
                                  <p:childTnLst>
                                    <p:set>
                                      <p:cBhvr>
                                        <p:cTn id="18" dur="1" fill="hold">
                                          <p:stCondLst>
                                            <p:cond delay="0"/>
                                          </p:stCondLst>
                                        </p:cTn>
                                        <p:tgtEl>
                                          <p:spTgt spid="22"/>
                                        </p:tgtEl>
                                        <p:attrNameLst>
                                          <p:attrName>style.visibility</p:attrName>
                                        </p:attrNameLst>
                                      </p:cBhvr>
                                      <p:to>
                                        <p:strVal val="visible"/>
                                      </p:to>
                                    </p:set>
                                    <p:animEffect transition="in" filter="wipe(right)">
                                      <p:cBhvr>
                                        <p:cTn id="19" dur="400"/>
                                        <p:tgtEl>
                                          <p:spTgt spid="22"/>
                                        </p:tgtEl>
                                      </p:cBhvr>
                                    </p:animEffect>
                                  </p:childTnLst>
                                </p:cTn>
                              </p:par>
                            </p:childTnLst>
                          </p:cTn>
                        </p:par>
                        <p:par>
                          <p:cTn id="20" fill="hold">
                            <p:stCondLst>
                              <p:cond delay="30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300"/>
                                        <p:tgtEl>
                                          <p:spTgt spid="27"/>
                                        </p:tgtEl>
                                      </p:cBhvr>
                                    </p:animEffect>
                                  </p:childTnLst>
                                </p:cTn>
                              </p:par>
                            </p:childTnLst>
                          </p:cTn>
                        </p:par>
                        <p:par>
                          <p:cTn id="24" fill="hold">
                            <p:stCondLst>
                              <p:cond delay="38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300"/>
                                        <p:tgtEl>
                                          <p:spTgt spid="33"/>
                                        </p:tgtEl>
                                      </p:cBhvr>
                                    </p:animEffect>
                                  </p:childTnLst>
                                </p:cTn>
                              </p:par>
                            </p:childTnLst>
                          </p:cTn>
                        </p:par>
                        <p:par>
                          <p:cTn id="28" fill="hold">
                            <p:stCondLst>
                              <p:cond delay="460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300"/>
                                        <p:tgtEl>
                                          <p:spTgt spid="38"/>
                                        </p:tgtEl>
                                      </p:cBhvr>
                                    </p:animEffect>
                                  </p:childTnLst>
                                </p:cTn>
                              </p:par>
                            </p:childTnLst>
                          </p:cTn>
                        </p:par>
                        <p:par>
                          <p:cTn id="32" fill="hold">
                            <p:stCondLst>
                              <p:cond delay="5400"/>
                            </p:stCondLst>
                            <p:childTnLst>
                              <p:par>
                                <p:cTn xmlns:p="http://schemas.openxmlformats.org/presentationml/2006/main" id="33" presetID="10" presetClass="entr" presetSubtype="0" fill="hold" grpId="0" nodeType="afterEffect">
                                  <p:stCondLst>
                                    <p:cond delay="50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300"/>
                                        <p:tgtEl>
                                          <p:spTgt spid="44"/>
                                        </p:tgtEl>
                                      </p:cBhvr>
                                    </p:animEffect>
                                  </p:childTnLst>
                                </p:cTn>
                              </p:par>
                            </p:childTnLst>
                          </p:cTn>
                        </p:par>
                        <p:par>
                          <p:cTn id="36" fill="hold">
                            <p:stCondLst>
                              <p:cond delay="6200"/>
                            </p:stCondLst>
                            <p:childTnLst>
                              <p:par>
                                <p:cTn xmlns:p="http://schemas.openxmlformats.org/presentationml/2006/main" id="37" presetID="10" presetClass="entr" presetSubtype="0" fill="hold" grpId="0" nodeType="afterEffect">
                                  <p:stCondLst>
                                    <p:cond delay="500"/>
                                  </p:stCondLst>
                                  <p:childTnLst>
                                    <p:set>
                                      <p:cBhvr>
                                        <p:cTn id="38" dur="1" fill="hold">
                                          <p:stCondLst>
                                            <p:cond delay="0"/>
                                          </p:stCondLst>
                                        </p:cTn>
                                        <p:tgtEl>
                                          <p:spTgt spid="48"/>
                                        </p:tgtEl>
                                        <p:attrNameLst>
                                          <p:attrName>style.visibility</p:attrName>
                                        </p:attrNameLst>
                                      </p:cBhvr>
                                      <p:to>
                                        <p:strVal val="visible"/>
                                      </p:to>
                                    </p:set>
                                    <p:animEffect transition="in" filter="fade">
                                      <p:cBhvr>
                                        <p:cTn id="3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168651" y="247650"/>
            <a:ext cx="1566149" cy="206216"/>
            <a:chOff x="10168651" y="247650"/>
            <a:chExt cx="1566149" cy="206216"/>
          </a:xfrm>
        </p:grpSpPr>
        <p:sp>
          <p:nvSpPr>
            <p:cNvPr id="2" name="TextBox 2"/>
            <p:cNvSpPr txBox="1"/>
            <p:nvPr/>
          </p:nvSpPr>
          <p:spPr>
            <a:xfrm>
              <a:off x="10168651" y="291941"/>
              <a:ext cx="637461"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建议 · 风险</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7008304" cy="637794"/>
            <a:chOff x="448056" y="472440"/>
            <a:chExt cx="7008304" cy="637794"/>
          </a:xfrm>
        </p:grpSpPr>
        <p:sp>
          <p:nvSpPr>
            <p:cNvPr id="6" name="TextBox 6"/>
            <p:cNvSpPr txBox="1"/>
            <p:nvPr/>
          </p:nvSpPr>
          <p:spPr>
            <a:xfrm>
              <a:off x="448056" y="472440"/>
              <a:ext cx="7008304"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三项风险各有可监测的触发指标:新兴市场增速回落、欧洲政策反复、</a:t>
              </a:r>
              <a:br/>
              <a:r>
                <a:rPr lang="zh-CN" sz="1800" b="1" dirty="0">
                  <a:solidFill>
                    <a:schemeClr val="accent1"/>
                  </a:solidFill>
                  <a:latin typeface="+mn-lt"/>
                  <a:ea typeface="+mn-ea"/>
                  <a:cs typeface="+mn-cs"/>
                </a:rPr>
                <a:t>PHEV 需求提前见顶——它们不构成不行动的理由</a:t>
              </a:r>
            </a:p>
          </p:txBody>
        </p:sp>
      </p:grpSp>
      <p:grpSp>
        <p:nvGrpSpPr>
          <p:cNvPr id="9" name="unit-line"/>
          <p:cNvGrpSpPr/>
          <p:nvPr/>
        </p:nvGrpSpPr>
        <p:grpSpPr>
          <a:xfrm>
            <a:off x="452438" y="1160145"/>
            <a:ext cx="5364709" cy="176212"/>
            <a:chOff x="452438" y="1160145"/>
            <a:chExt cx="5364709" cy="176212"/>
          </a:xfrm>
        </p:grpSpPr>
        <p:sp>
          <p:nvSpPr>
            <p:cNvPr id="8" name="TextBox 8"/>
            <p:cNvSpPr txBox="1"/>
            <p:nvPr/>
          </p:nvSpPr>
          <p:spPr>
            <a:xfrm>
              <a:off x="452438" y="1160145"/>
              <a:ext cx="536470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风险登记:风险、触发指标、影响、应对;触发指标基准值来自 2024/2025 年数据,阈值为本报告建议</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aphicFrame>
        <p:nvGraphicFramePr>
          <p:cNvPr id="11" name="risk-register"/>
          <p:cNvGraphicFramePr>
            <a:graphicFrameLocks noGrp="1"/>
          </p:cNvGraphicFramePr>
          <p:nvPr/>
        </p:nvGraphicFramePr>
        <p:xfrm>
          <a:off x="457200" y="1524000"/>
          <a:ext cx="9258300" cy="3028950"/>
        </p:xfrm>
        <a:graphic>
          <a:graphicData uri="http://schemas.openxmlformats.org/drawingml/2006/table">
            <a:tbl>
              <a:tblPr firstRow="1" bandRow="0">
                <a:tableStyleId>{5C22544A-7EE6-4342-B048-85BDC9FD1C3A}</a:tableStyleId>
              </a:tblPr>
              <a:tblGrid>
                <a:gridCol w="1295400"/>
                <a:gridCol w="2095500"/>
                <a:gridCol w="1809750"/>
                <a:gridCol w="2247900"/>
                <a:gridCol w="1809750"/>
              </a:tblGrid>
              <a:tr h="285750">
                <a:tc>
                  <a:txBody>
                    <a:bodyPr/>
                    <a:lstStyle/>
                    <a:p>
                      <a:pPr/>
                      <a:r>
                        <a:rPr lang="zh-CN" sz="820" b="1">
                          <a:solidFill>
                            <a:schemeClr val="accent1"/>
                          </a:solidFill>
                          <a:latin typeface="Microsoft YaHei"/>
                          <a:ea typeface="Microsoft YaHei"/>
                          <a:cs typeface="Microsoft YaHei"/>
                        </a:rPr>
                        <a:t>风险</a:t>
                      </a:r>
                    </a:p>
                  </a:txBody>
                  <a:tcPr anchor="ctr" marL="76200" marR="76200" marT="9525" marB="9525">
                    <a:lnL>
                      <a:noFill/>
                    </a:lnL>
                    <a:lnR>
                      <a:noFill/>
                    </a:lnR>
                    <a:lnT>
                      <a:noFill/>
                    </a:lnT>
                    <a:lnB w="9525">
                      <a:solidFill>
                        <a:schemeClr val="accent1"/>
                      </a:solidFill>
                      <a:prstDash val="solid"/>
                    </a:lnB>
                    <a:noFill/>
                  </a:tcPr>
                </a:tc>
                <a:tc>
                  <a:txBody>
                    <a:bodyPr/>
                    <a:lstStyle/>
                    <a:p>
                      <a:pPr/>
                      <a:r>
                        <a:rPr lang="zh-CN" sz="820" b="1">
                          <a:solidFill>
                            <a:schemeClr val="accent1"/>
                          </a:solidFill>
                          <a:latin typeface="Microsoft YaHei"/>
                          <a:ea typeface="Microsoft YaHei"/>
                          <a:cs typeface="Microsoft YaHei"/>
                        </a:rPr>
                        <a:t>触发指标(基准 → 阈值)</a:t>
                      </a:r>
                    </a:p>
                  </a:txBody>
                  <a:tcPr anchor="ctr" marL="76200" marR="76200" marT="9525" marB="9525">
                    <a:lnL>
                      <a:noFill/>
                    </a:lnL>
                    <a:lnR>
                      <a:noFill/>
                    </a:lnR>
                    <a:lnT>
                      <a:noFill/>
                    </a:lnT>
                    <a:lnB w="9525">
                      <a:solidFill>
                        <a:schemeClr val="accent1"/>
                      </a:solidFill>
                      <a:prstDash val="solid"/>
                    </a:lnB>
                    <a:noFill/>
                  </a:tcPr>
                </a:tc>
                <a:tc>
                  <a:txBody>
                    <a:bodyPr/>
                    <a:lstStyle/>
                    <a:p>
                      <a:pPr/>
                      <a:r>
                        <a:rPr lang="zh-CN" sz="820" b="1">
                          <a:solidFill>
                            <a:schemeClr val="accent1"/>
                          </a:solidFill>
                          <a:latin typeface="Microsoft YaHei"/>
                          <a:ea typeface="Microsoft YaHei"/>
                          <a:cs typeface="Microsoft YaHei"/>
                        </a:rPr>
                        <a:t>影响</a:t>
                      </a:r>
                    </a:p>
                  </a:txBody>
                  <a:tcPr anchor="ctr" marL="76200" marR="76200" marT="9525" marB="9525">
                    <a:lnL>
                      <a:noFill/>
                    </a:lnL>
                    <a:lnR>
                      <a:noFill/>
                    </a:lnR>
                    <a:lnT>
                      <a:noFill/>
                    </a:lnT>
                    <a:lnB w="9525">
                      <a:solidFill>
                        <a:schemeClr val="accent1"/>
                      </a:solidFill>
                      <a:prstDash val="solid"/>
                    </a:lnB>
                    <a:noFill/>
                  </a:tcPr>
                </a:tc>
                <a:tc>
                  <a:txBody>
                    <a:bodyPr/>
                    <a:lstStyle/>
                    <a:p>
                      <a:pPr/>
                      <a:r>
                        <a:rPr lang="zh-CN" sz="820" b="1">
                          <a:solidFill>
                            <a:schemeClr val="accent1"/>
                          </a:solidFill>
                          <a:latin typeface="Microsoft YaHei"/>
                          <a:ea typeface="Microsoft YaHei"/>
                          <a:cs typeface="Microsoft YaHei"/>
                        </a:rPr>
                        <a:t>应对</a:t>
                      </a:r>
                    </a:p>
                  </a:txBody>
                  <a:tcPr anchor="ctr" marL="76200" marR="76200" marT="9525" marB="9525">
                    <a:lnL>
                      <a:noFill/>
                    </a:lnL>
                    <a:lnR>
                      <a:noFill/>
                    </a:lnR>
                    <a:lnT>
                      <a:noFill/>
                    </a:lnT>
                    <a:lnB w="9525">
                      <a:solidFill>
                        <a:schemeClr val="accent1"/>
                      </a:solidFill>
                      <a:prstDash val="solid"/>
                    </a:lnB>
                    <a:noFill/>
                  </a:tcPr>
                </a:tc>
                <a:tc>
                  <a:txBody>
                    <a:bodyPr/>
                    <a:lstStyle/>
                    <a:p>
                      <a:pPr/>
                      <a:r>
                        <a:rPr lang="zh-CN" sz="820" b="1">
                          <a:solidFill>
                            <a:schemeClr val="accent1"/>
                          </a:solidFill>
                          <a:latin typeface="Microsoft YaHei"/>
                          <a:ea typeface="Microsoft YaHei"/>
                          <a:cs typeface="Microsoft YaHei"/>
                        </a:rPr>
                        <a:t>监测数据</a:t>
                      </a:r>
                    </a:p>
                  </a:txBody>
                  <a:tcPr anchor="ctr" marL="76200" marR="76200" marT="9525" marB="9525">
                    <a:lnL>
                      <a:noFill/>
                    </a:lnL>
                    <a:lnR>
                      <a:noFill/>
                    </a:lnR>
                    <a:lnT>
                      <a:noFill/>
                    </a:lnT>
                    <a:lnB w="9525">
                      <a:solidFill>
                        <a:schemeClr val="accent1"/>
                      </a:solidFill>
                      <a:prstDash val="solid"/>
                    </a:lnB>
                    <a:noFill/>
                  </a:tcPr>
                </a:tc>
              </a:tr>
              <a:tr h="914400">
                <a:tc>
                  <a:txBody>
                    <a:bodyPr/>
                    <a:lstStyle/>
                    <a:p>
                      <a:pPr/>
                      <a:r>
                        <a:rPr lang="zh-CN" sz="900" b="1">
                          <a:solidFill>
                            <a:schemeClr val="accent1"/>
                          </a:solidFill>
                          <a:latin typeface="Microsoft YaHei"/>
                          <a:ea typeface="Microsoft YaHei"/>
                          <a:cs typeface="Microsoft YaHei"/>
                        </a:rPr>
                        <a:t>新兴市场增速回落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l"/>
                      <a:r>
                        <a:rPr lang="zh-CN" sz="900" b="0">
                          <a:solidFill>
                            <a:schemeClr val="dk1"/>
                          </a:solidFill>
                          <a:latin typeface="Microsoft YaHei"/>
                          <a:ea typeface="Microsoft YaHei"/>
                          <a:cs typeface="Microsoft YaHei"/>
                        </a:rPr>
                        <a:t>东南亚渗透率 2025 年 18%</a:t>
                      </a:r>
                    </a:p>
                    <a:p>
                      <a:pPr algn="l"/>
                      <a:r>
                        <a:rPr lang="zh-CN" sz="900" b="0">
                          <a:solidFill>
                            <a:schemeClr val="dk1"/>
                          </a:solidFill>
                          <a:latin typeface="Microsoft YaHei"/>
                          <a:ea typeface="Microsoft YaHei"/>
                          <a:cs typeface="Microsoft YaHei"/>
                        </a:rPr>
                        <a:t>→ 2026 年低于 18%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l"/>
                      <a:r>
                        <a:rPr lang="zh-CN" sz="900" b="0">
                          <a:solidFill>
                            <a:schemeClr val="dk1"/>
                          </a:solidFill>
                          <a:latin typeface="Microsoft YaHei"/>
                          <a:ea typeface="Microsoft YaHei"/>
                          <a:cs typeface="Microsoft YaHei"/>
                        </a:rPr>
                        <a:t>二级市场放量推迟,</a:t>
                      </a:r>
                    </a:p>
                    <a:p>
                      <a:pPr algn="l"/>
                      <a:r>
                        <a:rPr lang="zh-CN" sz="900" b="0">
                          <a:solidFill>
                            <a:schemeClr val="dk1"/>
                          </a:solidFill>
                          <a:latin typeface="Microsoft YaHei"/>
                          <a:ea typeface="Microsoft YaHei"/>
                          <a:cs typeface="Microsoft YaHei"/>
                        </a:rPr>
                        <a:t>2026 年试点投入回收期拉长</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l"/>
                      <a:r>
                        <a:rPr lang="zh-CN" sz="900" b="0">
                          <a:solidFill>
                            <a:schemeClr val="dk1"/>
                          </a:solidFill>
                          <a:latin typeface="Microsoft YaHei"/>
                          <a:ea typeface="Microsoft YaHei"/>
                          <a:cs typeface="Microsoft YaHei"/>
                        </a:rPr>
                        <a:t>2026 年试点规模受控;</a:t>
                      </a:r>
                    </a:p>
                    <a:p>
                      <a:pPr algn="l"/>
                      <a:r>
                        <a:rPr lang="zh-CN" sz="900" b="0">
                          <a:solidFill>
                            <a:schemeClr val="dk1"/>
                          </a:solidFill>
                          <a:latin typeface="Microsoft YaHei"/>
                          <a:ea typeface="Microsoft YaHei"/>
                          <a:cs typeface="Microsoft YaHei"/>
                        </a:rPr>
                        <a:t>2027 年初复盘后再放量</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l"/>
                      <a:r>
                        <a:rPr lang="zh-CN" sz="900" b="0">
                          <a:solidFill>
                            <a:schemeClr val="dk1"/>
                          </a:solidFill>
                          <a:latin typeface="Microsoft YaHei"/>
                          <a:ea typeface="Microsoft YaHei"/>
                          <a:cs typeface="Microsoft YaHei"/>
                        </a:rPr>
                        <a:t>IEA 年度数据;</a:t>
                      </a:r>
                    </a:p>
                    <a:p>
                      <a:pPr algn="l"/>
                      <a:r>
                        <a:rPr lang="zh-CN" sz="900" b="0">
                          <a:solidFill>
                            <a:schemeClr val="dk1"/>
                          </a:solidFill>
                          <a:latin typeface="Microsoft YaHei"/>
                          <a:ea typeface="Microsoft YaHei"/>
                          <a:cs typeface="Microsoft YaHei"/>
                        </a:rPr>
                        <a:t>各国月度上牌数据</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914400">
                <a:tc>
                  <a:txBody>
                    <a:bodyPr/>
                    <a:lstStyle/>
                    <a:p>
                      <a:pPr/>
                      <a:r>
                        <a:rPr lang="zh-CN" sz="900" b="1">
                          <a:solidFill>
                            <a:schemeClr val="accent1"/>
                          </a:solidFill>
                          <a:latin typeface="Microsoft YaHei"/>
                          <a:ea typeface="Microsoft YaHei"/>
                          <a:cs typeface="Microsoft YaHei"/>
                        </a:rPr>
                        <a:t>欧洲政策反复</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l"/>
                      <a:r>
                        <a:rPr lang="zh-CN" sz="900" b="0">
                          <a:solidFill>
                            <a:schemeClr val="dk1"/>
                          </a:solidFill>
                          <a:latin typeface="Microsoft YaHei"/>
                          <a:ea typeface="Microsoft YaHei"/>
                          <a:cs typeface="Microsoft YaHei"/>
                        </a:rPr>
                        <a:t>德国渗透率 2025 年 30%</a:t>
                      </a:r>
                    </a:p>
                    <a:p>
                      <a:pPr algn="l"/>
                      <a:r>
                        <a:rPr lang="zh-CN" sz="900" b="0">
                          <a:solidFill>
                            <a:schemeClr val="dk1"/>
                          </a:solidFill>
                          <a:latin typeface="Microsoft YaHei"/>
                          <a:ea typeface="Microsoft YaHei"/>
                          <a:cs typeface="Microsoft YaHei"/>
                        </a:rPr>
                        <a:t>→ 回落到 25% 以下(2024 年曾 20%)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l"/>
                      <a:r>
                        <a:rPr lang="zh-CN" sz="900" b="0">
                          <a:solidFill>
                            <a:schemeClr val="dk1"/>
                          </a:solidFill>
                          <a:latin typeface="Microsoft YaHei"/>
                          <a:ea typeface="Microsoft YaHei"/>
                          <a:cs typeface="Microsoft YaHei"/>
                        </a:rPr>
                        <a:t>英德投入回报期拉长,</a:t>
                      </a:r>
                    </a:p>
                    <a:p>
                      <a:pPr algn="l"/>
                      <a:r>
                        <a:rPr lang="zh-CN" sz="900" b="0">
                          <a:solidFill>
                            <a:schemeClr val="dk1"/>
                          </a:solidFill>
                          <a:latin typeface="Microsoft YaHei"/>
                          <a:ea typeface="Microsoft YaHei"/>
                          <a:cs typeface="Microsoft YaHei"/>
                        </a:rPr>
                        <a:t>欧洲整体从 28% 回落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l"/>
                      <a:r>
                        <a:rPr lang="zh-CN" sz="900" b="0">
                          <a:solidFill>
                            <a:schemeClr val="dk1"/>
                          </a:solidFill>
                          <a:latin typeface="Microsoft YaHei"/>
                          <a:ea typeface="Microsoft YaHei"/>
                          <a:cs typeface="Microsoft YaHei"/>
                        </a:rPr>
                        <a:t>英国优先投入;</a:t>
                      </a:r>
                    </a:p>
                    <a:p>
                      <a:pPr algn="l"/>
                      <a:r>
                        <a:rPr lang="zh-CN" sz="900" b="0">
                          <a:solidFill>
                            <a:schemeClr val="dk1"/>
                          </a:solidFill>
                          <a:latin typeface="Microsoft YaHei"/>
                          <a:ea typeface="Microsoft YaHei"/>
                          <a:cs typeface="Microsoft YaHei"/>
                        </a:rPr>
                        <a:t>德国按季度评估,不提前锁定产能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l"/>
                      <a:r>
                        <a:rPr lang="zh-CN" sz="900" b="0">
                          <a:solidFill>
                            <a:schemeClr val="dk1"/>
                          </a:solidFill>
                          <a:latin typeface="Microsoft YaHei"/>
                          <a:ea typeface="Microsoft YaHei"/>
                          <a:cs typeface="Microsoft YaHei"/>
                        </a:rPr>
                        <a:t>IEA 年度数据;</a:t>
                      </a:r>
                    </a:p>
                    <a:p>
                      <a:pPr algn="l"/>
                      <a:r>
                        <a:rPr lang="zh-CN" sz="900" b="0">
                          <a:solidFill>
                            <a:schemeClr val="dk1"/>
                          </a:solidFill>
                          <a:latin typeface="Microsoft YaHei"/>
                          <a:ea typeface="Microsoft YaHei"/>
                          <a:cs typeface="Microsoft YaHei"/>
                        </a:rPr>
                        <a:t>德国 KBA 月度上牌数据</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914400">
                <a:tc>
                  <a:txBody>
                    <a:bodyPr/>
                    <a:lstStyle/>
                    <a:p>
                      <a:pPr/>
                      <a:r>
                        <a:rPr lang="zh-CN" sz="900" b="1">
                          <a:solidFill>
                            <a:schemeClr val="accent1"/>
                          </a:solidFill>
                          <a:latin typeface="Microsoft YaHei"/>
                          <a:ea typeface="Microsoft YaHei"/>
                          <a:cs typeface="Microsoft YaHei"/>
                        </a:rPr>
                        <a:t>PHEV 需求提前见顶</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l"/>
                      <a:r>
                        <a:rPr lang="zh-CN" sz="900" b="0">
                          <a:solidFill>
                            <a:schemeClr val="dk1"/>
                          </a:solidFill>
                          <a:latin typeface="Microsoft YaHei"/>
                          <a:ea typeface="Microsoft YaHei"/>
                          <a:cs typeface="Microsoft YaHei"/>
                        </a:rPr>
                        <a:t>中国 PHEV 占比 2025 年 38%</a:t>
                      </a:r>
                    </a:p>
                    <a:p>
                      <a:pPr algn="l"/>
                      <a:r>
                        <a:rPr lang="zh-CN" sz="900" b="0">
                          <a:solidFill>
                            <a:schemeClr val="dk1"/>
                          </a:solidFill>
                          <a:latin typeface="Microsoft YaHei"/>
                          <a:ea typeface="Microsoft YaHei"/>
                          <a:cs typeface="Microsoft YaHei"/>
                        </a:rPr>
                        <a:t>→ 连续两个季度下降</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l"/>
                      <a:r>
                        <a:rPr lang="zh-CN" sz="900" b="0">
                          <a:solidFill>
                            <a:schemeClr val="dk1"/>
                          </a:solidFill>
                          <a:latin typeface="Microsoft YaHei"/>
                          <a:ea typeface="Microsoft YaHei"/>
                          <a:cs typeface="Microsoft YaHei"/>
                        </a:rPr>
                        <a:t>破冰产品失效,</a:t>
                      </a:r>
                    </a:p>
                    <a:p>
                      <a:pPr algn="l"/>
                      <a:r>
                        <a:rPr lang="zh-CN" sz="900" b="0">
                          <a:solidFill>
                            <a:schemeClr val="dk1"/>
                          </a:solidFill>
                          <a:latin typeface="Microsoft YaHei"/>
                          <a:ea typeface="Microsoft YaHei"/>
                          <a:cs typeface="Microsoft YaHei"/>
                        </a:rPr>
                        <a:t>二级市场进入受阻</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l"/>
                      <a:r>
                        <a:rPr lang="zh-CN" sz="900" b="0">
                          <a:solidFill>
                            <a:schemeClr val="dk1"/>
                          </a:solidFill>
                          <a:latin typeface="Microsoft YaHei"/>
                          <a:ea typeface="Microsoft YaHei"/>
                          <a:cs typeface="Microsoft YaHei"/>
                        </a:rPr>
                        <a:t>二级市场同步准备 BEV 版本;</a:t>
                      </a:r>
                    </a:p>
                    <a:p>
                      <a:pPr algn="l"/>
                      <a:r>
                        <a:rPr lang="zh-CN" sz="900" b="0">
                          <a:solidFill>
                            <a:schemeClr val="dk1"/>
                          </a:solidFill>
                          <a:latin typeface="Microsoft YaHei"/>
                          <a:ea typeface="Microsoft YaHei"/>
                          <a:cs typeface="Microsoft YaHei"/>
                        </a:rPr>
                        <a:t>东南亚试点双动力并行</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l"/>
                      <a:r>
                        <a:rPr lang="zh-CN" sz="900" b="0">
                          <a:solidFill>
                            <a:schemeClr val="dk1"/>
                          </a:solidFill>
                          <a:latin typeface="Microsoft YaHei"/>
                          <a:ea typeface="Microsoft YaHei"/>
                          <a:cs typeface="Microsoft YaHei"/>
                        </a:rPr>
                        <a:t>IEA 年度数据;</a:t>
                      </a:r>
                    </a:p>
                    <a:p>
                      <a:pPr algn="l"/>
                      <a:r>
                        <a:rPr lang="zh-CN" sz="900" b="0">
                          <a:solidFill>
                            <a:schemeClr val="dk1"/>
                          </a:solidFill>
                          <a:latin typeface="Microsoft YaHei"/>
                          <a:ea typeface="Microsoft YaHei"/>
                          <a:cs typeface="Microsoft YaHei"/>
                        </a:rPr>
                        <a:t>中国季度分动力销量</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bl>
          </a:graphicData>
        </a:graphic>
      </p:graphicFrame>
      <p:grpSp>
        <p:nvGrpSpPr>
          <p:cNvPr id="26" name="insights"/>
          <p:cNvGrpSpPr/>
          <p:nvPr/>
        </p:nvGrpSpPr>
        <p:grpSpPr>
          <a:xfrm>
            <a:off x="10015538" y="1587341"/>
            <a:ext cx="1719262" cy="3057620"/>
            <a:chOff x="10015538" y="1587341"/>
            <a:chExt cx="1719262" cy="3057620"/>
          </a:xfrm>
        </p:grpSpPr>
        <p:sp>
          <p:nvSpPr>
            <p:cNvPr id="12" name="TextBox 12"/>
            <p:cNvSpPr txBox="1"/>
            <p:nvPr/>
          </p:nvSpPr>
          <p:spPr>
            <a:xfrm>
              <a:off x="100155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监测节奏</a:t>
              </a:r>
            </a:p>
          </p:txBody>
        </p:sp>
        <p:sp>
          <p:nvSpPr>
            <p:cNvPr id="13" name="Line 13"/>
            <p:cNvSpPr/>
            <p:nvPr/>
          </p:nvSpPr>
          <p:spPr>
            <a:xfrm>
              <a:off x="10020300" y="1752600"/>
              <a:ext cx="1714500" cy="9525"/>
            </a:xfrm>
            <a:custGeom>
              <a:avLst/>
              <a:gdLst/>
              <a:ahLst/>
              <a:cxnLst/>
              <a:rect l="l" t="t" r="r" b="b"/>
              <a:pathLst>
                <a:path w="1714500" h="9525">
                  <a:moveTo>
                    <a:pt x="0" y="0"/>
                  </a:moveTo>
                  <a:lnTo>
                    <a:pt x="1714500" y="0"/>
                  </a:lnTo>
                </a:path>
              </a:pathLst>
            </a:custGeom>
            <a:noFill/>
            <a:ln w="9525">
              <a:solidFill>
                <a:schemeClr val="accent1"/>
              </a:solidFill>
            </a:ln>
          </p:spPr>
        </p:sp>
        <p:sp>
          <p:nvSpPr>
            <p:cNvPr id="14" name="Ellipse 14"/>
            <p:cNvSpPr/>
            <p:nvPr/>
          </p:nvSpPr>
          <p:spPr>
            <a:xfrm>
              <a:off x="10020300" y="1876425"/>
              <a:ext cx="152400" cy="152400"/>
            </a:xfrm>
            <a:prstGeom prst="ellipse">
              <a:avLst/>
            </a:prstGeom>
            <a:solidFill>
              <a:schemeClr val="accent1"/>
            </a:solidFill>
            <a:ln>
              <a:noFill/>
            </a:ln>
          </p:spPr>
        </p:sp>
        <p:sp>
          <p:nvSpPr>
            <p:cNvPr id="15" name="TextBox 15"/>
            <p:cNvSpPr txBox="1"/>
            <p:nvPr/>
          </p:nvSpPr>
          <p:spPr>
            <a:xfrm>
              <a:off x="100636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16" name="TextBox 16"/>
            <p:cNvSpPr txBox="1"/>
            <p:nvPr/>
          </p:nvSpPr>
          <p:spPr>
            <a:xfrm>
              <a:off x="10243566" y="1886902"/>
              <a:ext cx="94411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监测频率:</a:t>
              </a:r>
              <a:br/>
              <a:r>
                <a:rPr lang="zh-CN" sz="1050" dirty="0">
                  <a:solidFill>
                    <a:schemeClr val="dk1"/>
                  </a:solidFill>
                  <a:latin typeface="+mn-lt"/>
                  <a:ea typeface="+mn-ea"/>
                  <a:cs typeface="+mn-cs"/>
                </a:rPr>
                <a:t>年度 IEA 同口径</a:t>
              </a:r>
              <a:br/>
              <a:r>
                <a:rPr lang="zh-CN" sz="1050" dirty="0">
                  <a:solidFill>
                    <a:schemeClr val="dk1"/>
                  </a:solidFill>
                  <a:latin typeface="+mn-lt"/>
                  <a:ea typeface="+mn-ea"/>
                  <a:cs typeface="+mn-cs"/>
                </a:rPr>
                <a:t>+ 季度内部数据</a:t>
              </a:r>
            </a:p>
          </p:txBody>
        </p:sp>
        <p:sp>
          <p:nvSpPr>
            <p:cNvPr id="17" name="Ellipse 17"/>
            <p:cNvSpPr/>
            <p:nvPr/>
          </p:nvSpPr>
          <p:spPr>
            <a:xfrm>
              <a:off x="10020300" y="2600325"/>
              <a:ext cx="152400" cy="152400"/>
            </a:xfrm>
            <a:prstGeom prst="ellipse">
              <a:avLst/>
            </a:prstGeom>
            <a:solidFill>
              <a:schemeClr val="accent1"/>
            </a:solidFill>
            <a:ln>
              <a:noFill/>
            </a:ln>
          </p:spPr>
        </p:sp>
        <p:sp>
          <p:nvSpPr>
            <p:cNvPr id="18" name="TextBox 18"/>
            <p:cNvSpPr txBox="1"/>
            <p:nvPr/>
          </p:nvSpPr>
          <p:spPr>
            <a:xfrm>
              <a:off x="100636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19" name="TextBox 19"/>
            <p:cNvSpPr txBox="1"/>
            <p:nvPr/>
          </p:nvSpPr>
          <p:spPr>
            <a:xfrm>
              <a:off x="10243566" y="2610802"/>
              <a:ext cx="81076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触发即动作:</a:t>
              </a:r>
              <a:br/>
              <a:r>
                <a:rPr lang="zh-CN" sz="1050" dirty="0">
                  <a:solidFill>
                    <a:schemeClr val="dk1"/>
                  </a:solidFill>
                  <a:latin typeface="+mn-lt"/>
                  <a:ea typeface="+mn-ea"/>
                  <a:cs typeface="+mn-cs"/>
                </a:rPr>
                <a:t>冻结下一阶段</a:t>
              </a:r>
              <a:br/>
              <a:r>
                <a:rPr lang="zh-CN" sz="1050" dirty="0">
                  <a:solidFill>
                    <a:schemeClr val="dk1"/>
                  </a:solidFill>
                  <a:latin typeface="+mn-lt"/>
                  <a:ea typeface="+mn-ea"/>
                  <a:cs typeface="+mn-cs"/>
                </a:rPr>
                <a:t>投入,不追加</a:t>
              </a:r>
            </a:p>
          </p:txBody>
        </p:sp>
        <p:sp>
          <p:nvSpPr>
            <p:cNvPr id="20" name="Ellipse 20"/>
            <p:cNvSpPr/>
            <p:nvPr/>
          </p:nvSpPr>
          <p:spPr>
            <a:xfrm>
              <a:off x="10020300" y="3324225"/>
              <a:ext cx="152400" cy="152400"/>
            </a:xfrm>
            <a:prstGeom prst="ellipse">
              <a:avLst/>
            </a:prstGeom>
            <a:solidFill>
              <a:schemeClr val="accent1"/>
            </a:solidFill>
            <a:ln>
              <a:noFill/>
            </a:ln>
          </p:spPr>
        </p:sp>
        <p:sp>
          <p:nvSpPr>
            <p:cNvPr id="21" name="TextBox 21"/>
            <p:cNvSpPr txBox="1"/>
            <p:nvPr/>
          </p:nvSpPr>
          <p:spPr>
            <a:xfrm>
              <a:off x="100636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22" name="TextBox 22"/>
            <p:cNvSpPr txBox="1"/>
            <p:nvPr/>
          </p:nvSpPr>
          <p:spPr>
            <a:xfrm>
              <a:off x="10243566" y="3334702"/>
              <a:ext cx="105079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复盘节点:</a:t>
              </a:r>
              <a:br/>
              <a:r>
                <a:rPr lang="zh-CN" sz="1050" dirty="0">
                  <a:solidFill>
                    <a:schemeClr val="dk1"/>
                  </a:solidFill>
                  <a:latin typeface="+mn-lt"/>
                  <a:ea typeface="+mn-ea"/>
                  <a:cs typeface="+mn-cs"/>
                </a:rPr>
                <a:t>每年 12 月</a:t>
              </a:r>
              <a:br/>
              <a:r>
                <a:rPr lang="zh-CN" sz="1050" dirty="0">
                  <a:solidFill>
                    <a:schemeClr val="dk1"/>
                  </a:solidFill>
                  <a:latin typeface="+mn-lt"/>
                  <a:ea typeface="+mn-ea"/>
                  <a:cs typeface="+mn-cs"/>
                </a:rPr>
                <a:t>决策门(第 11 页)</a:t>
              </a:r>
            </a:p>
          </p:txBody>
        </p:sp>
        <p:sp>
          <p:nvSpPr>
            <p:cNvPr id="23" name="Ellipse 23"/>
            <p:cNvSpPr/>
            <p:nvPr/>
          </p:nvSpPr>
          <p:spPr>
            <a:xfrm>
              <a:off x="10020300" y="4048125"/>
              <a:ext cx="152400" cy="152400"/>
            </a:xfrm>
            <a:prstGeom prst="ellipse">
              <a:avLst/>
            </a:prstGeom>
            <a:solidFill>
              <a:schemeClr val="accent1"/>
            </a:solidFill>
            <a:ln>
              <a:noFill/>
            </a:ln>
          </p:spPr>
        </p:sp>
        <p:sp>
          <p:nvSpPr>
            <p:cNvPr id="24" name="TextBox 24"/>
            <p:cNvSpPr txBox="1"/>
            <p:nvPr/>
          </p:nvSpPr>
          <p:spPr>
            <a:xfrm>
              <a:off x="10063659" y="40767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25" name="TextBox 25"/>
            <p:cNvSpPr txBox="1"/>
            <p:nvPr/>
          </p:nvSpPr>
          <p:spPr>
            <a:xfrm>
              <a:off x="10243566" y="4058602"/>
              <a:ext cx="81076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升级路径:</a:t>
              </a:r>
              <a:br/>
              <a:r>
                <a:rPr lang="zh-CN" sz="1050" dirty="0">
                  <a:solidFill>
                    <a:schemeClr val="dk1"/>
                  </a:solidFill>
                  <a:latin typeface="+mn-lt"/>
                  <a:ea typeface="+mn-ea"/>
                  <a:cs typeface="+mn-cs"/>
                </a:rPr>
                <a:t>两项同时触发</a:t>
              </a:r>
              <a:br/>
              <a:r>
                <a:rPr lang="zh-CN" sz="1050" dirty="0">
                  <a:solidFill>
                    <a:schemeClr val="dk1"/>
                  </a:solidFill>
                  <a:latin typeface="+mn-lt"/>
                  <a:ea typeface="+mn-ea"/>
                  <a:cs typeface="+mn-cs"/>
                </a:rPr>
                <a:t>→ 重排优先级</a:t>
              </a:r>
            </a:p>
          </p:txBody>
        </p:sp>
      </p:grpSp>
      <p:grpSp>
        <p:nvGrpSpPr>
          <p:cNvPr id="31" name="!!implication-band"/>
          <p:cNvGrpSpPr/>
          <p:nvPr/>
        </p:nvGrpSpPr>
        <p:grpSpPr>
          <a:xfrm>
            <a:off x="457200" y="4705350"/>
            <a:ext cx="9258300" cy="704850"/>
            <a:chOff x="457200" y="4705350"/>
            <a:chExt cx="9258300" cy="704850"/>
          </a:xfrm>
        </p:grpSpPr>
        <p:sp>
          <p:nvSpPr>
            <p:cNvPr id="27" name="Rectangle 27"/>
            <p:cNvSpPr/>
            <p:nvPr/>
          </p:nvSpPr>
          <p:spPr>
            <a:xfrm>
              <a:off x="457200" y="4705350"/>
              <a:ext cx="9258300" cy="704850"/>
            </a:xfrm>
            <a:prstGeom prst="rect">
              <a:avLst/>
            </a:prstGeom>
            <a:solidFill>
              <a:srgbClr val="F7F7F7"/>
            </a:solidFill>
            <a:ln>
              <a:noFill/>
            </a:ln>
          </p:spPr>
        </p:sp>
        <p:sp>
          <p:nvSpPr>
            <p:cNvPr id="28" name="Rectangle 28"/>
            <p:cNvSpPr/>
            <p:nvPr/>
          </p:nvSpPr>
          <p:spPr>
            <a:xfrm>
              <a:off x="457200" y="4705350"/>
              <a:ext cx="38100" cy="704850"/>
            </a:xfrm>
            <a:prstGeom prst="rect">
              <a:avLst/>
            </a:prstGeom>
            <a:solidFill>
              <a:schemeClr val="accent2"/>
            </a:solidFill>
            <a:ln>
              <a:noFill/>
            </a:ln>
          </p:spPr>
        </p:sp>
        <p:sp>
          <p:nvSpPr>
            <p:cNvPr id="29" name="TextBox 29"/>
            <p:cNvSpPr txBox="1"/>
            <p:nvPr/>
          </p:nvSpPr>
          <p:spPr>
            <a:xfrm>
              <a:off x="604838" y="4817745"/>
              <a:ext cx="251841"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推论</a:t>
              </a:r>
            </a:p>
          </p:txBody>
        </p:sp>
        <p:sp>
          <p:nvSpPr>
            <p:cNvPr id="30" name="TextBox 30"/>
            <p:cNvSpPr txBox="1"/>
            <p:nvPr/>
          </p:nvSpPr>
          <p:spPr>
            <a:xfrm>
              <a:off x="604266" y="5011102"/>
              <a:ext cx="6244780"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三项风险都能用同口径的公开数据监测,并各有一条不扩大损失的应对——风险可管理,不是推迟决策的理由;</a:t>
              </a:r>
              <a:br/>
              <a:r>
                <a:rPr lang="zh-CN" sz="1050" dirty="0">
                  <a:solidFill>
                    <a:schemeClr val="dk1"/>
                  </a:solidFill>
                  <a:latin typeface="+mn-lt"/>
                  <a:ea typeface="+mn-ea"/>
                  <a:cs typeface="+mn-cs"/>
                </a:rPr>
                <a:t>三项同时触发的组合情景下,2027 年放量整体推迟一年,一级市场投入不受影响。</a:t>
              </a:r>
            </a:p>
          </p:txBody>
        </p:sp>
      </p:grpSp>
      <p:grpSp>
        <p:nvGrpSpPr>
          <p:cNvPr id="42" name="volatility-reference"/>
          <p:cNvGrpSpPr/>
          <p:nvPr/>
        </p:nvGrpSpPr>
        <p:grpSpPr>
          <a:xfrm>
            <a:off x="448818" y="5568791"/>
            <a:ext cx="9266682" cy="619125"/>
            <a:chOff x="448818" y="5568791"/>
            <a:chExt cx="9266682" cy="619125"/>
          </a:xfrm>
        </p:grpSpPr>
        <p:sp>
          <p:nvSpPr>
            <p:cNvPr id="32" name="TextBox 32"/>
            <p:cNvSpPr txBox="1"/>
            <p:nvPr/>
          </p:nvSpPr>
          <p:spPr>
            <a:xfrm>
              <a:off x="452438" y="5568791"/>
              <a:ext cx="1851346"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历史波动参照(触发阈值的依据)</a:t>
              </a:r>
            </a:p>
          </p:txBody>
        </p:sp>
        <p:sp>
          <p:nvSpPr>
            <p:cNvPr id="33" name="Line 33"/>
            <p:cNvSpPr/>
            <p:nvPr/>
          </p:nvSpPr>
          <p:spPr>
            <a:xfrm>
              <a:off x="457200" y="5734050"/>
              <a:ext cx="9258300" cy="9525"/>
            </a:xfrm>
            <a:custGeom>
              <a:avLst/>
              <a:gdLst/>
              <a:ahLst/>
              <a:cxnLst/>
              <a:rect l="l" t="t" r="r" b="b"/>
              <a:pathLst>
                <a:path w="9258300" h="9525">
                  <a:moveTo>
                    <a:pt x="0" y="0"/>
                  </a:moveTo>
                  <a:lnTo>
                    <a:pt x="9258300" y="0"/>
                  </a:lnTo>
                </a:path>
              </a:pathLst>
            </a:custGeom>
            <a:noFill/>
            <a:ln w="7144">
              <a:solidFill>
                <a:schemeClr val="accent1"/>
              </a:solidFill>
            </a:ln>
          </p:spPr>
        </p:sp>
        <p:sp>
          <p:nvSpPr>
            <p:cNvPr id="34" name="TextBox 34"/>
            <p:cNvSpPr txBox="1"/>
            <p:nvPr/>
          </p:nvSpPr>
          <p:spPr>
            <a:xfrm>
              <a:off x="448818" y="5784532"/>
              <a:ext cx="479668" cy="322707"/>
            </a:xfrm>
            <a:prstGeom prst="rect">
              <a:avLst/>
            </a:prstGeom>
            <a:noFill/>
            <a:ln>
              <a:noFill/>
            </a:ln>
          </p:spPr>
          <p:txBody>
            <a:bodyPr wrap="none" lIns="0" tIns="0" rIns="0" bIns="0" anchor="t" anchorCtr="0">
              <a:spAutoFit/>
            </a:bodyPr>
            <a:lstStyle/>
            <a:p>
              <a:pPr algn="l"/>
              <a:r>
                <a:rPr lang="en-US" sz="1650" b="1" dirty="0">
                  <a:solidFill>
                    <a:srgbClr val="B3261E"/>
                  </a:solidFill>
                  <a:latin typeface="Arial"/>
                  <a:ea typeface="Arial"/>
                  <a:cs typeface="Arial"/>
                </a:rPr>
                <a:t>−4pt</a:t>
              </a:r>
            </a:p>
          </p:txBody>
        </p:sp>
        <p:sp>
          <p:nvSpPr>
            <p:cNvPr id="35" name="TextBox 35"/>
            <p:cNvSpPr txBox="1"/>
            <p:nvPr/>
          </p:nvSpPr>
          <p:spPr>
            <a:xfrm>
              <a:off x="452438" y="6025991"/>
              <a:ext cx="1554963"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德国 2023→24 渗透率 24%→20%</a:t>
              </a:r>
            </a:p>
          </p:txBody>
        </p:sp>
        <p:sp>
          <p:nvSpPr>
            <p:cNvPr id="36" name="TextBox 36"/>
            <p:cNvSpPr txBox="1"/>
            <p:nvPr/>
          </p:nvSpPr>
          <p:spPr>
            <a:xfrm>
              <a:off x="2763393" y="5784532"/>
              <a:ext cx="603213"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Arial"/>
                  <a:ea typeface="Arial"/>
                  <a:cs typeface="Arial"/>
                </a:rPr>
                <a:t>+10pt</a:t>
              </a:r>
            </a:p>
          </p:txBody>
        </p:sp>
        <p:sp>
          <p:nvSpPr>
            <p:cNvPr id="37" name="TextBox 37"/>
            <p:cNvSpPr txBox="1"/>
            <p:nvPr/>
          </p:nvSpPr>
          <p:spPr>
            <a:xfrm>
              <a:off x="2767012" y="6025991"/>
              <a:ext cx="1554963"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德国 2024→25 渗透率 20%→30%</a:t>
              </a:r>
            </a:p>
          </p:txBody>
        </p:sp>
        <p:sp>
          <p:nvSpPr>
            <p:cNvPr id="38" name="TextBox 38"/>
            <p:cNvSpPr txBox="1"/>
            <p:nvPr/>
          </p:nvSpPr>
          <p:spPr>
            <a:xfrm>
              <a:off x="5077968" y="5784532"/>
              <a:ext cx="60321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Arial"/>
                  <a:ea typeface="Arial"/>
                  <a:cs typeface="Arial"/>
                </a:rPr>
                <a:t>+14pt</a:t>
              </a:r>
            </a:p>
          </p:txBody>
        </p:sp>
        <p:sp>
          <p:nvSpPr>
            <p:cNvPr id="39" name="TextBox 39"/>
            <p:cNvSpPr txBox="1"/>
            <p:nvPr/>
          </p:nvSpPr>
          <p:spPr>
            <a:xfrm>
              <a:off x="5081588" y="6025991"/>
              <a:ext cx="1738041"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中国 PHEV 占比 2022→25 24%→38%</a:t>
              </a:r>
            </a:p>
          </p:txBody>
        </p:sp>
        <p:sp>
          <p:nvSpPr>
            <p:cNvPr id="40" name="TextBox 40"/>
            <p:cNvSpPr txBox="1"/>
            <p:nvPr/>
          </p:nvSpPr>
          <p:spPr>
            <a:xfrm>
              <a:off x="7392543" y="5784532"/>
              <a:ext cx="60321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Arial"/>
                  <a:ea typeface="Arial"/>
                  <a:cs typeface="Arial"/>
                </a:rPr>
                <a:t>+10pt</a:t>
              </a:r>
            </a:p>
          </p:txBody>
        </p:sp>
        <p:sp>
          <p:nvSpPr>
            <p:cNvPr id="41" name="TextBox 41"/>
            <p:cNvSpPr txBox="1"/>
            <p:nvPr/>
          </p:nvSpPr>
          <p:spPr>
            <a:xfrm>
              <a:off x="7396162" y="6025991"/>
              <a:ext cx="1726065"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东南亚 2023→25 渗透率 8.4%→18%</a:t>
              </a:r>
            </a:p>
          </p:txBody>
        </p:sp>
      </p:grpSp>
      <p:grpSp>
        <p:nvGrpSpPr>
          <p:cNvPr id="47" name="footer"/>
          <p:cNvGrpSpPr/>
          <p:nvPr/>
        </p:nvGrpSpPr>
        <p:grpSpPr>
          <a:xfrm>
            <a:off x="452438" y="6205538"/>
            <a:ext cx="11287124" cy="433388"/>
            <a:chOff x="452438" y="6205538"/>
            <a:chExt cx="11287124" cy="433388"/>
          </a:xfrm>
        </p:grpSpPr>
        <p:sp>
          <p:nvSpPr>
            <p:cNvPr id="43" name="TextBox 43"/>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44" name="TextBox 44"/>
            <p:cNvSpPr txBox="1"/>
            <p:nvPr/>
          </p:nvSpPr>
          <p:spPr>
            <a:xfrm>
              <a:off x="452438" y="6338888"/>
              <a:ext cx="4922330"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德国 2023→2024 渗透率 24%→20%,2025 年 30%;中国 2025 年 PHEV 占比 38%;东南亚 2025 年渗透率 18%</a:t>
              </a:r>
            </a:p>
          </p:txBody>
        </p:sp>
        <p:sp>
          <p:nvSpPr>
            <p:cNvPr id="45" name="TextBox 45"/>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46" name="TextBox 46"/>
            <p:cNvSpPr txBox="1"/>
            <p:nvPr/>
          </p:nvSpPr>
          <p:spPr>
            <a:xfrm>
              <a:off x="11617724" y="6491288"/>
              <a:ext cx="121838"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12</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22" presetClass="entr" presetSubtype="4" fill="hold" grpId="0" nodeType="afterEffect">
                                  <p:stCondLst>
                                    <p:cond delay="50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700"/>
                                        <p:tgtEl>
                                          <p:spTgt spid="11"/>
                                        </p:tgtEl>
                                      </p:cBhvr>
                                    </p:animEffect>
                                  </p:childTnLst>
                                </p:cTn>
                              </p:par>
                            </p:childTnLst>
                          </p:cTn>
                        </p:par>
                        <p:par>
                          <p:cTn id="12" fill="hold">
                            <p:stCondLst>
                              <p:cond delay="1500"/>
                            </p:stCondLst>
                            <p:childTnLst>
                              <p:par>
                                <p:cTn id="13" presetID="10" presetClass="entr" presetSubtype="0" fill="hold" grpId="0" nodeType="afterEffect">
                                  <p:stCondLst>
                                    <p:cond delay="50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300"/>
                                        <p:tgtEl>
                                          <p:spTgt spid="26"/>
                                        </p:tgtEl>
                                      </p:cBhvr>
                                    </p:animEffect>
                                  </p:childTnLst>
                                </p:cTn>
                              </p:par>
                            </p:childTnLst>
                          </p:cTn>
                        </p:par>
                        <p:par>
                          <p:cTn id="16" fill="hold">
                            <p:stCondLst>
                              <p:cond delay="2300"/>
                            </p:stCondLst>
                            <p:childTnLst>
                              <p:par>
                                <p:cTn id="17" presetID="10" presetClass="entr" presetSubtype="0" fill="hold" grpId="0" nodeType="afterEffect">
                                  <p:stCondLst>
                                    <p:cond delay="5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childTnLst>
                          </p:cTn>
                        </p:par>
                        <p:par>
                          <p:cTn id="20" fill="hold">
                            <p:stCondLst>
                              <p:cond delay="3300"/>
                            </p:stCondLst>
                            <p:childTnLst>
                              <p:par>
                                <p:cTn id="21" presetID="10" presetClass="entr" presetSubtype="0" fill="hold" grpId="0" nodeType="afterEffect">
                                  <p:stCondLst>
                                    <p:cond delay="50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565714" y="247650"/>
            <a:ext cx="1169086" cy="206216"/>
            <a:chOff x="10565714" y="247650"/>
            <a:chExt cx="1169086" cy="206216"/>
          </a:xfrm>
        </p:grpSpPr>
        <p:sp>
          <p:nvSpPr>
            <p:cNvPr id="2" name="TextBox 2"/>
            <p:cNvSpPr txBox="1"/>
            <p:nvPr/>
          </p:nvSpPr>
          <p:spPr>
            <a:xfrm>
              <a:off x="10565714" y="291941"/>
              <a:ext cx="240398"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决策</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6994588" cy="637794"/>
            <a:chOff x="448056" y="472440"/>
            <a:chExt cx="6994588" cy="637794"/>
          </a:xfrm>
        </p:grpSpPr>
        <p:sp>
          <p:nvSpPr>
            <p:cNvPr id="6" name="TextBox 6"/>
            <p:cNvSpPr txBox="1"/>
            <p:nvPr/>
          </p:nvSpPr>
          <p:spPr>
            <a:xfrm>
              <a:off x="448056" y="472440"/>
              <a:ext cx="6994588"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请管理层本季度决定三件事:批准三级优先级、批准 PHEV 先行节奏、</a:t>
              </a:r>
              <a:br/>
              <a:r>
                <a:rPr lang="zh-CN" sz="1800" b="1" dirty="0">
                  <a:solidFill>
                    <a:schemeClr val="accent1"/>
                  </a:solidFill>
                  <a:latin typeface="+mn-lt"/>
                  <a:ea typeface="+mn-ea"/>
                  <a:cs typeface="+mn-cs"/>
                </a:rPr>
                <a:t>指定东南亚试点负责人</a:t>
              </a:r>
            </a:p>
          </p:txBody>
        </p:sp>
      </p:grpSp>
      <p:grpSp>
        <p:nvGrpSpPr>
          <p:cNvPr id="9" name="unit-line"/>
          <p:cNvGrpSpPr/>
          <p:nvPr/>
        </p:nvGrpSpPr>
        <p:grpSpPr>
          <a:xfrm>
            <a:off x="452438" y="1160145"/>
            <a:ext cx="3432238" cy="176212"/>
            <a:chOff x="452438" y="1160145"/>
            <a:chExt cx="3432238" cy="176212"/>
          </a:xfrm>
        </p:grpSpPr>
        <p:sp>
          <p:nvSpPr>
            <p:cNvPr id="8" name="TextBox 8"/>
            <p:cNvSpPr txBox="1"/>
            <p:nvPr/>
          </p:nvSpPr>
          <p:spPr>
            <a:xfrm>
              <a:off x="452438" y="1160145"/>
              <a:ext cx="343223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决策请求、决定后 90 天内的动作、负责角色,以及不决定的后果</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6" name="decision-header"/>
          <p:cNvGrpSpPr/>
          <p:nvPr/>
        </p:nvGrpSpPr>
        <p:grpSpPr>
          <a:xfrm>
            <a:off x="457200" y="1587341"/>
            <a:ext cx="11277600" cy="174784"/>
            <a:chOff x="457200" y="1587341"/>
            <a:chExt cx="11277600" cy="174784"/>
          </a:xfrm>
        </p:grpSpPr>
        <p:sp>
          <p:nvSpPr>
            <p:cNvPr id="11" name="TextBox 11"/>
            <p:cNvSpPr txBox="1"/>
            <p:nvPr/>
          </p:nvSpPr>
          <p:spPr>
            <a:xfrm>
              <a:off x="833438" y="1587341"/>
              <a:ext cx="842823" cy="161925"/>
            </a:xfrm>
            <a:prstGeom prst="rect">
              <a:avLst/>
            </a:prstGeom>
            <a:noFill/>
            <a:ln>
              <a:noFill/>
            </a:ln>
          </p:spPr>
          <p:txBody>
            <a:bodyPr wrap="none" lIns="0" tIns="0" rIns="0" bIns="0" anchor="t" anchorCtr="0">
              <a:spAutoFit/>
            </a:bodyPr>
            <a:lstStyle/>
            <a:p>
              <a:pPr algn="l"/>
              <a:r>
                <a:rPr lang="zh-CN" sz="820" spc="75" dirty="0">
                  <a:solidFill>
                    <a:schemeClr val="accent5"/>
                  </a:solidFill>
                  <a:latin typeface="+mn-lt"/>
                  <a:ea typeface="+mn-ea"/>
                  <a:cs typeface="+mn-cs"/>
                </a:rPr>
                <a:t>需要决定的事项</a:t>
              </a:r>
            </a:p>
          </p:txBody>
        </p:sp>
        <p:sp>
          <p:nvSpPr>
            <p:cNvPr id="12" name="TextBox 12"/>
            <p:cNvSpPr txBox="1"/>
            <p:nvPr/>
          </p:nvSpPr>
          <p:spPr>
            <a:xfrm>
              <a:off x="4186238" y="1587341"/>
              <a:ext cx="1190211" cy="161925"/>
            </a:xfrm>
            <a:prstGeom prst="rect">
              <a:avLst/>
            </a:prstGeom>
            <a:noFill/>
            <a:ln>
              <a:noFill/>
            </a:ln>
          </p:spPr>
          <p:txBody>
            <a:bodyPr wrap="none" lIns="0" tIns="0" rIns="0" bIns="0" anchor="t" anchorCtr="0">
              <a:spAutoFit/>
            </a:bodyPr>
            <a:lstStyle/>
            <a:p>
              <a:pPr algn="l"/>
              <a:r>
                <a:rPr lang="zh-CN" sz="820" spc="75" dirty="0">
                  <a:solidFill>
                    <a:schemeClr val="accent5"/>
                  </a:solidFill>
                  <a:latin typeface="+mn-lt"/>
                  <a:ea typeface="+mn-ea"/>
                  <a:cs typeface="+mn-cs"/>
                </a:rPr>
                <a:t>决定后 90 天内的动作</a:t>
              </a:r>
            </a:p>
          </p:txBody>
        </p:sp>
        <p:sp>
          <p:nvSpPr>
            <p:cNvPr id="13" name="TextBox 13"/>
            <p:cNvSpPr txBox="1"/>
            <p:nvPr/>
          </p:nvSpPr>
          <p:spPr>
            <a:xfrm>
              <a:off x="7234238" y="1587341"/>
              <a:ext cx="240398" cy="161925"/>
            </a:xfrm>
            <a:prstGeom prst="rect">
              <a:avLst/>
            </a:prstGeom>
            <a:noFill/>
            <a:ln>
              <a:noFill/>
            </a:ln>
          </p:spPr>
          <p:txBody>
            <a:bodyPr wrap="none" lIns="0" tIns="0" rIns="0" bIns="0" anchor="t" anchorCtr="0">
              <a:spAutoFit/>
            </a:bodyPr>
            <a:lstStyle/>
            <a:p>
              <a:pPr algn="l"/>
              <a:r>
                <a:rPr lang="zh-CN" sz="820" spc="75" dirty="0">
                  <a:solidFill>
                    <a:schemeClr val="accent5"/>
                  </a:solidFill>
                  <a:latin typeface="+mn-lt"/>
                  <a:ea typeface="+mn-ea"/>
                  <a:cs typeface="+mn-cs"/>
                </a:rPr>
                <a:t>负责</a:t>
              </a:r>
            </a:p>
          </p:txBody>
        </p:sp>
        <p:sp>
          <p:nvSpPr>
            <p:cNvPr id="14" name="TextBox 14"/>
            <p:cNvSpPr txBox="1"/>
            <p:nvPr/>
          </p:nvSpPr>
          <p:spPr>
            <a:xfrm>
              <a:off x="8567738" y="1587341"/>
              <a:ext cx="722338" cy="161925"/>
            </a:xfrm>
            <a:prstGeom prst="rect">
              <a:avLst/>
            </a:prstGeom>
            <a:noFill/>
            <a:ln>
              <a:noFill/>
            </a:ln>
          </p:spPr>
          <p:txBody>
            <a:bodyPr wrap="none" lIns="0" tIns="0" rIns="0" bIns="0" anchor="t" anchorCtr="0">
              <a:spAutoFit/>
            </a:bodyPr>
            <a:lstStyle/>
            <a:p>
              <a:pPr algn="l"/>
              <a:r>
                <a:rPr lang="zh-CN" sz="820" spc="75" dirty="0">
                  <a:solidFill>
                    <a:schemeClr val="accent5"/>
                  </a:solidFill>
                  <a:latin typeface="+mn-lt"/>
                  <a:ea typeface="+mn-ea"/>
                  <a:cs typeface="+mn-cs"/>
                </a:rPr>
                <a:t>不决定的后果</a:t>
              </a:r>
            </a:p>
          </p:txBody>
        </p:sp>
        <p:sp>
          <p:nvSpPr>
            <p:cNvPr id="15" name="Line 15"/>
            <p:cNvSpPr/>
            <p:nvPr/>
          </p:nvSpPr>
          <p:spPr>
            <a:xfrm>
              <a:off x="457200" y="175260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grpSp>
        <p:nvGrpSpPr>
          <p:cNvPr id="24" name="decision-1"/>
          <p:cNvGrpSpPr/>
          <p:nvPr/>
        </p:nvGrpSpPr>
        <p:grpSpPr>
          <a:xfrm>
            <a:off x="441960" y="1847850"/>
            <a:ext cx="11292840" cy="885825"/>
            <a:chOff x="441960" y="1847850"/>
            <a:chExt cx="11292840" cy="885825"/>
          </a:xfrm>
        </p:grpSpPr>
        <p:sp>
          <p:nvSpPr>
            <p:cNvPr id="17" name="TextBox 17"/>
            <p:cNvSpPr txBox="1"/>
            <p:nvPr/>
          </p:nvSpPr>
          <p:spPr>
            <a:xfrm>
              <a:off x="441960" y="1847850"/>
              <a:ext cx="255107"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Arial"/>
                  <a:ea typeface="Arial"/>
                  <a:cs typeface="Arial"/>
                </a:rPr>
                <a:t>1</a:t>
              </a:r>
            </a:p>
          </p:txBody>
        </p:sp>
        <p:sp>
          <p:nvSpPr>
            <p:cNvPr id="18" name="TextBox 18"/>
            <p:cNvSpPr txBox="1"/>
            <p:nvPr/>
          </p:nvSpPr>
          <p:spPr>
            <a:xfrm>
              <a:off x="832485" y="1916906"/>
              <a:ext cx="1368400"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批准三级市场优先级</a:t>
              </a:r>
            </a:p>
          </p:txBody>
        </p:sp>
        <p:sp>
          <p:nvSpPr>
            <p:cNvPr id="19" name="TextBox 19"/>
            <p:cNvSpPr txBox="1"/>
            <p:nvPr/>
          </p:nvSpPr>
          <p:spPr>
            <a:xfrm>
              <a:off x="833438" y="2150745"/>
              <a:ext cx="2735580" cy="338138"/>
            </a:xfrm>
            <a:prstGeom prst="rect">
              <a:avLst/>
            </a:prstGeom>
            <a:noFill/>
            <a:ln>
              <a:noFill/>
            </a:ln>
          </p:spPr>
          <p:txBody>
            <a:bodyPr wrap="none" lIns="0" tIns="0" rIns="0" bIns="0" anchor="t" anchorCtr="0">
              <a:spAutoFit/>
            </a:bodyPr>
            <a:lstStyle/>
            <a:p>
              <a:pPr algn="l">
                <a:lnSpc>
                  <a:spcPts val="1275"/>
                </a:lnSpc>
              </a:pPr>
              <a:r>
                <a:rPr lang="zh-CN" sz="900" dirty="0">
                  <a:solidFill>
                    <a:schemeClr val="accent5"/>
                  </a:solidFill>
                  <a:latin typeface="+mn-lt"/>
                  <a:ea typeface="+mn-ea"/>
                  <a:cs typeface="+mn-cs"/>
                </a:rPr>
                <a:t>一级中国/东南亚/英德,二级巴西/墨西哥/印度/韩国,</a:t>
              </a:r>
              <a:br/>
              <a:r>
                <a:rPr lang="zh-CN" sz="900" dirty="0">
                  <a:solidFill>
                    <a:schemeClr val="accent5"/>
                  </a:solidFill>
                  <a:latin typeface="+mn-lt"/>
                  <a:ea typeface="+mn-ea"/>
                  <a:cs typeface="+mn-cs"/>
                </a:rPr>
                <a:t>三级美国/日本/法国(第 10 页)</a:t>
              </a:r>
            </a:p>
          </p:txBody>
        </p:sp>
        <p:sp>
          <p:nvSpPr>
            <p:cNvPr id="20" name="TextBox 20"/>
            <p:cNvSpPr txBox="1"/>
            <p:nvPr/>
          </p:nvSpPr>
          <p:spPr>
            <a:xfrm>
              <a:off x="4185666" y="1925002"/>
              <a:ext cx="1850898"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海外业务部按层级重排 2026 年</a:t>
              </a:r>
              <a:br/>
              <a:r>
                <a:rPr lang="zh-CN" sz="1050" dirty="0">
                  <a:solidFill>
                    <a:schemeClr val="dk1"/>
                  </a:solidFill>
                  <a:latin typeface="+mn-lt"/>
                  <a:ea typeface="+mn-ea"/>
                  <a:cs typeface="+mn-cs"/>
                </a:rPr>
                <a:t>预算与人员配置</a:t>
              </a:r>
            </a:p>
          </p:txBody>
        </p:sp>
        <p:sp>
          <p:nvSpPr>
            <p:cNvPr id="21" name="TextBox 21"/>
            <p:cNvSpPr txBox="1"/>
            <p:nvPr/>
          </p:nvSpPr>
          <p:spPr>
            <a:xfrm>
              <a:off x="7233666" y="1925002"/>
              <a:ext cx="1000125"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海外业务负责人</a:t>
              </a:r>
            </a:p>
          </p:txBody>
        </p:sp>
        <p:sp>
          <p:nvSpPr>
            <p:cNvPr id="22" name="TextBox 22"/>
            <p:cNvSpPr txBox="1"/>
            <p:nvPr/>
          </p:nvSpPr>
          <p:spPr>
            <a:xfrm>
              <a:off x="8567166" y="1925002"/>
              <a:ext cx="2217610" cy="395859"/>
            </a:xfrm>
            <a:prstGeom prst="rect">
              <a:avLst/>
            </a:prstGeom>
            <a:noFill/>
            <a:ln>
              <a:noFill/>
            </a:ln>
          </p:spPr>
          <p:txBody>
            <a:bodyPr wrap="none" lIns="0" tIns="0" rIns="0" bIns="0" anchor="t" anchorCtr="0">
              <a:spAutoFit/>
            </a:bodyPr>
            <a:lstStyle/>
            <a:p>
              <a:pPr algn="l">
                <a:lnSpc>
                  <a:spcPts val="1500"/>
                </a:lnSpc>
              </a:pPr>
              <a:r>
                <a:rPr lang="zh-CN" sz="1050" dirty="0">
                  <a:solidFill>
                    <a:srgbClr val="B3261E"/>
                  </a:solidFill>
                  <a:latin typeface="+mn-lt"/>
                  <a:ea typeface="+mn-ea"/>
                  <a:cs typeface="+mn-cs"/>
                </a:rPr>
                <a:t>预算继续按存量地图分配,一半以上</a:t>
              </a:r>
              <a:br/>
              <a:r>
                <a:rPr lang="zh-CN" sz="1050" dirty="0">
                  <a:solidFill>
                    <a:srgbClr val="B3261E"/>
                  </a:solidFill>
                  <a:latin typeface="+mn-lt"/>
                  <a:ea typeface="+mn-ea"/>
                  <a:cs typeface="+mn-cs"/>
                </a:rPr>
                <a:t>投向增速放缓的市场,错过东南亚窗口</a:t>
              </a:r>
            </a:p>
          </p:txBody>
        </p:sp>
        <p:sp>
          <p:nvSpPr>
            <p:cNvPr id="23" name="Line 23"/>
            <p:cNvSpPr/>
            <p:nvPr/>
          </p:nvSpPr>
          <p:spPr>
            <a:xfrm>
              <a:off x="457200" y="2724150"/>
              <a:ext cx="11277600" cy="9525"/>
            </a:xfrm>
            <a:custGeom>
              <a:avLst/>
              <a:gdLst/>
              <a:ahLst/>
              <a:cxnLst/>
              <a:rect l="l" t="t" r="r" b="b"/>
              <a:pathLst>
                <a:path w="11277600" h="9525">
                  <a:moveTo>
                    <a:pt x="0" y="0"/>
                  </a:moveTo>
                  <a:lnTo>
                    <a:pt x="11277600" y="0"/>
                  </a:lnTo>
                </a:path>
              </a:pathLst>
            </a:custGeom>
            <a:noFill/>
            <a:ln w="7144">
              <a:solidFill>
                <a:srgbClr val="E3E3E3"/>
              </a:solidFill>
            </a:ln>
          </p:spPr>
        </p:sp>
      </p:grpSp>
      <p:grpSp>
        <p:nvGrpSpPr>
          <p:cNvPr id="32" name="decision-2"/>
          <p:cNvGrpSpPr/>
          <p:nvPr/>
        </p:nvGrpSpPr>
        <p:grpSpPr>
          <a:xfrm>
            <a:off x="441960" y="2990850"/>
            <a:ext cx="11292840" cy="885825"/>
            <a:chOff x="441960" y="2990850"/>
            <a:chExt cx="11292840" cy="885825"/>
          </a:xfrm>
        </p:grpSpPr>
        <p:sp>
          <p:nvSpPr>
            <p:cNvPr id="25" name="TextBox 25"/>
            <p:cNvSpPr txBox="1"/>
            <p:nvPr/>
          </p:nvSpPr>
          <p:spPr>
            <a:xfrm>
              <a:off x="441960" y="2990850"/>
              <a:ext cx="255107"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Arial"/>
                  <a:ea typeface="Arial"/>
                  <a:cs typeface="Arial"/>
                </a:rPr>
                <a:t>2</a:t>
              </a:r>
            </a:p>
          </p:txBody>
        </p:sp>
        <p:sp>
          <p:nvSpPr>
            <p:cNvPr id="26" name="TextBox 26"/>
            <p:cNvSpPr txBox="1"/>
            <p:nvPr/>
          </p:nvSpPr>
          <p:spPr>
            <a:xfrm>
              <a:off x="832485" y="3059906"/>
              <a:ext cx="1836767"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批准 PHEV 先行的产品节奏</a:t>
              </a:r>
            </a:p>
          </p:txBody>
        </p:sp>
        <p:sp>
          <p:nvSpPr>
            <p:cNvPr id="27" name="TextBox 27"/>
            <p:cNvSpPr txBox="1"/>
            <p:nvPr/>
          </p:nvSpPr>
          <p:spPr>
            <a:xfrm>
              <a:off x="833438" y="3293745"/>
              <a:ext cx="1758315" cy="338138"/>
            </a:xfrm>
            <a:prstGeom prst="rect">
              <a:avLst/>
            </a:prstGeom>
            <a:noFill/>
            <a:ln>
              <a:noFill/>
            </a:ln>
          </p:spPr>
          <p:txBody>
            <a:bodyPr wrap="none" lIns="0" tIns="0" rIns="0" bIns="0" anchor="t" anchorCtr="0">
              <a:spAutoFit/>
            </a:bodyPr>
            <a:lstStyle/>
            <a:p>
              <a:pPr algn="l">
                <a:lnSpc>
                  <a:spcPts val="1275"/>
                </a:lnSpc>
              </a:pPr>
              <a:r>
                <a:rPr lang="zh-CN" sz="900" dirty="0">
                  <a:solidFill>
                    <a:schemeClr val="accent5"/>
                  </a:solidFill>
                  <a:latin typeface="+mn-lt"/>
                  <a:ea typeface="+mn-ea"/>
                  <a:cs typeface="+mn-cs"/>
                </a:rPr>
                <a:t>低渗透市场 PHEV 先行、BEV 跟进,</a:t>
              </a:r>
              <a:br/>
              <a:r>
                <a:rPr lang="zh-CN" sz="900" dirty="0">
                  <a:solidFill>
                    <a:schemeClr val="accent5"/>
                  </a:solidFill>
                  <a:latin typeface="+mn-lt"/>
                  <a:ea typeface="+mn-ea"/>
                  <a:cs typeface="+mn-cs"/>
                </a:rPr>
                <a:t>英德补齐 BEV(第 8、11 页)</a:t>
              </a:r>
            </a:p>
          </p:txBody>
        </p:sp>
        <p:sp>
          <p:nvSpPr>
            <p:cNvPr id="28" name="TextBox 28"/>
            <p:cNvSpPr txBox="1"/>
            <p:nvPr/>
          </p:nvSpPr>
          <p:spPr>
            <a:xfrm>
              <a:off x="4185666" y="3068002"/>
              <a:ext cx="1717548"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产品部提交东南亚 PHEV 首发</a:t>
              </a:r>
              <a:br/>
              <a:r>
                <a:rPr lang="zh-CN" sz="1050" dirty="0">
                  <a:solidFill>
                    <a:schemeClr val="dk1"/>
                  </a:solidFill>
                  <a:latin typeface="+mn-lt"/>
                  <a:ea typeface="+mn-ea"/>
                  <a:cs typeface="+mn-cs"/>
                </a:rPr>
                <a:t>车型清单与上市时间表</a:t>
              </a:r>
            </a:p>
          </p:txBody>
        </p:sp>
        <p:sp>
          <p:nvSpPr>
            <p:cNvPr id="29" name="TextBox 29"/>
            <p:cNvSpPr txBox="1"/>
            <p:nvPr/>
          </p:nvSpPr>
          <p:spPr>
            <a:xfrm>
              <a:off x="7233666" y="3068002"/>
              <a:ext cx="717423"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产品负责人</a:t>
              </a:r>
            </a:p>
          </p:txBody>
        </p:sp>
        <p:sp>
          <p:nvSpPr>
            <p:cNvPr id="30" name="TextBox 30"/>
            <p:cNvSpPr txBox="1"/>
            <p:nvPr/>
          </p:nvSpPr>
          <p:spPr>
            <a:xfrm>
              <a:off x="8567166" y="3068002"/>
              <a:ext cx="2270950" cy="395859"/>
            </a:xfrm>
            <a:prstGeom prst="rect">
              <a:avLst/>
            </a:prstGeom>
            <a:noFill/>
            <a:ln>
              <a:noFill/>
            </a:ln>
          </p:spPr>
          <p:txBody>
            <a:bodyPr wrap="none" lIns="0" tIns="0" rIns="0" bIns="0" anchor="t" anchorCtr="0">
              <a:spAutoFit/>
            </a:bodyPr>
            <a:lstStyle/>
            <a:p>
              <a:pPr algn="l">
                <a:lnSpc>
                  <a:spcPts val="1500"/>
                </a:lnSpc>
              </a:pPr>
              <a:r>
                <a:rPr lang="zh-CN" sz="1050" dirty="0">
                  <a:solidFill>
                    <a:srgbClr val="B3261E"/>
                  </a:solidFill>
                  <a:latin typeface="+mn-lt"/>
                  <a:ea typeface="+mn-ea"/>
                  <a:cs typeface="+mn-cs"/>
                </a:rPr>
                <a:t>产品线继续 BEV 优先,渗透率低于 10%</a:t>
              </a:r>
              <a:br/>
              <a:r>
                <a:rPr lang="zh-CN" sz="1050" dirty="0">
                  <a:solidFill>
                    <a:srgbClr val="B3261E"/>
                  </a:solidFill>
                  <a:latin typeface="+mn-lt"/>
                  <a:ea typeface="+mn-ea"/>
                  <a:cs typeface="+mn-cs"/>
                </a:rPr>
                <a:t>的市场进不去,拉美与印度试点无产品</a:t>
              </a:r>
            </a:p>
          </p:txBody>
        </p:sp>
        <p:sp>
          <p:nvSpPr>
            <p:cNvPr id="31" name="Line 31"/>
            <p:cNvSpPr/>
            <p:nvPr/>
          </p:nvSpPr>
          <p:spPr>
            <a:xfrm>
              <a:off x="457200" y="3867150"/>
              <a:ext cx="11277600" cy="9525"/>
            </a:xfrm>
            <a:custGeom>
              <a:avLst/>
              <a:gdLst/>
              <a:ahLst/>
              <a:cxnLst/>
              <a:rect l="l" t="t" r="r" b="b"/>
              <a:pathLst>
                <a:path w="11277600" h="9525">
                  <a:moveTo>
                    <a:pt x="0" y="0"/>
                  </a:moveTo>
                  <a:lnTo>
                    <a:pt x="11277600" y="0"/>
                  </a:lnTo>
                </a:path>
              </a:pathLst>
            </a:custGeom>
            <a:noFill/>
            <a:ln w="7144">
              <a:solidFill>
                <a:srgbClr val="E3E3E3"/>
              </a:solidFill>
            </a:ln>
          </p:spPr>
        </p:sp>
      </p:grpSp>
      <p:grpSp>
        <p:nvGrpSpPr>
          <p:cNvPr id="40" name="decision-3"/>
          <p:cNvGrpSpPr/>
          <p:nvPr/>
        </p:nvGrpSpPr>
        <p:grpSpPr>
          <a:xfrm>
            <a:off x="441960" y="4133850"/>
            <a:ext cx="11292840" cy="885825"/>
            <a:chOff x="441960" y="4133850"/>
            <a:chExt cx="11292840" cy="885825"/>
          </a:xfrm>
        </p:grpSpPr>
        <p:sp>
          <p:nvSpPr>
            <p:cNvPr id="33" name="TextBox 33"/>
            <p:cNvSpPr txBox="1"/>
            <p:nvPr/>
          </p:nvSpPr>
          <p:spPr>
            <a:xfrm>
              <a:off x="441960" y="4133850"/>
              <a:ext cx="255107"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Arial"/>
                  <a:ea typeface="Arial"/>
                  <a:cs typeface="Arial"/>
                </a:rPr>
                <a:t>3</a:t>
              </a:r>
            </a:p>
          </p:txBody>
        </p:sp>
        <p:sp>
          <p:nvSpPr>
            <p:cNvPr id="34" name="TextBox 34"/>
            <p:cNvSpPr txBox="1"/>
            <p:nvPr/>
          </p:nvSpPr>
          <p:spPr>
            <a:xfrm>
              <a:off x="832485" y="4202906"/>
              <a:ext cx="1519174"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指定东南亚试点负责人</a:t>
              </a:r>
            </a:p>
          </p:txBody>
        </p:sp>
        <p:sp>
          <p:nvSpPr>
            <p:cNvPr id="35" name="TextBox 35"/>
            <p:cNvSpPr txBox="1"/>
            <p:nvPr/>
          </p:nvSpPr>
          <p:spPr>
            <a:xfrm>
              <a:off x="833438" y="4436745"/>
              <a:ext cx="1964055" cy="338138"/>
            </a:xfrm>
            <a:prstGeom prst="rect">
              <a:avLst/>
            </a:prstGeom>
            <a:noFill/>
            <a:ln>
              <a:noFill/>
            </a:ln>
          </p:spPr>
          <p:txBody>
            <a:bodyPr wrap="none" lIns="0" tIns="0" rIns="0" bIns="0" anchor="t" anchorCtr="0">
              <a:spAutoFit/>
            </a:bodyPr>
            <a:lstStyle/>
            <a:p>
              <a:pPr algn="l">
                <a:lnSpc>
                  <a:spcPts val="1275"/>
                </a:lnSpc>
              </a:pPr>
              <a:r>
                <a:rPr lang="zh-CN" sz="900" dirty="0">
                  <a:solidFill>
                    <a:schemeClr val="accent5"/>
                  </a:solidFill>
                  <a:latin typeface="+mn-lt"/>
                  <a:ea typeface="+mn-ea"/>
                  <a:cs typeface="+mn-cs"/>
                </a:rPr>
                <a:t>成立试点小组,泰国首发,</a:t>
              </a:r>
              <a:br/>
              <a:r>
                <a:rPr lang="zh-CN" sz="900" dirty="0">
                  <a:solidFill>
                    <a:schemeClr val="accent5"/>
                  </a:solidFill>
                  <a:latin typeface="+mn-lt"/>
                  <a:ea typeface="+mn-ea"/>
                  <a:cs typeface="+mn-cs"/>
                </a:rPr>
                <a:t>2026 年 12 月首次复盘(第 11、12 页)</a:t>
              </a:r>
            </a:p>
          </p:txBody>
        </p:sp>
        <p:sp>
          <p:nvSpPr>
            <p:cNvPr id="36" name="TextBox 36"/>
            <p:cNvSpPr txBox="1"/>
            <p:nvPr/>
          </p:nvSpPr>
          <p:spPr>
            <a:xfrm>
              <a:off x="4185666" y="4211002"/>
              <a:ext cx="1684210"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成立试点小组,确定泰国首发</a:t>
              </a:r>
              <a:br/>
              <a:r>
                <a:rPr lang="zh-CN" sz="1050" dirty="0">
                  <a:solidFill>
                    <a:schemeClr val="dk1"/>
                  </a:solidFill>
                  <a:latin typeface="+mn-lt"/>
                  <a:ea typeface="+mn-ea"/>
                  <a:cs typeface="+mn-cs"/>
                </a:rPr>
                <a:t>与试点规模上限</a:t>
              </a:r>
            </a:p>
          </p:txBody>
        </p:sp>
        <p:sp>
          <p:nvSpPr>
            <p:cNvPr id="37" name="TextBox 37"/>
            <p:cNvSpPr txBox="1"/>
            <p:nvPr/>
          </p:nvSpPr>
          <p:spPr>
            <a:xfrm>
              <a:off x="7233666" y="4211002"/>
              <a:ext cx="717423"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管理层指定</a:t>
              </a:r>
            </a:p>
          </p:txBody>
        </p:sp>
        <p:sp>
          <p:nvSpPr>
            <p:cNvPr id="38" name="TextBox 38"/>
            <p:cNvSpPr txBox="1"/>
            <p:nvPr/>
          </p:nvSpPr>
          <p:spPr>
            <a:xfrm>
              <a:off x="8567166" y="4211002"/>
              <a:ext cx="2017586" cy="395859"/>
            </a:xfrm>
            <a:prstGeom prst="rect">
              <a:avLst/>
            </a:prstGeom>
            <a:noFill/>
            <a:ln>
              <a:noFill/>
            </a:ln>
          </p:spPr>
          <p:txBody>
            <a:bodyPr wrap="none" lIns="0" tIns="0" rIns="0" bIns="0" anchor="t" anchorCtr="0">
              <a:spAutoFit/>
            </a:bodyPr>
            <a:lstStyle/>
            <a:p>
              <a:pPr algn="l">
                <a:lnSpc>
                  <a:spcPts val="1500"/>
                </a:lnSpc>
              </a:pPr>
              <a:r>
                <a:rPr lang="zh-CN" sz="1050" dirty="0">
                  <a:solidFill>
                    <a:srgbClr val="B3261E"/>
                  </a:solidFill>
                  <a:latin typeface="+mn-lt"/>
                  <a:ea typeface="+mn-ea"/>
                  <a:cs typeface="+mn-cs"/>
                </a:rPr>
                <a:t>试点无人负责,2027 年没有渗透率</a:t>
              </a:r>
              <a:br/>
              <a:r>
                <a:rPr lang="zh-CN" sz="1050" dirty="0">
                  <a:solidFill>
                    <a:srgbClr val="B3261E"/>
                  </a:solidFill>
                  <a:latin typeface="+mn-lt"/>
                  <a:ea typeface="+mn-ea"/>
                  <a:cs typeface="+mn-cs"/>
                </a:rPr>
                <a:t>数据可复盘,放量决定只能凭判断</a:t>
              </a:r>
            </a:p>
          </p:txBody>
        </p:sp>
        <p:sp>
          <p:nvSpPr>
            <p:cNvPr id="39" name="Line 39"/>
            <p:cNvSpPr/>
            <p:nvPr/>
          </p:nvSpPr>
          <p:spPr>
            <a:xfrm>
              <a:off x="457200" y="5010150"/>
              <a:ext cx="11277600" cy="9525"/>
            </a:xfrm>
            <a:custGeom>
              <a:avLst/>
              <a:gdLst/>
              <a:ahLst/>
              <a:cxnLst/>
              <a:rect l="l" t="t" r="r" b="b"/>
              <a:pathLst>
                <a:path w="11277600" h="9525">
                  <a:moveTo>
                    <a:pt x="0" y="0"/>
                  </a:moveTo>
                  <a:lnTo>
                    <a:pt x="11277600" y="0"/>
                  </a:lnTo>
                </a:path>
              </a:pathLst>
            </a:custGeom>
            <a:noFill/>
            <a:ln w="7144">
              <a:solidFill>
                <a:srgbClr val="E3E3E3"/>
              </a:solidFill>
            </a:ln>
          </p:spPr>
        </p:sp>
      </p:grpSp>
      <p:grpSp>
        <p:nvGrpSpPr>
          <p:cNvPr id="46" name="milestones"/>
          <p:cNvGrpSpPr/>
          <p:nvPr/>
        </p:nvGrpSpPr>
        <p:grpSpPr>
          <a:xfrm>
            <a:off x="448818" y="5302091"/>
            <a:ext cx="11285982" cy="557498"/>
            <a:chOff x="448818" y="5302091"/>
            <a:chExt cx="11285982" cy="557498"/>
          </a:xfrm>
        </p:grpSpPr>
        <p:sp>
          <p:nvSpPr>
            <p:cNvPr id="41" name="TextBox 41"/>
            <p:cNvSpPr txBox="1"/>
            <p:nvPr/>
          </p:nvSpPr>
          <p:spPr>
            <a:xfrm>
              <a:off x="452438" y="5302091"/>
              <a:ext cx="1178931"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决定后 90 天里程碑</a:t>
              </a:r>
            </a:p>
          </p:txBody>
        </p:sp>
        <p:sp>
          <p:nvSpPr>
            <p:cNvPr id="42" name="Line 42"/>
            <p:cNvSpPr/>
            <p:nvPr/>
          </p:nvSpPr>
          <p:spPr>
            <a:xfrm>
              <a:off x="457200" y="5467350"/>
              <a:ext cx="11277600" cy="9525"/>
            </a:xfrm>
            <a:custGeom>
              <a:avLst/>
              <a:gdLst/>
              <a:ahLst/>
              <a:cxnLst/>
              <a:rect l="l" t="t" r="r" b="b"/>
              <a:pathLst>
                <a:path w="11277600" h="9525">
                  <a:moveTo>
                    <a:pt x="0" y="0"/>
                  </a:moveTo>
                  <a:lnTo>
                    <a:pt x="11277600" y="0"/>
                  </a:lnTo>
                </a:path>
              </a:pathLst>
            </a:custGeom>
            <a:noFill/>
            <a:ln w="7144">
              <a:solidFill>
                <a:schemeClr val="accent1"/>
              </a:solidFill>
            </a:ln>
          </p:spPr>
        </p:sp>
        <p:sp>
          <p:nvSpPr>
            <p:cNvPr id="43" name="TextBox 43"/>
            <p:cNvSpPr txBox="1"/>
            <p:nvPr/>
          </p:nvSpPr>
          <p:spPr>
            <a:xfrm>
              <a:off x="448818" y="5536882"/>
              <a:ext cx="3419497"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Arial"/>
                  <a:ea typeface="Arial"/>
                  <a:cs typeface="Arial"/>
                </a:rPr>
                <a:t>D+30</a:t>
              </a:r>
              <a:r>
                <a:rPr lang="zh-CN" sz="900" dirty="0">
                  <a:solidFill>
                    <a:schemeClr val="dk1"/>
                  </a:solidFill>
                  <a:latin typeface="+mn-lt"/>
                  <a:ea typeface="+mn-ea"/>
                  <a:cs typeface="+mn-cs"/>
                </a:rPr>
                <a:t xml:space="preserve"> 试点小组成立,泰国首发确定;三级优先级下发各区域</a:t>
              </a:r>
            </a:p>
          </p:txBody>
        </p:sp>
        <p:sp>
          <p:nvSpPr>
            <p:cNvPr id="44" name="TextBox 44"/>
            <p:cNvSpPr txBox="1"/>
            <p:nvPr/>
          </p:nvSpPr>
          <p:spPr>
            <a:xfrm>
              <a:off x="4258818" y="5536882"/>
              <a:ext cx="3408410"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Arial"/>
                  <a:ea typeface="Arial"/>
                  <a:cs typeface="Arial"/>
                </a:rPr>
                <a:t>D+60</a:t>
              </a:r>
              <a:r>
                <a:rPr lang="zh-CN" sz="900" dirty="0">
                  <a:solidFill>
                    <a:schemeClr val="dk1"/>
                  </a:solidFill>
                  <a:latin typeface="+mn-lt"/>
                  <a:ea typeface="+mn-ea"/>
                  <a:cs typeface="+mn-cs"/>
                </a:rPr>
                <a:t xml:space="preserve"> 东南亚 PHEV 首发车型清单;2026 年预算按层级重排</a:t>
              </a:r>
            </a:p>
          </p:txBody>
        </p:sp>
        <p:sp>
          <p:nvSpPr>
            <p:cNvPr id="45" name="TextBox 45"/>
            <p:cNvSpPr txBox="1"/>
            <p:nvPr/>
          </p:nvSpPr>
          <p:spPr>
            <a:xfrm>
              <a:off x="8068818" y="5536882"/>
              <a:ext cx="2747070"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Arial"/>
                  <a:ea typeface="Arial"/>
                  <a:cs typeface="Arial"/>
                </a:rPr>
                <a:t>D+90</a:t>
              </a:r>
              <a:r>
                <a:rPr lang="zh-CN" sz="900" dirty="0">
                  <a:solidFill>
                    <a:schemeClr val="dk1"/>
                  </a:solidFill>
                  <a:latin typeface="+mn-lt"/>
                  <a:ea typeface="+mn-ea"/>
                  <a:cs typeface="+mn-cs"/>
                </a:rPr>
                <a:t xml:space="preserve"> 泰国上市时间表;三项触发指标基线冻结</a:t>
              </a:r>
            </a:p>
          </p:txBody>
        </p:sp>
      </p:grpSp>
      <p:grpSp>
        <p:nvGrpSpPr>
          <p:cNvPr id="50" name="!!implication-band"/>
          <p:cNvGrpSpPr/>
          <p:nvPr/>
        </p:nvGrpSpPr>
        <p:grpSpPr>
          <a:xfrm>
            <a:off x="457200" y="5924550"/>
            <a:ext cx="11277600" cy="240982"/>
            <a:chOff x="457200" y="5924550"/>
            <a:chExt cx="11277600" cy="240982"/>
          </a:xfrm>
        </p:grpSpPr>
        <p:sp>
          <p:nvSpPr>
            <p:cNvPr id="47" name="Rectangle 47"/>
            <p:cNvSpPr/>
            <p:nvPr/>
          </p:nvSpPr>
          <p:spPr>
            <a:xfrm>
              <a:off x="457200" y="5924550"/>
              <a:ext cx="11277600" cy="228600"/>
            </a:xfrm>
            <a:prstGeom prst="rect">
              <a:avLst/>
            </a:prstGeom>
            <a:solidFill>
              <a:srgbClr val="F7F7F7"/>
            </a:solidFill>
            <a:ln>
              <a:noFill/>
            </a:ln>
          </p:spPr>
        </p:sp>
        <p:sp>
          <p:nvSpPr>
            <p:cNvPr id="48" name="Rectangle 48"/>
            <p:cNvSpPr/>
            <p:nvPr/>
          </p:nvSpPr>
          <p:spPr>
            <a:xfrm>
              <a:off x="457200" y="5924550"/>
              <a:ext cx="38100" cy="228600"/>
            </a:xfrm>
            <a:prstGeom prst="rect">
              <a:avLst/>
            </a:prstGeom>
            <a:solidFill>
              <a:schemeClr val="accent1"/>
            </a:solidFill>
            <a:ln>
              <a:noFill/>
            </a:ln>
          </p:spPr>
        </p:sp>
        <p:sp>
          <p:nvSpPr>
            <p:cNvPr id="49" name="TextBox 49"/>
            <p:cNvSpPr txBox="1"/>
            <p:nvPr/>
          </p:nvSpPr>
          <p:spPr>
            <a:xfrm>
              <a:off x="604838" y="5989320"/>
              <a:ext cx="6394637"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下一次复盘:2026 年 12 月</a:t>
              </a:r>
              <a:r>
                <a:rPr lang="zh-CN" sz="900" dirty="0">
                  <a:solidFill>
                    <a:schemeClr val="dk1"/>
                  </a:solidFill>
                  <a:latin typeface="+mn-lt"/>
                  <a:ea typeface="+mn-ea"/>
                  <a:cs typeface="+mn-cs"/>
                </a:rPr>
                <a:t>,以 IEA 下一版数据浏览器的同口径数据复核第 12 页三项触发指标,决定 2027 年是否放量。</a:t>
              </a:r>
            </a:p>
          </p:txBody>
        </p:sp>
      </p:grpSp>
      <p:grpSp>
        <p:nvGrpSpPr>
          <p:cNvPr id="54" name="footer"/>
          <p:cNvGrpSpPr/>
          <p:nvPr/>
        </p:nvGrpSpPr>
        <p:grpSpPr>
          <a:xfrm>
            <a:off x="452438" y="6205538"/>
            <a:ext cx="11287124" cy="300038"/>
            <a:chOff x="452438" y="6205538"/>
            <a:chExt cx="11287124" cy="300038"/>
          </a:xfrm>
        </p:grpSpPr>
        <p:sp>
          <p:nvSpPr>
            <p:cNvPr id="51" name="TextBox 51"/>
            <p:cNvSpPr txBox="1"/>
            <p:nvPr/>
          </p:nvSpPr>
          <p:spPr>
            <a:xfrm>
              <a:off x="452438" y="6205538"/>
              <a:ext cx="3674555"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本页为决策请求与行动计划,不含新的数据事实;分级与节奏的依据见第 4–12 页</a:t>
              </a:r>
            </a:p>
          </p:txBody>
        </p:sp>
        <p:sp>
          <p:nvSpPr>
            <p:cNvPr id="52" name="TextBox 52"/>
            <p:cNvSpPr txBox="1"/>
            <p:nvPr/>
          </p:nvSpPr>
          <p:spPr>
            <a:xfrm>
              <a:off x="452438" y="635793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53" name="TextBox 53"/>
            <p:cNvSpPr txBox="1"/>
            <p:nvPr/>
          </p:nvSpPr>
          <p:spPr>
            <a:xfrm>
              <a:off x="11617724" y="6357938"/>
              <a:ext cx="121838"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13</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grpId="0" nodeType="afterEffect">
                                  <p:stCondLst>
                                    <p:cond delay="50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300"/>
                                        <p:tgtEl>
                                          <p:spTgt spid="24"/>
                                        </p:tgtEl>
                                      </p:cBhvr>
                                    </p:animEffect>
                                  </p:childTnLst>
                                </p:cTn>
                              </p:par>
                            </p:childTnLst>
                          </p:cTn>
                        </p:par>
                        <p:par>
                          <p:cTn id="12" fill="hold">
                            <p:stCondLst>
                              <p:cond delay="1100"/>
                            </p:stCondLst>
                            <p:childTnLst>
                              <p:par>
                                <p:cTn id="13" presetID="10" presetClass="entr" presetSubtype="0" fill="hold" grpId="0" nodeType="afterEffect">
                                  <p:stCondLst>
                                    <p:cond delay="50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300"/>
                                        <p:tgtEl>
                                          <p:spTgt spid="32"/>
                                        </p:tgtEl>
                                      </p:cBhvr>
                                    </p:animEffect>
                                  </p:childTnLst>
                                </p:cTn>
                              </p:par>
                            </p:childTnLst>
                          </p:cTn>
                        </p:par>
                        <p:par>
                          <p:cTn id="16" fill="hold">
                            <p:stCondLst>
                              <p:cond delay="1900"/>
                            </p:stCondLst>
                            <p:childTnLst>
                              <p:par>
                                <p:cTn id="17" presetID="10" presetClass="entr" presetSubtype="0" fill="hold" grpId="0" nodeType="afterEffect">
                                  <p:stCondLst>
                                    <p:cond delay="50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300"/>
                                        <p:tgtEl>
                                          <p:spTgt spid="40"/>
                                        </p:tgtEl>
                                      </p:cBhvr>
                                    </p:animEffect>
                                  </p:childTnLst>
                                </p:cTn>
                              </p:par>
                            </p:childTnLst>
                          </p:cTn>
                        </p:par>
                        <p:par>
                          <p:cTn id="20" fill="hold">
                            <p:stCondLst>
                              <p:cond delay="2700"/>
                            </p:stCondLst>
                            <p:childTnLst>
                              <p:par>
                                <p:cTn id="21" presetID="10" presetClass="entr" presetSubtype="0" fill="hold" grpId="0" nodeType="afterEffect">
                                  <p:stCondLst>
                                    <p:cond delay="50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300"/>
                                        <p:tgtEl>
                                          <p:spTgt spid="46"/>
                                        </p:tgtEl>
                                      </p:cBhvr>
                                    </p:animEffect>
                                  </p:childTnLst>
                                </p:cTn>
                              </p:par>
                            </p:childTnLst>
                          </p:cTn>
                        </p:par>
                        <p:par>
                          <p:cTn id="24" fill="hold">
                            <p:stCondLst>
                              <p:cond delay="3500"/>
                            </p:stCondLst>
                            <p:childTnLst>
                              <p:par>
                                <p:cTn id="25" presetID="10" presetClass="entr" presetSubtype="0" fill="hold" grpId="0" nodeType="afterEffect">
                                  <p:stCondLst>
                                    <p:cond delay="50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565714" y="247650"/>
            <a:ext cx="1169086" cy="206216"/>
            <a:chOff x="10565714" y="247650"/>
            <a:chExt cx="1169086" cy="206216"/>
          </a:xfrm>
        </p:grpSpPr>
        <p:sp>
          <p:nvSpPr>
            <p:cNvPr id="2" name="TextBox 2"/>
            <p:cNvSpPr txBox="1"/>
            <p:nvPr/>
          </p:nvSpPr>
          <p:spPr>
            <a:xfrm>
              <a:off x="10565714" y="291941"/>
              <a:ext cx="240398"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附录</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7084314" cy="637794"/>
            <a:chOff x="448056" y="472440"/>
            <a:chExt cx="7084314" cy="637794"/>
          </a:xfrm>
        </p:grpSpPr>
        <p:sp>
          <p:nvSpPr>
            <p:cNvPr id="6" name="TextBox 6"/>
            <p:cNvSpPr txBox="1"/>
            <p:nvPr/>
          </p:nvSpPr>
          <p:spPr>
            <a:xfrm>
              <a:off x="448056" y="472440"/>
              <a:ext cx="7084314"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附录:本报告全部数字来自 IEA Global EV Outlook 2025 数据浏览器,</a:t>
              </a:r>
              <a:br/>
              <a:r>
                <a:rPr lang="zh-CN" sz="1800" b="1" dirty="0">
                  <a:solidFill>
                    <a:schemeClr val="accent1"/>
                  </a:solidFill>
                  <a:latin typeface="+mn-lt"/>
                  <a:ea typeface="+mn-ea"/>
                  <a:cs typeface="+mn-cs"/>
                </a:rPr>
                <a:t>口径为乘用车 BEV + PHEV</a:t>
              </a:r>
            </a:p>
          </p:txBody>
        </p:sp>
      </p:grpSp>
      <p:grpSp>
        <p:nvGrpSpPr>
          <p:cNvPr id="9" name="unit-line"/>
          <p:cNvGrpSpPr/>
          <p:nvPr/>
        </p:nvGrpSpPr>
        <p:grpSpPr>
          <a:xfrm>
            <a:off x="452438" y="1160145"/>
            <a:ext cx="4742002" cy="176212"/>
            <a:chOff x="452438" y="1160145"/>
            <a:chExt cx="4742002" cy="176212"/>
          </a:xfrm>
        </p:grpSpPr>
        <p:sp>
          <p:nvSpPr>
            <p:cNvPr id="8" name="TextBox 8"/>
            <p:cNvSpPr txBox="1"/>
            <p:nvPr/>
          </p:nvSpPr>
          <p:spPr>
            <a:xfrm>
              <a:off x="452438" y="1160145"/>
              <a:ext cx="4742002"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A:各地区电动车销量,万辆,2020–2025,及 2025 年渗透率;B:2035 年 IEA 既定政策情景</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1406613" cy="349091"/>
            <a:chOff x="452438" y="1552575"/>
            <a:chExt cx="1406613"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1197254"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电动车销量与渗透率</a:t>
              </a:r>
            </a:p>
          </p:txBody>
        </p:sp>
        <p:sp>
          <p:nvSpPr>
            <p:cNvPr id="14" name="TextBox 14"/>
            <p:cNvSpPr txBox="1"/>
            <p:nvPr/>
          </p:nvSpPr>
          <p:spPr>
            <a:xfrm>
              <a:off x="452438" y="1739741"/>
              <a:ext cx="738088"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万辆;渗透率 %</a:t>
              </a:r>
            </a:p>
          </p:txBody>
        </p:sp>
      </p:grpSp>
      <p:graphicFrame>
        <p:nvGraphicFramePr>
          <p:cNvPr id="16" name="appendix-data"/>
          <p:cNvGraphicFramePr>
            <a:graphicFrameLocks noGrp="1"/>
          </p:cNvGraphicFramePr>
          <p:nvPr/>
        </p:nvGraphicFramePr>
        <p:xfrm>
          <a:off x="457200" y="1905000"/>
          <a:ext cx="6858000" cy="4000500"/>
        </p:xfrm>
        <a:graphic>
          <a:graphicData uri="http://schemas.openxmlformats.org/drawingml/2006/table">
            <a:tbl>
              <a:tblPr firstRow="1" bandRow="0">
                <a:tableStyleId>{5C22544A-7EE6-4342-B048-85BDC9FD1C3A}</a:tableStyleId>
              </a:tblPr>
              <a:tblGrid>
                <a:gridCol w="952500"/>
                <a:gridCol w="800100"/>
                <a:gridCol w="800100"/>
                <a:gridCol w="800100"/>
                <a:gridCol w="800100"/>
                <a:gridCol w="800100"/>
                <a:gridCol w="800100"/>
                <a:gridCol w="1104900"/>
              </a:tblGrid>
              <a:tr h="285750">
                <a:tc>
                  <a:txBody>
                    <a:bodyPr/>
                    <a:lstStyle/>
                    <a:p>
                      <a:pPr/>
                      <a:r>
                        <a:rPr lang="zh-CN" sz="820" b="1">
                          <a:solidFill>
                            <a:schemeClr val="accent1"/>
                          </a:solidFill>
                          <a:latin typeface="Microsoft YaHei"/>
                          <a:ea typeface="Microsoft YaHei"/>
                          <a:cs typeface="Microsoft YaHei"/>
                        </a:rPr>
                        <a:t>地区</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2020</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2021</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2022</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2023</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2024</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2025</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2025 渗透率</a:t>
                      </a:r>
                    </a:p>
                  </a:txBody>
                  <a:tcPr anchor="ctr" marL="76200" marR="76200" marT="9525" marB="9525">
                    <a:lnL>
                      <a:noFill/>
                    </a:lnL>
                    <a:lnR>
                      <a:noFill/>
                    </a:lnR>
                    <a:lnT>
                      <a:noFill/>
                    </a:lnT>
                    <a:lnB w="9525">
                      <a:solidFill>
                        <a:schemeClr val="accent1"/>
                      </a:solidFill>
                      <a:prstDash val="solid"/>
                    </a:lnB>
                    <a:noFill/>
                  </a:tcPr>
                </a:tc>
              </a:tr>
              <a:tr h="285750">
                <a:tc>
                  <a:txBody>
                    <a:bodyPr/>
                    <a:lstStyle/>
                    <a:p>
                      <a:pPr/>
                      <a:r>
                        <a:rPr lang="zh-CN" sz="900" b="1">
                          <a:solidFill>
                            <a:schemeClr val="accent1"/>
                          </a:solidFill>
                          <a:latin typeface="Microsoft YaHei"/>
                          <a:ea typeface="Microsoft YaHei"/>
                          <a:cs typeface="Microsoft YaHei"/>
                        </a:rPr>
                        <a:t>全球</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1">
                          <a:solidFill>
                            <a:schemeClr val="accent1"/>
                          </a:solidFill>
                          <a:latin typeface="Arial"/>
                          <a:ea typeface="Arial"/>
                          <a:cs typeface="Arial"/>
                        </a:rPr>
                        <a:t>300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1">
                          <a:solidFill>
                            <a:schemeClr val="accent1"/>
                          </a:solidFill>
                          <a:latin typeface="Arial"/>
                          <a:ea typeface="Arial"/>
                          <a:cs typeface="Arial"/>
                        </a:rPr>
                        <a:t>660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1">
                          <a:solidFill>
                            <a:schemeClr val="accent1"/>
                          </a:solidFill>
                          <a:latin typeface="Arial"/>
                          <a:ea typeface="Arial"/>
                          <a:cs typeface="Arial"/>
                        </a:rPr>
                        <a:t>1,000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1">
                          <a:solidFill>
                            <a:schemeClr val="accent1"/>
                          </a:solidFill>
                          <a:latin typeface="Arial"/>
                          <a:ea typeface="Arial"/>
                          <a:cs typeface="Arial"/>
                        </a:rPr>
                        <a:t>1,400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1">
                          <a:solidFill>
                            <a:schemeClr val="accent1"/>
                          </a:solidFill>
                          <a:latin typeface="Arial"/>
                          <a:ea typeface="Arial"/>
                          <a:cs typeface="Arial"/>
                        </a:rPr>
                        <a:t>1,700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1">
                          <a:solidFill>
                            <a:schemeClr val="accent1"/>
                          </a:solidFill>
                          <a:latin typeface="Arial"/>
                          <a:ea typeface="Arial"/>
                          <a:cs typeface="Arial"/>
                        </a:rPr>
                        <a:t>2,100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1">
                          <a:solidFill>
                            <a:schemeClr val="accent1"/>
                          </a:solidFill>
                          <a:latin typeface="Arial"/>
                          <a:ea typeface="Arial"/>
                          <a:cs typeface="Arial"/>
                        </a:rPr>
                        <a:t>25%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中国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330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600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810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1,100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1,300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53%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欧洲</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140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230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270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320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320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420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美国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63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99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140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160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150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德国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68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83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70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57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86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英国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46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55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70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法国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47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45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45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日本</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4.4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9.6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韩国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4.0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9.1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22</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印度</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0.32</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1.2</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4.8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8.2</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9.2</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东南亚</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1.1</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4.6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54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巴西</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0.26</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5.2</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9%</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墨西哥</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0.38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0.65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0.84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9.0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7%</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bl>
          </a:graphicData>
        </a:graphic>
      </p:graphicFrame>
      <p:grpSp>
        <p:nvGrpSpPr>
          <p:cNvPr id="21" name="exhibit-b-head"/>
          <p:cNvGrpSpPr/>
          <p:nvPr/>
        </p:nvGrpSpPr>
        <p:grpSpPr>
          <a:xfrm>
            <a:off x="8072438" y="1552575"/>
            <a:ext cx="1781798" cy="349091"/>
            <a:chOff x="8072438" y="1552575"/>
            <a:chExt cx="1781798" cy="349091"/>
          </a:xfrm>
        </p:grpSpPr>
        <p:sp>
          <p:nvSpPr>
            <p:cNvPr id="17" name="Ellipse 17"/>
            <p:cNvSpPr/>
            <p:nvPr/>
          </p:nvSpPr>
          <p:spPr>
            <a:xfrm>
              <a:off x="8077200" y="1552575"/>
              <a:ext cx="152400" cy="152400"/>
            </a:xfrm>
            <a:prstGeom prst="ellipse">
              <a:avLst/>
            </a:prstGeom>
            <a:solidFill>
              <a:schemeClr val="accent1"/>
            </a:solidFill>
            <a:ln>
              <a:noFill/>
            </a:ln>
          </p:spPr>
        </p:sp>
        <p:sp>
          <p:nvSpPr>
            <p:cNvPr id="18" name="TextBox 18"/>
            <p:cNvSpPr txBox="1"/>
            <p:nvPr/>
          </p:nvSpPr>
          <p:spPr>
            <a:xfrm>
              <a:off x="811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19" name="TextBox 19"/>
            <p:cNvSpPr txBox="1"/>
            <p:nvPr/>
          </p:nvSpPr>
          <p:spPr>
            <a:xfrm>
              <a:off x="8281797" y="1571149"/>
              <a:ext cx="1572439"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2035 年 IEA 既定政策情景</a:t>
              </a:r>
            </a:p>
          </p:txBody>
        </p:sp>
        <p:sp>
          <p:nvSpPr>
            <p:cNvPr id="20" name="TextBox 20"/>
            <p:cNvSpPr txBox="1"/>
            <p:nvPr/>
          </p:nvSpPr>
          <p:spPr>
            <a:xfrm>
              <a:off x="8072438" y="1739741"/>
              <a:ext cx="112996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年销量,万辆;渗透率 %</a:t>
              </a:r>
            </a:p>
          </p:txBody>
        </p:sp>
      </p:grpSp>
      <p:graphicFrame>
        <p:nvGraphicFramePr>
          <p:cNvPr id="22" name="steps-2035"/>
          <p:cNvGraphicFramePr>
            <a:graphicFrameLocks noGrp="1"/>
          </p:cNvGraphicFramePr>
          <p:nvPr/>
        </p:nvGraphicFramePr>
        <p:xfrm>
          <a:off x="8077200" y="1905000"/>
          <a:ext cx="3657600" cy="2571750"/>
        </p:xfrm>
        <a:graphic>
          <a:graphicData uri="http://schemas.openxmlformats.org/drawingml/2006/table">
            <a:tbl>
              <a:tblPr firstRow="1" bandRow="0">
                <a:tableStyleId>{5C22544A-7EE6-4342-B048-85BDC9FD1C3A}</a:tableStyleId>
              </a:tblPr>
              <a:tblGrid>
                <a:gridCol w="1143000"/>
                <a:gridCol w="1257300"/>
                <a:gridCol w="1257300"/>
              </a:tblGrid>
              <a:tr h="285750">
                <a:tc>
                  <a:txBody>
                    <a:bodyPr/>
                    <a:lstStyle/>
                    <a:p>
                      <a:pPr/>
                      <a:r>
                        <a:rPr lang="zh-CN" sz="820" b="1">
                          <a:solidFill>
                            <a:schemeClr val="accent1"/>
                          </a:solidFill>
                          <a:latin typeface="Microsoft YaHei"/>
                          <a:ea typeface="Microsoft YaHei"/>
                          <a:cs typeface="Microsoft YaHei"/>
                        </a:rPr>
                        <a:t>地区</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2035 销量</a:t>
                      </a:r>
                    </a:p>
                  </a:txBody>
                  <a:tcPr anchor="ctr" marL="76200" marR="76200" marT="9525" marB="9525">
                    <a:lnL>
                      <a:noFill/>
                    </a:lnL>
                    <a:lnR>
                      <a:noFill/>
                    </a:lnR>
                    <a:lnT>
                      <a:noFill/>
                    </a:lnT>
                    <a:lnB w="9525">
                      <a:solidFill>
                        <a:schemeClr val="accent1"/>
                      </a:solidFill>
                      <a:prstDash val="solid"/>
                    </a:lnB>
                    <a:noFill/>
                  </a:tcPr>
                </a:tc>
                <a:tc>
                  <a:txBody>
                    <a:bodyPr/>
                    <a:lstStyle/>
                    <a:p>
                      <a:pPr algn="r"/>
                      <a:r>
                        <a:rPr lang="zh-CN" sz="820" b="1">
                          <a:solidFill>
                            <a:schemeClr val="accent1"/>
                          </a:solidFill>
                          <a:latin typeface="Microsoft YaHei"/>
                          <a:ea typeface="Microsoft YaHei"/>
                          <a:cs typeface="Microsoft YaHei"/>
                        </a:rPr>
                        <a:t>2035 渗透率</a:t>
                      </a:r>
                    </a:p>
                  </a:txBody>
                  <a:tcPr anchor="ctr" marL="76200" marR="76200" marT="9525" marB="9525">
                    <a:lnL>
                      <a:noFill/>
                    </a:lnL>
                    <a:lnR>
                      <a:noFill/>
                    </a:lnR>
                    <a:lnT>
                      <a:noFill/>
                    </a:lnT>
                    <a:lnB w="9525">
                      <a:solidFill>
                        <a:schemeClr val="accent1"/>
                      </a:solidFill>
                      <a:prstDash val="solid"/>
                    </a:lnB>
                    <a:noFill/>
                  </a:tcPr>
                </a:tc>
              </a:tr>
              <a:tr h="285750">
                <a:tc>
                  <a:txBody>
                    <a:bodyPr/>
                    <a:lstStyle/>
                    <a:p>
                      <a:pPr/>
                      <a:r>
                        <a:rPr lang="zh-CN" sz="900" b="1">
                          <a:solidFill>
                            <a:schemeClr val="accent1"/>
                          </a:solidFill>
                          <a:latin typeface="Microsoft YaHei"/>
                          <a:ea typeface="Microsoft YaHei"/>
                          <a:cs typeface="Microsoft YaHei"/>
                        </a:rPr>
                        <a:t>全球</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1">
                          <a:solidFill>
                            <a:schemeClr val="accent1"/>
                          </a:solidFill>
                          <a:latin typeface="Arial"/>
                          <a:ea typeface="Arial"/>
                          <a:cs typeface="Arial"/>
                        </a:rPr>
                        <a:t>5,500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1">
                          <a:solidFill>
                            <a:schemeClr val="accent1"/>
                          </a:solidFill>
                          <a:latin typeface="Arial"/>
                          <a:ea typeface="Arial"/>
                          <a:cs typeface="Arial"/>
                        </a:rPr>
                        <a:t>53%</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中国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2,600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94%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欧洲</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1,400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85%</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美国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310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东南亚</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270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58%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印度</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210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24%</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韩国</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88</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60%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r h="285750">
                <a:tc>
                  <a:txBody>
                    <a:bodyPr/>
                    <a:lstStyle/>
                    <a:p>
                      <a:pPr/>
                      <a:r>
                        <a:rPr lang="zh-CN" sz="900" b="1">
                          <a:solidFill>
                            <a:schemeClr val="dk1"/>
                          </a:solidFill>
                          <a:latin typeface="Microsoft YaHei"/>
                          <a:ea typeface="Microsoft YaHei"/>
                          <a:cs typeface="Microsoft YaHei"/>
                        </a:rPr>
                        <a:t>日本</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70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c>
                  <a:txBody>
                    <a:bodyPr/>
                    <a:lstStyle/>
                    <a:p>
                      <a:pPr algn="r"/>
                      <a:r>
                        <a:rPr lang="zh-CN" sz="900" b="0">
                          <a:solidFill>
                            <a:schemeClr val="dk1"/>
                          </a:solidFill>
                          <a:latin typeface="Arial"/>
                          <a:ea typeface="Arial"/>
                          <a:cs typeface="Arial"/>
                        </a:rPr>
                        <a:t>20%</a:t>
                      </a:r>
                    </a:p>
                  </a:txBody>
                  <a:tcPr anchor="ctr" marL="76200" marR="76200" marT="9525" marB="9525">
                    <a:lnL>
                      <a:noFill/>
                    </a:lnL>
                    <a:lnR>
                      <a:noFill/>
                    </a:lnR>
                    <a:lnT w="7144">
                      <a:solidFill>
                        <a:srgbClr val="E3E3E3"/>
                      </a:solidFill>
                      <a:prstDash val="solid"/>
                    </a:lnT>
                    <a:lnB w="7144">
                      <a:solidFill>
                        <a:srgbClr val="E3E3E3"/>
                      </a:solidFill>
                      <a:prstDash val="solid"/>
                    </a:lnB>
                    <a:noFill/>
                  </a:tcPr>
                </a:tc>
              </a:tr>
            </a:tbl>
          </a:graphicData>
        </a:graphic>
      </p:graphicFrame>
      <p:grpSp>
        <p:nvGrpSpPr>
          <p:cNvPr id="26" name="method-notes"/>
          <p:cNvGrpSpPr/>
          <p:nvPr/>
        </p:nvGrpSpPr>
        <p:grpSpPr>
          <a:xfrm>
            <a:off x="8072438" y="4654391"/>
            <a:ext cx="3662362" cy="714375"/>
            <a:chOff x="8072438" y="4654391"/>
            <a:chExt cx="3662362" cy="714375"/>
          </a:xfrm>
        </p:grpSpPr>
        <p:sp>
          <p:nvSpPr>
            <p:cNvPr id="23" name="TextBox 23"/>
            <p:cNvSpPr txBox="1"/>
            <p:nvPr/>
          </p:nvSpPr>
          <p:spPr>
            <a:xfrm>
              <a:off x="8072438" y="465439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计算口径</a:t>
              </a:r>
            </a:p>
          </p:txBody>
        </p:sp>
        <p:sp>
          <p:nvSpPr>
            <p:cNvPr id="24" name="Line 24"/>
            <p:cNvSpPr/>
            <p:nvPr/>
          </p:nvSpPr>
          <p:spPr>
            <a:xfrm>
              <a:off x="8077200" y="4819650"/>
              <a:ext cx="3657600" cy="9525"/>
            </a:xfrm>
            <a:custGeom>
              <a:avLst/>
              <a:gdLst/>
              <a:ahLst/>
              <a:cxnLst/>
              <a:rect l="l" t="t" r="r" b="b"/>
              <a:pathLst>
                <a:path w="3657600" h="9525">
                  <a:moveTo>
                    <a:pt x="0" y="0"/>
                  </a:moveTo>
                  <a:lnTo>
                    <a:pt x="3657600" y="0"/>
                  </a:lnTo>
                </a:path>
              </a:pathLst>
            </a:custGeom>
            <a:noFill/>
            <a:ln w="7144">
              <a:solidFill>
                <a:schemeClr val="accent1"/>
              </a:solidFill>
            </a:ln>
          </p:spPr>
        </p:sp>
        <p:sp>
          <p:nvSpPr>
            <p:cNvPr id="25" name="TextBox 25"/>
            <p:cNvSpPr txBox="1"/>
            <p:nvPr/>
          </p:nvSpPr>
          <p:spPr>
            <a:xfrm>
              <a:off x="8072438" y="4902041"/>
              <a:ext cx="3461766" cy="466725"/>
            </a:xfrm>
            <a:prstGeom prst="rect">
              <a:avLst/>
            </a:prstGeom>
            <a:noFill/>
            <a:ln>
              <a:noFill/>
            </a:ln>
          </p:spPr>
          <p:txBody>
            <a:bodyPr wrap="none" lIns="0" tIns="0" rIns="0" bIns="0" anchor="t" anchorCtr="0">
              <a:spAutoFit/>
            </a:bodyPr>
            <a:lstStyle/>
            <a:p>
              <a:pPr algn="l">
                <a:lnSpc>
                  <a:spcPts val="1200"/>
                </a:lnSpc>
              </a:pPr>
              <a:r>
                <a:rPr lang="zh-CN" sz="820" dirty="0">
                  <a:solidFill>
                    <a:schemeClr val="dk1"/>
                  </a:solidFill>
                  <a:latin typeface="+mn-lt"/>
                  <a:ea typeface="+mn-ea"/>
                  <a:cs typeface="+mn-cs"/>
                </a:rPr>
                <a:t>渗透率 = 电动车销量 ÷ 乘用车新车销量;倍数 = 2025 年销量 ÷ 2023 年销量</a:t>
              </a:r>
              <a:br/>
              <a:r>
                <a:rPr lang="zh-CN" sz="820" dirty="0">
                  <a:solidFill>
                    <a:schemeClr val="dk1"/>
                  </a:solidFill>
                  <a:latin typeface="+mn-lt"/>
                  <a:ea typeface="+mn-ea"/>
                  <a:cs typeface="+mn-cs"/>
                </a:rPr>
                <a:t>增量 = 2025 年销量 − 2024 年销量;增量占比 = 该地区增量 ÷ 总增量</a:t>
              </a:r>
              <a:br/>
              <a:r>
                <a:rPr lang="zh-CN" sz="820" dirty="0">
                  <a:solidFill>
                    <a:schemeClr val="dk1"/>
                  </a:solidFill>
                  <a:latin typeface="+mn-lt"/>
                  <a:ea typeface="+mn-ea"/>
                  <a:cs typeface="+mn-cs"/>
                </a:rPr>
                <a:t>年均增速 = (期末 ÷ 期初)^(1 ÷ 年数) − 1;比例均按取整前数值计算后取整</a:t>
              </a:r>
            </a:p>
          </p:txBody>
        </p:sp>
      </p:grpSp>
      <p:grpSp>
        <p:nvGrpSpPr>
          <p:cNvPr id="30" name="source-links"/>
          <p:cNvGrpSpPr/>
          <p:nvPr/>
        </p:nvGrpSpPr>
        <p:grpSpPr>
          <a:xfrm>
            <a:off x="8072438" y="5492591"/>
            <a:ext cx="3662362" cy="606266"/>
            <a:chOff x="8072438" y="5492591"/>
            <a:chExt cx="3662362" cy="606266"/>
          </a:xfrm>
        </p:grpSpPr>
        <p:sp>
          <p:nvSpPr>
            <p:cNvPr id="27" name="TextBox 27"/>
            <p:cNvSpPr txBox="1"/>
            <p:nvPr/>
          </p:nvSpPr>
          <p:spPr>
            <a:xfrm>
              <a:off x="8072438" y="5492591"/>
              <a:ext cx="903402"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数据来源与许可</a:t>
              </a:r>
            </a:p>
          </p:txBody>
        </p:sp>
        <p:sp>
          <p:nvSpPr>
            <p:cNvPr id="28" name="Line 28"/>
            <p:cNvSpPr/>
            <p:nvPr/>
          </p:nvSpPr>
          <p:spPr>
            <a:xfrm>
              <a:off x="8077200" y="5657850"/>
              <a:ext cx="3657600" cy="9525"/>
            </a:xfrm>
            <a:custGeom>
              <a:avLst/>
              <a:gdLst/>
              <a:ahLst/>
              <a:cxnLst/>
              <a:rect l="l" t="t" r="r" b="b"/>
              <a:pathLst>
                <a:path w="3657600" h="9525">
                  <a:moveTo>
                    <a:pt x="0" y="0"/>
                  </a:moveTo>
                  <a:lnTo>
                    <a:pt x="3657600" y="0"/>
                  </a:lnTo>
                </a:path>
              </a:pathLst>
            </a:custGeom>
            <a:noFill/>
            <a:ln w="7144">
              <a:solidFill>
                <a:schemeClr val="accent1"/>
              </a:solidFill>
            </a:ln>
          </p:spPr>
        </p:sp>
        <p:sp>
          <p:nvSpPr>
            <p:cNvPr id="29" name="TextBox 29"/>
            <p:cNvSpPr txBox="1"/>
            <p:nvPr/>
          </p:nvSpPr>
          <p:spPr>
            <a:xfrm>
              <a:off x="8072438" y="5751195"/>
              <a:ext cx="3307080" cy="347662"/>
            </a:xfrm>
            <a:prstGeom prst="rect">
              <a:avLst/>
            </a:prstGeom>
            <a:noFill/>
            <a:ln>
              <a:noFill/>
            </a:ln>
          </p:spPr>
          <p:txBody>
            <a:bodyPr wrap="none" lIns="0" tIns="0" rIns="0" bIns="0" anchor="t" anchorCtr="0">
              <a:spAutoFit/>
            </a:bodyPr>
            <a:lstStyle/>
            <a:p>
              <a:pPr algn="l">
                <a:lnSpc>
                  <a:spcPts val="1350"/>
                </a:lnSpc>
              </a:pPr>
              <a:r>
                <a:rPr lang="zh-CN" sz="900" dirty="0">
                  <a:solidFill>
                    <a:schemeClr val="dk1"/>
                  </a:solidFill>
                  <a:latin typeface="+mn-lt"/>
                  <a:ea typeface="+mn-ea"/>
                  <a:cs typeface="+mn-cs"/>
                </a:rPr>
                <a:t>IEA (2025), Global EV Outlook 2025,2025 年为 IEA 全年估计</a:t>
              </a:r>
              <a:br/>
              <a:r>
                <a:rPr lang="en-US" sz="900" u="sng" dirty="0">
                  <a:solidFill>
                    <a:schemeClr val="accent2"/>
                  </a:solidFill>
                  <a:latin typeface="+mn-lt"/>
                  <a:ea typeface="+mn-ea"/>
                  <a:cs typeface="+mn-cs"/>
                  <a:hlinkClick r:id="rId2"/>
                </a:rPr>
                <a:t>Global EV Data Explorer</a:t>
              </a:r>
              <a:r>
                <a:rPr lang="zh-CN" sz="900" dirty="0">
                  <a:solidFill>
                    <a:schemeClr val="dk1"/>
                  </a:solidFill>
                  <a:latin typeface="+mn-lt"/>
                  <a:ea typeface="+mn-ea"/>
                  <a:cs typeface="+mn-cs"/>
                </a:rPr>
                <a:t>,许可 CC BY 4.0;2035 年为 STEPS 情景</a:t>
              </a:r>
            </a:p>
          </p:txBody>
        </p:sp>
      </p:grpSp>
      <p:grpSp>
        <p:nvGrpSpPr>
          <p:cNvPr id="35" name="footer"/>
          <p:cNvGrpSpPr/>
          <p:nvPr/>
        </p:nvGrpSpPr>
        <p:grpSpPr>
          <a:xfrm>
            <a:off x="452438" y="6205538"/>
            <a:ext cx="11287124" cy="433388"/>
            <a:chOff x="452438" y="6205538"/>
            <a:chExt cx="11287124" cy="433388"/>
          </a:xfrm>
        </p:grpSpPr>
        <p:sp>
          <p:nvSpPr>
            <p:cNvPr id="31" name="TextBox 31"/>
            <p:cNvSpPr txBox="1"/>
            <p:nvPr/>
          </p:nvSpPr>
          <p:spPr>
            <a:xfrm>
              <a:off x="452438" y="6205538"/>
              <a:ext cx="4781931"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IEA 数值为取整后的估计值;FCEV 数量极小,忽略;欧洲含 EU27 + 英国 + 挪威等;东南亚为 IEA 区域汇总</a:t>
              </a:r>
            </a:p>
          </p:txBody>
        </p:sp>
        <p:sp>
          <p:nvSpPr>
            <p:cNvPr id="32" name="TextBox 32"/>
            <p:cNvSpPr txBox="1"/>
            <p:nvPr/>
          </p:nvSpPr>
          <p:spPr>
            <a:xfrm>
              <a:off x="452438" y="6338888"/>
              <a:ext cx="6240129"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数据于 2026-09-05 通过 IEA 官方接口取得(api.iea.org/evs,category=Historical / Projection-STEPS,mode=Cars),未做数值修改</a:t>
              </a:r>
            </a:p>
          </p:txBody>
        </p:sp>
        <p:sp>
          <p:nvSpPr>
            <p:cNvPr id="33" name="TextBox 33"/>
            <p:cNvSpPr txBox="1"/>
            <p:nvPr/>
          </p:nvSpPr>
          <p:spPr>
            <a:xfrm>
              <a:off x="452438" y="6491288"/>
              <a:ext cx="3940846"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a:t>
              </a:r>
            </a:p>
          </p:txBody>
        </p:sp>
        <p:sp>
          <p:nvSpPr>
            <p:cNvPr id="34" name="TextBox 34"/>
            <p:cNvSpPr txBox="1"/>
            <p:nvPr/>
          </p:nvSpPr>
          <p:spPr>
            <a:xfrm>
              <a:off x="11617724" y="6491288"/>
              <a:ext cx="121838"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par>
                          <p:cTn id="16" fill="hold">
                            <p:stCondLst>
                              <p:cond delay="20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200"/>
                                        <p:tgtEl>
                                          <p:spTgt spid="21"/>
                                        </p:tgtEl>
                                      </p:cBhvr>
                                    </p:animEffect>
                                  </p:childTnLst>
                                </p:cTn>
                              </p:par>
                            </p:childTnLst>
                          </p:cTn>
                        </p:par>
                        <p:par>
                          <p:cTn id="20" fill="hold">
                            <p:stCondLst>
                              <p:cond delay="27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childTnLst>
                          </p:cTn>
                        </p:par>
                        <p:par>
                          <p:cTn id="24" fill="hold">
                            <p:stCondLst>
                              <p:cond delay="36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300"/>
                                        <p:tgtEl>
                                          <p:spTgt spid="26"/>
                                        </p:tgtEl>
                                      </p:cBhvr>
                                    </p:animEffect>
                                  </p:childTnLst>
                                </p:cTn>
                              </p:par>
                            </p:childTnLst>
                          </p:cTn>
                        </p:par>
                        <p:par>
                          <p:cTn id="28" fill="hold">
                            <p:stCondLst>
                              <p:cond delay="440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3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ev_market_priorities">
  <a:themeElements>
    <a:clrScheme name="ppt169_ev_market_priorities">
      <a:dk1>
        <a:srgbClr val="333333"/>
      </a:dk1>
      <a:lt1>
        <a:srgbClr val="FFFFFF"/>
      </a:lt1>
      <a:dk2>
        <a:srgbClr val="1F497D"/>
      </a:dk2>
      <a:lt2>
        <a:srgbClr val="F2F2F2"/>
      </a:lt2>
      <a:accent1>
        <a:srgbClr val="051C2C"/>
      </a:accent1>
      <a:accent2>
        <a:srgbClr val="2251FF"/>
      </a:accent2>
      <a:accent3>
        <a:srgbClr val="8FB8FF"/>
      </a:accent3>
      <a:accent4>
        <a:srgbClr val="051C2C"/>
      </a:accent4>
      <a:accent5>
        <a:srgbClr val="7F7F7F"/>
      </a:accent5>
      <a:accent6>
        <a:srgbClr val="B7B7B7"/>
      </a:accent6>
      <a:hlink>
        <a:srgbClr val="2251FF"/>
      </a:hlink>
      <a:folHlink>
        <a:srgbClr val="8FB8FF"/>
      </a:folHlink>
    </a:clrScheme>
    <a:fontScheme name="ppt169_ev_market_priorities">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ev_market_prioriti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ev_market_priorities">
  <a:themeElements>
    <a:clrScheme name="ppt169_ev_market_priorities">
      <a:dk1>
        <a:srgbClr val="333333"/>
      </a:dk1>
      <a:lt1>
        <a:srgbClr val="FFFFFF"/>
      </a:lt1>
      <a:dk2>
        <a:srgbClr val="1F497D"/>
      </a:dk2>
      <a:lt2>
        <a:srgbClr val="F2F2F2"/>
      </a:lt2>
      <a:accent1>
        <a:srgbClr val="051C2C"/>
      </a:accent1>
      <a:accent2>
        <a:srgbClr val="2251FF"/>
      </a:accent2>
      <a:accent3>
        <a:srgbClr val="8FB8FF"/>
      </a:accent3>
      <a:accent4>
        <a:srgbClr val="051C2C"/>
      </a:accent4>
      <a:accent5>
        <a:srgbClr val="7F7F7F"/>
      </a:accent5>
      <a:accent6>
        <a:srgbClr val="B7B7B7"/>
      </a:accent6>
      <a:hlink>
        <a:srgbClr val="2251FF"/>
      </a:hlink>
      <a:folHlink>
        <a:srgbClr val="8FB8FF"/>
      </a:folHlink>
    </a:clrScheme>
    <a:fontScheme name="ppt169_ev_market_priorities">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ev_market_prioriti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2026-09-12T04:58:30Z</dcterms:created>
  <dcterms:modified xsi:type="dcterms:W3CDTF">2026-09-12T04:58:30Z</dcterms:modified>
  <cp:category/>
  <cp:contentStatus/>
</cp:coreProperties>
</file>