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0287000" cy="1828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别急着翻。秋天在我们嘴里常常是一整块东西，一说就是"入秋了"。可它其实是分段走的，从八月七号一直排到十月二十三号，中间有六个各自不同的日子。这本手账就照着这六站往下走，每一站给你确切的时间、当时的物候原文、一条老习俗，还有一件你今天就能去做的事。所有日期和候文都能查到出处，最后一页会全部列给你。</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开始之前，先说清楚节气到底是什么。它不只是日历上的一个红字，它自带一套观察方法：五天算一候，三候合成一个节气，也就是说每个节气里都有三次细微的变化被古人记了下来。这套记录来自元代吴澄整理的《月令七十二候集解》，一直用到今天。二零一六年十一月三十号，二十四节气被列入联合国教科文组织的人类非物质文化遗产代表作名录，它是一份被正式承认的时间知识。接下来每一站，我都按同样的四件事给你：日期、三候、习俗，还有能做的事。</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秋天的全图。六站沿着一条路线依次落下来：立秋在八月七号晚上十九点四十三分，处暑八月二十三号上午十点十九分，白露九月七号夜里二十二点四十一分，秋分九月二十三号早上八点零五分，寒露十月八号下午十四点二十九分，霜降十月二十三号傍晚十七点三十八分。相邻两站差不多隔半个月。这些时刻都是东八区时间。农历的逐条对照我没有找到足够权威的数据，所以这里标的是"没有数据"，宁可空着也不推算。</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站，立秋，八月七号晚上十九点四十三分。名字里有个秋字，可暑气一点没走。它的三候说得很实在：先是凉风至，风里第一次带凉意；然后白露降，早晨草上开始有水汽；最后寒蝉鸣，蝉声变了调子。民间在这天称人，跟立夏时候的体重比一比，瘦了就该补，这叫贴秋膘；南方则是啃秋，专挑这天多吃西瓜，防秋燥。所以这一站的建议特别简单：先秤一秤，别急着进补，把西瓜的最后一口啃完再说。</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站，处暑，八月二十三号上午十点十九分。处是终止的意思，暑气到这里正式收工。三候是鹰乃祭鸟、天地始肃、禾乃登：鹰开始大量捕猎，天地的气象转向肃杀，谷子也熟了。这个节气有两件事最有意思，一件在餐桌上，一件在水边。餐桌上是吃鸭子，江苏一带做好了还要给邻居端一碗，谚语说处暑送鸭，无病各家；水边是放河灯，一盏荷花灯顺水漂走，既是给逝去的人的一点惦念，也是给活着的人求个平安。所以这天找个傍晚去水边，把一盏灯放走。</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中间歇一口气。如果把这六站的颜色排成一条带子，你会看到秋天其实是一路凉下去的：立秋还是瓜瓤那种红，处暑转成鸭黄，白露开始泛出露水的青，秋分是稻穗的金，寒露压成菊花的黄，到霜降就只剩下霜白了。要说明的是，这些颜色是这本手账自己的说法，不是节气本身的规定，你完全可以换成你眼睛里看到的那几种。</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站，白露，九月七号夜里二十二点四十一分。到这一站，天气真正凉了，而且是从天上先动起来的。三候是鸿雁来、玄鸟归、群鸟养羞：大雁自北而南飞过来，燕子往南走，其余的鸟开始存粮准备过冬。人这边也在做同样的事，只不过换成了茶和果子。民谚说春茶苦，夏茶涩，要喝茶秋白露；福州更直接，白露必吃龙眼。所以这一站的建议是，早晚给自己加一件衣服，泡一壶秋白露，顺便看看院子里的露水到底结在哪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站，秋分，九月二十三号早上八点零五分。这一天昼和夜刚好一样长，之后夜就要开始变长了。三候是雷始收声、蛰虫坯户、水始涸，雷收了，虫开始封洞，水开始退。老习俗里有秋祭月、送秋牛、吃秋菜喝秋汤，还有一个特别适合拍照的：秋分到，蛋儿俏，找个新鲜鸡蛋在桌上把它竖起来。而从二零一八年起，农历秋分被定为中国农民丰收节，这是第一个在国家层面专门为农民设立的节日。所以这天，昼夜一样长的时候，去菜场逛一逛。</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歇一口气，把六站的吃法摆到一起。立秋是西瓜，为的是啃秋防秋燥；处暑是鸭子，处暑送鸭，无病各家；白露是龙眼，福州人那天必吃；秋分是秋菜滚的那碗汤，岭南叫它秋汤；寒露是芝麻；霜降是柿子。六站各有一件当季的东西，照着这张单子去买就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五站，寒露，十月八号下午十四点二十九分。白露和寒露听着像，其实是一冷一暖两个刻度：同样是露，白露说的是降，寒露说的是寒，再往前一站就该结霜了。三候是鸿雁来宾、雀入大水为蛤、菊有黄花，雁这时候已经是最后一批客人，菊花正开。习俗上有寒露吃芝麻的说法，又因为挨着重阳，登高、赏枫、饮菊花酒都在这几天。所以这一站，把凉鞋收起来，找个天好的日子登一次高。</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六站，霜降，十月二十三号傍晚十七点三十八分，秋天的最后一站。三候是豺乃祭兽、草木黄落、蛰虫咸俯，草木黄了往下落，虫子也全都伏下去睡了。这个时候柿子刚好熟透，皮薄肉多味道最好，民谚说霜降吃灯柿，不会流鼻涕；讲究一点的会去登高山、赏菊花，给秋天做个正式的收尾。所以这一站很好办：买几只软柿子，给秋天收个尾。</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六站合起来看，就是这一张表。左边是节气，中间是二零二六年的确切日期和时刻，右边是每一站的三候原文，一共十八条。你可以直接抄进自己的本子里，或者拍下来存着。需要说明两件事：所有时刻都是东八区时间；三候的写法依《月令七十二候集解》，别的传本会有一两个字的异写，比如菊有黄花也写作菊有黄华，都不算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读到这里，最容易发生的事是合上就忘。所以给你一份清单：立秋啃个瓜，处暑放盏灯，白露泡壶茶，秋分逛趟菜场，寒露登次高，霜降买几只柿子。六件事，一件也不难。而且是有期限的——二零二六年十一月七号下午十七点五十二分立冬，秋天就交班了。别等下一个秋天，挑一站，照着过一次。</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交代出处。交节的日期和时刻来自香港天文台公开的二十四节气数据；三候原文依《月令七十二候集解》，可以在维基百科的七十二候条目查到完整对照；习俗和时令食物主要参考北京市园林绿化局的节气科普和中国气象网的秋分专题；中国农民丰收节的设立和二十四节气入选人类非遗名录这两件事，分别来自中国政府网和文化和旅游部。还有一件事要说明：农历的逐条对照日期没有取到足够权威的数据，这本手账里标的是没有数据，不作推算。</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tory_autumn_solar_term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tory_autumn_solar_term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75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4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3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3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3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31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100" kern="1200">
          <a:solidFill>
            <a:schemeClr val="tx1"/>
          </a:solidFill>
          <a:latin typeface="+mn-lt"/>
          <a:ea typeface="+mn-ea"/>
          <a:cs typeface="+mn-cs"/>
        </a:defRPr>
      </a:lvl9pPr>
    </p:bodyStyle>
    <p:otherStyle>
      <a:defPPr>
        <a:defRPr lang="en-US"/>
      </a:defPPr>
      <a:lvl1pPr marL="0" algn="l" defTabSz="457200" rtl="0" eaLnBrk="1" latinLnBrk="0" hangingPunct="1">
        <a:defRPr sz="4200" kern="1200">
          <a:solidFill>
            <a:schemeClr val="tx1"/>
          </a:solidFill>
          <a:latin typeface="+mn-lt"/>
          <a:ea typeface="+mn-ea"/>
          <a:cs typeface="+mn-cs"/>
        </a:defRPr>
      </a:lvl1pPr>
      <a:lvl2pPr marL="457200" algn="l" defTabSz="457200" rtl="0" eaLnBrk="1" latinLnBrk="0" hangingPunct="1">
        <a:defRPr sz="3950" kern="1200">
          <a:solidFill>
            <a:schemeClr val="tx1"/>
          </a:solidFill>
          <a:latin typeface="+mn-lt"/>
          <a:ea typeface="+mn-ea"/>
          <a:cs typeface="+mn-cs"/>
        </a:defRPr>
      </a:lvl2pPr>
      <a:lvl3pPr marL="914400" algn="l" defTabSz="457200" rtl="0" eaLnBrk="1" latinLnBrk="0" hangingPunct="1">
        <a:defRPr sz="3700" kern="1200">
          <a:solidFill>
            <a:schemeClr val="tx1"/>
          </a:solidFill>
          <a:latin typeface="+mn-lt"/>
          <a:ea typeface="+mn-ea"/>
          <a:cs typeface="+mn-cs"/>
        </a:defRPr>
      </a:lvl3pPr>
      <a:lvl4pPr marL="1371600" algn="l" defTabSz="457200" rtl="0" eaLnBrk="1" latinLnBrk="0" hangingPunct="1">
        <a:defRPr sz="3400" kern="1200">
          <a:solidFill>
            <a:schemeClr val="tx1"/>
          </a:solidFill>
          <a:latin typeface="+mn-lt"/>
          <a:ea typeface="+mn-ea"/>
          <a:cs typeface="+mn-cs"/>
        </a:defRPr>
      </a:lvl4pPr>
      <a:lvl5pPr marL="1828800" algn="l" defTabSz="457200" rtl="0" eaLnBrk="1" latinLnBrk="0" hangingPunct="1">
        <a:defRPr sz="3150" kern="1200">
          <a:solidFill>
            <a:schemeClr val="tx1"/>
          </a:solidFill>
          <a:latin typeface="+mn-lt"/>
          <a:ea typeface="+mn-ea"/>
          <a:cs typeface="+mn-cs"/>
        </a:defRPr>
      </a:lvl5pPr>
      <a:lvl6pPr marL="2286000" algn="l" defTabSz="457200" rtl="0" eaLnBrk="1" latinLnBrk="0" hangingPunct="1">
        <a:defRPr sz="2900" kern="1200">
          <a:solidFill>
            <a:schemeClr val="tx1"/>
          </a:solidFill>
          <a:latin typeface="+mn-lt"/>
          <a:ea typeface="+mn-ea"/>
          <a:cs typeface="+mn-cs"/>
        </a:defRPr>
      </a:lvl6pPr>
      <a:lvl7pPr marL="2743200" algn="l" defTabSz="457200" rtl="0" eaLnBrk="1" latinLnBrk="0" hangingPunct="1">
        <a:defRPr sz="2600" kern="1200">
          <a:solidFill>
            <a:schemeClr val="tx1"/>
          </a:solidFill>
          <a:latin typeface="+mn-lt"/>
          <a:ea typeface="+mn-ea"/>
          <a:cs typeface="+mn-cs"/>
        </a:defRPr>
      </a:lvl7pPr>
      <a:lvl8pPr marL="3200400" algn="l" defTabSz="457200" rtl="0" eaLnBrk="1" latinLnBrk="0" hangingPunct="1">
        <a:defRPr sz="2350" kern="1200">
          <a:solidFill>
            <a:schemeClr val="tx1"/>
          </a:solidFill>
          <a:latin typeface="+mn-lt"/>
          <a:ea typeface="+mn-ea"/>
          <a:cs typeface="+mn-cs"/>
        </a:defRPr>
      </a:lvl8pPr>
      <a:lvl9pPr marL="3657600" algn="l" defTabSz="457200"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5b9bfad6f4d0dee.png"/>
  <Relationship Id="rId3" Type="http://schemas.openxmlformats.org/officeDocument/2006/relationships/image" Target="../media/image_db89a84374cc09f4.png"/>
  <Relationship Id="rId4" Type="http://schemas.openxmlformats.org/officeDocument/2006/relationships/image" Target="../media/image_f1dc53ce7933d51d.png"/>
  <Relationship Id="rId5" Type="http://schemas.openxmlformats.org/officeDocument/2006/relationships/image" Target="../media/image_e70f03b7cdcc2080.png"/>
  <Relationship Id="rId6" Type="http://schemas.openxmlformats.org/officeDocument/2006/relationships/image" Target="../media/image_ec85b87918af87ae.png"/>
  <Relationship Id="rId7"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c83721215696199.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dc36b3c522da75c.png"/>
  <Relationship Id="rId3" Type="http://schemas.openxmlformats.org/officeDocument/2006/relationships/image" Target="../media/image_a5b7782887ca3e68.png"/>
  <Relationship Id="rId4" Type="http://schemas.openxmlformats.org/officeDocument/2006/relationships/image" Target="../media/image_fc822d78f7b9dc33.png"/>
  <Relationship Id="rId5" Type="http://schemas.openxmlformats.org/officeDocument/2006/relationships/image" Target="../media/image_8c034cd9aed8249a.png"/>
  <Relationship Id="rId6"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fe2c92731dab18a.png"/>
  <Relationship Id="rId3" Type="http://schemas.openxmlformats.org/officeDocument/2006/relationships/image" Target="../media/image_1909fa05f79c7087.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e4696fc70351e6b.png"/>
  <Relationship Id="rId3" Type="http://schemas.openxmlformats.org/officeDocument/2006/relationships/image" Target="../media/image_db89a84374cc09f4.png"/>
  <Relationship Id="rId4" Type="http://schemas.openxmlformats.org/officeDocument/2006/relationships/image" Target="../media/image_cf937470fa18dca2.png"/>
  <Relationship Id="rId5" Type="http://schemas.openxmlformats.org/officeDocument/2006/relationships/image" Target="../media/image_8d6e6be26e2fa8ad.png"/>
  <Relationship Id="rId6"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fe65387f7baf52.png"/>
  <Relationship Id="rId3" Type="http://schemas.openxmlformats.org/officeDocument/2006/relationships/image" Target="../media/image_cd2330e5899dd054.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602cfc1e1aa3ce1.png"/>
  <Relationship Id="rId3" Type="http://schemas.openxmlformats.org/officeDocument/2006/relationships/image" Target="../media/image_a276f33c61e93b37.png"/>
  <Relationship Id="rId4" Type="http://schemas.openxmlformats.org/officeDocument/2006/relationships/image" Target="../media/image_e31627d6bba228ec.png"/>
  <Relationship Id="rId5" Type="http://schemas.openxmlformats.org/officeDocument/2006/relationships/image" Target="../media/image_23465f6cf1ebd2b8.png"/>
  <Relationship Id="rId6" Type="http://schemas.openxmlformats.org/officeDocument/2006/relationships/image" Target="../media/image_ed3aef81cc8fa8d7.png"/>
  <Relationship Id="rId7" Type="http://schemas.openxmlformats.org/officeDocument/2006/relationships/image" Target="../media/image_15a982e7fa2cf363.png"/>
  <Relationship Id="rId8" Type="http://schemas.openxmlformats.org/officeDocument/2006/relationships/image" Target="../media/image_376c330a3a778cab.png"/>
  <Relationship Id="rId9"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da66d14f1a10531.png"/>
  <Relationship Id="rId3" Type="http://schemas.openxmlformats.org/officeDocument/2006/relationships/image" Target="../media/image_3e0303fd50a7e606.png"/>
  <Relationship Id="rId4" Type="http://schemas.openxmlformats.org/officeDocument/2006/relationships/image" Target="../media/image_ed543d01076466b0.png"/>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d6f68d2553ff90e.png"/>
  <Relationship Id="rId3" Type="http://schemas.openxmlformats.org/officeDocument/2006/relationships/image" Target="../media/image_f1dc53ce7933d51d.png"/>
  <Relationship Id="rId4" Type="http://schemas.openxmlformats.org/officeDocument/2006/relationships/image" Target="../media/image_79343727a6cf51a9.png"/>
  <Relationship Id="rId5"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c85b87918af87ae.png"/>
  <Relationship Id="rId3" Type="http://schemas.openxmlformats.org/officeDocument/2006/relationships/image" Target="../media/image_1c83721215696199.png"/>
  <Relationship Id="rId4" Type="http://schemas.openxmlformats.org/officeDocument/2006/relationships/image" Target="../media/image_e484e6541016900e.png"/>
  <Relationship Id="rId5"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hko.gov.hk/tc/gts/astronomy/data/files/24SolarTerms_2026.xml" TargetMode="External"/>
  <Relationship Id="rId3" Type="http://schemas.openxmlformats.org/officeDocument/2006/relationships/hyperlink" Target="https://zh.wikipedia.org/zh-hans/%E4%B8%83%E5%8D%81%E4%BA%8C%E5%80%99" TargetMode="External"/>
  <Relationship Id="rId4" Type="http://schemas.openxmlformats.org/officeDocument/2006/relationships/hyperlink" Target="https://yllhj.beijing.gov.cn/ztxx/lhysh/sh/202311/t20231120_3305348.shtml" TargetMode="External"/>
  <Relationship Id="rId5" Type="http://schemas.openxmlformats.org/officeDocument/2006/relationships/hyperlink" Target="https://www.cma.gov.cn/ztbd/2025zt/24jq/qiufen/index.html" TargetMode="External"/>
  <Relationship Id="rId6" Type="http://schemas.openxmlformats.org/officeDocument/2006/relationships/hyperlink" Target="https://www.gov.cn/zhengce/2018-06/22/content_5300368.htm" TargetMode="External"/>
  <Relationship Id="rId7" Type="http://schemas.openxmlformats.org/officeDocument/2006/relationships/hyperlink" Target="https://www.mct.gov.cn/whzx/bnsj/dwwhllj/201612/t20161214_773196.html" TargetMode="External"/>
  <Relationship Id="rId8"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5" name="Group 5"/>
          <p:cNvGrpSpPr/>
          <p:nvPr/>
        </p:nvGrpSpPr>
        <p:grpSpPr>
          <a:xfrm>
            <a:off x="771855" y="1771650"/>
            <a:ext cx="7400595" cy="1733550"/>
            <a:chOff x="771855" y="1771650"/>
            <a:chExt cx="7400595" cy="1733550"/>
          </a:xfrm>
        </p:grpSpPr>
        <p:pic>
          <p:nvPicPr>
            <p:cNvPr id="2" name="Image 2"/>
            <p:cNvPicPr>
              <a:picLocks noChangeAspect="1"/>
            </p:cNvPicPr>
            <p:nvPr/>
          </p:nvPicPr>
          <p:blipFill>
            <a:blip r:embed="rId2"/>
            <a:stretch>
              <a:fillRect/>
            </a:stretch>
          </p:blipFill>
          <p:spPr>
            <a:xfrm>
              <a:off x="771855" y="1771650"/>
              <a:ext cx="7219289" cy="1009650"/>
            </a:xfrm>
            <a:prstGeom prst="rect">
              <a:avLst/>
            </a:prstGeom>
          </p:spPr>
        </p:pic>
        <p:sp>
          <p:nvSpPr>
            <p:cNvPr id="3" name="Freeform 3"/>
            <p:cNvSpPr/>
            <p:nvPr/>
          </p:nvSpPr>
          <p:spPr>
            <a:xfrm>
              <a:off x="781050" y="3152775"/>
              <a:ext cx="7391400" cy="209550"/>
            </a:xfrm>
            <a:custGeom>
              <a:avLst/>
              <a:gdLst/>
              <a:ahLst/>
              <a:cxnLst/>
              <a:rect l="l" t="t" r="r" b="b"/>
              <a:pathLst>
                <a:path w="7391400" h="209550">
                  <a:moveTo>
                    <a:pt x="0" y="123825"/>
                  </a:moveTo>
                  <a:cubicBezTo>
                    <a:pt x="1257300" y="38100"/>
                    <a:pt x="2247900" y="209550"/>
                    <a:pt x="3486150" y="104775"/>
                  </a:cubicBezTo>
                  <a:cubicBezTo>
                    <a:pt x="4724400" y="0"/>
                    <a:pt x="5905500" y="9525"/>
                    <a:pt x="7391400" y="152400"/>
                  </a:cubicBezTo>
                </a:path>
              </a:pathLst>
            </a:custGeom>
            <a:noFill/>
            <a:ln w="38100" cap="rnd">
              <a:solidFill>
                <a:schemeClr val="accent1"/>
              </a:solidFill>
            </a:ln>
          </p:spPr>
        </p:sp>
        <p:sp>
          <p:nvSpPr>
            <p:cNvPr id="4" name="Freeform 4"/>
            <p:cNvSpPr/>
            <p:nvPr/>
          </p:nvSpPr>
          <p:spPr>
            <a:xfrm>
              <a:off x="914400" y="3314700"/>
              <a:ext cx="7105650" cy="190500"/>
            </a:xfrm>
            <a:custGeom>
              <a:avLst/>
              <a:gdLst/>
              <a:ahLst/>
              <a:cxnLst/>
              <a:rect l="l" t="t" r="r" b="b"/>
              <a:pathLst>
                <a:path w="7105650" h="190500">
                  <a:moveTo>
                    <a:pt x="0" y="114300"/>
                  </a:moveTo>
                  <a:cubicBezTo>
                    <a:pt x="1238250" y="47625"/>
                    <a:pt x="2286000" y="190500"/>
                    <a:pt x="3486150" y="95250"/>
                  </a:cubicBezTo>
                  <a:cubicBezTo>
                    <a:pt x="4686300" y="0"/>
                    <a:pt x="5829300" y="19050"/>
                    <a:pt x="7105650" y="142875"/>
                  </a:cubicBezTo>
                </a:path>
              </a:pathLst>
            </a:custGeom>
            <a:noFill/>
            <a:ln w="28575" cap="rnd">
              <a:solidFill>
                <a:schemeClr val="accent6"/>
              </a:solidFill>
            </a:ln>
          </p:spPr>
        </p:sp>
      </p:grpSp>
      <p:grpSp>
        <p:nvGrpSpPr>
          <p:cNvPr id="7" name="Group 7"/>
          <p:cNvGrpSpPr/>
          <p:nvPr/>
        </p:nvGrpSpPr>
        <p:grpSpPr>
          <a:xfrm>
            <a:off x="742950" y="4524375"/>
            <a:ext cx="4800600" cy="2638425"/>
            <a:chOff x="742950" y="4524375"/>
            <a:chExt cx="4800600" cy="2638425"/>
          </a:xfrm>
        </p:grpSpPr>
        <p:sp>
          <p:nvSpPr>
            <p:cNvPr id="6" name="TextBox 6"/>
            <p:cNvSpPr txBox="1"/>
            <p:nvPr/>
          </p:nvSpPr>
          <p:spPr>
            <a:xfrm>
              <a:off x="742950" y="4524375"/>
              <a:ext cx="4800600" cy="2638425"/>
            </a:xfrm>
            <a:prstGeom prst="rect">
              <a:avLst/>
            </a:prstGeom>
            <a:noFill/>
            <a:ln>
              <a:noFill/>
            </a:ln>
          </p:spPr>
          <p:txBody>
            <a:bodyPr wrap="none" lIns="0" tIns="0" rIns="0" bIns="0" anchor="t" anchorCtr="0">
              <a:spAutoFit/>
            </a:bodyPr>
            <a:lstStyle/>
            <a:p>
              <a:pPr algn="l">
                <a:lnSpc>
                  <a:spcPts val="9375"/>
                </a:lnSpc>
              </a:pPr>
              <a:r>
                <a:rPr lang="zh-CN" sz="7500" dirty="0">
                  <a:solidFill>
                    <a:schemeClr val="dk1"/>
                  </a:solidFill>
                  <a:latin typeface="+mj-lt"/>
                  <a:ea typeface="+mj-ea"/>
                  <a:cs typeface="+mj-cs"/>
                </a:rPr>
                <a:t>二十四节气</a:t>
              </a:r>
              <a:br/>
              <a:r>
                <a:rPr lang="zh-CN" sz="7500" dirty="0">
                  <a:solidFill>
                    <a:schemeClr val="dk1"/>
                  </a:solidFill>
                  <a:latin typeface="+mj-lt"/>
                  <a:ea typeface="+mj-ea"/>
                  <a:cs typeface="+mj-cs"/>
                </a:rPr>
                <a:t>手账·秋</a:t>
              </a:r>
            </a:p>
          </p:txBody>
        </p:sp>
      </p:grpSp>
      <p:grpSp>
        <p:nvGrpSpPr>
          <p:cNvPr id="9" name="Group 9"/>
          <p:cNvGrpSpPr/>
          <p:nvPr/>
        </p:nvGrpSpPr>
        <p:grpSpPr>
          <a:xfrm>
            <a:off x="742950" y="7132320"/>
            <a:ext cx="6896100" cy="1905000"/>
            <a:chOff x="742950" y="7132320"/>
            <a:chExt cx="6896100" cy="1905000"/>
          </a:xfrm>
        </p:grpSpPr>
        <p:sp>
          <p:nvSpPr>
            <p:cNvPr id="8" name="TextBox 8"/>
            <p:cNvSpPr txBox="1"/>
            <p:nvPr/>
          </p:nvSpPr>
          <p:spPr>
            <a:xfrm>
              <a:off x="742950" y="7132320"/>
              <a:ext cx="6896100" cy="1905000"/>
            </a:xfrm>
            <a:prstGeom prst="rect">
              <a:avLst/>
            </a:prstGeom>
            <a:noFill/>
            <a:ln>
              <a:noFill/>
            </a:ln>
          </p:spPr>
          <p:txBody>
            <a:bodyPr wrap="none" lIns="0" tIns="0" rIns="0" bIns="0" anchor="t" anchorCtr="0">
              <a:spAutoFit/>
            </a:bodyPr>
            <a:lstStyle/>
            <a:p>
              <a:pPr algn="l">
                <a:lnSpc>
                  <a:spcPts val="6750"/>
                </a:lnSpc>
              </a:pPr>
              <a:r>
                <a:rPr lang="zh-CN" sz="5400" dirty="0">
                  <a:solidFill>
                    <a:schemeClr val="accent1"/>
                  </a:solidFill>
                  <a:latin typeface="+mj-lt"/>
                  <a:ea typeface="+mj-ea"/>
                  <a:cs typeface="+mj-cs"/>
                </a:rPr>
                <a:t>立秋到霜降</a:t>
              </a:r>
              <a:br/>
              <a:r>
                <a:rPr lang="zh-CN" sz="5400" dirty="0">
                  <a:solidFill>
                    <a:schemeClr val="accent1"/>
                  </a:solidFill>
                  <a:latin typeface="+mj-lt"/>
                  <a:ea typeface="+mj-ea"/>
                  <a:cs typeface="+mj-cs"/>
                </a:rPr>
                <a:t>六个可以分别过的日子</a:t>
              </a:r>
            </a:p>
          </p:txBody>
        </p:sp>
      </p:grpSp>
      <p:grpSp>
        <p:nvGrpSpPr>
          <p:cNvPr id="12" name="Group 12"/>
          <p:cNvGrpSpPr/>
          <p:nvPr/>
        </p:nvGrpSpPr>
        <p:grpSpPr>
          <a:xfrm>
            <a:off x="745236" y="9073515"/>
            <a:ext cx="4942446" cy="1138047"/>
            <a:chOff x="745236" y="9073515"/>
            <a:chExt cx="4942446" cy="1138047"/>
          </a:xfrm>
        </p:grpSpPr>
        <p:sp>
          <p:nvSpPr>
            <p:cNvPr id="10" name="TextBox 10"/>
            <p:cNvSpPr txBox="1"/>
            <p:nvPr/>
          </p:nvSpPr>
          <p:spPr>
            <a:xfrm>
              <a:off x="745236" y="9073515"/>
              <a:ext cx="494244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2026.8.7 — 2026.10.23</a:t>
              </a:r>
            </a:p>
          </p:txBody>
        </p:sp>
        <p:sp>
          <p:nvSpPr>
            <p:cNvPr id="11" name="TextBox 11"/>
            <p:cNvSpPr txBox="1"/>
            <p:nvPr/>
          </p:nvSpPr>
          <p:spPr>
            <a:xfrm>
              <a:off x="749808" y="9742170"/>
              <a:ext cx="487070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日期与三候原文均有出处，见末页</a:t>
              </a:r>
            </a:p>
          </p:txBody>
        </p:sp>
      </p:grpSp>
      <p:grpSp>
        <p:nvGrpSpPr>
          <p:cNvPr id="19" name="Group 19"/>
          <p:cNvGrpSpPr/>
          <p:nvPr/>
        </p:nvGrpSpPr>
        <p:grpSpPr>
          <a:xfrm>
            <a:off x="978408" y="10953750"/>
            <a:ext cx="8470392" cy="5353812"/>
            <a:chOff x="978408" y="10953750"/>
            <a:chExt cx="8470392" cy="5353812"/>
          </a:xfrm>
        </p:grpSpPr>
        <p:sp>
          <p:nvSpPr>
            <p:cNvPr id="13" name="Freeform 13"/>
            <p:cNvSpPr/>
            <p:nvPr/>
          </p:nvSpPr>
          <p:spPr>
            <a:xfrm>
              <a:off x="990600" y="11239500"/>
              <a:ext cx="8458200" cy="914400"/>
            </a:xfrm>
            <a:custGeom>
              <a:avLst/>
              <a:gdLst/>
              <a:ahLst/>
              <a:cxnLst/>
              <a:rect l="l" t="t" r="r" b="b"/>
              <a:pathLst>
                <a:path w="8458200" h="914400">
                  <a:moveTo>
                    <a:pt x="0" y="533400"/>
                  </a:moveTo>
                  <a:cubicBezTo>
                    <a:pt x="1562100" y="171450"/>
                    <a:pt x="2838450" y="914400"/>
                    <a:pt x="4305300" y="495300"/>
                  </a:cubicBezTo>
                  <a:cubicBezTo>
                    <a:pt x="5772150" y="76200"/>
                    <a:pt x="7086600" y="0"/>
                    <a:pt x="8458200" y="628650"/>
                  </a:cubicBezTo>
                </a:path>
              </a:pathLst>
            </a:custGeom>
            <a:noFill/>
            <a:ln w="28575" cap="rnd">
              <a:solidFill>
                <a:schemeClr val="accent6"/>
              </a:solidFill>
              <a:custDash>
                <a:ds d="266667" sp="333333"/>
              </a:custDash>
            </a:ln>
          </p:spPr>
        </p:sp>
        <p:pic>
          <p:nvPicPr>
            <p:cNvPr id="14" name="Image 14"/>
            <p:cNvPicPr>
              <a:picLocks noChangeAspect="1"/>
            </p:cNvPicPr>
            <p:nvPr/>
          </p:nvPicPr>
          <p:blipFill>
            <a:blip r:embed="rId3"/>
            <a:stretch>
              <a:fillRect/>
            </a:stretch>
          </p:blipFill>
          <p:spPr>
            <a:xfrm>
              <a:off x="6724650" y="10953750"/>
              <a:ext cx="2286000" cy="1819275"/>
            </a:xfrm>
            <a:prstGeom prst="rect">
              <a:avLst/>
            </a:prstGeom>
          </p:spPr>
        </p:pic>
        <p:pic>
          <p:nvPicPr>
            <p:cNvPr id="15" name="Image 15"/>
            <p:cNvPicPr>
              <a:picLocks noChangeAspect="1"/>
            </p:cNvPicPr>
            <p:nvPr/>
          </p:nvPicPr>
          <p:blipFill>
            <a:blip r:embed="rId4"/>
            <a:stretch>
              <a:fillRect/>
            </a:stretch>
          </p:blipFill>
          <p:spPr>
            <a:xfrm>
              <a:off x="990600" y="12668250"/>
              <a:ext cx="2857500" cy="2676525"/>
            </a:xfrm>
            <a:prstGeom prst="rect">
              <a:avLst/>
            </a:prstGeom>
          </p:spPr>
        </p:pic>
        <p:pic>
          <p:nvPicPr>
            <p:cNvPr id="16" name="Image 16"/>
            <p:cNvPicPr>
              <a:picLocks noChangeAspect="1"/>
            </p:cNvPicPr>
            <p:nvPr/>
          </p:nvPicPr>
          <p:blipFill>
            <a:blip r:embed="rId5"/>
            <a:stretch>
              <a:fillRect/>
            </a:stretch>
          </p:blipFill>
          <p:spPr>
            <a:xfrm>
              <a:off x="4305300" y="12877800"/>
              <a:ext cx="1809750" cy="1800225"/>
            </a:xfrm>
            <a:prstGeom prst="rect">
              <a:avLst/>
            </a:prstGeom>
          </p:spPr>
        </p:pic>
        <p:pic>
          <p:nvPicPr>
            <p:cNvPr id="17" name="Image 17"/>
            <p:cNvPicPr>
              <a:picLocks noChangeAspect="1"/>
            </p:cNvPicPr>
            <p:nvPr/>
          </p:nvPicPr>
          <p:blipFill>
            <a:blip r:embed="rId6"/>
            <a:stretch>
              <a:fillRect/>
            </a:stretch>
          </p:blipFill>
          <p:spPr>
            <a:xfrm>
              <a:off x="7239000" y="14287500"/>
              <a:ext cx="1905000" cy="1914525"/>
            </a:xfrm>
            <a:prstGeom prst="rect">
              <a:avLst/>
            </a:prstGeom>
          </p:spPr>
        </p:pic>
        <p:sp>
          <p:nvSpPr>
            <p:cNvPr id="18" name="TextBox 18"/>
            <p:cNvSpPr txBox="1"/>
            <p:nvPr/>
          </p:nvSpPr>
          <p:spPr>
            <a:xfrm>
              <a:off x="978408" y="15838170"/>
              <a:ext cx="6809232"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秋天不是一整块，它有六个可以分别过的日子。</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37"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anim calcmode="lin" valueType="num">
                                      <p:cBhvr>
                                        <p:cTn id="8" dur="600" fill="hold"/>
                                        <p:tgtEl>
                                          <p:spTgt spid="7"/>
                                        </p:tgtEl>
                                        <p:attrNameLst>
                                          <p:attrName>ppt_x</p:attrName>
                                        </p:attrNameLst>
                                      </p:cBhvr>
                                      <p:tavLst>
                                        <p:tav tm="0">
                                          <p:val>
                                            <p:strVal val="#ppt_x"/>
                                          </p:val>
                                        </p:tav>
                                        <p:tav tm="100000">
                                          <p:val>
                                            <p:strVal val="#ppt_x"/>
                                          </p:val>
                                        </p:tav>
                                      </p:tavLst>
                                    </p:anim>
                                    <p:anim calcmode="lin" valueType="num">
                                      <p:cBhvr>
                                        <p:cTn id="9" dur="540" decel="100000" fill="hold"/>
                                        <p:tgtEl>
                                          <p:spTgt spid="7"/>
                                        </p:tgtEl>
                                        <p:attrNameLst>
                                          <p:attrName>ppt_y</p:attrName>
                                        </p:attrNameLst>
                                      </p:cBhvr>
                                      <p:tavLst>
                                        <p:tav tm="0">
                                          <p:val>
                                            <p:strVal val="#ppt_y+1"/>
                                          </p:val>
                                        </p:tav>
                                        <p:tav tm="100000">
                                          <p:val>
                                            <p:strVal val="#ppt_y-.03"/>
                                          </p:val>
                                        </p:tav>
                                      </p:tavLst>
                                    </p:anim>
                                    <p:anim calcmode="lin" valueType="num">
                                      <p:cBhvr>
                                        <p:cTn id="10"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childTnLst>
                          </p:cTn>
                        </p:par>
                        <p:par>
                          <p:cTn id="11" fill="hold">
                            <p:stCondLst>
                              <p:cond delay="600"/>
                            </p:stCondLst>
                            <p:childTnLst>
                              <p:par>
                                <p:cTn xmlns:p="http://schemas.openxmlformats.org/presentationml/2006/main" id="12" presetID="30" presetClass="entr" presetSubtype="0" fill="hold" grpId="0" nodeType="afterEffect">
                                  <p:stCondLst>
                                    <p:cond delay="20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640" decel="100000"/>
                                        <p:tgtEl>
                                          <p:spTgt spid="19"/>
                                        </p:tgtEl>
                                      </p:cBhvr>
                                    </p:animEffect>
                                    <p:anim calcmode="lin" valueType="num">
                                      <p:cBhvr>
                                        <p:cTn id="15" dur="640" decel="100000" fill="hold"/>
                                        <p:tgtEl>
                                          <p:spTgt spid="19"/>
                                        </p:tgtEl>
                                        <p:attrNameLst>
                                          <p:attrName>style.rotation</p:attrName>
                                        </p:attrNameLst>
                                      </p:cBhvr>
                                      <p:tavLst>
                                        <p:tav tm="0">
                                          <p:val>
                                            <p:fltVal val="-90"/>
                                          </p:val>
                                        </p:tav>
                                        <p:tav tm="100000">
                                          <p:val>
                                            <p:fltVal val="0"/>
                                          </p:val>
                                        </p:tav>
                                      </p:tavLst>
                                    </p:anim>
                                    <p:anim calcmode="lin" valueType="num">
                                      <p:cBhvr>
                                        <p:cTn id="16" dur="640" decel="100000" fill="hold"/>
                                        <p:tgtEl>
                                          <p:spTgt spid="19"/>
                                        </p:tgtEl>
                                        <p:attrNameLst>
                                          <p:attrName>ppt_x</p:attrName>
                                        </p:attrNameLst>
                                      </p:cBhvr>
                                      <p:tavLst>
                                        <p:tav tm="0">
                                          <p:val>
                                            <p:strVal val="#ppt_x+0.4"/>
                                          </p:val>
                                        </p:tav>
                                        <p:tav tm="100000">
                                          <p:val>
                                            <p:strVal val="#ppt_x-0.05"/>
                                          </p:val>
                                        </p:tav>
                                      </p:tavLst>
                                    </p:anim>
                                    <p:anim calcmode="lin" valueType="num">
                                      <p:cBhvr>
                                        <p:cTn id="17" dur="640" decel="100000" fill="hold"/>
                                        <p:tgtEl>
                                          <p:spTgt spid="19"/>
                                        </p:tgtEl>
                                        <p:attrNameLst>
                                          <p:attrName>ppt_y</p:attrName>
                                        </p:attrNameLst>
                                      </p:cBhvr>
                                      <p:tavLst>
                                        <p:tav tm="0">
                                          <p:val>
                                            <p:strVal val="#ppt_y-0.4"/>
                                          </p:val>
                                        </p:tav>
                                        <p:tav tm="100000">
                                          <p:val>
                                            <p:strVal val="#ppt_y+0.1"/>
                                          </p:val>
                                        </p:tav>
                                      </p:tavLst>
                                    </p:anim>
                                    <p:anim calcmode="lin" valueType="num">
                                      <p:cBhvr>
                                        <p:cTn id="18" dur="160" accel="100000" fill="hold">
                                          <p:stCondLst>
                                            <p:cond delay="640"/>
                                          </p:stCondLst>
                                        </p:cTn>
                                        <p:tgtEl>
                                          <p:spTgt spid="19"/>
                                        </p:tgtEl>
                                        <p:attrNameLst>
                                          <p:attrName>ppt_x</p:attrName>
                                        </p:attrNameLst>
                                      </p:cBhvr>
                                      <p:tavLst>
                                        <p:tav tm="0">
                                          <p:val>
                                            <p:strVal val="#ppt_x-0.05"/>
                                          </p:val>
                                        </p:tav>
                                        <p:tav tm="100000">
                                          <p:val>
                                            <p:strVal val="#ppt_x"/>
                                          </p:val>
                                        </p:tav>
                                      </p:tavLst>
                                    </p:anim>
                                    <p:anim calcmode="lin" valueType="num">
                                      <p:cBhvr>
                                        <p:cTn id="19" dur="160" accel="100000" fill="hold">
                                          <p:stCondLst>
                                            <p:cond delay="640"/>
                                          </p:stCondLst>
                                        </p:cTn>
                                        <p:tgtEl>
                                          <p:spTgt spid="1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5" name="Group 5"/>
          <p:cNvGrpSpPr/>
          <p:nvPr/>
        </p:nvGrpSpPr>
        <p:grpSpPr>
          <a:xfrm>
            <a:off x="742950" y="1758315"/>
            <a:ext cx="7505700" cy="2118360"/>
            <a:chOff x="742950" y="1758315"/>
            <a:chExt cx="7505700" cy="2118360"/>
          </a:xfrm>
        </p:grpSpPr>
        <p:sp>
          <p:nvSpPr>
            <p:cNvPr id="2" name="TextBox 2"/>
            <p:cNvSpPr txBox="1"/>
            <p:nvPr/>
          </p:nvSpPr>
          <p:spPr>
            <a:xfrm>
              <a:off x="745236" y="1758315"/>
              <a:ext cx="922020"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引子</a:t>
              </a:r>
            </a:p>
          </p:txBody>
        </p:sp>
        <p:sp>
          <p:nvSpPr>
            <p:cNvPr id="3" name="TextBox 3"/>
            <p:cNvSpPr txBox="1"/>
            <p:nvPr/>
          </p:nvSpPr>
          <p:spPr>
            <a:xfrm>
              <a:off x="742950" y="2428875"/>
              <a:ext cx="7505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一个节气，三候</a:t>
              </a:r>
            </a:p>
          </p:txBody>
        </p:sp>
        <p:sp>
          <p:nvSpPr>
            <p:cNvPr id="4" name="Freeform 4"/>
            <p:cNvSpPr/>
            <p:nvPr/>
          </p:nvSpPr>
          <p:spPr>
            <a:xfrm>
              <a:off x="800100" y="3448050"/>
              <a:ext cx="6267450" cy="171450"/>
            </a:xfrm>
            <a:custGeom>
              <a:avLst/>
              <a:gdLst/>
              <a:ahLst/>
              <a:cxnLst/>
              <a:rect l="l" t="t" r="r" b="b"/>
              <a:pathLst>
                <a:path w="6267450" h="171450">
                  <a:moveTo>
                    <a:pt x="0" y="95250"/>
                  </a:moveTo>
                  <a:cubicBezTo>
                    <a:pt x="1143000" y="38100"/>
                    <a:pt x="2019300" y="171450"/>
                    <a:pt x="3200400" y="85725"/>
                  </a:cubicBezTo>
                  <a:cubicBezTo>
                    <a:pt x="4381500" y="0"/>
                    <a:pt x="5143500" y="19050"/>
                    <a:pt x="6267450" y="142875"/>
                  </a:cubicBezTo>
                </a:path>
              </a:pathLst>
            </a:custGeom>
            <a:noFill/>
            <a:ln w="47625" cap="rnd">
              <a:solidFill>
                <a:schemeClr val="accent2"/>
              </a:solidFill>
            </a:ln>
          </p:spPr>
        </p:sp>
      </p:grpSp>
      <p:grpSp>
        <p:nvGrpSpPr>
          <p:cNvPr id="8" name="Group 8"/>
          <p:cNvGrpSpPr/>
          <p:nvPr/>
        </p:nvGrpSpPr>
        <p:grpSpPr>
          <a:xfrm>
            <a:off x="762000" y="4191000"/>
            <a:ext cx="8572500" cy="4476750"/>
            <a:chOff x="762000" y="4191000"/>
            <a:chExt cx="8572500" cy="4476750"/>
          </a:xfrm>
        </p:grpSpPr>
        <p:sp>
          <p:nvSpPr>
            <p:cNvPr id="6" name="Freeform 6"/>
            <p:cNvSpPr/>
            <p:nvPr/>
          </p:nvSpPr>
          <p:spPr>
            <a:xfrm>
              <a:off x="762000" y="4191000"/>
              <a:ext cx="8572500" cy="4476750"/>
            </a:xfrm>
            <a:prstGeom prst="cloudCallout">
              <a:avLst>
                <a:gd name="adj1" fmla="val -30000"/>
                <a:gd name="adj2" fmla="val 62000"/>
              </a:avLst>
            </a:prstGeom>
            <a:solidFill>
              <a:srgbClr val="FFFFFF">
                <a:alpha val="0"/>
              </a:srgbClr>
            </a:solidFill>
            <a:ln w="38100">
              <a:solidFill>
                <a:schemeClr val="dk1"/>
              </a:solidFill>
              <a:round/>
            </a:ln>
          </p:spPr>
        </p:sp>
        <p:sp>
          <p:nvSpPr>
            <p:cNvPr id="7" name="TextBox 7"/>
            <p:cNvSpPr txBox="1"/>
            <p:nvPr/>
          </p:nvSpPr>
          <p:spPr>
            <a:xfrm>
              <a:off x="3257550" y="5623560"/>
              <a:ext cx="3771900" cy="2495550"/>
            </a:xfrm>
            <a:prstGeom prst="rect">
              <a:avLst/>
            </a:prstGeom>
            <a:noFill/>
            <a:ln>
              <a:noFill/>
            </a:ln>
          </p:spPr>
          <p:txBody>
            <a:bodyPr wrap="none" lIns="0" tIns="0" rIns="0" bIns="0" anchor="t" anchorCtr="0">
              <a:spAutoFit/>
            </a:bodyPr>
            <a:lstStyle/>
            <a:p>
              <a:pPr algn="ctr">
                <a:lnSpc>
                  <a:spcPts val="6600"/>
                </a:lnSpc>
              </a:pPr>
              <a:r>
                <a:rPr lang="zh-CN" sz="4200" dirty="0">
                  <a:solidFill>
                    <a:schemeClr val="dk1"/>
                  </a:solidFill>
                  <a:latin typeface="+mn-lt"/>
                  <a:ea typeface="+mn-ea"/>
                  <a:cs typeface="+mn-cs"/>
                </a:rPr>
                <a:t>节气不只是日期</a:t>
              </a:r>
              <a:br/>
              <a:r>
                <a:rPr lang="zh-CN" sz="4200" dirty="0">
                  <a:solidFill>
                    <a:schemeClr val="dk1"/>
                  </a:solidFill>
                  <a:latin typeface="+mn-lt"/>
                  <a:ea typeface="+mn-ea"/>
                  <a:cs typeface="+mn-cs"/>
                </a:rPr>
                <a:t>它自带一套五天</a:t>
              </a:r>
              <a:br/>
              <a:r>
                <a:rPr lang="zh-CN" sz="4200" dirty="0">
                  <a:solidFill>
                    <a:schemeClr val="dk1"/>
                  </a:solidFill>
                  <a:latin typeface="+mn-lt"/>
                  <a:ea typeface="+mn-ea"/>
                  <a:cs typeface="+mn-cs"/>
                </a:rPr>
                <a:t>一变的物候观察</a:t>
              </a:r>
            </a:p>
          </p:txBody>
        </p:sp>
      </p:grpSp>
      <p:grpSp>
        <p:nvGrpSpPr>
          <p:cNvPr id="21" name="Group 21"/>
          <p:cNvGrpSpPr/>
          <p:nvPr/>
        </p:nvGrpSpPr>
        <p:grpSpPr>
          <a:xfrm>
            <a:off x="745236" y="10273665"/>
            <a:ext cx="8398764" cy="3133725"/>
            <a:chOff x="745236" y="10273665"/>
            <a:chExt cx="8398764" cy="3133725"/>
          </a:xfrm>
        </p:grpSpPr>
        <p:sp>
          <p:nvSpPr>
            <p:cNvPr id="9" name="TextBox 9"/>
            <p:cNvSpPr txBox="1"/>
            <p:nvPr/>
          </p:nvSpPr>
          <p:spPr>
            <a:xfrm>
              <a:off x="745236" y="10273665"/>
              <a:ext cx="4920234"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五日为一候，三候为一气</a:t>
              </a:r>
            </a:p>
          </p:txBody>
        </p:sp>
        <p:sp>
          <p:nvSpPr>
            <p:cNvPr id="10" name="Freeform 10"/>
            <p:cNvSpPr/>
            <p:nvPr/>
          </p:nvSpPr>
          <p:spPr>
            <a:xfrm>
              <a:off x="1143000" y="10953750"/>
              <a:ext cx="8001000" cy="1714500"/>
            </a:xfrm>
            <a:prstGeom prst="bracketPair">
              <a:avLst/>
            </a:prstGeom>
            <a:noFill/>
            <a:ln w="38100">
              <a:solidFill>
                <a:schemeClr val="accent1"/>
              </a:solidFill>
            </a:ln>
          </p:spPr>
        </p:sp>
        <p:grpSp>
          <p:nvGrpSpPr>
            <p:cNvPr id="19" name="Group 19"/>
            <p:cNvGrpSpPr/>
            <p:nvPr/>
          </p:nvGrpSpPr>
          <p:grpSpPr>
            <a:xfrm>
              <a:off x="2266950" y="11229975"/>
              <a:ext cx="5781675" cy="1162050"/>
              <a:chOff x="2266950" y="11229975"/>
              <a:chExt cx="5781675" cy="1162050"/>
            </a:xfrm>
          </p:grpSpPr>
          <p:sp>
            <p:nvSpPr>
              <p:cNvPr id="11" name="Freeform 11"/>
              <p:cNvSpPr/>
              <p:nvPr/>
            </p:nvSpPr>
            <p:spPr>
              <a:xfrm>
                <a:off x="2266950" y="11239500"/>
                <a:ext cx="1219200" cy="1143000"/>
              </a:xfrm>
              <a:custGeom>
                <a:avLst/>
                <a:gdLst/>
                <a:ahLst/>
                <a:cxnLst/>
                <a:rect l="l" t="t" r="r" b="b"/>
                <a:pathLst>
                  <a:path w="1219200" h="1143000">
                    <a:moveTo>
                      <a:pt x="590550" y="0"/>
                    </a:moveTo>
                    <a:cubicBezTo>
                      <a:pt x="971550" y="0"/>
                      <a:pt x="1219200" y="285750"/>
                      <a:pt x="1200150" y="571500"/>
                    </a:cubicBezTo>
                    <a:cubicBezTo>
                      <a:pt x="1181100" y="876300"/>
                      <a:pt x="933450" y="1143000"/>
                      <a:pt x="590550" y="1133475"/>
                    </a:cubicBezTo>
                    <a:cubicBezTo>
                      <a:pt x="247650" y="1123950"/>
                      <a:pt x="0" y="857250"/>
                      <a:pt x="0" y="571500"/>
                    </a:cubicBezTo>
                    <a:cubicBezTo>
                      <a:pt x="0" y="266700"/>
                      <a:pt x="228600" y="9525"/>
                      <a:pt x="590550" y="0"/>
                    </a:cubicBezTo>
                    <a:close/>
                  </a:path>
                </a:pathLst>
              </a:custGeom>
              <a:noFill/>
              <a:ln w="38100">
                <a:solidFill>
                  <a:schemeClr val="dk1"/>
                </a:solidFill>
              </a:ln>
            </p:spPr>
          </p:sp>
          <p:sp>
            <p:nvSpPr>
              <p:cNvPr id="12" name="TextBox 12"/>
              <p:cNvSpPr txBox="1"/>
              <p:nvPr/>
            </p:nvSpPr>
            <p:spPr>
              <a:xfrm>
                <a:off x="2396490" y="11607165"/>
                <a:ext cx="922020"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一候</a:t>
                </a:r>
              </a:p>
            </p:txBody>
          </p:sp>
          <p:sp>
            <p:nvSpPr>
              <p:cNvPr id="13" name="Freeform 13"/>
              <p:cNvSpPr/>
              <p:nvPr/>
            </p:nvSpPr>
            <p:spPr>
              <a:xfrm>
                <a:off x="4552950" y="11229975"/>
                <a:ext cx="1219200" cy="1162050"/>
              </a:xfrm>
              <a:custGeom>
                <a:avLst/>
                <a:gdLst/>
                <a:ahLst/>
                <a:cxnLst/>
                <a:rect l="l" t="t" r="r" b="b"/>
                <a:pathLst>
                  <a:path w="1219200" h="1162050">
                    <a:moveTo>
                      <a:pt x="590550" y="19050"/>
                    </a:moveTo>
                    <a:cubicBezTo>
                      <a:pt x="952500" y="0"/>
                      <a:pt x="1219200" y="276225"/>
                      <a:pt x="1209675" y="581025"/>
                    </a:cubicBezTo>
                    <a:cubicBezTo>
                      <a:pt x="1200150" y="895350"/>
                      <a:pt x="952500" y="1162050"/>
                      <a:pt x="590550" y="1143000"/>
                    </a:cubicBezTo>
                    <a:cubicBezTo>
                      <a:pt x="247650" y="1123950"/>
                      <a:pt x="0" y="876300"/>
                      <a:pt x="0" y="581025"/>
                    </a:cubicBezTo>
                    <a:cubicBezTo>
                      <a:pt x="0" y="285750"/>
                      <a:pt x="228600" y="28575"/>
                      <a:pt x="590550" y="19050"/>
                    </a:cubicBezTo>
                    <a:close/>
                  </a:path>
                </a:pathLst>
              </a:custGeom>
              <a:noFill/>
              <a:ln w="38100">
                <a:solidFill>
                  <a:schemeClr val="dk1"/>
                </a:solidFill>
              </a:ln>
            </p:spPr>
          </p:sp>
          <p:sp>
            <p:nvSpPr>
              <p:cNvPr id="14" name="TextBox 14"/>
              <p:cNvSpPr txBox="1"/>
              <p:nvPr/>
            </p:nvSpPr>
            <p:spPr>
              <a:xfrm>
                <a:off x="4682490" y="11607165"/>
                <a:ext cx="922020"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二候</a:t>
                </a:r>
              </a:p>
            </p:txBody>
          </p:sp>
          <p:sp>
            <p:nvSpPr>
              <p:cNvPr id="15" name="Freeform 15"/>
              <p:cNvSpPr/>
              <p:nvPr/>
            </p:nvSpPr>
            <p:spPr>
              <a:xfrm>
                <a:off x="6848475" y="11239500"/>
                <a:ext cx="1200150" cy="1143000"/>
              </a:xfrm>
              <a:custGeom>
                <a:avLst/>
                <a:gdLst/>
                <a:ahLst/>
                <a:cxnLst/>
                <a:rect l="l" t="t" r="r" b="b"/>
                <a:pathLst>
                  <a:path w="1200150" h="1143000">
                    <a:moveTo>
                      <a:pt x="581025" y="0"/>
                    </a:moveTo>
                    <a:cubicBezTo>
                      <a:pt x="942975" y="9525"/>
                      <a:pt x="1200150" y="276225"/>
                      <a:pt x="1190625" y="581025"/>
                    </a:cubicBezTo>
                    <a:cubicBezTo>
                      <a:pt x="1181100" y="885825"/>
                      <a:pt x="923925" y="1143000"/>
                      <a:pt x="581025" y="1133475"/>
                    </a:cubicBezTo>
                    <a:cubicBezTo>
                      <a:pt x="238125" y="1123950"/>
                      <a:pt x="0" y="857250"/>
                      <a:pt x="0" y="561975"/>
                    </a:cubicBezTo>
                    <a:cubicBezTo>
                      <a:pt x="0" y="266700"/>
                      <a:pt x="238125" y="0"/>
                      <a:pt x="581025" y="0"/>
                    </a:cubicBezTo>
                    <a:close/>
                  </a:path>
                </a:pathLst>
              </a:custGeom>
              <a:noFill/>
              <a:ln w="38100">
                <a:solidFill>
                  <a:schemeClr val="dk1"/>
                </a:solidFill>
              </a:ln>
            </p:spPr>
          </p:sp>
          <p:sp>
            <p:nvSpPr>
              <p:cNvPr id="16" name="TextBox 16"/>
              <p:cNvSpPr txBox="1"/>
              <p:nvPr/>
            </p:nvSpPr>
            <p:spPr>
              <a:xfrm>
                <a:off x="6968490" y="11607165"/>
                <a:ext cx="922020"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三候</a:t>
                </a:r>
              </a:p>
            </p:txBody>
          </p:sp>
          <p:sp>
            <p:nvSpPr>
              <p:cNvPr id="17" name="Freeform 17"/>
              <p:cNvSpPr/>
              <p:nvPr/>
            </p:nvSpPr>
            <p:spPr>
              <a:xfrm>
                <a:off x="3543300" y="11811000"/>
                <a:ext cx="914400" cy="9525"/>
              </a:xfrm>
              <a:custGeom>
                <a:avLst/>
                <a:gdLst/>
                <a:ahLst/>
                <a:cxnLst/>
                <a:rect l="l" t="t" r="r" b="b"/>
                <a:pathLst>
                  <a:path w="914400" h="9525">
                    <a:moveTo>
                      <a:pt x="0" y="0"/>
                    </a:moveTo>
                    <a:lnTo>
                      <a:pt x="914400" y="0"/>
                    </a:lnTo>
                  </a:path>
                </a:pathLst>
              </a:custGeom>
              <a:solidFill>
                <a:srgbClr val="000000"/>
              </a:solidFill>
              <a:ln w="38100" cap="rnd">
                <a:solidFill>
                  <a:schemeClr val="accent6"/>
                </a:solidFill>
                <a:custDash>
                  <a:ds d="200000" sp="200000"/>
                </a:custDash>
              </a:ln>
            </p:spPr>
          </p:sp>
          <p:sp>
            <p:nvSpPr>
              <p:cNvPr id="18" name="Freeform 18"/>
              <p:cNvSpPr/>
              <p:nvPr/>
            </p:nvSpPr>
            <p:spPr>
              <a:xfrm>
                <a:off x="5829300" y="11811000"/>
                <a:ext cx="933450" cy="9525"/>
              </a:xfrm>
              <a:custGeom>
                <a:avLst/>
                <a:gdLst/>
                <a:ahLst/>
                <a:cxnLst/>
                <a:rect l="l" t="t" r="r" b="b"/>
                <a:pathLst>
                  <a:path w="933450" h="9525">
                    <a:moveTo>
                      <a:pt x="0" y="0"/>
                    </a:moveTo>
                    <a:lnTo>
                      <a:pt x="933450" y="0"/>
                    </a:lnTo>
                  </a:path>
                </a:pathLst>
              </a:custGeom>
              <a:solidFill>
                <a:srgbClr val="000000"/>
              </a:solidFill>
              <a:ln w="38100" cap="rnd">
                <a:solidFill>
                  <a:schemeClr val="accent6"/>
                </a:solidFill>
                <a:custDash>
                  <a:ds d="200000" sp="200000"/>
                </a:custDash>
              </a:ln>
            </p:spPr>
          </p:sp>
        </p:grpSp>
        <p:sp>
          <p:nvSpPr>
            <p:cNvPr id="20" name="TextBox 20"/>
            <p:cNvSpPr txBox="1"/>
            <p:nvPr/>
          </p:nvSpPr>
          <p:spPr>
            <a:xfrm>
              <a:off x="746760" y="12820650"/>
              <a:ext cx="8107680" cy="586740"/>
            </a:xfrm>
            <a:prstGeom prst="rect">
              <a:avLst/>
            </a:prstGeom>
            <a:noFill/>
            <a:ln>
              <a:noFill/>
            </a:ln>
          </p:spPr>
          <p:txBody>
            <a:bodyPr wrap="none" lIns="0" tIns="0" rIns="0" bIns="0" anchor="t" anchorCtr="0">
              <a:spAutoFit/>
            </a:bodyPr>
            <a:lstStyle/>
            <a:p>
              <a:pPr algn="l"/>
              <a:r>
                <a:rPr lang="zh-CN" sz="3000" dirty="0">
                  <a:solidFill>
                    <a:schemeClr val="accent5"/>
                  </a:solidFill>
                  <a:latin typeface="+mn-lt"/>
                  <a:ea typeface="+mn-ea"/>
                  <a:cs typeface="+mn-cs"/>
                </a:rPr>
                <a:t>三候原文出自元代吴澄《月令七十二候集解》</a:t>
              </a:r>
            </a:p>
          </p:txBody>
        </p:sp>
      </p:grpSp>
      <p:grpSp>
        <p:nvGrpSpPr>
          <p:cNvPr id="29" name="Group 29"/>
          <p:cNvGrpSpPr/>
          <p:nvPr/>
        </p:nvGrpSpPr>
        <p:grpSpPr>
          <a:xfrm>
            <a:off x="844550" y="13721715"/>
            <a:ext cx="6906514" cy="1750314"/>
            <a:chOff x="844550" y="13721715"/>
            <a:chExt cx="6906514" cy="1750314"/>
          </a:xfrm>
        </p:grpSpPr>
        <p:grpSp>
          <p:nvGrpSpPr>
            <p:cNvPr id="27" name="Group 27"/>
            <p:cNvGrpSpPr/>
            <p:nvPr/>
          </p:nvGrpSpPr>
          <p:grpSpPr>
            <a:xfrm>
              <a:off x="844550" y="13892213"/>
              <a:ext cx="330201" cy="371476"/>
              <a:chOff x="844550" y="13892213"/>
              <a:chExt cx="330201" cy="371476"/>
            </a:xfrm>
          </p:grpSpPr>
          <p:sp>
            <p:nvSpPr>
              <p:cNvPr id="22" name="Freeform 22"/>
              <p:cNvSpPr/>
              <p:nvPr/>
            </p:nvSpPr>
            <p:spPr>
              <a:xfrm>
                <a:off x="844550" y="13933488"/>
                <a:ext cx="330201" cy="330201"/>
              </a:xfrm>
              <a:custGeom>
                <a:avLst/>
                <a:gdLst/>
                <a:ahLst/>
                <a:cxnLst/>
                <a:rect l="l" t="t" r="r" b="b"/>
                <a:pathLst>
                  <a:path w="330201" h="330201">
                    <a:moveTo>
                      <a:pt x="0" y="41275"/>
                    </a:moveTo>
                    <a:cubicBezTo>
                      <a:pt x="0" y="18479"/>
                      <a:pt x="18479" y="0"/>
                      <a:pt x="41275" y="0"/>
                    </a:cubicBezTo>
                    <a:lnTo>
                      <a:pt x="288925" y="0"/>
                    </a:lnTo>
                    <a:cubicBezTo>
                      <a:pt x="311721" y="0"/>
                      <a:pt x="330201" y="18479"/>
                      <a:pt x="330201" y="41275"/>
                    </a:cubicBezTo>
                    <a:lnTo>
                      <a:pt x="330201" y="288925"/>
                    </a:lnTo>
                    <a:cubicBezTo>
                      <a:pt x="330201" y="311721"/>
                      <a:pt x="311721" y="330201"/>
                      <a:pt x="288925" y="330201"/>
                    </a:cubicBezTo>
                    <a:lnTo>
                      <a:pt x="41275" y="330201"/>
                    </a:lnTo>
                    <a:cubicBezTo>
                      <a:pt x="18479" y="330201"/>
                      <a:pt x="0" y="311721"/>
                      <a:pt x="0" y="288925"/>
                    </a:cubicBezTo>
                    <a:lnTo>
                      <a:pt x="0" y="41275"/>
                    </a:lnTo>
                  </a:path>
                </a:pathLst>
              </a:custGeom>
              <a:noFill/>
              <a:ln w="41275">
                <a:solidFill>
                  <a:schemeClr val="accent3"/>
                </a:solidFill>
              </a:ln>
            </p:spPr>
          </p:sp>
          <p:sp>
            <p:nvSpPr>
              <p:cNvPr id="23" name="Freeform 23"/>
              <p:cNvSpPr/>
              <p:nvPr/>
            </p:nvSpPr>
            <p:spPr>
              <a:xfrm>
                <a:off x="1092201" y="13892213"/>
                <a:ext cx="9525" cy="82550"/>
              </a:xfrm>
              <a:custGeom>
                <a:avLst/>
                <a:gdLst/>
                <a:ahLst/>
                <a:cxnLst/>
                <a:rect l="l" t="t" r="r" b="b"/>
                <a:pathLst>
                  <a:path w="9525" h="82550">
                    <a:moveTo>
                      <a:pt x="0" y="0"/>
                    </a:moveTo>
                    <a:lnTo>
                      <a:pt x="0" y="82550"/>
                    </a:lnTo>
                  </a:path>
                </a:pathLst>
              </a:custGeom>
              <a:noFill/>
              <a:ln w="41275">
                <a:solidFill>
                  <a:schemeClr val="accent3"/>
                </a:solidFill>
              </a:ln>
            </p:spPr>
          </p:sp>
          <p:sp>
            <p:nvSpPr>
              <p:cNvPr id="24" name="Freeform 24"/>
              <p:cNvSpPr/>
              <p:nvPr/>
            </p:nvSpPr>
            <p:spPr>
              <a:xfrm>
                <a:off x="927100" y="13892213"/>
                <a:ext cx="9525" cy="82550"/>
              </a:xfrm>
              <a:custGeom>
                <a:avLst/>
                <a:gdLst/>
                <a:ahLst/>
                <a:cxnLst/>
                <a:rect l="l" t="t" r="r" b="b"/>
                <a:pathLst>
                  <a:path w="9525" h="82550">
                    <a:moveTo>
                      <a:pt x="0" y="0"/>
                    </a:moveTo>
                    <a:lnTo>
                      <a:pt x="0" y="82550"/>
                    </a:lnTo>
                  </a:path>
                </a:pathLst>
              </a:custGeom>
              <a:noFill/>
              <a:ln w="41275">
                <a:solidFill>
                  <a:schemeClr val="accent3"/>
                </a:solidFill>
              </a:ln>
            </p:spPr>
          </p:sp>
          <p:sp>
            <p:nvSpPr>
              <p:cNvPr id="25" name="Freeform 25"/>
              <p:cNvSpPr/>
              <p:nvPr/>
            </p:nvSpPr>
            <p:spPr>
              <a:xfrm>
                <a:off x="844550" y="14057313"/>
                <a:ext cx="330201" cy="9525"/>
              </a:xfrm>
              <a:custGeom>
                <a:avLst/>
                <a:gdLst/>
                <a:ahLst/>
                <a:cxnLst/>
                <a:rect l="l" t="t" r="r" b="b"/>
                <a:pathLst>
                  <a:path w="330201" h="9525">
                    <a:moveTo>
                      <a:pt x="0" y="0"/>
                    </a:moveTo>
                    <a:lnTo>
                      <a:pt x="330201" y="0"/>
                    </a:lnTo>
                  </a:path>
                </a:pathLst>
              </a:custGeom>
              <a:noFill/>
              <a:ln w="41275">
                <a:solidFill>
                  <a:schemeClr val="accent3"/>
                </a:solidFill>
              </a:ln>
            </p:spPr>
          </p:sp>
          <p:sp>
            <p:nvSpPr>
              <p:cNvPr id="26" name="Freeform 26"/>
              <p:cNvSpPr/>
              <p:nvPr/>
            </p:nvSpPr>
            <p:spPr>
              <a:xfrm>
                <a:off x="927100" y="14139863"/>
                <a:ext cx="41275" cy="41275"/>
              </a:xfrm>
              <a:custGeom>
                <a:avLst/>
                <a:gdLst/>
                <a:ahLst/>
                <a:cxnLst/>
                <a:rect l="l" t="t" r="r" b="b"/>
                <a:pathLst>
                  <a:path w="41275" h="41275">
                    <a:moveTo>
                      <a:pt x="0" y="0"/>
                    </a:moveTo>
                    <a:lnTo>
                      <a:pt x="41275" y="0"/>
                    </a:lnTo>
                    <a:lnTo>
                      <a:pt x="41275" y="41275"/>
                    </a:lnTo>
                    <a:lnTo>
                      <a:pt x="0" y="41275"/>
                    </a:lnTo>
                    <a:lnTo>
                      <a:pt x="0" y="0"/>
                    </a:lnTo>
                  </a:path>
                </a:pathLst>
              </a:custGeom>
              <a:noFill/>
              <a:ln w="41275">
                <a:solidFill>
                  <a:schemeClr val="accent3"/>
                </a:solidFill>
              </a:ln>
            </p:spPr>
          </p:sp>
        </p:grpSp>
        <p:sp>
          <p:nvSpPr>
            <p:cNvPr id="28" name="TextBox 28"/>
            <p:cNvSpPr txBox="1"/>
            <p:nvPr/>
          </p:nvSpPr>
          <p:spPr>
            <a:xfrm>
              <a:off x="1431036" y="13721715"/>
              <a:ext cx="6320028" cy="1750314"/>
            </a:xfrm>
            <a:prstGeom prst="rect">
              <a:avLst/>
            </a:prstGeom>
            <a:noFill/>
            <a:ln>
              <a:noFill/>
            </a:ln>
          </p:spPr>
          <p:txBody>
            <a:bodyPr wrap="none" lIns="0" tIns="0" rIns="0" bIns="0" anchor="t" anchorCtr="0">
              <a:spAutoFit/>
            </a:bodyPr>
            <a:lstStyle/>
            <a:p>
              <a:pPr algn="l">
                <a:lnSpc>
                  <a:spcPts val="4350"/>
                </a:lnSpc>
              </a:pPr>
              <a:r>
                <a:rPr lang="zh-CN" sz="3300" dirty="0">
                  <a:solidFill>
                    <a:schemeClr val="dk1"/>
                  </a:solidFill>
                  <a:latin typeface="+mn-lt"/>
                  <a:ea typeface="+mn-ea"/>
                  <a:cs typeface="+mn-cs"/>
                </a:rPr>
                <a:t>2016 年 11 月 30 日，二十四节气</a:t>
              </a:r>
              <a:br/>
              <a:r>
                <a:rPr lang="zh-CN" sz="3300" dirty="0">
                  <a:solidFill>
                    <a:schemeClr val="dk1"/>
                  </a:solidFill>
                  <a:latin typeface="+mn-lt"/>
                  <a:ea typeface="+mn-ea"/>
                  <a:cs typeface="+mn-cs"/>
                </a:rPr>
                <a:t>列入联合国教科文组织人类非物质</a:t>
              </a:r>
              <a:br/>
              <a:r>
                <a:rPr lang="zh-CN" sz="3300" dirty="0">
                  <a:solidFill>
                    <a:schemeClr val="dk1"/>
                  </a:solidFill>
                  <a:latin typeface="+mn-lt"/>
                  <a:ea typeface="+mn-ea"/>
                  <a:cs typeface="+mn-cs"/>
                </a:rPr>
                <a:t>文化遗产代表作名录。</a:t>
              </a:r>
            </a:p>
          </p:txBody>
        </p:sp>
      </p:grpSp>
      <p:grpSp>
        <p:nvGrpSpPr>
          <p:cNvPr id="32" name="Group 32"/>
          <p:cNvGrpSpPr/>
          <p:nvPr/>
        </p:nvGrpSpPr>
        <p:grpSpPr>
          <a:xfrm>
            <a:off x="745236" y="15683865"/>
            <a:ext cx="8229867" cy="699135"/>
            <a:chOff x="745236" y="15683865"/>
            <a:chExt cx="8229867" cy="699135"/>
          </a:xfrm>
        </p:grpSpPr>
        <p:sp>
          <p:nvSpPr>
            <p:cNvPr id="30" name="TextBox 30"/>
            <p:cNvSpPr txBox="1"/>
            <p:nvPr/>
          </p:nvSpPr>
          <p:spPr>
            <a:xfrm>
              <a:off x="745236" y="15683865"/>
              <a:ext cx="8229867"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每站：日期 · 三候 · 习俗 · 一件能做的事</a:t>
              </a:r>
            </a:p>
          </p:txBody>
        </p:sp>
        <p:sp>
          <p:nvSpPr>
            <p:cNvPr id="31" name="Freeform 31"/>
            <p:cNvSpPr/>
            <p:nvPr/>
          </p:nvSpPr>
          <p:spPr>
            <a:xfrm>
              <a:off x="800100" y="16211550"/>
              <a:ext cx="7105650" cy="171450"/>
            </a:xfrm>
            <a:custGeom>
              <a:avLst/>
              <a:gdLst/>
              <a:ahLst/>
              <a:cxnLst/>
              <a:rect l="l" t="t" r="r" b="b"/>
              <a:pathLst>
                <a:path w="7105650" h="171450">
                  <a:moveTo>
                    <a:pt x="0" y="95250"/>
                  </a:moveTo>
                  <a:cubicBezTo>
                    <a:pt x="1200150" y="38100"/>
                    <a:pt x="2247900" y="171450"/>
                    <a:pt x="3467100" y="85725"/>
                  </a:cubicBezTo>
                  <a:cubicBezTo>
                    <a:pt x="4686300" y="0"/>
                    <a:pt x="5867400" y="19050"/>
                    <a:pt x="7105650" y="142875"/>
                  </a:cubicBezTo>
                </a:path>
              </a:pathLst>
            </a:custGeom>
            <a:noFill/>
            <a:ln w="38100" cap="rnd">
              <a:solidFill>
                <a:schemeClr val="accent2"/>
              </a:solidFill>
            </a:ln>
          </p:spPr>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pattFill prst="pct5">
          <a:fgClr>
            <a:srgbClr val="E4D6B8"/>
          </a:fgClr>
          <a:bgClr>
            <a:schemeClr val="lt1"/>
          </a:bgClr>
        </a:pattFill>
        <a:effectLst/>
      </p:bgPr>
    </p:bg>
    <p:spTree>
      <p:nvGrpSpPr>
        <p:cNvPr id="1" name=""/>
        <p:cNvGrpSpPr/>
        <p:nvPr/>
      </p:nvGrpSpPr>
      <p:grpSpPr>
        <a:xfrm>
          <a:off x="0" y="0"/>
          <a:ext cx="0" cy="0"/>
          <a:chOff x="0" y="0"/>
          <a:chExt cx="0" cy="0"/>
        </a:xfrm>
      </p:grpSpPr>
      <p:sp>
        <p:nvSpPr>
          <p:cNvPr id="2" name="Freeform 2"/>
          <p:cNvSpPr/>
          <p:nvPr/>
        </p:nvSpPr>
        <p:spPr>
          <a:xfrm>
            <a:off x="2286000" y="4953000"/>
            <a:ext cx="5715000" cy="9525000"/>
          </a:xfrm>
          <a:custGeom>
            <a:avLst/>
            <a:gdLst/>
            <a:ahLst/>
            <a:cxnLst/>
            <a:rect l="l" t="t" r="r" b="b"/>
            <a:pathLst>
              <a:path w="5715000" h="9525000">
                <a:moveTo>
                  <a:pt x="0" y="0"/>
                </a:moveTo>
                <a:cubicBezTo>
                  <a:pt x="2095500" y="381000"/>
                  <a:pt x="3810000" y="1143000"/>
                  <a:pt x="5715000" y="1905000"/>
                </a:cubicBezTo>
                <a:cubicBezTo>
                  <a:pt x="3810000" y="2667000"/>
                  <a:pt x="2095500" y="3238500"/>
                  <a:pt x="0" y="3810000"/>
                </a:cubicBezTo>
                <a:cubicBezTo>
                  <a:pt x="2095500" y="4572000"/>
                  <a:pt x="3810000" y="5143500"/>
                  <a:pt x="5715000" y="5715000"/>
                </a:cubicBezTo>
                <a:cubicBezTo>
                  <a:pt x="3810000" y="6477000"/>
                  <a:pt x="2095500" y="7048500"/>
                  <a:pt x="0" y="7620000"/>
                </a:cubicBezTo>
                <a:cubicBezTo>
                  <a:pt x="2095500" y="8382000"/>
                  <a:pt x="3810000" y="8953500"/>
                  <a:pt x="5715000" y="9525000"/>
                </a:cubicBezTo>
              </a:path>
            </a:pathLst>
          </a:custGeom>
          <a:noFill/>
          <a:ln w="57150" cap="rnd">
            <a:solidFill>
              <a:schemeClr val="accent6"/>
            </a:solidFill>
            <a:custDash>
              <a:ds d="166667" sp="233333"/>
            </a:custDash>
          </a:ln>
        </p:spPr>
      </p:sp>
      <p:grpSp>
        <p:nvGrpSpPr>
          <p:cNvPr id="6" name="Group 6"/>
          <p:cNvGrpSpPr/>
          <p:nvPr/>
        </p:nvGrpSpPr>
        <p:grpSpPr>
          <a:xfrm>
            <a:off x="742950" y="1758315"/>
            <a:ext cx="5372100" cy="2251710"/>
            <a:chOff x="742950" y="1758315"/>
            <a:chExt cx="5372100" cy="2251710"/>
          </a:xfrm>
        </p:grpSpPr>
        <p:sp>
          <p:nvSpPr>
            <p:cNvPr id="3" name="TextBox 3"/>
            <p:cNvSpPr txBox="1"/>
            <p:nvPr/>
          </p:nvSpPr>
          <p:spPr>
            <a:xfrm>
              <a:off x="745236" y="1758315"/>
              <a:ext cx="922020"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总览</a:t>
              </a:r>
            </a:p>
          </p:txBody>
        </p:sp>
        <p:sp>
          <p:nvSpPr>
            <p:cNvPr id="4" name="TextBox 4"/>
            <p:cNvSpPr txBox="1"/>
            <p:nvPr/>
          </p:nvSpPr>
          <p:spPr>
            <a:xfrm>
              <a:off x="742950" y="2428875"/>
              <a:ext cx="53721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秋天的六站</a:t>
              </a:r>
            </a:p>
          </p:txBody>
        </p:sp>
        <p:pic>
          <p:nvPicPr>
            <p:cNvPr id="5" name="Image 5"/>
            <p:cNvPicPr>
              <a:picLocks noChangeAspect="1"/>
            </p:cNvPicPr>
            <p:nvPr/>
          </p:nvPicPr>
          <p:blipFill>
            <a:blip r:embed="rId2"/>
            <a:stretch>
              <a:fillRect/>
            </a:stretch>
          </p:blipFill>
          <p:spPr>
            <a:xfrm>
              <a:off x="774171" y="3543300"/>
              <a:ext cx="3785658" cy="466725"/>
            </a:xfrm>
            <a:prstGeom prst="rect">
              <a:avLst/>
            </a:prstGeom>
          </p:spPr>
        </p:pic>
      </p:grpSp>
      <p:grpSp>
        <p:nvGrpSpPr>
          <p:cNvPr id="11" name="!!station-liqiu"/>
          <p:cNvGrpSpPr/>
          <p:nvPr/>
        </p:nvGrpSpPr>
        <p:grpSpPr>
          <a:xfrm>
            <a:off x="1695450" y="4312920"/>
            <a:ext cx="4291927" cy="1424559"/>
            <a:chOff x="1695450" y="4312920"/>
            <a:chExt cx="4291927" cy="1424559"/>
          </a:xfrm>
        </p:grpSpPr>
        <p:sp>
          <p:nvSpPr>
            <p:cNvPr id="7" name="Freeform 7"/>
            <p:cNvSpPr/>
            <p:nvPr/>
          </p:nvSpPr>
          <p:spPr>
            <a:xfrm>
              <a:off x="1695450" y="4362450"/>
              <a:ext cx="1190625" cy="1181100"/>
            </a:xfrm>
            <a:custGeom>
              <a:avLst/>
              <a:gdLst/>
              <a:ahLst/>
              <a:cxnLst/>
              <a:rect l="l" t="t" r="r" b="b"/>
              <a:pathLst>
                <a:path w="1190625" h="1181100">
                  <a:moveTo>
                    <a:pt x="590550" y="0"/>
                  </a:moveTo>
                  <a:cubicBezTo>
                    <a:pt x="952500" y="19050"/>
                    <a:pt x="1190625" y="285750"/>
                    <a:pt x="1181100" y="600075"/>
                  </a:cubicBezTo>
                  <a:cubicBezTo>
                    <a:pt x="1171575" y="914400"/>
                    <a:pt x="914400" y="1181100"/>
                    <a:pt x="581025" y="1171575"/>
                  </a:cubicBezTo>
                  <a:cubicBezTo>
                    <a:pt x="247650" y="1162050"/>
                    <a:pt x="0" y="904875"/>
                    <a:pt x="0" y="581025"/>
                  </a:cubicBezTo>
                  <a:cubicBezTo>
                    <a:pt x="0" y="266700"/>
                    <a:pt x="247650" y="9525"/>
                    <a:pt x="590550" y="0"/>
                  </a:cubicBezTo>
                  <a:close/>
                </a:path>
              </a:pathLst>
            </a:custGeom>
            <a:solidFill>
              <a:schemeClr val="lt2"/>
            </a:solidFill>
            <a:ln w="38100">
              <a:solidFill>
                <a:schemeClr val="dk1"/>
              </a:solidFill>
            </a:ln>
          </p:spPr>
        </p:sp>
        <p:sp>
          <p:nvSpPr>
            <p:cNvPr id="8" name="TextBox 8"/>
            <p:cNvSpPr txBox="1"/>
            <p:nvPr/>
          </p:nvSpPr>
          <p:spPr>
            <a:xfrm>
              <a:off x="2102663" y="469011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1</a:t>
              </a:r>
            </a:p>
          </p:txBody>
        </p:sp>
        <p:sp>
          <p:nvSpPr>
            <p:cNvPr id="9" name="TextBox 9"/>
            <p:cNvSpPr txBox="1"/>
            <p:nvPr/>
          </p:nvSpPr>
          <p:spPr>
            <a:xfrm>
              <a:off x="3219450" y="4312920"/>
              <a:ext cx="1574292" cy="1047750"/>
            </a:xfrm>
            <a:prstGeom prst="rect">
              <a:avLst/>
            </a:prstGeom>
            <a:noFill/>
            <a:ln>
              <a:noFill/>
            </a:ln>
          </p:spPr>
          <p:txBody>
            <a:bodyPr wrap="none" lIns="0" tIns="0" rIns="0" bIns="0" anchor="t" anchorCtr="0">
              <a:spAutoFit/>
            </a:bodyPr>
            <a:lstStyle/>
            <a:p>
              <a:pPr algn="l"/>
              <a:r>
                <a:rPr lang="zh-CN" sz="5400" dirty="0">
                  <a:solidFill>
                    <a:schemeClr val="dk1"/>
                  </a:solidFill>
                  <a:latin typeface="+mj-lt"/>
                  <a:ea typeface="+mj-ea"/>
                  <a:cs typeface="+mj-cs"/>
                </a:rPr>
                <a:t>立秋</a:t>
              </a:r>
            </a:p>
          </p:txBody>
        </p:sp>
        <p:sp>
          <p:nvSpPr>
            <p:cNvPr id="10" name="TextBox 10"/>
            <p:cNvSpPr txBox="1"/>
            <p:nvPr/>
          </p:nvSpPr>
          <p:spPr>
            <a:xfrm>
              <a:off x="3221736" y="5092065"/>
              <a:ext cx="2765641"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8月7日 19:43</a:t>
              </a:r>
            </a:p>
          </p:txBody>
        </p:sp>
      </p:grpSp>
      <p:grpSp>
        <p:nvGrpSpPr>
          <p:cNvPr id="16" name="Group 16"/>
          <p:cNvGrpSpPr/>
          <p:nvPr/>
        </p:nvGrpSpPr>
        <p:grpSpPr>
          <a:xfrm>
            <a:off x="4055288" y="6217920"/>
            <a:ext cx="4545787" cy="1424559"/>
            <a:chOff x="4055288" y="6217920"/>
            <a:chExt cx="4545787" cy="1424559"/>
          </a:xfrm>
        </p:grpSpPr>
        <p:sp>
          <p:nvSpPr>
            <p:cNvPr id="12" name="Freeform 12"/>
            <p:cNvSpPr/>
            <p:nvPr/>
          </p:nvSpPr>
          <p:spPr>
            <a:xfrm>
              <a:off x="7410450" y="6267450"/>
              <a:ext cx="1190625" cy="1181100"/>
            </a:xfrm>
            <a:custGeom>
              <a:avLst/>
              <a:gdLst/>
              <a:ahLst/>
              <a:cxnLst/>
              <a:rect l="l" t="t" r="r" b="b"/>
              <a:pathLst>
                <a:path w="1190625" h="1181100">
                  <a:moveTo>
                    <a:pt x="590550" y="0"/>
                  </a:moveTo>
                  <a:cubicBezTo>
                    <a:pt x="952500" y="19050"/>
                    <a:pt x="1190625" y="285750"/>
                    <a:pt x="1181100" y="600075"/>
                  </a:cubicBezTo>
                  <a:cubicBezTo>
                    <a:pt x="1171575" y="914400"/>
                    <a:pt x="914400" y="1181100"/>
                    <a:pt x="581025" y="1171575"/>
                  </a:cubicBezTo>
                  <a:cubicBezTo>
                    <a:pt x="247650" y="1162050"/>
                    <a:pt x="0" y="904875"/>
                    <a:pt x="0" y="581025"/>
                  </a:cubicBezTo>
                  <a:cubicBezTo>
                    <a:pt x="0" y="266700"/>
                    <a:pt x="247650" y="9525"/>
                    <a:pt x="590550" y="0"/>
                  </a:cubicBezTo>
                  <a:close/>
                </a:path>
              </a:pathLst>
            </a:custGeom>
            <a:solidFill>
              <a:schemeClr val="lt2"/>
            </a:solidFill>
            <a:ln w="38100">
              <a:solidFill>
                <a:schemeClr val="dk1"/>
              </a:solidFill>
            </a:ln>
          </p:spPr>
        </p:sp>
        <p:sp>
          <p:nvSpPr>
            <p:cNvPr id="13" name="TextBox 13"/>
            <p:cNvSpPr txBox="1"/>
            <p:nvPr/>
          </p:nvSpPr>
          <p:spPr>
            <a:xfrm>
              <a:off x="7817663" y="659511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2</a:t>
              </a:r>
            </a:p>
          </p:txBody>
        </p:sp>
        <p:sp>
          <p:nvSpPr>
            <p:cNvPr id="14" name="TextBox 14"/>
            <p:cNvSpPr txBox="1"/>
            <p:nvPr/>
          </p:nvSpPr>
          <p:spPr>
            <a:xfrm>
              <a:off x="5493258" y="6217920"/>
              <a:ext cx="1574292" cy="1047750"/>
            </a:xfrm>
            <a:prstGeom prst="rect">
              <a:avLst/>
            </a:prstGeom>
            <a:noFill/>
            <a:ln>
              <a:noFill/>
            </a:ln>
          </p:spPr>
          <p:txBody>
            <a:bodyPr wrap="none" lIns="0" tIns="0" rIns="0" bIns="0" anchor="t" anchorCtr="0">
              <a:spAutoFit/>
            </a:bodyPr>
            <a:lstStyle/>
            <a:p>
              <a:pPr algn="r"/>
              <a:r>
                <a:rPr lang="zh-CN" sz="5400" dirty="0">
                  <a:solidFill>
                    <a:schemeClr val="dk1"/>
                  </a:solidFill>
                  <a:latin typeface="+mj-lt"/>
                  <a:ea typeface="+mj-ea"/>
                  <a:cs typeface="+mj-cs"/>
                </a:rPr>
                <a:t>处暑</a:t>
              </a:r>
            </a:p>
          </p:txBody>
        </p:sp>
        <p:sp>
          <p:nvSpPr>
            <p:cNvPr id="15" name="TextBox 15"/>
            <p:cNvSpPr txBox="1"/>
            <p:nvPr/>
          </p:nvSpPr>
          <p:spPr>
            <a:xfrm>
              <a:off x="4055288" y="6997065"/>
              <a:ext cx="3009976" cy="645414"/>
            </a:xfrm>
            <a:prstGeom prst="rect">
              <a:avLst/>
            </a:prstGeom>
            <a:noFill/>
            <a:ln>
              <a:noFill/>
            </a:ln>
          </p:spPr>
          <p:txBody>
            <a:bodyPr wrap="none" lIns="0" tIns="0" rIns="0" bIns="0" anchor="t" anchorCtr="0">
              <a:spAutoFit/>
            </a:bodyPr>
            <a:lstStyle/>
            <a:p>
              <a:pPr algn="r"/>
              <a:r>
                <a:rPr lang="zh-CN" sz="3300" dirty="0">
                  <a:solidFill>
                    <a:schemeClr val="accent5"/>
                  </a:solidFill>
                  <a:latin typeface="+mn-lt"/>
                  <a:ea typeface="+mn-ea"/>
                  <a:cs typeface="+mn-cs"/>
                </a:rPr>
                <a:t>8月23日 10:19</a:t>
              </a:r>
            </a:p>
          </p:txBody>
        </p:sp>
      </p:grpSp>
      <p:grpSp>
        <p:nvGrpSpPr>
          <p:cNvPr id="21" name="Group 21"/>
          <p:cNvGrpSpPr/>
          <p:nvPr/>
        </p:nvGrpSpPr>
        <p:grpSpPr>
          <a:xfrm>
            <a:off x="1695450" y="8122920"/>
            <a:ext cx="4291927" cy="1424559"/>
            <a:chOff x="1695450" y="8122920"/>
            <a:chExt cx="4291927" cy="1424559"/>
          </a:xfrm>
        </p:grpSpPr>
        <p:sp>
          <p:nvSpPr>
            <p:cNvPr id="17" name="Freeform 17"/>
            <p:cNvSpPr/>
            <p:nvPr/>
          </p:nvSpPr>
          <p:spPr>
            <a:xfrm>
              <a:off x="1695450" y="8172450"/>
              <a:ext cx="1190625" cy="1181100"/>
            </a:xfrm>
            <a:custGeom>
              <a:avLst/>
              <a:gdLst/>
              <a:ahLst/>
              <a:cxnLst/>
              <a:rect l="l" t="t" r="r" b="b"/>
              <a:pathLst>
                <a:path w="1190625" h="1181100">
                  <a:moveTo>
                    <a:pt x="590550" y="0"/>
                  </a:moveTo>
                  <a:cubicBezTo>
                    <a:pt x="952500" y="19050"/>
                    <a:pt x="1190625" y="285750"/>
                    <a:pt x="1181100" y="600075"/>
                  </a:cubicBezTo>
                  <a:cubicBezTo>
                    <a:pt x="1171575" y="914400"/>
                    <a:pt x="914400" y="1181100"/>
                    <a:pt x="581025" y="1171575"/>
                  </a:cubicBezTo>
                  <a:cubicBezTo>
                    <a:pt x="247650" y="1162050"/>
                    <a:pt x="0" y="904875"/>
                    <a:pt x="0" y="581025"/>
                  </a:cubicBezTo>
                  <a:cubicBezTo>
                    <a:pt x="0" y="266700"/>
                    <a:pt x="247650" y="9525"/>
                    <a:pt x="590550" y="0"/>
                  </a:cubicBezTo>
                  <a:close/>
                </a:path>
              </a:pathLst>
            </a:custGeom>
            <a:solidFill>
              <a:schemeClr val="lt2"/>
            </a:solidFill>
            <a:ln w="38100">
              <a:solidFill>
                <a:schemeClr val="dk1"/>
              </a:solidFill>
            </a:ln>
          </p:spPr>
        </p:sp>
        <p:sp>
          <p:nvSpPr>
            <p:cNvPr id="18" name="TextBox 18"/>
            <p:cNvSpPr txBox="1"/>
            <p:nvPr/>
          </p:nvSpPr>
          <p:spPr>
            <a:xfrm>
              <a:off x="2102663" y="850011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3</a:t>
              </a:r>
            </a:p>
          </p:txBody>
        </p:sp>
        <p:sp>
          <p:nvSpPr>
            <p:cNvPr id="19" name="TextBox 19"/>
            <p:cNvSpPr txBox="1"/>
            <p:nvPr/>
          </p:nvSpPr>
          <p:spPr>
            <a:xfrm>
              <a:off x="3219450" y="8122920"/>
              <a:ext cx="1574292" cy="1047750"/>
            </a:xfrm>
            <a:prstGeom prst="rect">
              <a:avLst/>
            </a:prstGeom>
            <a:noFill/>
            <a:ln>
              <a:noFill/>
            </a:ln>
          </p:spPr>
          <p:txBody>
            <a:bodyPr wrap="none" lIns="0" tIns="0" rIns="0" bIns="0" anchor="t" anchorCtr="0">
              <a:spAutoFit/>
            </a:bodyPr>
            <a:lstStyle/>
            <a:p>
              <a:pPr algn="l"/>
              <a:r>
                <a:rPr lang="zh-CN" sz="5400" dirty="0">
                  <a:solidFill>
                    <a:schemeClr val="dk1"/>
                  </a:solidFill>
                  <a:latin typeface="+mj-lt"/>
                  <a:ea typeface="+mj-ea"/>
                  <a:cs typeface="+mj-cs"/>
                </a:rPr>
                <a:t>白露</a:t>
              </a:r>
            </a:p>
          </p:txBody>
        </p:sp>
        <p:sp>
          <p:nvSpPr>
            <p:cNvPr id="20" name="TextBox 20"/>
            <p:cNvSpPr txBox="1"/>
            <p:nvPr/>
          </p:nvSpPr>
          <p:spPr>
            <a:xfrm>
              <a:off x="3221736" y="8902065"/>
              <a:ext cx="2765641"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9月7日 22:41</a:t>
              </a:r>
            </a:p>
          </p:txBody>
        </p:sp>
      </p:grpSp>
      <p:grpSp>
        <p:nvGrpSpPr>
          <p:cNvPr id="26" name="Group 26"/>
          <p:cNvGrpSpPr/>
          <p:nvPr/>
        </p:nvGrpSpPr>
        <p:grpSpPr>
          <a:xfrm>
            <a:off x="4055288" y="10027920"/>
            <a:ext cx="4545787" cy="1424559"/>
            <a:chOff x="4055288" y="10027920"/>
            <a:chExt cx="4545787" cy="1424559"/>
          </a:xfrm>
        </p:grpSpPr>
        <p:sp>
          <p:nvSpPr>
            <p:cNvPr id="22" name="Freeform 22"/>
            <p:cNvSpPr/>
            <p:nvPr/>
          </p:nvSpPr>
          <p:spPr>
            <a:xfrm>
              <a:off x="7410450" y="10077450"/>
              <a:ext cx="1190625" cy="1181100"/>
            </a:xfrm>
            <a:custGeom>
              <a:avLst/>
              <a:gdLst/>
              <a:ahLst/>
              <a:cxnLst/>
              <a:rect l="l" t="t" r="r" b="b"/>
              <a:pathLst>
                <a:path w="1190625" h="1181100">
                  <a:moveTo>
                    <a:pt x="590550" y="0"/>
                  </a:moveTo>
                  <a:cubicBezTo>
                    <a:pt x="952500" y="19050"/>
                    <a:pt x="1190625" y="285750"/>
                    <a:pt x="1181100" y="600075"/>
                  </a:cubicBezTo>
                  <a:cubicBezTo>
                    <a:pt x="1171575" y="914400"/>
                    <a:pt x="914400" y="1181100"/>
                    <a:pt x="581025" y="1171575"/>
                  </a:cubicBezTo>
                  <a:cubicBezTo>
                    <a:pt x="247650" y="1162050"/>
                    <a:pt x="0" y="904875"/>
                    <a:pt x="0" y="581025"/>
                  </a:cubicBezTo>
                  <a:cubicBezTo>
                    <a:pt x="0" y="266700"/>
                    <a:pt x="247650" y="9525"/>
                    <a:pt x="590550" y="0"/>
                  </a:cubicBezTo>
                  <a:close/>
                </a:path>
              </a:pathLst>
            </a:custGeom>
            <a:solidFill>
              <a:schemeClr val="lt2"/>
            </a:solidFill>
            <a:ln w="38100">
              <a:solidFill>
                <a:schemeClr val="dk1"/>
              </a:solidFill>
            </a:ln>
          </p:spPr>
        </p:sp>
        <p:sp>
          <p:nvSpPr>
            <p:cNvPr id="23" name="TextBox 23"/>
            <p:cNvSpPr txBox="1"/>
            <p:nvPr/>
          </p:nvSpPr>
          <p:spPr>
            <a:xfrm>
              <a:off x="7817663" y="1040511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4</a:t>
              </a:r>
            </a:p>
          </p:txBody>
        </p:sp>
        <p:sp>
          <p:nvSpPr>
            <p:cNvPr id="24" name="TextBox 24"/>
            <p:cNvSpPr txBox="1"/>
            <p:nvPr/>
          </p:nvSpPr>
          <p:spPr>
            <a:xfrm>
              <a:off x="5493258" y="10027920"/>
              <a:ext cx="1574292" cy="1047750"/>
            </a:xfrm>
            <a:prstGeom prst="rect">
              <a:avLst/>
            </a:prstGeom>
            <a:noFill/>
            <a:ln>
              <a:noFill/>
            </a:ln>
          </p:spPr>
          <p:txBody>
            <a:bodyPr wrap="none" lIns="0" tIns="0" rIns="0" bIns="0" anchor="t" anchorCtr="0">
              <a:spAutoFit/>
            </a:bodyPr>
            <a:lstStyle/>
            <a:p>
              <a:pPr algn="r"/>
              <a:r>
                <a:rPr lang="zh-CN" sz="5400" dirty="0">
                  <a:solidFill>
                    <a:schemeClr val="dk1"/>
                  </a:solidFill>
                  <a:latin typeface="+mj-lt"/>
                  <a:ea typeface="+mj-ea"/>
                  <a:cs typeface="+mj-cs"/>
                </a:rPr>
                <a:t>秋分</a:t>
              </a:r>
            </a:p>
          </p:txBody>
        </p:sp>
        <p:sp>
          <p:nvSpPr>
            <p:cNvPr id="25" name="TextBox 25"/>
            <p:cNvSpPr txBox="1"/>
            <p:nvPr/>
          </p:nvSpPr>
          <p:spPr>
            <a:xfrm>
              <a:off x="4055288" y="10807065"/>
              <a:ext cx="3009976" cy="645414"/>
            </a:xfrm>
            <a:prstGeom prst="rect">
              <a:avLst/>
            </a:prstGeom>
            <a:noFill/>
            <a:ln>
              <a:noFill/>
            </a:ln>
          </p:spPr>
          <p:txBody>
            <a:bodyPr wrap="none" lIns="0" tIns="0" rIns="0" bIns="0" anchor="t" anchorCtr="0">
              <a:spAutoFit/>
            </a:bodyPr>
            <a:lstStyle/>
            <a:p>
              <a:pPr algn="r"/>
              <a:r>
                <a:rPr lang="zh-CN" sz="3300" dirty="0">
                  <a:solidFill>
                    <a:schemeClr val="accent5"/>
                  </a:solidFill>
                  <a:latin typeface="+mn-lt"/>
                  <a:ea typeface="+mn-ea"/>
                  <a:cs typeface="+mn-cs"/>
                </a:rPr>
                <a:t>9月23日 08:05</a:t>
              </a:r>
            </a:p>
          </p:txBody>
        </p:sp>
      </p:grpSp>
      <p:grpSp>
        <p:nvGrpSpPr>
          <p:cNvPr id="31" name="Group 31"/>
          <p:cNvGrpSpPr/>
          <p:nvPr/>
        </p:nvGrpSpPr>
        <p:grpSpPr>
          <a:xfrm>
            <a:off x="1695450" y="11932920"/>
            <a:ext cx="4536262" cy="1424559"/>
            <a:chOff x="1695450" y="11932920"/>
            <a:chExt cx="4536262" cy="1424559"/>
          </a:xfrm>
        </p:grpSpPr>
        <p:sp>
          <p:nvSpPr>
            <p:cNvPr id="27" name="Freeform 27"/>
            <p:cNvSpPr/>
            <p:nvPr/>
          </p:nvSpPr>
          <p:spPr>
            <a:xfrm>
              <a:off x="1695450" y="11982450"/>
              <a:ext cx="1190625" cy="1181100"/>
            </a:xfrm>
            <a:custGeom>
              <a:avLst/>
              <a:gdLst/>
              <a:ahLst/>
              <a:cxnLst/>
              <a:rect l="l" t="t" r="r" b="b"/>
              <a:pathLst>
                <a:path w="1190625" h="1181100">
                  <a:moveTo>
                    <a:pt x="590550" y="0"/>
                  </a:moveTo>
                  <a:cubicBezTo>
                    <a:pt x="952500" y="19050"/>
                    <a:pt x="1190625" y="285750"/>
                    <a:pt x="1181100" y="600075"/>
                  </a:cubicBezTo>
                  <a:cubicBezTo>
                    <a:pt x="1171575" y="914400"/>
                    <a:pt x="914400" y="1181100"/>
                    <a:pt x="581025" y="1171575"/>
                  </a:cubicBezTo>
                  <a:cubicBezTo>
                    <a:pt x="247650" y="1162050"/>
                    <a:pt x="0" y="904875"/>
                    <a:pt x="0" y="581025"/>
                  </a:cubicBezTo>
                  <a:cubicBezTo>
                    <a:pt x="0" y="266700"/>
                    <a:pt x="247650" y="9525"/>
                    <a:pt x="590550" y="0"/>
                  </a:cubicBezTo>
                  <a:close/>
                </a:path>
              </a:pathLst>
            </a:custGeom>
            <a:solidFill>
              <a:schemeClr val="lt2"/>
            </a:solidFill>
            <a:ln w="38100">
              <a:solidFill>
                <a:schemeClr val="dk1"/>
              </a:solidFill>
            </a:ln>
          </p:spPr>
        </p:sp>
        <p:sp>
          <p:nvSpPr>
            <p:cNvPr id="28" name="TextBox 28"/>
            <p:cNvSpPr txBox="1"/>
            <p:nvPr/>
          </p:nvSpPr>
          <p:spPr>
            <a:xfrm>
              <a:off x="2102663" y="1231011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5</a:t>
              </a:r>
            </a:p>
          </p:txBody>
        </p:sp>
        <p:sp>
          <p:nvSpPr>
            <p:cNvPr id="29" name="TextBox 29"/>
            <p:cNvSpPr txBox="1"/>
            <p:nvPr/>
          </p:nvSpPr>
          <p:spPr>
            <a:xfrm>
              <a:off x="3219450" y="11932920"/>
              <a:ext cx="1574292" cy="1047750"/>
            </a:xfrm>
            <a:prstGeom prst="rect">
              <a:avLst/>
            </a:prstGeom>
            <a:noFill/>
            <a:ln>
              <a:noFill/>
            </a:ln>
          </p:spPr>
          <p:txBody>
            <a:bodyPr wrap="none" lIns="0" tIns="0" rIns="0" bIns="0" anchor="t" anchorCtr="0">
              <a:spAutoFit/>
            </a:bodyPr>
            <a:lstStyle/>
            <a:p>
              <a:pPr algn="l"/>
              <a:r>
                <a:rPr lang="zh-CN" sz="5400" dirty="0">
                  <a:solidFill>
                    <a:schemeClr val="dk1"/>
                  </a:solidFill>
                  <a:latin typeface="+mj-lt"/>
                  <a:ea typeface="+mj-ea"/>
                  <a:cs typeface="+mj-cs"/>
                </a:rPr>
                <a:t>寒露</a:t>
              </a:r>
            </a:p>
          </p:txBody>
        </p:sp>
        <p:sp>
          <p:nvSpPr>
            <p:cNvPr id="30" name="TextBox 30"/>
            <p:cNvSpPr txBox="1"/>
            <p:nvPr/>
          </p:nvSpPr>
          <p:spPr>
            <a:xfrm>
              <a:off x="3221736" y="12712065"/>
              <a:ext cx="300997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10月8日 14:29</a:t>
              </a:r>
            </a:p>
          </p:txBody>
        </p:sp>
      </p:grpSp>
      <p:grpSp>
        <p:nvGrpSpPr>
          <p:cNvPr id="36" name="Group 36"/>
          <p:cNvGrpSpPr/>
          <p:nvPr/>
        </p:nvGrpSpPr>
        <p:grpSpPr>
          <a:xfrm>
            <a:off x="3810952" y="13837920"/>
            <a:ext cx="4790123" cy="1424559"/>
            <a:chOff x="3810952" y="13837920"/>
            <a:chExt cx="4790123" cy="1424559"/>
          </a:xfrm>
        </p:grpSpPr>
        <p:sp>
          <p:nvSpPr>
            <p:cNvPr id="32" name="Freeform 32"/>
            <p:cNvSpPr/>
            <p:nvPr/>
          </p:nvSpPr>
          <p:spPr>
            <a:xfrm>
              <a:off x="7410450" y="13887450"/>
              <a:ext cx="1190625" cy="1181100"/>
            </a:xfrm>
            <a:custGeom>
              <a:avLst/>
              <a:gdLst/>
              <a:ahLst/>
              <a:cxnLst/>
              <a:rect l="l" t="t" r="r" b="b"/>
              <a:pathLst>
                <a:path w="1190625" h="1181100">
                  <a:moveTo>
                    <a:pt x="590550" y="0"/>
                  </a:moveTo>
                  <a:cubicBezTo>
                    <a:pt x="952500" y="19050"/>
                    <a:pt x="1190625" y="285750"/>
                    <a:pt x="1181100" y="600075"/>
                  </a:cubicBezTo>
                  <a:cubicBezTo>
                    <a:pt x="1171575" y="914400"/>
                    <a:pt x="914400" y="1181100"/>
                    <a:pt x="581025" y="1171575"/>
                  </a:cubicBezTo>
                  <a:cubicBezTo>
                    <a:pt x="247650" y="1162050"/>
                    <a:pt x="0" y="904875"/>
                    <a:pt x="0" y="581025"/>
                  </a:cubicBezTo>
                  <a:cubicBezTo>
                    <a:pt x="0" y="266700"/>
                    <a:pt x="247650" y="9525"/>
                    <a:pt x="590550" y="0"/>
                  </a:cubicBezTo>
                  <a:close/>
                </a:path>
              </a:pathLst>
            </a:custGeom>
            <a:solidFill>
              <a:schemeClr val="lt2"/>
            </a:solidFill>
            <a:ln w="38100">
              <a:solidFill>
                <a:schemeClr val="dk1"/>
              </a:solidFill>
            </a:ln>
          </p:spPr>
        </p:sp>
        <p:sp>
          <p:nvSpPr>
            <p:cNvPr id="33" name="TextBox 33"/>
            <p:cNvSpPr txBox="1"/>
            <p:nvPr/>
          </p:nvSpPr>
          <p:spPr>
            <a:xfrm>
              <a:off x="7817663" y="1421511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6</a:t>
              </a:r>
            </a:p>
          </p:txBody>
        </p:sp>
        <p:sp>
          <p:nvSpPr>
            <p:cNvPr id="34" name="TextBox 34"/>
            <p:cNvSpPr txBox="1"/>
            <p:nvPr/>
          </p:nvSpPr>
          <p:spPr>
            <a:xfrm>
              <a:off x="5493258" y="13837920"/>
              <a:ext cx="1574292" cy="1047750"/>
            </a:xfrm>
            <a:prstGeom prst="rect">
              <a:avLst/>
            </a:prstGeom>
            <a:noFill/>
            <a:ln>
              <a:noFill/>
            </a:ln>
          </p:spPr>
          <p:txBody>
            <a:bodyPr wrap="none" lIns="0" tIns="0" rIns="0" bIns="0" anchor="t" anchorCtr="0">
              <a:spAutoFit/>
            </a:bodyPr>
            <a:lstStyle/>
            <a:p>
              <a:pPr algn="r"/>
              <a:r>
                <a:rPr lang="zh-CN" sz="5400" dirty="0">
                  <a:solidFill>
                    <a:schemeClr val="dk1"/>
                  </a:solidFill>
                  <a:latin typeface="+mj-lt"/>
                  <a:ea typeface="+mj-ea"/>
                  <a:cs typeface="+mj-cs"/>
                </a:rPr>
                <a:t>霜降</a:t>
              </a:r>
            </a:p>
          </p:txBody>
        </p:sp>
        <p:sp>
          <p:nvSpPr>
            <p:cNvPr id="35" name="TextBox 35"/>
            <p:cNvSpPr txBox="1"/>
            <p:nvPr/>
          </p:nvSpPr>
          <p:spPr>
            <a:xfrm>
              <a:off x="3810952" y="14617065"/>
              <a:ext cx="3254312" cy="645414"/>
            </a:xfrm>
            <a:prstGeom prst="rect">
              <a:avLst/>
            </a:prstGeom>
            <a:noFill/>
            <a:ln>
              <a:noFill/>
            </a:ln>
          </p:spPr>
          <p:txBody>
            <a:bodyPr wrap="none" lIns="0" tIns="0" rIns="0" bIns="0" anchor="t" anchorCtr="0">
              <a:spAutoFit/>
            </a:bodyPr>
            <a:lstStyle/>
            <a:p>
              <a:pPr algn="r"/>
              <a:r>
                <a:rPr lang="zh-CN" sz="3300" dirty="0">
                  <a:solidFill>
                    <a:schemeClr val="accent5"/>
                  </a:solidFill>
                  <a:latin typeface="+mn-lt"/>
                  <a:ea typeface="+mn-ea"/>
                  <a:cs typeface="+mn-cs"/>
                </a:rPr>
                <a:t>10月23日 17:38</a:t>
              </a:r>
            </a:p>
          </p:txBody>
        </p:sp>
      </p:grpSp>
      <p:grpSp>
        <p:nvGrpSpPr>
          <p:cNvPr id="39" name="Group 39"/>
          <p:cNvGrpSpPr/>
          <p:nvPr/>
        </p:nvGrpSpPr>
        <p:grpSpPr>
          <a:xfrm>
            <a:off x="746760" y="15259050"/>
            <a:ext cx="4904232" cy="1353312"/>
            <a:chOff x="746760" y="15259050"/>
            <a:chExt cx="4904232" cy="1353312"/>
          </a:xfrm>
        </p:grpSpPr>
        <p:sp>
          <p:nvSpPr>
            <p:cNvPr id="37" name="TextBox 37"/>
            <p:cNvSpPr txBox="1"/>
            <p:nvPr/>
          </p:nvSpPr>
          <p:spPr>
            <a:xfrm>
              <a:off x="746760" y="15259050"/>
              <a:ext cx="4472940" cy="586740"/>
            </a:xfrm>
            <a:prstGeom prst="rect">
              <a:avLst/>
            </a:prstGeom>
            <a:noFill/>
            <a:ln>
              <a:noFill/>
            </a:ln>
          </p:spPr>
          <p:txBody>
            <a:bodyPr wrap="none" lIns="0" tIns="0" rIns="0" bIns="0" anchor="t" anchorCtr="0">
              <a:spAutoFit/>
            </a:bodyPr>
            <a:lstStyle/>
            <a:p>
              <a:pPr algn="l"/>
              <a:r>
                <a:rPr lang="zh-CN" sz="3000" dirty="0">
                  <a:solidFill>
                    <a:schemeClr val="accent5"/>
                  </a:solidFill>
                  <a:latin typeface="+mn-lt"/>
                  <a:ea typeface="+mn-ea"/>
                  <a:cs typeface="+mn-cs"/>
                </a:rPr>
                <a:t>交节时刻均为东八区时间</a:t>
              </a:r>
            </a:p>
          </p:txBody>
        </p:sp>
        <p:sp>
          <p:nvSpPr>
            <p:cNvPr id="38" name="TextBox 38"/>
            <p:cNvSpPr txBox="1"/>
            <p:nvPr/>
          </p:nvSpPr>
          <p:spPr>
            <a:xfrm>
              <a:off x="749808" y="15761970"/>
              <a:ext cx="4901184" cy="850392"/>
            </a:xfrm>
            <a:prstGeom prst="rect">
              <a:avLst/>
            </a:prstGeom>
            <a:noFill/>
            <a:ln>
              <a:noFill/>
            </a:ln>
          </p:spPr>
          <p:txBody>
            <a:bodyPr wrap="none" lIns="0" tIns="0" rIns="0" bIns="0" anchor="t" anchorCtr="0">
              <a:spAutoFit/>
            </a:bodyPr>
            <a:lstStyle/>
            <a:p>
              <a:pPr algn="l">
                <a:lnSpc>
                  <a:spcPts val="3000"/>
                </a:lnSpc>
              </a:pPr>
              <a:r>
                <a:rPr lang="zh-CN" sz="2400" dirty="0">
                  <a:solidFill>
                    <a:schemeClr val="accent5"/>
                  </a:solidFill>
                  <a:latin typeface="+mn-lt"/>
                  <a:ea typeface="+mn-ea"/>
                  <a:cs typeface="+mn-cs"/>
                </a:rPr>
                <a:t>农历对照日期：NO DATA</a:t>
              </a:r>
              <a:br/>
              <a:r>
                <a:rPr lang="zh-CN" sz="2400" dirty="0">
                  <a:solidFill>
                    <a:schemeClr val="accent5"/>
                  </a:solidFill>
                  <a:latin typeface="+mn-lt"/>
                  <a:ea typeface="+mn-ea"/>
                  <a:cs typeface="+mn-cs"/>
                </a:rPr>
                <a:t>（未取到权威逐条数据，不作推算）</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anim calcmode="lin" valueType="num">
                                      <p:cBhvr>
                                        <p:cTn id="8" dur="350" fill="hold"/>
                                        <p:tgtEl>
                                          <p:spTgt spid="11"/>
                                        </p:tgtEl>
                                        <p:attrNameLst>
                                          <p:attrName>ppt_x</p:attrName>
                                        </p:attrNameLst>
                                      </p:cBhvr>
                                      <p:tavLst>
                                        <p:tav tm="0">
                                          <p:val>
                                            <p:strVal val="#ppt_x"/>
                                          </p:val>
                                        </p:tav>
                                        <p:tav tm="100000">
                                          <p:val>
                                            <p:strVal val="#ppt_x"/>
                                          </p:val>
                                        </p:tav>
                                      </p:tavLst>
                                    </p:anim>
                                    <p:anim calcmode="lin" valueType="num">
                                      <p:cBhvr>
                                        <p:cTn id="9" dur="3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5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350"/>
                                        <p:tgtEl>
                                          <p:spTgt spid="16"/>
                                        </p:tgtEl>
                                      </p:cBhvr>
                                    </p:animEffect>
                                    <p:anim calcmode="lin" valueType="num">
                                      <p:cBhvr>
                                        <p:cTn id="14" dur="350" fill="hold"/>
                                        <p:tgtEl>
                                          <p:spTgt spid="16"/>
                                        </p:tgtEl>
                                        <p:attrNameLst>
                                          <p:attrName>ppt_x</p:attrName>
                                        </p:attrNameLst>
                                      </p:cBhvr>
                                      <p:tavLst>
                                        <p:tav tm="0">
                                          <p:val>
                                            <p:strVal val="#ppt_x"/>
                                          </p:val>
                                        </p:tav>
                                        <p:tav tm="100000">
                                          <p:val>
                                            <p:strVal val="#ppt_x"/>
                                          </p:val>
                                        </p:tav>
                                      </p:tavLst>
                                    </p:anim>
                                    <p:anim calcmode="lin" valueType="num">
                                      <p:cBhvr>
                                        <p:cTn id="15" dur="35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1200"/>
                            </p:stCondLst>
                            <p:childTnLst>
                              <p:par>
                                <p:cTn id="17" presetID="42" presetClass="entr" presetSubtype="0" fill="hold" grpId="0" nodeType="afterEffect">
                                  <p:stCondLst>
                                    <p:cond delay="5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350"/>
                                        <p:tgtEl>
                                          <p:spTgt spid="21"/>
                                        </p:tgtEl>
                                      </p:cBhvr>
                                    </p:animEffect>
                                    <p:anim calcmode="lin" valueType="num">
                                      <p:cBhvr>
                                        <p:cTn id="20" dur="350" fill="hold"/>
                                        <p:tgtEl>
                                          <p:spTgt spid="21"/>
                                        </p:tgtEl>
                                        <p:attrNameLst>
                                          <p:attrName>ppt_x</p:attrName>
                                        </p:attrNameLst>
                                      </p:cBhvr>
                                      <p:tavLst>
                                        <p:tav tm="0">
                                          <p:val>
                                            <p:strVal val="#ppt_x"/>
                                          </p:val>
                                        </p:tav>
                                        <p:tav tm="100000">
                                          <p:val>
                                            <p:strVal val="#ppt_x"/>
                                          </p:val>
                                        </p:tav>
                                      </p:tavLst>
                                    </p:anim>
                                    <p:anim calcmode="lin" valueType="num">
                                      <p:cBhvr>
                                        <p:cTn id="21" dur="3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2050"/>
                            </p:stCondLst>
                            <p:childTnLst>
                              <p:par>
                                <p:cTn id="23" presetID="42" presetClass="entr" presetSubtype="0" fill="hold" grpId="0" nodeType="afterEffect">
                                  <p:stCondLst>
                                    <p:cond delay="5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350"/>
                                        <p:tgtEl>
                                          <p:spTgt spid="26"/>
                                        </p:tgtEl>
                                      </p:cBhvr>
                                    </p:animEffect>
                                    <p:anim calcmode="lin" valueType="num">
                                      <p:cBhvr>
                                        <p:cTn id="26" dur="350" fill="hold"/>
                                        <p:tgtEl>
                                          <p:spTgt spid="26"/>
                                        </p:tgtEl>
                                        <p:attrNameLst>
                                          <p:attrName>ppt_x</p:attrName>
                                        </p:attrNameLst>
                                      </p:cBhvr>
                                      <p:tavLst>
                                        <p:tav tm="0">
                                          <p:val>
                                            <p:strVal val="#ppt_x"/>
                                          </p:val>
                                        </p:tav>
                                        <p:tav tm="100000">
                                          <p:val>
                                            <p:strVal val="#ppt_x"/>
                                          </p:val>
                                        </p:tav>
                                      </p:tavLst>
                                    </p:anim>
                                    <p:anim calcmode="lin" valueType="num">
                                      <p:cBhvr>
                                        <p:cTn id="27" dur="350" fill="hold"/>
                                        <p:tgtEl>
                                          <p:spTgt spid="26"/>
                                        </p:tgtEl>
                                        <p:attrNameLst>
                                          <p:attrName>ppt_y</p:attrName>
                                        </p:attrNameLst>
                                      </p:cBhvr>
                                      <p:tavLst>
                                        <p:tav tm="0">
                                          <p:val>
                                            <p:strVal val="#ppt_y+.1"/>
                                          </p:val>
                                        </p:tav>
                                        <p:tav tm="100000">
                                          <p:val>
                                            <p:strVal val="#ppt_y"/>
                                          </p:val>
                                        </p:tav>
                                      </p:tavLst>
                                    </p:anim>
                                  </p:childTnLst>
                                </p:cTn>
                              </p:par>
                            </p:childTnLst>
                          </p:cTn>
                        </p:par>
                        <p:par>
                          <p:cTn id="28" fill="hold">
                            <p:stCondLst>
                              <p:cond delay="2900"/>
                            </p:stCondLst>
                            <p:childTnLst>
                              <p:par>
                                <p:cTn id="29" presetID="42" presetClass="entr" presetSubtype="0" fill="hold" grpId="0" nodeType="afterEffect">
                                  <p:stCondLst>
                                    <p:cond delay="50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350"/>
                                        <p:tgtEl>
                                          <p:spTgt spid="31"/>
                                        </p:tgtEl>
                                      </p:cBhvr>
                                    </p:animEffect>
                                    <p:anim calcmode="lin" valueType="num">
                                      <p:cBhvr>
                                        <p:cTn id="32" dur="350" fill="hold"/>
                                        <p:tgtEl>
                                          <p:spTgt spid="31"/>
                                        </p:tgtEl>
                                        <p:attrNameLst>
                                          <p:attrName>ppt_x</p:attrName>
                                        </p:attrNameLst>
                                      </p:cBhvr>
                                      <p:tavLst>
                                        <p:tav tm="0">
                                          <p:val>
                                            <p:strVal val="#ppt_x"/>
                                          </p:val>
                                        </p:tav>
                                        <p:tav tm="100000">
                                          <p:val>
                                            <p:strVal val="#ppt_x"/>
                                          </p:val>
                                        </p:tav>
                                      </p:tavLst>
                                    </p:anim>
                                    <p:anim calcmode="lin" valueType="num">
                                      <p:cBhvr>
                                        <p:cTn id="33" dur="350" fill="hold"/>
                                        <p:tgtEl>
                                          <p:spTgt spid="31"/>
                                        </p:tgtEl>
                                        <p:attrNameLst>
                                          <p:attrName>ppt_y</p:attrName>
                                        </p:attrNameLst>
                                      </p:cBhvr>
                                      <p:tavLst>
                                        <p:tav tm="0">
                                          <p:val>
                                            <p:strVal val="#ppt_y+.1"/>
                                          </p:val>
                                        </p:tav>
                                        <p:tav tm="100000">
                                          <p:val>
                                            <p:strVal val="#ppt_y"/>
                                          </p:val>
                                        </p:tav>
                                      </p:tavLst>
                                    </p:anim>
                                  </p:childTnLst>
                                </p:cTn>
                              </p:par>
                            </p:childTnLst>
                          </p:cTn>
                        </p:par>
                        <p:par>
                          <p:cTn id="34" fill="hold">
                            <p:stCondLst>
                              <p:cond delay="3750"/>
                            </p:stCondLst>
                            <p:childTnLst>
                              <p:par>
                                <p:cTn id="35" presetID="42" presetClass="entr" presetSubtype="0" fill="hold" grpId="0" nodeType="afterEffect">
                                  <p:stCondLst>
                                    <p:cond delay="50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350"/>
                                        <p:tgtEl>
                                          <p:spTgt spid="36"/>
                                        </p:tgtEl>
                                      </p:cBhvr>
                                    </p:animEffect>
                                    <p:anim calcmode="lin" valueType="num">
                                      <p:cBhvr>
                                        <p:cTn id="38" dur="350" fill="hold"/>
                                        <p:tgtEl>
                                          <p:spTgt spid="36"/>
                                        </p:tgtEl>
                                        <p:attrNameLst>
                                          <p:attrName>ppt_x</p:attrName>
                                        </p:attrNameLst>
                                      </p:cBhvr>
                                      <p:tavLst>
                                        <p:tav tm="0">
                                          <p:val>
                                            <p:strVal val="#ppt_x"/>
                                          </p:val>
                                        </p:tav>
                                        <p:tav tm="100000">
                                          <p:val>
                                            <p:strVal val="#ppt_x"/>
                                          </p:val>
                                        </p:tav>
                                      </p:tavLst>
                                    </p:anim>
                                    <p:anim calcmode="lin" valueType="num">
                                      <p:cBhvr>
                                        <p:cTn id="39" dur="3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8" name="!!station-liqiu"/>
          <p:cNvGrpSpPr/>
          <p:nvPr/>
        </p:nvGrpSpPr>
        <p:grpSpPr>
          <a:xfrm>
            <a:off x="762000" y="1417320"/>
            <a:ext cx="8170964" cy="2824734"/>
            <a:chOff x="762000" y="1417320"/>
            <a:chExt cx="8170964" cy="2824734"/>
          </a:xfrm>
        </p:grpSpPr>
        <p:sp>
          <p:nvSpPr>
            <p:cNvPr id="2" name="Freeform 2"/>
            <p:cNvSpPr/>
            <p:nvPr/>
          </p:nvSpPr>
          <p:spPr>
            <a:xfrm>
              <a:off x="808672" y="1417320"/>
              <a:ext cx="1076325" cy="1082040"/>
            </a:xfrm>
            <a:custGeom>
              <a:avLst/>
              <a:gdLst/>
              <a:ahLst/>
              <a:cxnLst/>
              <a:rect l="l" t="t" r="r" b="b"/>
              <a:pathLst>
                <a:path w="1076325" h="1082040">
                  <a:moveTo>
                    <a:pt x="0" y="549592"/>
                  </a:moveTo>
                  <a:cubicBezTo>
                    <a:pt x="33338" y="249555"/>
                    <a:pt x="266700" y="0"/>
                    <a:pt x="469582" y="87630"/>
                  </a:cubicBezTo>
                  <a:cubicBezTo>
                    <a:pt x="774382" y="19050"/>
                    <a:pt x="1076325" y="243840"/>
                    <a:pt x="1058228" y="541972"/>
                  </a:cubicBezTo>
                  <a:cubicBezTo>
                    <a:pt x="1036320" y="811530"/>
                    <a:pt x="807720" y="1082040"/>
                    <a:pt x="527685" y="1067752"/>
                  </a:cubicBezTo>
                  <a:cubicBezTo>
                    <a:pt x="257175" y="990600"/>
                    <a:pt x="59055" y="852488"/>
                    <a:pt x="6667" y="491490"/>
                  </a:cubicBezTo>
                  <a:close/>
                </a:path>
              </a:pathLst>
            </a:custGeom>
            <a:solidFill>
              <a:schemeClr val="lt2"/>
            </a:solidFill>
            <a:ln w="38100">
              <a:solidFill>
                <a:schemeClr val="dk1"/>
              </a:solidFill>
            </a:ln>
          </p:spPr>
        </p:sp>
        <p:sp>
          <p:nvSpPr>
            <p:cNvPr id="3" name="TextBox 3"/>
            <p:cNvSpPr txBox="1"/>
            <p:nvPr/>
          </p:nvSpPr>
          <p:spPr>
            <a:xfrm>
              <a:off x="1150163" y="1699260"/>
              <a:ext cx="366674"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1</a:t>
              </a:r>
            </a:p>
          </p:txBody>
        </p:sp>
        <p:sp>
          <p:nvSpPr>
            <p:cNvPr id="4" name="TextBox 4"/>
            <p:cNvSpPr txBox="1"/>
            <p:nvPr/>
          </p:nvSpPr>
          <p:spPr>
            <a:xfrm>
              <a:off x="2078736" y="17964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第一站</a:t>
              </a:r>
            </a:p>
          </p:txBody>
        </p:sp>
        <p:pic>
          <p:nvPicPr>
            <p:cNvPr id="5" name="Image 5"/>
            <p:cNvPicPr>
              <a:picLocks noChangeAspect="1"/>
            </p:cNvPicPr>
            <p:nvPr/>
          </p:nvPicPr>
          <p:blipFill>
            <a:blip r:embed="rId2"/>
            <a:stretch>
              <a:fillRect/>
            </a:stretch>
          </p:blipFill>
          <p:spPr>
            <a:xfrm>
              <a:off x="762000" y="2400300"/>
              <a:ext cx="3486150" cy="1619250"/>
            </a:xfrm>
            <a:prstGeom prst="rect">
              <a:avLst/>
            </a:prstGeom>
          </p:spPr>
        </p:pic>
        <p:sp>
          <p:nvSpPr>
            <p:cNvPr id="6" name="TextBox 6"/>
            <p:cNvSpPr txBox="1"/>
            <p:nvPr/>
          </p:nvSpPr>
          <p:spPr>
            <a:xfrm>
              <a:off x="4743450" y="2524125"/>
              <a:ext cx="2171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立秋</a:t>
              </a:r>
            </a:p>
          </p:txBody>
        </p:sp>
        <p:sp>
          <p:nvSpPr>
            <p:cNvPr id="7" name="TextBox 7"/>
            <p:cNvSpPr txBox="1"/>
            <p:nvPr/>
          </p:nvSpPr>
          <p:spPr>
            <a:xfrm>
              <a:off x="4745736" y="3596640"/>
              <a:ext cx="4187228"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2026年8月7日 19:43</a:t>
              </a:r>
            </a:p>
          </p:txBody>
        </p:sp>
      </p:grpSp>
      <p:grpSp>
        <p:nvGrpSpPr>
          <p:cNvPr id="21" name="Group 21"/>
          <p:cNvGrpSpPr/>
          <p:nvPr/>
        </p:nvGrpSpPr>
        <p:grpSpPr>
          <a:xfrm>
            <a:off x="381000" y="4953000"/>
            <a:ext cx="8909685" cy="6391275"/>
            <a:chOff x="381000" y="4953000"/>
            <a:chExt cx="8909685" cy="6391275"/>
          </a:xfrm>
        </p:grpSpPr>
        <p:pic>
          <p:nvPicPr>
            <p:cNvPr id="9" name="Image 9"/>
            <p:cNvPicPr>
              <a:picLocks noChangeAspect="1"/>
            </p:cNvPicPr>
            <p:nvPr/>
          </p:nvPicPr>
          <p:blipFill>
            <a:blip r:embed="rId3"/>
            <a:stretch>
              <a:fillRect/>
            </a:stretch>
          </p:blipFill>
          <p:spPr>
            <a:xfrm>
              <a:off x="3900364" y="6858000"/>
              <a:ext cx="2486273" cy="2495550"/>
            </a:xfrm>
            <a:prstGeom prst="rect">
              <a:avLst/>
            </a:prstGeom>
          </p:spPr>
        </p:pic>
        <p:sp>
          <p:nvSpPr>
            <p:cNvPr id="10" name="Freeform 10"/>
            <p:cNvSpPr/>
            <p:nvPr/>
          </p:nvSpPr>
          <p:spPr>
            <a:xfrm>
              <a:off x="970598" y="5227320"/>
              <a:ext cx="3419475" cy="1348740"/>
            </a:xfrm>
            <a:custGeom>
              <a:avLst/>
              <a:gdLst/>
              <a:ahLst/>
              <a:cxnLst/>
              <a:rect l="l" t="t" r="r" b="b"/>
              <a:pathLst>
                <a:path w="3419475" h="1348740">
                  <a:moveTo>
                    <a:pt x="0" y="682943"/>
                  </a:moveTo>
                  <a:cubicBezTo>
                    <a:pt x="33338" y="300038"/>
                    <a:pt x="794385" y="0"/>
                    <a:pt x="1641157" y="87630"/>
                  </a:cubicBezTo>
                  <a:cubicBezTo>
                    <a:pt x="2602230" y="19050"/>
                    <a:pt x="3419475" y="297180"/>
                    <a:pt x="3401378" y="675323"/>
                  </a:cubicBezTo>
                  <a:cubicBezTo>
                    <a:pt x="3379470" y="1027748"/>
                    <a:pt x="2611755" y="1348740"/>
                    <a:pt x="1699260" y="1334453"/>
                  </a:cubicBezTo>
                  <a:cubicBezTo>
                    <a:pt x="749617" y="1257300"/>
                    <a:pt x="59055" y="1065848"/>
                    <a:pt x="6667" y="624840"/>
                  </a:cubicBezTo>
                  <a:close/>
                </a:path>
              </a:pathLst>
            </a:custGeom>
            <a:solidFill>
              <a:schemeClr val="lt2"/>
            </a:solidFill>
            <a:ln w="38100">
              <a:solidFill>
                <a:schemeClr val="dk1"/>
              </a:solidFill>
              <a:round/>
            </a:ln>
          </p:spPr>
        </p:sp>
        <p:sp>
          <p:nvSpPr>
            <p:cNvPr id="11" name="TextBox 11"/>
            <p:cNvSpPr txBox="1"/>
            <p:nvPr/>
          </p:nvSpPr>
          <p:spPr>
            <a:xfrm>
              <a:off x="1531048" y="5715000"/>
              <a:ext cx="2271903"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一候·凉风至</a:t>
              </a:r>
            </a:p>
          </p:txBody>
        </p:sp>
        <p:pic>
          <p:nvPicPr>
            <p:cNvPr id="12" name="Image 12"/>
            <p:cNvPicPr>
              <a:picLocks noChangeAspect="1"/>
            </p:cNvPicPr>
            <p:nvPr/>
          </p:nvPicPr>
          <p:blipFill>
            <a:blip r:embed="rId4"/>
            <a:stretch>
              <a:fillRect/>
            </a:stretch>
          </p:blipFill>
          <p:spPr>
            <a:xfrm>
              <a:off x="381000" y="4953000"/>
              <a:ext cx="1143000" cy="971550"/>
            </a:xfrm>
            <a:prstGeom prst="rect">
              <a:avLst/>
            </a:prstGeom>
          </p:spPr>
        </p:pic>
        <p:sp>
          <p:nvSpPr>
            <p:cNvPr id="13" name="Freeform 13"/>
            <p:cNvSpPr/>
            <p:nvPr/>
          </p:nvSpPr>
          <p:spPr>
            <a:xfrm>
              <a:off x="5922645" y="5245418"/>
              <a:ext cx="3368040" cy="1323975"/>
            </a:xfrm>
            <a:custGeom>
              <a:avLst/>
              <a:gdLst/>
              <a:ahLst/>
              <a:cxnLst/>
              <a:rect l="l" t="t" r="r" b="b"/>
              <a:pathLst>
                <a:path w="3368040" h="1323975">
                  <a:moveTo>
                    <a:pt x="0" y="614362"/>
                  </a:moveTo>
                  <a:cubicBezTo>
                    <a:pt x="38100" y="230505"/>
                    <a:pt x="730568" y="20002"/>
                    <a:pt x="1744980" y="65722"/>
                  </a:cubicBezTo>
                  <a:cubicBezTo>
                    <a:pt x="2661285" y="0"/>
                    <a:pt x="3368040" y="257175"/>
                    <a:pt x="3327083" y="615315"/>
                  </a:cubicBezTo>
                  <a:cubicBezTo>
                    <a:pt x="3331845" y="1098232"/>
                    <a:pt x="2634615" y="1323975"/>
                    <a:pt x="1731645" y="1253490"/>
                  </a:cubicBezTo>
                  <a:cubicBezTo>
                    <a:pt x="708660" y="1303020"/>
                    <a:pt x="57150" y="1078230"/>
                    <a:pt x="74295" y="612457"/>
                  </a:cubicBezTo>
                  <a:close/>
                </a:path>
              </a:pathLst>
            </a:custGeom>
            <a:solidFill>
              <a:schemeClr val="lt2"/>
            </a:solidFill>
            <a:ln w="38100">
              <a:solidFill>
                <a:schemeClr val="dk1"/>
              </a:solidFill>
              <a:round/>
            </a:ln>
          </p:spPr>
        </p:sp>
        <p:sp>
          <p:nvSpPr>
            <p:cNvPr id="14" name="TextBox 14"/>
            <p:cNvSpPr txBox="1"/>
            <p:nvPr/>
          </p:nvSpPr>
          <p:spPr>
            <a:xfrm>
              <a:off x="6484048" y="5715000"/>
              <a:ext cx="2271903"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二候·白露降</a:t>
              </a:r>
            </a:p>
          </p:txBody>
        </p:sp>
        <p:sp>
          <p:nvSpPr>
            <p:cNvPr id="15" name="Freeform 15"/>
            <p:cNvSpPr/>
            <p:nvPr/>
          </p:nvSpPr>
          <p:spPr>
            <a:xfrm>
              <a:off x="3489960" y="10035540"/>
              <a:ext cx="3366135" cy="1308735"/>
            </a:xfrm>
            <a:custGeom>
              <a:avLst/>
              <a:gdLst/>
              <a:ahLst/>
              <a:cxnLst/>
              <a:rect l="l" t="t" r="r" b="b"/>
              <a:pathLst>
                <a:path w="3366135" h="1308735">
                  <a:moveTo>
                    <a:pt x="953" y="660083"/>
                  </a:moveTo>
                  <a:cubicBezTo>
                    <a:pt x="39053" y="293370"/>
                    <a:pt x="763905" y="52388"/>
                    <a:pt x="1599247" y="0"/>
                  </a:cubicBezTo>
                  <a:cubicBezTo>
                    <a:pt x="2637472" y="20955"/>
                    <a:pt x="3366135" y="211455"/>
                    <a:pt x="3316605" y="603885"/>
                  </a:cubicBezTo>
                  <a:cubicBezTo>
                    <a:pt x="3325178" y="1030605"/>
                    <a:pt x="2498408" y="1228725"/>
                    <a:pt x="1628775" y="1308735"/>
                  </a:cubicBezTo>
                  <a:cubicBezTo>
                    <a:pt x="717233" y="1222058"/>
                    <a:pt x="20955" y="968693"/>
                    <a:pt x="0" y="589598"/>
                  </a:cubicBezTo>
                  <a:close/>
                </a:path>
              </a:pathLst>
            </a:custGeom>
            <a:solidFill>
              <a:schemeClr val="lt2"/>
            </a:solidFill>
            <a:ln w="38100">
              <a:solidFill>
                <a:schemeClr val="dk1"/>
              </a:solidFill>
              <a:round/>
            </a:ln>
          </p:spPr>
        </p:sp>
        <p:sp>
          <p:nvSpPr>
            <p:cNvPr id="16" name="TextBox 16"/>
            <p:cNvSpPr txBox="1"/>
            <p:nvPr/>
          </p:nvSpPr>
          <p:spPr>
            <a:xfrm>
              <a:off x="4007548" y="10477500"/>
              <a:ext cx="2271903"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三候·寒蝉鸣</a:t>
              </a:r>
            </a:p>
          </p:txBody>
        </p:sp>
        <p:pic>
          <p:nvPicPr>
            <p:cNvPr id="17" name="Image 17"/>
            <p:cNvPicPr>
              <a:picLocks noChangeAspect="1"/>
            </p:cNvPicPr>
            <p:nvPr/>
          </p:nvPicPr>
          <p:blipFill>
            <a:blip r:embed="rId5"/>
            <a:stretch>
              <a:fillRect/>
            </a:stretch>
          </p:blipFill>
          <p:spPr>
            <a:xfrm>
              <a:off x="8191500" y="10001250"/>
              <a:ext cx="952500" cy="1295400"/>
            </a:xfrm>
            <a:prstGeom prst="rect">
              <a:avLst/>
            </a:prstGeom>
          </p:spPr>
        </p:pic>
        <p:sp>
          <p:nvSpPr>
            <p:cNvPr id="18" name="Freeform 18"/>
            <p:cNvSpPr/>
            <p:nvPr/>
          </p:nvSpPr>
          <p:spPr>
            <a:xfrm>
              <a:off x="3238500" y="6572250"/>
              <a:ext cx="1095375" cy="666750"/>
            </a:xfrm>
            <a:custGeom>
              <a:avLst/>
              <a:gdLst/>
              <a:ahLst/>
              <a:cxnLst/>
              <a:rect l="l" t="t" r="r" b="b"/>
              <a:pathLst>
                <a:path w="1095375" h="666750">
                  <a:moveTo>
                    <a:pt x="1095375" y="666750"/>
                  </a:moveTo>
                  <a:cubicBezTo>
                    <a:pt x="729615" y="452438"/>
                    <a:pt x="412433" y="223838"/>
                    <a:pt x="0" y="0"/>
                  </a:cubicBezTo>
                </a:path>
              </a:pathLst>
            </a:custGeom>
            <a:noFill/>
            <a:ln w="38100" cap="rnd">
              <a:solidFill>
                <a:schemeClr val="accent1"/>
              </a:solidFill>
              <a:custDash>
                <a:ds d="250000" sp="250000"/>
              </a:custDash>
            </a:ln>
          </p:spPr>
        </p:sp>
        <p:sp>
          <p:nvSpPr>
            <p:cNvPr id="19" name="Freeform 19"/>
            <p:cNvSpPr/>
            <p:nvPr/>
          </p:nvSpPr>
          <p:spPr>
            <a:xfrm>
              <a:off x="5953125" y="6572250"/>
              <a:ext cx="1114425" cy="666750"/>
            </a:xfrm>
            <a:custGeom>
              <a:avLst/>
              <a:gdLst/>
              <a:ahLst/>
              <a:cxnLst/>
              <a:rect l="l" t="t" r="r" b="b"/>
              <a:pathLst>
                <a:path w="1114425" h="666750">
                  <a:moveTo>
                    <a:pt x="0" y="666750"/>
                  </a:moveTo>
                  <a:cubicBezTo>
                    <a:pt x="365760" y="461962"/>
                    <a:pt x="751522" y="192405"/>
                    <a:pt x="1114425" y="0"/>
                  </a:cubicBezTo>
                </a:path>
              </a:pathLst>
            </a:custGeom>
            <a:noFill/>
            <a:ln w="38100" cap="rnd">
              <a:solidFill>
                <a:schemeClr val="accent1"/>
              </a:solidFill>
              <a:custDash>
                <a:ds d="250000" sp="250000"/>
              </a:custDash>
            </a:ln>
          </p:spPr>
        </p:sp>
        <p:sp>
          <p:nvSpPr>
            <p:cNvPr id="20" name="Freeform 20"/>
            <p:cNvSpPr/>
            <p:nvPr/>
          </p:nvSpPr>
          <p:spPr>
            <a:xfrm>
              <a:off x="5120640" y="9353550"/>
              <a:ext cx="40005" cy="685800"/>
            </a:xfrm>
            <a:custGeom>
              <a:avLst/>
              <a:gdLst/>
              <a:ahLst/>
              <a:cxnLst/>
              <a:rect l="l" t="t" r="r" b="b"/>
              <a:pathLst>
                <a:path w="40005" h="685800">
                  <a:moveTo>
                    <a:pt x="22860" y="0"/>
                  </a:moveTo>
                  <a:cubicBezTo>
                    <a:pt x="0" y="243840"/>
                    <a:pt x="40005" y="485775"/>
                    <a:pt x="22860" y="685800"/>
                  </a:cubicBezTo>
                </a:path>
              </a:pathLst>
            </a:custGeom>
            <a:noFill/>
            <a:ln w="38100" cap="rnd">
              <a:solidFill>
                <a:schemeClr val="accent1"/>
              </a:solidFill>
              <a:custDash>
                <a:ds d="250000" sp="250000"/>
              </a:custDash>
            </a:ln>
          </p:spPr>
        </p:sp>
      </p:grpSp>
      <p:grpSp>
        <p:nvGrpSpPr>
          <p:cNvPr id="24" name="Group 24"/>
          <p:cNvGrpSpPr/>
          <p:nvPr/>
        </p:nvGrpSpPr>
        <p:grpSpPr>
          <a:xfrm>
            <a:off x="742950" y="11740515"/>
            <a:ext cx="5905500" cy="2874645"/>
            <a:chOff x="742950" y="11740515"/>
            <a:chExt cx="5905500" cy="2874645"/>
          </a:xfrm>
        </p:grpSpPr>
        <p:sp>
          <p:nvSpPr>
            <p:cNvPr id="22" name="TextBox 22"/>
            <p:cNvSpPr txBox="1"/>
            <p:nvPr/>
          </p:nvSpPr>
          <p:spPr>
            <a:xfrm>
              <a:off x="745236" y="11740515"/>
              <a:ext cx="9220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a:t>
              </a:r>
            </a:p>
          </p:txBody>
        </p:sp>
        <p:sp>
          <p:nvSpPr>
            <p:cNvPr id="23" name="TextBox 23"/>
            <p:cNvSpPr txBox="1"/>
            <p:nvPr/>
          </p:nvSpPr>
          <p:spPr>
            <a:xfrm>
              <a:off x="742950" y="12310110"/>
              <a:ext cx="5905500" cy="2305050"/>
            </a:xfrm>
            <a:prstGeom prst="rect">
              <a:avLst/>
            </a:prstGeom>
            <a:noFill/>
            <a:ln>
              <a:noFill/>
            </a:ln>
          </p:spPr>
          <p:txBody>
            <a:bodyPr wrap="none" lIns="0" tIns="0" rIns="0" bIns="0" anchor="t" anchorCtr="0">
              <a:spAutoFit/>
            </a:bodyPr>
            <a:lstStyle/>
            <a:p>
              <a:pPr algn="l">
                <a:lnSpc>
                  <a:spcPts val="5850"/>
                </a:lnSpc>
              </a:pPr>
              <a:r>
                <a:rPr lang="zh-CN" sz="4200" dirty="0">
                  <a:solidFill>
                    <a:schemeClr val="dk1"/>
                  </a:solidFill>
                  <a:latin typeface="+mn-lt"/>
                  <a:ea typeface="+mn-ea"/>
                  <a:cs typeface="+mn-cs"/>
                </a:rPr>
                <a:t>立秋悬秤称人，与立夏比</a:t>
              </a:r>
              <a:br/>
              <a:r>
                <a:rPr lang="zh-CN" sz="4200" dirty="0">
                  <a:solidFill>
                    <a:schemeClr val="dk1"/>
                  </a:solidFill>
                  <a:latin typeface="+mn-lt"/>
                  <a:ea typeface="+mn-ea"/>
                  <a:cs typeface="+mn-cs"/>
                </a:rPr>
                <a:t>轻重，瘦了要贴秋膘；南</a:t>
              </a:r>
              <a:br/>
              <a:r>
                <a:rPr lang="zh-CN" sz="4200" dirty="0">
                  <a:solidFill>
                    <a:schemeClr val="dk1"/>
                  </a:solidFill>
                  <a:latin typeface="+mn-lt"/>
                  <a:ea typeface="+mn-ea"/>
                  <a:cs typeface="+mn-cs"/>
                </a:rPr>
                <a:t>方啃秋，多吃西瓜防秋燥</a:t>
              </a:r>
            </a:p>
          </p:txBody>
        </p:sp>
      </p:grpSp>
      <p:grpSp>
        <p:nvGrpSpPr>
          <p:cNvPr id="27" name="Group 27"/>
          <p:cNvGrpSpPr/>
          <p:nvPr/>
        </p:nvGrpSpPr>
        <p:grpSpPr>
          <a:xfrm>
            <a:off x="742950" y="14725650"/>
            <a:ext cx="8763000" cy="2021205"/>
            <a:chOff x="742950" y="14725650"/>
            <a:chExt cx="8763000" cy="2021205"/>
          </a:xfrm>
        </p:grpSpPr>
        <p:sp>
          <p:nvSpPr>
            <p:cNvPr id="25" name="Freeform 25"/>
            <p:cNvSpPr/>
            <p:nvPr/>
          </p:nvSpPr>
          <p:spPr>
            <a:xfrm>
              <a:off x="781050" y="14725650"/>
              <a:ext cx="8724900" cy="152400"/>
            </a:xfrm>
            <a:custGeom>
              <a:avLst/>
              <a:gdLst/>
              <a:ahLst/>
              <a:cxnLst/>
              <a:rect l="l" t="t" r="r" b="b"/>
              <a:pathLst>
                <a:path w="8724900" h="152400">
                  <a:moveTo>
                    <a:pt x="0" y="95250"/>
                  </a:moveTo>
                  <a:cubicBezTo>
                    <a:pt x="1695450" y="38100"/>
                    <a:pt x="3219450" y="152400"/>
                    <a:pt x="4933950" y="76200"/>
                  </a:cubicBezTo>
                  <a:cubicBezTo>
                    <a:pt x="6648450" y="0"/>
                    <a:pt x="7429500" y="19050"/>
                    <a:pt x="8724900" y="133350"/>
                  </a:cubicBezTo>
                </a:path>
              </a:pathLst>
            </a:custGeom>
            <a:noFill/>
            <a:ln w="47625" cap="rnd">
              <a:solidFill>
                <a:schemeClr val="accent2"/>
              </a:solidFill>
            </a:ln>
          </p:spPr>
        </p:sp>
        <p:sp>
          <p:nvSpPr>
            <p:cNvPr id="26" name="TextBox 26"/>
            <p:cNvSpPr txBox="1"/>
            <p:nvPr/>
          </p:nvSpPr>
          <p:spPr>
            <a:xfrm>
              <a:off x="742950" y="14899005"/>
              <a:ext cx="7162800" cy="1847850"/>
            </a:xfrm>
            <a:prstGeom prst="rect">
              <a:avLst/>
            </a:prstGeom>
            <a:noFill/>
            <a:ln>
              <a:noFill/>
            </a:ln>
          </p:spPr>
          <p:txBody>
            <a:bodyPr wrap="none" lIns="0" tIns="0" rIns="0" bIns="0" anchor="t" anchorCtr="0">
              <a:spAutoFit/>
            </a:bodyPr>
            <a:lstStyle/>
            <a:p>
              <a:pPr algn="l">
                <a:lnSpc>
                  <a:spcPts val="6750"/>
                </a:lnSpc>
              </a:pPr>
              <a:r>
                <a:rPr lang="zh-CN" sz="5100" dirty="0">
                  <a:solidFill>
                    <a:schemeClr val="accent1"/>
                  </a:solidFill>
                  <a:latin typeface="+mn-lt"/>
                  <a:ea typeface="+mn-ea"/>
                  <a:cs typeface="+mn-cs"/>
                </a:rPr>
                <a:t>秤一秤，别急着进补，</a:t>
              </a:r>
              <a:br/>
              <a:r>
                <a:rPr lang="zh-CN" sz="5100" dirty="0">
                  <a:solidFill>
                    <a:schemeClr val="accent1"/>
                  </a:solidFill>
                  <a:latin typeface="+mn-lt"/>
                  <a:ea typeface="+mn-ea"/>
                  <a:cs typeface="+mn-cs"/>
                </a:rPr>
                <a:t>先把西瓜的最后一口啃完</a:t>
              </a:r>
            </a:p>
          </p:txBody>
        </p:sp>
      </p:grpSp>
    </p:spTree>
  </p:cSld>
  <p:clrMapOvr>
    <a:masterClrMapping/>
  </p:clrMapOvr>
  <mc:AlternateContent>
    <mc:Choice Requires="p159">
      <p:transition p14:dur="90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6" name="Group 6"/>
          <p:cNvGrpSpPr/>
          <p:nvPr/>
        </p:nvGrpSpPr>
        <p:grpSpPr>
          <a:xfrm>
            <a:off x="745236" y="1758315"/>
            <a:ext cx="8432063" cy="2483739"/>
            <a:chOff x="745236" y="1758315"/>
            <a:chExt cx="8432063" cy="2483739"/>
          </a:xfrm>
        </p:grpSpPr>
        <p:sp>
          <p:nvSpPr>
            <p:cNvPr id="2" name="TextBox 2"/>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第二站</a:t>
              </a:r>
            </a:p>
          </p:txBody>
        </p:sp>
        <p:pic>
          <p:nvPicPr>
            <p:cNvPr id="3" name="Image 3"/>
            <p:cNvPicPr>
              <a:picLocks noChangeAspect="1"/>
            </p:cNvPicPr>
            <p:nvPr/>
          </p:nvPicPr>
          <p:blipFill>
            <a:blip r:embed="rId2"/>
            <a:stretch>
              <a:fillRect/>
            </a:stretch>
          </p:blipFill>
          <p:spPr>
            <a:xfrm>
              <a:off x="762000" y="2400300"/>
              <a:ext cx="2733675" cy="1619250"/>
            </a:xfrm>
            <a:prstGeom prst="rect">
              <a:avLst/>
            </a:prstGeom>
          </p:spPr>
        </p:pic>
        <p:sp>
          <p:nvSpPr>
            <p:cNvPr id="4" name="TextBox 4"/>
            <p:cNvSpPr txBox="1"/>
            <p:nvPr/>
          </p:nvSpPr>
          <p:spPr>
            <a:xfrm>
              <a:off x="4743450" y="2524125"/>
              <a:ext cx="2171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处暑</a:t>
              </a:r>
            </a:p>
          </p:txBody>
        </p:sp>
        <p:sp>
          <p:nvSpPr>
            <p:cNvPr id="5" name="TextBox 5"/>
            <p:cNvSpPr txBox="1"/>
            <p:nvPr/>
          </p:nvSpPr>
          <p:spPr>
            <a:xfrm>
              <a:off x="4745736" y="3596640"/>
              <a:ext cx="4431563"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2026年8月23日 10:19</a:t>
              </a:r>
            </a:p>
          </p:txBody>
        </p:sp>
      </p:grpSp>
      <p:grpSp>
        <p:nvGrpSpPr>
          <p:cNvPr id="9" name="Group 9"/>
          <p:cNvGrpSpPr/>
          <p:nvPr/>
        </p:nvGrpSpPr>
        <p:grpSpPr>
          <a:xfrm>
            <a:off x="762000" y="4572000"/>
            <a:ext cx="8763000" cy="1428750"/>
            <a:chOff x="762000" y="4572000"/>
            <a:chExt cx="8763000" cy="1428750"/>
          </a:xfrm>
        </p:grpSpPr>
        <p:sp>
          <p:nvSpPr>
            <p:cNvPr id="7" name="Freeform 7"/>
            <p:cNvSpPr/>
            <p:nvPr/>
          </p:nvSpPr>
          <p:spPr>
            <a:xfrm>
              <a:off x="762000" y="4572000"/>
              <a:ext cx="8763000" cy="1428750"/>
            </a:xfrm>
            <a:prstGeom prst="ribbon2">
              <a:avLst/>
            </a:prstGeom>
            <a:solidFill>
              <a:schemeClr val="lt2"/>
            </a:solidFill>
            <a:ln w="38100">
              <a:solidFill>
                <a:schemeClr val="dk1"/>
              </a:solidFill>
              <a:round/>
            </a:ln>
          </p:spPr>
        </p:sp>
        <p:sp>
          <p:nvSpPr>
            <p:cNvPr id="8" name="TextBox 8"/>
            <p:cNvSpPr txBox="1"/>
            <p:nvPr/>
          </p:nvSpPr>
          <p:spPr>
            <a:xfrm>
              <a:off x="3332226" y="4899660"/>
              <a:ext cx="3622548" cy="819150"/>
            </a:xfrm>
            <a:prstGeom prst="rect">
              <a:avLst/>
            </a:prstGeom>
            <a:noFill/>
            <a:ln>
              <a:noFill/>
            </a:ln>
          </p:spPr>
          <p:txBody>
            <a:bodyPr wrap="none" lIns="0" tIns="0" rIns="0" bIns="0" anchor="t" anchorCtr="0">
              <a:spAutoFit/>
            </a:bodyPr>
            <a:lstStyle/>
            <a:p>
              <a:pPr algn="ctr"/>
              <a:r>
                <a:rPr lang="zh-CN" sz="4200" dirty="0">
                  <a:solidFill>
                    <a:schemeClr val="accent1"/>
                  </a:solidFill>
                  <a:latin typeface="+mj-lt"/>
                  <a:ea typeface="+mj-ea"/>
                  <a:cs typeface="+mj-cs"/>
                </a:rPr>
                <a:t>暑气到此为止</a:t>
              </a:r>
            </a:p>
          </p:txBody>
        </p:sp>
      </p:grpSp>
      <p:grpSp>
        <p:nvGrpSpPr>
          <p:cNvPr id="19" name="Group 19"/>
          <p:cNvGrpSpPr/>
          <p:nvPr/>
        </p:nvGrpSpPr>
        <p:grpSpPr>
          <a:xfrm>
            <a:off x="762000" y="6286500"/>
            <a:ext cx="8610600" cy="1333500"/>
            <a:chOff x="762000" y="6286500"/>
            <a:chExt cx="8610600" cy="1333500"/>
          </a:xfrm>
        </p:grpSpPr>
        <p:sp>
          <p:nvSpPr>
            <p:cNvPr id="10" name="Freeform 10"/>
            <p:cNvSpPr/>
            <p:nvPr/>
          </p:nvSpPr>
          <p:spPr>
            <a:xfrm>
              <a:off x="762000" y="6286500"/>
              <a:ext cx="3048000" cy="1333500"/>
            </a:xfrm>
            <a:prstGeom prst="chevron">
              <a:avLst/>
            </a:prstGeom>
            <a:solidFill>
              <a:schemeClr val="lt1"/>
            </a:solidFill>
            <a:ln w="38100">
              <a:solidFill>
                <a:schemeClr val="dk1"/>
              </a:solidFill>
            </a:ln>
          </p:spPr>
        </p:sp>
        <p:sp>
          <p:nvSpPr>
            <p:cNvPr id="11" name="Freeform 11"/>
            <p:cNvSpPr/>
            <p:nvPr/>
          </p:nvSpPr>
          <p:spPr>
            <a:xfrm>
              <a:off x="3543300" y="6286500"/>
              <a:ext cx="3048000" cy="1333500"/>
            </a:xfrm>
            <a:prstGeom prst="chevron">
              <a:avLst/>
            </a:prstGeom>
            <a:solidFill>
              <a:schemeClr val="lt1"/>
            </a:solidFill>
            <a:ln w="38100">
              <a:solidFill>
                <a:schemeClr val="dk1"/>
              </a:solidFill>
            </a:ln>
          </p:spPr>
        </p:sp>
        <p:sp>
          <p:nvSpPr>
            <p:cNvPr id="12" name="Freeform 12"/>
            <p:cNvSpPr/>
            <p:nvPr/>
          </p:nvSpPr>
          <p:spPr>
            <a:xfrm>
              <a:off x="6324600" y="6286500"/>
              <a:ext cx="3048000" cy="1333500"/>
            </a:xfrm>
            <a:prstGeom prst="chevron">
              <a:avLst/>
            </a:prstGeom>
            <a:solidFill>
              <a:schemeClr val="lt1"/>
            </a:solidFill>
            <a:ln w="38100">
              <a:solidFill>
                <a:schemeClr val="dk1"/>
              </a:solidFill>
            </a:ln>
          </p:spPr>
        </p:sp>
        <p:sp>
          <p:nvSpPr>
            <p:cNvPr id="13" name="TextBox 13"/>
            <p:cNvSpPr txBox="1"/>
            <p:nvPr/>
          </p:nvSpPr>
          <p:spPr>
            <a:xfrm>
              <a:off x="1950720" y="6465570"/>
              <a:ext cx="670560"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一候</a:t>
              </a:r>
            </a:p>
          </p:txBody>
        </p:sp>
        <p:sp>
          <p:nvSpPr>
            <p:cNvPr id="14" name="TextBox 14"/>
            <p:cNvSpPr txBox="1"/>
            <p:nvPr/>
          </p:nvSpPr>
          <p:spPr>
            <a:xfrm>
              <a:off x="1463040" y="6953250"/>
              <a:ext cx="1645920"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鹰乃祭鸟</a:t>
              </a:r>
            </a:p>
          </p:txBody>
        </p:sp>
        <p:sp>
          <p:nvSpPr>
            <p:cNvPr id="15" name="TextBox 15"/>
            <p:cNvSpPr txBox="1"/>
            <p:nvPr/>
          </p:nvSpPr>
          <p:spPr>
            <a:xfrm>
              <a:off x="4732020" y="6465570"/>
              <a:ext cx="670560"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二候</a:t>
              </a:r>
            </a:p>
          </p:txBody>
        </p:sp>
        <p:sp>
          <p:nvSpPr>
            <p:cNvPr id="16" name="TextBox 16"/>
            <p:cNvSpPr txBox="1"/>
            <p:nvPr/>
          </p:nvSpPr>
          <p:spPr>
            <a:xfrm>
              <a:off x="4244340" y="6953250"/>
              <a:ext cx="1645920"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天地始肃</a:t>
              </a:r>
            </a:p>
          </p:txBody>
        </p:sp>
        <p:sp>
          <p:nvSpPr>
            <p:cNvPr id="17" name="TextBox 17"/>
            <p:cNvSpPr txBox="1"/>
            <p:nvPr/>
          </p:nvSpPr>
          <p:spPr>
            <a:xfrm>
              <a:off x="7513320" y="6465570"/>
              <a:ext cx="670560"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三候</a:t>
              </a:r>
            </a:p>
          </p:txBody>
        </p:sp>
        <p:sp>
          <p:nvSpPr>
            <p:cNvPr id="18" name="TextBox 18"/>
            <p:cNvSpPr txBox="1"/>
            <p:nvPr/>
          </p:nvSpPr>
          <p:spPr>
            <a:xfrm>
              <a:off x="7227570" y="6953250"/>
              <a:ext cx="1242060"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禾乃登</a:t>
              </a:r>
            </a:p>
          </p:txBody>
        </p:sp>
      </p:grpSp>
      <p:grpSp>
        <p:nvGrpSpPr>
          <p:cNvPr id="25" name="Group 25"/>
          <p:cNvGrpSpPr/>
          <p:nvPr/>
        </p:nvGrpSpPr>
        <p:grpSpPr>
          <a:xfrm>
            <a:off x="1143000" y="8191500"/>
            <a:ext cx="8001000" cy="2600325"/>
            <a:chOff x="1143000" y="8191500"/>
            <a:chExt cx="8001000" cy="2600325"/>
          </a:xfrm>
        </p:grpSpPr>
        <p:sp>
          <p:nvSpPr>
            <p:cNvPr id="20" name="Freeform 20"/>
            <p:cNvSpPr/>
            <p:nvPr/>
          </p:nvSpPr>
          <p:spPr>
            <a:xfrm>
              <a:off x="1143000" y="10267950"/>
              <a:ext cx="2476500" cy="114300"/>
            </a:xfrm>
            <a:custGeom>
              <a:avLst/>
              <a:gdLst/>
              <a:ahLst/>
              <a:cxnLst/>
              <a:rect l="l" t="t" r="r" b="b"/>
              <a:pathLst>
                <a:path w="2476500" h="114300">
                  <a:moveTo>
                    <a:pt x="0" y="114300"/>
                  </a:moveTo>
                  <a:cubicBezTo>
                    <a:pt x="772478" y="101918"/>
                    <a:pt x="1652588" y="36195"/>
                    <a:pt x="2476500" y="0"/>
                  </a:cubicBezTo>
                </a:path>
              </a:pathLst>
            </a:custGeom>
            <a:noFill/>
            <a:ln w="38100" cap="rnd">
              <a:solidFill>
                <a:schemeClr val="accent6"/>
              </a:solidFill>
            </a:ln>
          </p:spPr>
        </p:sp>
        <p:sp>
          <p:nvSpPr>
            <p:cNvPr id="21" name="Freeform 21"/>
            <p:cNvSpPr/>
            <p:nvPr/>
          </p:nvSpPr>
          <p:spPr>
            <a:xfrm>
              <a:off x="1333500" y="10572750"/>
              <a:ext cx="2095500" cy="99060"/>
            </a:xfrm>
            <a:custGeom>
              <a:avLst/>
              <a:gdLst/>
              <a:ahLst/>
              <a:cxnLst/>
              <a:rect l="l" t="t" r="r" b="b"/>
              <a:pathLst>
                <a:path w="2095500" h="99060">
                  <a:moveTo>
                    <a:pt x="0" y="95250"/>
                  </a:moveTo>
                  <a:cubicBezTo>
                    <a:pt x="752475" y="16193"/>
                    <a:pt x="1319212" y="99060"/>
                    <a:pt x="2095500" y="0"/>
                  </a:cubicBezTo>
                </a:path>
              </a:pathLst>
            </a:custGeom>
            <a:noFill/>
            <a:ln w="38100" cap="rnd">
              <a:solidFill>
                <a:schemeClr val="accent6"/>
              </a:solidFill>
            </a:ln>
          </p:spPr>
        </p:sp>
        <p:pic>
          <p:nvPicPr>
            <p:cNvPr id="22" name="Image 22"/>
            <p:cNvPicPr>
              <a:picLocks noChangeAspect="1"/>
            </p:cNvPicPr>
            <p:nvPr/>
          </p:nvPicPr>
          <p:blipFill>
            <a:blip r:embed="rId3"/>
            <a:stretch>
              <a:fillRect/>
            </a:stretch>
          </p:blipFill>
          <p:spPr>
            <a:xfrm>
              <a:off x="3905250" y="8191500"/>
              <a:ext cx="2476500" cy="2600325"/>
            </a:xfrm>
            <a:prstGeom prst="rect">
              <a:avLst/>
            </a:prstGeom>
          </p:spPr>
        </p:pic>
        <p:sp>
          <p:nvSpPr>
            <p:cNvPr id="23" name="Freeform 23"/>
            <p:cNvSpPr/>
            <p:nvPr/>
          </p:nvSpPr>
          <p:spPr>
            <a:xfrm>
              <a:off x="6667500" y="10250805"/>
              <a:ext cx="2476500" cy="153352"/>
            </a:xfrm>
            <a:custGeom>
              <a:avLst/>
              <a:gdLst/>
              <a:ahLst/>
              <a:cxnLst/>
              <a:rect l="l" t="t" r="r" b="b"/>
              <a:pathLst>
                <a:path w="2476500" h="153352">
                  <a:moveTo>
                    <a:pt x="0" y="131445"/>
                  </a:moveTo>
                  <a:cubicBezTo>
                    <a:pt x="873443" y="153352"/>
                    <a:pt x="1686878" y="0"/>
                    <a:pt x="2476500" y="17145"/>
                  </a:cubicBezTo>
                </a:path>
              </a:pathLst>
            </a:custGeom>
            <a:noFill/>
            <a:ln w="38100" cap="rnd">
              <a:solidFill>
                <a:schemeClr val="accent6"/>
              </a:solidFill>
            </a:ln>
          </p:spPr>
        </p:sp>
        <p:sp>
          <p:nvSpPr>
            <p:cNvPr id="24" name="Freeform 24"/>
            <p:cNvSpPr/>
            <p:nvPr/>
          </p:nvSpPr>
          <p:spPr>
            <a:xfrm>
              <a:off x="6858000" y="10572750"/>
              <a:ext cx="2095500" cy="109538"/>
            </a:xfrm>
            <a:custGeom>
              <a:avLst/>
              <a:gdLst/>
              <a:ahLst/>
              <a:cxnLst/>
              <a:rect l="l" t="t" r="r" b="b"/>
              <a:pathLst>
                <a:path w="2095500" h="109538">
                  <a:moveTo>
                    <a:pt x="0" y="95250"/>
                  </a:moveTo>
                  <a:cubicBezTo>
                    <a:pt x="720090" y="109538"/>
                    <a:pt x="1341120" y="99060"/>
                    <a:pt x="2095500" y="0"/>
                  </a:cubicBezTo>
                </a:path>
              </a:pathLst>
            </a:custGeom>
            <a:noFill/>
            <a:ln w="38100" cap="rnd">
              <a:solidFill>
                <a:schemeClr val="accent6"/>
              </a:solidFill>
            </a:ln>
          </p:spPr>
        </p:sp>
      </p:grpSp>
      <p:grpSp>
        <p:nvGrpSpPr>
          <p:cNvPr id="28" name="Group 28"/>
          <p:cNvGrpSpPr/>
          <p:nvPr/>
        </p:nvGrpSpPr>
        <p:grpSpPr>
          <a:xfrm>
            <a:off x="742950" y="11359515"/>
            <a:ext cx="7559040" cy="2874645"/>
            <a:chOff x="742950" y="11359515"/>
            <a:chExt cx="7559040" cy="2874645"/>
          </a:xfrm>
        </p:grpSpPr>
        <p:sp>
          <p:nvSpPr>
            <p:cNvPr id="26" name="TextBox 26"/>
            <p:cNvSpPr txBox="1"/>
            <p:nvPr/>
          </p:nvSpPr>
          <p:spPr>
            <a:xfrm>
              <a:off x="745236" y="11359515"/>
              <a:ext cx="9220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a:t>
              </a:r>
            </a:p>
          </p:txBody>
        </p:sp>
        <p:sp>
          <p:nvSpPr>
            <p:cNvPr id="27" name="TextBox 27"/>
            <p:cNvSpPr txBox="1"/>
            <p:nvPr/>
          </p:nvSpPr>
          <p:spPr>
            <a:xfrm>
              <a:off x="742950" y="11929110"/>
              <a:ext cx="7559040" cy="2305050"/>
            </a:xfrm>
            <a:prstGeom prst="rect">
              <a:avLst/>
            </a:prstGeom>
            <a:noFill/>
            <a:ln>
              <a:noFill/>
            </a:ln>
          </p:spPr>
          <p:txBody>
            <a:bodyPr wrap="none" lIns="0" tIns="0" rIns="0" bIns="0" anchor="t" anchorCtr="0">
              <a:spAutoFit/>
            </a:bodyPr>
            <a:lstStyle/>
            <a:p>
              <a:pPr algn="l">
                <a:lnSpc>
                  <a:spcPts val="5850"/>
                </a:lnSpc>
              </a:pPr>
              <a:r>
                <a:rPr lang="zh-CN" sz="4200" dirty="0">
                  <a:solidFill>
                    <a:schemeClr val="dk1"/>
                  </a:solidFill>
                  <a:latin typeface="+mn-lt"/>
                  <a:ea typeface="+mn-ea"/>
                  <a:cs typeface="+mn-cs"/>
                </a:rPr>
                <a:t>吃鸭子——处暑送鸭，无病各家；</a:t>
              </a:r>
              <a:br/>
              <a:r>
                <a:rPr lang="zh-CN" sz="4200" dirty="0">
                  <a:solidFill>
                    <a:schemeClr val="dk1"/>
                  </a:solidFill>
                  <a:latin typeface="+mn-lt"/>
                  <a:ea typeface="+mn-ea"/>
                  <a:cs typeface="+mn-cs"/>
                </a:rPr>
                <a:t>傍晚放一盏河灯，悼念逝者，也</a:t>
              </a:r>
              <a:br/>
              <a:r>
                <a:rPr lang="zh-CN" sz="4200" dirty="0">
                  <a:solidFill>
                    <a:schemeClr val="dk1"/>
                  </a:solidFill>
                  <a:latin typeface="+mn-lt"/>
                  <a:ea typeface="+mn-ea"/>
                  <a:cs typeface="+mn-cs"/>
                </a:rPr>
                <a:t>祝家里安康。</a:t>
              </a:r>
            </a:p>
          </p:txBody>
        </p:sp>
      </p:grpSp>
      <p:grpSp>
        <p:nvGrpSpPr>
          <p:cNvPr id="31" name="Group 31"/>
          <p:cNvGrpSpPr/>
          <p:nvPr/>
        </p:nvGrpSpPr>
        <p:grpSpPr>
          <a:xfrm>
            <a:off x="742950" y="14725650"/>
            <a:ext cx="8763000" cy="2021205"/>
            <a:chOff x="742950" y="14725650"/>
            <a:chExt cx="8763000" cy="2021205"/>
          </a:xfrm>
        </p:grpSpPr>
        <p:sp>
          <p:nvSpPr>
            <p:cNvPr id="29" name="Freeform 29"/>
            <p:cNvSpPr/>
            <p:nvPr/>
          </p:nvSpPr>
          <p:spPr>
            <a:xfrm>
              <a:off x="781050" y="14725650"/>
              <a:ext cx="8724900" cy="152400"/>
            </a:xfrm>
            <a:custGeom>
              <a:avLst/>
              <a:gdLst/>
              <a:ahLst/>
              <a:cxnLst/>
              <a:rect l="l" t="t" r="r" b="b"/>
              <a:pathLst>
                <a:path w="8724900" h="152400">
                  <a:moveTo>
                    <a:pt x="0" y="95250"/>
                  </a:moveTo>
                  <a:cubicBezTo>
                    <a:pt x="1695450" y="38100"/>
                    <a:pt x="3219450" y="152400"/>
                    <a:pt x="4933950" y="76200"/>
                  </a:cubicBezTo>
                  <a:cubicBezTo>
                    <a:pt x="6648450" y="0"/>
                    <a:pt x="7429500" y="19050"/>
                    <a:pt x="8724900" y="133350"/>
                  </a:cubicBezTo>
                </a:path>
              </a:pathLst>
            </a:custGeom>
            <a:noFill/>
            <a:ln w="47625" cap="rnd">
              <a:solidFill>
                <a:schemeClr val="accent2"/>
              </a:solidFill>
            </a:ln>
          </p:spPr>
        </p:sp>
        <p:sp>
          <p:nvSpPr>
            <p:cNvPr id="30" name="TextBox 30"/>
            <p:cNvSpPr txBox="1"/>
            <p:nvPr/>
          </p:nvSpPr>
          <p:spPr>
            <a:xfrm>
              <a:off x="742950" y="14899005"/>
              <a:ext cx="7162800" cy="1847850"/>
            </a:xfrm>
            <a:prstGeom prst="rect">
              <a:avLst/>
            </a:prstGeom>
            <a:noFill/>
            <a:ln>
              <a:noFill/>
            </a:ln>
          </p:spPr>
          <p:txBody>
            <a:bodyPr wrap="none" lIns="0" tIns="0" rIns="0" bIns="0" anchor="t" anchorCtr="0">
              <a:spAutoFit/>
            </a:bodyPr>
            <a:lstStyle/>
            <a:p>
              <a:pPr algn="l">
                <a:lnSpc>
                  <a:spcPts val="6750"/>
                </a:lnSpc>
              </a:pPr>
              <a:r>
                <a:rPr lang="zh-CN" sz="5100" dirty="0">
                  <a:solidFill>
                    <a:schemeClr val="accent1"/>
                  </a:solidFill>
                  <a:latin typeface="+mn-lt"/>
                  <a:ea typeface="+mn-ea"/>
                  <a:cs typeface="+mn-cs"/>
                </a:rPr>
                <a:t>暑气打包退场，找个傍晚</a:t>
              </a:r>
              <a:br/>
              <a:r>
                <a:rPr lang="zh-CN" sz="5100" dirty="0">
                  <a:solidFill>
                    <a:schemeClr val="accent1"/>
                  </a:solidFill>
                  <a:latin typeface="+mn-lt"/>
                  <a:ea typeface="+mn-ea"/>
                  <a:cs typeface="+mn-cs"/>
                </a:rPr>
                <a:t>去水边，把一盏灯放走</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5" name="Group 5"/>
          <p:cNvGrpSpPr/>
          <p:nvPr/>
        </p:nvGrpSpPr>
        <p:grpSpPr>
          <a:xfrm>
            <a:off x="742950" y="1758315"/>
            <a:ext cx="5372100" cy="2118360"/>
            <a:chOff x="742950" y="1758315"/>
            <a:chExt cx="5372100" cy="2118360"/>
          </a:xfrm>
        </p:grpSpPr>
        <p:sp>
          <p:nvSpPr>
            <p:cNvPr id="2" name="TextBox 2"/>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呼吸页</a:t>
              </a:r>
            </a:p>
          </p:txBody>
        </p:sp>
        <p:sp>
          <p:nvSpPr>
            <p:cNvPr id="3" name="TextBox 3"/>
            <p:cNvSpPr txBox="1"/>
            <p:nvPr/>
          </p:nvSpPr>
          <p:spPr>
            <a:xfrm>
              <a:off x="742950" y="2428875"/>
              <a:ext cx="53721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秋天的颜色</a:t>
              </a:r>
            </a:p>
          </p:txBody>
        </p:sp>
        <p:sp>
          <p:nvSpPr>
            <p:cNvPr id="4" name="Freeform 4"/>
            <p:cNvSpPr/>
            <p:nvPr/>
          </p:nvSpPr>
          <p:spPr>
            <a:xfrm>
              <a:off x="800100" y="3556635"/>
              <a:ext cx="4533900" cy="65723"/>
            </a:xfrm>
            <a:custGeom>
              <a:avLst/>
              <a:gdLst/>
              <a:ahLst/>
              <a:cxnLst/>
              <a:rect l="l" t="t" r="r" b="b"/>
              <a:pathLst>
                <a:path w="4533900" h="65723">
                  <a:moveTo>
                    <a:pt x="0" y="43815"/>
                  </a:moveTo>
                  <a:cubicBezTo>
                    <a:pt x="1483042" y="0"/>
                    <a:pt x="2954655" y="65723"/>
                    <a:pt x="4533900" y="5715"/>
                  </a:cubicBezTo>
                </a:path>
              </a:pathLst>
            </a:custGeom>
            <a:noFill/>
            <a:ln w="47625" cap="rnd">
              <a:solidFill>
                <a:schemeClr val="accent2"/>
              </a:solidFill>
            </a:ln>
          </p:spPr>
        </p:sp>
      </p:grpSp>
      <p:grpSp>
        <p:nvGrpSpPr>
          <p:cNvPr id="9" name="Group 9"/>
          <p:cNvGrpSpPr/>
          <p:nvPr/>
        </p:nvGrpSpPr>
        <p:grpSpPr>
          <a:xfrm>
            <a:off x="1080135" y="5109210"/>
            <a:ext cx="8051483" cy="1138237"/>
            <a:chOff x="1080135" y="5109210"/>
            <a:chExt cx="8051483" cy="1138237"/>
          </a:xfrm>
        </p:grpSpPr>
        <p:sp>
          <p:nvSpPr>
            <p:cNvPr id="6" name="Freeform 6"/>
            <p:cNvSpPr/>
            <p:nvPr/>
          </p:nvSpPr>
          <p:spPr>
            <a:xfrm>
              <a:off x="1200150" y="5109210"/>
              <a:ext cx="7931468" cy="1125855"/>
            </a:xfrm>
            <a:custGeom>
              <a:avLst/>
              <a:gdLst/>
              <a:ahLst/>
              <a:cxnLst/>
              <a:rect l="l" t="t" r="r" b="b"/>
              <a:pathLst>
                <a:path w="7931468" h="1125855">
                  <a:moveTo>
                    <a:pt x="0" y="2858"/>
                  </a:moveTo>
                  <a:cubicBezTo>
                    <a:pt x="2378392" y="0"/>
                    <a:pt x="5503545" y="97155"/>
                    <a:pt x="7812405" y="9525"/>
                  </a:cubicBezTo>
                  <a:cubicBezTo>
                    <a:pt x="7891462" y="390525"/>
                    <a:pt x="7820978" y="1106805"/>
                    <a:pt x="7931468" y="1039178"/>
                  </a:cubicBezTo>
                  <a:cubicBezTo>
                    <a:pt x="5465445" y="1125855"/>
                    <a:pt x="2337435" y="1077278"/>
                    <a:pt x="14288" y="1081088"/>
                  </a:cubicBezTo>
                  <a:cubicBezTo>
                    <a:pt x="55245" y="713422"/>
                    <a:pt x="25717" y="77153"/>
                    <a:pt x="39052" y="53340"/>
                  </a:cubicBezTo>
                  <a:close/>
                </a:path>
              </a:pathLst>
            </a:custGeom>
            <a:solidFill>
              <a:srgbClr val="D9755A"/>
            </a:solidFill>
            <a:ln>
              <a:noFill/>
            </a:ln>
          </p:spPr>
        </p:sp>
        <p:sp>
          <p:nvSpPr>
            <p:cNvPr id="7" name="Freeform 7"/>
            <p:cNvSpPr/>
            <p:nvPr/>
          </p:nvSpPr>
          <p:spPr>
            <a:xfrm>
              <a:off x="1080135" y="5133022"/>
              <a:ext cx="7959090" cy="1114425"/>
            </a:xfrm>
            <a:custGeom>
              <a:avLst/>
              <a:gdLst/>
              <a:ahLst/>
              <a:cxnLst/>
              <a:rect l="l" t="t" r="r" b="b"/>
              <a:pathLst>
                <a:path w="7959090" h="1114425">
                  <a:moveTo>
                    <a:pt x="117157" y="20955"/>
                  </a:moveTo>
                  <a:cubicBezTo>
                    <a:pt x="2417445" y="0"/>
                    <a:pt x="5635942" y="2858"/>
                    <a:pt x="7953375" y="61912"/>
                  </a:cubicBezTo>
                  <a:cubicBezTo>
                    <a:pt x="7959090" y="447675"/>
                    <a:pt x="7914322" y="1063943"/>
                    <a:pt x="7873365" y="1053465"/>
                  </a:cubicBezTo>
                  <a:cubicBezTo>
                    <a:pt x="5540692" y="1114425"/>
                    <a:pt x="2415540" y="1022985"/>
                    <a:pt x="0" y="1056322"/>
                  </a:cubicBezTo>
                  <a:cubicBezTo>
                    <a:pt x="127635" y="602933"/>
                    <a:pt x="56197" y="84772"/>
                    <a:pt x="12382" y="88583"/>
                  </a:cubicBezTo>
                  <a:close/>
                </a:path>
              </a:pathLst>
            </a:custGeom>
            <a:noFill/>
            <a:ln w="38100">
              <a:solidFill>
                <a:schemeClr val="dk1"/>
              </a:solidFill>
              <a:round/>
            </a:ln>
          </p:spPr>
        </p:sp>
        <p:sp>
          <p:nvSpPr>
            <p:cNvPr id="8" name="TextBox 8"/>
            <p:cNvSpPr txBox="1"/>
            <p:nvPr/>
          </p:nvSpPr>
          <p:spPr>
            <a:xfrm>
              <a:off x="1657350" y="54140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立秋 · 瓜瓤红</a:t>
              </a:r>
            </a:p>
          </p:txBody>
        </p:sp>
      </p:grpSp>
      <p:grpSp>
        <p:nvGrpSpPr>
          <p:cNvPr id="13" name="Group 13"/>
          <p:cNvGrpSpPr/>
          <p:nvPr/>
        </p:nvGrpSpPr>
        <p:grpSpPr>
          <a:xfrm>
            <a:off x="1080135" y="6463665"/>
            <a:ext cx="8050530" cy="1122045"/>
            <a:chOff x="1080135" y="6463665"/>
            <a:chExt cx="8050530" cy="1122045"/>
          </a:xfrm>
        </p:grpSpPr>
        <p:sp>
          <p:nvSpPr>
            <p:cNvPr id="10" name="Freeform 10"/>
            <p:cNvSpPr/>
            <p:nvPr/>
          </p:nvSpPr>
          <p:spPr>
            <a:xfrm>
              <a:off x="1137285" y="6463665"/>
              <a:ext cx="7993380" cy="1088707"/>
            </a:xfrm>
            <a:custGeom>
              <a:avLst/>
              <a:gdLst/>
              <a:ahLst/>
              <a:cxnLst/>
              <a:rect l="l" t="t" r="r" b="b"/>
              <a:pathLst>
                <a:path w="7993380" h="1088707">
                  <a:moveTo>
                    <a:pt x="28575" y="13335"/>
                  </a:moveTo>
                  <a:cubicBezTo>
                    <a:pt x="2378392" y="56197"/>
                    <a:pt x="5534025" y="20003"/>
                    <a:pt x="7987665" y="0"/>
                  </a:cubicBezTo>
                  <a:cubicBezTo>
                    <a:pt x="7993380" y="455295"/>
                    <a:pt x="7937183" y="1059180"/>
                    <a:pt x="7941945" y="1022985"/>
                  </a:cubicBezTo>
                  <a:cubicBezTo>
                    <a:pt x="5636895" y="1029653"/>
                    <a:pt x="2487930" y="1088707"/>
                    <a:pt x="0" y="1009650"/>
                  </a:cubicBezTo>
                  <a:cubicBezTo>
                    <a:pt x="60007" y="672465"/>
                    <a:pt x="20002" y="28575"/>
                    <a:pt x="44767" y="51435"/>
                  </a:cubicBezTo>
                  <a:close/>
                </a:path>
              </a:pathLst>
            </a:custGeom>
            <a:solidFill>
              <a:srgbClr val="E3B45C"/>
            </a:solidFill>
            <a:ln>
              <a:noFill/>
            </a:ln>
          </p:spPr>
        </p:sp>
        <p:sp>
          <p:nvSpPr>
            <p:cNvPr id="11" name="Freeform 11"/>
            <p:cNvSpPr/>
            <p:nvPr/>
          </p:nvSpPr>
          <p:spPr>
            <a:xfrm>
              <a:off x="1080135" y="6475095"/>
              <a:ext cx="7912418" cy="1110615"/>
            </a:xfrm>
            <a:custGeom>
              <a:avLst/>
              <a:gdLst/>
              <a:ahLst/>
              <a:cxnLst/>
              <a:rect l="l" t="t" r="r" b="b"/>
              <a:pathLst>
                <a:path w="7912418" h="1110615">
                  <a:moveTo>
                    <a:pt x="39052" y="56198"/>
                  </a:moveTo>
                  <a:cubicBezTo>
                    <a:pt x="2357437" y="104775"/>
                    <a:pt x="5613083" y="106680"/>
                    <a:pt x="7899083" y="0"/>
                  </a:cubicBezTo>
                  <a:cubicBezTo>
                    <a:pt x="7871460" y="410528"/>
                    <a:pt x="7866698" y="1094423"/>
                    <a:pt x="7912418" y="1110615"/>
                  </a:cubicBezTo>
                  <a:cubicBezTo>
                    <a:pt x="5604510" y="1048703"/>
                    <a:pt x="2378392" y="1048703"/>
                    <a:pt x="0" y="1088708"/>
                  </a:cubicBezTo>
                  <a:cubicBezTo>
                    <a:pt x="21907" y="610553"/>
                    <a:pt x="114300" y="31433"/>
                    <a:pt x="121920" y="103823"/>
                  </a:cubicBezTo>
                  <a:close/>
                </a:path>
              </a:pathLst>
            </a:custGeom>
            <a:noFill/>
            <a:ln w="38100">
              <a:solidFill>
                <a:schemeClr val="dk1"/>
              </a:solidFill>
              <a:round/>
            </a:ln>
          </p:spPr>
        </p:sp>
        <p:sp>
          <p:nvSpPr>
            <p:cNvPr id="12" name="TextBox 12"/>
            <p:cNvSpPr txBox="1"/>
            <p:nvPr/>
          </p:nvSpPr>
          <p:spPr>
            <a:xfrm>
              <a:off x="1657350" y="6747510"/>
              <a:ext cx="2949931"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处暑 · 鸭黄</a:t>
              </a:r>
            </a:p>
          </p:txBody>
        </p:sp>
      </p:grpSp>
      <p:grpSp>
        <p:nvGrpSpPr>
          <p:cNvPr id="17" name="Group 17"/>
          <p:cNvGrpSpPr/>
          <p:nvPr/>
        </p:nvGrpSpPr>
        <p:grpSpPr>
          <a:xfrm>
            <a:off x="1085850" y="7751445"/>
            <a:ext cx="8047672" cy="1148715"/>
            <a:chOff x="1085850" y="7751445"/>
            <a:chExt cx="8047672" cy="1148715"/>
          </a:xfrm>
        </p:grpSpPr>
        <p:sp>
          <p:nvSpPr>
            <p:cNvPr id="14" name="Freeform 14"/>
            <p:cNvSpPr/>
            <p:nvPr/>
          </p:nvSpPr>
          <p:spPr>
            <a:xfrm>
              <a:off x="1163955" y="7751445"/>
              <a:ext cx="7969567" cy="1066800"/>
            </a:xfrm>
            <a:custGeom>
              <a:avLst/>
              <a:gdLst/>
              <a:ahLst/>
              <a:cxnLst/>
              <a:rect l="l" t="t" r="r" b="b"/>
              <a:pathLst>
                <a:path w="7969567" h="1066800">
                  <a:moveTo>
                    <a:pt x="100012" y="0"/>
                  </a:moveTo>
                  <a:cubicBezTo>
                    <a:pt x="2426970" y="57150"/>
                    <a:pt x="5602605" y="46673"/>
                    <a:pt x="7960042" y="13335"/>
                  </a:cubicBezTo>
                  <a:cubicBezTo>
                    <a:pt x="7969567" y="459105"/>
                    <a:pt x="7861935" y="1066800"/>
                    <a:pt x="7920990" y="1025843"/>
                  </a:cubicBezTo>
                  <a:cubicBezTo>
                    <a:pt x="5528310" y="1022985"/>
                    <a:pt x="2339340" y="1043940"/>
                    <a:pt x="0" y="1057275"/>
                  </a:cubicBezTo>
                  <a:cubicBezTo>
                    <a:pt x="73343" y="664845"/>
                    <a:pt x="83820" y="112395"/>
                    <a:pt x="88582" y="119062"/>
                  </a:cubicBezTo>
                  <a:close/>
                </a:path>
              </a:pathLst>
            </a:custGeom>
            <a:solidFill>
              <a:srgbClr val="9FB392"/>
            </a:solidFill>
            <a:ln>
              <a:noFill/>
            </a:ln>
          </p:spPr>
        </p:sp>
        <p:sp>
          <p:nvSpPr>
            <p:cNvPr id="15" name="Freeform 15"/>
            <p:cNvSpPr/>
            <p:nvPr/>
          </p:nvSpPr>
          <p:spPr>
            <a:xfrm>
              <a:off x="1085850" y="7811452"/>
              <a:ext cx="7957185" cy="1083945"/>
            </a:xfrm>
            <a:custGeom>
              <a:avLst/>
              <a:gdLst/>
              <a:ahLst/>
              <a:cxnLst/>
              <a:rect l="l" t="t" r="r" b="b"/>
              <a:pathLst>
                <a:path w="7957185" h="1083945">
                  <a:moveTo>
                    <a:pt x="0" y="49530"/>
                  </a:moveTo>
                  <a:cubicBezTo>
                    <a:pt x="2483168" y="16192"/>
                    <a:pt x="5570220" y="20003"/>
                    <a:pt x="7957185" y="61912"/>
                  </a:cubicBezTo>
                  <a:cubicBezTo>
                    <a:pt x="7938135" y="512445"/>
                    <a:pt x="7951470" y="1044892"/>
                    <a:pt x="7908608" y="1083945"/>
                  </a:cubicBezTo>
                  <a:cubicBezTo>
                    <a:pt x="5590222" y="1028700"/>
                    <a:pt x="2458402" y="1059180"/>
                    <a:pt x="93345" y="1011555"/>
                  </a:cubicBezTo>
                  <a:cubicBezTo>
                    <a:pt x="32385" y="589597"/>
                    <a:pt x="45720" y="4762"/>
                    <a:pt x="37148" y="0"/>
                  </a:cubicBezTo>
                  <a:close/>
                </a:path>
              </a:pathLst>
            </a:custGeom>
            <a:noFill/>
            <a:ln w="38100">
              <a:solidFill>
                <a:schemeClr val="dk1"/>
              </a:solidFill>
              <a:round/>
            </a:ln>
          </p:spPr>
        </p:sp>
        <p:sp>
          <p:nvSpPr>
            <p:cNvPr id="16" name="TextBox 16"/>
            <p:cNvSpPr txBox="1"/>
            <p:nvPr/>
          </p:nvSpPr>
          <p:spPr>
            <a:xfrm>
              <a:off x="1657350" y="80810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白露 · 露水青</a:t>
              </a:r>
            </a:p>
          </p:txBody>
        </p:sp>
      </p:grpSp>
      <p:grpSp>
        <p:nvGrpSpPr>
          <p:cNvPr id="21" name="Group 21"/>
          <p:cNvGrpSpPr/>
          <p:nvPr/>
        </p:nvGrpSpPr>
        <p:grpSpPr>
          <a:xfrm>
            <a:off x="1113472" y="9084945"/>
            <a:ext cx="8001953" cy="1183957"/>
            <a:chOff x="1113472" y="9084945"/>
            <a:chExt cx="8001953" cy="1183957"/>
          </a:xfrm>
        </p:grpSpPr>
        <p:sp>
          <p:nvSpPr>
            <p:cNvPr id="18" name="Freeform 18"/>
            <p:cNvSpPr/>
            <p:nvPr/>
          </p:nvSpPr>
          <p:spPr>
            <a:xfrm>
              <a:off x="1163955" y="9084945"/>
              <a:ext cx="7951470" cy="1154430"/>
            </a:xfrm>
            <a:custGeom>
              <a:avLst/>
              <a:gdLst/>
              <a:ahLst/>
              <a:cxnLst/>
              <a:rect l="l" t="t" r="r" b="b"/>
              <a:pathLst>
                <a:path w="7951470" h="1154430">
                  <a:moveTo>
                    <a:pt x="51435" y="111443"/>
                  </a:moveTo>
                  <a:cubicBezTo>
                    <a:pt x="2390775" y="87630"/>
                    <a:pt x="5601652" y="61912"/>
                    <a:pt x="7935277" y="89535"/>
                  </a:cubicBezTo>
                  <a:cubicBezTo>
                    <a:pt x="7951470" y="408623"/>
                    <a:pt x="7860030" y="1154430"/>
                    <a:pt x="7937182" y="1056323"/>
                  </a:cubicBezTo>
                  <a:cubicBezTo>
                    <a:pt x="5575935" y="1043940"/>
                    <a:pt x="2377440" y="1080135"/>
                    <a:pt x="0" y="1039178"/>
                  </a:cubicBezTo>
                  <a:cubicBezTo>
                    <a:pt x="37147" y="696278"/>
                    <a:pt x="12382" y="80010"/>
                    <a:pt x="100012" y="0"/>
                  </a:cubicBezTo>
                  <a:close/>
                </a:path>
              </a:pathLst>
            </a:custGeom>
            <a:solidFill>
              <a:schemeClr val="accent2"/>
            </a:solidFill>
            <a:ln>
              <a:noFill/>
            </a:ln>
          </p:spPr>
        </p:sp>
        <p:sp>
          <p:nvSpPr>
            <p:cNvPr id="19" name="Freeform 19"/>
            <p:cNvSpPr/>
            <p:nvPr/>
          </p:nvSpPr>
          <p:spPr>
            <a:xfrm>
              <a:off x="1113472" y="9142095"/>
              <a:ext cx="7934325" cy="1126807"/>
            </a:xfrm>
            <a:custGeom>
              <a:avLst/>
              <a:gdLst/>
              <a:ahLst/>
              <a:cxnLst/>
              <a:rect l="l" t="t" r="r" b="b"/>
              <a:pathLst>
                <a:path w="7934325" h="1126807">
                  <a:moveTo>
                    <a:pt x="0" y="40005"/>
                  </a:moveTo>
                  <a:cubicBezTo>
                    <a:pt x="2398395" y="35243"/>
                    <a:pt x="5548312" y="38100"/>
                    <a:pt x="7900035" y="0"/>
                  </a:cubicBezTo>
                  <a:cubicBezTo>
                    <a:pt x="7844790" y="419100"/>
                    <a:pt x="7934325" y="1005840"/>
                    <a:pt x="7877175" y="1058228"/>
                  </a:cubicBezTo>
                  <a:cubicBezTo>
                    <a:pt x="5543550" y="1060132"/>
                    <a:pt x="2437448" y="1126807"/>
                    <a:pt x="39052" y="1028700"/>
                  </a:cubicBezTo>
                  <a:cubicBezTo>
                    <a:pt x="80010" y="704850"/>
                    <a:pt x="24765" y="80010"/>
                    <a:pt x="80962" y="100012"/>
                  </a:cubicBezTo>
                  <a:close/>
                </a:path>
              </a:pathLst>
            </a:custGeom>
            <a:noFill/>
            <a:ln w="38100">
              <a:solidFill>
                <a:schemeClr val="dk1"/>
              </a:solidFill>
              <a:round/>
            </a:ln>
          </p:spPr>
        </p:sp>
        <p:sp>
          <p:nvSpPr>
            <p:cNvPr id="20" name="TextBox 20"/>
            <p:cNvSpPr txBox="1"/>
            <p:nvPr/>
          </p:nvSpPr>
          <p:spPr>
            <a:xfrm>
              <a:off x="1657350" y="94145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秋分 · 稻穗金</a:t>
              </a:r>
            </a:p>
          </p:txBody>
        </p:sp>
      </p:grpSp>
      <p:grpSp>
        <p:nvGrpSpPr>
          <p:cNvPr id="25" name="Group 25"/>
          <p:cNvGrpSpPr/>
          <p:nvPr/>
        </p:nvGrpSpPr>
        <p:grpSpPr>
          <a:xfrm>
            <a:off x="1076325" y="10428922"/>
            <a:ext cx="8041958" cy="1175386"/>
            <a:chOff x="1076325" y="10428922"/>
            <a:chExt cx="8041958" cy="1175386"/>
          </a:xfrm>
        </p:grpSpPr>
        <p:sp>
          <p:nvSpPr>
            <p:cNvPr id="22" name="Freeform 22"/>
            <p:cNvSpPr/>
            <p:nvPr/>
          </p:nvSpPr>
          <p:spPr>
            <a:xfrm>
              <a:off x="1152525" y="10428922"/>
              <a:ext cx="7965758" cy="1143000"/>
            </a:xfrm>
            <a:custGeom>
              <a:avLst/>
              <a:gdLst/>
              <a:ahLst/>
              <a:cxnLst/>
              <a:rect l="l" t="t" r="r" b="b"/>
              <a:pathLst>
                <a:path w="7965758" h="1143000">
                  <a:moveTo>
                    <a:pt x="102870" y="0"/>
                  </a:moveTo>
                  <a:cubicBezTo>
                    <a:pt x="2415540" y="46672"/>
                    <a:pt x="5615940" y="32385"/>
                    <a:pt x="7908608" y="59055"/>
                  </a:cubicBezTo>
                  <a:cubicBezTo>
                    <a:pt x="7899082" y="515302"/>
                    <a:pt x="7965758" y="1106805"/>
                    <a:pt x="7856220" y="1143000"/>
                  </a:cubicBezTo>
                  <a:cubicBezTo>
                    <a:pt x="5561648" y="1090612"/>
                    <a:pt x="2413635" y="1079182"/>
                    <a:pt x="104775" y="1046797"/>
                  </a:cubicBezTo>
                  <a:cubicBezTo>
                    <a:pt x="0" y="732472"/>
                    <a:pt x="16193" y="19050"/>
                    <a:pt x="39052" y="101917"/>
                  </a:cubicBezTo>
                  <a:close/>
                </a:path>
              </a:pathLst>
            </a:custGeom>
            <a:solidFill>
              <a:srgbClr val="D9A94A"/>
            </a:solidFill>
            <a:ln>
              <a:noFill/>
            </a:ln>
          </p:spPr>
        </p:sp>
        <p:sp>
          <p:nvSpPr>
            <p:cNvPr id="23" name="Freeform 23"/>
            <p:cNvSpPr/>
            <p:nvPr/>
          </p:nvSpPr>
          <p:spPr>
            <a:xfrm>
              <a:off x="1076325" y="10465118"/>
              <a:ext cx="7992428" cy="1139190"/>
            </a:xfrm>
            <a:custGeom>
              <a:avLst/>
              <a:gdLst/>
              <a:ahLst/>
              <a:cxnLst/>
              <a:rect l="l" t="t" r="r" b="b"/>
              <a:pathLst>
                <a:path w="7992428" h="1139190">
                  <a:moveTo>
                    <a:pt x="114300" y="52388"/>
                  </a:moveTo>
                  <a:cubicBezTo>
                    <a:pt x="2375535" y="0"/>
                    <a:pt x="5548312" y="100965"/>
                    <a:pt x="7992428" y="30480"/>
                  </a:cubicBezTo>
                  <a:cubicBezTo>
                    <a:pt x="7926705" y="456247"/>
                    <a:pt x="7990522" y="1071562"/>
                    <a:pt x="7909560" y="1079182"/>
                  </a:cubicBezTo>
                  <a:cubicBezTo>
                    <a:pt x="5507355" y="1081088"/>
                    <a:pt x="2377440" y="1122045"/>
                    <a:pt x="58102" y="1139190"/>
                  </a:cubicBezTo>
                  <a:cubicBezTo>
                    <a:pt x="56198" y="637222"/>
                    <a:pt x="132398" y="100012"/>
                    <a:pt x="0" y="115252"/>
                  </a:cubicBezTo>
                  <a:close/>
                </a:path>
              </a:pathLst>
            </a:custGeom>
            <a:noFill/>
            <a:ln w="38100">
              <a:solidFill>
                <a:schemeClr val="dk1"/>
              </a:solidFill>
              <a:round/>
            </a:ln>
          </p:spPr>
        </p:sp>
        <p:sp>
          <p:nvSpPr>
            <p:cNvPr id="24" name="TextBox 24"/>
            <p:cNvSpPr txBox="1"/>
            <p:nvPr/>
          </p:nvSpPr>
          <p:spPr>
            <a:xfrm>
              <a:off x="1657350" y="107480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寒露 · 菊花黄</a:t>
              </a:r>
            </a:p>
          </p:txBody>
        </p:sp>
      </p:grpSp>
      <p:grpSp>
        <p:nvGrpSpPr>
          <p:cNvPr id="29" name="Group 29"/>
          <p:cNvGrpSpPr/>
          <p:nvPr/>
        </p:nvGrpSpPr>
        <p:grpSpPr>
          <a:xfrm>
            <a:off x="1080135" y="11774805"/>
            <a:ext cx="8017192" cy="1156335"/>
            <a:chOff x="1080135" y="11774805"/>
            <a:chExt cx="8017192" cy="1156335"/>
          </a:xfrm>
        </p:grpSpPr>
        <p:sp>
          <p:nvSpPr>
            <p:cNvPr id="26" name="Freeform 26"/>
            <p:cNvSpPr/>
            <p:nvPr/>
          </p:nvSpPr>
          <p:spPr>
            <a:xfrm>
              <a:off x="1140142" y="11774805"/>
              <a:ext cx="7957185" cy="1082040"/>
            </a:xfrm>
            <a:custGeom>
              <a:avLst/>
              <a:gdLst/>
              <a:ahLst/>
              <a:cxnLst/>
              <a:rect l="l" t="t" r="r" b="b"/>
              <a:pathLst>
                <a:path w="7957185" h="1082040">
                  <a:moveTo>
                    <a:pt x="5715" y="96202"/>
                  </a:moveTo>
                  <a:cubicBezTo>
                    <a:pt x="2373630" y="68580"/>
                    <a:pt x="5613082" y="69532"/>
                    <a:pt x="7900988" y="16193"/>
                  </a:cubicBezTo>
                  <a:cubicBezTo>
                    <a:pt x="7957185" y="509588"/>
                    <a:pt x="7949565" y="1070610"/>
                    <a:pt x="7912417" y="1052512"/>
                  </a:cubicBezTo>
                  <a:cubicBezTo>
                    <a:pt x="5596890" y="1055370"/>
                    <a:pt x="2425065" y="1082040"/>
                    <a:pt x="78105" y="1003935"/>
                  </a:cubicBezTo>
                  <a:cubicBezTo>
                    <a:pt x="23812" y="681038"/>
                    <a:pt x="69532" y="80962"/>
                    <a:pt x="0" y="0"/>
                  </a:cubicBezTo>
                  <a:close/>
                </a:path>
              </a:pathLst>
            </a:custGeom>
            <a:solidFill>
              <a:srgbClr val="EDE0C6"/>
            </a:solidFill>
            <a:ln>
              <a:noFill/>
            </a:ln>
          </p:spPr>
        </p:sp>
        <p:sp>
          <p:nvSpPr>
            <p:cNvPr id="27" name="Freeform 27"/>
            <p:cNvSpPr/>
            <p:nvPr/>
          </p:nvSpPr>
          <p:spPr>
            <a:xfrm>
              <a:off x="1080135" y="11799570"/>
              <a:ext cx="7981950" cy="1131570"/>
            </a:xfrm>
            <a:custGeom>
              <a:avLst/>
              <a:gdLst/>
              <a:ahLst/>
              <a:cxnLst/>
              <a:rect l="l" t="t" r="r" b="b"/>
              <a:pathLst>
                <a:path w="7981950" h="1131570">
                  <a:moveTo>
                    <a:pt x="56197" y="40957"/>
                  </a:moveTo>
                  <a:cubicBezTo>
                    <a:pt x="2362200" y="84773"/>
                    <a:pt x="5593080" y="72390"/>
                    <a:pt x="7926705" y="72390"/>
                  </a:cubicBezTo>
                  <a:cubicBezTo>
                    <a:pt x="7981950" y="486728"/>
                    <a:pt x="7909560" y="1131570"/>
                    <a:pt x="7905750" y="1022985"/>
                  </a:cubicBezTo>
                  <a:cubicBezTo>
                    <a:pt x="5536883" y="1078230"/>
                    <a:pt x="2471738" y="1058228"/>
                    <a:pt x="84772" y="1047750"/>
                  </a:cubicBezTo>
                  <a:cubicBezTo>
                    <a:pt x="0" y="730568"/>
                    <a:pt x="72390" y="44768"/>
                    <a:pt x="86677" y="0"/>
                  </a:cubicBezTo>
                  <a:close/>
                </a:path>
              </a:pathLst>
            </a:custGeom>
            <a:noFill/>
            <a:ln w="38100">
              <a:solidFill>
                <a:schemeClr val="dk1"/>
              </a:solidFill>
              <a:round/>
            </a:ln>
          </p:spPr>
        </p:sp>
        <p:sp>
          <p:nvSpPr>
            <p:cNvPr id="28" name="TextBox 28"/>
            <p:cNvSpPr txBox="1"/>
            <p:nvPr/>
          </p:nvSpPr>
          <p:spPr>
            <a:xfrm>
              <a:off x="1657350" y="12081510"/>
              <a:ext cx="2949931"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霜降 · 霜白</a:t>
              </a:r>
            </a:p>
          </p:txBody>
        </p:sp>
      </p:grpSp>
      <p:grpSp>
        <p:nvGrpSpPr>
          <p:cNvPr id="31" name="Group 31"/>
          <p:cNvGrpSpPr/>
          <p:nvPr/>
        </p:nvGrpSpPr>
        <p:grpSpPr>
          <a:xfrm>
            <a:off x="742950" y="13641705"/>
            <a:ext cx="8276844" cy="990600"/>
            <a:chOff x="742950" y="13641705"/>
            <a:chExt cx="8276844" cy="990600"/>
          </a:xfrm>
        </p:grpSpPr>
        <p:sp>
          <p:nvSpPr>
            <p:cNvPr id="30" name="TextBox 30"/>
            <p:cNvSpPr txBox="1"/>
            <p:nvPr/>
          </p:nvSpPr>
          <p:spPr>
            <a:xfrm>
              <a:off x="742950" y="13641705"/>
              <a:ext cx="8276844" cy="990600"/>
            </a:xfrm>
            <a:prstGeom prst="rect">
              <a:avLst/>
            </a:prstGeom>
            <a:noFill/>
            <a:ln>
              <a:noFill/>
            </a:ln>
          </p:spPr>
          <p:txBody>
            <a:bodyPr wrap="none" lIns="0" tIns="0" rIns="0" bIns="0" anchor="t" anchorCtr="0">
              <a:spAutoFit/>
            </a:bodyPr>
            <a:lstStyle/>
            <a:p>
              <a:pPr algn="l"/>
              <a:r>
                <a:rPr lang="zh-CN" sz="5100" dirty="0">
                  <a:solidFill>
                    <a:schemeClr val="accent1"/>
                  </a:solidFill>
                  <a:latin typeface="+mn-lt"/>
                  <a:ea typeface="+mn-ea"/>
                  <a:cs typeface="+mn-cs"/>
                </a:rPr>
                <a:t>秋天的颜色是一路凉下去的</a:t>
              </a:r>
            </a:p>
          </p:txBody>
        </p:sp>
      </p:grpSp>
      <p:grpSp>
        <p:nvGrpSpPr>
          <p:cNvPr id="33" name="Group 33"/>
          <p:cNvGrpSpPr/>
          <p:nvPr/>
        </p:nvGrpSpPr>
        <p:grpSpPr>
          <a:xfrm>
            <a:off x="749808" y="15076170"/>
            <a:ext cx="6486144" cy="469392"/>
            <a:chOff x="749808" y="15076170"/>
            <a:chExt cx="6486144" cy="469392"/>
          </a:xfrm>
        </p:grpSpPr>
        <p:sp>
          <p:nvSpPr>
            <p:cNvPr id="32" name="TextBox 32"/>
            <p:cNvSpPr txBox="1"/>
            <p:nvPr/>
          </p:nvSpPr>
          <p:spPr>
            <a:xfrm>
              <a:off x="749808" y="15076170"/>
              <a:ext cx="648614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颜色是这本手账的说法，不是节气本身的规定</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6" name="Group 6"/>
          <p:cNvGrpSpPr/>
          <p:nvPr/>
        </p:nvGrpSpPr>
        <p:grpSpPr>
          <a:xfrm>
            <a:off x="745236" y="1758315"/>
            <a:ext cx="8187728" cy="2483739"/>
            <a:chOff x="745236" y="1758315"/>
            <a:chExt cx="8187728" cy="2483739"/>
          </a:xfrm>
        </p:grpSpPr>
        <p:sp>
          <p:nvSpPr>
            <p:cNvPr id="2" name="TextBox 2"/>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第三站</a:t>
              </a:r>
            </a:p>
          </p:txBody>
        </p:sp>
        <p:pic>
          <p:nvPicPr>
            <p:cNvPr id="3" name="Image 3"/>
            <p:cNvPicPr>
              <a:picLocks noChangeAspect="1"/>
            </p:cNvPicPr>
            <p:nvPr/>
          </p:nvPicPr>
          <p:blipFill>
            <a:blip r:embed="rId2"/>
            <a:stretch>
              <a:fillRect/>
            </a:stretch>
          </p:blipFill>
          <p:spPr>
            <a:xfrm>
              <a:off x="762000" y="2400300"/>
              <a:ext cx="2838450" cy="1619250"/>
            </a:xfrm>
            <a:prstGeom prst="rect">
              <a:avLst/>
            </a:prstGeom>
          </p:spPr>
        </p:pic>
        <p:sp>
          <p:nvSpPr>
            <p:cNvPr id="4" name="TextBox 4"/>
            <p:cNvSpPr txBox="1"/>
            <p:nvPr/>
          </p:nvSpPr>
          <p:spPr>
            <a:xfrm>
              <a:off x="4743450" y="2524125"/>
              <a:ext cx="2171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白露</a:t>
              </a:r>
            </a:p>
          </p:txBody>
        </p:sp>
        <p:sp>
          <p:nvSpPr>
            <p:cNvPr id="5" name="TextBox 5"/>
            <p:cNvSpPr txBox="1"/>
            <p:nvPr/>
          </p:nvSpPr>
          <p:spPr>
            <a:xfrm>
              <a:off x="4745736" y="3596640"/>
              <a:ext cx="4187228"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2026年9月7日 22:41</a:t>
              </a:r>
            </a:p>
          </p:txBody>
        </p:sp>
      </p:grpSp>
      <p:grpSp>
        <p:nvGrpSpPr>
          <p:cNvPr id="8" name="Group 8"/>
          <p:cNvGrpSpPr/>
          <p:nvPr/>
        </p:nvGrpSpPr>
        <p:grpSpPr>
          <a:xfrm>
            <a:off x="6667500" y="4629150"/>
            <a:ext cx="2381250" cy="1895475"/>
            <a:chOff x="6667500" y="4629150"/>
            <a:chExt cx="2381250" cy="1895475"/>
          </a:xfrm>
        </p:grpSpPr>
        <p:pic>
          <p:nvPicPr>
            <p:cNvPr id="7" name="Image 7"/>
            <p:cNvPicPr>
              <a:picLocks noChangeAspect="1"/>
            </p:cNvPicPr>
            <p:nvPr/>
          </p:nvPicPr>
          <p:blipFill>
            <a:blip r:embed="rId3"/>
            <a:stretch>
              <a:fillRect/>
            </a:stretch>
          </p:blipFill>
          <p:spPr>
            <a:xfrm>
              <a:off x="6667500" y="4629150"/>
              <a:ext cx="2381250" cy="1895475"/>
            </a:xfrm>
            <a:prstGeom prst="rect">
              <a:avLst/>
            </a:prstGeom>
          </p:spPr>
        </p:pic>
      </p:grpSp>
      <p:grpSp>
        <p:nvGrpSpPr>
          <p:cNvPr id="13" name="Group 13"/>
          <p:cNvGrpSpPr/>
          <p:nvPr/>
        </p:nvGrpSpPr>
        <p:grpSpPr>
          <a:xfrm>
            <a:off x="762000" y="6667500"/>
            <a:ext cx="6572250" cy="2276475"/>
            <a:chOff x="762000" y="6667500"/>
            <a:chExt cx="6572250" cy="2276475"/>
          </a:xfrm>
        </p:grpSpPr>
        <p:sp>
          <p:nvSpPr>
            <p:cNvPr id="9" name="Freeform 9"/>
            <p:cNvSpPr/>
            <p:nvPr/>
          </p:nvSpPr>
          <p:spPr>
            <a:xfrm>
              <a:off x="3200400" y="7010400"/>
              <a:ext cx="4133850" cy="1905000"/>
            </a:xfrm>
            <a:custGeom>
              <a:avLst/>
              <a:gdLst/>
              <a:ahLst/>
              <a:cxnLst/>
              <a:rect l="l" t="t" r="r" b="b"/>
              <a:pathLst>
                <a:path w="4133850" h="1905000">
                  <a:moveTo>
                    <a:pt x="4133850" y="0"/>
                  </a:moveTo>
                  <a:cubicBezTo>
                    <a:pt x="3086100" y="438150"/>
                    <a:pt x="2190750" y="895350"/>
                    <a:pt x="1276350" y="1295400"/>
                  </a:cubicBezTo>
                  <a:cubicBezTo>
                    <a:pt x="800100" y="1504950"/>
                    <a:pt x="342900" y="1714500"/>
                    <a:pt x="0" y="1905000"/>
                  </a:cubicBezTo>
                </a:path>
              </a:pathLst>
            </a:custGeom>
            <a:noFill/>
            <a:ln w="38100" cap="rnd">
              <a:solidFill>
                <a:schemeClr val="accent6"/>
              </a:solidFill>
              <a:custDash>
                <a:ds d="250000" sp="300000"/>
              </a:custDash>
            </a:ln>
          </p:spPr>
        </p:sp>
        <p:sp>
          <p:nvSpPr>
            <p:cNvPr id="10" name="Freeform 10"/>
            <p:cNvSpPr/>
            <p:nvPr/>
          </p:nvSpPr>
          <p:spPr>
            <a:xfrm>
              <a:off x="3143250" y="6819900"/>
              <a:ext cx="4133850" cy="1905000"/>
            </a:xfrm>
            <a:custGeom>
              <a:avLst/>
              <a:gdLst/>
              <a:ahLst/>
              <a:cxnLst/>
              <a:rect l="l" t="t" r="r" b="b"/>
              <a:pathLst>
                <a:path w="4133850" h="1905000">
                  <a:moveTo>
                    <a:pt x="4133850" y="0"/>
                  </a:moveTo>
                  <a:cubicBezTo>
                    <a:pt x="3086100" y="438150"/>
                    <a:pt x="2190750" y="895350"/>
                    <a:pt x="1276350" y="1295400"/>
                  </a:cubicBezTo>
                  <a:cubicBezTo>
                    <a:pt x="800100" y="1504950"/>
                    <a:pt x="342900" y="1714500"/>
                    <a:pt x="0" y="1905000"/>
                  </a:cubicBezTo>
                </a:path>
              </a:pathLst>
            </a:custGeom>
            <a:noFill/>
            <a:ln w="47625" cap="rnd">
              <a:solidFill>
                <a:schemeClr val="accent3"/>
              </a:solidFill>
            </a:ln>
          </p:spPr>
        </p:sp>
        <p:pic>
          <p:nvPicPr>
            <p:cNvPr id="11" name="Image 11"/>
            <p:cNvPicPr>
              <a:picLocks noChangeAspect="1"/>
            </p:cNvPicPr>
            <p:nvPr/>
          </p:nvPicPr>
          <p:blipFill>
            <a:blip r:embed="rId4"/>
            <a:stretch>
              <a:fillRect/>
            </a:stretch>
          </p:blipFill>
          <p:spPr>
            <a:xfrm>
              <a:off x="762000" y="6667500"/>
              <a:ext cx="1905000" cy="2276475"/>
            </a:xfrm>
            <a:prstGeom prst="rect">
              <a:avLst/>
            </a:prstGeom>
          </p:spPr>
        </p:pic>
        <p:sp>
          <p:nvSpPr>
            <p:cNvPr id="12" name="TextBox 12"/>
            <p:cNvSpPr txBox="1"/>
            <p:nvPr/>
          </p:nvSpPr>
          <p:spPr>
            <a:xfrm>
              <a:off x="3699510" y="7296150"/>
              <a:ext cx="1645920" cy="586740"/>
            </a:xfrm>
            <a:prstGeom prst="rect">
              <a:avLst/>
            </a:prstGeom>
            <a:noFill/>
            <a:ln>
              <a:noFill/>
            </a:ln>
          </p:spPr>
          <p:txBody>
            <a:bodyPr wrap="none" lIns="0" tIns="0" rIns="0" bIns="0" anchor="t" anchorCtr="0">
              <a:spAutoFit/>
            </a:bodyPr>
            <a:lstStyle/>
            <a:p>
              <a:pPr algn="l"/>
              <a:r>
                <a:rPr lang="zh-CN" sz="3000" dirty="0">
                  <a:solidFill>
                    <a:schemeClr val="accent3"/>
                  </a:solidFill>
                  <a:latin typeface="+mn-lt"/>
                  <a:ea typeface="+mn-ea"/>
                  <a:cs typeface="+mn-cs"/>
                </a:rPr>
                <a:t>自北而南</a:t>
              </a:r>
            </a:p>
          </p:txBody>
        </p:sp>
      </p:grpSp>
      <p:grpSp>
        <p:nvGrpSpPr>
          <p:cNvPr id="21" name="Group 21"/>
          <p:cNvGrpSpPr/>
          <p:nvPr/>
        </p:nvGrpSpPr>
        <p:grpSpPr>
          <a:xfrm>
            <a:off x="762000" y="10248900"/>
            <a:ext cx="8191500" cy="1920240"/>
            <a:chOff x="762000" y="10248900"/>
            <a:chExt cx="8191500" cy="1920240"/>
          </a:xfrm>
        </p:grpSpPr>
        <p:pic>
          <p:nvPicPr>
            <p:cNvPr id="14" name="Image 14"/>
            <p:cNvPicPr>
              <a:picLocks noChangeAspect="1"/>
            </p:cNvPicPr>
            <p:nvPr/>
          </p:nvPicPr>
          <p:blipFill>
            <a:blip r:embed="rId5"/>
            <a:stretch>
              <a:fillRect/>
            </a:stretch>
          </p:blipFill>
          <p:spPr>
            <a:xfrm>
              <a:off x="762000" y="10934700"/>
              <a:ext cx="914400" cy="895350"/>
            </a:xfrm>
            <a:prstGeom prst="rect">
              <a:avLst/>
            </a:prstGeom>
          </p:spPr>
        </p:pic>
        <p:sp>
          <p:nvSpPr>
            <p:cNvPr id="15" name="TextBox 15"/>
            <p:cNvSpPr txBox="1"/>
            <p:nvPr/>
          </p:nvSpPr>
          <p:spPr>
            <a:xfrm>
              <a:off x="1889760" y="10248900"/>
              <a:ext cx="2514219"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一候 · 鸿雁来</a:t>
              </a:r>
            </a:p>
          </p:txBody>
        </p:sp>
        <p:sp>
          <p:nvSpPr>
            <p:cNvPr id="16" name="TextBox 16"/>
            <p:cNvSpPr txBox="1"/>
            <p:nvPr/>
          </p:nvSpPr>
          <p:spPr>
            <a:xfrm>
              <a:off x="1889760" y="10915650"/>
              <a:ext cx="2514219"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二候 · 玄鸟归</a:t>
              </a:r>
            </a:p>
          </p:txBody>
        </p:sp>
        <p:sp>
          <p:nvSpPr>
            <p:cNvPr id="17" name="TextBox 17"/>
            <p:cNvSpPr txBox="1"/>
            <p:nvPr/>
          </p:nvSpPr>
          <p:spPr>
            <a:xfrm>
              <a:off x="1889760" y="11582400"/>
              <a:ext cx="2918079"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三候 · 群鸟养羞</a:t>
              </a:r>
            </a:p>
          </p:txBody>
        </p:sp>
        <p:sp>
          <p:nvSpPr>
            <p:cNvPr id="18" name="Freeform 18"/>
            <p:cNvSpPr/>
            <p:nvPr/>
          </p:nvSpPr>
          <p:spPr>
            <a:xfrm>
              <a:off x="6286500" y="10378440"/>
              <a:ext cx="2667000" cy="41910"/>
            </a:xfrm>
            <a:custGeom>
              <a:avLst/>
              <a:gdLst/>
              <a:ahLst/>
              <a:cxnLst/>
              <a:rect l="l" t="t" r="r" b="b"/>
              <a:pathLst>
                <a:path w="2667000" h="41910">
                  <a:moveTo>
                    <a:pt x="0" y="41910"/>
                  </a:moveTo>
                  <a:cubicBezTo>
                    <a:pt x="879157" y="34290"/>
                    <a:pt x="1789747" y="0"/>
                    <a:pt x="2667000" y="3810"/>
                  </a:cubicBezTo>
                </a:path>
              </a:pathLst>
            </a:custGeom>
            <a:noFill/>
            <a:ln w="28575" cap="rnd">
              <a:solidFill>
                <a:schemeClr val="accent6"/>
              </a:solidFill>
            </a:ln>
          </p:spPr>
        </p:sp>
        <p:sp>
          <p:nvSpPr>
            <p:cNvPr id="19" name="Freeform 19"/>
            <p:cNvSpPr/>
            <p:nvPr/>
          </p:nvSpPr>
          <p:spPr>
            <a:xfrm>
              <a:off x="6286500" y="11036618"/>
              <a:ext cx="2667000" cy="50482"/>
            </a:xfrm>
            <a:custGeom>
              <a:avLst/>
              <a:gdLst/>
              <a:ahLst/>
              <a:cxnLst/>
              <a:rect l="l" t="t" r="r" b="b"/>
              <a:pathLst>
                <a:path w="2667000" h="50482">
                  <a:moveTo>
                    <a:pt x="0" y="50482"/>
                  </a:moveTo>
                  <a:cubicBezTo>
                    <a:pt x="921068" y="6668"/>
                    <a:pt x="1804988" y="0"/>
                    <a:pt x="2667000" y="12382"/>
                  </a:cubicBezTo>
                </a:path>
              </a:pathLst>
            </a:custGeom>
            <a:noFill/>
            <a:ln w="28575" cap="rnd">
              <a:solidFill>
                <a:schemeClr val="accent6"/>
              </a:solidFill>
            </a:ln>
          </p:spPr>
        </p:sp>
        <p:sp>
          <p:nvSpPr>
            <p:cNvPr id="20" name="Freeform 20"/>
            <p:cNvSpPr/>
            <p:nvPr/>
          </p:nvSpPr>
          <p:spPr>
            <a:xfrm>
              <a:off x="6286500" y="11715750"/>
              <a:ext cx="2667000" cy="38100"/>
            </a:xfrm>
            <a:custGeom>
              <a:avLst/>
              <a:gdLst/>
              <a:ahLst/>
              <a:cxnLst/>
              <a:rect l="l" t="t" r="r" b="b"/>
              <a:pathLst>
                <a:path w="2667000" h="38100">
                  <a:moveTo>
                    <a:pt x="0" y="38100"/>
                  </a:moveTo>
                  <a:cubicBezTo>
                    <a:pt x="875347" y="5715"/>
                    <a:pt x="1799272" y="11430"/>
                    <a:pt x="2667000" y="0"/>
                  </a:cubicBezTo>
                </a:path>
              </a:pathLst>
            </a:custGeom>
            <a:noFill/>
            <a:ln w="28575" cap="rnd">
              <a:solidFill>
                <a:schemeClr val="accent6"/>
              </a:solidFill>
            </a:ln>
          </p:spPr>
        </p:sp>
      </p:grpSp>
      <p:grpSp>
        <p:nvGrpSpPr>
          <p:cNvPr id="24" name="Group 24"/>
          <p:cNvGrpSpPr/>
          <p:nvPr/>
        </p:nvGrpSpPr>
        <p:grpSpPr>
          <a:xfrm>
            <a:off x="742950" y="12502515"/>
            <a:ext cx="6972300" cy="2131695"/>
            <a:chOff x="742950" y="12502515"/>
            <a:chExt cx="6972300" cy="2131695"/>
          </a:xfrm>
        </p:grpSpPr>
        <p:sp>
          <p:nvSpPr>
            <p:cNvPr id="22" name="TextBox 22"/>
            <p:cNvSpPr txBox="1"/>
            <p:nvPr/>
          </p:nvSpPr>
          <p:spPr>
            <a:xfrm>
              <a:off x="745236" y="12502515"/>
              <a:ext cx="9220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a:t>
              </a:r>
            </a:p>
          </p:txBody>
        </p:sp>
        <p:sp>
          <p:nvSpPr>
            <p:cNvPr id="23" name="TextBox 23"/>
            <p:cNvSpPr txBox="1"/>
            <p:nvPr/>
          </p:nvSpPr>
          <p:spPr>
            <a:xfrm>
              <a:off x="742950" y="13072110"/>
              <a:ext cx="6972300" cy="1562100"/>
            </a:xfrm>
            <a:prstGeom prst="rect">
              <a:avLst/>
            </a:prstGeom>
            <a:noFill/>
            <a:ln>
              <a:noFill/>
            </a:ln>
          </p:spPr>
          <p:txBody>
            <a:bodyPr wrap="none" lIns="0" tIns="0" rIns="0" bIns="0" anchor="t" anchorCtr="0">
              <a:spAutoFit/>
            </a:bodyPr>
            <a:lstStyle/>
            <a:p>
              <a:pPr algn="l">
                <a:lnSpc>
                  <a:spcPts val="5850"/>
                </a:lnSpc>
              </a:pPr>
              <a:r>
                <a:rPr lang="zh-CN" sz="4200" dirty="0">
                  <a:solidFill>
                    <a:schemeClr val="dk1"/>
                  </a:solidFill>
                  <a:latin typeface="+mn-lt"/>
                  <a:ea typeface="+mn-ea"/>
                  <a:cs typeface="+mn-cs"/>
                </a:rPr>
                <a:t>春茶苦，夏茶涩，要喝茶秋白</a:t>
              </a:r>
              <a:br/>
              <a:r>
                <a:rPr lang="zh-CN" sz="4200" dirty="0">
                  <a:solidFill>
                    <a:schemeClr val="dk1"/>
                  </a:solidFill>
                  <a:latin typeface="+mn-lt"/>
                  <a:ea typeface="+mn-ea"/>
                  <a:cs typeface="+mn-cs"/>
                </a:rPr>
                <a:t>露；福州白露必吃龙眼。</a:t>
              </a:r>
            </a:p>
          </p:txBody>
        </p:sp>
      </p:grpSp>
      <p:grpSp>
        <p:nvGrpSpPr>
          <p:cNvPr id="27" name="Group 27"/>
          <p:cNvGrpSpPr/>
          <p:nvPr/>
        </p:nvGrpSpPr>
        <p:grpSpPr>
          <a:xfrm>
            <a:off x="742950" y="14820900"/>
            <a:ext cx="8763000" cy="1868805"/>
            <a:chOff x="742950" y="14820900"/>
            <a:chExt cx="8763000" cy="1868805"/>
          </a:xfrm>
        </p:grpSpPr>
        <p:sp>
          <p:nvSpPr>
            <p:cNvPr id="25" name="Freeform 25"/>
            <p:cNvSpPr/>
            <p:nvPr/>
          </p:nvSpPr>
          <p:spPr>
            <a:xfrm>
              <a:off x="781050" y="14820900"/>
              <a:ext cx="8724900" cy="152400"/>
            </a:xfrm>
            <a:custGeom>
              <a:avLst/>
              <a:gdLst/>
              <a:ahLst/>
              <a:cxnLst/>
              <a:rect l="l" t="t" r="r" b="b"/>
              <a:pathLst>
                <a:path w="8724900" h="152400">
                  <a:moveTo>
                    <a:pt x="0" y="95250"/>
                  </a:moveTo>
                  <a:cubicBezTo>
                    <a:pt x="1695450" y="38100"/>
                    <a:pt x="3219450" y="152400"/>
                    <a:pt x="4933950" y="76200"/>
                  </a:cubicBezTo>
                  <a:cubicBezTo>
                    <a:pt x="6648450" y="0"/>
                    <a:pt x="7429500" y="19050"/>
                    <a:pt x="8724900" y="133350"/>
                  </a:cubicBezTo>
                </a:path>
              </a:pathLst>
            </a:custGeom>
            <a:noFill/>
            <a:ln w="47625" cap="rnd">
              <a:solidFill>
                <a:schemeClr val="accent2"/>
              </a:solidFill>
            </a:ln>
          </p:spPr>
        </p:sp>
        <p:sp>
          <p:nvSpPr>
            <p:cNvPr id="26" name="TextBox 26"/>
            <p:cNvSpPr txBox="1"/>
            <p:nvPr/>
          </p:nvSpPr>
          <p:spPr>
            <a:xfrm>
              <a:off x="742950" y="14860905"/>
              <a:ext cx="7810500" cy="1828800"/>
            </a:xfrm>
            <a:prstGeom prst="rect">
              <a:avLst/>
            </a:prstGeom>
            <a:noFill/>
            <a:ln>
              <a:noFill/>
            </a:ln>
          </p:spPr>
          <p:txBody>
            <a:bodyPr wrap="none" lIns="0" tIns="0" rIns="0" bIns="0" anchor="t" anchorCtr="0">
              <a:spAutoFit/>
            </a:bodyPr>
            <a:lstStyle/>
            <a:p>
              <a:pPr algn="l">
                <a:lnSpc>
                  <a:spcPts val="6600"/>
                </a:lnSpc>
              </a:pPr>
              <a:r>
                <a:rPr lang="zh-CN" sz="5100" dirty="0">
                  <a:solidFill>
                    <a:schemeClr val="accent1"/>
                  </a:solidFill>
                  <a:latin typeface="+mn-lt"/>
                  <a:ea typeface="+mn-ea"/>
                  <a:cs typeface="+mn-cs"/>
                </a:rPr>
                <a:t>早晚加一件，泡一壶秋白露</a:t>
              </a:r>
              <a:br/>
              <a:r>
                <a:rPr lang="zh-CN" sz="5100" dirty="0">
                  <a:solidFill>
                    <a:schemeClr val="accent1"/>
                  </a:solidFill>
                  <a:latin typeface="+mn-lt"/>
                  <a:ea typeface="+mn-ea"/>
                  <a:cs typeface="+mn-cs"/>
                </a:rPr>
                <a:t>看看院子里的露水结在哪</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xmlns:p="http://schemas.openxmlformats.org/presentationml/2006/main" id="9" presetID="51" presetClass="path" presetSubtype="0" accel="50000" decel="50000" fill="hold" grpId="0" nodeType="afterEffect">
                                  <p:stCondLst>
                                    <p:cond delay="500"/>
                                  </p:stCondLst>
                                  <p:childTnLst>
                                    <p:animMotion origin="layout" path="M 0 0 L -0.04 0.067 C -0.049 0.081 -0.054 0.102 -0.054 0.124 C -0.054 0.149 -0.049 0.169 -0.04 0.183 L 0 0.25 E" pathEditMode="relative" ptsTypes="">
                                      <p:cBhvr>
                                        <p:cTn id="10" dur="24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6" name="Group 6"/>
          <p:cNvGrpSpPr/>
          <p:nvPr/>
        </p:nvGrpSpPr>
        <p:grpSpPr>
          <a:xfrm>
            <a:off x="745236" y="1758315"/>
            <a:ext cx="8432063" cy="2483739"/>
            <a:chOff x="745236" y="1758315"/>
            <a:chExt cx="8432063" cy="2483739"/>
          </a:xfrm>
        </p:grpSpPr>
        <p:sp>
          <p:nvSpPr>
            <p:cNvPr id="2" name="TextBox 2"/>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第四站</a:t>
              </a:r>
            </a:p>
          </p:txBody>
        </p:sp>
        <p:pic>
          <p:nvPicPr>
            <p:cNvPr id="3" name="Image 3"/>
            <p:cNvPicPr>
              <a:picLocks noChangeAspect="1"/>
            </p:cNvPicPr>
            <p:nvPr/>
          </p:nvPicPr>
          <p:blipFill>
            <a:blip r:embed="rId2"/>
            <a:stretch>
              <a:fillRect/>
            </a:stretch>
          </p:blipFill>
          <p:spPr>
            <a:xfrm>
              <a:off x="762000" y="2400300"/>
              <a:ext cx="3228975" cy="1619250"/>
            </a:xfrm>
            <a:prstGeom prst="rect">
              <a:avLst/>
            </a:prstGeom>
          </p:spPr>
        </p:pic>
        <p:sp>
          <p:nvSpPr>
            <p:cNvPr id="4" name="TextBox 4"/>
            <p:cNvSpPr txBox="1"/>
            <p:nvPr/>
          </p:nvSpPr>
          <p:spPr>
            <a:xfrm>
              <a:off x="4743450" y="2524125"/>
              <a:ext cx="2171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秋分</a:t>
              </a:r>
            </a:p>
          </p:txBody>
        </p:sp>
        <p:sp>
          <p:nvSpPr>
            <p:cNvPr id="5" name="TextBox 5"/>
            <p:cNvSpPr txBox="1"/>
            <p:nvPr/>
          </p:nvSpPr>
          <p:spPr>
            <a:xfrm>
              <a:off x="4745736" y="3596640"/>
              <a:ext cx="4431563"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2026年9月23日 08:05</a:t>
              </a:r>
            </a:p>
          </p:txBody>
        </p:sp>
      </p:grpSp>
      <p:grpSp>
        <p:nvGrpSpPr>
          <p:cNvPr id="12" name="Group 12"/>
          <p:cNvGrpSpPr/>
          <p:nvPr/>
        </p:nvGrpSpPr>
        <p:grpSpPr>
          <a:xfrm>
            <a:off x="3238500" y="4629150"/>
            <a:ext cx="3810000" cy="4648200"/>
            <a:chOff x="3238500" y="4629150"/>
            <a:chExt cx="3810000" cy="4648200"/>
          </a:xfrm>
        </p:grpSpPr>
        <p:sp>
          <p:nvSpPr>
            <p:cNvPr id="7" name="Freeform 7"/>
            <p:cNvSpPr/>
            <p:nvPr/>
          </p:nvSpPr>
          <p:spPr>
            <a:xfrm>
              <a:off x="3238500" y="4953000"/>
              <a:ext cx="3810000" cy="3810000"/>
            </a:xfrm>
            <a:prstGeom prst="pie">
              <a:avLst>
                <a:gd name="adj1" fmla="val 5400000"/>
                <a:gd name="adj2" fmla="val 16200000"/>
              </a:avLst>
            </a:prstGeom>
            <a:solidFill>
              <a:schemeClr val="lt2"/>
            </a:solidFill>
            <a:ln w="38100">
              <a:solidFill>
                <a:schemeClr val="dk1"/>
              </a:solidFill>
            </a:ln>
          </p:spPr>
        </p:sp>
        <p:sp>
          <p:nvSpPr>
            <p:cNvPr id="8" name="Freeform 8"/>
            <p:cNvSpPr/>
            <p:nvPr/>
          </p:nvSpPr>
          <p:spPr>
            <a:xfrm>
              <a:off x="3238500" y="4953000"/>
              <a:ext cx="3810000" cy="3810000"/>
            </a:xfrm>
            <a:prstGeom prst="pie">
              <a:avLst>
                <a:gd name="adj1" fmla="val 16200000"/>
                <a:gd name="adj2" fmla="val 5400000"/>
              </a:avLst>
            </a:prstGeom>
            <a:solidFill>
              <a:schemeClr val="accent3"/>
            </a:solidFill>
            <a:ln w="38100">
              <a:solidFill>
                <a:schemeClr val="dk1"/>
              </a:solidFill>
            </a:ln>
          </p:spPr>
        </p:sp>
        <p:sp>
          <p:nvSpPr>
            <p:cNvPr id="9" name="Freeform 9"/>
            <p:cNvSpPr/>
            <p:nvPr/>
          </p:nvSpPr>
          <p:spPr>
            <a:xfrm>
              <a:off x="5143500" y="4629150"/>
              <a:ext cx="9525" cy="4648200"/>
            </a:xfrm>
            <a:custGeom>
              <a:avLst/>
              <a:gdLst/>
              <a:ahLst/>
              <a:cxnLst/>
              <a:rect l="l" t="t" r="r" b="b"/>
              <a:pathLst>
                <a:path w="9525" h="4648200">
                  <a:moveTo>
                    <a:pt x="0" y="0"/>
                  </a:moveTo>
                  <a:cubicBezTo>
                    <a:pt x="0" y="1530668"/>
                    <a:pt x="4762" y="3059430"/>
                    <a:pt x="0" y="4648200"/>
                  </a:cubicBezTo>
                </a:path>
              </a:pathLst>
            </a:custGeom>
            <a:noFill/>
            <a:ln w="38100" cap="rnd">
              <a:solidFill>
                <a:schemeClr val="dk1"/>
              </a:solidFill>
              <a:custDash>
                <a:ds d="300000" sp="250000"/>
              </a:custDash>
            </a:ln>
          </p:spPr>
        </p:sp>
        <p:sp>
          <p:nvSpPr>
            <p:cNvPr id="10" name="TextBox 10"/>
            <p:cNvSpPr txBox="1"/>
            <p:nvPr/>
          </p:nvSpPr>
          <p:spPr>
            <a:xfrm>
              <a:off x="3787902" y="6541770"/>
              <a:ext cx="806196" cy="1047750"/>
            </a:xfrm>
            <a:prstGeom prst="rect">
              <a:avLst/>
            </a:prstGeom>
            <a:noFill/>
            <a:ln>
              <a:noFill/>
            </a:ln>
          </p:spPr>
          <p:txBody>
            <a:bodyPr wrap="none" lIns="0" tIns="0" rIns="0" bIns="0" anchor="t" anchorCtr="0">
              <a:spAutoFit/>
            </a:bodyPr>
            <a:lstStyle/>
            <a:p>
              <a:pPr algn="ctr"/>
              <a:r>
                <a:rPr lang="zh-CN" sz="5400" dirty="0">
                  <a:solidFill>
                    <a:schemeClr val="dk1"/>
                  </a:solidFill>
                  <a:latin typeface="+mj-lt"/>
                  <a:ea typeface="+mj-ea"/>
                  <a:cs typeface="+mj-cs"/>
                </a:rPr>
                <a:t>昼</a:t>
              </a:r>
            </a:p>
          </p:txBody>
        </p:sp>
        <p:sp>
          <p:nvSpPr>
            <p:cNvPr id="11" name="TextBox 11"/>
            <p:cNvSpPr txBox="1"/>
            <p:nvPr/>
          </p:nvSpPr>
          <p:spPr>
            <a:xfrm>
              <a:off x="5692902" y="6541770"/>
              <a:ext cx="806196" cy="1047750"/>
            </a:xfrm>
            <a:prstGeom prst="rect">
              <a:avLst/>
            </a:prstGeom>
            <a:noFill/>
            <a:ln>
              <a:noFill/>
            </a:ln>
          </p:spPr>
          <p:txBody>
            <a:bodyPr wrap="none" lIns="0" tIns="0" rIns="0" bIns="0" anchor="t" anchorCtr="0">
              <a:spAutoFit/>
            </a:bodyPr>
            <a:lstStyle/>
            <a:p>
              <a:pPr algn="ctr"/>
              <a:r>
                <a:rPr lang="zh-CN" sz="5400" dirty="0">
                  <a:solidFill>
                    <a:srgbClr val="FBF6EA"/>
                  </a:solidFill>
                  <a:latin typeface="+mj-lt"/>
                  <a:ea typeface="+mj-ea"/>
                  <a:cs typeface="+mj-cs"/>
                </a:rPr>
                <a:t>夜</a:t>
              </a:r>
            </a:p>
          </p:txBody>
        </p:sp>
      </p:grpSp>
      <p:grpSp>
        <p:nvGrpSpPr>
          <p:cNvPr id="14" name="Group 14"/>
          <p:cNvGrpSpPr/>
          <p:nvPr/>
        </p:nvGrpSpPr>
        <p:grpSpPr>
          <a:xfrm>
            <a:off x="7486650" y="5295900"/>
            <a:ext cx="1905000" cy="2133600"/>
            <a:chOff x="7486650" y="5295900"/>
            <a:chExt cx="1905000" cy="2133600"/>
          </a:xfrm>
        </p:grpSpPr>
        <p:pic>
          <p:nvPicPr>
            <p:cNvPr id="13" name="Image 13"/>
            <p:cNvPicPr>
              <a:picLocks noChangeAspect="1"/>
            </p:cNvPicPr>
            <p:nvPr/>
          </p:nvPicPr>
          <p:blipFill>
            <a:blip r:embed="rId3"/>
            <a:stretch>
              <a:fillRect/>
            </a:stretch>
          </p:blipFill>
          <p:spPr>
            <a:xfrm>
              <a:off x="7486650" y="5295900"/>
              <a:ext cx="1905000" cy="2133600"/>
            </a:xfrm>
            <a:prstGeom prst="rect">
              <a:avLst/>
            </a:prstGeom>
          </p:spPr>
        </p:pic>
      </p:grpSp>
      <p:grpSp>
        <p:nvGrpSpPr>
          <p:cNvPr id="16" name="Group 16"/>
          <p:cNvGrpSpPr/>
          <p:nvPr/>
        </p:nvGrpSpPr>
        <p:grpSpPr>
          <a:xfrm>
            <a:off x="1231011" y="9677400"/>
            <a:ext cx="7824978" cy="586740"/>
            <a:chOff x="1231011" y="9677400"/>
            <a:chExt cx="7824978" cy="586740"/>
          </a:xfrm>
        </p:grpSpPr>
        <p:sp>
          <p:nvSpPr>
            <p:cNvPr id="15" name="TextBox 15"/>
            <p:cNvSpPr txBox="1"/>
            <p:nvPr/>
          </p:nvSpPr>
          <p:spPr>
            <a:xfrm>
              <a:off x="1231011" y="9677400"/>
              <a:ext cx="7824978"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一候雷始收声 · 二候蛰虫坯户 · 三候水始涸</a:t>
              </a:r>
            </a:p>
          </p:txBody>
        </p:sp>
      </p:grpSp>
      <p:grpSp>
        <p:nvGrpSpPr>
          <p:cNvPr id="19" name="Group 19"/>
          <p:cNvGrpSpPr/>
          <p:nvPr/>
        </p:nvGrpSpPr>
        <p:grpSpPr>
          <a:xfrm>
            <a:off x="742950" y="10407015"/>
            <a:ext cx="8039100" cy="2131695"/>
            <a:chOff x="742950" y="10407015"/>
            <a:chExt cx="8039100" cy="2131695"/>
          </a:xfrm>
        </p:grpSpPr>
        <p:sp>
          <p:nvSpPr>
            <p:cNvPr id="17" name="TextBox 17"/>
            <p:cNvSpPr txBox="1"/>
            <p:nvPr/>
          </p:nvSpPr>
          <p:spPr>
            <a:xfrm>
              <a:off x="745236" y="10407015"/>
              <a:ext cx="9220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a:t>
              </a:r>
            </a:p>
          </p:txBody>
        </p:sp>
        <p:sp>
          <p:nvSpPr>
            <p:cNvPr id="18" name="TextBox 18"/>
            <p:cNvSpPr txBox="1"/>
            <p:nvPr/>
          </p:nvSpPr>
          <p:spPr>
            <a:xfrm>
              <a:off x="742950" y="10976610"/>
              <a:ext cx="8039100" cy="1562100"/>
            </a:xfrm>
            <a:prstGeom prst="rect">
              <a:avLst/>
            </a:prstGeom>
            <a:noFill/>
            <a:ln>
              <a:noFill/>
            </a:ln>
          </p:spPr>
          <p:txBody>
            <a:bodyPr wrap="none" lIns="0" tIns="0" rIns="0" bIns="0" anchor="t" anchorCtr="0">
              <a:spAutoFit/>
            </a:bodyPr>
            <a:lstStyle/>
            <a:p>
              <a:pPr algn="l">
                <a:lnSpc>
                  <a:spcPts val="5850"/>
                </a:lnSpc>
              </a:pPr>
              <a:r>
                <a:rPr lang="zh-CN" sz="4200" dirty="0">
                  <a:solidFill>
                    <a:schemeClr val="dk1"/>
                  </a:solidFill>
                  <a:latin typeface="+mn-lt"/>
                  <a:ea typeface="+mn-ea"/>
                  <a:cs typeface="+mn-cs"/>
                </a:rPr>
                <a:t>秋祭月、送秋牛、吃秋菜喝秋汤；</a:t>
              </a:r>
              <a:br/>
              <a:r>
                <a:rPr lang="zh-CN" sz="4200" dirty="0">
                  <a:solidFill>
                    <a:schemeClr val="dk1"/>
                  </a:solidFill>
                  <a:latin typeface="+mn-lt"/>
                  <a:ea typeface="+mn-ea"/>
                  <a:cs typeface="+mn-cs"/>
                </a:rPr>
                <a:t>秋分到，蛋儿俏——竖个蛋。</a:t>
              </a:r>
            </a:p>
          </p:txBody>
        </p:sp>
      </p:grpSp>
      <p:grpSp>
        <p:nvGrpSpPr>
          <p:cNvPr id="27" name="Group 27"/>
          <p:cNvGrpSpPr/>
          <p:nvPr/>
        </p:nvGrpSpPr>
        <p:grpSpPr>
          <a:xfrm>
            <a:off x="745236" y="12921615"/>
            <a:ext cx="6948678" cy="2455164"/>
            <a:chOff x="745236" y="12921615"/>
            <a:chExt cx="6948678" cy="2455164"/>
          </a:xfrm>
        </p:grpSpPr>
        <p:grpSp>
          <p:nvGrpSpPr>
            <p:cNvPr id="24" name="Group 24"/>
            <p:cNvGrpSpPr/>
            <p:nvPr/>
          </p:nvGrpSpPr>
          <p:grpSpPr>
            <a:xfrm>
              <a:off x="860813" y="12929683"/>
              <a:ext cx="298273" cy="392113"/>
              <a:chOff x="860813" y="12929683"/>
              <a:chExt cx="298273" cy="392113"/>
            </a:xfrm>
          </p:grpSpPr>
          <p:sp>
            <p:nvSpPr>
              <p:cNvPr id="20" name="Freeform 20"/>
              <p:cNvSpPr/>
              <p:nvPr/>
            </p:nvSpPr>
            <p:spPr>
              <a:xfrm>
                <a:off x="1009939" y="13244405"/>
                <a:ext cx="9525" cy="77391"/>
              </a:xfrm>
              <a:custGeom>
                <a:avLst/>
                <a:gdLst/>
                <a:ahLst/>
                <a:cxnLst/>
                <a:rect l="l" t="t" r="r" b="b"/>
                <a:pathLst>
                  <a:path w="9525" h="77391">
                    <a:moveTo>
                      <a:pt x="0" y="77391"/>
                    </a:moveTo>
                    <a:lnTo>
                      <a:pt x="0" y="0"/>
                    </a:lnTo>
                  </a:path>
                </a:pathLst>
              </a:custGeom>
              <a:noFill/>
              <a:ln w="41275">
                <a:solidFill>
                  <a:schemeClr val="accent3"/>
                </a:solidFill>
              </a:ln>
            </p:spPr>
          </p:sp>
          <p:sp>
            <p:nvSpPr>
              <p:cNvPr id="21" name="Freeform 21"/>
              <p:cNvSpPr/>
              <p:nvPr/>
            </p:nvSpPr>
            <p:spPr>
              <a:xfrm>
                <a:off x="860813" y="13073939"/>
                <a:ext cx="149127" cy="175625"/>
              </a:xfrm>
              <a:custGeom>
                <a:avLst/>
                <a:gdLst/>
                <a:ahLst/>
                <a:cxnLst/>
                <a:rect l="l" t="t" r="r" b="b"/>
                <a:pathLst>
                  <a:path w="149127" h="175625">
                    <a:moveTo>
                      <a:pt x="23568" y="0"/>
                    </a:moveTo>
                    <a:lnTo>
                      <a:pt x="14694" y="33103"/>
                    </a:lnTo>
                    <a:cubicBezTo>
                      <a:pt x="0" y="87978"/>
                      <a:pt x="32566" y="144360"/>
                      <a:pt x="87421" y="159095"/>
                    </a:cubicBezTo>
                    <a:cubicBezTo>
                      <a:pt x="107996" y="164626"/>
                      <a:pt x="128551" y="170136"/>
                      <a:pt x="149127" y="175625"/>
                    </a:cubicBezTo>
                    <a:lnTo>
                      <a:pt x="149127" y="104632"/>
                    </a:lnTo>
                    <a:cubicBezTo>
                      <a:pt x="145742" y="61190"/>
                      <a:pt x="115343" y="24579"/>
                      <a:pt x="73263" y="13291"/>
                    </a:cubicBezTo>
                    <a:lnTo>
                      <a:pt x="23568" y="0"/>
                    </a:lnTo>
                  </a:path>
                </a:pathLst>
              </a:custGeom>
              <a:noFill/>
              <a:ln w="41275">
                <a:solidFill>
                  <a:schemeClr val="accent3"/>
                </a:solidFill>
              </a:ln>
            </p:spPr>
          </p:sp>
          <p:sp>
            <p:nvSpPr>
              <p:cNvPr id="22" name="Freeform 22"/>
              <p:cNvSpPr/>
              <p:nvPr/>
            </p:nvSpPr>
            <p:spPr>
              <a:xfrm>
                <a:off x="944663" y="12929683"/>
                <a:ext cx="130553" cy="178515"/>
              </a:xfrm>
              <a:custGeom>
                <a:avLst/>
                <a:gdLst/>
                <a:ahLst/>
                <a:cxnLst/>
                <a:rect l="l" t="t" r="r" b="b"/>
                <a:pathLst>
                  <a:path w="130553" h="178515">
                    <a:moveTo>
                      <a:pt x="100979" y="178515"/>
                    </a:moveTo>
                    <a:cubicBezTo>
                      <a:pt x="110349" y="169145"/>
                      <a:pt x="117799" y="158001"/>
                      <a:pt x="122876" y="145763"/>
                    </a:cubicBezTo>
                    <a:cubicBezTo>
                      <a:pt x="127953" y="133504"/>
                      <a:pt x="130553" y="120379"/>
                      <a:pt x="130553" y="107109"/>
                    </a:cubicBezTo>
                    <a:cubicBezTo>
                      <a:pt x="130553" y="93839"/>
                      <a:pt x="127953" y="80713"/>
                      <a:pt x="122876" y="68475"/>
                    </a:cubicBezTo>
                    <a:cubicBezTo>
                      <a:pt x="117799" y="56217"/>
                      <a:pt x="110370" y="45093"/>
                      <a:pt x="100979" y="35703"/>
                    </a:cubicBezTo>
                    <a:lnTo>
                      <a:pt x="65277" y="0"/>
                    </a:lnTo>
                    <a:lnTo>
                      <a:pt x="29574" y="35703"/>
                    </a:lnTo>
                    <a:cubicBezTo>
                      <a:pt x="20204" y="45072"/>
                      <a:pt x="12754" y="56217"/>
                      <a:pt x="7698" y="68475"/>
                    </a:cubicBezTo>
                    <a:cubicBezTo>
                      <a:pt x="2621" y="80734"/>
                      <a:pt x="21" y="93859"/>
                      <a:pt x="0" y="107109"/>
                    </a:cubicBezTo>
                    <a:cubicBezTo>
                      <a:pt x="0" y="120379"/>
                      <a:pt x="2621" y="133504"/>
                      <a:pt x="7698" y="145763"/>
                    </a:cubicBezTo>
                    <a:cubicBezTo>
                      <a:pt x="12775" y="158022"/>
                      <a:pt x="20204" y="169145"/>
                      <a:pt x="29574" y="178515"/>
                    </a:cubicBezTo>
                  </a:path>
                </a:pathLst>
              </a:custGeom>
              <a:noFill/>
              <a:ln w="41275">
                <a:solidFill>
                  <a:schemeClr val="accent3"/>
                </a:solidFill>
              </a:ln>
            </p:spPr>
          </p:sp>
          <p:sp>
            <p:nvSpPr>
              <p:cNvPr id="23" name="Freeform 23"/>
              <p:cNvSpPr/>
              <p:nvPr/>
            </p:nvSpPr>
            <p:spPr>
              <a:xfrm>
                <a:off x="1009939" y="13073939"/>
                <a:ext cx="149147" cy="175625"/>
              </a:xfrm>
              <a:custGeom>
                <a:avLst/>
                <a:gdLst/>
                <a:ahLst/>
                <a:cxnLst/>
                <a:rect l="l" t="t" r="r" b="b"/>
                <a:pathLst>
                  <a:path w="149147" h="175625">
                    <a:moveTo>
                      <a:pt x="125579" y="0"/>
                    </a:moveTo>
                    <a:lnTo>
                      <a:pt x="134454" y="33103"/>
                    </a:lnTo>
                    <a:cubicBezTo>
                      <a:pt x="149147" y="87978"/>
                      <a:pt x="116581" y="144360"/>
                      <a:pt x="61706" y="159095"/>
                    </a:cubicBezTo>
                    <a:cubicBezTo>
                      <a:pt x="41131" y="164626"/>
                      <a:pt x="20555" y="170136"/>
                      <a:pt x="0" y="175625"/>
                    </a:cubicBezTo>
                    <a:lnTo>
                      <a:pt x="0" y="104632"/>
                    </a:lnTo>
                    <a:cubicBezTo>
                      <a:pt x="3385" y="61190"/>
                      <a:pt x="33784" y="24579"/>
                      <a:pt x="75884" y="13291"/>
                    </a:cubicBezTo>
                    <a:lnTo>
                      <a:pt x="125579" y="0"/>
                    </a:lnTo>
                  </a:path>
                </a:pathLst>
              </a:custGeom>
              <a:noFill/>
              <a:ln w="41275">
                <a:solidFill>
                  <a:schemeClr val="accent3"/>
                </a:solidFill>
              </a:ln>
            </p:spPr>
          </p:sp>
        </p:grpSp>
        <p:sp>
          <p:nvSpPr>
            <p:cNvPr id="25" name="TextBox 25"/>
            <p:cNvSpPr txBox="1"/>
            <p:nvPr/>
          </p:nvSpPr>
          <p:spPr>
            <a:xfrm>
              <a:off x="1431036" y="12921615"/>
              <a:ext cx="314325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中国农民丰收节</a:t>
              </a:r>
            </a:p>
          </p:txBody>
        </p:sp>
        <p:sp>
          <p:nvSpPr>
            <p:cNvPr id="26" name="TextBox 26"/>
            <p:cNvSpPr txBox="1"/>
            <p:nvPr/>
          </p:nvSpPr>
          <p:spPr>
            <a:xfrm>
              <a:off x="745236" y="13550265"/>
              <a:ext cx="6948678" cy="1826514"/>
            </a:xfrm>
            <a:prstGeom prst="rect">
              <a:avLst/>
            </a:prstGeom>
            <a:noFill/>
            <a:ln>
              <a:noFill/>
            </a:ln>
          </p:spPr>
          <p:txBody>
            <a:bodyPr wrap="none" lIns="0" tIns="0" rIns="0" bIns="0" anchor="t" anchorCtr="0">
              <a:spAutoFit/>
            </a:bodyPr>
            <a:lstStyle/>
            <a:p>
              <a:pPr algn="l">
                <a:lnSpc>
                  <a:spcPts val="4650"/>
                </a:lnSpc>
              </a:pPr>
              <a:r>
                <a:rPr lang="zh-CN" sz="3300" dirty="0">
                  <a:solidFill>
                    <a:schemeClr val="dk1"/>
                  </a:solidFill>
                  <a:latin typeface="+mn-lt"/>
                  <a:ea typeface="+mn-ea"/>
                  <a:cs typeface="+mn-cs"/>
                </a:rPr>
                <a:t>2018 年起，农历秋分被定为中国农民</a:t>
              </a:r>
              <a:br/>
              <a:r>
                <a:rPr lang="zh-CN" sz="3300" dirty="0">
                  <a:solidFill>
                    <a:schemeClr val="dk1"/>
                  </a:solidFill>
                  <a:latin typeface="+mn-lt"/>
                  <a:ea typeface="+mn-ea"/>
                  <a:cs typeface="+mn-cs"/>
                </a:rPr>
                <a:t>丰收节，第一个在国家层面专门为农</a:t>
              </a:r>
              <a:br/>
              <a:r>
                <a:rPr lang="zh-CN" sz="3300" dirty="0">
                  <a:solidFill>
                    <a:schemeClr val="dk1"/>
                  </a:solidFill>
                  <a:latin typeface="+mn-lt"/>
                  <a:ea typeface="+mn-ea"/>
                  <a:cs typeface="+mn-cs"/>
                </a:rPr>
                <a:t>民设立的节日。</a:t>
              </a:r>
            </a:p>
          </p:txBody>
        </p:sp>
      </p:grpSp>
      <p:grpSp>
        <p:nvGrpSpPr>
          <p:cNvPr id="30" name="Group 30"/>
          <p:cNvGrpSpPr/>
          <p:nvPr/>
        </p:nvGrpSpPr>
        <p:grpSpPr>
          <a:xfrm>
            <a:off x="742950" y="15640050"/>
            <a:ext cx="8763000" cy="1106805"/>
            <a:chOff x="742950" y="15640050"/>
            <a:chExt cx="8763000" cy="1106805"/>
          </a:xfrm>
        </p:grpSpPr>
        <p:sp>
          <p:nvSpPr>
            <p:cNvPr id="28" name="Freeform 28"/>
            <p:cNvSpPr/>
            <p:nvPr/>
          </p:nvSpPr>
          <p:spPr>
            <a:xfrm>
              <a:off x="781050" y="15640050"/>
              <a:ext cx="8724900" cy="152400"/>
            </a:xfrm>
            <a:custGeom>
              <a:avLst/>
              <a:gdLst/>
              <a:ahLst/>
              <a:cxnLst/>
              <a:rect l="l" t="t" r="r" b="b"/>
              <a:pathLst>
                <a:path w="8724900" h="152400">
                  <a:moveTo>
                    <a:pt x="0" y="95250"/>
                  </a:moveTo>
                  <a:cubicBezTo>
                    <a:pt x="1695450" y="38100"/>
                    <a:pt x="3219450" y="152400"/>
                    <a:pt x="4933950" y="76200"/>
                  </a:cubicBezTo>
                  <a:cubicBezTo>
                    <a:pt x="6648450" y="0"/>
                    <a:pt x="7429500" y="19050"/>
                    <a:pt x="8724900" y="133350"/>
                  </a:cubicBezTo>
                </a:path>
              </a:pathLst>
            </a:custGeom>
            <a:noFill/>
            <a:ln w="47625" cap="rnd">
              <a:solidFill>
                <a:schemeClr val="accent2"/>
              </a:solidFill>
            </a:ln>
          </p:spPr>
        </p:sp>
        <p:sp>
          <p:nvSpPr>
            <p:cNvPr id="29" name="TextBox 29"/>
            <p:cNvSpPr txBox="1"/>
            <p:nvPr/>
          </p:nvSpPr>
          <p:spPr>
            <a:xfrm>
              <a:off x="742950" y="15756255"/>
              <a:ext cx="7590282" cy="990600"/>
            </a:xfrm>
            <a:prstGeom prst="rect">
              <a:avLst/>
            </a:prstGeom>
            <a:noFill/>
            <a:ln>
              <a:noFill/>
            </a:ln>
          </p:spPr>
          <p:txBody>
            <a:bodyPr wrap="none" lIns="0" tIns="0" rIns="0" bIns="0" anchor="t" anchorCtr="0">
              <a:spAutoFit/>
            </a:bodyPr>
            <a:lstStyle/>
            <a:p>
              <a:pPr algn="l"/>
              <a:r>
                <a:rPr lang="zh-CN" sz="5100" dirty="0">
                  <a:solidFill>
                    <a:schemeClr val="accent1"/>
                  </a:solidFill>
                  <a:latin typeface="+mn-lt"/>
                  <a:ea typeface="+mn-ea"/>
                  <a:cs typeface="+mn-cs"/>
                </a:rPr>
                <a:t>昼夜一样长，去菜场逛逛</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sp>
        <p:nvSpPr>
          <p:cNvPr id="2" name="Freeform 2"/>
          <p:cNvSpPr/>
          <p:nvPr/>
        </p:nvSpPr>
        <p:spPr>
          <a:xfrm>
            <a:off x="878205" y="4123372"/>
            <a:ext cx="8543925" cy="9282113"/>
          </a:xfrm>
          <a:custGeom>
            <a:avLst/>
            <a:gdLst/>
            <a:ahLst/>
            <a:cxnLst/>
            <a:rect l="l" t="t" r="r" b="b"/>
            <a:pathLst>
              <a:path w="8543925" h="9282113">
                <a:moveTo>
                  <a:pt x="543878" y="18098"/>
                </a:moveTo>
                <a:lnTo>
                  <a:pt x="4292918" y="16193"/>
                </a:lnTo>
                <a:lnTo>
                  <a:pt x="7991475" y="120015"/>
                </a:lnTo>
                <a:cubicBezTo>
                  <a:pt x="8436292" y="61912"/>
                  <a:pt x="8543925" y="219075"/>
                  <a:pt x="8510588" y="619125"/>
                </a:cubicBezTo>
                <a:lnTo>
                  <a:pt x="8492490" y="4710112"/>
                </a:lnTo>
                <a:lnTo>
                  <a:pt x="8451532" y="8679180"/>
                </a:lnTo>
                <a:cubicBezTo>
                  <a:pt x="8535352" y="9015413"/>
                  <a:pt x="8379142" y="9204008"/>
                  <a:pt x="7929562" y="9181148"/>
                </a:cubicBezTo>
                <a:lnTo>
                  <a:pt x="4273868" y="9282113"/>
                </a:lnTo>
                <a:lnTo>
                  <a:pt x="584835" y="9246870"/>
                </a:lnTo>
                <a:cubicBezTo>
                  <a:pt x="231457" y="9267825"/>
                  <a:pt x="65722" y="9029700"/>
                  <a:pt x="11430" y="8622030"/>
                </a:cubicBezTo>
                <a:lnTo>
                  <a:pt x="17145" y="4698683"/>
                </a:lnTo>
                <a:lnTo>
                  <a:pt x="86677" y="595312"/>
                </a:lnTo>
                <a:cubicBezTo>
                  <a:pt x="0" y="150495"/>
                  <a:pt x="273368" y="0"/>
                  <a:pt x="591503" y="19050"/>
                </a:cubicBezTo>
                <a:close/>
              </a:path>
            </a:pathLst>
          </a:custGeom>
          <a:solidFill>
            <a:schemeClr val="lt2"/>
          </a:solidFill>
          <a:ln w="38100">
            <a:solidFill>
              <a:schemeClr val="dk1"/>
            </a:solidFill>
            <a:round/>
          </a:ln>
        </p:spPr>
      </p:sp>
      <p:grpSp>
        <p:nvGrpSpPr>
          <p:cNvPr id="7" name="Group 7"/>
          <p:cNvGrpSpPr/>
          <p:nvPr/>
        </p:nvGrpSpPr>
        <p:grpSpPr>
          <a:xfrm>
            <a:off x="742950" y="1758315"/>
            <a:ext cx="8591550" cy="2118360"/>
            <a:chOff x="742950" y="1758315"/>
            <a:chExt cx="8591550" cy="2118360"/>
          </a:xfrm>
        </p:grpSpPr>
        <p:sp>
          <p:nvSpPr>
            <p:cNvPr id="3" name="TextBox 3"/>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呼吸页</a:t>
              </a:r>
            </a:p>
          </p:txBody>
        </p:sp>
        <p:sp>
          <p:nvSpPr>
            <p:cNvPr id="4" name="TextBox 4"/>
            <p:cNvSpPr txBox="1"/>
            <p:nvPr/>
          </p:nvSpPr>
          <p:spPr>
            <a:xfrm>
              <a:off x="742950" y="2428875"/>
              <a:ext cx="53721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秋天吃什么</a:t>
              </a:r>
            </a:p>
          </p:txBody>
        </p:sp>
        <p:pic>
          <p:nvPicPr>
            <p:cNvPr id="5" name="Image 5"/>
            <p:cNvPicPr>
              <a:picLocks noChangeAspect="1"/>
            </p:cNvPicPr>
            <p:nvPr/>
          </p:nvPicPr>
          <p:blipFill>
            <a:blip r:embed="rId2"/>
            <a:stretch>
              <a:fillRect/>
            </a:stretch>
          </p:blipFill>
          <p:spPr>
            <a:xfrm>
              <a:off x="6667500" y="1905000"/>
              <a:ext cx="2667000" cy="981075"/>
            </a:xfrm>
            <a:prstGeom prst="rect">
              <a:avLst/>
            </a:prstGeom>
          </p:spPr>
        </p:pic>
        <p:sp>
          <p:nvSpPr>
            <p:cNvPr id="6" name="Freeform 6"/>
            <p:cNvSpPr/>
            <p:nvPr/>
          </p:nvSpPr>
          <p:spPr>
            <a:xfrm>
              <a:off x="800100" y="3562350"/>
              <a:ext cx="4533900" cy="38100"/>
            </a:xfrm>
            <a:custGeom>
              <a:avLst/>
              <a:gdLst/>
              <a:ahLst/>
              <a:cxnLst/>
              <a:rect l="l" t="t" r="r" b="b"/>
              <a:pathLst>
                <a:path w="4533900" h="38100">
                  <a:moveTo>
                    <a:pt x="0" y="38100"/>
                  </a:moveTo>
                  <a:cubicBezTo>
                    <a:pt x="1486852" y="33338"/>
                    <a:pt x="2999422" y="22860"/>
                    <a:pt x="4533900" y="0"/>
                  </a:cubicBezTo>
                </a:path>
              </a:pathLst>
            </a:custGeom>
            <a:noFill/>
            <a:ln w="47625" cap="rnd">
              <a:solidFill>
                <a:schemeClr val="accent2"/>
              </a:solidFill>
            </a:ln>
          </p:spPr>
        </p:sp>
      </p:grpSp>
      <p:grpSp>
        <p:nvGrpSpPr>
          <p:cNvPr id="11" name="Group 11"/>
          <p:cNvGrpSpPr/>
          <p:nvPr/>
        </p:nvGrpSpPr>
        <p:grpSpPr>
          <a:xfrm>
            <a:off x="1992820" y="4381500"/>
            <a:ext cx="2110359" cy="2743962"/>
            <a:chOff x="1992820" y="4381500"/>
            <a:chExt cx="2110359" cy="2743962"/>
          </a:xfrm>
        </p:grpSpPr>
        <p:pic>
          <p:nvPicPr>
            <p:cNvPr id="8" name="Image 8"/>
            <p:cNvPicPr>
              <a:picLocks noChangeAspect="1"/>
            </p:cNvPicPr>
            <p:nvPr/>
          </p:nvPicPr>
          <p:blipFill>
            <a:blip r:embed="rId3"/>
            <a:stretch>
              <a:fillRect/>
            </a:stretch>
          </p:blipFill>
          <p:spPr>
            <a:xfrm>
              <a:off x="2114550" y="4381500"/>
              <a:ext cx="1866900" cy="1619250"/>
            </a:xfrm>
            <a:prstGeom prst="rect">
              <a:avLst/>
            </a:prstGeom>
          </p:spPr>
        </p:pic>
        <p:sp>
          <p:nvSpPr>
            <p:cNvPr id="9" name="TextBox 9"/>
            <p:cNvSpPr txBox="1"/>
            <p:nvPr/>
          </p:nvSpPr>
          <p:spPr>
            <a:xfrm>
              <a:off x="1992820" y="6153150"/>
              <a:ext cx="2110359"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立秋 · 西瓜</a:t>
              </a:r>
            </a:p>
          </p:txBody>
        </p:sp>
        <p:sp>
          <p:nvSpPr>
            <p:cNvPr id="10" name="TextBox 10"/>
            <p:cNvSpPr txBox="1"/>
            <p:nvPr/>
          </p:nvSpPr>
          <p:spPr>
            <a:xfrm>
              <a:off x="2228088" y="6656070"/>
              <a:ext cx="1639824"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啃秋防秋燥</a:t>
              </a:r>
            </a:p>
          </p:txBody>
        </p:sp>
      </p:grpSp>
      <p:grpSp>
        <p:nvGrpSpPr>
          <p:cNvPr id="15" name="Group 15"/>
          <p:cNvGrpSpPr/>
          <p:nvPr/>
        </p:nvGrpSpPr>
        <p:grpSpPr>
          <a:xfrm>
            <a:off x="6200775" y="4381500"/>
            <a:ext cx="2085975" cy="2743962"/>
            <a:chOff x="6200775" y="4381500"/>
            <a:chExt cx="2085975" cy="2743962"/>
          </a:xfrm>
        </p:grpSpPr>
        <p:pic>
          <p:nvPicPr>
            <p:cNvPr id="12" name="Image 12"/>
            <p:cNvPicPr>
              <a:picLocks noChangeAspect="1"/>
            </p:cNvPicPr>
            <p:nvPr/>
          </p:nvPicPr>
          <p:blipFill>
            <a:blip r:embed="rId4"/>
            <a:stretch>
              <a:fillRect/>
            </a:stretch>
          </p:blipFill>
          <p:spPr>
            <a:xfrm>
              <a:off x="6200775" y="4381500"/>
              <a:ext cx="2085975" cy="1619250"/>
            </a:xfrm>
            <a:prstGeom prst="rect">
              <a:avLst/>
            </a:prstGeom>
          </p:spPr>
        </p:pic>
        <p:sp>
          <p:nvSpPr>
            <p:cNvPr id="13" name="TextBox 13"/>
            <p:cNvSpPr txBox="1"/>
            <p:nvPr/>
          </p:nvSpPr>
          <p:spPr>
            <a:xfrm>
              <a:off x="6385750" y="6153150"/>
              <a:ext cx="1706499"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处暑 · 鸭</a:t>
              </a:r>
            </a:p>
          </p:txBody>
        </p:sp>
        <p:sp>
          <p:nvSpPr>
            <p:cNvPr id="14" name="TextBox 14"/>
            <p:cNvSpPr txBox="1"/>
            <p:nvPr/>
          </p:nvSpPr>
          <p:spPr>
            <a:xfrm>
              <a:off x="6580632" y="6656070"/>
              <a:ext cx="1316736"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处暑送鸭</a:t>
              </a:r>
            </a:p>
          </p:txBody>
        </p:sp>
      </p:grpSp>
      <p:grpSp>
        <p:nvGrpSpPr>
          <p:cNvPr id="19" name="Group 19"/>
          <p:cNvGrpSpPr/>
          <p:nvPr/>
        </p:nvGrpSpPr>
        <p:grpSpPr>
          <a:xfrm>
            <a:off x="1992820" y="7239000"/>
            <a:ext cx="2110359" cy="2743962"/>
            <a:chOff x="1992820" y="7239000"/>
            <a:chExt cx="2110359" cy="2743962"/>
          </a:xfrm>
        </p:grpSpPr>
        <p:pic>
          <p:nvPicPr>
            <p:cNvPr id="16" name="Image 16"/>
            <p:cNvPicPr>
              <a:picLocks noChangeAspect="1"/>
            </p:cNvPicPr>
            <p:nvPr/>
          </p:nvPicPr>
          <p:blipFill>
            <a:blip r:embed="rId5"/>
            <a:stretch>
              <a:fillRect/>
            </a:stretch>
          </p:blipFill>
          <p:spPr>
            <a:xfrm>
              <a:off x="2333625" y="7239000"/>
              <a:ext cx="1438275" cy="1619250"/>
            </a:xfrm>
            <a:prstGeom prst="rect">
              <a:avLst/>
            </a:prstGeom>
          </p:spPr>
        </p:pic>
        <p:sp>
          <p:nvSpPr>
            <p:cNvPr id="17" name="TextBox 17"/>
            <p:cNvSpPr txBox="1"/>
            <p:nvPr/>
          </p:nvSpPr>
          <p:spPr>
            <a:xfrm>
              <a:off x="1992820" y="9010650"/>
              <a:ext cx="2110359"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白露 · 龙眼</a:t>
              </a:r>
            </a:p>
          </p:txBody>
        </p:sp>
        <p:sp>
          <p:nvSpPr>
            <p:cNvPr id="18" name="TextBox 18"/>
            <p:cNvSpPr txBox="1"/>
            <p:nvPr/>
          </p:nvSpPr>
          <p:spPr>
            <a:xfrm>
              <a:off x="2389632" y="9513570"/>
              <a:ext cx="1316736"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福州必吃</a:t>
              </a:r>
            </a:p>
          </p:txBody>
        </p:sp>
      </p:grpSp>
      <p:grpSp>
        <p:nvGrpSpPr>
          <p:cNvPr id="23" name="Group 23"/>
          <p:cNvGrpSpPr/>
          <p:nvPr/>
        </p:nvGrpSpPr>
        <p:grpSpPr>
          <a:xfrm>
            <a:off x="6183820" y="7239000"/>
            <a:ext cx="2110359" cy="2743962"/>
            <a:chOff x="6183820" y="7239000"/>
            <a:chExt cx="2110359" cy="2743962"/>
          </a:xfrm>
        </p:grpSpPr>
        <p:pic>
          <p:nvPicPr>
            <p:cNvPr id="20" name="Image 20"/>
            <p:cNvPicPr>
              <a:picLocks noChangeAspect="1"/>
            </p:cNvPicPr>
            <p:nvPr/>
          </p:nvPicPr>
          <p:blipFill>
            <a:blip r:embed="rId6"/>
            <a:stretch>
              <a:fillRect/>
            </a:stretch>
          </p:blipFill>
          <p:spPr>
            <a:xfrm>
              <a:off x="6572250" y="7239000"/>
              <a:ext cx="1333500" cy="1619250"/>
            </a:xfrm>
            <a:prstGeom prst="rect">
              <a:avLst/>
            </a:prstGeom>
          </p:spPr>
        </p:pic>
        <p:sp>
          <p:nvSpPr>
            <p:cNvPr id="21" name="TextBox 21"/>
            <p:cNvSpPr txBox="1"/>
            <p:nvPr/>
          </p:nvSpPr>
          <p:spPr>
            <a:xfrm>
              <a:off x="6183820" y="9010650"/>
              <a:ext cx="2110359"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秋分 · 秋汤</a:t>
              </a:r>
            </a:p>
          </p:txBody>
        </p:sp>
        <p:sp>
          <p:nvSpPr>
            <p:cNvPr id="22" name="TextBox 22"/>
            <p:cNvSpPr txBox="1"/>
            <p:nvPr/>
          </p:nvSpPr>
          <p:spPr>
            <a:xfrm>
              <a:off x="6580632" y="9513570"/>
              <a:ext cx="1316736"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岭南滚汤</a:t>
              </a:r>
            </a:p>
          </p:txBody>
        </p:sp>
      </p:grpSp>
      <p:grpSp>
        <p:nvGrpSpPr>
          <p:cNvPr id="27" name="Group 27"/>
          <p:cNvGrpSpPr/>
          <p:nvPr/>
        </p:nvGrpSpPr>
        <p:grpSpPr>
          <a:xfrm>
            <a:off x="1992820" y="10096500"/>
            <a:ext cx="2110359" cy="2743962"/>
            <a:chOff x="1992820" y="10096500"/>
            <a:chExt cx="2110359" cy="2743962"/>
          </a:xfrm>
        </p:grpSpPr>
        <p:pic>
          <p:nvPicPr>
            <p:cNvPr id="24" name="Image 24"/>
            <p:cNvPicPr>
              <a:picLocks noChangeAspect="1"/>
            </p:cNvPicPr>
            <p:nvPr/>
          </p:nvPicPr>
          <p:blipFill>
            <a:blip r:embed="rId7"/>
            <a:stretch>
              <a:fillRect/>
            </a:stretch>
          </p:blipFill>
          <p:spPr>
            <a:xfrm>
              <a:off x="2076450" y="10096500"/>
              <a:ext cx="1943100" cy="1619250"/>
            </a:xfrm>
            <a:prstGeom prst="rect">
              <a:avLst/>
            </a:prstGeom>
          </p:spPr>
        </p:pic>
        <p:sp>
          <p:nvSpPr>
            <p:cNvPr id="25" name="TextBox 25"/>
            <p:cNvSpPr txBox="1"/>
            <p:nvPr/>
          </p:nvSpPr>
          <p:spPr>
            <a:xfrm>
              <a:off x="1992820" y="11868150"/>
              <a:ext cx="2110359"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寒露 · 芝麻</a:t>
              </a:r>
            </a:p>
          </p:txBody>
        </p:sp>
        <p:sp>
          <p:nvSpPr>
            <p:cNvPr id="26" name="TextBox 26"/>
            <p:cNvSpPr txBox="1"/>
            <p:nvPr/>
          </p:nvSpPr>
          <p:spPr>
            <a:xfrm>
              <a:off x="2228088" y="12371070"/>
              <a:ext cx="1639824"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寒露吃芝麻</a:t>
              </a:r>
            </a:p>
          </p:txBody>
        </p:sp>
      </p:grpSp>
      <p:grpSp>
        <p:nvGrpSpPr>
          <p:cNvPr id="31" name="Group 31"/>
          <p:cNvGrpSpPr/>
          <p:nvPr/>
        </p:nvGrpSpPr>
        <p:grpSpPr>
          <a:xfrm>
            <a:off x="6183820" y="10096500"/>
            <a:ext cx="2110359" cy="2743962"/>
            <a:chOff x="6183820" y="10096500"/>
            <a:chExt cx="2110359" cy="2743962"/>
          </a:xfrm>
        </p:grpSpPr>
        <p:pic>
          <p:nvPicPr>
            <p:cNvPr id="28" name="Image 28"/>
            <p:cNvPicPr>
              <a:picLocks noChangeAspect="1"/>
            </p:cNvPicPr>
            <p:nvPr/>
          </p:nvPicPr>
          <p:blipFill>
            <a:blip r:embed="rId8"/>
            <a:stretch>
              <a:fillRect/>
            </a:stretch>
          </p:blipFill>
          <p:spPr>
            <a:xfrm>
              <a:off x="6562725" y="10096500"/>
              <a:ext cx="1352550" cy="1619250"/>
            </a:xfrm>
            <a:prstGeom prst="rect">
              <a:avLst/>
            </a:prstGeom>
          </p:spPr>
        </p:pic>
        <p:sp>
          <p:nvSpPr>
            <p:cNvPr id="29" name="TextBox 29"/>
            <p:cNvSpPr txBox="1"/>
            <p:nvPr/>
          </p:nvSpPr>
          <p:spPr>
            <a:xfrm>
              <a:off x="6183820" y="11868150"/>
              <a:ext cx="2110359"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霜降 · 柿子</a:t>
              </a:r>
            </a:p>
          </p:txBody>
        </p:sp>
        <p:sp>
          <p:nvSpPr>
            <p:cNvPr id="30" name="TextBox 30"/>
            <p:cNvSpPr txBox="1"/>
            <p:nvPr/>
          </p:nvSpPr>
          <p:spPr>
            <a:xfrm>
              <a:off x="6419088" y="12371070"/>
              <a:ext cx="1639824" cy="469392"/>
            </a:xfrm>
            <a:prstGeom prst="rect">
              <a:avLst/>
            </a:prstGeom>
            <a:noFill/>
            <a:ln>
              <a:noFill/>
            </a:ln>
          </p:spPr>
          <p:txBody>
            <a:bodyPr wrap="none" lIns="0" tIns="0" rIns="0" bIns="0" anchor="t" anchorCtr="0">
              <a:spAutoFit/>
            </a:bodyPr>
            <a:lstStyle/>
            <a:p>
              <a:pPr algn="ctr"/>
              <a:r>
                <a:rPr lang="zh-CN" sz="2400" dirty="0">
                  <a:solidFill>
                    <a:schemeClr val="accent5"/>
                  </a:solidFill>
                  <a:latin typeface="+mn-lt"/>
                  <a:ea typeface="+mn-ea"/>
                  <a:cs typeface="+mn-cs"/>
                </a:rPr>
                <a:t>霜降吃灯柿</a:t>
              </a:r>
            </a:p>
          </p:txBody>
        </p:sp>
      </p:grpSp>
      <p:grpSp>
        <p:nvGrpSpPr>
          <p:cNvPr id="33" name="Group 33"/>
          <p:cNvGrpSpPr/>
          <p:nvPr/>
        </p:nvGrpSpPr>
        <p:grpSpPr>
          <a:xfrm>
            <a:off x="742950" y="13927455"/>
            <a:ext cx="7162800" cy="1847850"/>
            <a:chOff x="742950" y="13927455"/>
            <a:chExt cx="7162800" cy="1847850"/>
          </a:xfrm>
        </p:grpSpPr>
        <p:sp>
          <p:nvSpPr>
            <p:cNvPr id="32" name="TextBox 32"/>
            <p:cNvSpPr txBox="1"/>
            <p:nvPr/>
          </p:nvSpPr>
          <p:spPr>
            <a:xfrm>
              <a:off x="742950" y="13927455"/>
              <a:ext cx="7162800" cy="1847850"/>
            </a:xfrm>
            <a:prstGeom prst="rect">
              <a:avLst/>
            </a:prstGeom>
            <a:noFill/>
            <a:ln>
              <a:noFill/>
            </a:ln>
          </p:spPr>
          <p:txBody>
            <a:bodyPr wrap="none" lIns="0" tIns="0" rIns="0" bIns="0" anchor="t" anchorCtr="0">
              <a:spAutoFit/>
            </a:bodyPr>
            <a:lstStyle/>
            <a:p>
              <a:pPr algn="l">
                <a:lnSpc>
                  <a:spcPts val="6750"/>
                </a:lnSpc>
              </a:pPr>
              <a:r>
                <a:rPr lang="zh-CN" sz="5100" dirty="0">
                  <a:solidFill>
                    <a:schemeClr val="accent1"/>
                  </a:solidFill>
                  <a:latin typeface="+mn-lt"/>
                  <a:ea typeface="+mn-ea"/>
                  <a:cs typeface="+mn-cs"/>
                </a:rPr>
                <a:t>六站各有一件当季的东西</a:t>
              </a:r>
              <a:br/>
              <a:r>
                <a:rPr lang="zh-CN" sz="5100" dirty="0">
                  <a:solidFill>
                    <a:schemeClr val="accent1"/>
                  </a:solidFill>
                  <a:latin typeface="+mn-lt"/>
                  <a:ea typeface="+mn-ea"/>
                  <a:cs typeface="+mn-cs"/>
                </a:rPr>
                <a:t>照单买就行</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300" fill="hold"/>
                                        <p:tgtEl>
                                          <p:spTgt spid="11"/>
                                        </p:tgtEl>
                                        <p:attrNameLst>
                                          <p:attrName>ppt_w</p:attrName>
                                        </p:attrNameLst>
                                      </p:cBhvr>
                                      <p:tavLst>
                                        <p:tav tm="0">
                                          <p:val>
                                            <p:fltVal val="0"/>
                                          </p:val>
                                        </p:tav>
                                        <p:tav tm="100000">
                                          <p:val>
                                            <p:strVal val="#ppt_w"/>
                                          </p:val>
                                        </p:tav>
                                      </p:tavLst>
                                    </p:anim>
                                    <p:anim calcmode="lin" valueType="num">
                                      <p:cBhvr>
                                        <p:cTn id="8" dur="300" fill="hold"/>
                                        <p:tgtEl>
                                          <p:spTgt spid="11"/>
                                        </p:tgtEl>
                                        <p:attrNameLst>
                                          <p:attrName>ppt_h</p:attrName>
                                        </p:attrNameLst>
                                      </p:cBhvr>
                                      <p:tavLst>
                                        <p:tav tm="0">
                                          <p:val>
                                            <p:fltVal val="0"/>
                                          </p:val>
                                        </p:tav>
                                        <p:tav tm="100000">
                                          <p:val>
                                            <p:strVal val="#ppt_h"/>
                                          </p:val>
                                        </p:tav>
                                      </p:tavLst>
                                    </p:anim>
                                  </p:childTnLst>
                                </p:cTn>
                              </p:par>
                            </p:childTnLst>
                          </p:cTn>
                        </p:par>
                        <p:par>
                          <p:cTn id="9" fill="hold">
                            <p:stCondLst>
                              <p:cond delay="300"/>
                            </p:stCondLst>
                            <p:childTnLst>
                              <p:par>
                                <p:cTn xmlns:p="http://schemas.openxmlformats.org/presentationml/2006/main" id="10" presetID="23" presetClass="entr" presetSubtype="16" fill="hold" grpId="0" nodeType="afterEffect">
                                  <p:stCondLst>
                                    <p:cond delay="500"/>
                                  </p:stCondLst>
                                  <p:childTnLst>
                                    <p:set>
                                      <p:cBhvr>
                                        <p:cTn id="11" dur="1" fill="hold">
                                          <p:stCondLst>
                                            <p:cond delay="0"/>
                                          </p:stCondLst>
                                        </p:cTn>
                                        <p:tgtEl>
                                          <p:spTgt spid="15"/>
                                        </p:tgtEl>
                                        <p:attrNameLst>
                                          <p:attrName>style.visibility</p:attrName>
                                        </p:attrNameLst>
                                      </p:cBhvr>
                                      <p:to>
                                        <p:strVal val="visible"/>
                                      </p:to>
                                    </p:set>
                                    <p:anim calcmode="lin" valueType="num">
                                      <p:cBhvr>
                                        <p:cTn id="12" dur="300" fill="hold"/>
                                        <p:tgtEl>
                                          <p:spTgt spid="15"/>
                                        </p:tgtEl>
                                        <p:attrNameLst>
                                          <p:attrName>ppt_w</p:attrName>
                                        </p:attrNameLst>
                                      </p:cBhvr>
                                      <p:tavLst>
                                        <p:tav tm="0">
                                          <p:val>
                                            <p:fltVal val="0"/>
                                          </p:val>
                                        </p:tav>
                                        <p:tav tm="100000">
                                          <p:val>
                                            <p:strVal val="#ppt_w"/>
                                          </p:val>
                                        </p:tav>
                                      </p:tavLst>
                                    </p:anim>
                                    <p:anim calcmode="lin" valueType="num">
                                      <p:cBhvr>
                                        <p:cTn id="13" dur="300" fill="hold"/>
                                        <p:tgtEl>
                                          <p:spTgt spid="15"/>
                                        </p:tgtEl>
                                        <p:attrNameLst>
                                          <p:attrName>ppt_h</p:attrName>
                                        </p:attrNameLst>
                                      </p:cBhvr>
                                      <p:tavLst>
                                        <p:tav tm="0">
                                          <p:val>
                                            <p:fltVal val="0"/>
                                          </p:val>
                                        </p:tav>
                                        <p:tav tm="100000">
                                          <p:val>
                                            <p:strVal val="#ppt_h"/>
                                          </p:val>
                                        </p:tav>
                                      </p:tavLst>
                                    </p:anim>
                                  </p:childTnLst>
                                </p:cTn>
                              </p:par>
                            </p:childTnLst>
                          </p:cTn>
                        </p:par>
                        <p:par>
                          <p:cTn id="14" fill="hold">
                            <p:stCondLst>
                              <p:cond delay="1100"/>
                            </p:stCondLst>
                            <p:childTnLst>
                              <p:par>
                                <p:cTn xmlns:p="http://schemas.openxmlformats.org/presentationml/2006/main" id="15" presetID="23" presetClass="entr" presetSubtype="16" fill="hold" grpId="0" nodeType="afterEffect">
                                  <p:stCondLst>
                                    <p:cond delay="500"/>
                                  </p:stCondLst>
                                  <p:childTnLst>
                                    <p:set>
                                      <p:cBhvr>
                                        <p:cTn id="16" dur="1" fill="hold">
                                          <p:stCondLst>
                                            <p:cond delay="0"/>
                                          </p:stCondLst>
                                        </p:cTn>
                                        <p:tgtEl>
                                          <p:spTgt spid="19"/>
                                        </p:tgtEl>
                                        <p:attrNameLst>
                                          <p:attrName>style.visibility</p:attrName>
                                        </p:attrNameLst>
                                      </p:cBhvr>
                                      <p:to>
                                        <p:strVal val="visible"/>
                                      </p:to>
                                    </p:set>
                                    <p:anim calcmode="lin" valueType="num">
                                      <p:cBhvr>
                                        <p:cTn id="17" dur="300" fill="hold"/>
                                        <p:tgtEl>
                                          <p:spTgt spid="19"/>
                                        </p:tgtEl>
                                        <p:attrNameLst>
                                          <p:attrName>ppt_w</p:attrName>
                                        </p:attrNameLst>
                                      </p:cBhvr>
                                      <p:tavLst>
                                        <p:tav tm="0">
                                          <p:val>
                                            <p:fltVal val="0"/>
                                          </p:val>
                                        </p:tav>
                                        <p:tav tm="100000">
                                          <p:val>
                                            <p:strVal val="#ppt_w"/>
                                          </p:val>
                                        </p:tav>
                                      </p:tavLst>
                                    </p:anim>
                                    <p:anim calcmode="lin" valueType="num">
                                      <p:cBhvr>
                                        <p:cTn id="18" dur="300" fill="hold"/>
                                        <p:tgtEl>
                                          <p:spTgt spid="19"/>
                                        </p:tgtEl>
                                        <p:attrNameLst>
                                          <p:attrName>ppt_h</p:attrName>
                                        </p:attrNameLst>
                                      </p:cBhvr>
                                      <p:tavLst>
                                        <p:tav tm="0">
                                          <p:val>
                                            <p:fltVal val="0"/>
                                          </p:val>
                                        </p:tav>
                                        <p:tav tm="100000">
                                          <p:val>
                                            <p:strVal val="#ppt_h"/>
                                          </p:val>
                                        </p:tav>
                                      </p:tavLst>
                                    </p:anim>
                                  </p:childTnLst>
                                </p:cTn>
                              </p:par>
                            </p:childTnLst>
                          </p:cTn>
                        </p:par>
                        <p:par>
                          <p:cTn id="19" fill="hold">
                            <p:stCondLst>
                              <p:cond delay="1900"/>
                            </p:stCondLst>
                            <p:childTnLst>
                              <p:par>
                                <p:cTn xmlns:p="http://schemas.openxmlformats.org/presentationml/2006/main" id="20" presetID="23" presetClass="entr" presetSubtype="16" fill="hold" grpId="0" nodeType="afterEffect">
                                  <p:stCondLst>
                                    <p:cond delay="500"/>
                                  </p:stCondLst>
                                  <p:childTnLst>
                                    <p:set>
                                      <p:cBhvr>
                                        <p:cTn id="21" dur="1" fill="hold">
                                          <p:stCondLst>
                                            <p:cond delay="0"/>
                                          </p:stCondLst>
                                        </p:cTn>
                                        <p:tgtEl>
                                          <p:spTgt spid="23"/>
                                        </p:tgtEl>
                                        <p:attrNameLst>
                                          <p:attrName>style.visibility</p:attrName>
                                        </p:attrNameLst>
                                      </p:cBhvr>
                                      <p:to>
                                        <p:strVal val="visible"/>
                                      </p:to>
                                    </p:set>
                                    <p:anim calcmode="lin" valueType="num">
                                      <p:cBhvr>
                                        <p:cTn id="22" dur="300" fill="hold"/>
                                        <p:tgtEl>
                                          <p:spTgt spid="23"/>
                                        </p:tgtEl>
                                        <p:attrNameLst>
                                          <p:attrName>ppt_w</p:attrName>
                                        </p:attrNameLst>
                                      </p:cBhvr>
                                      <p:tavLst>
                                        <p:tav tm="0">
                                          <p:val>
                                            <p:fltVal val="0"/>
                                          </p:val>
                                        </p:tav>
                                        <p:tav tm="100000">
                                          <p:val>
                                            <p:strVal val="#ppt_w"/>
                                          </p:val>
                                        </p:tav>
                                      </p:tavLst>
                                    </p:anim>
                                    <p:anim calcmode="lin" valueType="num">
                                      <p:cBhvr>
                                        <p:cTn id="23" dur="300" fill="hold"/>
                                        <p:tgtEl>
                                          <p:spTgt spid="23"/>
                                        </p:tgtEl>
                                        <p:attrNameLst>
                                          <p:attrName>ppt_h</p:attrName>
                                        </p:attrNameLst>
                                      </p:cBhvr>
                                      <p:tavLst>
                                        <p:tav tm="0">
                                          <p:val>
                                            <p:fltVal val="0"/>
                                          </p:val>
                                        </p:tav>
                                        <p:tav tm="100000">
                                          <p:val>
                                            <p:strVal val="#ppt_h"/>
                                          </p:val>
                                        </p:tav>
                                      </p:tavLst>
                                    </p:anim>
                                  </p:childTnLst>
                                </p:cTn>
                              </p:par>
                            </p:childTnLst>
                          </p:cTn>
                        </p:par>
                        <p:par>
                          <p:cTn id="24" fill="hold">
                            <p:stCondLst>
                              <p:cond delay="2700"/>
                            </p:stCondLst>
                            <p:childTnLst>
                              <p:par>
                                <p:cTn xmlns:p="http://schemas.openxmlformats.org/presentationml/2006/main" id="25" presetID="23" presetClass="entr" presetSubtype="16" fill="hold" grpId="0" nodeType="afterEffect">
                                  <p:stCondLst>
                                    <p:cond delay="500"/>
                                  </p:stCondLst>
                                  <p:childTnLst>
                                    <p:set>
                                      <p:cBhvr>
                                        <p:cTn id="26" dur="1" fill="hold">
                                          <p:stCondLst>
                                            <p:cond delay="0"/>
                                          </p:stCondLst>
                                        </p:cTn>
                                        <p:tgtEl>
                                          <p:spTgt spid="27"/>
                                        </p:tgtEl>
                                        <p:attrNameLst>
                                          <p:attrName>style.visibility</p:attrName>
                                        </p:attrNameLst>
                                      </p:cBhvr>
                                      <p:to>
                                        <p:strVal val="visible"/>
                                      </p:to>
                                    </p:set>
                                    <p:anim calcmode="lin" valueType="num">
                                      <p:cBhvr>
                                        <p:cTn id="27" dur="300" fill="hold"/>
                                        <p:tgtEl>
                                          <p:spTgt spid="27"/>
                                        </p:tgtEl>
                                        <p:attrNameLst>
                                          <p:attrName>ppt_w</p:attrName>
                                        </p:attrNameLst>
                                      </p:cBhvr>
                                      <p:tavLst>
                                        <p:tav tm="0">
                                          <p:val>
                                            <p:fltVal val="0"/>
                                          </p:val>
                                        </p:tav>
                                        <p:tav tm="100000">
                                          <p:val>
                                            <p:strVal val="#ppt_w"/>
                                          </p:val>
                                        </p:tav>
                                      </p:tavLst>
                                    </p:anim>
                                    <p:anim calcmode="lin" valueType="num">
                                      <p:cBhvr>
                                        <p:cTn id="28" dur="300" fill="hold"/>
                                        <p:tgtEl>
                                          <p:spTgt spid="27"/>
                                        </p:tgtEl>
                                        <p:attrNameLst>
                                          <p:attrName>ppt_h</p:attrName>
                                        </p:attrNameLst>
                                      </p:cBhvr>
                                      <p:tavLst>
                                        <p:tav tm="0">
                                          <p:val>
                                            <p:fltVal val="0"/>
                                          </p:val>
                                        </p:tav>
                                        <p:tav tm="100000">
                                          <p:val>
                                            <p:strVal val="#ppt_h"/>
                                          </p:val>
                                        </p:tav>
                                      </p:tavLst>
                                    </p:anim>
                                  </p:childTnLst>
                                </p:cTn>
                              </p:par>
                            </p:childTnLst>
                          </p:cTn>
                        </p:par>
                        <p:par>
                          <p:cTn id="29" fill="hold">
                            <p:stCondLst>
                              <p:cond delay="3500"/>
                            </p:stCondLst>
                            <p:childTnLst>
                              <p:par>
                                <p:cTn xmlns:p="http://schemas.openxmlformats.org/presentationml/2006/main" id="30" presetID="23" presetClass="entr" presetSubtype="16" fill="hold" grpId="0" nodeType="afterEffect">
                                  <p:stCondLst>
                                    <p:cond delay="500"/>
                                  </p:stCondLst>
                                  <p:childTnLst>
                                    <p:set>
                                      <p:cBhvr>
                                        <p:cTn id="31" dur="1" fill="hold">
                                          <p:stCondLst>
                                            <p:cond delay="0"/>
                                          </p:stCondLst>
                                        </p:cTn>
                                        <p:tgtEl>
                                          <p:spTgt spid="31"/>
                                        </p:tgtEl>
                                        <p:attrNameLst>
                                          <p:attrName>style.visibility</p:attrName>
                                        </p:attrNameLst>
                                      </p:cBhvr>
                                      <p:to>
                                        <p:strVal val="visible"/>
                                      </p:to>
                                    </p:set>
                                    <p:anim calcmode="lin" valueType="num">
                                      <p:cBhvr>
                                        <p:cTn id="32" dur="300" fill="hold"/>
                                        <p:tgtEl>
                                          <p:spTgt spid="31"/>
                                        </p:tgtEl>
                                        <p:attrNameLst>
                                          <p:attrName>ppt_w</p:attrName>
                                        </p:attrNameLst>
                                      </p:cBhvr>
                                      <p:tavLst>
                                        <p:tav tm="0">
                                          <p:val>
                                            <p:fltVal val="0"/>
                                          </p:val>
                                        </p:tav>
                                        <p:tav tm="100000">
                                          <p:val>
                                            <p:strVal val="#ppt_w"/>
                                          </p:val>
                                        </p:tav>
                                      </p:tavLst>
                                    </p:anim>
                                    <p:anim calcmode="lin" valueType="num">
                                      <p:cBhvr>
                                        <p:cTn id="33" dur="300" fill="hold"/>
                                        <p:tgtEl>
                                          <p:spTgt spid="3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6" name="Group 6"/>
          <p:cNvGrpSpPr/>
          <p:nvPr/>
        </p:nvGrpSpPr>
        <p:grpSpPr>
          <a:xfrm>
            <a:off x="745236" y="1758315"/>
            <a:ext cx="8432063" cy="2483739"/>
            <a:chOff x="745236" y="1758315"/>
            <a:chExt cx="8432063" cy="2483739"/>
          </a:xfrm>
        </p:grpSpPr>
        <p:sp>
          <p:nvSpPr>
            <p:cNvPr id="2" name="TextBox 2"/>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第五站</a:t>
              </a:r>
            </a:p>
          </p:txBody>
        </p:sp>
        <p:pic>
          <p:nvPicPr>
            <p:cNvPr id="3" name="Image 3"/>
            <p:cNvPicPr>
              <a:picLocks noChangeAspect="1"/>
            </p:cNvPicPr>
            <p:nvPr/>
          </p:nvPicPr>
          <p:blipFill>
            <a:blip r:embed="rId2"/>
            <a:stretch>
              <a:fillRect/>
            </a:stretch>
          </p:blipFill>
          <p:spPr>
            <a:xfrm>
              <a:off x="762000" y="2400300"/>
              <a:ext cx="2724150" cy="1619250"/>
            </a:xfrm>
            <a:prstGeom prst="rect">
              <a:avLst/>
            </a:prstGeom>
          </p:spPr>
        </p:pic>
        <p:sp>
          <p:nvSpPr>
            <p:cNvPr id="4" name="TextBox 4"/>
            <p:cNvSpPr txBox="1"/>
            <p:nvPr/>
          </p:nvSpPr>
          <p:spPr>
            <a:xfrm>
              <a:off x="4743450" y="2524125"/>
              <a:ext cx="2171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寒露</a:t>
              </a:r>
            </a:p>
          </p:txBody>
        </p:sp>
        <p:sp>
          <p:nvSpPr>
            <p:cNvPr id="5" name="TextBox 5"/>
            <p:cNvSpPr txBox="1"/>
            <p:nvPr/>
          </p:nvSpPr>
          <p:spPr>
            <a:xfrm>
              <a:off x="4745736" y="3596640"/>
              <a:ext cx="4431563"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2026年10月8日 14:29</a:t>
              </a:r>
            </a:p>
          </p:txBody>
        </p:sp>
      </p:grpSp>
      <p:grpSp>
        <p:nvGrpSpPr>
          <p:cNvPr id="14" name="Group 14"/>
          <p:cNvGrpSpPr/>
          <p:nvPr/>
        </p:nvGrpSpPr>
        <p:grpSpPr>
          <a:xfrm>
            <a:off x="1047750" y="4667250"/>
            <a:ext cx="8001000" cy="6762750"/>
            <a:chOff x="1047750" y="4667250"/>
            <a:chExt cx="8001000" cy="6762750"/>
          </a:xfrm>
        </p:grpSpPr>
        <p:pic>
          <p:nvPicPr>
            <p:cNvPr id="7" name="Image 7"/>
            <p:cNvPicPr>
              <a:picLocks noChangeAspect="1"/>
            </p:cNvPicPr>
            <p:nvPr/>
          </p:nvPicPr>
          <p:blipFill>
            <a:blip r:embed="rId3"/>
            <a:stretch>
              <a:fillRect/>
            </a:stretch>
          </p:blipFill>
          <p:spPr>
            <a:xfrm>
              <a:off x="6667500" y="4667250"/>
              <a:ext cx="2381250" cy="2352675"/>
            </a:xfrm>
            <a:prstGeom prst="rect">
              <a:avLst/>
            </a:prstGeom>
          </p:spPr>
        </p:pic>
        <p:sp>
          <p:nvSpPr>
            <p:cNvPr id="8" name="Freeform 8"/>
            <p:cNvSpPr/>
            <p:nvPr/>
          </p:nvSpPr>
          <p:spPr>
            <a:xfrm>
              <a:off x="1047750" y="6572250"/>
              <a:ext cx="1714500" cy="4857750"/>
            </a:xfrm>
            <a:prstGeom prst="upArrow">
              <a:avLst/>
            </a:prstGeom>
            <a:solidFill>
              <a:schemeClr val="lt2"/>
            </a:solidFill>
            <a:ln w="38100">
              <a:solidFill>
                <a:schemeClr val="accent1"/>
              </a:solidFill>
              <a:round/>
            </a:ln>
          </p:spPr>
        </p:sp>
        <p:sp>
          <p:nvSpPr>
            <p:cNvPr id="9" name="TextBox 9"/>
            <p:cNvSpPr txBox="1"/>
            <p:nvPr/>
          </p:nvSpPr>
          <p:spPr>
            <a:xfrm>
              <a:off x="3413760" y="7296150"/>
              <a:ext cx="2918079"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三候 · 菊有黄花</a:t>
              </a:r>
            </a:p>
          </p:txBody>
        </p:sp>
        <p:sp>
          <p:nvSpPr>
            <p:cNvPr id="10" name="TextBox 10"/>
            <p:cNvSpPr txBox="1"/>
            <p:nvPr/>
          </p:nvSpPr>
          <p:spPr>
            <a:xfrm>
              <a:off x="3413760" y="8724900"/>
              <a:ext cx="3725799"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二候 · 雀入大水为蛤</a:t>
              </a:r>
            </a:p>
          </p:txBody>
        </p:sp>
        <p:sp>
          <p:nvSpPr>
            <p:cNvPr id="11" name="TextBox 11"/>
            <p:cNvSpPr txBox="1"/>
            <p:nvPr/>
          </p:nvSpPr>
          <p:spPr>
            <a:xfrm>
              <a:off x="3413760" y="10153650"/>
              <a:ext cx="2918079"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一候 · 鸿雁来宾</a:t>
              </a:r>
            </a:p>
          </p:txBody>
        </p:sp>
        <p:pic>
          <p:nvPicPr>
            <p:cNvPr id="12" name="Image 12"/>
            <p:cNvPicPr>
              <a:picLocks noChangeAspect="1"/>
            </p:cNvPicPr>
            <p:nvPr/>
          </p:nvPicPr>
          <p:blipFill>
            <a:blip r:embed="rId4"/>
            <a:stretch>
              <a:fillRect/>
            </a:stretch>
          </p:blipFill>
          <p:spPr>
            <a:xfrm>
              <a:off x="7620000" y="7239000"/>
              <a:ext cx="1238250" cy="1066800"/>
            </a:xfrm>
            <a:prstGeom prst="rect">
              <a:avLst/>
            </a:prstGeom>
          </p:spPr>
        </p:pic>
        <p:sp>
          <p:nvSpPr>
            <p:cNvPr id="13" name="Freeform 13"/>
            <p:cNvSpPr/>
            <p:nvPr/>
          </p:nvSpPr>
          <p:spPr>
            <a:xfrm>
              <a:off x="3238500" y="7692390"/>
              <a:ext cx="3429000" cy="57150"/>
            </a:xfrm>
            <a:custGeom>
              <a:avLst/>
              <a:gdLst/>
              <a:ahLst/>
              <a:cxnLst/>
              <a:rect l="l" t="t" r="r" b="b"/>
              <a:pathLst>
                <a:path w="3429000" h="57150">
                  <a:moveTo>
                    <a:pt x="0" y="41910"/>
                  </a:moveTo>
                  <a:cubicBezTo>
                    <a:pt x="1139190" y="0"/>
                    <a:pt x="2307907" y="57150"/>
                    <a:pt x="3429000" y="3810"/>
                  </a:cubicBezTo>
                </a:path>
              </a:pathLst>
            </a:custGeom>
            <a:noFill/>
            <a:ln w="28575" cap="rnd">
              <a:solidFill>
                <a:schemeClr val="accent6"/>
              </a:solidFill>
              <a:custDash>
                <a:ds d="266667" sp="266667"/>
              </a:custDash>
            </a:ln>
          </p:spPr>
        </p:sp>
      </p:grpSp>
      <p:grpSp>
        <p:nvGrpSpPr>
          <p:cNvPr id="16" name="Group 16"/>
          <p:cNvGrpSpPr/>
          <p:nvPr/>
        </p:nvGrpSpPr>
        <p:grpSpPr>
          <a:xfrm>
            <a:off x="745236" y="11931015"/>
            <a:ext cx="7158228" cy="1235964"/>
            <a:chOff x="745236" y="11931015"/>
            <a:chExt cx="7158228" cy="1235964"/>
          </a:xfrm>
        </p:grpSpPr>
        <p:sp>
          <p:nvSpPr>
            <p:cNvPr id="15" name="TextBox 15"/>
            <p:cNvSpPr txBox="1"/>
            <p:nvPr/>
          </p:nvSpPr>
          <p:spPr>
            <a:xfrm>
              <a:off x="745236" y="11931015"/>
              <a:ext cx="7158228" cy="1235964"/>
            </a:xfrm>
            <a:prstGeom prst="rect">
              <a:avLst/>
            </a:prstGeom>
            <a:noFill/>
            <a:ln>
              <a:noFill/>
            </a:ln>
          </p:spPr>
          <p:txBody>
            <a:bodyPr wrap="none" lIns="0" tIns="0" rIns="0" bIns="0" anchor="t" anchorCtr="0">
              <a:spAutoFit/>
            </a:bodyPr>
            <a:lstStyle/>
            <a:p>
              <a:pPr algn="l">
                <a:lnSpc>
                  <a:spcPts val="4650"/>
                </a:lnSpc>
              </a:pPr>
              <a:r>
                <a:rPr lang="zh-CN" sz="3300" dirty="0">
                  <a:solidFill>
                    <a:schemeClr val="accent5"/>
                  </a:solidFill>
                  <a:latin typeface="+mn-lt"/>
                  <a:ea typeface="+mn-ea"/>
                  <a:cs typeface="+mn-cs"/>
                </a:rPr>
                <a:t>同是露：白露是降，寒露是寒，下一站</a:t>
              </a:r>
              <a:br/>
              <a:r>
                <a:rPr lang="zh-CN" sz="3300" dirty="0">
                  <a:solidFill>
                    <a:schemeClr val="accent5"/>
                  </a:solidFill>
                  <a:latin typeface="+mn-lt"/>
                  <a:ea typeface="+mn-ea"/>
                  <a:cs typeface="+mn-cs"/>
                </a:rPr>
                <a:t>就结霜了。</a:t>
              </a:r>
            </a:p>
          </p:txBody>
        </p:sp>
      </p:grpSp>
      <p:grpSp>
        <p:nvGrpSpPr>
          <p:cNvPr id="19" name="Group 19"/>
          <p:cNvGrpSpPr/>
          <p:nvPr/>
        </p:nvGrpSpPr>
        <p:grpSpPr>
          <a:xfrm>
            <a:off x="742950" y="13359765"/>
            <a:ext cx="6972300" cy="2131695"/>
            <a:chOff x="742950" y="13359765"/>
            <a:chExt cx="6972300" cy="2131695"/>
          </a:xfrm>
        </p:grpSpPr>
        <p:sp>
          <p:nvSpPr>
            <p:cNvPr id="17" name="TextBox 17"/>
            <p:cNvSpPr txBox="1"/>
            <p:nvPr/>
          </p:nvSpPr>
          <p:spPr>
            <a:xfrm>
              <a:off x="745236" y="13359765"/>
              <a:ext cx="9220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a:t>
              </a:r>
            </a:p>
          </p:txBody>
        </p:sp>
        <p:sp>
          <p:nvSpPr>
            <p:cNvPr id="18" name="TextBox 18"/>
            <p:cNvSpPr txBox="1"/>
            <p:nvPr/>
          </p:nvSpPr>
          <p:spPr>
            <a:xfrm>
              <a:off x="742950" y="13929360"/>
              <a:ext cx="6972300" cy="1562100"/>
            </a:xfrm>
            <a:prstGeom prst="rect">
              <a:avLst/>
            </a:prstGeom>
            <a:noFill/>
            <a:ln>
              <a:noFill/>
            </a:ln>
          </p:spPr>
          <p:txBody>
            <a:bodyPr wrap="none" lIns="0" tIns="0" rIns="0" bIns="0" anchor="t" anchorCtr="0">
              <a:spAutoFit/>
            </a:bodyPr>
            <a:lstStyle/>
            <a:p>
              <a:pPr algn="l">
                <a:lnSpc>
                  <a:spcPts val="5850"/>
                </a:lnSpc>
              </a:pPr>
              <a:r>
                <a:rPr lang="zh-CN" sz="4200" dirty="0">
                  <a:solidFill>
                    <a:schemeClr val="dk1"/>
                  </a:solidFill>
                  <a:latin typeface="+mn-lt"/>
                  <a:ea typeface="+mn-ea"/>
                  <a:cs typeface="+mn-cs"/>
                </a:rPr>
                <a:t>寒露吃芝麻；近重阳，登高、</a:t>
              </a:r>
              <a:br/>
              <a:r>
                <a:rPr lang="zh-CN" sz="4200" dirty="0">
                  <a:solidFill>
                    <a:schemeClr val="dk1"/>
                  </a:solidFill>
                  <a:latin typeface="+mn-lt"/>
                  <a:ea typeface="+mn-ea"/>
                  <a:cs typeface="+mn-cs"/>
                </a:rPr>
                <a:t>赏枫、饮菊花酒。</a:t>
              </a:r>
            </a:p>
          </p:txBody>
        </p:sp>
      </p:grpSp>
      <p:grpSp>
        <p:nvGrpSpPr>
          <p:cNvPr id="22" name="Group 22"/>
          <p:cNvGrpSpPr/>
          <p:nvPr/>
        </p:nvGrpSpPr>
        <p:grpSpPr>
          <a:xfrm>
            <a:off x="742950" y="15640050"/>
            <a:ext cx="8763000" cy="1106805"/>
            <a:chOff x="742950" y="15640050"/>
            <a:chExt cx="8763000" cy="1106805"/>
          </a:xfrm>
        </p:grpSpPr>
        <p:sp>
          <p:nvSpPr>
            <p:cNvPr id="20" name="Freeform 20"/>
            <p:cNvSpPr/>
            <p:nvPr/>
          </p:nvSpPr>
          <p:spPr>
            <a:xfrm>
              <a:off x="781050" y="15640050"/>
              <a:ext cx="8724900" cy="152400"/>
            </a:xfrm>
            <a:custGeom>
              <a:avLst/>
              <a:gdLst/>
              <a:ahLst/>
              <a:cxnLst/>
              <a:rect l="l" t="t" r="r" b="b"/>
              <a:pathLst>
                <a:path w="8724900" h="152400">
                  <a:moveTo>
                    <a:pt x="0" y="95250"/>
                  </a:moveTo>
                  <a:cubicBezTo>
                    <a:pt x="1695450" y="38100"/>
                    <a:pt x="3219450" y="152400"/>
                    <a:pt x="4933950" y="76200"/>
                  </a:cubicBezTo>
                  <a:cubicBezTo>
                    <a:pt x="6648450" y="0"/>
                    <a:pt x="7429500" y="19050"/>
                    <a:pt x="8724900" y="133350"/>
                  </a:cubicBezTo>
                </a:path>
              </a:pathLst>
            </a:custGeom>
            <a:noFill/>
            <a:ln w="47625" cap="rnd">
              <a:solidFill>
                <a:schemeClr val="accent2"/>
              </a:solidFill>
            </a:ln>
          </p:spPr>
        </p:sp>
        <p:sp>
          <p:nvSpPr>
            <p:cNvPr id="21" name="TextBox 21"/>
            <p:cNvSpPr txBox="1"/>
            <p:nvPr/>
          </p:nvSpPr>
          <p:spPr>
            <a:xfrm>
              <a:off x="742950" y="15756255"/>
              <a:ext cx="7590282" cy="990600"/>
            </a:xfrm>
            <a:prstGeom prst="rect">
              <a:avLst/>
            </a:prstGeom>
            <a:noFill/>
            <a:ln>
              <a:noFill/>
            </a:ln>
          </p:spPr>
          <p:txBody>
            <a:bodyPr wrap="none" lIns="0" tIns="0" rIns="0" bIns="0" anchor="t" anchorCtr="0">
              <a:spAutoFit/>
            </a:bodyPr>
            <a:lstStyle/>
            <a:p>
              <a:pPr algn="l"/>
              <a:r>
                <a:rPr lang="zh-CN" sz="5100" dirty="0">
                  <a:solidFill>
                    <a:schemeClr val="accent1"/>
                  </a:solidFill>
                  <a:latin typeface="+mn-lt"/>
                  <a:ea typeface="+mn-ea"/>
                  <a:cs typeface="+mn-cs"/>
                </a:rPr>
                <a:t>把凉鞋收起来，登一次高</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6" name="!!term-header"/>
          <p:cNvGrpSpPr/>
          <p:nvPr/>
        </p:nvGrpSpPr>
        <p:grpSpPr>
          <a:xfrm>
            <a:off x="745236" y="1758315"/>
            <a:ext cx="8676399" cy="2483739"/>
            <a:chOff x="745236" y="1758315"/>
            <a:chExt cx="8676399" cy="2483739"/>
          </a:xfrm>
        </p:grpSpPr>
        <p:sp>
          <p:nvSpPr>
            <p:cNvPr id="2" name="TextBox 2"/>
            <p:cNvSpPr txBox="1"/>
            <p:nvPr/>
          </p:nvSpPr>
          <p:spPr>
            <a:xfrm>
              <a:off x="745236" y="1758315"/>
              <a:ext cx="1366266"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第六站</a:t>
              </a:r>
            </a:p>
          </p:txBody>
        </p:sp>
        <p:pic>
          <p:nvPicPr>
            <p:cNvPr id="3" name="Image 3"/>
            <p:cNvPicPr>
              <a:picLocks noChangeAspect="1"/>
            </p:cNvPicPr>
            <p:nvPr/>
          </p:nvPicPr>
          <p:blipFill>
            <a:blip r:embed="rId2"/>
            <a:stretch>
              <a:fillRect/>
            </a:stretch>
          </p:blipFill>
          <p:spPr>
            <a:xfrm>
              <a:off x="762000" y="2400300"/>
              <a:ext cx="2714625" cy="1619250"/>
            </a:xfrm>
            <a:prstGeom prst="rect">
              <a:avLst/>
            </a:prstGeom>
          </p:spPr>
        </p:pic>
        <p:sp>
          <p:nvSpPr>
            <p:cNvPr id="4" name="TextBox 4"/>
            <p:cNvSpPr txBox="1"/>
            <p:nvPr/>
          </p:nvSpPr>
          <p:spPr>
            <a:xfrm>
              <a:off x="4743450" y="2524125"/>
              <a:ext cx="2171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霜降</a:t>
              </a:r>
            </a:p>
          </p:txBody>
        </p:sp>
        <p:sp>
          <p:nvSpPr>
            <p:cNvPr id="5" name="TextBox 5"/>
            <p:cNvSpPr txBox="1"/>
            <p:nvPr/>
          </p:nvSpPr>
          <p:spPr>
            <a:xfrm>
              <a:off x="4745736" y="3596640"/>
              <a:ext cx="4675899"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2026年10月23日 17:38</a:t>
              </a:r>
            </a:p>
          </p:txBody>
        </p:sp>
      </p:grpSp>
      <p:sp>
        <p:nvSpPr>
          <p:cNvPr id="7" name="Freeform 7"/>
          <p:cNvSpPr/>
          <p:nvPr/>
        </p:nvSpPr>
        <p:spPr>
          <a:xfrm>
            <a:off x="5715000" y="5143500"/>
            <a:ext cx="2857500" cy="4800600"/>
          </a:xfrm>
          <a:custGeom>
            <a:avLst/>
            <a:gdLst/>
            <a:ahLst/>
            <a:cxnLst/>
            <a:rect l="l" t="t" r="r" b="b"/>
            <a:pathLst>
              <a:path w="2857500" h="4800600">
                <a:moveTo>
                  <a:pt x="2857500" y="0"/>
                </a:moveTo>
                <a:cubicBezTo>
                  <a:pt x="2400300" y="1143000"/>
                  <a:pt x="2019300" y="2095500"/>
                  <a:pt x="1524000" y="3048000"/>
                </a:cubicBezTo>
                <a:cubicBezTo>
                  <a:pt x="1104900" y="3867150"/>
                  <a:pt x="571500" y="4381500"/>
                  <a:pt x="0" y="4800600"/>
                </a:cubicBezTo>
              </a:path>
            </a:pathLst>
          </a:custGeom>
          <a:noFill/>
          <a:ln w="38100" cap="rnd">
            <a:solidFill>
              <a:schemeClr val="accent6"/>
            </a:solidFill>
            <a:custDash>
              <a:ds d="200000" sp="300000"/>
            </a:custDash>
          </a:ln>
        </p:spPr>
      </p:sp>
      <p:grpSp>
        <p:nvGrpSpPr>
          <p:cNvPr id="12" name="Group 12"/>
          <p:cNvGrpSpPr/>
          <p:nvPr/>
        </p:nvGrpSpPr>
        <p:grpSpPr>
          <a:xfrm>
            <a:off x="762000" y="4572000"/>
            <a:ext cx="6667500" cy="6286500"/>
            <a:chOff x="762000" y="4572000"/>
            <a:chExt cx="6667500" cy="6286500"/>
          </a:xfrm>
        </p:grpSpPr>
        <p:sp>
          <p:nvSpPr>
            <p:cNvPr id="8" name="Freeform 8"/>
            <p:cNvSpPr/>
            <p:nvPr/>
          </p:nvSpPr>
          <p:spPr>
            <a:xfrm>
              <a:off x="762000" y="4572000"/>
              <a:ext cx="6667500" cy="6286500"/>
            </a:xfrm>
            <a:prstGeom prst="foldedCorner">
              <a:avLst>
                <a:gd name="adj" fmla="val 20000"/>
              </a:avLst>
            </a:prstGeom>
            <a:solidFill>
              <a:schemeClr val="lt2"/>
            </a:solidFill>
            <a:ln w="38100">
              <a:solidFill>
                <a:schemeClr val="dk1"/>
              </a:solidFill>
              <a:round/>
            </a:ln>
          </p:spPr>
        </p:sp>
        <p:pic>
          <p:nvPicPr>
            <p:cNvPr id="9" name="Image 9"/>
            <p:cNvPicPr>
              <a:picLocks noChangeAspect="1"/>
            </p:cNvPicPr>
            <p:nvPr/>
          </p:nvPicPr>
          <p:blipFill>
            <a:blip r:embed="rId3"/>
            <a:stretch>
              <a:fillRect/>
            </a:stretch>
          </p:blipFill>
          <p:spPr>
            <a:xfrm>
              <a:off x="2857500" y="5334000"/>
              <a:ext cx="2476500" cy="2324100"/>
            </a:xfrm>
            <a:prstGeom prst="rect">
              <a:avLst/>
            </a:prstGeom>
          </p:spPr>
        </p:pic>
        <p:sp>
          <p:nvSpPr>
            <p:cNvPr id="10" name="TextBox 10"/>
            <p:cNvSpPr txBox="1"/>
            <p:nvPr/>
          </p:nvSpPr>
          <p:spPr>
            <a:xfrm>
              <a:off x="2540508" y="7989570"/>
              <a:ext cx="3110484" cy="1047750"/>
            </a:xfrm>
            <a:prstGeom prst="rect">
              <a:avLst/>
            </a:prstGeom>
            <a:noFill/>
            <a:ln>
              <a:noFill/>
            </a:ln>
          </p:spPr>
          <p:txBody>
            <a:bodyPr wrap="none" lIns="0" tIns="0" rIns="0" bIns="0" anchor="t" anchorCtr="0">
              <a:spAutoFit/>
            </a:bodyPr>
            <a:lstStyle/>
            <a:p>
              <a:pPr algn="ctr"/>
              <a:r>
                <a:rPr lang="zh-CN" sz="5400" dirty="0">
                  <a:solidFill>
                    <a:schemeClr val="accent1"/>
                  </a:solidFill>
                  <a:latin typeface="+mj-lt"/>
                  <a:ea typeface="+mj-ea"/>
                  <a:cs typeface="+mj-cs"/>
                </a:rPr>
                <a:t>草木黄落</a:t>
              </a:r>
            </a:p>
          </p:txBody>
        </p:sp>
        <p:sp>
          <p:nvSpPr>
            <p:cNvPr id="11" name="TextBox 11"/>
            <p:cNvSpPr txBox="1"/>
            <p:nvPr/>
          </p:nvSpPr>
          <p:spPr>
            <a:xfrm>
              <a:off x="1859280" y="9010650"/>
              <a:ext cx="4472940" cy="586740"/>
            </a:xfrm>
            <a:prstGeom prst="rect">
              <a:avLst/>
            </a:prstGeom>
            <a:noFill/>
            <a:ln>
              <a:noFill/>
            </a:ln>
          </p:spPr>
          <p:txBody>
            <a:bodyPr wrap="none" lIns="0" tIns="0" rIns="0" bIns="0" anchor="t" anchorCtr="0">
              <a:spAutoFit/>
            </a:bodyPr>
            <a:lstStyle/>
            <a:p>
              <a:pPr algn="ctr"/>
              <a:r>
                <a:rPr lang="zh-CN" sz="3000" dirty="0">
                  <a:solidFill>
                    <a:schemeClr val="accent5"/>
                  </a:solidFill>
                  <a:latin typeface="+mn-lt"/>
                  <a:ea typeface="+mn-ea"/>
                  <a:cs typeface="+mn-cs"/>
                </a:rPr>
                <a:t>虫也睡了，秋天到此收尾</a:t>
              </a:r>
            </a:p>
          </p:txBody>
        </p:sp>
      </p:grpSp>
      <p:grpSp>
        <p:nvGrpSpPr>
          <p:cNvPr id="14" name="Group 14"/>
          <p:cNvGrpSpPr/>
          <p:nvPr/>
        </p:nvGrpSpPr>
        <p:grpSpPr>
          <a:xfrm>
            <a:off x="7905750" y="4667250"/>
            <a:ext cx="1428750" cy="1390650"/>
            <a:chOff x="7905750" y="4667250"/>
            <a:chExt cx="1428750" cy="1390650"/>
          </a:xfrm>
        </p:grpSpPr>
        <p:pic>
          <p:nvPicPr>
            <p:cNvPr id="13" name="Image 13"/>
            <p:cNvPicPr>
              <a:picLocks noChangeAspect="1"/>
            </p:cNvPicPr>
            <p:nvPr/>
          </p:nvPicPr>
          <p:blipFill>
            <a:blip r:embed="rId4"/>
            <a:stretch>
              <a:fillRect/>
            </a:stretch>
          </p:blipFill>
          <p:spPr>
            <a:xfrm>
              <a:off x="7905750" y="4667250"/>
              <a:ext cx="1428750" cy="1390650"/>
            </a:xfrm>
            <a:prstGeom prst="rect">
              <a:avLst/>
            </a:prstGeom>
          </p:spPr>
        </p:pic>
      </p:grpSp>
      <p:grpSp>
        <p:nvGrpSpPr>
          <p:cNvPr id="16" name="Group 16"/>
          <p:cNvGrpSpPr/>
          <p:nvPr/>
        </p:nvGrpSpPr>
        <p:grpSpPr>
          <a:xfrm>
            <a:off x="1029081" y="11677650"/>
            <a:ext cx="8228838" cy="586740"/>
            <a:chOff x="1029081" y="11677650"/>
            <a:chExt cx="8228838" cy="586740"/>
          </a:xfrm>
        </p:grpSpPr>
        <p:sp>
          <p:nvSpPr>
            <p:cNvPr id="15" name="TextBox 15"/>
            <p:cNvSpPr txBox="1"/>
            <p:nvPr/>
          </p:nvSpPr>
          <p:spPr>
            <a:xfrm>
              <a:off x="1029081" y="11677650"/>
              <a:ext cx="8228838" cy="586740"/>
            </a:xfrm>
            <a:prstGeom prst="rect">
              <a:avLst/>
            </a:prstGeom>
            <a:noFill/>
            <a:ln>
              <a:noFill/>
            </a:ln>
          </p:spPr>
          <p:txBody>
            <a:bodyPr wrap="none" lIns="0" tIns="0" rIns="0" bIns="0" anchor="t" anchorCtr="0">
              <a:spAutoFit/>
            </a:bodyPr>
            <a:lstStyle/>
            <a:p>
              <a:pPr algn="ctr"/>
              <a:r>
                <a:rPr lang="zh-CN" sz="3000" dirty="0">
                  <a:solidFill>
                    <a:schemeClr val="dk1"/>
                  </a:solidFill>
                  <a:latin typeface="+mn-lt"/>
                  <a:ea typeface="+mn-ea"/>
                  <a:cs typeface="+mn-cs"/>
                </a:rPr>
                <a:t>一候豺乃祭兽 · 二候草木黄落 · 三候蛰虫咸俯</a:t>
              </a:r>
            </a:p>
          </p:txBody>
        </p:sp>
      </p:grpSp>
      <p:grpSp>
        <p:nvGrpSpPr>
          <p:cNvPr id="19" name="Group 19"/>
          <p:cNvGrpSpPr/>
          <p:nvPr/>
        </p:nvGrpSpPr>
        <p:grpSpPr>
          <a:xfrm>
            <a:off x="742950" y="12407265"/>
            <a:ext cx="7505700" cy="2131695"/>
            <a:chOff x="742950" y="12407265"/>
            <a:chExt cx="7505700" cy="2131695"/>
          </a:xfrm>
        </p:grpSpPr>
        <p:sp>
          <p:nvSpPr>
            <p:cNvPr id="17" name="TextBox 17"/>
            <p:cNvSpPr txBox="1"/>
            <p:nvPr/>
          </p:nvSpPr>
          <p:spPr>
            <a:xfrm>
              <a:off x="745236" y="12407265"/>
              <a:ext cx="92202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a:t>
              </a:r>
            </a:p>
          </p:txBody>
        </p:sp>
        <p:sp>
          <p:nvSpPr>
            <p:cNvPr id="18" name="TextBox 18"/>
            <p:cNvSpPr txBox="1"/>
            <p:nvPr/>
          </p:nvSpPr>
          <p:spPr>
            <a:xfrm>
              <a:off x="742950" y="12976860"/>
              <a:ext cx="7505700" cy="1562100"/>
            </a:xfrm>
            <a:prstGeom prst="rect">
              <a:avLst/>
            </a:prstGeom>
            <a:noFill/>
            <a:ln>
              <a:noFill/>
            </a:ln>
          </p:spPr>
          <p:txBody>
            <a:bodyPr wrap="none" lIns="0" tIns="0" rIns="0" bIns="0" anchor="t" anchorCtr="0">
              <a:spAutoFit/>
            </a:bodyPr>
            <a:lstStyle/>
            <a:p>
              <a:pPr algn="l">
                <a:lnSpc>
                  <a:spcPts val="5850"/>
                </a:lnSpc>
              </a:pPr>
              <a:r>
                <a:rPr lang="zh-CN" sz="4200" dirty="0">
                  <a:solidFill>
                    <a:schemeClr val="dk1"/>
                  </a:solidFill>
                  <a:latin typeface="+mn-lt"/>
                  <a:ea typeface="+mn-ea"/>
                  <a:cs typeface="+mn-cs"/>
                </a:rPr>
                <a:t>柿子皮薄肉多，霜降吃灯柿，</a:t>
              </a:r>
              <a:br/>
              <a:r>
                <a:rPr lang="zh-CN" sz="4200" dirty="0">
                  <a:solidFill>
                    <a:schemeClr val="dk1"/>
                  </a:solidFill>
                  <a:latin typeface="+mn-lt"/>
                  <a:ea typeface="+mn-ea"/>
                  <a:cs typeface="+mn-cs"/>
                </a:rPr>
                <a:t>不会流鼻涕；登高山，赏菊花。</a:t>
              </a:r>
            </a:p>
          </p:txBody>
        </p:sp>
      </p:grpSp>
      <p:grpSp>
        <p:nvGrpSpPr>
          <p:cNvPr id="22" name="!!takeaway-line"/>
          <p:cNvGrpSpPr/>
          <p:nvPr/>
        </p:nvGrpSpPr>
        <p:grpSpPr>
          <a:xfrm>
            <a:off x="742950" y="14820900"/>
            <a:ext cx="8763000" cy="1868805"/>
            <a:chOff x="742950" y="14820900"/>
            <a:chExt cx="8763000" cy="1868805"/>
          </a:xfrm>
        </p:grpSpPr>
        <p:sp>
          <p:nvSpPr>
            <p:cNvPr id="20" name="Freeform 20"/>
            <p:cNvSpPr/>
            <p:nvPr/>
          </p:nvSpPr>
          <p:spPr>
            <a:xfrm>
              <a:off x="781050" y="14820900"/>
              <a:ext cx="8724900" cy="152400"/>
            </a:xfrm>
            <a:custGeom>
              <a:avLst/>
              <a:gdLst/>
              <a:ahLst/>
              <a:cxnLst/>
              <a:rect l="l" t="t" r="r" b="b"/>
              <a:pathLst>
                <a:path w="8724900" h="152400">
                  <a:moveTo>
                    <a:pt x="0" y="95250"/>
                  </a:moveTo>
                  <a:cubicBezTo>
                    <a:pt x="1695450" y="38100"/>
                    <a:pt x="3219450" y="152400"/>
                    <a:pt x="4933950" y="76200"/>
                  </a:cubicBezTo>
                  <a:cubicBezTo>
                    <a:pt x="6648450" y="0"/>
                    <a:pt x="7429500" y="19050"/>
                    <a:pt x="8724900" y="133350"/>
                  </a:cubicBezTo>
                </a:path>
              </a:pathLst>
            </a:custGeom>
            <a:noFill/>
            <a:ln w="47625" cap="rnd">
              <a:solidFill>
                <a:schemeClr val="accent2"/>
              </a:solidFill>
            </a:ln>
          </p:spPr>
        </p:sp>
        <p:sp>
          <p:nvSpPr>
            <p:cNvPr id="21" name="TextBox 21"/>
            <p:cNvSpPr txBox="1"/>
            <p:nvPr/>
          </p:nvSpPr>
          <p:spPr>
            <a:xfrm>
              <a:off x="742950" y="14860905"/>
              <a:ext cx="7810500" cy="1828800"/>
            </a:xfrm>
            <a:prstGeom prst="rect">
              <a:avLst/>
            </a:prstGeom>
            <a:noFill/>
            <a:ln>
              <a:noFill/>
            </a:ln>
          </p:spPr>
          <p:txBody>
            <a:bodyPr wrap="none" lIns="0" tIns="0" rIns="0" bIns="0" anchor="t" anchorCtr="0">
              <a:spAutoFit/>
            </a:bodyPr>
            <a:lstStyle/>
            <a:p>
              <a:pPr algn="l">
                <a:lnSpc>
                  <a:spcPts val="6600"/>
                </a:lnSpc>
              </a:pPr>
              <a:r>
                <a:rPr lang="zh-CN" sz="5100" dirty="0">
                  <a:solidFill>
                    <a:schemeClr val="accent1"/>
                  </a:solidFill>
                  <a:latin typeface="+mn-lt"/>
                  <a:ea typeface="+mn-ea"/>
                  <a:cs typeface="+mn-cs"/>
                </a:rPr>
                <a:t>秋天最后一站，买几只柿子</a:t>
              </a:r>
              <a:br/>
              <a:r>
                <a:rPr lang="zh-CN" sz="5100" dirty="0">
                  <a:solidFill>
                    <a:schemeClr val="accent1"/>
                  </a:solidFill>
                  <a:latin typeface="+mn-lt"/>
                  <a:ea typeface="+mn-ea"/>
                  <a:cs typeface="+mn-cs"/>
                </a:rPr>
                <a:t>给秋天收个尾</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childTnLst>
                          </p:cTn>
                        </p:par>
                        <p:par>
                          <p:cTn id="8" fill="hold">
                            <p:stCondLst>
                              <p:cond delay="300"/>
                            </p:stCondLst>
                            <p:childTnLst>
                              <p:par>
                                <p:cTn id="9" presetID="37" presetClass="path" presetSubtype="0" accel="50000" decel="50000" fill="hold" grpId="0" nodeType="afterEffect">
                                  <p:stCondLst>
                                    <p:cond delay="500"/>
                                  </p:stCondLst>
                                  <p:childTnLst>
                                    <p:animMotion origin="layout" path="M 0 0 L 0.067 0.04 C 0.081 0.049 0.102 0.054 0.124 0.054 C 0.149 0.054 0.169 0.049 0.183 0.04 L 0.25 0 E" pathEditMode="relative" ptsTypes="">
                                      <p:cBhvr>
                                        <p:cTn id="10" dur="22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5" name="!!term-header"/>
          <p:cNvGrpSpPr/>
          <p:nvPr/>
        </p:nvGrpSpPr>
        <p:grpSpPr>
          <a:xfrm>
            <a:off x="742950" y="1758315"/>
            <a:ext cx="4591050" cy="2118360"/>
            <a:chOff x="742950" y="1758315"/>
            <a:chExt cx="4591050" cy="2118360"/>
          </a:xfrm>
        </p:grpSpPr>
        <p:sp>
          <p:nvSpPr>
            <p:cNvPr id="2" name="TextBox 2"/>
            <p:cNvSpPr txBox="1"/>
            <p:nvPr/>
          </p:nvSpPr>
          <p:spPr>
            <a:xfrm>
              <a:off x="745236" y="1758315"/>
              <a:ext cx="1810512"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合起来看</a:t>
              </a:r>
            </a:p>
          </p:txBody>
        </p:sp>
        <p:sp>
          <p:nvSpPr>
            <p:cNvPr id="3" name="TextBox 3"/>
            <p:cNvSpPr txBox="1"/>
            <p:nvPr/>
          </p:nvSpPr>
          <p:spPr>
            <a:xfrm>
              <a:off x="742950" y="2428875"/>
              <a:ext cx="43053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六站一览</a:t>
              </a:r>
            </a:p>
          </p:txBody>
        </p:sp>
        <p:sp>
          <p:nvSpPr>
            <p:cNvPr id="4" name="Freeform 4"/>
            <p:cNvSpPr/>
            <p:nvPr/>
          </p:nvSpPr>
          <p:spPr>
            <a:xfrm>
              <a:off x="800100" y="3562350"/>
              <a:ext cx="4533900" cy="60008"/>
            </a:xfrm>
            <a:custGeom>
              <a:avLst/>
              <a:gdLst/>
              <a:ahLst/>
              <a:cxnLst/>
              <a:rect l="l" t="t" r="r" b="b"/>
              <a:pathLst>
                <a:path w="4533900" h="60008">
                  <a:moveTo>
                    <a:pt x="0" y="38100"/>
                  </a:moveTo>
                  <a:cubicBezTo>
                    <a:pt x="1448752" y="35242"/>
                    <a:pt x="2980372" y="60008"/>
                    <a:pt x="4533900" y="0"/>
                  </a:cubicBezTo>
                </a:path>
              </a:pathLst>
            </a:custGeom>
            <a:noFill/>
            <a:ln w="47625" cap="rnd">
              <a:solidFill>
                <a:schemeClr val="accent2"/>
              </a:solidFill>
            </a:ln>
          </p:spPr>
        </p:sp>
      </p:grpSp>
      <p:grpSp>
        <p:nvGrpSpPr>
          <p:cNvPr id="44" name="Group 44"/>
          <p:cNvGrpSpPr/>
          <p:nvPr/>
        </p:nvGrpSpPr>
        <p:grpSpPr>
          <a:xfrm>
            <a:off x="762000" y="4572000"/>
            <a:ext cx="8763000" cy="8867775"/>
            <a:chOff x="762000" y="4572000"/>
            <a:chExt cx="8763000" cy="8867775"/>
          </a:xfrm>
        </p:grpSpPr>
        <p:sp>
          <p:nvSpPr>
            <p:cNvPr id="6" name="Rectangle 6"/>
            <p:cNvSpPr/>
            <p:nvPr/>
          </p:nvSpPr>
          <p:spPr>
            <a:xfrm>
              <a:off x="762000" y="4572000"/>
              <a:ext cx="8763000" cy="857250"/>
            </a:xfrm>
            <a:prstGeom prst="rect">
              <a:avLst/>
            </a:prstGeom>
            <a:solidFill>
              <a:schemeClr val="lt2"/>
            </a:solidFill>
            <a:ln>
              <a:noFill/>
            </a:ln>
          </p:spPr>
        </p:sp>
        <p:sp>
          <p:nvSpPr>
            <p:cNvPr id="7" name="Rectangle 7"/>
            <p:cNvSpPr/>
            <p:nvPr/>
          </p:nvSpPr>
          <p:spPr>
            <a:xfrm>
              <a:off x="762000" y="6762750"/>
              <a:ext cx="8763000" cy="1333500"/>
            </a:xfrm>
            <a:prstGeom prst="rect">
              <a:avLst/>
            </a:prstGeom>
            <a:solidFill>
              <a:srgbClr val="F5EBD8"/>
            </a:solidFill>
            <a:ln>
              <a:noFill/>
            </a:ln>
          </p:spPr>
        </p:sp>
        <p:sp>
          <p:nvSpPr>
            <p:cNvPr id="8" name="Rectangle 8"/>
            <p:cNvSpPr/>
            <p:nvPr/>
          </p:nvSpPr>
          <p:spPr>
            <a:xfrm>
              <a:off x="762000" y="9429750"/>
              <a:ext cx="8763000" cy="1333500"/>
            </a:xfrm>
            <a:prstGeom prst="rect">
              <a:avLst/>
            </a:prstGeom>
            <a:solidFill>
              <a:srgbClr val="F5EBD8"/>
            </a:solidFill>
            <a:ln>
              <a:noFill/>
            </a:ln>
          </p:spPr>
        </p:sp>
        <p:sp>
          <p:nvSpPr>
            <p:cNvPr id="9" name="Rectangle 9"/>
            <p:cNvSpPr/>
            <p:nvPr/>
          </p:nvSpPr>
          <p:spPr>
            <a:xfrm>
              <a:off x="762000" y="12096750"/>
              <a:ext cx="8763000" cy="1333500"/>
            </a:xfrm>
            <a:prstGeom prst="rect">
              <a:avLst/>
            </a:prstGeom>
            <a:solidFill>
              <a:srgbClr val="F5EBD8"/>
            </a:solidFill>
            <a:ln>
              <a:noFill/>
            </a:ln>
          </p:spPr>
        </p:sp>
        <p:sp>
          <p:nvSpPr>
            <p:cNvPr id="10" name="TextBox 10"/>
            <p:cNvSpPr txBox="1"/>
            <p:nvPr/>
          </p:nvSpPr>
          <p:spPr>
            <a:xfrm>
              <a:off x="899160" y="4800600"/>
              <a:ext cx="83820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节气</a:t>
              </a:r>
            </a:p>
          </p:txBody>
        </p:sp>
        <p:sp>
          <p:nvSpPr>
            <p:cNvPr id="11" name="TextBox 11"/>
            <p:cNvSpPr txBox="1"/>
            <p:nvPr/>
          </p:nvSpPr>
          <p:spPr>
            <a:xfrm>
              <a:off x="2613660" y="4800600"/>
              <a:ext cx="217497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2026年日期</a:t>
              </a:r>
            </a:p>
          </p:txBody>
        </p:sp>
        <p:sp>
          <p:nvSpPr>
            <p:cNvPr id="12" name="TextBox 12"/>
            <p:cNvSpPr txBox="1"/>
            <p:nvPr/>
          </p:nvSpPr>
          <p:spPr>
            <a:xfrm>
              <a:off x="5471160" y="4800600"/>
              <a:ext cx="83820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三候</a:t>
              </a:r>
            </a:p>
          </p:txBody>
        </p:sp>
        <p:sp>
          <p:nvSpPr>
            <p:cNvPr id="13" name="Line 13"/>
            <p:cNvSpPr/>
            <p:nvPr/>
          </p:nvSpPr>
          <p:spPr>
            <a:xfrm>
              <a:off x="762000" y="5429250"/>
              <a:ext cx="8763000" cy="9525"/>
            </a:xfrm>
            <a:custGeom>
              <a:avLst/>
              <a:gdLst/>
              <a:ahLst/>
              <a:cxnLst/>
              <a:rect l="l" t="t" r="r" b="b"/>
              <a:pathLst>
                <a:path w="8763000" h="9525">
                  <a:moveTo>
                    <a:pt x="0" y="0"/>
                  </a:moveTo>
                  <a:lnTo>
                    <a:pt x="8763000" y="0"/>
                  </a:lnTo>
                </a:path>
              </a:pathLst>
            </a:custGeom>
            <a:noFill/>
            <a:ln w="28575">
              <a:solidFill>
                <a:schemeClr val="dk1"/>
              </a:solidFill>
            </a:ln>
          </p:spPr>
        </p:sp>
        <p:grpSp>
          <p:nvGrpSpPr>
            <p:cNvPr id="18" name="Group 18"/>
            <p:cNvGrpSpPr/>
            <p:nvPr/>
          </p:nvGrpSpPr>
          <p:grpSpPr>
            <a:xfrm>
              <a:off x="762000" y="5722620"/>
              <a:ext cx="8763000" cy="1049655"/>
              <a:chOff x="762000" y="5722620"/>
              <a:chExt cx="8763000" cy="1049655"/>
            </a:xfrm>
          </p:grpSpPr>
          <p:sp>
            <p:nvSpPr>
              <p:cNvPr id="14" name="TextBox 14"/>
              <p:cNvSpPr txBox="1"/>
              <p:nvPr/>
            </p:nvSpPr>
            <p:spPr>
              <a:xfrm>
                <a:off x="899160" y="5905500"/>
                <a:ext cx="838200"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立秋</a:t>
                </a:r>
              </a:p>
            </p:txBody>
          </p:sp>
          <p:sp>
            <p:nvSpPr>
              <p:cNvPr id="15" name="TextBox 15"/>
              <p:cNvSpPr txBox="1"/>
              <p:nvPr/>
            </p:nvSpPr>
            <p:spPr>
              <a:xfrm>
                <a:off x="2616708" y="5970270"/>
                <a:ext cx="2011375"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8月7日 19:43</a:t>
                </a:r>
              </a:p>
            </p:txBody>
          </p:sp>
          <p:sp>
            <p:nvSpPr>
              <p:cNvPr id="16" name="TextBox 16"/>
              <p:cNvSpPr txBox="1"/>
              <p:nvPr/>
            </p:nvSpPr>
            <p:spPr>
              <a:xfrm>
                <a:off x="5474208" y="5722620"/>
                <a:ext cx="202082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凉风至·白露降</a:t>
                </a:r>
                <a:br/>
                <a:r>
                  <a:rPr lang="zh-CN" sz="2400" dirty="0">
                    <a:solidFill>
                      <a:schemeClr val="dk1"/>
                    </a:solidFill>
                    <a:latin typeface="+mn-lt"/>
                    <a:ea typeface="+mn-ea"/>
                    <a:cs typeface="+mn-cs"/>
                  </a:rPr>
                  <a:t>寒蝉鸣</a:t>
                </a:r>
              </a:p>
            </p:txBody>
          </p:sp>
          <p:sp>
            <p:nvSpPr>
              <p:cNvPr id="17" name="Line 17"/>
              <p:cNvSpPr/>
              <p:nvPr/>
            </p:nvSpPr>
            <p:spPr>
              <a:xfrm>
                <a:off x="762000" y="6762750"/>
                <a:ext cx="8763000" cy="9525"/>
              </a:xfrm>
              <a:custGeom>
                <a:avLst/>
                <a:gdLst/>
                <a:ahLst/>
                <a:cxnLst/>
                <a:rect l="l" t="t" r="r" b="b"/>
                <a:pathLst>
                  <a:path w="8763000" h="9525">
                    <a:moveTo>
                      <a:pt x="0" y="0"/>
                    </a:moveTo>
                    <a:lnTo>
                      <a:pt x="8763000" y="0"/>
                    </a:lnTo>
                  </a:path>
                </a:pathLst>
              </a:custGeom>
              <a:noFill/>
              <a:ln w="19050">
                <a:solidFill>
                  <a:schemeClr val="accent6"/>
                </a:solidFill>
              </a:ln>
            </p:spPr>
          </p:sp>
        </p:grpSp>
        <p:grpSp>
          <p:nvGrpSpPr>
            <p:cNvPr id="23" name="Group 23"/>
            <p:cNvGrpSpPr/>
            <p:nvPr/>
          </p:nvGrpSpPr>
          <p:grpSpPr>
            <a:xfrm>
              <a:off x="762000" y="7056120"/>
              <a:ext cx="8763000" cy="1049655"/>
              <a:chOff x="762000" y="7056120"/>
              <a:chExt cx="8763000" cy="1049655"/>
            </a:xfrm>
          </p:grpSpPr>
          <p:sp>
            <p:nvSpPr>
              <p:cNvPr id="19" name="TextBox 19"/>
              <p:cNvSpPr txBox="1"/>
              <p:nvPr/>
            </p:nvSpPr>
            <p:spPr>
              <a:xfrm>
                <a:off x="899160" y="7239000"/>
                <a:ext cx="838200"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处暑</a:t>
                </a:r>
              </a:p>
            </p:txBody>
          </p:sp>
          <p:sp>
            <p:nvSpPr>
              <p:cNvPr id="20" name="TextBox 20"/>
              <p:cNvSpPr txBox="1"/>
              <p:nvPr/>
            </p:nvSpPr>
            <p:spPr>
              <a:xfrm>
                <a:off x="2616708" y="7303770"/>
                <a:ext cx="21890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8月23日 10:19</a:t>
                </a:r>
              </a:p>
            </p:txBody>
          </p:sp>
          <p:sp>
            <p:nvSpPr>
              <p:cNvPr id="21" name="TextBox 21"/>
              <p:cNvSpPr txBox="1"/>
              <p:nvPr/>
            </p:nvSpPr>
            <p:spPr>
              <a:xfrm>
                <a:off x="5474208" y="7056120"/>
                <a:ext cx="263042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鹰乃祭鸟·天地始肃</a:t>
                </a:r>
                <a:br/>
                <a:r>
                  <a:rPr lang="zh-CN" sz="2400" dirty="0">
                    <a:solidFill>
                      <a:schemeClr val="dk1"/>
                    </a:solidFill>
                    <a:latin typeface="+mn-lt"/>
                    <a:ea typeface="+mn-ea"/>
                    <a:cs typeface="+mn-cs"/>
                  </a:rPr>
                  <a:t>禾乃登</a:t>
                </a:r>
              </a:p>
            </p:txBody>
          </p:sp>
          <p:sp>
            <p:nvSpPr>
              <p:cNvPr id="22" name="Line 22"/>
              <p:cNvSpPr/>
              <p:nvPr/>
            </p:nvSpPr>
            <p:spPr>
              <a:xfrm>
                <a:off x="762000" y="8096250"/>
                <a:ext cx="8763000" cy="9525"/>
              </a:xfrm>
              <a:custGeom>
                <a:avLst/>
                <a:gdLst/>
                <a:ahLst/>
                <a:cxnLst/>
                <a:rect l="l" t="t" r="r" b="b"/>
                <a:pathLst>
                  <a:path w="8763000" h="9525">
                    <a:moveTo>
                      <a:pt x="0" y="0"/>
                    </a:moveTo>
                    <a:lnTo>
                      <a:pt x="8763000" y="0"/>
                    </a:lnTo>
                  </a:path>
                </a:pathLst>
              </a:custGeom>
              <a:noFill/>
              <a:ln w="19050">
                <a:solidFill>
                  <a:schemeClr val="accent6"/>
                </a:solidFill>
              </a:ln>
            </p:spPr>
          </p:sp>
        </p:grpSp>
        <p:grpSp>
          <p:nvGrpSpPr>
            <p:cNvPr id="28" name="Group 28"/>
            <p:cNvGrpSpPr/>
            <p:nvPr/>
          </p:nvGrpSpPr>
          <p:grpSpPr>
            <a:xfrm>
              <a:off x="762000" y="8389620"/>
              <a:ext cx="8763000" cy="1049655"/>
              <a:chOff x="762000" y="8389620"/>
              <a:chExt cx="8763000" cy="1049655"/>
            </a:xfrm>
          </p:grpSpPr>
          <p:sp>
            <p:nvSpPr>
              <p:cNvPr id="24" name="TextBox 24"/>
              <p:cNvSpPr txBox="1"/>
              <p:nvPr/>
            </p:nvSpPr>
            <p:spPr>
              <a:xfrm>
                <a:off x="899160" y="8572500"/>
                <a:ext cx="838200"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白露</a:t>
                </a:r>
              </a:p>
            </p:txBody>
          </p:sp>
          <p:sp>
            <p:nvSpPr>
              <p:cNvPr id="25" name="TextBox 25"/>
              <p:cNvSpPr txBox="1"/>
              <p:nvPr/>
            </p:nvSpPr>
            <p:spPr>
              <a:xfrm>
                <a:off x="2616708" y="8637270"/>
                <a:ext cx="2011375"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9月7日 22:41</a:t>
                </a:r>
              </a:p>
            </p:txBody>
          </p:sp>
          <p:sp>
            <p:nvSpPr>
              <p:cNvPr id="26" name="TextBox 26"/>
              <p:cNvSpPr txBox="1"/>
              <p:nvPr/>
            </p:nvSpPr>
            <p:spPr>
              <a:xfrm>
                <a:off x="5474208" y="8389620"/>
                <a:ext cx="202082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鸿雁来·玄鸟归</a:t>
                </a:r>
                <a:br/>
                <a:r>
                  <a:rPr lang="zh-CN" sz="2400" dirty="0">
                    <a:solidFill>
                      <a:schemeClr val="dk1"/>
                    </a:solidFill>
                    <a:latin typeface="+mn-lt"/>
                    <a:ea typeface="+mn-ea"/>
                    <a:cs typeface="+mn-cs"/>
                  </a:rPr>
                  <a:t>群鸟养羞</a:t>
                </a:r>
              </a:p>
            </p:txBody>
          </p:sp>
          <p:sp>
            <p:nvSpPr>
              <p:cNvPr id="27" name="Line 27"/>
              <p:cNvSpPr/>
              <p:nvPr/>
            </p:nvSpPr>
            <p:spPr>
              <a:xfrm>
                <a:off x="762000" y="9429750"/>
                <a:ext cx="8763000" cy="9525"/>
              </a:xfrm>
              <a:custGeom>
                <a:avLst/>
                <a:gdLst/>
                <a:ahLst/>
                <a:cxnLst/>
                <a:rect l="l" t="t" r="r" b="b"/>
                <a:pathLst>
                  <a:path w="8763000" h="9525">
                    <a:moveTo>
                      <a:pt x="0" y="0"/>
                    </a:moveTo>
                    <a:lnTo>
                      <a:pt x="8763000" y="0"/>
                    </a:lnTo>
                  </a:path>
                </a:pathLst>
              </a:custGeom>
              <a:noFill/>
              <a:ln w="19050">
                <a:solidFill>
                  <a:schemeClr val="accent6"/>
                </a:solidFill>
              </a:ln>
            </p:spPr>
          </p:sp>
        </p:grpSp>
        <p:grpSp>
          <p:nvGrpSpPr>
            <p:cNvPr id="33" name="Group 33"/>
            <p:cNvGrpSpPr/>
            <p:nvPr/>
          </p:nvGrpSpPr>
          <p:grpSpPr>
            <a:xfrm>
              <a:off x="762000" y="9723120"/>
              <a:ext cx="8763000" cy="1049655"/>
              <a:chOff x="762000" y="9723120"/>
              <a:chExt cx="8763000" cy="1049655"/>
            </a:xfrm>
          </p:grpSpPr>
          <p:sp>
            <p:nvSpPr>
              <p:cNvPr id="29" name="TextBox 29"/>
              <p:cNvSpPr txBox="1"/>
              <p:nvPr/>
            </p:nvSpPr>
            <p:spPr>
              <a:xfrm>
                <a:off x="899160" y="9906000"/>
                <a:ext cx="838200"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秋分</a:t>
                </a:r>
              </a:p>
            </p:txBody>
          </p:sp>
          <p:sp>
            <p:nvSpPr>
              <p:cNvPr id="30" name="TextBox 30"/>
              <p:cNvSpPr txBox="1"/>
              <p:nvPr/>
            </p:nvSpPr>
            <p:spPr>
              <a:xfrm>
                <a:off x="2616708" y="9970770"/>
                <a:ext cx="21890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9月23日 08:05</a:t>
                </a:r>
              </a:p>
            </p:txBody>
          </p:sp>
          <p:sp>
            <p:nvSpPr>
              <p:cNvPr id="31" name="TextBox 31"/>
              <p:cNvSpPr txBox="1"/>
              <p:nvPr/>
            </p:nvSpPr>
            <p:spPr>
              <a:xfrm>
                <a:off x="5474208" y="9723120"/>
                <a:ext cx="263042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雷始收声·蛰虫坯户</a:t>
                </a:r>
                <a:br/>
                <a:r>
                  <a:rPr lang="zh-CN" sz="2400" dirty="0">
                    <a:solidFill>
                      <a:schemeClr val="dk1"/>
                    </a:solidFill>
                    <a:latin typeface="+mn-lt"/>
                    <a:ea typeface="+mn-ea"/>
                    <a:cs typeface="+mn-cs"/>
                  </a:rPr>
                  <a:t>水始涸</a:t>
                </a:r>
              </a:p>
            </p:txBody>
          </p:sp>
          <p:sp>
            <p:nvSpPr>
              <p:cNvPr id="32" name="Line 32"/>
              <p:cNvSpPr/>
              <p:nvPr/>
            </p:nvSpPr>
            <p:spPr>
              <a:xfrm>
                <a:off x="762000" y="10763250"/>
                <a:ext cx="8763000" cy="9525"/>
              </a:xfrm>
              <a:custGeom>
                <a:avLst/>
                <a:gdLst/>
                <a:ahLst/>
                <a:cxnLst/>
                <a:rect l="l" t="t" r="r" b="b"/>
                <a:pathLst>
                  <a:path w="8763000" h="9525">
                    <a:moveTo>
                      <a:pt x="0" y="0"/>
                    </a:moveTo>
                    <a:lnTo>
                      <a:pt x="8763000" y="0"/>
                    </a:lnTo>
                  </a:path>
                </a:pathLst>
              </a:custGeom>
              <a:noFill/>
              <a:ln w="19050">
                <a:solidFill>
                  <a:schemeClr val="accent6"/>
                </a:solidFill>
              </a:ln>
            </p:spPr>
          </p:sp>
        </p:grpSp>
        <p:grpSp>
          <p:nvGrpSpPr>
            <p:cNvPr id="38" name="Group 38"/>
            <p:cNvGrpSpPr/>
            <p:nvPr/>
          </p:nvGrpSpPr>
          <p:grpSpPr>
            <a:xfrm>
              <a:off x="762000" y="11056620"/>
              <a:ext cx="8763000" cy="1049655"/>
              <a:chOff x="762000" y="11056620"/>
              <a:chExt cx="8763000" cy="1049655"/>
            </a:xfrm>
          </p:grpSpPr>
          <p:sp>
            <p:nvSpPr>
              <p:cNvPr id="34" name="TextBox 34"/>
              <p:cNvSpPr txBox="1"/>
              <p:nvPr/>
            </p:nvSpPr>
            <p:spPr>
              <a:xfrm>
                <a:off x="899160" y="11239500"/>
                <a:ext cx="838200"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寒露</a:t>
                </a:r>
              </a:p>
            </p:txBody>
          </p:sp>
          <p:sp>
            <p:nvSpPr>
              <p:cNvPr id="35" name="TextBox 35"/>
              <p:cNvSpPr txBox="1"/>
              <p:nvPr/>
            </p:nvSpPr>
            <p:spPr>
              <a:xfrm>
                <a:off x="2616708" y="11304270"/>
                <a:ext cx="21890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10月8日 14:29</a:t>
                </a:r>
              </a:p>
            </p:txBody>
          </p:sp>
          <p:sp>
            <p:nvSpPr>
              <p:cNvPr id="36" name="TextBox 36"/>
              <p:cNvSpPr txBox="1"/>
              <p:nvPr/>
            </p:nvSpPr>
            <p:spPr>
              <a:xfrm>
                <a:off x="5474208" y="11056620"/>
                <a:ext cx="324002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鸿雁来宾·雀入大水为蛤</a:t>
                </a:r>
                <a:br/>
                <a:r>
                  <a:rPr lang="zh-CN" sz="2400" dirty="0">
                    <a:solidFill>
                      <a:schemeClr val="dk1"/>
                    </a:solidFill>
                    <a:latin typeface="+mn-lt"/>
                    <a:ea typeface="+mn-ea"/>
                    <a:cs typeface="+mn-cs"/>
                  </a:rPr>
                  <a:t>菊有黄花</a:t>
                </a:r>
              </a:p>
            </p:txBody>
          </p:sp>
          <p:sp>
            <p:nvSpPr>
              <p:cNvPr id="37" name="Line 37"/>
              <p:cNvSpPr/>
              <p:nvPr/>
            </p:nvSpPr>
            <p:spPr>
              <a:xfrm>
                <a:off x="762000" y="12096750"/>
                <a:ext cx="8763000" cy="9525"/>
              </a:xfrm>
              <a:custGeom>
                <a:avLst/>
                <a:gdLst/>
                <a:ahLst/>
                <a:cxnLst/>
                <a:rect l="l" t="t" r="r" b="b"/>
                <a:pathLst>
                  <a:path w="8763000" h="9525">
                    <a:moveTo>
                      <a:pt x="0" y="0"/>
                    </a:moveTo>
                    <a:lnTo>
                      <a:pt x="8763000" y="0"/>
                    </a:lnTo>
                  </a:path>
                </a:pathLst>
              </a:custGeom>
              <a:noFill/>
              <a:ln w="19050">
                <a:solidFill>
                  <a:schemeClr val="accent6"/>
                </a:solidFill>
              </a:ln>
            </p:spPr>
          </p:sp>
        </p:grpSp>
        <p:grpSp>
          <p:nvGrpSpPr>
            <p:cNvPr id="43" name="Group 43"/>
            <p:cNvGrpSpPr/>
            <p:nvPr/>
          </p:nvGrpSpPr>
          <p:grpSpPr>
            <a:xfrm>
              <a:off x="762000" y="12390120"/>
              <a:ext cx="8763000" cy="1049655"/>
              <a:chOff x="762000" y="12390120"/>
              <a:chExt cx="8763000" cy="1049655"/>
            </a:xfrm>
          </p:grpSpPr>
          <p:sp>
            <p:nvSpPr>
              <p:cNvPr id="39" name="TextBox 39"/>
              <p:cNvSpPr txBox="1"/>
              <p:nvPr/>
            </p:nvSpPr>
            <p:spPr>
              <a:xfrm>
                <a:off x="899160" y="12573000"/>
                <a:ext cx="838200" cy="586740"/>
              </a:xfrm>
              <a:prstGeom prst="rect">
                <a:avLst/>
              </a:prstGeom>
              <a:noFill/>
              <a:ln>
                <a:noFill/>
              </a:ln>
            </p:spPr>
            <p:txBody>
              <a:bodyPr wrap="none" lIns="0" tIns="0" rIns="0" bIns="0" anchor="t" anchorCtr="0">
                <a:spAutoFit/>
              </a:bodyPr>
              <a:lstStyle/>
              <a:p>
                <a:pPr algn="l"/>
                <a:r>
                  <a:rPr lang="zh-CN" sz="3000" dirty="0">
                    <a:solidFill>
                      <a:schemeClr val="dk1"/>
                    </a:solidFill>
                    <a:latin typeface="+mn-lt"/>
                    <a:ea typeface="+mn-ea"/>
                    <a:cs typeface="+mn-cs"/>
                  </a:rPr>
                  <a:t>霜降</a:t>
                </a:r>
              </a:p>
            </p:txBody>
          </p:sp>
          <p:sp>
            <p:nvSpPr>
              <p:cNvPr id="40" name="TextBox 40"/>
              <p:cNvSpPr txBox="1"/>
              <p:nvPr/>
            </p:nvSpPr>
            <p:spPr>
              <a:xfrm>
                <a:off x="2616708" y="12637770"/>
                <a:ext cx="236677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10月23日 17:38</a:t>
                </a:r>
              </a:p>
            </p:txBody>
          </p:sp>
          <p:sp>
            <p:nvSpPr>
              <p:cNvPr id="41" name="TextBox 41"/>
              <p:cNvSpPr txBox="1"/>
              <p:nvPr/>
            </p:nvSpPr>
            <p:spPr>
              <a:xfrm>
                <a:off x="5474208" y="12390120"/>
                <a:ext cx="2630424" cy="90754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豺乃祭兽·草木黄落</a:t>
                </a:r>
                <a:br/>
                <a:r>
                  <a:rPr lang="zh-CN" sz="2400" dirty="0">
                    <a:solidFill>
                      <a:schemeClr val="dk1"/>
                    </a:solidFill>
                    <a:latin typeface="+mn-lt"/>
                    <a:ea typeface="+mn-ea"/>
                    <a:cs typeface="+mn-cs"/>
                  </a:rPr>
                  <a:t>蛰虫咸俯</a:t>
                </a:r>
              </a:p>
            </p:txBody>
          </p:sp>
          <p:sp>
            <p:nvSpPr>
              <p:cNvPr id="42" name="Line 42"/>
              <p:cNvSpPr/>
              <p:nvPr/>
            </p:nvSpPr>
            <p:spPr>
              <a:xfrm>
                <a:off x="762000" y="13430250"/>
                <a:ext cx="8763000" cy="9525"/>
              </a:xfrm>
              <a:custGeom>
                <a:avLst/>
                <a:gdLst/>
                <a:ahLst/>
                <a:cxnLst/>
                <a:rect l="l" t="t" r="r" b="b"/>
                <a:pathLst>
                  <a:path w="8763000" h="9525">
                    <a:moveTo>
                      <a:pt x="0" y="0"/>
                    </a:moveTo>
                    <a:lnTo>
                      <a:pt x="8763000" y="0"/>
                    </a:lnTo>
                  </a:path>
                </a:pathLst>
              </a:custGeom>
              <a:noFill/>
              <a:ln w="19050">
                <a:solidFill>
                  <a:schemeClr val="accent6"/>
                </a:solidFill>
              </a:ln>
            </p:spPr>
          </p:sp>
        </p:grpSp>
      </p:grpSp>
      <p:grpSp>
        <p:nvGrpSpPr>
          <p:cNvPr id="46" name="Group 46"/>
          <p:cNvGrpSpPr/>
          <p:nvPr/>
        </p:nvGrpSpPr>
        <p:grpSpPr>
          <a:xfrm>
            <a:off x="749808" y="13933170"/>
            <a:ext cx="7132320" cy="469392"/>
            <a:chOff x="749808" y="13933170"/>
            <a:chExt cx="7132320" cy="469392"/>
          </a:xfrm>
        </p:grpSpPr>
        <p:sp>
          <p:nvSpPr>
            <p:cNvPr id="45" name="TextBox 45"/>
            <p:cNvSpPr txBox="1"/>
            <p:nvPr/>
          </p:nvSpPr>
          <p:spPr>
            <a:xfrm>
              <a:off x="749808" y="13933170"/>
              <a:ext cx="7132320"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时刻为东八区时间；三候依《月令七十二候集解》</a:t>
              </a:r>
            </a:p>
          </p:txBody>
        </p:sp>
      </p:grpSp>
      <p:grpSp>
        <p:nvGrpSpPr>
          <p:cNvPr id="48" name="!!takeaway-line"/>
          <p:cNvGrpSpPr/>
          <p:nvPr/>
        </p:nvGrpSpPr>
        <p:grpSpPr>
          <a:xfrm>
            <a:off x="742950" y="14689455"/>
            <a:ext cx="5867400" cy="1847850"/>
            <a:chOff x="742950" y="14689455"/>
            <a:chExt cx="5867400" cy="1847850"/>
          </a:xfrm>
        </p:grpSpPr>
        <p:sp>
          <p:nvSpPr>
            <p:cNvPr id="47" name="TextBox 47"/>
            <p:cNvSpPr txBox="1"/>
            <p:nvPr/>
          </p:nvSpPr>
          <p:spPr>
            <a:xfrm>
              <a:off x="742950" y="14689455"/>
              <a:ext cx="5867400" cy="1847850"/>
            </a:xfrm>
            <a:prstGeom prst="rect">
              <a:avLst/>
            </a:prstGeom>
            <a:noFill/>
            <a:ln>
              <a:noFill/>
            </a:ln>
          </p:spPr>
          <p:txBody>
            <a:bodyPr wrap="none" lIns="0" tIns="0" rIns="0" bIns="0" anchor="t" anchorCtr="0">
              <a:spAutoFit/>
            </a:bodyPr>
            <a:lstStyle/>
            <a:p>
              <a:pPr algn="l">
                <a:lnSpc>
                  <a:spcPts val="6750"/>
                </a:lnSpc>
              </a:pPr>
              <a:r>
                <a:rPr lang="zh-CN" sz="5100" dirty="0">
                  <a:solidFill>
                    <a:schemeClr val="accent1"/>
                  </a:solidFill>
                  <a:latin typeface="+mn-lt"/>
                  <a:ea typeface="+mn-ea"/>
                  <a:cs typeface="+mn-cs"/>
                </a:rPr>
                <a:t>六个日期、十八条候</a:t>
              </a:r>
              <a:br/>
              <a:r>
                <a:rPr lang="zh-CN" sz="5100" dirty="0">
                  <a:solidFill>
                    <a:schemeClr val="accent1"/>
                  </a:solidFill>
                  <a:latin typeface="+mn-lt"/>
                  <a:ea typeface="+mn-ea"/>
                  <a:cs typeface="+mn-cs"/>
                </a:rPr>
                <a:t>一张表抄走</a:t>
              </a:r>
            </a:p>
          </p:txBody>
        </p:sp>
      </p:grpSp>
    </p:spTree>
  </p:cSld>
  <p:clrMapOvr>
    <a:masterClrMapping/>
  </p:clrMapOvr>
  <mc:AlternateContent>
    <mc:Choice Requires="p159">
      <p:transition p14:dur="900">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5" name="Group 5"/>
          <p:cNvGrpSpPr/>
          <p:nvPr/>
        </p:nvGrpSpPr>
        <p:grpSpPr>
          <a:xfrm>
            <a:off x="742950" y="1758315"/>
            <a:ext cx="7505700" cy="2118360"/>
            <a:chOff x="742950" y="1758315"/>
            <a:chExt cx="7505700" cy="2118360"/>
          </a:xfrm>
        </p:grpSpPr>
        <p:sp>
          <p:nvSpPr>
            <p:cNvPr id="2" name="TextBox 2"/>
            <p:cNvSpPr txBox="1"/>
            <p:nvPr/>
          </p:nvSpPr>
          <p:spPr>
            <a:xfrm>
              <a:off x="745236" y="1758315"/>
              <a:ext cx="922020"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收尾</a:t>
              </a:r>
            </a:p>
          </p:txBody>
        </p:sp>
        <p:sp>
          <p:nvSpPr>
            <p:cNvPr id="3" name="TextBox 3"/>
            <p:cNvSpPr txBox="1"/>
            <p:nvPr/>
          </p:nvSpPr>
          <p:spPr>
            <a:xfrm>
              <a:off x="742950" y="2428875"/>
              <a:ext cx="7505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挑一站，过一次</a:t>
              </a:r>
            </a:p>
          </p:txBody>
        </p:sp>
        <p:sp>
          <p:nvSpPr>
            <p:cNvPr id="4" name="Freeform 4"/>
            <p:cNvSpPr/>
            <p:nvPr/>
          </p:nvSpPr>
          <p:spPr>
            <a:xfrm>
              <a:off x="800100" y="3550920"/>
              <a:ext cx="5867400" cy="67627"/>
            </a:xfrm>
            <a:custGeom>
              <a:avLst/>
              <a:gdLst/>
              <a:ahLst/>
              <a:cxnLst/>
              <a:rect l="l" t="t" r="r" b="b"/>
              <a:pathLst>
                <a:path w="5867400" h="67627">
                  <a:moveTo>
                    <a:pt x="0" y="49530"/>
                  </a:moveTo>
                  <a:cubicBezTo>
                    <a:pt x="1915478" y="67627"/>
                    <a:pt x="3825240" y="0"/>
                    <a:pt x="5867400" y="11430"/>
                  </a:cubicBezTo>
                </a:path>
              </a:pathLst>
            </a:custGeom>
            <a:noFill/>
            <a:ln w="47625" cap="rnd">
              <a:solidFill>
                <a:schemeClr val="accent2"/>
              </a:solidFill>
            </a:ln>
          </p:spPr>
        </p:sp>
      </p:grpSp>
      <p:sp>
        <p:nvSpPr>
          <p:cNvPr id="6" name="Freeform 6"/>
          <p:cNvSpPr/>
          <p:nvPr/>
        </p:nvSpPr>
        <p:spPr>
          <a:xfrm>
            <a:off x="952500" y="5143500"/>
            <a:ext cx="8382000" cy="6096000"/>
          </a:xfrm>
          <a:prstGeom prst="bracketPair">
            <a:avLst/>
          </a:prstGeom>
          <a:noFill/>
          <a:ln w="38100">
            <a:solidFill>
              <a:schemeClr val="accent1"/>
            </a:solidFill>
          </a:ln>
        </p:spPr>
      </p:sp>
      <p:grpSp>
        <p:nvGrpSpPr>
          <p:cNvPr id="9" name="Group 9"/>
          <p:cNvGrpSpPr/>
          <p:nvPr/>
        </p:nvGrpSpPr>
        <p:grpSpPr>
          <a:xfrm>
            <a:off x="1408748" y="5452110"/>
            <a:ext cx="4278287" cy="819150"/>
            <a:chOff x="1408748" y="5452110"/>
            <a:chExt cx="4278287" cy="819150"/>
          </a:xfrm>
        </p:grpSpPr>
        <p:sp>
          <p:nvSpPr>
            <p:cNvPr id="7" name="Freeform 7"/>
            <p:cNvSpPr/>
            <p:nvPr/>
          </p:nvSpPr>
          <p:spPr>
            <a:xfrm>
              <a:off x="1408748" y="5564505"/>
              <a:ext cx="457200" cy="423862"/>
            </a:xfrm>
            <a:custGeom>
              <a:avLst/>
              <a:gdLst/>
              <a:ahLst/>
              <a:cxnLst/>
              <a:rect l="l" t="t" r="r" b="b"/>
              <a:pathLst>
                <a:path w="457200" h="423862">
                  <a:moveTo>
                    <a:pt x="21907" y="0"/>
                  </a:moveTo>
                  <a:lnTo>
                    <a:pt x="457200" y="40005"/>
                  </a:lnTo>
                  <a:lnTo>
                    <a:pt x="450532" y="400050"/>
                  </a:lnTo>
                  <a:lnTo>
                    <a:pt x="0" y="423862"/>
                  </a:lnTo>
                  <a:close/>
                </a:path>
              </a:pathLst>
            </a:custGeom>
            <a:noFill/>
            <a:ln w="38100">
              <a:solidFill>
                <a:schemeClr val="dk1"/>
              </a:solidFill>
              <a:round/>
            </a:ln>
          </p:spPr>
        </p:sp>
        <p:sp>
          <p:nvSpPr>
            <p:cNvPr id="8" name="TextBox 8"/>
            <p:cNvSpPr txBox="1"/>
            <p:nvPr/>
          </p:nvSpPr>
          <p:spPr>
            <a:xfrm>
              <a:off x="2171700" y="54521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立秋 · 啃个瓜</a:t>
              </a:r>
            </a:p>
          </p:txBody>
        </p:sp>
      </p:grpSp>
      <p:grpSp>
        <p:nvGrpSpPr>
          <p:cNvPr id="12" name="Group 12"/>
          <p:cNvGrpSpPr/>
          <p:nvPr/>
        </p:nvGrpSpPr>
        <p:grpSpPr>
          <a:xfrm>
            <a:off x="1414462" y="6404610"/>
            <a:ext cx="4272573" cy="819150"/>
            <a:chOff x="1414462" y="6404610"/>
            <a:chExt cx="4272573" cy="819150"/>
          </a:xfrm>
        </p:grpSpPr>
        <p:sp>
          <p:nvSpPr>
            <p:cNvPr id="10" name="Freeform 10"/>
            <p:cNvSpPr/>
            <p:nvPr/>
          </p:nvSpPr>
          <p:spPr>
            <a:xfrm>
              <a:off x="1414462" y="6517958"/>
              <a:ext cx="424815" cy="465773"/>
            </a:xfrm>
            <a:custGeom>
              <a:avLst/>
              <a:gdLst/>
              <a:ahLst/>
              <a:cxnLst/>
              <a:rect l="l" t="t" r="r" b="b"/>
              <a:pathLst>
                <a:path w="424815" h="465773">
                  <a:moveTo>
                    <a:pt x="0" y="37148"/>
                  </a:moveTo>
                  <a:lnTo>
                    <a:pt x="401955" y="0"/>
                  </a:lnTo>
                  <a:lnTo>
                    <a:pt x="424815" y="465773"/>
                  </a:lnTo>
                  <a:lnTo>
                    <a:pt x="2858" y="442912"/>
                  </a:lnTo>
                  <a:close/>
                </a:path>
              </a:pathLst>
            </a:custGeom>
            <a:noFill/>
            <a:ln w="38100">
              <a:solidFill>
                <a:schemeClr val="dk1"/>
              </a:solidFill>
              <a:round/>
            </a:ln>
          </p:spPr>
        </p:sp>
        <p:sp>
          <p:nvSpPr>
            <p:cNvPr id="11" name="TextBox 11"/>
            <p:cNvSpPr txBox="1"/>
            <p:nvPr/>
          </p:nvSpPr>
          <p:spPr>
            <a:xfrm>
              <a:off x="2171700" y="64046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处暑 · 放盏灯</a:t>
              </a:r>
            </a:p>
          </p:txBody>
        </p:sp>
      </p:grpSp>
      <p:grpSp>
        <p:nvGrpSpPr>
          <p:cNvPr id="15" name="Group 15"/>
          <p:cNvGrpSpPr/>
          <p:nvPr/>
        </p:nvGrpSpPr>
        <p:grpSpPr>
          <a:xfrm>
            <a:off x="1422082" y="7357110"/>
            <a:ext cx="4264953" cy="819150"/>
            <a:chOff x="1422082" y="7357110"/>
            <a:chExt cx="4264953" cy="819150"/>
          </a:xfrm>
        </p:grpSpPr>
        <p:sp>
          <p:nvSpPr>
            <p:cNvPr id="13" name="Freeform 13"/>
            <p:cNvSpPr/>
            <p:nvPr/>
          </p:nvSpPr>
          <p:spPr>
            <a:xfrm>
              <a:off x="1422082" y="7479982"/>
              <a:ext cx="456247" cy="452438"/>
            </a:xfrm>
            <a:custGeom>
              <a:avLst/>
              <a:gdLst/>
              <a:ahLst/>
              <a:cxnLst/>
              <a:rect l="l" t="t" r="r" b="b"/>
              <a:pathLst>
                <a:path w="456247" h="452438">
                  <a:moveTo>
                    <a:pt x="0" y="0"/>
                  </a:moveTo>
                  <a:lnTo>
                    <a:pt x="456247" y="37148"/>
                  </a:lnTo>
                  <a:lnTo>
                    <a:pt x="411480" y="452438"/>
                  </a:lnTo>
                  <a:lnTo>
                    <a:pt x="41910" y="451485"/>
                  </a:lnTo>
                  <a:close/>
                </a:path>
              </a:pathLst>
            </a:custGeom>
            <a:noFill/>
            <a:ln w="38100">
              <a:solidFill>
                <a:schemeClr val="dk1"/>
              </a:solidFill>
              <a:round/>
            </a:ln>
          </p:spPr>
        </p:sp>
        <p:sp>
          <p:nvSpPr>
            <p:cNvPr id="14" name="TextBox 14"/>
            <p:cNvSpPr txBox="1"/>
            <p:nvPr/>
          </p:nvSpPr>
          <p:spPr>
            <a:xfrm>
              <a:off x="2171700" y="73571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白露 · 泡壶茶</a:t>
              </a:r>
            </a:p>
          </p:txBody>
        </p:sp>
      </p:grpSp>
      <p:grpSp>
        <p:nvGrpSpPr>
          <p:cNvPr id="18" name="Group 18"/>
          <p:cNvGrpSpPr/>
          <p:nvPr/>
        </p:nvGrpSpPr>
        <p:grpSpPr>
          <a:xfrm>
            <a:off x="1428750" y="8309610"/>
            <a:ext cx="4823689" cy="819150"/>
            <a:chOff x="1428750" y="8309610"/>
            <a:chExt cx="4823689" cy="819150"/>
          </a:xfrm>
        </p:grpSpPr>
        <p:sp>
          <p:nvSpPr>
            <p:cNvPr id="16" name="Freeform 16"/>
            <p:cNvSpPr/>
            <p:nvPr/>
          </p:nvSpPr>
          <p:spPr>
            <a:xfrm>
              <a:off x="1428750" y="8438198"/>
              <a:ext cx="440055" cy="436245"/>
            </a:xfrm>
            <a:custGeom>
              <a:avLst/>
              <a:gdLst/>
              <a:ahLst/>
              <a:cxnLst/>
              <a:rect l="l" t="t" r="r" b="b"/>
              <a:pathLst>
                <a:path w="440055" h="436245">
                  <a:moveTo>
                    <a:pt x="0" y="0"/>
                  </a:moveTo>
                  <a:lnTo>
                    <a:pt x="440055" y="24765"/>
                  </a:lnTo>
                  <a:lnTo>
                    <a:pt x="406717" y="423862"/>
                  </a:lnTo>
                  <a:lnTo>
                    <a:pt x="9525" y="436245"/>
                  </a:lnTo>
                  <a:close/>
                </a:path>
              </a:pathLst>
            </a:custGeom>
            <a:noFill/>
            <a:ln w="38100">
              <a:solidFill>
                <a:schemeClr val="dk1"/>
              </a:solidFill>
              <a:round/>
            </a:ln>
          </p:spPr>
        </p:sp>
        <p:sp>
          <p:nvSpPr>
            <p:cNvPr id="17" name="TextBox 17"/>
            <p:cNvSpPr txBox="1"/>
            <p:nvPr/>
          </p:nvSpPr>
          <p:spPr>
            <a:xfrm>
              <a:off x="2171700" y="8309610"/>
              <a:ext cx="4080739"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秋分 · 逛趟菜场</a:t>
              </a:r>
            </a:p>
          </p:txBody>
        </p:sp>
      </p:grpSp>
      <p:grpSp>
        <p:nvGrpSpPr>
          <p:cNvPr id="21" name="Group 21"/>
          <p:cNvGrpSpPr/>
          <p:nvPr/>
        </p:nvGrpSpPr>
        <p:grpSpPr>
          <a:xfrm>
            <a:off x="1392555" y="9262110"/>
            <a:ext cx="4294480" cy="819150"/>
            <a:chOff x="1392555" y="9262110"/>
            <a:chExt cx="4294480" cy="819150"/>
          </a:xfrm>
        </p:grpSpPr>
        <p:sp>
          <p:nvSpPr>
            <p:cNvPr id="19" name="Freeform 19"/>
            <p:cNvSpPr/>
            <p:nvPr/>
          </p:nvSpPr>
          <p:spPr>
            <a:xfrm>
              <a:off x="1392555" y="9368790"/>
              <a:ext cx="492443" cy="467678"/>
            </a:xfrm>
            <a:custGeom>
              <a:avLst/>
              <a:gdLst/>
              <a:ahLst/>
              <a:cxnLst/>
              <a:rect l="l" t="t" r="r" b="b"/>
              <a:pathLst>
                <a:path w="492443" h="467678">
                  <a:moveTo>
                    <a:pt x="35243" y="0"/>
                  </a:moveTo>
                  <a:lnTo>
                    <a:pt x="492443" y="54292"/>
                  </a:lnTo>
                  <a:lnTo>
                    <a:pt x="474345" y="467678"/>
                  </a:lnTo>
                  <a:lnTo>
                    <a:pt x="0" y="461962"/>
                  </a:lnTo>
                  <a:close/>
                </a:path>
              </a:pathLst>
            </a:custGeom>
            <a:noFill/>
            <a:ln w="38100">
              <a:solidFill>
                <a:schemeClr val="dk1"/>
              </a:solidFill>
              <a:round/>
            </a:ln>
          </p:spPr>
        </p:sp>
        <p:sp>
          <p:nvSpPr>
            <p:cNvPr id="20" name="TextBox 20"/>
            <p:cNvSpPr txBox="1"/>
            <p:nvPr/>
          </p:nvSpPr>
          <p:spPr>
            <a:xfrm>
              <a:off x="2171700" y="9262110"/>
              <a:ext cx="3515335"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寒露 · 登次高</a:t>
              </a:r>
            </a:p>
          </p:txBody>
        </p:sp>
      </p:grpSp>
      <p:grpSp>
        <p:nvGrpSpPr>
          <p:cNvPr id="24" name="Group 24"/>
          <p:cNvGrpSpPr/>
          <p:nvPr/>
        </p:nvGrpSpPr>
        <p:grpSpPr>
          <a:xfrm>
            <a:off x="1412558" y="10214610"/>
            <a:ext cx="5405285" cy="819150"/>
            <a:chOff x="1412558" y="10214610"/>
            <a:chExt cx="5405285" cy="819150"/>
          </a:xfrm>
        </p:grpSpPr>
        <p:sp>
          <p:nvSpPr>
            <p:cNvPr id="22" name="Freeform 22"/>
            <p:cNvSpPr/>
            <p:nvPr/>
          </p:nvSpPr>
          <p:spPr>
            <a:xfrm>
              <a:off x="1412558" y="10343198"/>
              <a:ext cx="460057" cy="426720"/>
            </a:xfrm>
            <a:custGeom>
              <a:avLst/>
              <a:gdLst/>
              <a:ahLst/>
              <a:cxnLst/>
              <a:rect l="l" t="t" r="r" b="b"/>
              <a:pathLst>
                <a:path w="460057" h="426720">
                  <a:moveTo>
                    <a:pt x="29527" y="10477"/>
                  </a:moveTo>
                  <a:lnTo>
                    <a:pt x="441960" y="0"/>
                  </a:lnTo>
                  <a:lnTo>
                    <a:pt x="460057" y="391477"/>
                  </a:lnTo>
                  <a:lnTo>
                    <a:pt x="0" y="426720"/>
                  </a:lnTo>
                  <a:close/>
                </a:path>
              </a:pathLst>
            </a:custGeom>
            <a:noFill/>
            <a:ln w="38100">
              <a:solidFill>
                <a:schemeClr val="dk1"/>
              </a:solidFill>
              <a:round/>
            </a:ln>
          </p:spPr>
        </p:sp>
        <p:sp>
          <p:nvSpPr>
            <p:cNvPr id="23" name="TextBox 23"/>
            <p:cNvSpPr txBox="1"/>
            <p:nvPr/>
          </p:nvSpPr>
          <p:spPr>
            <a:xfrm>
              <a:off x="2171700" y="10214610"/>
              <a:ext cx="4646143" cy="819150"/>
            </a:xfrm>
            <a:prstGeom prst="rect">
              <a:avLst/>
            </a:prstGeom>
            <a:noFill/>
            <a:ln>
              <a:noFill/>
            </a:ln>
          </p:spPr>
          <p:txBody>
            <a:bodyPr wrap="none" lIns="0" tIns="0" rIns="0" bIns="0" anchor="t" anchorCtr="0">
              <a:spAutoFit/>
            </a:bodyPr>
            <a:lstStyle/>
            <a:p>
              <a:pPr algn="l"/>
              <a:r>
                <a:rPr lang="zh-CN" sz="4200" dirty="0">
                  <a:solidFill>
                    <a:schemeClr val="dk1"/>
                  </a:solidFill>
                  <a:latin typeface="+mn-lt"/>
                  <a:ea typeface="+mn-ea"/>
                  <a:cs typeface="+mn-cs"/>
                </a:rPr>
                <a:t>霜降 · 买几只柿子</a:t>
              </a:r>
            </a:p>
          </p:txBody>
        </p:sp>
      </p:grpSp>
      <p:grpSp>
        <p:nvGrpSpPr>
          <p:cNvPr id="26" name="Group 26"/>
          <p:cNvGrpSpPr/>
          <p:nvPr/>
        </p:nvGrpSpPr>
        <p:grpSpPr>
          <a:xfrm>
            <a:off x="745236" y="12026265"/>
            <a:ext cx="5146548" cy="1235964"/>
            <a:chOff x="745236" y="12026265"/>
            <a:chExt cx="5146548" cy="1235964"/>
          </a:xfrm>
        </p:grpSpPr>
        <p:sp>
          <p:nvSpPr>
            <p:cNvPr id="25" name="TextBox 25"/>
            <p:cNvSpPr txBox="1"/>
            <p:nvPr/>
          </p:nvSpPr>
          <p:spPr>
            <a:xfrm>
              <a:off x="745236" y="12026265"/>
              <a:ext cx="5146548" cy="1235964"/>
            </a:xfrm>
            <a:prstGeom prst="rect">
              <a:avLst/>
            </a:prstGeom>
            <a:noFill/>
            <a:ln>
              <a:noFill/>
            </a:ln>
          </p:spPr>
          <p:txBody>
            <a:bodyPr wrap="none" lIns="0" tIns="0" rIns="0" bIns="0" anchor="t" anchorCtr="0">
              <a:spAutoFit/>
            </a:bodyPr>
            <a:lstStyle/>
            <a:p>
              <a:pPr algn="l">
                <a:lnSpc>
                  <a:spcPts val="4650"/>
                </a:lnSpc>
              </a:pPr>
              <a:r>
                <a:rPr lang="zh-CN" sz="3300" dirty="0">
                  <a:solidFill>
                    <a:schemeClr val="accent5"/>
                  </a:solidFill>
                  <a:latin typeface="+mn-lt"/>
                  <a:ea typeface="+mn-ea"/>
                  <a:cs typeface="+mn-cs"/>
                </a:rPr>
                <a:t>2026年11月7日 17:52 立冬</a:t>
              </a:r>
              <a:br/>
              <a:r>
                <a:rPr lang="zh-CN" sz="3300" dirty="0">
                  <a:solidFill>
                    <a:schemeClr val="accent5"/>
                  </a:solidFill>
                  <a:latin typeface="+mn-lt"/>
                  <a:ea typeface="+mn-ea"/>
                  <a:cs typeface="+mn-cs"/>
                </a:rPr>
                <a:t>秋天就交班了</a:t>
              </a:r>
            </a:p>
          </p:txBody>
        </p:sp>
      </p:grpSp>
      <p:grpSp>
        <p:nvGrpSpPr>
          <p:cNvPr id="28" name="Group 28"/>
          <p:cNvGrpSpPr/>
          <p:nvPr/>
        </p:nvGrpSpPr>
        <p:grpSpPr>
          <a:xfrm>
            <a:off x="7524750" y="11811000"/>
            <a:ext cx="1809750" cy="1819275"/>
            <a:chOff x="7524750" y="11811000"/>
            <a:chExt cx="1809750" cy="1819275"/>
          </a:xfrm>
        </p:grpSpPr>
        <p:pic>
          <p:nvPicPr>
            <p:cNvPr id="27" name="Image 27"/>
            <p:cNvPicPr>
              <a:picLocks noChangeAspect="1"/>
            </p:cNvPicPr>
            <p:nvPr/>
          </p:nvPicPr>
          <p:blipFill>
            <a:blip r:embed="rId2"/>
            <a:stretch>
              <a:fillRect/>
            </a:stretch>
          </p:blipFill>
          <p:spPr>
            <a:xfrm>
              <a:off x="7524750" y="11811000"/>
              <a:ext cx="1809750" cy="1819275"/>
            </a:xfrm>
            <a:prstGeom prst="rect">
              <a:avLst/>
            </a:prstGeom>
          </p:spPr>
        </p:pic>
      </p:grpSp>
      <p:grpSp>
        <p:nvGrpSpPr>
          <p:cNvPr id="32" name="Group 32"/>
          <p:cNvGrpSpPr/>
          <p:nvPr/>
        </p:nvGrpSpPr>
        <p:grpSpPr>
          <a:xfrm>
            <a:off x="742950" y="13858875"/>
            <a:ext cx="8686800" cy="2468880"/>
            <a:chOff x="742950" y="13858875"/>
            <a:chExt cx="8686800" cy="2468880"/>
          </a:xfrm>
        </p:grpSpPr>
        <p:pic>
          <p:nvPicPr>
            <p:cNvPr id="29" name="Image 29"/>
            <p:cNvPicPr>
              <a:picLocks noChangeAspect="1"/>
            </p:cNvPicPr>
            <p:nvPr/>
          </p:nvPicPr>
          <p:blipFill>
            <a:blip r:embed="rId3"/>
            <a:stretch>
              <a:fillRect/>
            </a:stretch>
          </p:blipFill>
          <p:spPr>
            <a:xfrm>
              <a:off x="774171" y="13858875"/>
              <a:ext cx="3785658" cy="466725"/>
            </a:xfrm>
            <a:prstGeom prst="rect">
              <a:avLst/>
            </a:prstGeom>
          </p:spPr>
        </p:pic>
        <p:pic>
          <p:nvPicPr>
            <p:cNvPr id="30" name="Image 30"/>
            <p:cNvPicPr>
              <a:picLocks noChangeAspect="1"/>
            </p:cNvPicPr>
            <p:nvPr/>
          </p:nvPicPr>
          <p:blipFill>
            <a:blip r:embed="rId4"/>
            <a:stretch>
              <a:fillRect/>
            </a:stretch>
          </p:blipFill>
          <p:spPr>
            <a:xfrm>
              <a:off x="7334250" y="14001750"/>
              <a:ext cx="2095500" cy="1533525"/>
            </a:xfrm>
            <a:prstGeom prst="rect">
              <a:avLst/>
            </a:prstGeom>
          </p:spPr>
        </p:pic>
        <p:sp>
          <p:nvSpPr>
            <p:cNvPr id="31" name="TextBox 31"/>
            <p:cNvSpPr txBox="1"/>
            <p:nvPr/>
          </p:nvSpPr>
          <p:spPr>
            <a:xfrm>
              <a:off x="742950" y="14498955"/>
              <a:ext cx="5867400" cy="1828800"/>
            </a:xfrm>
            <a:prstGeom prst="rect">
              <a:avLst/>
            </a:prstGeom>
            <a:noFill/>
            <a:ln>
              <a:noFill/>
            </a:ln>
          </p:spPr>
          <p:txBody>
            <a:bodyPr wrap="none" lIns="0" tIns="0" rIns="0" bIns="0" anchor="t" anchorCtr="0">
              <a:spAutoFit/>
            </a:bodyPr>
            <a:lstStyle/>
            <a:p>
              <a:pPr algn="l">
                <a:lnSpc>
                  <a:spcPts val="6600"/>
                </a:lnSpc>
              </a:pPr>
              <a:r>
                <a:rPr lang="zh-CN" sz="5100" dirty="0">
                  <a:solidFill>
                    <a:schemeClr val="accent1"/>
                  </a:solidFill>
                  <a:latin typeface="+mn-lt"/>
                  <a:ea typeface="+mn-ea"/>
                  <a:cs typeface="+mn-cs"/>
                </a:rPr>
                <a:t>别等下一个秋天</a:t>
              </a:r>
              <a:br/>
              <a:r>
                <a:rPr lang="zh-CN" sz="5100" dirty="0">
                  <a:solidFill>
                    <a:schemeClr val="accent1"/>
                  </a:solidFill>
                  <a:latin typeface="+mn-lt"/>
                  <a:ea typeface="+mn-ea"/>
                  <a:cs typeface="+mn-cs"/>
                </a:rPr>
                <a:t>挑一站，照着过一次</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250"/>
                                        <p:tgtEl>
                                          <p:spTgt spid="9"/>
                                        </p:tgtEl>
                                      </p:cBhvr>
                                    </p:animEffect>
                                  </p:childTnLst>
                                </p:cTn>
                              </p:par>
                            </p:childTnLst>
                          </p:cTn>
                        </p:par>
                        <p:par>
                          <p:cTn id="8" fill="hold">
                            <p:stCondLst>
                              <p:cond delay="25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250"/>
                                        <p:tgtEl>
                                          <p:spTgt spid="12"/>
                                        </p:tgtEl>
                                      </p:cBhvr>
                                    </p:animEffect>
                                  </p:childTnLst>
                                </p:cTn>
                              </p:par>
                            </p:childTnLst>
                          </p:cTn>
                        </p:par>
                        <p:par>
                          <p:cTn id="12" fill="hold">
                            <p:stCondLst>
                              <p:cond delay="1000"/>
                            </p:stCondLst>
                            <p:childTnLst>
                              <p:par>
                                <p:cTn xmlns:p="http://schemas.openxmlformats.org/presentationml/2006/main" id="13" presetID="22" presetClass="entr" presetSubtype="4" fill="hold" grpId="0"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250"/>
                                        <p:tgtEl>
                                          <p:spTgt spid="15"/>
                                        </p:tgtEl>
                                      </p:cBhvr>
                                    </p:animEffect>
                                  </p:childTnLst>
                                </p:cTn>
                              </p:par>
                            </p:childTnLst>
                          </p:cTn>
                        </p:par>
                        <p:par>
                          <p:cTn id="16" fill="hold">
                            <p:stCondLst>
                              <p:cond delay="1750"/>
                            </p:stCondLst>
                            <p:childTnLst>
                              <p:par>
                                <p:cTn xmlns:p="http://schemas.openxmlformats.org/presentationml/2006/main" id="17" presetID="22" presetClass="entr" presetSubtype="4" fill="hold" grpId="0" nodeType="after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250"/>
                                        <p:tgtEl>
                                          <p:spTgt spid="18"/>
                                        </p:tgtEl>
                                      </p:cBhvr>
                                    </p:animEffect>
                                  </p:childTnLst>
                                </p:cTn>
                              </p:par>
                            </p:childTnLst>
                          </p:cTn>
                        </p:par>
                        <p:par>
                          <p:cTn id="20" fill="hold">
                            <p:stCondLst>
                              <p:cond delay="2500"/>
                            </p:stCondLst>
                            <p:childTnLst>
                              <p:par>
                                <p:cTn xmlns:p="http://schemas.openxmlformats.org/presentationml/2006/main" id="21" presetID="22" presetClass="entr" presetSubtype="4" fill="hold" grpId="0" nodeType="afterEffect">
                                  <p:stCondLst>
                                    <p:cond delay="50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250"/>
                                        <p:tgtEl>
                                          <p:spTgt spid="21"/>
                                        </p:tgtEl>
                                      </p:cBhvr>
                                    </p:animEffect>
                                  </p:childTnLst>
                                </p:cTn>
                              </p:par>
                            </p:childTnLst>
                          </p:cTn>
                        </p:par>
                        <p:par>
                          <p:cTn id="24" fill="hold">
                            <p:stCondLst>
                              <p:cond delay="3250"/>
                            </p:stCondLst>
                            <p:childTnLst>
                              <p:par>
                                <p:cTn xmlns:p="http://schemas.openxmlformats.org/presentationml/2006/main" id="25" presetID="22" presetClass="entr" presetSubtype="4" fill="hold" grpId="0" nodeType="afterEffect">
                                  <p:stCondLst>
                                    <p:cond delay="50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rgbClr val="E4D6B8"/>
          </a:fgClr>
          <a:bgClr>
            <a:schemeClr val="lt1"/>
          </a:bgClr>
        </a:pattFill>
        <a:effectLst/>
      </p:bgPr>
    </p:bg>
    <p:spTree>
      <p:nvGrpSpPr>
        <p:cNvPr id="1" name=""/>
        <p:cNvGrpSpPr/>
        <p:nvPr/>
      </p:nvGrpSpPr>
      <p:grpSpPr>
        <a:xfrm>
          <a:off x="0" y="0"/>
          <a:ext cx="0" cy="0"/>
          <a:chOff x="0" y="0"/>
          <a:chExt cx="0" cy="0"/>
        </a:xfrm>
      </p:grpSpPr>
      <p:grpSp>
        <p:nvGrpSpPr>
          <p:cNvPr id="5" name="Group 5"/>
          <p:cNvGrpSpPr/>
          <p:nvPr/>
        </p:nvGrpSpPr>
        <p:grpSpPr>
          <a:xfrm>
            <a:off x="742950" y="1758315"/>
            <a:ext cx="7505700" cy="2118360"/>
            <a:chOff x="742950" y="1758315"/>
            <a:chExt cx="7505700" cy="2118360"/>
          </a:xfrm>
        </p:grpSpPr>
        <p:sp>
          <p:nvSpPr>
            <p:cNvPr id="2" name="TextBox 2"/>
            <p:cNvSpPr txBox="1"/>
            <p:nvPr/>
          </p:nvSpPr>
          <p:spPr>
            <a:xfrm>
              <a:off x="745236" y="1758315"/>
              <a:ext cx="922020" cy="645414"/>
            </a:xfrm>
            <a:prstGeom prst="rect">
              <a:avLst/>
            </a:prstGeom>
            <a:noFill/>
            <a:ln>
              <a:noFill/>
            </a:ln>
          </p:spPr>
          <p:txBody>
            <a:bodyPr wrap="none" lIns="0" tIns="0" rIns="0" bIns="0" anchor="t" anchorCtr="0">
              <a:spAutoFit/>
            </a:bodyPr>
            <a:lstStyle/>
            <a:p>
              <a:pPr algn="l"/>
              <a:r>
                <a:rPr lang="zh-CN" sz="3300" dirty="0">
                  <a:solidFill>
                    <a:schemeClr val="accent5"/>
                  </a:solidFill>
                  <a:latin typeface="+mn-lt"/>
                  <a:ea typeface="+mn-ea"/>
                  <a:cs typeface="+mn-cs"/>
                </a:rPr>
                <a:t>来源</a:t>
              </a:r>
            </a:p>
          </p:txBody>
        </p:sp>
        <p:sp>
          <p:nvSpPr>
            <p:cNvPr id="3" name="TextBox 3"/>
            <p:cNvSpPr txBox="1"/>
            <p:nvPr/>
          </p:nvSpPr>
          <p:spPr>
            <a:xfrm>
              <a:off x="742950" y="2428875"/>
              <a:ext cx="7505700" cy="1447800"/>
            </a:xfrm>
            <a:prstGeom prst="rect">
              <a:avLst/>
            </a:prstGeom>
            <a:noFill/>
            <a:ln>
              <a:noFill/>
            </a:ln>
          </p:spPr>
          <p:txBody>
            <a:bodyPr wrap="none" lIns="0" tIns="0" rIns="0" bIns="0" anchor="t" anchorCtr="0">
              <a:spAutoFit/>
            </a:bodyPr>
            <a:lstStyle/>
            <a:p>
              <a:pPr algn="l"/>
              <a:r>
                <a:rPr lang="zh-CN" sz="7500" dirty="0">
                  <a:solidFill>
                    <a:schemeClr val="dk1"/>
                  </a:solidFill>
                  <a:latin typeface="+mj-lt"/>
                  <a:ea typeface="+mj-ea"/>
                  <a:cs typeface="+mj-cs"/>
                </a:rPr>
                <a:t>这些说法从哪来</a:t>
              </a:r>
            </a:p>
          </p:txBody>
        </p:sp>
        <p:sp>
          <p:nvSpPr>
            <p:cNvPr id="4" name="Freeform 4"/>
            <p:cNvSpPr/>
            <p:nvPr/>
          </p:nvSpPr>
          <p:spPr>
            <a:xfrm>
              <a:off x="800100" y="3533775"/>
              <a:ext cx="5867400" cy="66675"/>
            </a:xfrm>
            <a:custGeom>
              <a:avLst/>
              <a:gdLst/>
              <a:ahLst/>
              <a:cxnLst/>
              <a:rect l="l" t="t" r="r" b="b"/>
              <a:pathLst>
                <a:path w="5867400" h="66675">
                  <a:moveTo>
                    <a:pt x="0" y="66675"/>
                  </a:moveTo>
                  <a:cubicBezTo>
                    <a:pt x="1938338" y="0"/>
                    <a:pt x="3905250" y="4762"/>
                    <a:pt x="5867400" y="28575"/>
                  </a:cubicBezTo>
                </a:path>
              </a:pathLst>
            </a:custGeom>
            <a:noFill/>
            <a:ln w="47625" cap="rnd">
              <a:solidFill>
                <a:schemeClr val="accent2"/>
              </a:solidFill>
            </a:ln>
          </p:spPr>
        </p:sp>
      </p:grpSp>
      <p:grpSp>
        <p:nvGrpSpPr>
          <p:cNvPr id="16" name="Group 16"/>
          <p:cNvGrpSpPr/>
          <p:nvPr/>
        </p:nvGrpSpPr>
        <p:grpSpPr>
          <a:xfrm>
            <a:off x="762000" y="4476750"/>
            <a:ext cx="8763000" cy="1924812"/>
            <a:chOff x="762000" y="4476750"/>
            <a:chExt cx="8763000" cy="1924812"/>
          </a:xfrm>
        </p:grpSpPr>
        <p:sp>
          <p:nvSpPr>
            <p:cNvPr id="6" name="Freeform 6"/>
            <p:cNvSpPr/>
            <p:nvPr/>
          </p:nvSpPr>
          <p:spPr>
            <a:xfrm>
              <a:off x="762000" y="4476750"/>
              <a:ext cx="8763000" cy="1905000"/>
            </a:xfrm>
            <a:prstGeom prst="plaque">
              <a:avLst>
                <a:gd name="adj" fmla="val 8000"/>
              </a:avLst>
            </a:prstGeom>
            <a:solidFill>
              <a:schemeClr val="lt2"/>
            </a:solidFill>
            <a:ln w="38100">
              <a:solidFill>
                <a:schemeClr val="dk1"/>
              </a:solidFill>
            </a:ln>
          </p:spPr>
        </p:sp>
        <p:grpSp>
          <p:nvGrpSpPr>
            <p:cNvPr id="12" name="Group 12"/>
            <p:cNvGrpSpPr/>
            <p:nvPr/>
          </p:nvGrpSpPr>
          <p:grpSpPr>
            <a:xfrm>
              <a:off x="1219200" y="4762500"/>
              <a:ext cx="304800" cy="342900"/>
              <a:chOff x="1219200" y="4762500"/>
              <a:chExt cx="304800" cy="342900"/>
            </a:xfrm>
          </p:grpSpPr>
          <p:sp>
            <p:nvSpPr>
              <p:cNvPr id="7" name="Freeform 7"/>
              <p:cNvSpPr/>
              <p:nvPr/>
            </p:nvSpPr>
            <p:spPr>
              <a:xfrm>
                <a:off x="1219200" y="4800600"/>
                <a:ext cx="304800" cy="304800"/>
              </a:xfrm>
              <a:custGeom>
                <a:avLst/>
                <a:gdLst/>
                <a:ahLst/>
                <a:cxnLst/>
                <a:rect l="l" t="t" r="r" b="b"/>
                <a:pathLst>
                  <a:path w="304800" h="304800">
                    <a:moveTo>
                      <a:pt x="0" y="38100"/>
                    </a:moveTo>
                    <a:cubicBezTo>
                      <a:pt x="0" y="17058"/>
                      <a:pt x="17058" y="0"/>
                      <a:pt x="38100" y="0"/>
                    </a:cubicBez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path>
                </a:pathLst>
              </a:custGeom>
              <a:noFill/>
              <a:ln w="38100">
                <a:solidFill>
                  <a:schemeClr val="accent1"/>
                </a:solidFill>
              </a:ln>
            </p:spPr>
          </p:sp>
          <p:sp>
            <p:nvSpPr>
              <p:cNvPr id="8" name="Freeform 8"/>
              <p:cNvSpPr/>
              <p:nvPr/>
            </p:nvSpPr>
            <p:spPr>
              <a:xfrm>
                <a:off x="1447800" y="4762500"/>
                <a:ext cx="9525" cy="76200"/>
              </a:xfrm>
              <a:custGeom>
                <a:avLst/>
                <a:gdLst/>
                <a:ahLst/>
                <a:cxnLst/>
                <a:rect l="l" t="t" r="r" b="b"/>
                <a:pathLst>
                  <a:path w="9525" h="76200">
                    <a:moveTo>
                      <a:pt x="0" y="0"/>
                    </a:moveTo>
                    <a:lnTo>
                      <a:pt x="0" y="76200"/>
                    </a:lnTo>
                  </a:path>
                </a:pathLst>
              </a:custGeom>
              <a:noFill/>
              <a:ln w="38100">
                <a:solidFill>
                  <a:schemeClr val="accent1"/>
                </a:solidFill>
              </a:ln>
            </p:spPr>
          </p:sp>
          <p:sp>
            <p:nvSpPr>
              <p:cNvPr id="9" name="Freeform 9"/>
              <p:cNvSpPr/>
              <p:nvPr/>
            </p:nvSpPr>
            <p:spPr>
              <a:xfrm>
                <a:off x="1295400" y="4762500"/>
                <a:ext cx="9525" cy="76200"/>
              </a:xfrm>
              <a:custGeom>
                <a:avLst/>
                <a:gdLst/>
                <a:ahLst/>
                <a:cxnLst/>
                <a:rect l="l" t="t" r="r" b="b"/>
                <a:pathLst>
                  <a:path w="9525" h="76200">
                    <a:moveTo>
                      <a:pt x="0" y="0"/>
                    </a:moveTo>
                    <a:lnTo>
                      <a:pt x="0" y="76200"/>
                    </a:lnTo>
                  </a:path>
                </a:pathLst>
              </a:custGeom>
              <a:noFill/>
              <a:ln w="38100">
                <a:solidFill>
                  <a:schemeClr val="accent1"/>
                </a:solidFill>
              </a:ln>
            </p:spPr>
          </p:sp>
          <p:sp>
            <p:nvSpPr>
              <p:cNvPr id="10" name="Freeform 10"/>
              <p:cNvSpPr/>
              <p:nvPr/>
            </p:nvSpPr>
            <p:spPr>
              <a:xfrm>
                <a:off x="1219200" y="4914900"/>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11" name="Freeform 11"/>
              <p:cNvSpPr/>
              <p:nvPr/>
            </p:nvSpPr>
            <p:spPr>
              <a:xfrm>
                <a:off x="1295400" y="4991100"/>
                <a:ext cx="38100" cy="38100"/>
              </a:xfrm>
              <a:custGeom>
                <a:avLst/>
                <a:gdLst/>
                <a:ahLst/>
                <a:cxnLst/>
                <a:rect l="l" t="t" r="r" b="b"/>
                <a:pathLst>
                  <a:path w="38100" h="38100">
                    <a:moveTo>
                      <a:pt x="0" y="0"/>
                    </a:moveTo>
                    <a:lnTo>
                      <a:pt x="38100" y="0"/>
                    </a:lnTo>
                    <a:lnTo>
                      <a:pt x="38100" y="38100"/>
                    </a:lnTo>
                    <a:lnTo>
                      <a:pt x="0" y="38100"/>
                    </a:lnTo>
                    <a:lnTo>
                      <a:pt x="0" y="0"/>
                    </a:lnTo>
                  </a:path>
                </a:pathLst>
              </a:custGeom>
              <a:noFill/>
              <a:ln w="38100">
                <a:solidFill>
                  <a:schemeClr val="accent1"/>
                </a:solidFill>
              </a:ln>
            </p:spPr>
          </p:sp>
        </p:grpSp>
        <p:sp>
          <p:nvSpPr>
            <p:cNvPr id="13" name="TextBox 13"/>
            <p:cNvSpPr txBox="1"/>
            <p:nvPr/>
          </p:nvSpPr>
          <p:spPr>
            <a:xfrm>
              <a:off x="1773936" y="4711065"/>
              <a:ext cx="18105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交节时刻</a:t>
              </a:r>
            </a:p>
          </p:txBody>
        </p:sp>
        <p:sp>
          <p:nvSpPr>
            <p:cNvPr id="14" name="TextBox 14"/>
            <p:cNvSpPr txBox="1"/>
            <p:nvPr/>
          </p:nvSpPr>
          <p:spPr>
            <a:xfrm>
              <a:off x="1127760" y="5410200"/>
              <a:ext cx="7017258" cy="586740"/>
            </a:xfrm>
            <a:prstGeom prst="rect">
              <a:avLst/>
            </a:prstGeom>
            <a:noFill/>
            <a:ln>
              <a:noFill/>
            </a:ln>
          </p:spPr>
          <p:txBody>
            <a:bodyPr wrap="none" lIns="0" tIns="0" rIns="0" bIns="0" anchor="t" anchorCtr="0">
              <a:spAutoFit/>
            </a:bodyPr>
            <a:lstStyle/>
            <a:p>
              <a:pPr algn="l"/>
              <a:r>
                <a:rPr lang="zh-CN" sz="3000" u="sng" dirty="0">
                  <a:solidFill>
                    <a:schemeClr val="dk1"/>
                  </a:solidFill>
                  <a:latin typeface="+mn-lt"/>
                  <a:ea typeface="+mn-ea"/>
                  <a:cs typeface="+mn-cs"/>
                  <a:hlinkClick r:id="rId2"/>
                </a:rPr>
                <a:t>香港天文台 二十四节气日期及时间资料</a:t>
              </a:r>
            </a:p>
          </p:txBody>
        </p:sp>
        <p:sp>
          <p:nvSpPr>
            <p:cNvPr id="15" name="TextBox 15"/>
            <p:cNvSpPr txBox="1"/>
            <p:nvPr/>
          </p:nvSpPr>
          <p:spPr>
            <a:xfrm>
              <a:off x="1130808" y="5932170"/>
              <a:ext cx="1801368"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hko.gov.hk</a:t>
              </a:r>
            </a:p>
          </p:txBody>
        </p:sp>
      </p:grpSp>
      <p:grpSp>
        <p:nvGrpSpPr>
          <p:cNvPr id="24" name="Group 24"/>
          <p:cNvGrpSpPr/>
          <p:nvPr/>
        </p:nvGrpSpPr>
        <p:grpSpPr>
          <a:xfrm>
            <a:off x="762000" y="6572250"/>
            <a:ext cx="8763000" cy="1924812"/>
            <a:chOff x="762000" y="6572250"/>
            <a:chExt cx="8763000" cy="1924812"/>
          </a:xfrm>
        </p:grpSpPr>
        <p:sp>
          <p:nvSpPr>
            <p:cNvPr id="17" name="Freeform 17"/>
            <p:cNvSpPr/>
            <p:nvPr/>
          </p:nvSpPr>
          <p:spPr>
            <a:xfrm>
              <a:off x="762000" y="6572250"/>
              <a:ext cx="8763000" cy="1905000"/>
            </a:xfrm>
            <a:prstGeom prst="plaque">
              <a:avLst>
                <a:gd name="adj" fmla="val 8000"/>
              </a:avLst>
            </a:prstGeom>
            <a:solidFill>
              <a:schemeClr val="lt1"/>
            </a:solidFill>
            <a:ln w="38100">
              <a:solidFill>
                <a:schemeClr val="dk1"/>
              </a:solidFill>
            </a:ln>
          </p:spPr>
        </p:sp>
        <p:grpSp>
          <p:nvGrpSpPr>
            <p:cNvPr id="20" name="Group 20"/>
            <p:cNvGrpSpPr/>
            <p:nvPr/>
          </p:nvGrpSpPr>
          <p:grpSpPr>
            <a:xfrm>
              <a:off x="1219200" y="6877040"/>
              <a:ext cx="304800" cy="304810"/>
              <a:chOff x="1219200" y="6877040"/>
              <a:chExt cx="304800" cy="304810"/>
            </a:xfrm>
          </p:grpSpPr>
          <p:sp>
            <p:nvSpPr>
              <p:cNvPr id="18" name="Freeform 18"/>
              <p:cNvSpPr/>
              <p:nvPr/>
            </p:nvSpPr>
            <p:spPr>
              <a:xfrm>
                <a:off x="1219200" y="6896100"/>
                <a:ext cx="285750" cy="285750"/>
              </a:xfrm>
              <a:custGeom>
                <a:avLst/>
                <a:gdLst/>
                <a:ahLst/>
                <a:cxnLst/>
                <a:rect l="l" t="t" r="r" b="b"/>
                <a:pathLst>
                  <a:path w="285750" h="285750">
                    <a:moveTo>
                      <a:pt x="0" y="285750"/>
                    </a:moveTo>
                    <a:lnTo>
                      <a:pt x="190500" y="95250"/>
                    </a:lnTo>
                    <a:moveTo>
                      <a:pt x="190500" y="0"/>
                    </a:moveTo>
                    <a:lnTo>
                      <a:pt x="190500" y="95250"/>
                    </a:lnTo>
                    <a:lnTo>
                      <a:pt x="285750" y="95250"/>
                    </a:lnTo>
                    <a:moveTo>
                      <a:pt x="114300" y="76200"/>
                    </a:moveTo>
                    <a:lnTo>
                      <a:pt x="114300" y="171450"/>
                    </a:lnTo>
                    <a:lnTo>
                      <a:pt x="209550" y="171450"/>
                    </a:lnTo>
                    <a:moveTo>
                      <a:pt x="38100" y="152400"/>
                    </a:moveTo>
                    <a:lnTo>
                      <a:pt x="38100" y="247650"/>
                    </a:lnTo>
                    <a:lnTo>
                      <a:pt x="133350" y="247650"/>
                    </a:lnTo>
                    <a:moveTo>
                      <a:pt x="38100" y="152400"/>
                    </a:moveTo>
                    <a:lnTo>
                      <a:pt x="114300" y="76200"/>
                    </a:lnTo>
                    <a:lnTo>
                      <a:pt x="190500" y="0"/>
                    </a:lnTo>
                  </a:path>
                </a:pathLst>
              </a:custGeom>
              <a:noFill/>
              <a:ln w="38100">
                <a:solidFill>
                  <a:schemeClr val="accent1"/>
                </a:solidFill>
              </a:ln>
            </p:spPr>
          </p:sp>
          <p:sp>
            <p:nvSpPr>
              <p:cNvPr id="19" name="Freeform 19"/>
              <p:cNvSpPr/>
              <p:nvPr/>
            </p:nvSpPr>
            <p:spPr>
              <a:xfrm>
                <a:off x="1352550" y="6877040"/>
                <a:ext cx="171450" cy="266710"/>
              </a:xfrm>
              <a:custGeom>
                <a:avLst/>
                <a:gdLst/>
                <a:ahLst/>
                <a:cxnLst/>
                <a:rect l="l" t="t" r="r" b="b"/>
                <a:pathLst>
                  <a:path w="171450" h="266710">
                    <a:moveTo>
                      <a:pt x="152400" y="114310"/>
                    </a:moveTo>
                    <a:cubicBezTo>
                      <a:pt x="164554" y="102194"/>
                      <a:pt x="171450" y="85449"/>
                      <a:pt x="171450" y="66952"/>
                    </a:cubicBezTo>
                    <a:cubicBezTo>
                      <a:pt x="171445" y="49189"/>
                      <a:pt x="164383" y="32157"/>
                      <a:pt x="151817" y="19602"/>
                    </a:cubicBezTo>
                    <a:cubicBezTo>
                      <a:pt x="139252" y="7048"/>
                      <a:pt x="122214" y="0"/>
                      <a:pt x="104451" y="10"/>
                    </a:cubicBezTo>
                    <a:cubicBezTo>
                      <a:pt x="85973" y="10"/>
                      <a:pt x="69266" y="7001"/>
                      <a:pt x="57150" y="19060"/>
                    </a:cubicBezTo>
                    <a:moveTo>
                      <a:pt x="0" y="266710"/>
                    </a:moveTo>
                    <a:lnTo>
                      <a:pt x="76200" y="190510"/>
                    </a:lnTo>
                    <a:lnTo>
                      <a:pt x="152400" y="114310"/>
                    </a:lnTo>
                  </a:path>
                </a:pathLst>
              </a:custGeom>
              <a:noFill/>
              <a:ln w="38100">
                <a:solidFill>
                  <a:schemeClr val="accent1"/>
                </a:solidFill>
              </a:ln>
            </p:spPr>
          </p:sp>
        </p:grpSp>
        <p:sp>
          <p:nvSpPr>
            <p:cNvPr id="21" name="TextBox 21"/>
            <p:cNvSpPr txBox="1"/>
            <p:nvPr/>
          </p:nvSpPr>
          <p:spPr>
            <a:xfrm>
              <a:off x="1773936" y="6806565"/>
              <a:ext cx="18105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三候原文</a:t>
              </a:r>
            </a:p>
          </p:txBody>
        </p:sp>
        <p:sp>
          <p:nvSpPr>
            <p:cNvPr id="22" name="TextBox 22"/>
            <p:cNvSpPr txBox="1"/>
            <p:nvPr/>
          </p:nvSpPr>
          <p:spPr>
            <a:xfrm>
              <a:off x="1127760" y="7505700"/>
              <a:ext cx="3382518" cy="586740"/>
            </a:xfrm>
            <a:prstGeom prst="rect">
              <a:avLst/>
            </a:prstGeom>
            <a:noFill/>
            <a:ln>
              <a:noFill/>
            </a:ln>
          </p:spPr>
          <p:txBody>
            <a:bodyPr wrap="none" lIns="0" tIns="0" rIns="0" bIns="0" anchor="t" anchorCtr="0">
              <a:spAutoFit/>
            </a:bodyPr>
            <a:lstStyle/>
            <a:p>
              <a:pPr algn="l"/>
              <a:r>
                <a:rPr lang="zh-CN" sz="3000" u="sng" dirty="0">
                  <a:solidFill>
                    <a:schemeClr val="dk1"/>
                  </a:solidFill>
                  <a:latin typeface="+mn-lt"/>
                  <a:ea typeface="+mn-ea"/>
                  <a:cs typeface="+mn-cs"/>
                  <a:hlinkClick r:id="rId3"/>
                </a:rPr>
                <a:t>维基百科 七十二候</a:t>
              </a:r>
            </a:p>
          </p:txBody>
        </p:sp>
        <p:sp>
          <p:nvSpPr>
            <p:cNvPr id="23" name="TextBox 23"/>
            <p:cNvSpPr txBox="1"/>
            <p:nvPr/>
          </p:nvSpPr>
          <p:spPr>
            <a:xfrm>
              <a:off x="1130808" y="8027670"/>
              <a:ext cx="6615379"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zh.wikipedia.org · 依《月令七十二候集解》</a:t>
              </a:r>
            </a:p>
          </p:txBody>
        </p:sp>
      </p:grpSp>
      <p:grpSp>
        <p:nvGrpSpPr>
          <p:cNvPr id="32" name="Group 32"/>
          <p:cNvGrpSpPr/>
          <p:nvPr/>
        </p:nvGrpSpPr>
        <p:grpSpPr>
          <a:xfrm>
            <a:off x="762000" y="8667750"/>
            <a:ext cx="8763000" cy="2953512"/>
            <a:chOff x="762000" y="8667750"/>
            <a:chExt cx="8763000" cy="2953512"/>
          </a:xfrm>
        </p:grpSpPr>
        <p:sp>
          <p:nvSpPr>
            <p:cNvPr id="25" name="Freeform 25"/>
            <p:cNvSpPr/>
            <p:nvPr/>
          </p:nvSpPr>
          <p:spPr>
            <a:xfrm>
              <a:off x="762000" y="8667750"/>
              <a:ext cx="8763000" cy="2857500"/>
            </a:xfrm>
            <a:prstGeom prst="plaque">
              <a:avLst>
                <a:gd name="adj" fmla="val 6000"/>
              </a:avLst>
            </a:prstGeom>
            <a:solidFill>
              <a:schemeClr val="lt2"/>
            </a:solidFill>
            <a:ln w="38100">
              <a:solidFill>
                <a:schemeClr val="dk1"/>
              </a:solidFill>
            </a:ln>
          </p:spPr>
        </p:sp>
        <p:sp>
          <p:nvSpPr>
            <p:cNvPr id="26" name="Freeform 26"/>
            <p:cNvSpPr/>
            <p:nvPr/>
          </p:nvSpPr>
          <p:spPr>
            <a:xfrm>
              <a:off x="1200150" y="9048750"/>
              <a:ext cx="342900" cy="190500"/>
            </a:xfrm>
            <a:custGeom>
              <a:avLst/>
              <a:gdLst/>
              <a:ahLst/>
              <a:cxnLst/>
              <a:rect l="l" t="t" r="r" b="b"/>
              <a:pathLst>
                <a:path w="342900" h="190500">
                  <a:moveTo>
                    <a:pt x="19050" y="0"/>
                  </a:moveTo>
                  <a:lnTo>
                    <a:pt x="323850" y="0"/>
                  </a:lnTo>
                  <a:cubicBezTo>
                    <a:pt x="334371" y="0"/>
                    <a:pt x="342900" y="8529"/>
                    <a:pt x="342900" y="19050"/>
                  </a:cubicBezTo>
                  <a:lnTo>
                    <a:pt x="342900" y="28575"/>
                  </a:lnTo>
                  <a:cubicBezTo>
                    <a:pt x="342900" y="57150"/>
                    <a:pt x="294951" y="134741"/>
                    <a:pt x="266700" y="152400"/>
                  </a:cubicBezTo>
                  <a:lnTo>
                    <a:pt x="266700" y="171450"/>
                  </a:lnTo>
                  <a:cubicBezTo>
                    <a:pt x="266700" y="181971"/>
                    <a:pt x="258171" y="190500"/>
                    <a:pt x="247650" y="190500"/>
                  </a:cubicBezTo>
                  <a:lnTo>
                    <a:pt x="95250" y="190500"/>
                  </a:lnTo>
                  <a:cubicBezTo>
                    <a:pt x="84729" y="190500"/>
                    <a:pt x="76200" y="181971"/>
                    <a:pt x="76200" y="171450"/>
                  </a:cubicBezTo>
                  <a:lnTo>
                    <a:pt x="76200" y="152400"/>
                  </a:lnTo>
                  <a:cubicBezTo>
                    <a:pt x="44063" y="132321"/>
                    <a:pt x="0" y="57150"/>
                    <a:pt x="0" y="28575"/>
                  </a:cubicBezTo>
                  <a:lnTo>
                    <a:pt x="0" y="19050"/>
                  </a:lnTo>
                  <a:cubicBezTo>
                    <a:pt x="0" y="8529"/>
                    <a:pt x="8529" y="0"/>
                    <a:pt x="19050" y="0"/>
                  </a:cubicBezTo>
                </a:path>
              </a:pathLst>
            </a:custGeom>
            <a:noFill/>
            <a:ln w="38100">
              <a:solidFill>
                <a:schemeClr val="accent1"/>
              </a:solidFill>
            </a:ln>
          </p:spPr>
        </p:sp>
        <p:sp>
          <p:nvSpPr>
            <p:cNvPr id="27" name="TextBox 27"/>
            <p:cNvSpPr txBox="1"/>
            <p:nvPr/>
          </p:nvSpPr>
          <p:spPr>
            <a:xfrm>
              <a:off x="1773936" y="8902065"/>
              <a:ext cx="314325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习俗与时令食物</a:t>
              </a:r>
            </a:p>
          </p:txBody>
        </p:sp>
        <p:sp>
          <p:nvSpPr>
            <p:cNvPr id="28" name="TextBox 28"/>
            <p:cNvSpPr txBox="1"/>
            <p:nvPr/>
          </p:nvSpPr>
          <p:spPr>
            <a:xfrm>
              <a:off x="1127760" y="9601200"/>
              <a:ext cx="6209538" cy="586740"/>
            </a:xfrm>
            <a:prstGeom prst="rect">
              <a:avLst/>
            </a:prstGeom>
            <a:noFill/>
            <a:ln>
              <a:noFill/>
            </a:ln>
          </p:spPr>
          <p:txBody>
            <a:bodyPr wrap="none" lIns="0" tIns="0" rIns="0" bIns="0" anchor="t" anchorCtr="0">
              <a:spAutoFit/>
            </a:bodyPr>
            <a:lstStyle/>
            <a:p>
              <a:pPr algn="l"/>
              <a:r>
                <a:rPr lang="zh-CN" sz="3000" u="sng" dirty="0">
                  <a:solidFill>
                    <a:schemeClr val="dk1"/>
                  </a:solidFill>
                  <a:latin typeface="+mn-lt"/>
                  <a:ea typeface="+mn-ea"/>
                  <a:cs typeface="+mn-cs"/>
                  <a:hlinkClick r:id="rId4"/>
                </a:rPr>
                <a:t>北京市园林绿化局 二十四节气科普</a:t>
              </a:r>
            </a:p>
          </p:txBody>
        </p:sp>
        <p:sp>
          <p:nvSpPr>
            <p:cNvPr id="29" name="TextBox 29"/>
            <p:cNvSpPr txBox="1"/>
            <p:nvPr/>
          </p:nvSpPr>
          <p:spPr>
            <a:xfrm>
              <a:off x="1130808" y="10123170"/>
              <a:ext cx="3093720"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yllhj.beijing.gov.cn</a:t>
              </a:r>
            </a:p>
          </p:txBody>
        </p:sp>
        <p:sp>
          <p:nvSpPr>
            <p:cNvPr id="30" name="TextBox 30"/>
            <p:cNvSpPr txBox="1"/>
            <p:nvPr/>
          </p:nvSpPr>
          <p:spPr>
            <a:xfrm>
              <a:off x="1127760" y="10629900"/>
              <a:ext cx="5220081" cy="586740"/>
            </a:xfrm>
            <a:prstGeom prst="rect">
              <a:avLst/>
            </a:prstGeom>
            <a:noFill/>
            <a:ln>
              <a:noFill/>
            </a:ln>
          </p:spPr>
          <p:txBody>
            <a:bodyPr wrap="none" lIns="0" tIns="0" rIns="0" bIns="0" anchor="t" anchorCtr="0">
              <a:spAutoFit/>
            </a:bodyPr>
            <a:lstStyle/>
            <a:p>
              <a:pPr algn="l"/>
              <a:r>
                <a:rPr lang="zh-CN" sz="3000" u="sng" dirty="0">
                  <a:solidFill>
                    <a:schemeClr val="dk1"/>
                  </a:solidFill>
                  <a:latin typeface="+mn-lt"/>
                  <a:ea typeface="+mn-ea"/>
                  <a:cs typeface="+mn-cs"/>
                  <a:hlinkClick r:id="rId5"/>
                </a:rPr>
                <a:t>中国气象网 二十四节气·秋分</a:t>
              </a:r>
            </a:p>
          </p:txBody>
        </p:sp>
        <p:sp>
          <p:nvSpPr>
            <p:cNvPr id="31" name="TextBox 31"/>
            <p:cNvSpPr txBox="1"/>
            <p:nvPr/>
          </p:nvSpPr>
          <p:spPr>
            <a:xfrm>
              <a:off x="1130808" y="11151870"/>
              <a:ext cx="1865986"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cma.gov.cn</a:t>
              </a:r>
            </a:p>
          </p:txBody>
        </p:sp>
      </p:grpSp>
      <p:grpSp>
        <p:nvGrpSpPr>
          <p:cNvPr id="44" name="Group 44"/>
          <p:cNvGrpSpPr/>
          <p:nvPr/>
        </p:nvGrpSpPr>
        <p:grpSpPr>
          <a:xfrm>
            <a:off x="762000" y="11715750"/>
            <a:ext cx="8763000" cy="2953512"/>
            <a:chOff x="762000" y="11715750"/>
            <a:chExt cx="8763000" cy="2953512"/>
          </a:xfrm>
        </p:grpSpPr>
        <p:sp>
          <p:nvSpPr>
            <p:cNvPr id="33" name="Freeform 33"/>
            <p:cNvSpPr/>
            <p:nvPr/>
          </p:nvSpPr>
          <p:spPr>
            <a:xfrm>
              <a:off x="762000" y="11715750"/>
              <a:ext cx="8763000" cy="2857500"/>
            </a:xfrm>
            <a:prstGeom prst="plaque">
              <a:avLst>
                <a:gd name="adj" fmla="val 6000"/>
              </a:avLst>
            </a:prstGeom>
            <a:solidFill>
              <a:schemeClr val="lt1"/>
            </a:solidFill>
            <a:ln w="38100">
              <a:solidFill>
                <a:schemeClr val="dk1"/>
              </a:solidFill>
            </a:ln>
          </p:spPr>
        </p:sp>
        <p:grpSp>
          <p:nvGrpSpPr>
            <p:cNvPr id="38" name="Group 38"/>
            <p:cNvGrpSpPr/>
            <p:nvPr/>
          </p:nvGrpSpPr>
          <p:grpSpPr>
            <a:xfrm>
              <a:off x="1234211" y="11992242"/>
              <a:ext cx="275330" cy="361950"/>
              <a:chOff x="1234211" y="11992242"/>
              <a:chExt cx="275330" cy="361950"/>
            </a:xfrm>
          </p:grpSpPr>
          <p:sp>
            <p:nvSpPr>
              <p:cNvPr id="34" name="Freeform 34"/>
              <p:cNvSpPr/>
              <p:nvPr/>
            </p:nvSpPr>
            <p:spPr>
              <a:xfrm>
                <a:off x="1371867" y="12282754"/>
                <a:ext cx="9525" cy="71438"/>
              </a:xfrm>
              <a:custGeom>
                <a:avLst/>
                <a:gdLst/>
                <a:ahLst/>
                <a:cxnLst/>
                <a:rect l="l" t="t" r="r" b="b"/>
                <a:pathLst>
                  <a:path w="9525" h="71438">
                    <a:moveTo>
                      <a:pt x="0" y="71438"/>
                    </a:moveTo>
                    <a:lnTo>
                      <a:pt x="0" y="0"/>
                    </a:lnTo>
                  </a:path>
                </a:pathLst>
              </a:custGeom>
              <a:noFill/>
              <a:ln w="38100">
                <a:solidFill>
                  <a:schemeClr val="accent1"/>
                </a:solidFill>
              </a:ln>
            </p:spPr>
          </p:sp>
          <p:sp>
            <p:nvSpPr>
              <p:cNvPr id="35" name="Freeform 35"/>
              <p:cNvSpPr/>
              <p:nvPr/>
            </p:nvSpPr>
            <p:spPr>
              <a:xfrm>
                <a:off x="1234211" y="12125401"/>
                <a:ext cx="137655" cy="162115"/>
              </a:xfrm>
              <a:custGeom>
                <a:avLst/>
                <a:gdLst/>
                <a:ahLst/>
                <a:cxnLst/>
                <a:rect l="l" t="t" r="r" b="b"/>
                <a:pathLst>
                  <a:path w="137655" h="162115">
                    <a:moveTo>
                      <a:pt x="21755" y="0"/>
                    </a:moveTo>
                    <a:lnTo>
                      <a:pt x="13564" y="30556"/>
                    </a:lnTo>
                    <a:cubicBezTo>
                      <a:pt x="0" y="81210"/>
                      <a:pt x="30061" y="133255"/>
                      <a:pt x="80696" y="146856"/>
                    </a:cubicBezTo>
                    <a:cubicBezTo>
                      <a:pt x="99689" y="151962"/>
                      <a:pt x="118662" y="157048"/>
                      <a:pt x="137655" y="162115"/>
                    </a:cubicBezTo>
                    <a:lnTo>
                      <a:pt x="137655" y="96583"/>
                    </a:lnTo>
                    <a:cubicBezTo>
                      <a:pt x="134531" y="56483"/>
                      <a:pt x="106470" y="22689"/>
                      <a:pt x="67627" y="12268"/>
                    </a:cubicBezTo>
                    <a:lnTo>
                      <a:pt x="21755" y="0"/>
                    </a:lnTo>
                  </a:path>
                </a:pathLst>
              </a:custGeom>
              <a:noFill/>
              <a:ln w="38100">
                <a:solidFill>
                  <a:schemeClr val="accent1"/>
                </a:solidFill>
              </a:ln>
            </p:spPr>
          </p:sp>
          <p:sp>
            <p:nvSpPr>
              <p:cNvPr id="36" name="Freeform 36"/>
              <p:cNvSpPr/>
              <p:nvPr/>
            </p:nvSpPr>
            <p:spPr>
              <a:xfrm>
                <a:off x="1311612" y="11992242"/>
                <a:ext cx="120510" cy="164782"/>
              </a:xfrm>
              <a:custGeom>
                <a:avLst/>
                <a:gdLst/>
                <a:ahLst/>
                <a:cxnLst/>
                <a:rect l="l" t="t" r="r" b="b"/>
                <a:pathLst>
                  <a:path w="120510" h="164782">
                    <a:moveTo>
                      <a:pt x="93212" y="164782"/>
                    </a:moveTo>
                    <a:cubicBezTo>
                      <a:pt x="101860" y="156134"/>
                      <a:pt x="108737" y="145847"/>
                      <a:pt x="113424" y="134550"/>
                    </a:cubicBezTo>
                    <a:cubicBezTo>
                      <a:pt x="118110" y="123234"/>
                      <a:pt x="120510" y="111119"/>
                      <a:pt x="120510" y="98869"/>
                    </a:cubicBezTo>
                    <a:cubicBezTo>
                      <a:pt x="120510" y="86620"/>
                      <a:pt x="118110" y="74505"/>
                      <a:pt x="113424" y="63208"/>
                    </a:cubicBezTo>
                    <a:cubicBezTo>
                      <a:pt x="108737" y="51892"/>
                      <a:pt x="101879" y="41624"/>
                      <a:pt x="93212" y="32957"/>
                    </a:cubicBezTo>
                    <a:lnTo>
                      <a:pt x="60255" y="0"/>
                    </a:lnTo>
                    <a:lnTo>
                      <a:pt x="27299" y="32957"/>
                    </a:lnTo>
                    <a:cubicBezTo>
                      <a:pt x="18650" y="41605"/>
                      <a:pt x="11773" y="51892"/>
                      <a:pt x="7106" y="63208"/>
                    </a:cubicBezTo>
                    <a:cubicBezTo>
                      <a:pt x="2419" y="74524"/>
                      <a:pt x="19" y="86639"/>
                      <a:pt x="0" y="98869"/>
                    </a:cubicBezTo>
                    <a:cubicBezTo>
                      <a:pt x="0" y="111119"/>
                      <a:pt x="2419" y="123234"/>
                      <a:pt x="7106" y="134550"/>
                    </a:cubicBezTo>
                    <a:cubicBezTo>
                      <a:pt x="11792" y="145866"/>
                      <a:pt x="18650" y="156134"/>
                      <a:pt x="27299" y="164782"/>
                    </a:cubicBezTo>
                  </a:path>
                </a:pathLst>
              </a:custGeom>
              <a:noFill/>
              <a:ln w="38100">
                <a:solidFill>
                  <a:schemeClr val="accent1"/>
                </a:solidFill>
              </a:ln>
            </p:spPr>
          </p:sp>
          <p:sp>
            <p:nvSpPr>
              <p:cNvPr id="37" name="Freeform 37"/>
              <p:cNvSpPr/>
              <p:nvPr/>
            </p:nvSpPr>
            <p:spPr>
              <a:xfrm>
                <a:off x="1371867" y="12125401"/>
                <a:ext cx="137674" cy="162115"/>
              </a:xfrm>
              <a:custGeom>
                <a:avLst/>
                <a:gdLst/>
                <a:ahLst/>
                <a:cxnLst/>
                <a:rect l="l" t="t" r="r" b="b"/>
                <a:pathLst>
                  <a:path w="137674" h="162115">
                    <a:moveTo>
                      <a:pt x="115919" y="0"/>
                    </a:moveTo>
                    <a:lnTo>
                      <a:pt x="124111" y="30556"/>
                    </a:lnTo>
                    <a:cubicBezTo>
                      <a:pt x="137674" y="81210"/>
                      <a:pt x="107613" y="133255"/>
                      <a:pt x="56960" y="146856"/>
                    </a:cubicBezTo>
                    <a:cubicBezTo>
                      <a:pt x="37967" y="151962"/>
                      <a:pt x="18974" y="157048"/>
                      <a:pt x="0" y="162115"/>
                    </a:cubicBezTo>
                    <a:lnTo>
                      <a:pt x="0" y="96583"/>
                    </a:lnTo>
                    <a:cubicBezTo>
                      <a:pt x="3124" y="56483"/>
                      <a:pt x="31185" y="22689"/>
                      <a:pt x="70047" y="12268"/>
                    </a:cubicBezTo>
                    <a:lnTo>
                      <a:pt x="115919" y="0"/>
                    </a:lnTo>
                  </a:path>
                </a:pathLst>
              </a:custGeom>
              <a:noFill/>
              <a:ln w="38100">
                <a:solidFill>
                  <a:schemeClr val="accent1"/>
                </a:solidFill>
              </a:ln>
            </p:spPr>
          </p:sp>
        </p:grpSp>
        <p:sp>
          <p:nvSpPr>
            <p:cNvPr id="39" name="TextBox 39"/>
            <p:cNvSpPr txBox="1"/>
            <p:nvPr/>
          </p:nvSpPr>
          <p:spPr>
            <a:xfrm>
              <a:off x="1773936" y="11950065"/>
              <a:ext cx="18105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n-lt"/>
                  <a:ea typeface="+mn-ea"/>
                  <a:cs typeface="+mn-cs"/>
                </a:rPr>
                <a:t>制度背景</a:t>
              </a:r>
            </a:p>
          </p:txBody>
        </p:sp>
        <p:sp>
          <p:nvSpPr>
            <p:cNvPr id="40" name="TextBox 40"/>
            <p:cNvSpPr txBox="1"/>
            <p:nvPr/>
          </p:nvSpPr>
          <p:spPr>
            <a:xfrm>
              <a:off x="1127760" y="12649200"/>
              <a:ext cx="4997958" cy="586740"/>
            </a:xfrm>
            <a:prstGeom prst="rect">
              <a:avLst/>
            </a:prstGeom>
            <a:noFill/>
            <a:ln>
              <a:noFill/>
            </a:ln>
          </p:spPr>
          <p:txBody>
            <a:bodyPr wrap="none" lIns="0" tIns="0" rIns="0" bIns="0" anchor="t" anchorCtr="0">
              <a:spAutoFit/>
            </a:bodyPr>
            <a:lstStyle/>
            <a:p>
              <a:pPr algn="l"/>
              <a:r>
                <a:rPr lang="zh-CN" sz="3000" u="sng" dirty="0">
                  <a:solidFill>
                    <a:schemeClr val="dk1"/>
                  </a:solidFill>
                  <a:latin typeface="+mn-lt"/>
                  <a:ea typeface="+mn-ea"/>
                  <a:cs typeface="+mn-cs"/>
                  <a:hlinkClick r:id="rId6"/>
                </a:rPr>
                <a:t>中国政府网 中国农民丰收节</a:t>
              </a:r>
            </a:p>
          </p:txBody>
        </p:sp>
        <p:sp>
          <p:nvSpPr>
            <p:cNvPr id="41" name="TextBox 41"/>
            <p:cNvSpPr txBox="1"/>
            <p:nvPr/>
          </p:nvSpPr>
          <p:spPr>
            <a:xfrm>
              <a:off x="1130808" y="13171170"/>
              <a:ext cx="109057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gov.cn</a:t>
              </a:r>
            </a:p>
          </p:txBody>
        </p:sp>
        <p:sp>
          <p:nvSpPr>
            <p:cNvPr id="42" name="TextBox 42"/>
            <p:cNvSpPr txBox="1"/>
            <p:nvPr/>
          </p:nvSpPr>
          <p:spPr>
            <a:xfrm>
              <a:off x="1127760" y="13677900"/>
              <a:ext cx="7824978" cy="586740"/>
            </a:xfrm>
            <a:prstGeom prst="rect">
              <a:avLst/>
            </a:prstGeom>
            <a:noFill/>
            <a:ln>
              <a:noFill/>
            </a:ln>
          </p:spPr>
          <p:txBody>
            <a:bodyPr wrap="none" lIns="0" tIns="0" rIns="0" bIns="0" anchor="t" anchorCtr="0">
              <a:spAutoFit/>
            </a:bodyPr>
            <a:lstStyle/>
            <a:p>
              <a:pPr algn="l"/>
              <a:r>
                <a:rPr lang="zh-CN" sz="3000" u="sng" dirty="0">
                  <a:solidFill>
                    <a:schemeClr val="dk1"/>
                  </a:solidFill>
                  <a:latin typeface="+mn-lt"/>
                  <a:ea typeface="+mn-ea"/>
                  <a:cs typeface="+mn-cs"/>
                  <a:hlinkClick r:id="rId7"/>
                </a:rPr>
                <a:t>文化和旅游部 二十四节气列入人类非遗名录</a:t>
              </a:r>
            </a:p>
          </p:txBody>
        </p:sp>
        <p:sp>
          <p:nvSpPr>
            <p:cNvPr id="43" name="TextBox 43"/>
            <p:cNvSpPr txBox="1"/>
            <p:nvPr/>
          </p:nvSpPr>
          <p:spPr>
            <a:xfrm>
              <a:off x="1130808" y="14199870"/>
              <a:ext cx="1865986"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mct.gov.cn</a:t>
              </a:r>
            </a:p>
          </p:txBody>
        </p:sp>
      </p:grpSp>
      <p:grpSp>
        <p:nvGrpSpPr>
          <p:cNvPr id="46" name="Group 46"/>
          <p:cNvGrpSpPr/>
          <p:nvPr/>
        </p:nvGrpSpPr>
        <p:grpSpPr>
          <a:xfrm>
            <a:off x="749808" y="15076170"/>
            <a:ext cx="6120384" cy="888492"/>
            <a:chOff x="749808" y="15076170"/>
            <a:chExt cx="6120384" cy="888492"/>
          </a:xfrm>
        </p:grpSpPr>
        <p:sp>
          <p:nvSpPr>
            <p:cNvPr id="45" name="TextBox 45"/>
            <p:cNvSpPr txBox="1"/>
            <p:nvPr/>
          </p:nvSpPr>
          <p:spPr>
            <a:xfrm>
              <a:off x="749808" y="15076170"/>
              <a:ext cx="612038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农历对照日期未取到权威逐条数据，本手账标</a:t>
              </a:r>
              <a:br/>
              <a:r>
                <a:rPr lang="zh-CN" sz="2400" dirty="0">
                  <a:solidFill>
                    <a:schemeClr val="accent5"/>
                  </a:solidFill>
                  <a:latin typeface="+mn-lt"/>
                  <a:ea typeface="+mn-ea"/>
                  <a:cs typeface="+mn-cs"/>
                </a:rPr>
                <a:t>NO DATA，不作推算。</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tory_autumn_solar_terms">
  <a:themeElements>
    <a:clrScheme name="story_autumn_solar_terms">
      <a:dk1>
        <a:srgbClr val="33302A"/>
      </a:dk1>
      <a:lt1>
        <a:srgbClr val="FBF6EA"/>
      </a:lt1>
      <a:dk2>
        <a:srgbClr val="1F497D"/>
      </a:dk2>
      <a:lt2>
        <a:srgbClr val="F1E5CE"/>
      </a:lt2>
      <a:accent1>
        <a:srgbClr val="A8502A"/>
      </a:accent1>
      <a:accent2>
        <a:srgbClr val="E39A1F"/>
      </a:accent2>
      <a:accent3>
        <a:srgbClr val="6F8C5A"/>
      </a:accent3>
      <a:accent4>
        <a:srgbClr val="A8502A"/>
      </a:accent4>
      <a:accent5>
        <a:srgbClr val="6B6355"/>
      </a:accent5>
      <a:accent6>
        <a:srgbClr val="D8C9AC"/>
      </a:accent6>
      <a:hlink>
        <a:srgbClr val="E39A1F"/>
      </a:hlink>
      <a:folHlink>
        <a:srgbClr val="6F8C5A"/>
      </a:folHlink>
    </a:clrScheme>
    <a:fontScheme name="story_autumn_solar_terms">
      <a:majorFont>
        <a:latin typeface="KaiTi"/>
        <a:ea typeface="KaiTi"/>
        <a:cs typeface="KaiTi"/>
        <a:font script="Jpan" typeface="KaiTi"/>
        <a:font script="Hang" typeface="KaiTi"/>
        <a:font script="Hans" typeface="KaiTi"/>
        <a:font script="Hant" typeface="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ory_autumn_solar_term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tory_autumn_solar_terms">
  <a:themeElements>
    <a:clrScheme name="story_autumn_solar_terms">
      <a:dk1>
        <a:srgbClr val="33302A"/>
      </a:dk1>
      <a:lt1>
        <a:srgbClr val="FBF6EA"/>
      </a:lt1>
      <a:dk2>
        <a:srgbClr val="1F497D"/>
      </a:dk2>
      <a:lt2>
        <a:srgbClr val="F1E5CE"/>
      </a:lt2>
      <a:accent1>
        <a:srgbClr val="A8502A"/>
      </a:accent1>
      <a:accent2>
        <a:srgbClr val="E39A1F"/>
      </a:accent2>
      <a:accent3>
        <a:srgbClr val="6F8C5A"/>
      </a:accent3>
      <a:accent4>
        <a:srgbClr val="A8502A"/>
      </a:accent4>
      <a:accent5>
        <a:srgbClr val="6B6355"/>
      </a:accent5>
      <a:accent6>
        <a:srgbClr val="D8C9AC"/>
      </a:accent6>
      <a:hlink>
        <a:srgbClr val="E39A1F"/>
      </a:hlink>
      <a:folHlink>
        <a:srgbClr val="6F8C5A"/>
      </a:folHlink>
    </a:clrScheme>
    <a:fontScheme name="story_autumn_solar_terms">
      <a:majorFont>
        <a:latin typeface="KaiTi"/>
        <a:ea typeface="KaiTi"/>
        <a:cs typeface="KaiTi"/>
        <a:font script="Jpan" typeface="KaiTi"/>
        <a:font script="Hang" typeface="KaiTi"/>
        <a:font script="Hans" typeface="KaiTi"/>
        <a:font script="Hant" typeface="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ory_autumn_solar_term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2026-09-04T02:06:40Z</dcterms:created>
  <dcterms:modified xsi:type="dcterms:W3CDTF">2026-09-04T02:06:40Z</dcterms:modified>
  <cp:category/>
  <cp:contentStatus/>
</cp:coreProperties>
</file>