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001.xml" ContentType="application/vnd.openxmlformats-officedocument.drawingml.chart+xml"/>
  <Override PartName="/ppt/charts/chart1201.xml" ContentType="application/vnd.openxmlformats-officedocument.drawingml.chart+xml"/>
  <Override PartName="/ppt/charts/chart1301.xml" ContentType="application/vnd.openxmlformats-officedocument.drawingml.chart+xml"/>
  <Override PartName="/ppt/charts/chart201.xml" ContentType="application/vnd.openxmlformats-officedocument.drawingml.chart+xml"/>
  <Override PartName="/ppt/charts/chart202.xml" ContentType="application/vnd.openxmlformats-officedocument.drawingml.chart+xml"/>
  <Override PartName="/ppt/charts/chart301.xml" ContentType="application/vnd.openxmlformats-officedocument.drawingml.chart+xml"/>
  <Override PartName="/ppt/charts/chart601.xml" ContentType="application/vnd.openxmlformats-officedocument.drawingml.chart+xml"/>
  <Override PartName="/ppt/charts/chart9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201.xml.rels><?xml version="1.0" encoding="UTF-8" standalone="yes"?>
<Relationships xmlns="http://schemas.openxmlformats.org/package/2006/relationships">
<Relationship Id="rId1" Type="http://schemas.openxmlformats.org/officeDocument/2006/relationships/package" Target="../embeddings/Microsoft_Excel_Sheet201.xlsx"/>
</Relationships>
</file>

<file path=ppt/charts/_rels/chart202.xml.rels><?xml version="1.0" encoding="UTF-8" standalone="yes"?>
<Relationships xmlns="http://schemas.openxmlformats.org/package/2006/relationships">
<Relationship Id="rId1" Type="http://schemas.openxmlformats.org/officeDocument/2006/relationships/package" Target="../embeddings/Microsoft_Excel_Sheet202.xlsx"/>
</Relationships>
</file>

<file path=ppt/charts/_rels/chart301.xml.rels><?xml version="1.0" encoding="UTF-8" standalone="yes"?>
<Relationships xmlns="http://schemas.openxmlformats.org/package/2006/relationships">
<Relationship Id="rId1" Type="http://schemas.openxmlformats.org/officeDocument/2006/relationships/package" Target="../embeddings/Microsoft_Excel_Sheet301.xlsx"/>
</Relationships>
</file>

<file path=ppt/charts/_rels/chart601.xml.rels><?xml version="1.0" encoding="UTF-8" standalone="yes"?>
<Relationships xmlns="http://schemas.openxmlformats.org/package/2006/relationships">
<Relationship Id="rId1" Type="http://schemas.openxmlformats.org/officeDocument/2006/relationships/package" Target="../embeddings/Microsoft_Excel_Sheet601.xlsx"/>
</Relationships>
</file>

<file path=ppt/charts/_rels/chart901.xml.rels><?xml version="1.0" encoding="UTF-8" standalone="yes"?>
<Relationships xmlns="http://schemas.openxmlformats.org/package/2006/relationships">
<Relationship Id="rId1" Type="http://schemas.openxmlformats.org/officeDocument/2006/relationships/package" Target="../embeddings/Microsoft_Excel_Sheet901.xlsx"/>
</Relationships>
</file>

<file path=ppt/charts/_rels/chart1001.xml.rels><?xml version="1.0" encoding="UTF-8" standalone="yes"?>
<Relationships xmlns="http://schemas.openxmlformats.org/package/2006/relationships">
<Relationship Id="rId1" Type="http://schemas.openxmlformats.org/officeDocument/2006/relationships/package" Target="../embeddings/Microsoft_Excel_Sheet1001.xlsx"/>
</Relationships>
</file>

<file path=ppt/charts/_rels/chart1201.xml.rels><?xml version="1.0" encoding="UTF-8" standalone="yes"?>
<Relationships xmlns="http://schemas.openxmlformats.org/package/2006/relationships">
<Relationship Id="rId1" Type="http://schemas.openxmlformats.org/officeDocument/2006/relationships/package" Target="../embeddings/Microsoft_Excel_Sheet1201.xlsx"/>
</Relationships>
</file>

<file path=ppt/charts/_rels/chart1301.xml.rels><?xml version="1.0" encoding="UTF-8" standalone="yes"?>
<Relationships xmlns="http://schemas.openxmlformats.org/package/2006/relationships">
<Relationship Id="rId1" Type="http://schemas.openxmlformats.org/officeDocument/2006/relationships/package" Target="../embeddings/Microsoft_Excel_Sheet1301.xlsx"/>
</Relationships>
</file>

<file path=ppt/charts/chart2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871794871795"/>
          <c:y val="0.077380952381"/>
          <c:w val="0.897435897436"/>
          <c:h val="0.744047619048"/>
        </c:manualLayout>
      </c:layout>
      <c:lineChart>
        <c:grouping val="standard"/>
        <c:varyColors val="0"/>
        <c:ser>
          <c:idx val="0"/>
          <c:order val="0"/>
          <c:tx>
            <c:strRef>
              <c:f>Sheet1!$B$1</c:f>
              <c:strCache>
                <c:ptCount val="1"/>
                <c:pt idx="0">
                  <c:v>公用事业级光伏 LCOE 均值（USD/MWh）</c:v>
                </c:pt>
              </c:strCache>
            </c:strRef>
          </c:tx>
          <c:spPr>
            <a:solidFill>
              <a:schemeClr val="accent1"/>
            </a:solidFill>
            <a:ln>
              <a:solidFill>
                <a:schemeClr val="accent1"/>
              </a:solidFill>
            </a:ln>
          </c:spPr>
          <c:marker>
            <c:symbol val="circle"/>
            <c:size val="8"/>
            <c:spPr>
              <a:solidFill>
                <a:schemeClr val="accent1"/>
              </a:solidFill>
              <a:ln>
                <a:solidFill>
                  <a:schemeClr val="accent1"/>
                </a:solidFill>
              </a:ln>
            </c:spPr>
          </c:marker>
          <c:dPt>
            <c:idx val="0"/>
            <c:marker>
              <c:symbol val="circle"/>
              <c:size val="8"/>
              <c:spPr>
                <a:solidFill>
                  <a:schemeClr val="accent1"/>
                </a:solidFill>
                <a:ln>
                  <a:solidFill>
                    <a:schemeClr val="accent1"/>
                  </a:solidFill>
                </a:ln>
              </c:spPr>
            </c:marker>
          </c:dPt>
          <c:dPt>
            <c:idx val="1"/>
            <c:marker>
              <c:symbol val="circle"/>
              <c:size val="8"/>
              <c:spPr>
                <a:solidFill>
                  <a:schemeClr val="accent1"/>
                </a:solidFill>
                <a:ln>
                  <a:solidFill>
                    <a:schemeClr val="accent1"/>
                  </a:solidFill>
                </a:ln>
              </c:spPr>
            </c:marker>
          </c:dPt>
          <c:dPt>
            <c:idx val="2"/>
            <c:marker>
              <c:symbol val="circle"/>
              <c:size val="8"/>
              <c:spPr>
                <a:solidFill>
                  <a:schemeClr val="accent1"/>
                </a:solidFill>
                <a:ln>
                  <a:solidFill>
                    <a:schemeClr val="accent1"/>
                  </a:solidFill>
                </a:ln>
              </c:spPr>
            </c:marker>
          </c:dPt>
          <c:dPt>
            <c:idx val="3"/>
            <c:marker>
              <c:symbol val="circle"/>
              <c:size val="8"/>
              <c:spPr>
                <a:solidFill>
                  <a:schemeClr val="accent2"/>
                </a:solidFill>
                <a:ln>
                  <a:solidFill>
                    <a:schemeClr val="accent2"/>
                  </a:solidFill>
                </a:ln>
              </c:spPr>
            </c:marker>
          </c:dPt>
          <c:dPt>
            <c:idx val="4"/>
            <c:marker>
              <c:symbol val="none"/>
            </c:marker>
          </c:dPt>
          <c:dPt>
            <c:idx val="5"/>
            <c:marker>
              <c:symbol val="none"/>
            </c:marker>
          </c:dPt>
          <c:dPt>
            <c:idx val="6"/>
            <c:marker>
              <c:symbol val="none"/>
            </c:marker>
          </c:dPt>
          <c:dPt>
            <c:idx val="7"/>
            <c:marker>
              <c:symbol val="none"/>
            </c:marker>
          </c:dPt>
          <c:cat>
            <c:strRef>
              <c:f>Sheet1!$A$2:$A$9</c:f>
              <c:strCache>
                <c:ptCount val="8"/>
                <c:pt idx="0">
                  <c:v>2018</c:v>
                </c:pt>
                <c:pt idx="1">
                  <c:v>2019</c:v>
                </c:pt>
                <c:pt idx="2">
                  <c:v>2020</c:v>
                </c:pt>
                <c:pt idx="3">
                  <c:v>2021</c:v>
                </c:pt>
                <c:pt idx="4">
                  <c:v>2023</c:v>
                </c:pt>
                <c:pt idx="5">
                  <c:v>2024</c:v>
                </c:pt>
                <c:pt idx="6">
                  <c:v>2025</c:v>
                </c:pt>
                <c:pt idx="7">
                  <c:v>2026</c:v>
                </c:pt>
              </c:strCache>
            </c:strRef>
          </c:cat>
          <c:val>
            <c:numRef>
              <c:f>Sheet1!$B$2:$B$9</c:f>
              <c:numCache>
                <c:formatCode>General</c:formatCode>
                <c:ptCount val="8"/>
                <c:pt idx="0">
                  <c:v>43</c:v>
                </c:pt>
                <c:pt idx="1">
                  <c:v>40</c:v>
                </c:pt>
                <c:pt idx="2">
                  <c:v>37</c:v>
                </c:pt>
                <c:pt idx="3">
                  <c:v>36</c:v>
                </c:pt>
              </c:numCache>
            </c:numRef>
          </c:val>
          <c:smooth val="0"/>
        </c:ser>
        <c:ser>
          <c:idx val="1"/>
          <c:order val="1"/>
          <c:tx>
            <c:strRef>
              <c:f>Sheet1!$C$1</c:f>
              <c:strCache>
                <c:ptCount val="1"/>
                <c:pt idx="0">
                  <c:v>2023 年起（2022 年无版本）</c:v>
                </c:pt>
              </c:strCache>
            </c:strRef>
          </c:tx>
          <c:spPr>
            <a:solidFill>
              <a:schemeClr val="accent1"/>
            </a:solidFill>
            <a:ln>
              <a:solidFill>
                <a:schemeClr val="accent1"/>
              </a:solidFill>
            </a:ln>
          </c:spPr>
          <c:marker>
            <c:symbol val="circle"/>
            <c:size val="8"/>
            <c:spPr>
              <a:solidFill>
                <a:schemeClr val="accent1"/>
              </a:solidFill>
              <a:ln>
                <a:solidFill>
                  <a:schemeClr val="accent1"/>
                </a:solidFill>
              </a:ln>
            </c:spPr>
          </c:marker>
          <c:dPt>
            <c:idx val="0"/>
            <c:marker>
              <c:symbol val="none"/>
            </c:marker>
          </c:dPt>
          <c:dPt>
            <c:idx val="1"/>
            <c:marker>
              <c:symbol val="none"/>
            </c:marker>
          </c:dPt>
          <c:dPt>
            <c:idx val="2"/>
            <c:marker>
              <c:symbol val="none"/>
            </c:marker>
          </c:dPt>
          <c:dPt>
            <c:idx val="3"/>
            <c:marker>
              <c:symbol val="none"/>
            </c:marker>
          </c:dPt>
          <c:dPt>
            <c:idx val="4"/>
            <c:marker>
              <c:symbol val="circle"/>
              <c:size val="8"/>
              <c:spPr>
                <a:solidFill>
                  <a:schemeClr val="accent1"/>
                </a:solidFill>
                <a:ln>
                  <a:solidFill>
                    <a:schemeClr val="accent1"/>
                  </a:solidFill>
                </a:ln>
              </c:spPr>
            </c:marker>
          </c:dPt>
          <c:dPt>
            <c:idx val="5"/>
            <c:marker>
              <c:symbol val="circle"/>
              <c:size val="8"/>
              <c:spPr>
                <a:solidFill>
                  <a:schemeClr val="accent1"/>
                </a:solidFill>
                <a:ln>
                  <a:solidFill>
                    <a:schemeClr val="accent1"/>
                  </a:solidFill>
                </a:ln>
              </c:spPr>
            </c:marker>
          </c:dPt>
          <c:dPt>
            <c:idx val="6"/>
            <c:marker>
              <c:symbol val="circle"/>
              <c:size val="8"/>
              <c:spPr>
                <a:solidFill>
                  <a:schemeClr val="accent1"/>
                </a:solidFill>
                <a:ln>
                  <a:solidFill>
                    <a:schemeClr val="accent1"/>
                  </a:solidFill>
                </a:ln>
              </c:spPr>
            </c:marker>
          </c:dPt>
          <c:dPt>
            <c:idx val="7"/>
            <c:marker>
              <c:symbol val="circle"/>
              <c:size val="8"/>
              <c:spPr>
                <a:solidFill>
                  <a:schemeClr val="accent2"/>
                </a:solidFill>
                <a:ln>
                  <a:solidFill>
                    <a:schemeClr val="accent2"/>
                  </a:solidFill>
                </a:ln>
              </c:spPr>
            </c:marker>
          </c:dPt>
          <c:cat>
            <c:strRef>
              <c:f>Sheet1!$A$2:$A$9</c:f>
              <c:strCache>
                <c:ptCount val="8"/>
                <c:pt idx="0">
                  <c:v>2018</c:v>
                </c:pt>
                <c:pt idx="1">
                  <c:v>2019</c:v>
                </c:pt>
                <c:pt idx="2">
                  <c:v>2020</c:v>
                </c:pt>
                <c:pt idx="3">
                  <c:v>2021</c:v>
                </c:pt>
                <c:pt idx="4">
                  <c:v>2023</c:v>
                </c:pt>
                <c:pt idx="5">
                  <c:v>2024</c:v>
                </c:pt>
                <c:pt idx="6">
                  <c:v>2025</c:v>
                </c:pt>
                <c:pt idx="7">
                  <c:v>2026</c:v>
                </c:pt>
              </c:strCache>
            </c:strRef>
          </c:cat>
          <c:val>
            <c:numRef>
              <c:f>Sheet1!$C$2:$C$9</c:f>
              <c:numCache>
                <c:formatCode>General</c:formatCode>
                <c:ptCount val="8"/>
                <c:pt idx="4">
                  <c:v>60</c:v>
                </c:pt>
                <c:pt idx="5">
                  <c:v>61</c:v>
                </c:pt>
                <c:pt idx="6">
                  <c:v>58</c:v>
                </c:pt>
                <c:pt idx="7">
                  <c:v>69</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80"/>
          <c:min val="0"/>
        </c:scaling>
        <c:delete val="0"/>
        <c:axPos val="l"/>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autoZero"/>
        <c:crossBetween val="between"/>
        <c:majorUnit val="20"/>
      </c:valAx>
      <c:spPr>
        <a:solidFill>
          <a:srgbClr val="FFFFFF"/>
        </a:solidFill>
        <a:ln>
          <a:noFill/>
        </a:ln>
      </c:spPr>
    </c:plotArea>
    <c:plotVisOnly val="1"/>
    <c:dispBlanksAs val="gap"/>
  </c:chart>
  <c:spPr>
    <a:solidFill>
      <a:srgbClr val="FFFFFF"/>
    </a:solidFill>
    <a:ln>
      <a:noFill/>
    </a:ln>
  </c:spPr>
  <c:txPr>
    <a:bodyPr/>
    <a:lstStyle/>
    <a:p>
      <a:pPr>
        <a:defRPr lang="zh-CN" sz="1500">
          <a:solidFill>
            <a:schemeClr val="accent3"/>
          </a:solidFill>
          <a:latin typeface="Arial"/>
          <a:ea typeface="Microsoft YaHei"/>
          <a:cs typeface="Arial"/>
        </a:defRPr>
      </a:pPr>
      <a:endParaRPr lang="zh-CN"/>
    </a:p>
  </c:txPr>
  <c:externalData r:id="rId1">
    <c:autoUpdate val="0"/>
  </c:externalData>
</c:chartSpace>
</file>

<file path=ppt/charts/chart2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203703703704"/>
          <c:y val="0.212962962963"/>
          <c:w val="0.765432098765"/>
          <c:h val="0.601851851852"/>
        </c:manualLayout>
      </c:layout>
      <c:lineChart>
        <c:grouping val="standard"/>
        <c:varyColors val="0"/>
        <c:ser>
          <c:idx val="0"/>
          <c:order val="0"/>
          <c:tx>
            <c:strRef>
              <c:f>Sheet1!$B$1</c:f>
              <c:strCache>
                <c:ptCount val="1"/>
                <c:pt idx="0">
                  <c:v>同一序列全程（USD/MWh）</c:v>
                </c:pt>
              </c:strCache>
            </c:strRef>
          </c:tx>
          <c:spPr>
            <a:solidFill>
              <a:schemeClr val="accent1"/>
            </a:solidFill>
            <a:ln>
              <a:solidFill>
                <a:schemeClr val="accent1"/>
              </a:solidFill>
            </a:ln>
          </c:spPr>
          <c:marker>
            <c:symbol val="none"/>
          </c:marker>
          <c:dPt>
            <c:idx val="0"/>
            <c:marker>
              <c:symbol val="circle"/>
              <c:size val="8"/>
              <c:spPr>
                <a:solidFill>
                  <a:schemeClr val="accent1"/>
                </a:solidFill>
                <a:ln>
                  <a:solidFill>
                    <a:schemeClr val="accent1"/>
                  </a:solidFill>
                </a:ln>
              </c:spPr>
            </c:marker>
          </c:dPt>
          <c:dPt>
            <c:idx val="1"/>
            <c:marker>
              <c:symbol val="none"/>
            </c:marker>
          </c:dPt>
          <c:dPt>
            <c:idx val="2"/>
            <c:marker>
              <c:symbol val="none"/>
            </c:marker>
          </c:dPt>
          <c:dPt>
            <c:idx val="3"/>
            <c:marker>
              <c:symbol val="none"/>
            </c:marker>
          </c:dPt>
          <c:dPt>
            <c:idx val="4"/>
            <c:marker>
              <c:symbol val="none"/>
            </c:marker>
          </c:dPt>
          <c:dPt>
            <c:idx val="5"/>
            <c:marker>
              <c:symbol val="none"/>
            </c:marker>
          </c:dPt>
          <c:dPt>
            <c:idx val="6"/>
            <c:marker>
              <c:symbol val="none"/>
            </c:marker>
          </c:dPt>
          <c:dPt>
            <c:idx val="7"/>
            <c:marker>
              <c:symbol val="none"/>
            </c:marker>
          </c:dPt>
          <c:dPt>
            <c:idx val="8"/>
            <c:marker>
              <c:symbol val="none"/>
            </c:marker>
          </c:dPt>
          <c:dPt>
            <c:idx val="9"/>
            <c:marker>
              <c:symbol val="none"/>
            </c:marker>
          </c:dPt>
          <c:dPt>
            <c:idx val="10"/>
            <c:marker>
              <c:symbol val="none"/>
            </c:marker>
          </c:dPt>
          <c:dPt>
            <c:idx val="11"/>
            <c:marker>
              <c:symbol val="none"/>
            </c:marker>
          </c:dPt>
          <c:dPt>
            <c:idx val="12"/>
            <c:marker>
              <c:symbol val="none"/>
            </c:marker>
          </c:dPt>
          <c:dPt>
            <c:idx val="13"/>
            <c:marker>
              <c:symbol val="none"/>
            </c:marker>
          </c:dPt>
          <c:dPt>
            <c:idx val="14"/>
            <c:marker>
              <c:symbol val="none"/>
            </c:marker>
          </c:dPt>
          <c:dPt>
            <c:idx val="15"/>
            <c:marker>
              <c:symbol val="none"/>
            </c:marker>
          </c:dPt>
          <c:dPt>
            <c:idx val="16"/>
            <c:marker>
              <c:symbol val="circle"/>
              <c:size val="8"/>
              <c:spPr>
                <a:solidFill>
                  <a:schemeClr val="accent1"/>
                </a:solidFill>
                <a:ln>
                  <a:solidFill>
                    <a:schemeClr val="accent1"/>
                  </a:solidFill>
                </a:ln>
              </c:spPr>
            </c:marker>
          </c:dPt>
          <c:cat>
            <c:strRef>
              <c:f>Sheet1!$A$2:$A$18</c:f>
              <c:strCache>
                <c:ptCount val="17"/>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2023</c:v>
                </c:pt>
                <c:pt idx="14">
                  <c:v>2024</c:v>
                </c:pt>
                <c:pt idx="15">
                  <c:v>2025</c:v>
                </c:pt>
                <c:pt idx="16">
                  <c:v>2026</c:v>
                </c:pt>
              </c:strCache>
            </c:strRef>
          </c:cat>
          <c:val>
            <c:numRef>
              <c:f>Sheet1!$B$2:$B$18</c:f>
              <c:numCache>
                <c:formatCode>General</c:formatCode>
                <c:ptCount val="17"/>
                <c:pt idx="0">
                  <c:v>359</c:v>
                </c:pt>
                <c:pt idx="1">
                  <c:v>248</c:v>
                </c:pt>
                <c:pt idx="2">
                  <c:v>157</c:v>
                </c:pt>
                <c:pt idx="3">
                  <c:v>125</c:v>
                </c:pt>
                <c:pt idx="4">
                  <c:v>98</c:v>
                </c:pt>
                <c:pt idx="5">
                  <c:v>79</c:v>
                </c:pt>
                <c:pt idx="6">
                  <c:v>64</c:v>
                </c:pt>
                <c:pt idx="7">
                  <c:v>55</c:v>
                </c:pt>
                <c:pt idx="8">
                  <c:v>50</c:v>
                </c:pt>
                <c:pt idx="9">
                  <c:v>43</c:v>
                </c:pt>
                <c:pt idx="10">
                  <c:v>40</c:v>
                </c:pt>
                <c:pt idx="11">
                  <c:v>37</c:v>
                </c:pt>
                <c:pt idx="12">
                  <c:v>36</c:v>
                </c:pt>
                <c:pt idx="13">
                  <c:v>60</c:v>
                </c:pt>
                <c:pt idx="14">
                  <c:v>61</c:v>
                </c:pt>
                <c:pt idx="15">
                  <c:v>58</c:v>
                </c:pt>
                <c:pt idx="16">
                  <c:v>69</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one"/>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400"/>
          <c:min val="0"/>
        </c:scaling>
        <c:delete val="0"/>
        <c:axPos val="l"/>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autoZero"/>
        <c:crossBetween val="between"/>
        <c:majorUnit val="200"/>
      </c:valAx>
      <c:spPr>
        <a:solidFill>
          <a:srgbClr val="FFFFFF"/>
        </a:solidFill>
        <a:ln>
          <a:noFill/>
        </a:ln>
      </c:spPr>
    </c:plotArea>
    <c:plotVisOnly val="1"/>
    <c:dispBlanksAs val="gap"/>
  </c:chart>
  <c:spPr>
    <a:solidFill>
      <a:srgbClr val="FFFFFF"/>
    </a:solidFill>
    <a:ln>
      <a:noFill/>
    </a:ln>
  </c:spPr>
  <c:txPr>
    <a:bodyPr/>
    <a:lstStyle/>
    <a:p>
      <a:pPr>
        <a:defRPr lang="zh-CN" sz="1500">
          <a:solidFill>
            <a:schemeClr val="accent3"/>
          </a:solidFill>
          <a:latin typeface="Arial"/>
          <a:ea typeface="Microsoft YaHei"/>
          <a:cs typeface="Arial"/>
        </a:defRPr>
      </a:pPr>
      <a:endParaRPr lang="zh-CN"/>
    </a:p>
  </c:txPr>
  <c:externalData r:id="rId1">
    <c:autoUpdate val="0"/>
  </c:externalData>
</c:chartSpace>
</file>

<file path=ppt/charts/chart3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434447300771"/>
          <c:y val="0.0507614213198"/>
          <c:w val="0.526992287918"/>
          <c:h val="0.847715736041"/>
        </c:manualLayout>
      </c:layout>
      <c:barChart>
        <c:barDir val="bar"/>
        <c:grouping val="stacked"/>
        <c:varyColors val="1"/>
        <c:ser>
          <c:idx val="0"/>
          <c:order val="0"/>
          <c:tx>
            <c:strRef>
              <c:f>Sheet1!$B$1</c:f>
              <c:strCache>
                <c:ptCount val="1"/>
                <c:pt idx="0">
                  <c:v>成本下限</c:v>
                </c:pt>
              </c:strCache>
            </c:strRef>
          </c:tx>
          <c:spPr>
            <a:solidFill>
              <a:schemeClr val="accent3"/>
            </a:solidFill>
            <a:ln>
              <a:solidFill>
                <a:schemeClr val="accent3"/>
              </a:solidFill>
            </a:ln>
          </c:spPr>
          <c:invertIfNegative val="0"/>
          <c:dPt>
            <c:idx val="0"/>
            <c:invertIfNegative val="0"/>
            <c:spPr>
              <a:solidFill>
                <a:schemeClr val="accent3"/>
              </a:solidFill>
              <a:ln>
                <a:solidFill>
                  <a:schemeClr val="accent3"/>
                </a:solidFill>
              </a:ln>
            </c:spPr>
          </c:dPt>
          <c:dPt>
            <c:idx val="1"/>
            <c:invertIfNegative val="0"/>
            <c:spPr>
              <a:solidFill>
                <a:schemeClr val="accent2"/>
              </a:solidFill>
              <a:ln>
                <a:solidFill>
                  <a:schemeClr val="accent2"/>
                </a:solidFill>
              </a:ln>
            </c:spPr>
          </c:dPt>
          <c:dPt>
            <c:idx val="2"/>
            <c:invertIfNegative val="0"/>
            <c:spPr>
              <a:solidFill>
                <a:schemeClr val="accent3"/>
              </a:solidFill>
              <a:ln>
                <a:solidFill>
                  <a:schemeClr val="accent3"/>
                </a:solidFill>
              </a:ln>
            </c:spPr>
          </c:dPt>
          <c:dPt>
            <c:idx val="3"/>
            <c:invertIfNegative val="0"/>
            <c:spPr>
              <a:solidFill>
                <a:schemeClr val="accent3"/>
              </a:solidFill>
              <a:ln>
                <a:solidFill>
                  <a:schemeClr val="accent3"/>
                </a:solidFill>
              </a:ln>
            </c:spPr>
          </c:dPt>
          <c:dPt>
            <c:idx val="4"/>
            <c:invertIfNegative val="0"/>
            <c:spPr>
              <a:solidFill>
                <a:schemeClr val="accent3"/>
              </a:solidFill>
              <a:ln>
                <a:solidFill>
                  <a:schemeClr val="accent3"/>
                </a:solidFill>
              </a:ln>
            </c:spPr>
          </c:dPt>
          <c:dPt>
            <c:idx val="5"/>
            <c:invertIfNegative val="0"/>
            <c:spPr>
              <a:solidFill>
                <a:schemeClr val="accent3"/>
              </a:solidFill>
              <a:ln>
                <a:solidFill>
                  <a:schemeClr val="accent3"/>
                </a:solidFill>
              </a:ln>
            </c:spPr>
          </c:dPt>
          <c:dPt>
            <c:idx val="6"/>
            <c:invertIfNegative val="0"/>
            <c:spPr>
              <a:solidFill>
                <a:schemeClr val="accent3"/>
              </a:solidFill>
              <a:ln>
                <a:solidFill>
                  <a:schemeClr val="accent3"/>
                </a:solidFill>
              </a:ln>
            </c:spPr>
          </c:dPt>
          <c:dPt>
            <c:idx val="7"/>
            <c:invertIfNegative val="0"/>
            <c:spPr>
              <a:solidFill>
                <a:schemeClr val="accent3"/>
              </a:solidFill>
              <a:ln>
                <a:solidFill>
                  <a:schemeClr val="accent3"/>
                </a:solidFill>
              </a:ln>
            </c:spPr>
          </c:dPt>
          <c:dPt>
            <c:idx val="8"/>
            <c:invertIfNegative val="0"/>
            <c:spPr>
              <a:solidFill>
                <a:schemeClr val="accent3"/>
              </a:solidFill>
              <a:ln>
                <a:solidFill>
                  <a:schemeClr val="accent3"/>
                </a:solidFill>
              </a:ln>
            </c:spPr>
          </c:dPt>
          <c:dPt>
            <c:idx val="9"/>
            <c:invertIfNegative val="0"/>
            <c:spPr>
              <a:solidFill>
                <a:schemeClr val="accent3"/>
              </a:solidFill>
              <a:ln>
                <a:solidFill>
                  <a:schemeClr val="accent3"/>
                </a:solidFill>
              </a:ln>
            </c:spPr>
          </c:dPt>
          <c:cat>
            <c:strRef>
              <c:f>Sheet1!$A$2:$A$11</c:f>
              <c:strCache>
                <c:ptCount val="10"/>
                <c:pt idx="0">
                  <c:v>陆上风电 $37–$99</c:v>
                </c:pt>
                <c:pt idx="1">
                  <c:v>公用事业级光伏 $40–$98</c:v>
                </c:pt>
                <c:pt idx="2">
                  <c:v>陆上风电+储能 $49–$140</c:v>
                </c:pt>
                <c:pt idx="3">
                  <c:v>天然气联合循环 $51–$129</c:v>
                </c:pt>
                <c:pt idx="4">
                  <c:v>光伏+储能 $61–$156</c:v>
                </c:pt>
                <c:pt idx="5">
                  <c:v>燃煤 $72–$177</c:v>
                </c:pt>
                <c:pt idx="6">
                  <c:v>社区级与工商业光伏 $88–$197</c:v>
                </c:pt>
                <c:pt idx="7">
                  <c:v>海上风电 $105–$167</c:v>
                </c:pt>
                <c:pt idx="8">
                  <c:v>天然气调峰 $144–$276</c:v>
                </c:pt>
                <c:pt idx="9">
                  <c:v>美国核电 $175–$255</c:v>
                </c:pt>
              </c:strCache>
            </c:strRef>
          </c:cat>
          <c:val>
            <c:numRef>
              <c:f>Sheet1!$B$2:$B$11</c:f>
              <c:numCache>
                <c:formatCode>General</c:formatCode>
                <c:ptCount val="10"/>
                <c:pt idx="0">
                  <c:v>37</c:v>
                </c:pt>
                <c:pt idx="1">
                  <c:v>40</c:v>
                </c:pt>
                <c:pt idx="2">
                  <c:v>49</c:v>
                </c:pt>
                <c:pt idx="3">
                  <c:v>51</c:v>
                </c:pt>
                <c:pt idx="4">
                  <c:v>61</c:v>
                </c:pt>
                <c:pt idx="5">
                  <c:v>72</c:v>
                </c:pt>
                <c:pt idx="6">
                  <c:v>88</c:v>
                </c:pt>
                <c:pt idx="7">
                  <c:v>105</c:v>
                </c:pt>
                <c:pt idx="8">
                  <c:v>144</c:v>
                </c:pt>
                <c:pt idx="9">
                  <c:v>175</c:v>
                </c:pt>
              </c:numCache>
            </c:numRef>
          </c:val>
        </c:ser>
        <c:ser>
          <c:idx val="1"/>
          <c:order val="1"/>
          <c:tx>
            <c:strRef>
              <c:f>Sheet1!$C$1</c:f>
              <c:strCache>
                <c:ptCount val="1"/>
                <c:pt idx="0">
                  <c:v>区间上探至上限</c:v>
                </c:pt>
              </c:strCache>
            </c:strRef>
          </c:tx>
          <c:spPr>
            <a:solidFill>
              <a:srgbClr val="D4D4D4"/>
            </a:solidFill>
            <a:ln>
              <a:solidFill>
                <a:srgbClr val="D4D4D4"/>
              </a:solidFill>
            </a:ln>
          </c:spPr>
          <c:invertIfNegative val="0"/>
          <c:dPt>
            <c:idx val="0"/>
            <c:invertIfNegative val="0"/>
            <c:spPr>
              <a:solidFill>
                <a:srgbClr val="D4D4D4"/>
              </a:solidFill>
              <a:ln>
                <a:solidFill>
                  <a:srgbClr val="D4D4D4"/>
                </a:solidFill>
              </a:ln>
            </c:spPr>
          </c:dPt>
          <c:dPt>
            <c:idx val="1"/>
            <c:invertIfNegative val="0"/>
            <c:spPr>
              <a:solidFill>
                <a:srgbClr val="D4D4D4"/>
              </a:solidFill>
              <a:ln>
                <a:solidFill>
                  <a:srgbClr val="D4D4D4"/>
                </a:solidFill>
              </a:ln>
            </c:spPr>
          </c:dPt>
          <c:dPt>
            <c:idx val="2"/>
            <c:invertIfNegative val="0"/>
            <c:spPr>
              <a:solidFill>
                <a:srgbClr val="D4D4D4"/>
              </a:solidFill>
              <a:ln>
                <a:solidFill>
                  <a:srgbClr val="D4D4D4"/>
                </a:solidFill>
              </a:ln>
            </c:spPr>
          </c:dPt>
          <c:dPt>
            <c:idx val="3"/>
            <c:invertIfNegative val="0"/>
            <c:spPr>
              <a:solidFill>
                <a:srgbClr val="D4D4D4"/>
              </a:solidFill>
              <a:ln>
                <a:solidFill>
                  <a:srgbClr val="D4D4D4"/>
                </a:solidFill>
              </a:ln>
            </c:spPr>
          </c:dPt>
          <c:dPt>
            <c:idx val="4"/>
            <c:invertIfNegative val="0"/>
            <c:spPr>
              <a:solidFill>
                <a:srgbClr val="D4D4D4"/>
              </a:solidFill>
              <a:ln>
                <a:solidFill>
                  <a:srgbClr val="D4D4D4"/>
                </a:solidFill>
              </a:ln>
            </c:spPr>
          </c:dPt>
          <c:dPt>
            <c:idx val="5"/>
            <c:invertIfNegative val="0"/>
            <c:spPr>
              <a:solidFill>
                <a:srgbClr val="D4D4D4"/>
              </a:solidFill>
              <a:ln>
                <a:solidFill>
                  <a:srgbClr val="D4D4D4"/>
                </a:solidFill>
              </a:ln>
            </c:spPr>
          </c:dPt>
          <c:dPt>
            <c:idx val="6"/>
            <c:invertIfNegative val="0"/>
            <c:spPr>
              <a:solidFill>
                <a:srgbClr val="D4D4D4"/>
              </a:solidFill>
              <a:ln>
                <a:solidFill>
                  <a:srgbClr val="D4D4D4"/>
                </a:solidFill>
              </a:ln>
            </c:spPr>
          </c:dPt>
          <c:dPt>
            <c:idx val="7"/>
            <c:invertIfNegative val="0"/>
            <c:spPr>
              <a:solidFill>
                <a:srgbClr val="D4D4D4"/>
              </a:solidFill>
              <a:ln>
                <a:solidFill>
                  <a:srgbClr val="D4D4D4"/>
                </a:solidFill>
              </a:ln>
            </c:spPr>
          </c:dPt>
          <c:dPt>
            <c:idx val="8"/>
            <c:invertIfNegative val="0"/>
            <c:spPr>
              <a:solidFill>
                <a:srgbClr val="D4D4D4"/>
              </a:solidFill>
              <a:ln>
                <a:solidFill>
                  <a:srgbClr val="D4D4D4"/>
                </a:solidFill>
              </a:ln>
            </c:spPr>
          </c:dPt>
          <c:dPt>
            <c:idx val="9"/>
            <c:invertIfNegative val="0"/>
            <c:spPr>
              <a:solidFill>
                <a:srgbClr val="D4D4D4"/>
              </a:solidFill>
              <a:ln>
                <a:solidFill>
                  <a:srgbClr val="D4D4D4"/>
                </a:solidFill>
              </a:ln>
            </c:spPr>
          </c:dPt>
          <c:cat>
            <c:strRef>
              <c:f>Sheet1!$A$2:$A$11</c:f>
              <c:strCache>
                <c:ptCount val="10"/>
                <c:pt idx="0">
                  <c:v>陆上风电 $37–$99</c:v>
                </c:pt>
                <c:pt idx="1">
                  <c:v>公用事业级光伏 $40–$98</c:v>
                </c:pt>
                <c:pt idx="2">
                  <c:v>陆上风电+储能 $49–$140</c:v>
                </c:pt>
                <c:pt idx="3">
                  <c:v>天然气联合循环 $51–$129</c:v>
                </c:pt>
                <c:pt idx="4">
                  <c:v>光伏+储能 $61–$156</c:v>
                </c:pt>
                <c:pt idx="5">
                  <c:v>燃煤 $72–$177</c:v>
                </c:pt>
                <c:pt idx="6">
                  <c:v>社区级与工商业光伏 $88–$197</c:v>
                </c:pt>
                <c:pt idx="7">
                  <c:v>海上风电 $105–$167</c:v>
                </c:pt>
                <c:pt idx="8">
                  <c:v>天然气调峰 $144–$276</c:v>
                </c:pt>
                <c:pt idx="9">
                  <c:v>美国核电 $175–$255</c:v>
                </c:pt>
              </c:strCache>
            </c:strRef>
          </c:cat>
          <c:val>
            <c:numRef>
              <c:f>Sheet1!$C$2:$C$11</c:f>
              <c:numCache>
                <c:formatCode>General</c:formatCode>
                <c:ptCount val="10"/>
                <c:pt idx="0">
                  <c:v>62</c:v>
                </c:pt>
                <c:pt idx="1">
                  <c:v>58</c:v>
                </c:pt>
                <c:pt idx="2">
                  <c:v>91</c:v>
                </c:pt>
                <c:pt idx="3">
                  <c:v>78</c:v>
                </c:pt>
                <c:pt idx="4">
                  <c:v>95</c:v>
                </c:pt>
                <c:pt idx="5">
                  <c:v>105</c:v>
                </c:pt>
                <c:pt idx="6">
                  <c:v>109</c:v>
                </c:pt>
                <c:pt idx="7">
                  <c:v>62</c:v>
                </c:pt>
                <c:pt idx="8">
                  <c:v>132</c:v>
                </c:pt>
                <c:pt idx="9">
                  <c:v>80</c:v>
                </c:pt>
              </c:numCache>
            </c:numRef>
          </c:val>
        </c:ser>
        <c:gapWidth val="67"/>
        <c:overlap val="100"/>
        <c:axId val="2068027336"/>
        <c:axId val="2113994440"/>
      </c:barChart>
      <c:catAx>
        <c:axId val="2068027336"/>
        <c:scaling>
          <c:orientation val="maxMin"/>
        </c:scaling>
        <c:delete val="0"/>
        <c:axPos val="l"/>
        <c:majorTickMark val="none"/>
        <c:minorTickMark val="none"/>
        <c:tickLblPos val="nextTo"/>
        <c:spPr>
          <a:ln w="9525" cap="flat" cmpd="sng" algn="ctr">
            <a:solidFill>
              <a:srgbClr val="D4D4D4"/>
            </a:solidFill>
            <a:round/>
          </a:ln>
        </c:spPr>
        <c:txPr>
          <a:bodyPr/>
          <a:lstStyle/>
          <a:p>
            <a:pPr>
              <a:defRPr lang="zh-CN" sz="1500">
                <a:solidFill>
                  <a:srgbClr val="1A1A1A"/>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300"/>
          <c:min val="0"/>
        </c:scaling>
        <c:delete val="0"/>
        <c:axPos val="b"/>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max"/>
        <c:crossBetween val="between"/>
        <c:majorUnit val="100"/>
      </c:valAx>
      <c:spPr>
        <a:solidFill>
          <a:srgbClr val="FFFFFF"/>
        </a:solidFill>
        <a:ln>
          <a:noFill/>
        </a:ln>
      </c:spPr>
    </c:plotArea>
    <c:plotVisOnly val="1"/>
    <c:dispBlanksAs val="gap"/>
  </c:chart>
  <c:spPr>
    <a:solidFill>
      <a:srgbClr val="FFFFFF"/>
    </a:solidFill>
    <a:ln>
      <a:noFill/>
    </a:ln>
  </c:spPr>
  <c:txPr>
    <a:bodyPr/>
    <a:lstStyle/>
    <a:p>
      <a:pPr>
        <a:defRPr lang="zh-CN" sz="1500">
          <a:solidFill>
            <a:srgbClr val="1A1A1A"/>
          </a:solidFill>
          <a:latin typeface="Microsoft YaHei"/>
          <a:ea typeface="Microsoft YaHei"/>
          <a:cs typeface="Microsoft YaHei"/>
        </a:defRPr>
      </a:pPr>
      <a:endParaRPr lang="zh-CN"/>
    </a:p>
  </c:txPr>
  <c:externalData r:id="rId1">
    <c:autoUpdate val="0"/>
  </c:externalData>
</c:chartSpace>
</file>

<file path=ppt/charts/chart6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23456790123"/>
          <c:y val="0.137362637363"/>
          <c:w val="0.833333333333"/>
          <c:h val="0.714285714286"/>
        </c:manualLayout>
      </c:layout>
      <c:areaChart>
        <c:grouping val="standard"/>
        <c:varyColors val="0"/>
        <c:ser>
          <c:idx val="0"/>
          <c:order val="0"/>
          <c:tx>
            <c:strRef>
              <c:f>Sheet1!$B$1</c:f>
              <c:strCache>
                <c:ptCount val="1"/>
                <c:pt idx="0">
                  <c:v>组件价格（constant 2025 USD/W）</c:v>
                </c:pt>
              </c:strCache>
            </c:strRef>
          </c:tx>
          <c:spPr>
            <a:solidFill>
              <a:schemeClr val="accent1">
                <a:alpha val="14000"/>
              </a:schemeClr>
            </a:solidFill>
            <a:ln>
              <a:noFill/>
            </a:ln>
          </c:spPr>
          <c:cat>
            <c:strRef>
              <c:f>Sheet1!$A$2:$A$8</c:f>
              <c:strCache>
                <c:ptCount val="7"/>
                <c:pt idx="0">
                  <c:v>2010</c:v>
                </c:pt>
                <c:pt idx="1">
                  <c:v>2015</c:v>
                </c:pt>
                <c:pt idx="2">
                  <c:v>2020</c:v>
                </c:pt>
                <c:pt idx="3">
                  <c:v>2021</c:v>
                </c:pt>
                <c:pt idx="4">
                  <c:v>2022</c:v>
                </c:pt>
                <c:pt idx="5">
                  <c:v>2023</c:v>
                </c:pt>
                <c:pt idx="6">
                  <c:v>2024</c:v>
                </c:pt>
              </c:strCache>
            </c:strRef>
          </c:cat>
          <c:val>
            <c:numRef>
              <c:f>Sheet1!$B$2:$B$8</c:f>
              <c:numCache>
                <c:formatCode>General</c:formatCode>
                <c:ptCount val="7"/>
                <c:pt idx="0">
                  <c:v>2.51</c:v>
                </c:pt>
                <c:pt idx="1">
                  <c:v>0.736</c:v>
                </c:pt>
                <c:pt idx="2">
                  <c:v>0.37</c:v>
                </c:pt>
                <c:pt idx="3">
                  <c:v>0.332</c:v>
                </c:pt>
                <c:pt idx="4">
                  <c:v>0.366</c:v>
                </c:pt>
                <c:pt idx="5">
                  <c:v>0.322</c:v>
                </c:pt>
                <c:pt idx="6">
                  <c:v>0.265</c:v>
                </c:pt>
              </c:numCache>
            </c:numRef>
          </c:val>
        </c:ser>
        <c:axId val="2068027336"/>
        <c:axId val="2113994440"/>
      </c:areaChart>
      <c:lineChart>
        <c:grouping val="standard"/>
        <c:varyColors val="0"/>
        <c:ser>
          <c:idx val="1"/>
          <c:order val="1"/>
          <c:tx>
            <c:strRef>
              <c:f>Sheet1!$C$1</c:f>
              <c:strCache>
                <c:ptCount val="1"/>
                <c:pt idx="0">
                  <c:v>组件价格（constant 2025 USD/W）（折线）</c:v>
                </c:pt>
              </c:strCache>
            </c:strRef>
          </c:tx>
          <c:spPr>
            <a:solidFill>
              <a:schemeClr val="accent1"/>
            </a:solidFill>
            <a:ln w="28575">
              <a:solidFill>
                <a:schemeClr val="accent1"/>
              </a:solidFill>
            </a:ln>
          </c:spPr>
          <c:marker>
            <c:symbol val="none"/>
          </c:marker>
          <c:dPt>
            <c:idx val="0"/>
            <c:marker>
              <c:symbol val="circle"/>
              <c:size val="8"/>
              <c:spPr>
                <a:solidFill>
                  <a:schemeClr val="accent1"/>
                </a:solidFill>
                <a:ln>
                  <a:solidFill>
                    <a:schemeClr val="accent1"/>
                  </a:solidFill>
                </a:ln>
              </c:spPr>
            </c:marker>
          </c:dPt>
          <c:dPt>
            <c:idx val="1"/>
            <c:marker>
              <c:symbol val="none"/>
            </c:marker>
          </c:dPt>
          <c:dPt>
            <c:idx val="2"/>
            <c:marker>
              <c:symbol val="none"/>
            </c:marker>
          </c:dPt>
          <c:dPt>
            <c:idx val="3"/>
            <c:marker>
              <c:symbol val="none"/>
            </c:marker>
          </c:dPt>
          <c:dPt>
            <c:idx val="4"/>
            <c:marker>
              <c:symbol val="none"/>
            </c:marker>
          </c:dPt>
          <c:dPt>
            <c:idx val="5"/>
            <c:marker>
              <c:symbol val="none"/>
            </c:marker>
          </c:dPt>
          <c:dPt>
            <c:idx val="6"/>
            <c:marker>
              <c:symbol val="circle"/>
              <c:size val="8"/>
              <c:spPr>
                <a:solidFill>
                  <a:schemeClr val="accent2"/>
                </a:solidFill>
                <a:ln>
                  <a:solidFill>
                    <a:schemeClr val="accent2"/>
                  </a:solidFill>
                </a:ln>
              </c:spPr>
            </c:marker>
          </c:dPt>
          <c:cat>
            <c:strRef>
              <c:f>Sheet1!$A$2:$A$8</c:f>
              <c:strCache>
                <c:ptCount val="7"/>
                <c:pt idx="0">
                  <c:v>2010</c:v>
                </c:pt>
                <c:pt idx="1">
                  <c:v>2015</c:v>
                </c:pt>
                <c:pt idx="2">
                  <c:v>2020</c:v>
                </c:pt>
                <c:pt idx="3">
                  <c:v>2021</c:v>
                </c:pt>
                <c:pt idx="4">
                  <c:v>2022</c:v>
                </c:pt>
                <c:pt idx="5">
                  <c:v>2023</c:v>
                </c:pt>
                <c:pt idx="6">
                  <c:v>2024</c:v>
                </c:pt>
              </c:strCache>
            </c:strRef>
          </c:cat>
          <c:val>
            <c:numRef>
              <c:f>Sheet1!$C$2:$C$8</c:f>
              <c:numCache>
                <c:formatCode>General</c:formatCode>
                <c:ptCount val="7"/>
                <c:pt idx="0">
                  <c:v>2.51</c:v>
                </c:pt>
                <c:pt idx="1">
                  <c:v>0.736</c:v>
                </c:pt>
                <c:pt idx="2">
                  <c:v>0.37</c:v>
                </c:pt>
                <c:pt idx="3">
                  <c:v>0.332</c:v>
                </c:pt>
                <c:pt idx="4">
                  <c:v>0.366</c:v>
                </c:pt>
                <c:pt idx="5">
                  <c:v>0.322</c:v>
                </c:pt>
                <c:pt idx="6">
                  <c:v>0.265</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3"/>
          <c:min val="0"/>
        </c:scaling>
        <c:delete val="0"/>
        <c:axPos val="l"/>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autoZero"/>
        <c:crossBetween val="between"/>
        <c:majorUnit val="1"/>
      </c:valAx>
      <c:spPr>
        <a:solidFill>
          <a:srgbClr val="FFFFFF"/>
        </a:solidFill>
        <a:ln>
          <a:noFill/>
        </a:ln>
      </c:spPr>
    </c:plotArea>
    <c:plotVisOnly val="1"/>
    <c:dispBlanksAs val="gap"/>
  </c:chart>
  <c:spPr>
    <a:solidFill>
      <a:srgbClr val="FFFFFF"/>
    </a:solidFill>
    <a:ln>
      <a:noFill/>
    </a:ln>
  </c:spPr>
  <c:txPr>
    <a:bodyPr/>
    <a:lstStyle/>
    <a:p>
      <a:pPr>
        <a:defRPr lang="zh-CN" sz="1500">
          <a:solidFill>
            <a:schemeClr val="accent3"/>
          </a:solidFill>
          <a:latin typeface="Arial"/>
          <a:ea typeface="Microsoft YaHei"/>
          <a:cs typeface="Arial"/>
        </a:defRPr>
      </a:pPr>
      <a:endParaRPr lang="zh-CN"/>
    </a:p>
  </c:txPr>
  <c:externalData r:id="rId1">
    <c:autoUpdate val="0"/>
  </c:externalData>
</c:chartSpace>
</file>

<file path=ppt/charts/chart9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33333333333"/>
          <c:y val="0.0885416666667"/>
          <c:w val="0.818181818182"/>
          <c:h val="0.78125"/>
        </c:manualLayout>
      </c:layout>
      <c:barChart>
        <c:barDir val="col"/>
        <c:grouping val="stacked"/>
        <c:varyColors val="0"/>
        <c:ser>
          <c:idx val="0"/>
          <c:order val="0"/>
          <c:tx>
            <c:strRef>
              <c:f>Sheet1!$B$1</c:f>
              <c:strCache>
                <c:ptCount val="1"/>
                <c:pt idx="0">
                  <c:v>组件 Module</c:v>
                </c:pt>
              </c:strCache>
            </c:strRef>
          </c:tx>
          <c:spPr>
            <a:solidFill>
              <a:schemeClr val="accent2"/>
            </a:solidFill>
            <a:ln>
              <a:solidFill>
                <a:schemeClr val="accent2"/>
              </a:solidFill>
            </a:ln>
          </c:spPr>
          <c:invertIfNegative val="0"/>
          <c:cat>
            <c:strRef>
              <c:f>Sheet1!$A$2:$A$3</c:f>
              <c:strCache>
                <c:ptCount val="2"/>
                <c:pt idx="0">
                  <c:v>2010</c:v>
                </c:pt>
                <c:pt idx="1">
                  <c:v>2024</c:v>
                </c:pt>
              </c:strCache>
            </c:strRef>
          </c:cat>
          <c:val>
            <c:numRef>
              <c:f>Sheet1!$B$2:$B$3</c:f>
              <c:numCache>
                <c:formatCode>General</c:formatCode>
                <c:ptCount val="2"/>
                <c:pt idx="0">
                  <c:v>3.08</c:v>
                </c:pt>
                <c:pt idx="1">
                  <c:v>0.35</c:v>
                </c:pt>
              </c:numCache>
            </c:numRef>
          </c:val>
        </c:ser>
        <c:ser>
          <c:idx val="1"/>
          <c:order val="1"/>
          <c:tx>
            <c:strRef>
              <c:f>Sheet1!$C$1</c:f>
              <c:strCache>
                <c:ptCount val="1"/>
                <c:pt idx="0">
                  <c:v>逆变器 Inverter</c:v>
                </c:pt>
              </c:strCache>
            </c:strRef>
          </c:tx>
          <c:spPr>
            <a:solidFill>
              <a:srgbClr val="9E9E9E"/>
            </a:solidFill>
            <a:ln>
              <a:solidFill>
                <a:srgbClr val="9E9E9E"/>
              </a:solidFill>
            </a:ln>
          </c:spPr>
          <c:invertIfNegative val="0"/>
          <c:cat>
            <c:strRef>
              <c:f>Sheet1!$A$2:$A$3</c:f>
              <c:strCache>
                <c:ptCount val="2"/>
                <c:pt idx="0">
                  <c:v>2010</c:v>
                </c:pt>
                <c:pt idx="1">
                  <c:v>2024</c:v>
                </c:pt>
              </c:strCache>
            </c:strRef>
          </c:cat>
          <c:val>
            <c:numRef>
              <c:f>Sheet1!$C$2:$C$3</c:f>
              <c:numCache>
                <c:formatCode>General</c:formatCode>
                <c:ptCount val="2"/>
                <c:pt idx="0">
                  <c:v>0.35</c:v>
                </c:pt>
                <c:pt idx="1">
                  <c:v>0.03</c:v>
                </c:pt>
              </c:numCache>
            </c:numRef>
          </c:val>
        </c:ser>
        <c:ser>
          <c:idx val="2"/>
          <c:order val="2"/>
          <c:tx>
            <c:strRef>
              <c:f>Sheet1!$D$1</c:f>
              <c:strCache>
                <c:ptCount val="1"/>
                <c:pt idx="0">
                  <c:v>BOS</c:v>
                </c:pt>
              </c:strCache>
            </c:strRef>
          </c:tx>
          <c:spPr>
            <a:solidFill>
              <a:schemeClr val="accent1"/>
            </a:solidFill>
            <a:ln>
              <a:solidFill>
                <a:schemeClr val="accent1"/>
              </a:solidFill>
            </a:ln>
          </c:spPr>
          <c:invertIfNegative val="0"/>
          <c:cat>
            <c:strRef>
              <c:f>Sheet1!$A$2:$A$3</c:f>
              <c:strCache>
                <c:ptCount val="2"/>
                <c:pt idx="0">
                  <c:v>2010</c:v>
                </c:pt>
                <c:pt idx="1">
                  <c:v>2024</c:v>
                </c:pt>
              </c:strCache>
            </c:strRef>
          </c:cat>
          <c:val>
            <c:numRef>
              <c:f>Sheet1!$D$2:$D$3</c:f>
              <c:numCache>
                <c:formatCode>General</c:formatCode>
                <c:ptCount val="2"/>
                <c:pt idx="0">
                  <c:v>0.96</c:v>
                </c:pt>
                <c:pt idx="1">
                  <c:v>0.33</c:v>
                </c:pt>
              </c:numCache>
            </c:numRef>
          </c:val>
        </c:ser>
        <c:ser>
          <c:idx val="3"/>
          <c:order val="3"/>
          <c:tx>
            <c:strRef>
              <c:f>Sheet1!$E$1</c:f>
              <c:strCache>
                <c:ptCount val="1"/>
                <c:pt idx="0">
                  <c:v>人工 Labor</c:v>
                </c:pt>
              </c:strCache>
            </c:strRef>
          </c:tx>
          <c:spPr>
            <a:solidFill>
              <a:schemeClr val="accent3"/>
            </a:solidFill>
            <a:ln>
              <a:solidFill>
                <a:schemeClr val="accent3"/>
              </a:solidFill>
            </a:ln>
          </c:spPr>
          <c:invertIfNegative val="0"/>
          <c:cat>
            <c:strRef>
              <c:f>Sheet1!$A$2:$A$3</c:f>
              <c:strCache>
                <c:ptCount val="2"/>
                <c:pt idx="0">
                  <c:v>2010</c:v>
                </c:pt>
                <c:pt idx="1">
                  <c:v>2024</c:v>
                </c:pt>
              </c:strCache>
            </c:strRef>
          </c:cat>
          <c:val>
            <c:numRef>
              <c:f>Sheet1!$E$2:$E$3</c:f>
              <c:numCache>
                <c:formatCode>General</c:formatCode>
                <c:ptCount val="2"/>
                <c:pt idx="0">
                  <c:v>0.79</c:v>
                </c:pt>
                <c:pt idx="1">
                  <c:v>0.24</c:v>
                </c:pt>
              </c:numCache>
            </c:numRef>
          </c:val>
        </c:ser>
        <c:ser>
          <c:idx val="4"/>
          <c:order val="4"/>
          <c:tx>
            <c:strRef>
              <c:f>Sheet1!$F$1</c:f>
              <c:strCache>
                <c:ptCount val="1"/>
                <c:pt idx="0">
                  <c:v>软成本 Soft Costs</c:v>
                </c:pt>
              </c:strCache>
            </c:strRef>
          </c:tx>
          <c:spPr>
            <a:solidFill>
              <a:srgbClr val="D4D4D4"/>
            </a:solidFill>
            <a:ln>
              <a:solidFill>
                <a:srgbClr val="D4D4D4"/>
              </a:solidFill>
            </a:ln>
          </c:spPr>
          <c:invertIfNegative val="0"/>
          <c:cat>
            <c:strRef>
              <c:f>Sheet1!$A$2:$A$3</c:f>
              <c:strCache>
                <c:ptCount val="2"/>
                <c:pt idx="0">
                  <c:v>2010</c:v>
                </c:pt>
                <c:pt idx="1">
                  <c:v>2024</c:v>
                </c:pt>
              </c:strCache>
            </c:strRef>
          </c:cat>
          <c:val>
            <c:numRef>
              <c:f>Sheet1!$F$2:$F$3</c:f>
              <c:numCache>
                <c:formatCode>General</c:formatCode>
                <c:ptCount val="2"/>
                <c:pt idx="0">
                  <c:v>1.77</c:v>
                </c:pt>
                <c:pt idx="1">
                  <c:v>0.2</c:v>
                </c:pt>
              </c:numCache>
            </c:numRef>
          </c:val>
        </c:ser>
        <c:gapWidth val="69"/>
        <c:overlap val="100"/>
        <c:axId val="2068027336"/>
        <c:axId val="2113994440"/>
      </c:barChart>
      <c:catAx>
        <c:axId val="2068027336"/>
        <c:scaling>
          <c:orientation val="minMax"/>
        </c:scaling>
        <c:delete val="0"/>
        <c:axPos val="b"/>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8"/>
          <c:min val="0"/>
        </c:scaling>
        <c:delete val="0"/>
        <c:axPos val="l"/>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autoZero"/>
        <c:crossBetween val="between"/>
        <c:majorUnit val="2"/>
      </c:valAx>
      <c:spPr>
        <a:solidFill>
          <a:srgbClr val="FFFFFF"/>
        </a:solidFill>
        <a:ln>
          <a:noFill/>
        </a:ln>
      </c:spPr>
    </c:plotArea>
    <c:plotVisOnly val="1"/>
    <c:dispBlanksAs val="gap"/>
  </c:chart>
  <c:spPr>
    <a:solidFill>
      <a:srgbClr val="FFFFFF"/>
    </a:solidFill>
    <a:ln>
      <a:noFill/>
    </a:ln>
  </c:spPr>
  <c:txPr>
    <a:bodyPr/>
    <a:lstStyle/>
    <a:p>
      <a:pPr>
        <a:defRPr lang="zh-CN" sz="1500">
          <a:solidFill>
            <a:schemeClr val="accent3"/>
          </a:solidFill>
          <a:latin typeface="Arial"/>
          <a:ea typeface="Microsoft YaHei"/>
          <a:cs typeface="Arial"/>
        </a:defRPr>
      </a:pPr>
      <a:endParaRPr lang="zh-CN"/>
    </a:p>
  </c:txPr>
  <c:externalData r:id="rId1">
    <c:autoUpdate val="0"/>
  </c:externalData>
</c:chartSpace>
</file>

<file path=ppt/charts/chart10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23456790123"/>
          <c:y val="0.147058823529"/>
          <c:w val="0.833333333333"/>
          <c:h val="0.676470588235"/>
        </c:manualLayout>
      </c:layout>
      <c:lineChart>
        <c:grouping val="standard"/>
        <c:varyColors val="0"/>
        <c:ser>
          <c:idx val="0"/>
          <c:order val="0"/>
          <c:tx>
            <c:strRef>
              <c:f>Sheet1!$B$1</c:f>
              <c:strCache>
                <c:ptCount val="1"/>
                <c:pt idx="0">
                  <c:v>LCOS 下限</c:v>
                </c:pt>
              </c:strCache>
            </c:strRef>
          </c:tx>
          <c:spPr>
            <a:solidFill>
              <a:schemeClr val="accent3"/>
            </a:solidFill>
            <a:ln>
              <a:solidFill>
                <a:schemeClr val="accent3"/>
              </a:solidFill>
            </a:ln>
          </c:spPr>
          <c:marker>
            <c:symbol val="none"/>
          </c:marker>
          <c:dPt>
            <c:idx val="0"/>
            <c:marker>
              <c:symbol val="none"/>
            </c:marker>
          </c:dPt>
          <c:dPt>
            <c:idx val="1"/>
            <c:marker>
              <c:symbol val="none"/>
            </c:marker>
          </c:dPt>
          <c:dPt>
            <c:idx val="2"/>
            <c:marker>
              <c:symbol val="none"/>
            </c:marker>
          </c:dPt>
          <c:dPt>
            <c:idx val="3"/>
            <c:marker>
              <c:symbol val="none"/>
            </c:marker>
          </c:dPt>
          <c:dPt>
            <c:idx val="4"/>
            <c:marker>
              <c:symbol val="none"/>
            </c:marker>
          </c:dPt>
          <c:dPt>
            <c:idx val="5"/>
            <c:marker>
              <c:symbol val="circle"/>
              <c:size val="9"/>
              <c:spPr>
                <a:solidFill>
                  <a:schemeClr val="accent2"/>
                </a:solidFill>
                <a:ln>
                  <a:solidFill>
                    <a:schemeClr val="accent2"/>
                  </a:solidFill>
                </a:ln>
              </c:spPr>
            </c:marker>
          </c:dPt>
          <c:cat>
            <c:strRef>
              <c:f>Sheet1!$A$2:$A$7</c:f>
              <c:strCache>
                <c:ptCount val="6"/>
                <c:pt idx="0">
                  <c:v>2020</c:v>
                </c:pt>
                <c:pt idx="1">
                  <c:v>2021</c:v>
                </c:pt>
                <c:pt idx="2">
                  <c:v>2023</c:v>
                </c:pt>
                <c:pt idx="3">
                  <c:v>2024</c:v>
                </c:pt>
                <c:pt idx="4">
                  <c:v>2025</c:v>
                </c:pt>
                <c:pt idx="5">
                  <c:v>2026</c:v>
                </c:pt>
              </c:strCache>
            </c:strRef>
          </c:cat>
          <c:val>
            <c:numRef>
              <c:f>Sheet1!$B$2:$B$7</c:f>
              <c:numCache>
                <c:formatCode>General</c:formatCode>
                <c:ptCount val="6"/>
                <c:pt idx="0">
                  <c:v>132</c:v>
                </c:pt>
                <c:pt idx="1">
                  <c:v>131</c:v>
                </c:pt>
                <c:pt idx="2">
                  <c:v>200</c:v>
                </c:pt>
                <c:pt idx="3">
                  <c:v>170</c:v>
                </c:pt>
                <c:pt idx="4">
                  <c:v>115</c:v>
                </c:pt>
                <c:pt idx="5">
                  <c:v>210</c:v>
                </c:pt>
              </c:numCache>
            </c:numRef>
          </c:val>
          <c:smooth val="0"/>
        </c:ser>
        <c:ser>
          <c:idx val="1"/>
          <c:order val="1"/>
          <c:tx>
            <c:strRef>
              <c:f>Sheet1!$C$1</c:f>
              <c:strCache>
                <c:ptCount val="1"/>
                <c:pt idx="0">
                  <c:v>LCOS 上限</c:v>
                </c:pt>
              </c:strCache>
            </c:strRef>
          </c:tx>
          <c:spPr>
            <a:solidFill>
              <a:schemeClr val="accent1"/>
            </a:solidFill>
            <a:ln>
              <a:solidFill>
                <a:schemeClr val="accent1"/>
              </a:solidFill>
            </a:ln>
          </c:spPr>
          <c:marker>
            <c:symbol val="none"/>
          </c:marker>
          <c:dPt>
            <c:idx val="0"/>
            <c:marker>
              <c:symbol val="none"/>
            </c:marker>
          </c:dPt>
          <c:dPt>
            <c:idx val="1"/>
            <c:marker>
              <c:symbol val="none"/>
            </c:marker>
          </c:dPt>
          <c:dPt>
            <c:idx val="2"/>
            <c:marker>
              <c:symbol val="none"/>
            </c:marker>
          </c:dPt>
          <c:dPt>
            <c:idx val="3"/>
            <c:marker>
              <c:symbol val="none"/>
            </c:marker>
          </c:dPt>
          <c:dPt>
            <c:idx val="4"/>
            <c:marker>
              <c:symbol val="none"/>
            </c:marker>
          </c:dPt>
          <c:dPt>
            <c:idx val="5"/>
            <c:marker>
              <c:symbol val="circle"/>
              <c:size val="9"/>
              <c:spPr>
                <a:solidFill>
                  <a:schemeClr val="accent2"/>
                </a:solidFill>
                <a:ln>
                  <a:solidFill>
                    <a:schemeClr val="accent2"/>
                  </a:solidFill>
                </a:ln>
              </c:spPr>
            </c:marker>
          </c:dPt>
          <c:cat>
            <c:strRef>
              <c:f>Sheet1!$A$2:$A$7</c:f>
              <c:strCache>
                <c:ptCount val="6"/>
                <c:pt idx="0">
                  <c:v>2020</c:v>
                </c:pt>
                <c:pt idx="1">
                  <c:v>2021</c:v>
                </c:pt>
                <c:pt idx="2">
                  <c:v>2023</c:v>
                </c:pt>
                <c:pt idx="3">
                  <c:v>2024</c:v>
                </c:pt>
                <c:pt idx="4">
                  <c:v>2025</c:v>
                </c:pt>
                <c:pt idx="5">
                  <c:v>2026</c:v>
                </c:pt>
              </c:strCache>
            </c:strRef>
          </c:cat>
          <c:val>
            <c:numRef>
              <c:f>Sheet1!$C$2:$C$7</c:f>
              <c:numCache>
                <c:formatCode>General</c:formatCode>
                <c:ptCount val="6"/>
                <c:pt idx="0">
                  <c:v>245</c:v>
                </c:pt>
                <c:pt idx="1">
                  <c:v>232</c:v>
                </c:pt>
                <c:pt idx="2">
                  <c:v>257</c:v>
                </c:pt>
                <c:pt idx="3">
                  <c:v>296</c:v>
                </c:pt>
                <c:pt idx="4">
                  <c:v>254</c:v>
                </c:pt>
                <c:pt idx="5">
                  <c:v>292</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450"/>
          <c:min val="0"/>
        </c:scaling>
        <c:delete val="0"/>
        <c:axPos val="l"/>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autoZero"/>
        <c:crossBetween val="between"/>
        <c:majorUnit val="150"/>
      </c:valAx>
      <c:spPr>
        <a:solidFill>
          <a:srgbClr val="FFFFFF"/>
        </a:solidFill>
        <a:ln>
          <a:noFill/>
        </a:ln>
      </c:spPr>
    </c:plotArea>
    <c:plotVisOnly val="1"/>
    <c:dispBlanksAs val="gap"/>
  </c:chart>
  <c:spPr>
    <a:solidFill>
      <a:srgbClr val="FFFFFF"/>
    </a:solidFill>
    <a:ln>
      <a:noFill/>
    </a:ln>
  </c:spPr>
  <c:txPr>
    <a:bodyPr/>
    <a:lstStyle/>
    <a:p>
      <a:pPr>
        <a:defRPr lang="zh-CN" sz="1500">
          <a:solidFill>
            <a:schemeClr val="accent3"/>
          </a:solidFill>
          <a:latin typeface="Arial"/>
          <a:ea typeface="Microsoft YaHei"/>
          <a:cs typeface="Arial"/>
        </a:defRPr>
      </a:pPr>
      <a:endParaRPr lang="zh-CN"/>
    </a:p>
  </c:txPr>
  <c:externalData r:id="rId1">
    <c:autoUpdate val="0"/>
  </c:externalData>
</c:chartSpace>
</file>

<file path=ppt/charts/chart12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39285714286"/>
          <c:y val="0.114583333333"/>
          <c:w val="0.803571428571"/>
          <c:h val="0.755208333333"/>
        </c:manualLayout>
      </c:layout>
      <c:barChart>
        <c:barDir val="col"/>
        <c:grouping val="clustered"/>
        <c:varyColors val="1"/>
        <c:ser>
          <c:idx val="0"/>
          <c:order val="0"/>
          <c:tx>
            <c:strRef>
              <c:f>Sheet1!$B$1</c:f>
              <c:strCache>
                <c:ptCount val="1"/>
                <c:pt idx="0">
                  <c:v>并网中位等待（月）</c:v>
                </c:pt>
              </c:strCache>
            </c:strRef>
          </c:tx>
          <c:spPr>
            <a:solidFill>
              <a:schemeClr val="accent3"/>
            </a:solidFill>
            <a:ln>
              <a:solidFill>
                <a:schemeClr val="accent3"/>
              </a:solidFill>
            </a:ln>
          </c:spPr>
          <c:invertIfNegative val="0"/>
          <c:dPt>
            <c:idx val="0"/>
            <c:invertIfNegative val="0"/>
            <c:spPr>
              <a:solidFill>
                <a:schemeClr val="accent3"/>
              </a:solidFill>
              <a:ln>
                <a:solidFill>
                  <a:schemeClr val="accent3"/>
                </a:solidFill>
              </a:ln>
            </c:spPr>
          </c:dPt>
          <c:dPt>
            <c:idx val="1"/>
            <c:invertIfNegative val="0"/>
            <c:spPr>
              <a:solidFill>
                <a:schemeClr val="accent3"/>
              </a:solidFill>
              <a:ln>
                <a:solidFill>
                  <a:schemeClr val="accent3"/>
                </a:solidFill>
              </a:ln>
            </c:spPr>
          </c:dPt>
          <c:dPt>
            <c:idx val="2"/>
            <c:invertIfNegative val="0"/>
            <c:spPr>
              <a:solidFill>
                <a:schemeClr val="accent2"/>
              </a:solidFill>
              <a:ln>
                <a:solidFill>
                  <a:schemeClr val="accent2"/>
                </a:solidFill>
              </a:ln>
            </c:spPr>
          </c:dPt>
          <c:cat>
            <c:strRef>
              <c:f>Sheet1!$A$2:$A$4</c:f>
              <c:strCache>
                <c:ptCount val="3"/>
                <c:pt idx="0">
                  <c:v>2008</c:v>
                </c:pt>
                <c:pt idx="1">
                  <c:v>2015</c:v>
                </c:pt>
                <c:pt idx="2">
                  <c:v>2025</c:v>
                </c:pt>
              </c:strCache>
            </c:strRef>
          </c:cat>
          <c:val>
            <c:numRef>
              <c:f>Sheet1!$B$2:$B$4</c:f>
              <c:numCache>
                <c:formatCode>General</c:formatCode>
                <c:ptCount val="3"/>
                <c:pt idx="0">
                  <c:v>22</c:v>
                </c:pt>
                <c:pt idx="1">
                  <c:v>36</c:v>
                </c:pt>
                <c:pt idx="2">
                  <c:v>61</c:v>
                </c:pt>
              </c:numCache>
            </c:numRef>
          </c:val>
        </c:ser>
        <c:dLbls>
          <c:txPr>
            <a:bodyPr/>
            <a:lstStyle/>
            <a:p>
              <a:pPr>
                <a:defRPr lang="zh-CN" sz="1500">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67"/>
        <c:axId val="2068027336"/>
        <c:axId val="2113994440"/>
      </c:barChart>
      <c:catAx>
        <c:axId val="2068027336"/>
        <c:scaling>
          <c:orientation val="minMax"/>
        </c:scaling>
        <c:delete val="0"/>
        <c:axPos val="b"/>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70"/>
          <c:min val="0"/>
        </c:scaling>
        <c:delete val="0"/>
        <c:axPos val="l"/>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autoZero"/>
        <c:crossBetween val="between"/>
        <c:majorUnit val="20"/>
      </c:valAx>
      <c:spPr>
        <a:solidFill>
          <a:srgbClr val="FFFFFF"/>
        </a:solidFill>
        <a:ln>
          <a:noFill/>
        </a:ln>
      </c:spPr>
    </c:plotArea>
    <c:plotVisOnly val="1"/>
    <c:dispBlanksAs val="gap"/>
  </c:chart>
  <c:spPr>
    <a:solidFill>
      <a:srgbClr val="FFFFFF"/>
    </a:solidFill>
    <a:ln>
      <a:noFill/>
    </a:ln>
  </c:spPr>
  <c:txPr>
    <a:bodyPr/>
    <a:lstStyle/>
    <a:p>
      <a:pPr>
        <a:defRPr lang="zh-CN" sz="1500">
          <a:solidFill>
            <a:schemeClr val="accent3"/>
          </a:solidFill>
          <a:latin typeface="Arial"/>
          <a:ea typeface="Microsoft YaHei"/>
          <a:cs typeface="Arial"/>
        </a:defRPr>
      </a:pPr>
      <a:endParaRPr lang="zh-CN"/>
    </a:p>
  </c:txPr>
  <c:externalData r:id="rId1">
    <c:autoUpdate val="0"/>
  </c:externalData>
</c:chartSpace>
</file>

<file path=ppt/charts/chart13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238805970149"/>
          <c:y val="0.114583333333"/>
          <c:w val="0.708955223881"/>
          <c:h val="0.729166666667"/>
        </c:manualLayout>
      </c:layout>
      <c:barChart>
        <c:barDir val="bar"/>
        <c:grouping val="clustered"/>
        <c:varyColors val="0"/>
        <c:ser>
          <c:idx val="0"/>
          <c:order val="0"/>
          <c:tx>
            <c:strRef>
              <c:f>Sheet1!$B$1</c:f>
              <c:strCache>
                <c:ptCount val="1"/>
                <c:pt idx="0">
                  <c:v>2025 同月</c:v>
                </c:pt>
              </c:strCache>
            </c:strRef>
          </c:tx>
          <c:spPr>
            <a:solidFill>
              <a:srgbClr val="D4D4D4"/>
            </a:solidFill>
            <a:ln>
              <a:solidFill>
                <a:srgbClr val="D4D4D4"/>
              </a:solidFill>
            </a:ln>
          </c:spPr>
          <c:invertIfNegative val="0"/>
          <c:cat>
            <c:strRef>
              <c:f>Sheet1!$A$2:$A$5</c:f>
              <c:strCache>
                <c:ptCount val="4"/>
                <c:pt idx="0">
                  <c:v>法国 4 月</c:v>
                </c:pt>
                <c:pt idx="1">
                  <c:v>德国 4 月</c:v>
                </c:pt>
                <c:pt idx="2">
                  <c:v>波兰 4 月</c:v>
                </c:pt>
                <c:pt idx="3">
                  <c:v>西班牙 2 月</c:v>
                </c:pt>
              </c:strCache>
            </c:strRef>
          </c:cat>
          <c:val>
            <c:numRef>
              <c:f>Sheet1!$B$2:$B$5</c:f>
              <c:numCache>
                <c:formatCode>General</c:formatCode>
                <c:ptCount val="4"/>
                <c:pt idx="0">
                  <c:v>90</c:v>
                </c:pt>
                <c:pt idx="1">
                  <c:v>75</c:v>
                </c:pt>
                <c:pt idx="2">
                  <c:v>75</c:v>
                </c:pt>
                <c:pt idx="3">
                  <c:v>0</c:v>
                </c:pt>
              </c:numCache>
            </c:numRef>
          </c:val>
        </c:ser>
        <c:ser>
          <c:idx val="1"/>
          <c:order val="1"/>
          <c:tx>
            <c:strRef>
              <c:f>Sheet1!$C$1</c:f>
              <c:strCache>
                <c:ptCount val="1"/>
                <c:pt idx="0">
                  <c:v>2026 同月</c:v>
                </c:pt>
              </c:strCache>
            </c:strRef>
          </c:tx>
          <c:spPr>
            <a:solidFill>
              <a:schemeClr val="accent2"/>
            </a:solidFill>
            <a:ln>
              <a:solidFill>
                <a:schemeClr val="accent2"/>
              </a:solidFill>
            </a:ln>
          </c:spPr>
          <c:invertIfNegative val="0"/>
          <c:cat>
            <c:strRef>
              <c:f>Sheet1!$A$2:$A$5</c:f>
              <c:strCache>
                <c:ptCount val="4"/>
                <c:pt idx="0">
                  <c:v>法国 4 月</c:v>
                </c:pt>
                <c:pt idx="1">
                  <c:v>德国 4 月</c:v>
                </c:pt>
                <c:pt idx="2">
                  <c:v>波兰 4 月</c:v>
                </c:pt>
                <c:pt idx="3">
                  <c:v>西班牙 2 月</c:v>
                </c:pt>
              </c:strCache>
            </c:strRef>
          </c:cat>
          <c:val>
            <c:numRef>
              <c:f>Sheet1!$C$2:$C$5</c:f>
              <c:numCache>
                <c:formatCode>General</c:formatCode>
                <c:ptCount val="4"/>
                <c:pt idx="0">
                  <c:v>139</c:v>
                </c:pt>
                <c:pt idx="1">
                  <c:v>123</c:v>
                </c:pt>
                <c:pt idx="2">
                  <c:v>87</c:v>
                </c:pt>
                <c:pt idx="3">
                  <c:v>148</c:v>
                </c:pt>
              </c:numCache>
            </c:numRef>
          </c:val>
        </c:ser>
        <c:dLbls>
          <c:txPr>
            <a:bodyPr/>
            <a:lstStyle/>
            <a:p>
              <a:pPr>
                <a:defRPr lang="zh-CN" sz="1350">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69"/>
        <c:overlap val="-17"/>
        <c:axId val="2068027336"/>
        <c:axId val="2113994440"/>
      </c:barChart>
      <c:catAx>
        <c:axId val="2068027336"/>
        <c:scaling>
          <c:orientation val="maxMin"/>
        </c:scaling>
        <c:delete val="0"/>
        <c:axPos val="l"/>
        <c:majorTickMark val="none"/>
        <c:minorTickMark val="none"/>
        <c:tickLblPos val="nextTo"/>
        <c:spPr>
          <a:ln w="9525" cap="flat" cmpd="sng" algn="ctr">
            <a:solidFill>
              <a:srgbClr val="D4D4D4"/>
            </a:solidFill>
            <a:round/>
          </a:ln>
        </c:spPr>
        <c:txPr>
          <a:bodyPr/>
          <a:lstStyle/>
          <a:p>
            <a:pPr>
              <a:defRPr lang="zh-CN" sz="1500">
                <a:solidFill>
                  <a:schemeClr val="accent1"/>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160"/>
          <c:min val="0"/>
        </c:scaling>
        <c:delete val="0"/>
        <c:axPos val="b"/>
        <c:majorGridlines>
          <c:spPr>
            <a:ln w="6350" cap="flat" cmpd="sng" algn="ctr">
              <a:solidFill>
                <a:srgbClr val="E8E8E8"/>
              </a:solidFill>
              <a:round/>
            </a:ln>
          </c:spPr>
        </c:majorGridlines>
        <c:majorTickMark val="none"/>
        <c:minorTickMark val="none"/>
        <c:tickLblPos val="nextTo"/>
        <c:spPr>
          <a:ln w="9525" cap="flat" cmpd="sng" algn="ctr">
            <a:solidFill>
              <a:srgbClr val="D4D4D4"/>
            </a:solidFill>
            <a:round/>
          </a:ln>
        </c:spPr>
        <c:txPr>
          <a:bodyPr/>
          <a:lstStyle/>
          <a:p>
            <a:pPr>
              <a:defRPr lang="zh-CN" sz="1500">
                <a:solidFill>
                  <a:schemeClr val="accent3"/>
                </a:solidFill>
                <a:latin typeface="Arial"/>
                <a:ea typeface="Microsoft YaHei"/>
                <a:cs typeface="Arial"/>
              </a:defRPr>
            </a:pPr>
            <a:endParaRPr lang="zh-CN"/>
          </a:p>
        </c:txPr>
        <c:crossAx val="2068027336"/>
        <c:crosses val="max"/>
        <c:crossBetween val="between"/>
        <c:majorUnit val="40"/>
      </c:valAx>
      <c:spPr>
        <a:solidFill>
          <a:srgbClr val="FFFFFF"/>
        </a:solidFill>
        <a:ln>
          <a:noFill/>
        </a:ln>
      </c:spPr>
    </c:plotArea>
    <c:plotVisOnly val="1"/>
    <c:dispBlanksAs val="gap"/>
  </c:chart>
  <c:spPr>
    <a:solidFill>
      <a:srgbClr val="FFFFFF"/>
    </a:solidFill>
    <a:ln>
      <a:noFill/>
    </a:ln>
  </c:spPr>
  <c:txPr>
    <a:bodyPr/>
    <a:lstStyle/>
    <a:p>
      <a:pPr>
        <a:defRPr lang="zh-CN" sz="1500">
          <a:solidFill>
            <a:schemeClr val="accent1"/>
          </a:solidFill>
          <a:latin typeface="Arial"/>
          <a:ea typeface="Microsoft YaHei"/>
          <a:cs typeface="Arial"/>
        </a:defRPr>
      </a:pPr>
      <a:endParaRPr lang="zh-C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份材料要纠正一个已经过时的价格认知，同时提出一个多数人还没有接受的判断。封面上的两个数字来自同一条成本曲线：公用事业级光伏的平准化度电成本，从二零零九年到二零二六年累计下降了百分之八十一，年均复合变化率是负百分之十；但从二零二一年的低点算到二零二六年，同一条曲线又回升了百分之八十五，年均复合增长百分之十二。这两个数字都是 Lazard 的美国无补贴口径，不是两家机构的分歧。今天要回答的就是这三件事：为什么会降，为什么又涨，以及现在真正卡住它的是什么。全卷每个数字都标了来源和年份，不同机构的口径并列写出，不做平均。</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光伏的成本曲线已经转向，"会一直更便宜"不再是一个可以默认的前提。右上角这张小图是全程：二零零九年每兆瓦时三百五十九美元，一路降到二零二一年的三十六美元，那是历史最低点。左边这张放大图从二零一八年开始看，你会看到曲线在二零二一年触底之后掉头向上，二零二六年回到六十九美元。请注意二零二二年这个缺口，Lazard 那一年没有发布版本，所以序列在这里断开，我们没有做插值。转向的原因不是技术退步，是资本成本：在同一版敏感性表里，税后内部收益率从百分之四点二升到百分之十，光伏的度电成本就从五十三美元升到八十三美元，涨了大约六成，而这一项和技术进步完全无关。作为对照，同期陆上风电只降了百分之五十二，光伏仍然是所有电源里下降最快的。</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在今天这张标尺上，陆上风电和公用事业级光伏是最便宜的两种新增电源。这里全部是 Lazard 的美国无补贴口径，单位是美元每兆瓦时，条形的总长度就是区间上限，深色段是下限。光伏是四十到九十八，陆上风电三十七到九十九，天然气联合循环五十一到一百二十九，燃煤七十二到一百七十七，美国核电最贵，一百七十五到二百五十五。请特别注意三件事。第一，这张图有明确的燃料价格和资本结构假设，脚注里写着。第二，Lazard 自己声明这个分析不考虑可再生能源的间歇性特征，也不考虑新增部署带来的电网影响——这一句我们在第十四页还会回来讲。第三，"最便宜"从来不是全球均匀的：同为 IRENA 口径，中国是每千瓦时零点零三六美元，日本是零点一二三，差了将近三点七倍。换成全球口径，IRENA 的判断更强硬：二零二四年新建光伏比成本最低的化石方案还便宜百分之四十一，当年投产的新建可再生项目里有百分之九十一成本低于新建化石机组。</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的论证分成三条判断，它们按生产端、系统端、电网端划分，覆盖成本从产生到兑现的完整链条，彼此不重叠。顶上这条黑带是总判断：光伏的成本优势由制造规模的学习率产生，已经转移到系统侧，并且正在被电网侧的稀缺重新定价。第一条回答"便宜从哪来"——成本下降来自学习率，累计装机每翻一番，组件价格下降百分之二十。第二条回答"还会继续便宜吗"——成本中心已经从组件挪到平衡系统和储能，二零二四年组件只占系统成本的百分之三十。第三条回答"什么时候它不便宜"——真正的稀缺是并网容量与消纳空间，美国的并网中位等待已经达到六十一个月。每条判断后面用一到两页证据展开，最后一页给决策建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条判断：便宜来自学习率，不是补贴，也不是运气。这个区分很重要，因为如果百分之八十一的降幅是补贴堆出来的，那它随时可能逆转；如果它来自一条稳定的学习曲线，那它的可外推性完全不同。所以先问一个问题：如果不是补贴，那百分之八十一是从哪里来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答案是一条已经持续了四十多年的定量规律：全球累计光伏装机每翻一番，组件价格就下降百分之二十。这条规律以 SunPower 创始人 Richard Swanson 的名字被称作 Swanson 定律。量级上，组件价格从一九七五年的每瓦一百三十二点三八美元降到二零二四年的零点二六五美元，都换算成二零二五年不变美元；同期全球累计装机从零点五四兆瓦增长到二十三亿七千八百万千瓦。右边这张面积图只画了二零一零年以后，因为早期价格在线性坐标上和近段没法同图呈现，横轴用的是源数据给出的年份，二零一零到二零二零是五年间隔。这一页值得单独占一页的原因在最下面那行：大多数技术并不遵循 Wright 定律，自行车、冰箱、燃煤电厂的价格都不呈指数下降，只有光伏、电池和计算机做到了价格下降速率随累计产量保持恒定。这就是"光伏便宜"和"煤电便宜"在因果结构上的根本差异。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但是学习率解释的是长期趋势，不是今天这个具体价位。今天的组件价格里含着制造商的亏损，它不是一个可持续的均衡价。三个数字：二零二四年全球组件批发现货均价跌到每瓦零点零九美元，同比下跌将近百分之四十五；中国头部制造商的利润率是负百分之十，自二零二四年初以来累计亏损接近五十亿美元；全球组件产能利用率降到百分之五十五到六十五，短期内可能跌破一半。原因在左下角：二零二四年全球组件制造产能达到一千一百到一千三百五十吉瓦，是当年装机量的两倍以上，而这个价格低于包括中国头部企业在内的多数制造商的生产成本。右下角还有一个提醒：这个价格不是全世界都买得到的，运往美国的组件均价是每瓦零点二七美元，是全球均价的三倍，印度本土制造的组件高出全球均价大约七成。所以在讨论"还会继续便宜吗"的时候，不能只引学习率。</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条判断：成本中心已经从组件挪到了平衡系统与储能。这一条直接影响谈判和采购的注意力分配——如果你还在为组件价格反复砍价，你是在为一个已经不占多数的成本项付出精力。问题是：组件降了九成之后，剩下的钱在哪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答案是两根柱子。这是 NREL 的美国公用事业级光伏系统成本分项，都是二零二四年不变美元，单位是每直流瓦。二零一零年总成本是六点九四美元，其中组件三点零八，是最大单项；二零二四年总成本降到一点一五美元，组件只剩零点三五。组件的绝对值降了将近百分之八十九，但更关键的是份额：按 NREL 分项计算，组件从系统成本的百分之四十四降到百分之三十，已经和平衡系统加人工的零点五七发生了易位。右下角还有一个和第二页同源的事实：系统总成本本身在二零二一年见底，那一年是一点零八美元，之后在一点一四到一点二四之间震荡。全球口径请看脚注，IRENA 说总安装成本十四年降了百分之八十七至每千瓦七百零八美元，另一份 IRENA 报告给的是六百九十一，两个数出自不同报告，择一使用并注明报告名，不要平均。</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这一页要拆开一个常见的混淆：电芯便宜不等于储能便宜。左边在降：BloombergNEF 二零二五年的调查里，全球电池组均价同比下降百分之八降到每千瓦时一百零八美元的历史新低，而储能专用电池组降到七十美元，同比降了百分之四十五，是价格最低的细分市场。右边在涨：Lazard 公用事业级独立储能、一百兆瓦四小时的平准化储能成本，从二零二零年到二零二六年累计上涨了百分之三十九，二零二六年逆转了上一年的降势，主因是锂电池进口关税落地，切断了此前压低成本的低价中国电芯供应。两个方向相反，是因为电芯价格和项目级度电成本本来就是两件事。所以决策要看的是项目级指标：IRENA 今年五月提出的 firm LCOE，也就是可持续稳定供电的项目级成本，二零二五年高资源区是每兆瓦时五十四到八十二美元，中国在百分之九十可靠性要求下低到三十美元。这是回应"便宜但不可调度"这个质疑最强的单一指标。</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第三条判断，也是最反直觉的一条：稀缺的不是价格，是并网容量与消纳空间。如果价格已经不是问题，那什么是。</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是时间和位置。Berkeley Lab 的数据：二零二五年建成投运的项目，从提出并网申请到商业运行的中位耗时是六十一个月；二零一五年建成的项目是三十六个月，二零零八年是二十二个月，十七年间翻了近三倍。截至二零二五年底，美国输电并网队列里有八千二百四十四个项目、合计约两千零六十一吉瓦，其中光伏七百七十三、储能七百四十九、风电两百二十吉瓦，三者同比都在下降，而天然气容量同比激增百分之八十六。全球尺度上，至少三千吉瓦可再生项目在接入队列等待，相当于二零二二年全球新增风光装机的五倍；要实现各国既定目标，二零四零年前需要新增或更换八千万公里输配电线路，相当于再造一个现有的全球电网。而电网年投资自二零一五年以来长期停滞在三千亿美元左右，需要在二零三零年前翻倍。这个时间成本已经超过了组件降价能带来的收益。</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排队之外，还有一个更锋利的问题：卖出去的每度电正在贬值。弃电是可以治理的，中国把弃风弃光率从百分之十五降到百分之三以下，靠的是省级目标、电价机制改革和年均八百八十亿美元的电网投资；但二零二四年为缓解拥堵，把高渗透率省份的上限从百分之五提高到百分之十，当年弃光率就升到百分之三点二。加州同年弃掉风光出力三百四十万兆瓦时，同比增长百分之二十九，其中光伏占了百分之九十三。右边这张图是欧洲同月负电价小时数的同比变化，法国从九十小时涨到一百三十九，德国从七十五涨到一百二十三，西班牙从零涨到一百四十八。与之同步的是捕获系数的崩塌：法国四月从零点四二掉到零点一，德国二零二四年的捕获率是百分之五十九，二零二五年进一步降到百分之五十四，而二零二二年曾经达到百分之九十八。度电成本在跌，但每度电能卖到的钱跌得更快。要说清楚一点：这组数字支撑"约束在电网"，它并不支撑"电网成本已经抵消了光伏的成本优势"。</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在把任何一个数字带回去之前，先对齐口径。这张表列了四家机构：Lazard 是美国、无补贴、新建项目的区间值，单位是美元每兆瓦时；IRENA 是全球加权平均、实际投产项目，单位是美元每千瓦时，用报告当年的美元；NREL 是美国基准电站，单位是美分每千瓦时，二零二四年不变美元；BloombergNEF 是全球电池组价格调查。同一年，Lazard 的均值六十一美元和 IRENA 的四十三美元可以相差一倍以上，这是口径差异，不是矛盾，所以不能平均，也不能互换。左下角是这个指标本身的边界：Lazard 明确列出未纳入的因素，包括输电队列改革与网络升级、拥堵与弃电等并网整合成本，以及许可与开发成本。任何只用一张 LCOE 横条图作结论的页面，都应该同时出现这一句。右下角是正面回应：Lazard 另有一项间歇性调峰成本分析，结论是即便计入调峰成本，可再生能源与新建燃气联合循环相比总体仍具竞争力。最后那句 IEA 的原话请连限定条件一起引用——低成本融资和优质资源这两个条件是原文的一部分，删掉它们就变成了我们今天要反对的那种旧价格表思维。</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条建议，指向同一个动作：重新排序稀缺资源。第一，不要用二零二零年前的价格表做二零二六年的决策，同一口径下光伏度电成本已经降了百分之八十一到九十，而且已经是多数市场最便宜的新增电源。第二，也不要假设它会一直更便宜，两条独立序列都在二零二一年触底并回升，当前的低组件价含着卖方亏损，而资本成本是与技术进步无关的第二个变量。第三，把重心从"买便宜组件"转向"买可调度性与并网位置"，因为成本中心已经转移，储能的度电成本正在上行，而 firm LCOE 已经是可用的决策指标。第四，稀缺资源是并网容量与消纳空间，不是价格——排在队列里的便宜电，不产生任何度电价值。底下八条来源都是可点击的原文链接，全部九十条外部事实和二十个来源页记录在项目的事实溯源文件里，检索日期是二零二六年九月四日。</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solar_cheapest_pow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solar_cheapest_pow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201.xml"/>
  <Relationship Id="rId3" Type="http://schemas.openxmlformats.org/officeDocument/2006/relationships/chart" Target="../charts/chart202.xml"/>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01.xml"/>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601.xml"/>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901.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001.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201.xml"/>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30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lazard.com/media/kcfconhf/lazards-lcoeplus_vf.pdf" TargetMode="External"/>
  <Relationship Id="rId3" Type="http://schemas.openxmlformats.org/officeDocument/2006/relationships/hyperlink" Target="https://iea.blob.core.windows.net/assets/76ad6eac-2aa6-4c55-9a55-b8dc0dba9f9e/Renewables2025.pdf" TargetMode="External"/>
  <Relationship Id="rId4" Type="http://schemas.openxmlformats.org/officeDocument/2006/relationships/hyperlink" Target="https://www.irena.org/Publications/2025/Jun/Renewable-Power-Generation-Costs-in-2024" TargetMode="External"/>
  <Relationship Id="rId5" Type="http://schemas.openxmlformats.org/officeDocument/2006/relationships/hyperlink" Target="https://docs.nrel.gov/docs/fy25osti/92536.pdf" TargetMode="External"/>
  <Relationship Id="rId6" Type="http://schemas.openxmlformats.org/officeDocument/2006/relationships/hyperlink" Target="https://emp.lbl.gov/publications/queued-2026-edition-characteristics" TargetMode="External"/>
  <Relationship Id="rId7" Type="http://schemas.openxmlformats.org/officeDocument/2006/relationships/hyperlink" Target="https://about.bnef.com/insights/clean-transport/lithium-ion-battery-pack-prices-fall-to-108-per-kilowatt-hour-despite-rising-metal-prices-bloombergnef/" TargetMode="External"/>
  <Relationship Id="rId8" Type="http://schemas.openxmlformats.org/officeDocument/2006/relationships/hyperlink" Target="https://ourworldindata.org/grapher/solar-pv-prices" TargetMode="External"/>
  <Relationship Id="rId9" Type="http://schemas.openxmlformats.org/officeDocument/2006/relationships/hyperlink" Target="https://www.iea.org/reports/electricity-grids-and-secure-energy-transitions/executive-summary" TargetMode="External"/>
  <Relationship Id="rId10"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Group 4"/>
          <p:cNvGrpSpPr/>
          <p:nvPr/>
        </p:nvGrpSpPr>
        <p:grpSpPr>
          <a:xfrm>
            <a:off x="685800" y="723900"/>
            <a:ext cx="723900" cy="38100"/>
            <a:chOff x="685800" y="723900"/>
            <a:chExt cx="723900" cy="38100"/>
          </a:xfrm>
        </p:grpSpPr>
        <p:sp>
          <p:nvSpPr>
            <p:cNvPr id="3" name="Rectangle 3"/>
            <p:cNvSpPr/>
            <p:nvPr/>
          </p:nvSpPr>
          <p:spPr>
            <a:xfrm>
              <a:off x="685800" y="723900"/>
              <a:ext cx="723900" cy="38100"/>
            </a:xfrm>
            <a:prstGeom prst="rect">
              <a:avLst/>
            </a:prstGeom>
            <a:solidFill>
              <a:schemeClr val="accent2"/>
            </a:solidFill>
            <a:ln>
              <a:noFill/>
            </a:ln>
          </p:spPr>
        </p:sp>
      </p:grpSp>
      <p:grpSp>
        <p:nvGrpSpPr>
          <p:cNvPr id="6" name="Group 6"/>
          <p:cNvGrpSpPr/>
          <p:nvPr/>
        </p:nvGrpSpPr>
        <p:grpSpPr>
          <a:xfrm>
            <a:off x="669036" y="977265"/>
            <a:ext cx="5481828" cy="1159764"/>
            <a:chOff x="669036" y="977265"/>
            <a:chExt cx="5481828" cy="1159764"/>
          </a:xfrm>
        </p:grpSpPr>
        <p:sp>
          <p:nvSpPr>
            <p:cNvPr id="5" name="TextBox 5"/>
            <p:cNvSpPr txBox="1"/>
            <p:nvPr/>
          </p:nvSpPr>
          <p:spPr>
            <a:xfrm>
              <a:off x="669036" y="977265"/>
              <a:ext cx="5481828"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光伏已是最便宜的新增电源，</a:t>
              </a:r>
              <a:br/>
              <a:r>
                <a:rPr lang="zh-CN" sz="3300" b="1" dirty="0">
                  <a:solidFill>
                    <a:schemeClr val="accent1"/>
                  </a:solidFill>
                  <a:latin typeface="Microsoft YaHei"/>
                  <a:ea typeface="Microsoft YaHei"/>
                  <a:cs typeface="Microsoft YaHei"/>
                </a:rPr>
                <a:t>但它不会自动更便宜</a:t>
              </a:r>
            </a:p>
          </p:txBody>
        </p:sp>
      </p:grpSp>
      <p:grpSp>
        <p:nvGrpSpPr>
          <p:cNvPr id="9" name="Group 9"/>
          <p:cNvGrpSpPr/>
          <p:nvPr/>
        </p:nvGrpSpPr>
        <p:grpSpPr>
          <a:xfrm>
            <a:off x="666750" y="2514600"/>
            <a:ext cx="4389568" cy="2366201"/>
            <a:chOff x="666750" y="2514600"/>
            <a:chExt cx="4389568" cy="2366201"/>
          </a:xfrm>
        </p:grpSpPr>
        <p:sp>
          <p:nvSpPr>
            <p:cNvPr id="7" name="TextBox 7"/>
            <p:cNvSpPr txBox="1"/>
            <p:nvPr/>
          </p:nvSpPr>
          <p:spPr>
            <a:xfrm>
              <a:off x="666750" y="2514600"/>
              <a:ext cx="4353263" cy="2305050"/>
            </a:xfrm>
            <a:prstGeom prst="rect">
              <a:avLst/>
            </a:prstGeom>
            <a:noFill/>
            <a:ln>
              <a:noFill/>
            </a:ln>
          </p:spPr>
          <p:txBody>
            <a:bodyPr wrap="none" lIns="0" tIns="0" rIns="0" bIns="0" anchor="t" anchorCtr="0">
              <a:spAutoFit/>
            </a:bodyPr>
            <a:lstStyle/>
            <a:p>
              <a:pPr algn="l"/>
              <a:r>
                <a:rPr lang="zh-CN" sz="12000" b="1" dirty="0">
                  <a:solidFill>
                    <a:schemeClr val="accent1"/>
                  </a:solidFill>
                  <a:latin typeface="Arial Black"/>
                  <a:ea typeface="Arial Black"/>
                  <a:cs typeface="Arial Black"/>
                </a:rPr>
                <a:t>−81%</a:t>
              </a:r>
            </a:p>
          </p:txBody>
        </p:sp>
        <p:sp>
          <p:nvSpPr>
            <p:cNvPr id="8" name="TextBox 8"/>
            <p:cNvSpPr txBox="1"/>
            <p:nvPr/>
          </p:nvSpPr>
          <p:spPr>
            <a:xfrm>
              <a:off x="678942" y="4616768"/>
              <a:ext cx="437737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icrosoft YaHei"/>
                  <a:ea typeface="Microsoft YaHei"/>
                  <a:cs typeface="Microsoft YaHei"/>
                </a:rPr>
                <a:t>2009 → 2026 累计降幅（Lazard 均值，CAGR −10%）</a:t>
              </a:r>
            </a:p>
          </p:txBody>
        </p:sp>
      </p:grpSp>
      <p:sp>
        <p:nvSpPr>
          <p:cNvPr id="10" name="Line 10"/>
          <p:cNvSpPr/>
          <p:nvPr/>
        </p:nvSpPr>
        <p:spPr>
          <a:xfrm>
            <a:off x="5905500" y="2571750"/>
            <a:ext cx="9525" cy="2190750"/>
          </a:xfrm>
          <a:custGeom>
            <a:avLst/>
            <a:gdLst/>
            <a:ahLst/>
            <a:cxnLst/>
            <a:rect l="l" t="t" r="r" b="b"/>
            <a:pathLst>
              <a:path w="9525" h="2190750">
                <a:moveTo>
                  <a:pt x="0" y="0"/>
                </a:moveTo>
                <a:lnTo>
                  <a:pt x="0" y="2190750"/>
                </a:lnTo>
              </a:path>
            </a:pathLst>
          </a:custGeom>
          <a:noFill/>
          <a:ln w="9525">
            <a:solidFill>
              <a:schemeClr val="accent6"/>
            </a:solidFill>
          </a:ln>
        </p:spPr>
      </p:sp>
      <p:grpSp>
        <p:nvGrpSpPr>
          <p:cNvPr id="13" name="Group 13"/>
          <p:cNvGrpSpPr/>
          <p:nvPr/>
        </p:nvGrpSpPr>
        <p:grpSpPr>
          <a:xfrm>
            <a:off x="6457950" y="2514600"/>
            <a:ext cx="4353263" cy="2366201"/>
            <a:chOff x="6457950" y="2514600"/>
            <a:chExt cx="4353263" cy="2366201"/>
          </a:xfrm>
        </p:grpSpPr>
        <p:sp>
          <p:nvSpPr>
            <p:cNvPr id="11" name="TextBox 11"/>
            <p:cNvSpPr txBox="1"/>
            <p:nvPr/>
          </p:nvSpPr>
          <p:spPr>
            <a:xfrm>
              <a:off x="6457950" y="2514600"/>
              <a:ext cx="4353263" cy="2305050"/>
            </a:xfrm>
            <a:prstGeom prst="rect">
              <a:avLst/>
            </a:prstGeom>
            <a:noFill/>
            <a:ln>
              <a:noFill/>
            </a:ln>
          </p:spPr>
          <p:txBody>
            <a:bodyPr wrap="none" lIns="0" tIns="0" rIns="0" bIns="0" anchor="t" anchorCtr="0">
              <a:spAutoFit/>
            </a:bodyPr>
            <a:lstStyle/>
            <a:p>
              <a:pPr algn="l"/>
              <a:r>
                <a:rPr lang="zh-CN" sz="12000" b="1" dirty="0">
                  <a:solidFill>
                    <a:schemeClr val="accent2"/>
                  </a:solidFill>
                  <a:latin typeface="Arial Black"/>
                  <a:ea typeface="Arial Black"/>
                  <a:cs typeface="Arial Black"/>
                </a:rPr>
                <a:t>+85%</a:t>
              </a:r>
            </a:p>
          </p:txBody>
        </p:sp>
        <p:sp>
          <p:nvSpPr>
            <p:cNvPr id="12" name="TextBox 12"/>
            <p:cNvSpPr txBox="1"/>
            <p:nvPr/>
          </p:nvSpPr>
          <p:spPr>
            <a:xfrm>
              <a:off x="6470142" y="4616768"/>
              <a:ext cx="328772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icrosoft YaHei"/>
                  <a:ea typeface="Microsoft YaHei"/>
                  <a:cs typeface="Microsoft YaHei"/>
                </a:rPr>
                <a:t>2021 低点 → 2026 回升（CAGR +12%）</a:t>
              </a:r>
            </a:p>
          </p:txBody>
        </p:sp>
      </p:grpSp>
      <p:grpSp>
        <p:nvGrpSpPr>
          <p:cNvPr id="15" name="Group 15"/>
          <p:cNvGrpSpPr/>
          <p:nvPr/>
        </p:nvGrpSpPr>
        <p:grpSpPr>
          <a:xfrm>
            <a:off x="673608" y="5170170"/>
            <a:ext cx="8101584" cy="469392"/>
            <a:chOff x="673608" y="5170170"/>
            <a:chExt cx="8101584" cy="469392"/>
          </a:xfrm>
        </p:grpSpPr>
        <p:sp>
          <p:nvSpPr>
            <p:cNvPr id="14" name="TextBox 14"/>
            <p:cNvSpPr txBox="1"/>
            <p:nvPr/>
          </p:nvSpPr>
          <p:spPr>
            <a:xfrm>
              <a:off x="673608" y="5170170"/>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为什么会降、为什么又涨、以及现在真正卡住它的是什么</a:t>
              </a:r>
            </a:p>
          </p:txBody>
        </p:sp>
      </p:grpSp>
      <p:sp>
        <p:nvSpPr>
          <p:cNvPr id="16" name="Line 16"/>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7" name="TextBox 17"/>
          <p:cNvSpPr txBox="1"/>
          <p:nvPr/>
        </p:nvSpPr>
        <p:spPr>
          <a:xfrm>
            <a:off x="679704" y="6385560"/>
            <a:ext cx="6290435"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全卷数值均标注来源与年份；Lazard 与 IRENA 口径不同，不做平均、不做跨口径换算</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par>
                          <p:cTn id="16" fill="hold">
                            <p:stCondLst>
                              <p:cond delay="20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Group 4"/>
          <p:cNvGrpSpPr/>
          <p:nvPr/>
        </p:nvGrpSpPr>
        <p:grpSpPr>
          <a:xfrm>
            <a:off x="685800" y="723900"/>
            <a:ext cx="1438275" cy="38100"/>
            <a:chOff x="685800" y="723900"/>
            <a:chExt cx="1438275" cy="38100"/>
          </a:xfrm>
        </p:grpSpPr>
        <p:sp>
          <p:nvSpPr>
            <p:cNvPr id="3" name="Rectangle 3"/>
            <p:cNvSpPr/>
            <p:nvPr/>
          </p:nvSpPr>
          <p:spPr>
            <a:xfrm>
              <a:off x="685800" y="723900"/>
              <a:ext cx="1438275" cy="38100"/>
            </a:xfrm>
            <a:prstGeom prst="rect">
              <a:avLst/>
            </a:prstGeom>
            <a:solidFill>
              <a:schemeClr val="accent2"/>
            </a:solidFill>
            <a:ln>
              <a:noFill/>
            </a:ln>
          </p:spPr>
        </p:sp>
      </p:grpSp>
      <p:grpSp>
        <p:nvGrpSpPr>
          <p:cNvPr id="6" name="Group 6"/>
          <p:cNvGrpSpPr/>
          <p:nvPr/>
        </p:nvGrpSpPr>
        <p:grpSpPr>
          <a:xfrm>
            <a:off x="669036" y="977265"/>
            <a:ext cx="6821900" cy="1159764"/>
            <a:chOff x="669036" y="977265"/>
            <a:chExt cx="6821900" cy="1159764"/>
          </a:xfrm>
        </p:grpSpPr>
        <p:sp>
          <p:nvSpPr>
            <p:cNvPr id="5" name="TextBox 5"/>
            <p:cNvSpPr txBox="1"/>
            <p:nvPr/>
          </p:nvSpPr>
          <p:spPr>
            <a:xfrm>
              <a:off x="669036" y="977265"/>
              <a:ext cx="6821900"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十七年降 81% 之后，</a:t>
              </a:r>
              <a:br/>
              <a:r>
                <a:rPr lang="zh-CN" sz="3300" b="1" dirty="0">
                  <a:solidFill>
                    <a:schemeClr val="accent1"/>
                  </a:solidFill>
                  <a:latin typeface="Microsoft YaHei"/>
                  <a:ea typeface="Microsoft YaHei"/>
                  <a:cs typeface="Microsoft YaHei"/>
                </a:rPr>
                <a:t>光伏成本在 2021 年触底、回升 85%</a:t>
              </a:r>
            </a:p>
          </p:txBody>
        </p:sp>
      </p:grpSp>
      <p:grpSp>
        <p:nvGrpSpPr>
          <p:cNvPr id="8" name="Group 8"/>
          <p:cNvGrpSpPr/>
          <p:nvPr/>
        </p:nvGrpSpPr>
        <p:grpSpPr>
          <a:xfrm>
            <a:off x="674370" y="2138362"/>
            <a:ext cx="5166360" cy="802005"/>
            <a:chOff x="674370" y="2138362"/>
            <a:chExt cx="5166360" cy="802005"/>
          </a:xfrm>
        </p:grpSpPr>
        <p:sp>
          <p:nvSpPr>
            <p:cNvPr id="7" name="TextBox 7"/>
            <p:cNvSpPr txBox="1"/>
            <p:nvPr/>
          </p:nvSpPr>
          <p:spPr>
            <a:xfrm>
              <a:off x="674370" y="2138362"/>
              <a:ext cx="5166360" cy="802005"/>
            </a:xfrm>
            <a:prstGeom prst="rect">
              <a:avLst/>
            </a:prstGeom>
            <a:noFill/>
            <a:ln>
              <a:noFill/>
            </a:ln>
          </p:spPr>
          <p:txBody>
            <a:bodyPr wrap="none" lIns="0" tIns="0" rIns="0" bIns="0" anchor="t" anchorCtr="0">
              <a:spAutoFit/>
            </a:bodyPr>
            <a:lstStyle/>
            <a:p>
              <a:pPr algn="l">
                <a:lnSpc>
                  <a:spcPts val="2850"/>
                </a:lnSpc>
              </a:pPr>
              <a:r>
                <a:rPr lang="zh-CN" sz="2250" dirty="0">
                  <a:solidFill>
                    <a:schemeClr val="dk1"/>
                  </a:solidFill>
                  <a:latin typeface="Microsoft YaHei"/>
                  <a:ea typeface="Microsoft YaHei"/>
                  <a:cs typeface="Microsoft YaHei"/>
                </a:rPr>
                <a:t>成本曲线已经转向，</a:t>
              </a:r>
              <a:br/>
              <a:r>
                <a:rPr lang="zh-CN" sz="2250" dirty="0">
                  <a:solidFill>
                    <a:schemeClr val="dk1"/>
                  </a:solidFill>
                  <a:latin typeface="Microsoft YaHei"/>
                  <a:ea typeface="Microsoft YaHei"/>
                  <a:cs typeface="Microsoft YaHei"/>
                </a:rPr>
                <a:t>「会一直更便宜」不再是可以默认的前提</a:t>
              </a:r>
            </a:p>
          </p:txBody>
        </p:sp>
      </p:grpSp>
      <p:grpSp>
        <p:nvGrpSpPr>
          <p:cNvPr id="14" name="lcoe-recent"/>
          <p:cNvGrpSpPr/>
          <p:nvPr/>
        </p:nvGrpSpPr>
        <p:grpSpPr>
          <a:xfrm>
            <a:off x="685800" y="2895600"/>
            <a:ext cx="7429500" cy="3200400"/>
            <a:chOff x="685800" y="2895600"/>
            <a:chExt cx="7429500" cy="3200400"/>
          </a:xfrm>
        </p:grpSpPr>
        <p:graphicFrame>
          <p:nvGraphicFramePr>
            <p:cNvPr id="9" name="lcoe-recent"/>
            <p:cNvGraphicFramePr>
              <a:graphicFrameLocks noGrp="1"/>
            </p:cNvGraphicFramePr>
            <p:nvPr/>
          </p:nvGraphicFramePr>
          <p:xfrm>
            <a:off x="685800" y="2895600"/>
            <a:ext cx="7429500" cy="3200400"/>
          </p:xfrm>
          <a:graphic>
            <a:graphicData uri="http://schemas.openxmlformats.org/drawingml/2006/chart">
              <c:chart xmlns:c="http://schemas.openxmlformats.org/drawingml/2006/chart" r:id="rId2"/>
            </a:graphicData>
          </a:graphic>
        </p:graphicFrame>
        <p:sp>
          <p:nvSpPr>
            <p:cNvPr id="10" name="Chart Note 10"/>
            <p:cNvSpPr txBox="1"/>
            <p:nvPr/>
          </p:nvSpPr>
          <p:spPr>
            <a:xfrm>
              <a:off x="3333750" y="4550092"/>
              <a:ext cx="2000250" cy="274320"/>
            </a:xfrm>
            <a:prstGeom prst="rect">
              <a:avLst/>
            </a:prstGeom>
            <a:noFill/>
            <a:ln>
              <a:noFill/>
            </a:ln>
          </p:spPr>
          <p:txBody>
            <a:bodyPr wrap="square" lIns="0" tIns="0" rIns="0" bIns="0" anchor="b" anchorCtr="0"/>
            <a:lstStyle/>
            <a:p>
              <a:pPr algn="l"/>
              <a:r>
                <a:rPr lang="zh-CN" sz="1350">
                  <a:solidFill>
                    <a:srgbClr val="C8102E"/>
                  </a:solidFill>
                  <a:latin typeface="Arial"/>
                  <a:ea typeface="Microsoft YaHei"/>
                  <a:cs typeface="Arial"/>
                </a:rPr>
                <a:t>2021 $36 历史最低</a:t>
              </a:r>
            </a:p>
          </p:txBody>
        </p:sp>
        <p:sp>
          <p:nvSpPr>
            <p:cNvPr id="11" name="Chart Note 11"/>
            <p:cNvSpPr txBox="1"/>
            <p:nvPr/>
          </p:nvSpPr>
          <p:spPr>
            <a:xfrm>
              <a:off x="6915150" y="3026092"/>
              <a:ext cx="1047750" cy="274320"/>
            </a:xfrm>
            <a:prstGeom prst="rect">
              <a:avLst/>
            </a:prstGeom>
            <a:noFill/>
            <a:ln>
              <a:noFill/>
            </a:ln>
          </p:spPr>
          <p:txBody>
            <a:bodyPr wrap="square" lIns="0" tIns="0" rIns="0" bIns="0" anchor="b" anchorCtr="0"/>
            <a:lstStyle/>
            <a:p>
              <a:pPr algn="l"/>
              <a:r>
                <a:rPr lang="zh-CN" sz="1350">
                  <a:solidFill>
                    <a:srgbClr val="C8102E"/>
                  </a:solidFill>
                  <a:latin typeface="Arial"/>
                  <a:ea typeface="Microsoft YaHei"/>
                  <a:cs typeface="Arial"/>
                </a:rPr>
                <a:t>2026 $69</a:t>
              </a:r>
            </a:p>
          </p:txBody>
        </p:sp>
        <p:sp>
          <p:nvSpPr>
            <p:cNvPr id="12" name="Chart Note 12"/>
            <p:cNvSpPr txBox="1"/>
            <p:nvPr/>
          </p:nvSpPr>
          <p:spPr>
            <a:xfrm>
              <a:off x="1428750" y="3121342"/>
              <a:ext cx="3619500" cy="274320"/>
            </a:xfrm>
            <a:prstGeom prst="rect">
              <a:avLst/>
            </a:prstGeom>
            <a:noFill/>
            <a:ln>
              <a:noFill/>
            </a:ln>
          </p:spPr>
          <p:txBody>
            <a:bodyPr wrap="square" lIns="0" tIns="0" rIns="0" bIns="0" anchor="b" anchorCtr="0"/>
            <a:lstStyle/>
            <a:p>
              <a:pPr algn="l"/>
              <a:r>
                <a:rPr lang="zh-CN" sz="1350">
                  <a:solidFill>
                    <a:srgbClr val="6E6E6E"/>
                  </a:solidFill>
                  <a:latin typeface="Arial"/>
                  <a:ea typeface="Microsoft YaHei"/>
                  <a:cs typeface="Arial"/>
                </a:rPr>
                <a:t>2022 年 Lazard 未发布，序列在此断开</a:t>
              </a:r>
            </a:p>
          </p:txBody>
        </p:sp>
        <p:sp>
          <p:nvSpPr>
            <p:cNvPr id="13" name="Chart Note 13"/>
            <p:cNvSpPr txBox="1"/>
            <p:nvPr/>
          </p:nvSpPr>
          <p:spPr>
            <a:xfrm>
              <a:off x="1333500" y="5795010"/>
              <a:ext cx="1143000" cy="243840"/>
            </a:xfrm>
            <a:prstGeom prst="rect">
              <a:avLst/>
            </a:prstGeom>
            <a:noFill/>
            <a:ln>
              <a:noFill/>
            </a:ln>
          </p:spPr>
          <p:txBody>
            <a:bodyPr wrap="square" lIns="0" tIns="0" rIns="0" bIns="0" anchor="b" anchorCtr="0"/>
            <a:lstStyle/>
            <a:p>
              <a:pPr algn="l"/>
              <a:r>
                <a:rPr lang="zh-CN" sz="1200">
                  <a:solidFill>
                    <a:srgbClr val="6E6E6E"/>
                  </a:solidFill>
                  <a:latin typeface="Arial"/>
                  <a:ea typeface="Microsoft YaHei"/>
                  <a:cs typeface="Arial"/>
                </a:rPr>
                <a:t>USD/MWh</a:t>
              </a:r>
            </a:p>
          </p:txBody>
        </p:sp>
      </p:grpSp>
      <p:grpSp>
        <p:nvGrpSpPr>
          <p:cNvPr id="19" name="lcoe-full"/>
          <p:cNvGrpSpPr/>
          <p:nvPr/>
        </p:nvGrpSpPr>
        <p:grpSpPr>
          <a:xfrm>
            <a:off x="8420100" y="2895600"/>
            <a:ext cx="3086100" cy="2057400"/>
            <a:chOff x="8420100" y="2895600"/>
            <a:chExt cx="3086100" cy="2057400"/>
          </a:xfrm>
        </p:grpSpPr>
        <p:graphicFrame>
          <p:nvGraphicFramePr>
            <p:cNvPr id="15" name="lcoe-full"/>
            <p:cNvGraphicFramePr>
              <a:graphicFrameLocks noGrp="1"/>
            </p:cNvGraphicFramePr>
            <p:nvPr/>
          </p:nvGraphicFramePr>
          <p:xfrm>
            <a:off x="8420100" y="2895600"/>
            <a:ext cx="3086100" cy="2057400"/>
          </p:xfrm>
          <a:graphic>
            <a:graphicData uri="http://schemas.openxmlformats.org/drawingml/2006/chart">
              <c:chart xmlns:c="http://schemas.openxmlformats.org/drawingml/2006/chart" r:id="rId3"/>
            </a:graphicData>
          </a:graphic>
        </p:graphicFrame>
        <p:sp>
          <p:nvSpPr>
            <p:cNvPr id="16" name="Chart Note 16"/>
            <p:cNvSpPr txBox="1"/>
            <p:nvPr/>
          </p:nvSpPr>
          <p:spPr>
            <a:xfrm>
              <a:off x="9048750" y="3026092"/>
              <a:ext cx="1143000" cy="274320"/>
            </a:xfrm>
            <a:prstGeom prst="rect">
              <a:avLst/>
            </a:prstGeom>
            <a:noFill/>
            <a:ln>
              <a:noFill/>
            </a:ln>
          </p:spPr>
          <p:txBody>
            <a:bodyPr wrap="square" lIns="0" tIns="0" rIns="0" bIns="0" anchor="b" anchorCtr="0"/>
            <a:lstStyle/>
            <a:p>
              <a:pPr algn="l"/>
              <a:r>
                <a:rPr lang="zh-CN" sz="1350">
                  <a:solidFill>
                    <a:srgbClr val="111111"/>
                  </a:solidFill>
                  <a:latin typeface="Arial"/>
                  <a:ea typeface="Microsoft YaHei"/>
                  <a:cs typeface="Arial"/>
                </a:rPr>
                <a:t>2009 $359</a:t>
              </a:r>
            </a:p>
          </p:txBody>
        </p:sp>
        <p:sp>
          <p:nvSpPr>
            <p:cNvPr id="17" name="Chart Note 17"/>
            <p:cNvSpPr txBox="1"/>
            <p:nvPr/>
          </p:nvSpPr>
          <p:spPr>
            <a:xfrm>
              <a:off x="10515600" y="3959542"/>
              <a:ext cx="952500" cy="274320"/>
            </a:xfrm>
            <a:prstGeom prst="rect">
              <a:avLst/>
            </a:prstGeom>
            <a:noFill/>
            <a:ln>
              <a:noFill/>
            </a:ln>
          </p:spPr>
          <p:txBody>
            <a:bodyPr wrap="square" lIns="0" tIns="0" rIns="0" bIns="0" anchor="b" anchorCtr="0"/>
            <a:lstStyle/>
            <a:p>
              <a:pPr algn="l"/>
              <a:r>
                <a:rPr lang="zh-CN" sz="1350">
                  <a:solidFill>
                    <a:srgbClr val="111111"/>
                  </a:solidFill>
                  <a:latin typeface="Arial"/>
                  <a:ea typeface="Microsoft YaHei"/>
                  <a:cs typeface="Arial"/>
                </a:rPr>
                <a:t>2026 $69</a:t>
              </a:r>
            </a:p>
          </p:txBody>
        </p:sp>
        <p:sp>
          <p:nvSpPr>
            <p:cNvPr id="18" name="Chart Note 18"/>
            <p:cNvSpPr txBox="1"/>
            <p:nvPr/>
          </p:nvSpPr>
          <p:spPr>
            <a:xfrm>
              <a:off x="9048750" y="4578668"/>
              <a:ext cx="1905000" cy="274320"/>
            </a:xfrm>
            <a:prstGeom prst="rect">
              <a:avLst/>
            </a:prstGeom>
            <a:noFill/>
            <a:ln>
              <a:noFill/>
            </a:ln>
          </p:spPr>
          <p:txBody>
            <a:bodyPr wrap="square" lIns="0" tIns="0" rIns="0" bIns="0" anchor="b" anchorCtr="0"/>
            <a:lstStyle/>
            <a:p>
              <a:pPr algn="l"/>
              <a:r>
                <a:rPr lang="zh-CN" sz="1350">
                  <a:solidFill>
                    <a:srgbClr val="6E6E6E"/>
                  </a:solidFill>
                  <a:latin typeface="Arial"/>
                  <a:ea typeface="Microsoft YaHei"/>
                  <a:cs typeface="Arial"/>
                </a:rPr>
                <a:t>2009 → 2026 全程</a:t>
              </a:r>
            </a:p>
          </p:txBody>
        </p:sp>
      </p:grpSp>
      <p:grpSp>
        <p:nvGrpSpPr>
          <p:cNvPr id="22" name="Group 22"/>
          <p:cNvGrpSpPr/>
          <p:nvPr/>
        </p:nvGrpSpPr>
        <p:grpSpPr>
          <a:xfrm>
            <a:off x="8413242" y="5226368"/>
            <a:ext cx="2165414" cy="1006983"/>
            <a:chOff x="8413242" y="5226368"/>
            <a:chExt cx="2165414" cy="1006983"/>
          </a:xfrm>
        </p:grpSpPr>
        <p:sp>
          <p:nvSpPr>
            <p:cNvPr id="20" name="TextBox 20"/>
            <p:cNvSpPr txBox="1"/>
            <p:nvPr/>
          </p:nvSpPr>
          <p:spPr>
            <a:xfrm>
              <a:off x="8413242" y="52263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icrosoft YaHei"/>
                  <a:ea typeface="Microsoft YaHei"/>
                  <a:cs typeface="Microsoft YaHei"/>
                </a:rPr>
                <a:t>转向的原因是资本成本</a:t>
              </a:r>
            </a:p>
          </p:txBody>
        </p:sp>
        <p:sp>
          <p:nvSpPr>
            <p:cNvPr id="21" name="TextBox 21"/>
            <p:cNvSpPr txBox="1"/>
            <p:nvPr/>
          </p:nvSpPr>
          <p:spPr>
            <a:xfrm>
              <a:off x="8413242" y="5474018"/>
              <a:ext cx="216541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Lazard 敏感性（均值）</a:t>
              </a:r>
              <a:br/>
              <a:r>
                <a:rPr lang="zh-CN" sz="1350" dirty="0">
                  <a:solidFill>
                    <a:schemeClr val="accent3"/>
                  </a:solidFill>
                  <a:latin typeface="Microsoft YaHei"/>
                  <a:ea typeface="Microsoft YaHei"/>
                  <a:cs typeface="Microsoft YaHei"/>
                </a:rPr>
                <a:t>WACC 4.2% → $53</a:t>
              </a:r>
              <a:br/>
              <a:r>
                <a:rPr lang="zh-CN" sz="1350" dirty="0">
                  <a:solidFill>
                    <a:schemeClr val="accent3"/>
                  </a:solidFill>
                  <a:latin typeface="Microsoft YaHei"/>
                  <a:ea typeface="Microsoft YaHei"/>
                  <a:cs typeface="Microsoft YaHei"/>
                </a:rPr>
                <a:t>7.7% → $69 ｜ 10.0% → $83</a:t>
              </a:r>
            </a:p>
          </p:txBody>
        </p:sp>
      </p:grpSp>
      <p:sp>
        <p:nvSpPr>
          <p:cNvPr id="23" name="Line 23"/>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6" name="Group 26"/>
          <p:cNvGrpSpPr/>
          <p:nvPr/>
        </p:nvGrpSpPr>
        <p:grpSpPr>
          <a:xfrm>
            <a:off x="679704" y="6385560"/>
            <a:ext cx="10832592" cy="234696"/>
            <a:chOff x="679704" y="6385560"/>
            <a:chExt cx="10832592" cy="234696"/>
          </a:xfrm>
        </p:grpSpPr>
        <p:sp>
          <p:nvSpPr>
            <p:cNvPr id="24" name="TextBox 24"/>
            <p:cNvSpPr txBox="1"/>
            <p:nvPr/>
          </p:nvSpPr>
          <p:spPr>
            <a:xfrm>
              <a:off x="679704" y="6385560"/>
              <a:ext cx="7187018"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来源：Lazard LCOE+ 2026 Edition（LCOE v19.0），美国、无补贴口径｜同期陆上风电只降 52%</a:t>
              </a:r>
            </a:p>
          </p:txBody>
        </p:sp>
        <p:sp>
          <p:nvSpPr>
            <p:cNvPr id="25" name="TextBox 25"/>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par>
                          <p:cTn id="12" fill="hold">
                            <p:stCondLst>
                              <p:cond delay="1100"/>
                            </p:stCondLst>
                            <p:childTnLst>
                              <p:par>
                                <p:cTn xmlns:p="http://schemas.openxmlformats.org/presentationml/2006/main" id="13" presetID="22" presetClass="entr" presetSubtype="2" fill="hold" grpId="0" nodeType="afterEffect">
                                  <p:stCondLst>
                                    <p:cond delay="30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900"/>
                                        <p:tgtEl>
                                          <p:spTgt spid="14"/>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Group 4"/>
          <p:cNvGrpSpPr/>
          <p:nvPr/>
        </p:nvGrpSpPr>
        <p:grpSpPr>
          <a:xfrm>
            <a:off x="685800" y="723900"/>
            <a:ext cx="2162175" cy="38100"/>
            <a:chOff x="685800" y="723900"/>
            <a:chExt cx="2162175" cy="38100"/>
          </a:xfrm>
        </p:grpSpPr>
        <p:sp>
          <p:nvSpPr>
            <p:cNvPr id="3" name="Rectangle 3"/>
            <p:cNvSpPr/>
            <p:nvPr/>
          </p:nvSpPr>
          <p:spPr>
            <a:xfrm>
              <a:off x="685800" y="723900"/>
              <a:ext cx="2162175" cy="38100"/>
            </a:xfrm>
            <a:prstGeom prst="rect">
              <a:avLst/>
            </a:prstGeom>
            <a:solidFill>
              <a:schemeClr val="accent2"/>
            </a:solidFill>
            <a:ln>
              <a:noFill/>
            </a:ln>
          </p:spPr>
        </p:sp>
      </p:grpSp>
      <p:grpSp>
        <p:nvGrpSpPr>
          <p:cNvPr id="6" name="Group 6"/>
          <p:cNvGrpSpPr/>
          <p:nvPr/>
        </p:nvGrpSpPr>
        <p:grpSpPr>
          <a:xfrm>
            <a:off x="669036" y="977265"/>
            <a:ext cx="7577328" cy="1159764"/>
            <a:chOff x="669036" y="977265"/>
            <a:chExt cx="7577328" cy="1159764"/>
          </a:xfrm>
        </p:grpSpPr>
        <p:sp>
          <p:nvSpPr>
            <p:cNvPr id="5" name="TextBox 5"/>
            <p:cNvSpPr txBox="1"/>
            <p:nvPr/>
          </p:nvSpPr>
          <p:spPr>
            <a:xfrm>
              <a:off x="669036" y="977265"/>
              <a:ext cx="7577328"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在同一口径下，</a:t>
              </a:r>
              <a:br/>
              <a:r>
                <a:rPr lang="zh-CN" sz="3300" b="1" dirty="0">
                  <a:solidFill>
                    <a:schemeClr val="accent1"/>
                  </a:solidFill>
                  <a:latin typeface="Microsoft YaHei"/>
                  <a:ea typeface="Microsoft YaHei"/>
                  <a:cs typeface="Microsoft YaHei"/>
                </a:rPr>
                <a:t>光伏与陆上风电是最便宜的两种新增电源</a:t>
              </a:r>
            </a:p>
          </p:txBody>
        </p:sp>
      </p:grpSp>
      <p:grpSp>
        <p:nvGrpSpPr>
          <p:cNvPr id="9" name="source-cost-range"/>
          <p:cNvGrpSpPr/>
          <p:nvPr/>
        </p:nvGrpSpPr>
        <p:grpSpPr>
          <a:xfrm>
            <a:off x="685800" y="2187892"/>
            <a:ext cx="7410450" cy="3812858"/>
            <a:chOff x="685800" y="2187892"/>
            <a:chExt cx="7410450" cy="3812858"/>
          </a:xfrm>
        </p:grpSpPr>
        <p:graphicFrame>
          <p:nvGraphicFramePr>
            <p:cNvPr id="7" name="source-cost-range"/>
            <p:cNvGraphicFramePr>
              <a:graphicFrameLocks noGrp="1"/>
            </p:cNvGraphicFramePr>
            <p:nvPr/>
          </p:nvGraphicFramePr>
          <p:xfrm>
            <a:off x="685800" y="2247900"/>
            <a:ext cx="7410450" cy="3752850"/>
          </p:xfrm>
          <a:graphic>
            <a:graphicData uri="http://schemas.openxmlformats.org/drawingml/2006/chart">
              <c:chart xmlns:c="http://schemas.openxmlformats.org/drawingml/2006/chart" r:id="rId2"/>
            </a:graphicData>
          </a:graphic>
        </p:graphicFrame>
        <p:sp>
          <p:nvSpPr>
            <p:cNvPr id="8" name="Chart Note 8"/>
            <p:cNvSpPr txBox="1"/>
            <p:nvPr/>
          </p:nvSpPr>
          <p:spPr>
            <a:xfrm>
              <a:off x="3905250" y="2187892"/>
              <a:ext cx="3238500" cy="274320"/>
            </a:xfrm>
            <a:prstGeom prst="rect">
              <a:avLst/>
            </a:prstGeom>
            <a:noFill/>
            <a:ln>
              <a:noFill/>
            </a:ln>
          </p:spPr>
          <p:txBody>
            <a:bodyPr wrap="square" lIns="0" tIns="0" rIns="0" bIns="0" anchor="b" anchorCtr="0"/>
            <a:lstStyle/>
            <a:p>
              <a:pPr algn="l"/>
              <a:r>
                <a:rPr lang="zh-CN" sz="1350">
                  <a:solidFill>
                    <a:srgbClr val="6E6E6E"/>
                  </a:solidFill>
                  <a:latin typeface="Microsoft YaHei"/>
                  <a:ea typeface="Microsoft YaHei"/>
                  <a:cs typeface="Microsoft YaHei"/>
                </a:rPr>
                <a:t>条形总长 = 区间上限，USD/MWh</a:t>
              </a:r>
            </a:p>
          </p:txBody>
        </p:sp>
      </p:grpSp>
      <p:grpSp>
        <p:nvGrpSpPr>
          <p:cNvPr id="11" name="Group 11"/>
          <p:cNvGrpSpPr/>
          <p:nvPr/>
        </p:nvGrpSpPr>
        <p:grpSpPr>
          <a:xfrm>
            <a:off x="8298942" y="2368868"/>
            <a:ext cx="2516886" cy="1006983"/>
            <a:chOff x="8298942" y="2368868"/>
            <a:chExt cx="2516886" cy="1006983"/>
          </a:xfrm>
        </p:grpSpPr>
        <p:sp>
          <p:nvSpPr>
            <p:cNvPr id="10" name="TextBox 10"/>
            <p:cNvSpPr txBox="1"/>
            <p:nvPr/>
          </p:nvSpPr>
          <p:spPr>
            <a:xfrm>
              <a:off x="8298942" y="2368868"/>
              <a:ext cx="251688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Lazard 原文：该分析不考虑部分</a:t>
              </a:r>
              <a:br/>
              <a:r>
                <a:rPr lang="zh-CN" sz="1350" dirty="0">
                  <a:solidFill>
                    <a:schemeClr val="dk1"/>
                  </a:solidFill>
                  <a:latin typeface="Microsoft YaHei"/>
                  <a:ea typeface="Microsoft YaHei"/>
                  <a:cs typeface="Microsoft YaHei"/>
                </a:rPr>
                <a:t>可再生技术的间歇性特征，也不</a:t>
              </a:r>
              <a:br/>
              <a:r>
                <a:rPr lang="zh-CN" sz="1350" dirty="0">
                  <a:solidFill>
                    <a:schemeClr val="dk1"/>
                  </a:solidFill>
                  <a:latin typeface="Microsoft YaHei"/>
                  <a:ea typeface="Microsoft YaHei"/>
                  <a:cs typeface="Microsoft YaHei"/>
                </a:rPr>
                <a:t>考虑新增可再生部署带来的电网</a:t>
              </a:r>
              <a:br/>
              <a:r>
                <a:rPr lang="zh-CN" sz="1350" dirty="0">
                  <a:solidFill>
                    <a:schemeClr val="dk1"/>
                  </a:solidFill>
                  <a:latin typeface="Microsoft YaHei"/>
                  <a:ea typeface="Microsoft YaHei"/>
                  <a:cs typeface="Microsoft YaHei"/>
                </a:rPr>
                <a:t>影响。</a:t>
              </a:r>
            </a:p>
          </p:txBody>
        </p:sp>
      </p:grpSp>
      <p:grpSp>
        <p:nvGrpSpPr>
          <p:cNvPr id="13" name="Group 13"/>
          <p:cNvGrpSpPr/>
          <p:nvPr/>
        </p:nvGrpSpPr>
        <p:grpSpPr>
          <a:xfrm>
            <a:off x="8298942" y="3740468"/>
            <a:ext cx="2481310" cy="1254633"/>
            <a:chOff x="8298942" y="3740468"/>
            <a:chExt cx="2481310" cy="1254633"/>
          </a:xfrm>
        </p:grpSpPr>
        <p:sp>
          <p:nvSpPr>
            <p:cNvPr id="12" name="TextBox 12"/>
            <p:cNvSpPr txBox="1"/>
            <p:nvPr/>
          </p:nvSpPr>
          <p:spPr>
            <a:xfrm>
              <a:off x="8298942" y="3740468"/>
              <a:ext cx="2481310" cy="12546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IRENA 全球口径（2024）：</a:t>
              </a:r>
              <a:br/>
              <a:r>
                <a:rPr lang="zh-CN" sz="1350" dirty="0">
                  <a:solidFill>
                    <a:schemeClr val="dk1"/>
                  </a:solidFill>
                  <a:latin typeface="Microsoft YaHei"/>
                  <a:ea typeface="Microsoft YaHei"/>
                  <a:cs typeface="Microsoft YaHei"/>
                </a:rPr>
                <a:t>新建光伏比最低成本化石方案</a:t>
              </a:r>
              <a:br/>
              <a:r>
                <a:rPr lang="zh-CN" sz="1350" dirty="0">
                  <a:solidFill>
                    <a:schemeClr val="dk1"/>
                  </a:solidFill>
                  <a:latin typeface="Microsoft YaHei"/>
                  <a:ea typeface="Microsoft YaHei"/>
                  <a:cs typeface="Microsoft YaHei"/>
                </a:rPr>
                <a:t xml:space="preserve">便宜 </a:t>
              </a:r>
              <a:r>
                <a:rPr lang="zh-CN" sz="1350" b="1" dirty="0">
                  <a:solidFill>
                    <a:schemeClr val="accent2"/>
                  </a:solidFill>
                  <a:latin typeface="Microsoft YaHei"/>
                  <a:ea typeface="Microsoft YaHei"/>
                  <a:cs typeface="Microsoft YaHei"/>
                </a:rPr>
                <a:t>41%</a:t>
              </a:r>
              <a:r>
                <a:rPr lang="zh-CN" sz="1350" dirty="0">
                  <a:solidFill>
                    <a:schemeClr val="dk1"/>
                  </a:solidFill>
                  <a:latin typeface="Microsoft YaHei"/>
                  <a:ea typeface="Microsoft YaHei"/>
                  <a:cs typeface="Microsoft YaHei"/>
                </a:rPr>
                <a:t>，陆上风电便宜 53%；</a:t>
              </a:r>
              <a:br/>
              <a:r>
                <a:rPr lang="zh-CN" sz="1350" dirty="0">
                  <a:solidFill>
                    <a:schemeClr val="dk1"/>
                  </a:solidFill>
                  <a:latin typeface="Microsoft YaHei"/>
                  <a:ea typeface="Microsoft YaHei"/>
                  <a:cs typeface="Microsoft YaHei"/>
                </a:rPr>
                <a:t>当年投产的新建可再生项目中，</a:t>
              </a:r>
              <a:br/>
              <a:r>
                <a:rPr lang="zh-CN" sz="1350" b="1" dirty="0">
                  <a:solidFill>
                    <a:schemeClr val="accent2"/>
                  </a:solidFill>
                  <a:latin typeface="Microsoft YaHei"/>
                  <a:ea typeface="Microsoft YaHei"/>
                  <a:cs typeface="Microsoft YaHei"/>
                </a:rPr>
                <a:t>91%</a:t>
              </a:r>
              <a:r>
                <a:rPr lang="zh-CN" sz="1350" dirty="0">
                  <a:solidFill>
                    <a:schemeClr val="dk1"/>
                  </a:solidFill>
                  <a:latin typeface="Microsoft YaHei"/>
                  <a:ea typeface="Microsoft YaHei"/>
                  <a:cs typeface="Microsoft YaHei"/>
                </a:rPr>
                <a:t xml:space="preserve"> 成本低于新建化石机组</a:t>
              </a:r>
            </a:p>
          </p:txBody>
        </p:sp>
      </p:grpSp>
      <p:grpSp>
        <p:nvGrpSpPr>
          <p:cNvPr id="15" name="Group 15"/>
          <p:cNvGrpSpPr/>
          <p:nvPr/>
        </p:nvGrpSpPr>
        <p:grpSpPr>
          <a:xfrm>
            <a:off x="8298942" y="5188268"/>
            <a:ext cx="2842641" cy="1006983"/>
            <a:chOff x="8298942" y="5188268"/>
            <a:chExt cx="2842641" cy="1006983"/>
          </a:xfrm>
        </p:grpSpPr>
        <p:sp>
          <p:nvSpPr>
            <p:cNvPr id="14" name="TextBox 14"/>
            <p:cNvSpPr txBox="1"/>
            <p:nvPr/>
          </p:nvSpPr>
          <p:spPr>
            <a:xfrm>
              <a:off x="8298942" y="5188268"/>
              <a:ext cx="2842641"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「最便宜」不是全球均匀的</a:t>
              </a:r>
              <a:br/>
              <a:r>
                <a:rPr lang="zh-CN" sz="1350" dirty="0">
                  <a:solidFill>
                    <a:schemeClr val="accent3"/>
                  </a:solidFill>
                  <a:latin typeface="Microsoft YaHei"/>
                  <a:ea typeface="Microsoft YaHei"/>
                  <a:cs typeface="Microsoft YaHei"/>
                </a:rPr>
                <a:t>中国 0.036 ｜ 印度 0.035 ｜</a:t>
              </a:r>
              <a:br/>
              <a:r>
                <a:rPr lang="zh-CN" sz="1350" dirty="0">
                  <a:solidFill>
                    <a:schemeClr val="accent3"/>
                  </a:solidFill>
                  <a:latin typeface="Microsoft YaHei"/>
                  <a:ea typeface="Microsoft YaHei"/>
                  <a:cs typeface="Microsoft YaHei"/>
                </a:rPr>
                <a:t>美国 0.062 ｜ 德国 0.065</a:t>
              </a:r>
              <a:br/>
              <a:r>
                <a:rPr lang="zh-CN" sz="1350" dirty="0">
                  <a:solidFill>
                    <a:schemeClr val="accent3"/>
                  </a:solidFill>
                  <a:latin typeface="Microsoft YaHei"/>
                  <a:ea typeface="Microsoft YaHei"/>
                  <a:cs typeface="Microsoft YaHei"/>
                </a:rPr>
                <a:t>日本 0.123（2024，约中国 3.7 倍）</a:t>
              </a:r>
            </a:p>
          </p:txBody>
        </p:sp>
      </p:grpSp>
      <p:grpSp>
        <p:nvGrpSpPr>
          <p:cNvPr id="17" name="Group 17"/>
          <p:cNvGrpSpPr/>
          <p:nvPr/>
        </p:nvGrpSpPr>
        <p:grpSpPr>
          <a:xfrm>
            <a:off x="679704" y="5985510"/>
            <a:ext cx="5662574" cy="234696"/>
            <a:chOff x="679704" y="5985510"/>
            <a:chExt cx="5662574" cy="234696"/>
          </a:xfrm>
        </p:grpSpPr>
        <p:sp>
          <p:nvSpPr>
            <p:cNvPr id="16" name="TextBox 16"/>
            <p:cNvSpPr txBox="1"/>
            <p:nvPr/>
          </p:nvSpPr>
          <p:spPr>
            <a:xfrm>
              <a:off x="679704" y="5985510"/>
              <a:ext cx="5662574"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燃煤区间由 LCOE v14.0 按通胀调整；核电基于 Vogtle 3、4 号机组公开造价</a:t>
              </a:r>
            </a:p>
          </p:txBody>
        </p:sp>
      </p:grpSp>
      <p:sp>
        <p:nvSpPr>
          <p:cNvPr id="18" name="Line 1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1" name="Group 21"/>
          <p:cNvGrpSpPr/>
          <p:nvPr/>
        </p:nvGrpSpPr>
        <p:grpSpPr>
          <a:xfrm>
            <a:off x="679704" y="6385560"/>
            <a:ext cx="10832592" cy="234696"/>
            <a:chOff x="679704" y="6385560"/>
            <a:chExt cx="10832592" cy="234696"/>
          </a:xfrm>
        </p:grpSpPr>
        <p:sp>
          <p:nvSpPr>
            <p:cNvPr id="19" name="TextBox 19"/>
            <p:cNvSpPr txBox="1"/>
            <p:nvPr/>
          </p:nvSpPr>
          <p:spPr>
            <a:xfrm>
              <a:off x="679704" y="6385560"/>
              <a:ext cx="10532783"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来源：Lazard LCOE v19.0（2026），美国、无补贴；天然气 $3.45、燃煤 $1.47、核燃料 $0.85/MMBTU，60% 债务(8%) + 40% 权益(12%)</a:t>
              </a:r>
            </a:p>
          </p:txBody>
        </p:sp>
        <p:sp>
          <p:nvSpPr>
            <p:cNvPr id="20" name="TextBox 20"/>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30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900"/>
                                        <p:tgtEl>
                                          <p:spTgt spid="9"/>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childTnLst>
                          </p:cTn>
                        </p:par>
                        <p:par>
                          <p:cTn id="24" fill="hold">
                            <p:stCondLst>
                              <p:cond delay="3700"/>
                            </p:stCondLst>
                            <p:childTnLst>
                              <p:par>
                                <p:cTn xmlns:p="http://schemas.openxmlformats.org/presentationml/2006/main" id="25" presetID="10" presetClass="entr" presetSubtype="0" fill="hold" grpId="0" nodeType="afterEffect">
                                  <p:stCondLst>
                                    <p:cond delay="30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argument-progress"/>
          <p:cNvGrpSpPr/>
          <p:nvPr/>
        </p:nvGrpSpPr>
        <p:grpSpPr>
          <a:xfrm>
            <a:off x="685800" y="723900"/>
            <a:ext cx="2886075" cy="38100"/>
            <a:chOff x="685800" y="723900"/>
            <a:chExt cx="2886075" cy="38100"/>
          </a:xfrm>
        </p:grpSpPr>
        <p:sp>
          <p:nvSpPr>
            <p:cNvPr id="3" name="Rectangle 3"/>
            <p:cNvSpPr/>
            <p:nvPr/>
          </p:nvSpPr>
          <p:spPr>
            <a:xfrm>
              <a:off x="685800" y="723900"/>
              <a:ext cx="2886075" cy="38100"/>
            </a:xfrm>
            <a:prstGeom prst="rect">
              <a:avLst/>
            </a:prstGeom>
            <a:solidFill>
              <a:schemeClr val="accent2"/>
            </a:solidFill>
            <a:ln>
              <a:noFill/>
            </a:ln>
          </p:spPr>
        </p:sp>
      </p:grpSp>
      <p:grpSp>
        <p:nvGrpSpPr>
          <p:cNvPr id="6" name="Group 6"/>
          <p:cNvGrpSpPr/>
          <p:nvPr/>
        </p:nvGrpSpPr>
        <p:grpSpPr>
          <a:xfrm>
            <a:off x="669036" y="977265"/>
            <a:ext cx="7158228" cy="1159764"/>
            <a:chOff x="669036" y="977265"/>
            <a:chExt cx="7158228" cy="1159764"/>
          </a:xfrm>
        </p:grpSpPr>
        <p:sp>
          <p:nvSpPr>
            <p:cNvPr id="5" name="TextBox 5"/>
            <p:cNvSpPr txBox="1"/>
            <p:nvPr/>
          </p:nvSpPr>
          <p:spPr>
            <a:xfrm>
              <a:off x="669036" y="977265"/>
              <a:ext cx="7158228"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三个问题，三条判断：</a:t>
              </a:r>
              <a:br/>
              <a:r>
                <a:rPr lang="zh-CN" sz="3300" b="1" dirty="0">
                  <a:solidFill>
                    <a:schemeClr val="accent1"/>
                  </a:solidFill>
                  <a:latin typeface="Microsoft YaHei"/>
                  <a:ea typeface="Microsoft YaHei"/>
                  <a:cs typeface="Microsoft YaHei"/>
                </a:rPr>
                <a:t>成本从哪来、还会不会降、真正卡在哪</a:t>
              </a:r>
            </a:p>
          </p:txBody>
        </p:sp>
      </p:grpSp>
      <p:grpSp>
        <p:nvGrpSpPr>
          <p:cNvPr id="20" name="Group 20"/>
          <p:cNvGrpSpPr/>
          <p:nvPr/>
        </p:nvGrpSpPr>
        <p:grpSpPr>
          <a:xfrm>
            <a:off x="685800" y="3200400"/>
            <a:ext cx="10829925" cy="2857500"/>
            <a:chOff x="685800" y="3200400"/>
            <a:chExt cx="10829925" cy="2857500"/>
          </a:xfrm>
        </p:grpSpPr>
        <p:sp>
          <p:nvSpPr>
            <p:cNvPr id="7" name="Line 7"/>
            <p:cNvSpPr/>
            <p:nvPr/>
          </p:nvSpPr>
          <p:spPr>
            <a:xfrm>
              <a:off x="6858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8" name="Line 8"/>
            <p:cNvSpPr/>
            <p:nvPr/>
          </p:nvSpPr>
          <p:spPr>
            <a:xfrm>
              <a:off x="16002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9" name="Line 9"/>
            <p:cNvSpPr/>
            <p:nvPr/>
          </p:nvSpPr>
          <p:spPr>
            <a:xfrm>
              <a:off x="25146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0" name="Line 10"/>
            <p:cNvSpPr/>
            <p:nvPr/>
          </p:nvSpPr>
          <p:spPr>
            <a:xfrm>
              <a:off x="34290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1" name="Line 11"/>
            <p:cNvSpPr/>
            <p:nvPr/>
          </p:nvSpPr>
          <p:spPr>
            <a:xfrm>
              <a:off x="43434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2" name="Line 12"/>
            <p:cNvSpPr/>
            <p:nvPr/>
          </p:nvSpPr>
          <p:spPr>
            <a:xfrm>
              <a:off x="52578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3" name="Line 13"/>
            <p:cNvSpPr/>
            <p:nvPr/>
          </p:nvSpPr>
          <p:spPr>
            <a:xfrm>
              <a:off x="61722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4" name="Line 14"/>
            <p:cNvSpPr/>
            <p:nvPr/>
          </p:nvSpPr>
          <p:spPr>
            <a:xfrm>
              <a:off x="70866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5" name="Line 15"/>
            <p:cNvSpPr/>
            <p:nvPr/>
          </p:nvSpPr>
          <p:spPr>
            <a:xfrm>
              <a:off x="80010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6" name="Line 16"/>
            <p:cNvSpPr/>
            <p:nvPr/>
          </p:nvSpPr>
          <p:spPr>
            <a:xfrm>
              <a:off x="89154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7" name="Line 17"/>
            <p:cNvSpPr/>
            <p:nvPr/>
          </p:nvSpPr>
          <p:spPr>
            <a:xfrm>
              <a:off x="98298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8" name="Line 18"/>
            <p:cNvSpPr/>
            <p:nvPr/>
          </p:nvSpPr>
          <p:spPr>
            <a:xfrm>
              <a:off x="107442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sp>
          <p:nvSpPr>
            <p:cNvPr id="19" name="Line 19"/>
            <p:cNvSpPr/>
            <p:nvPr/>
          </p:nvSpPr>
          <p:spPr>
            <a:xfrm>
              <a:off x="11506200" y="3200400"/>
              <a:ext cx="9525" cy="2857500"/>
            </a:xfrm>
            <a:custGeom>
              <a:avLst/>
              <a:gdLst/>
              <a:ahLst/>
              <a:cxnLst/>
              <a:rect l="l" t="t" r="r" b="b"/>
              <a:pathLst>
                <a:path w="9525" h="2857500">
                  <a:moveTo>
                    <a:pt x="0" y="0"/>
                  </a:moveTo>
                  <a:lnTo>
                    <a:pt x="0" y="2857500"/>
                  </a:lnTo>
                </a:path>
              </a:pathLst>
            </a:custGeom>
            <a:noFill/>
            <a:ln w="9525">
              <a:solidFill>
                <a:srgbClr val="E8E8E8"/>
              </a:solidFill>
            </a:ln>
          </p:spPr>
        </p:sp>
      </p:grpSp>
      <p:grpSp>
        <p:nvGrpSpPr>
          <p:cNvPr id="23" name="Group 23"/>
          <p:cNvGrpSpPr/>
          <p:nvPr/>
        </p:nvGrpSpPr>
        <p:grpSpPr>
          <a:xfrm>
            <a:off x="685800" y="2247900"/>
            <a:ext cx="10820400" cy="914400"/>
            <a:chOff x="685800" y="2247900"/>
            <a:chExt cx="10820400" cy="914400"/>
          </a:xfrm>
        </p:grpSpPr>
        <p:sp>
          <p:nvSpPr>
            <p:cNvPr id="21" name="Rectangle 21"/>
            <p:cNvSpPr/>
            <p:nvPr/>
          </p:nvSpPr>
          <p:spPr>
            <a:xfrm>
              <a:off x="685800" y="2247900"/>
              <a:ext cx="10820400" cy="914400"/>
            </a:xfrm>
            <a:prstGeom prst="rect">
              <a:avLst/>
            </a:prstGeom>
            <a:solidFill>
              <a:schemeClr val="accent1"/>
            </a:solidFill>
            <a:ln>
              <a:noFill/>
            </a:ln>
          </p:spPr>
        </p:sp>
        <p:sp>
          <p:nvSpPr>
            <p:cNvPr id="22" name="TextBox 22"/>
            <p:cNvSpPr txBox="1"/>
            <p:nvPr/>
          </p:nvSpPr>
          <p:spPr>
            <a:xfrm>
              <a:off x="981456" y="2453640"/>
              <a:ext cx="5276088" cy="694944"/>
            </a:xfrm>
            <a:prstGeom prst="rect">
              <a:avLst/>
            </a:prstGeom>
            <a:noFill/>
            <a:ln>
              <a:noFill/>
            </a:ln>
          </p:spPr>
          <p:txBody>
            <a:bodyPr wrap="none" lIns="0" tIns="0" rIns="0" bIns="0" anchor="t" anchorCtr="0">
              <a:spAutoFit/>
            </a:bodyPr>
            <a:lstStyle/>
            <a:p>
              <a:pPr algn="l">
                <a:lnSpc>
                  <a:spcPts val="2700"/>
                </a:lnSpc>
              </a:pPr>
              <a:r>
                <a:rPr lang="zh-CN" sz="1800" dirty="0">
                  <a:solidFill>
                    <a:srgbClr val="FFFFFF"/>
                  </a:solidFill>
                  <a:latin typeface="Microsoft YaHei"/>
                  <a:ea typeface="Microsoft YaHei"/>
                  <a:cs typeface="Microsoft YaHei"/>
                </a:rPr>
                <a:t>光伏的成本优势由制造规模的学习率产生，</a:t>
              </a:r>
              <a:br/>
              <a:r>
                <a:rPr lang="zh-CN" sz="1800" dirty="0">
                  <a:solidFill>
                    <a:srgbClr val="FFFFFF"/>
                  </a:solidFill>
                  <a:latin typeface="Microsoft YaHei"/>
                  <a:ea typeface="Microsoft YaHei"/>
                  <a:cs typeface="Microsoft YaHei"/>
                </a:rPr>
                <a:t>已经转移到系统侧，并正在被电网侧的稀缺重新定价</a:t>
              </a:r>
            </a:p>
          </p:txBody>
        </p:sp>
      </p:grpSp>
      <p:grpSp>
        <p:nvGrpSpPr>
          <p:cNvPr id="25" name="!!chapter-numeral"/>
          <p:cNvGrpSpPr/>
          <p:nvPr/>
        </p:nvGrpSpPr>
        <p:grpSpPr>
          <a:xfrm>
            <a:off x="666750" y="3223260"/>
            <a:ext cx="1224770" cy="1390650"/>
            <a:chOff x="666750" y="3223260"/>
            <a:chExt cx="1224770" cy="1390650"/>
          </a:xfrm>
        </p:grpSpPr>
        <p:sp>
          <p:nvSpPr>
            <p:cNvPr id="24" name="TextBox 24"/>
            <p:cNvSpPr txBox="1"/>
            <p:nvPr/>
          </p:nvSpPr>
          <p:spPr>
            <a:xfrm>
              <a:off x="666750" y="3223260"/>
              <a:ext cx="1224770" cy="1390650"/>
            </a:xfrm>
            <a:prstGeom prst="rect">
              <a:avLst/>
            </a:prstGeom>
            <a:noFill/>
            <a:ln>
              <a:noFill/>
            </a:ln>
          </p:spPr>
          <p:txBody>
            <a:bodyPr wrap="none" lIns="0" tIns="0" rIns="0" bIns="0" anchor="t" anchorCtr="0">
              <a:spAutoFit/>
            </a:bodyPr>
            <a:lstStyle/>
            <a:p>
              <a:pPr algn="l"/>
              <a:r>
                <a:rPr lang="zh-CN" sz="7200" b="1" dirty="0">
                  <a:solidFill>
                    <a:schemeClr val="accent1"/>
                  </a:solidFill>
                  <a:latin typeface="Arial Black"/>
                  <a:ea typeface="Arial Black"/>
                  <a:cs typeface="Arial Black"/>
                </a:rPr>
                <a:t>01</a:t>
              </a:r>
            </a:p>
          </p:txBody>
        </p:sp>
      </p:grpSp>
      <p:grpSp>
        <p:nvGrpSpPr>
          <p:cNvPr id="29" name="Group 29"/>
          <p:cNvGrpSpPr/>
          <p:nvPr/>
        </p:nvGrpSpPr>
        <p:grpSpPr>
          <a:xfrm>
            <a:off x="676656" y="4540568"/>
            <a:ext cx="2199132" cy="1521333"/>
            <a:chOff x="676656" y="4540568"/>
            <a:chExt cx="2199132" cy="1521333"/>
          </a:xfrm>
        </p:grpSpPr>
        <p:sp>
          <p:nvSpPr>
            <p:cNvPr id="26" name="TextBox 26"/>
            <p:cNvSpPr txBox="1"/>
            <p:nvPr/>
          </p:nvSpPr>
          <p:spPr>
            <a:xfrm>
              <a:off x="678942" y="4540568"/>
              <a:ext cx="110413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icrosoft YaHei"/>
                  <a:ea typeface="Microsoft YaHei"/>
                  <a:cs typeface="Microsoft YaHei"/>
                </a:rPr>
                <a:t>便宜从哪来？</a:t>
              </a:r>
            </a:p>
          </p:txBody>
        </p:sp>
        <p:sp>
          <p:nvSpPr>
            <p:cNvPr id="27" name="TextBox 27"/>
            <p:cNvSpPr txBox="1"/>
            <p:nvPr/>
          </p:nvSpPr>
          <p:spPr>
            <a:xfrm>
              <a:off x="676656" y="4853940"/>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成本下降来自学习率</a:t>
              </a:r>
            </a:p>
          </p:txBody>
        </p:sp>
        <p:sp>
          <p:nvSpPr>
            <p:cNvPr id="28" name="TextBox 28"/>
            <p:cNvSpPr txBox="1"/>
            <p:nvPr/>
          </p:nvSpPr>
          <p:spPr>
            <a:xfrm>
              <a:off x="678942" y="5550218"/>
              <a:ext cx="15567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累计装机每翻一番，</a:t>
              </a:r>
              <a:br/>
              <a:r>
                <a:rPr lang="zh-CN" sz="1350" dirty="0">
                  <a:solidFill>
                    <a:schemeClr val="accent3"/>
                  </a:solidFill>
                  <a:latin typeface="Microsoft YaHei"/>
                  <a:ea typeface="Microsoft YaHei"/>
                  <a:cs typeface="Microsoft YaHei"/>
                </a:rPr>
                <a:t>组件价格下降 20%</a:t>
              </a:r>
            </a:p>
          </p:txBody>
        </p:sp>
      </p:grpSp>
      <p:grpSp>
        <p:nvGrpSpPr>
          <p:cNvPr id="31" name="Group 31"/>
          <p:cNvGrpSpPr/>
          <p:nvPr/>
        </p:nvGrpSpPr>
        <p:grpSpPr>
          <a:xfrm>
            <a:off x="4324350" y="3223260"/>
            <a:ext cx="1224770" cy="1390650"/>
            <a:chOff x="4324350" y="3223260"/>
            <a:chExt cx="1224770" cy="1390650"/>
          </a:xfrm>
        </p:grpSpPr>
        <p:sp>
          <p:nvSpPr>
            <p:cNvPr id="30" name="TextBox 30"/>
            <p:cNvSpPr txBox="1"/>
            <p:nvPr/>
          </p:nvSpPr>
          <p:spPr>
            <a:xfrm>
              <a:off x="4324350" y="3223260"/>
              <a:ext cx="1224770" cy="1390650"/>
            </a:xfrm>
            <a:prstGeom prst="rect">
              <a:avLst/>
            </a:prstGeom>
            <a:noFill/>
            <a:ln>
              <a:noFill/>
            </a:ln>
          </p:spPr>
          <p:txBody>
            <a:bodyPr wrap="none" lIns="0" tIns="0" rIns="0" bIns="0" anchor="t" anchorCtr="0">
              <a:spAutoFit/>
            </a:bodyPr>
            <a:lstStyle/>
            <a:p>
              <a:pPr algn="l"/>
              <a:r>
                <a:rPr lang="zh-CN" sz="7200" b="1" dirty="0">
                  <a:solidFill>
                    <a:schemeClr val="accent1"/>
                  </a:solidFill>
                  <a:latin typeface="Arial Black"/>
                  <a:ea typeface="Arial Black"/>
                  <a:cs typeface="Arial Black"/>
                </a:rPr>
                <a:t>02</a:t>
              </a:r>
            </a:p>
          </p:txBody>
        </p:sp>
      </p:grpSp>
      <p:grpSp>
        <p:nvGrpSpPr>
          <p:cNvPr id="35" name="Group 35"/>
          <p:cNvGrpSpPr/>
          <p:nvPr/>
        </p:nvGrpSpPr>
        <p:grpSpPr>
          <a:xfrm>
            <a:off x="4334256" y="4540568"/>
            <a:ext cx="1847088" cy="1521333"/>
            <a:chOff x="4334256" y="4540568"/>
            <a:chExt cx="1847088" cy="1521333"/>
          </a:xfrm>
        </p:grpSpPr>
        <p:sp>
          <p:nvSpPr>
            <p:cNvPr id="32" name="TextBox 32"/>
            <p:cNvSpPr txBox="1"/>
            <p:nvPr/>
          </p:nvSpPr>
          <p:spPr>
            <a:xfrm>
              <a:off x="4336542" y="4540568"/>
              <a:ext cx="1467612"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icrosoft YaHei"/>
                  <a:ea typeface="Microsoft YaHei"/>
                  <a:cs typeface="Microsoft YaHei"/>
                </a:rPr>
                <a:t>还会继续便宜吗？</a:t>
              </a:r>
            </a:p>
          </p:txBody>
        </p:sp>
        <p:sp>
          <p:nvSpPr>
            <p:cNvPr id="33" name="TextBox 33"/>
            <p:cNvSpPr txBox="1"/>
            <p:nvPr/>
          </p:nvSpPr>
          <p:spPr>
            <a:xfrm>
              <a:off x="4334256" y="4853940"/>
              <a:ext cx="1847088" cy="694944"/>
            </a:xfrm>
            <a:prstGeom prst="rect">
              <a:avLst/>
            </a:prstGeom>
            <a:noFill/>
            <a:ln>
              <a:noFill/>
            </a:ln>
          </p:spPr>
          <p:txBody>
            <a:bodyPr wrap="none" lIns="0" tIns="0" rIns="0" bIns="0" anchor="t" anchorCtr="0">
              <a:spAutoFit/>
            </a:bodyPr>
            <a:lstStyle/>
            <a:p>
              <a:pPr algn="l">
                <a:lnSpc>
                  <a:spcPts val="2700"/>
                </a:lnSpc>
              </a:pPr>
              <a:r>
                <a:rPr lang="zh-CN" sz="1800" b="1" dirty="0">
                  <a:solidFill>
                    <a:schemeClr val="accent1"/>
                  </a:solidFill>
                  <a:latin typeface="Microsoft YaHei"/>
                  <a:ea typeface="Microsoft YaHei"/>
                  <a:cs typeface="Microsoft YaHei"/>
                </a:rPr>
                <a:t>成本中心已从组件</a:t>
              </a:r>
              <a:br/>
              <a:r>
                <a:rPr lang="zh-CN" sz="1800" b="1" dirty="0">
                  <a:solidFill>
                    <a:schemeClr val="accent1"/>
                  </a:solidFill>
                  <a:latin typeface="Microsoft YaHei"/>
                  <a:ea typeface="Microsoft YaHei"/>
                  <a:cs typeface="Microsoft YaHei"/>
                </a:rPr>
                <a:t>挪到 BOS 与储能</a:t>
              </a:r>
            </a:p>
          </p:txBody>
        </p:sp>
        <p:sp>
          <p:nvSpPr>
            <p:cNvPr id="34" name="TextBox 34"/>
            <p:cNvSpPr txBox="1"/>
            <p:nvPr/>
          </p:nvSpPr>
          <p:spPr>
            <a:xfrm>
              <a:off x="4336542" y="5550218"/>
              <a:ext cx="129959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2024 年组件只占</a:t>
              </a:r>
              <a:br/>
              <a:r>
                <a:rPr lang="zh-CN" sz="1350" dirty="0">
                  <a:solidFill>
                    <a:schemeClr val="accent3"/>
                  </a:solidFill>
                  <a:latin typeface="Microsoft YaHei"/>
                  <a:ea typeface="Microsoft YaHei"/>
                  <a:cs typeface="Microsoft YaHei"/>
                </a:rPr>
                <a:t>系统成本的 30%</a:t>
              </a:r>
            </a:p>
          </p:txBody>
        </p:sp>
      </p:grpSp>
      <p:grpSp>
        <p:nvGrpSpPr>
          <p:cNvPr id="37" name="Group 37"/>
          <p:cNvGrpSpPr/>
          <p:nvPr/>
        </p:nvGrpSpPr>
        <p:grpSpPr>
          <a:xfrm>
            <a:off x="7981950" y="3223260"/>
            <a:ext cx="1224770" cy="1390650"/>
            <a:chOff x="7981950" y="3223260"/>
            <a:chExt cx="1224770" cy="1390650"/>
          </a:xfrm>
        </p:grpSpPr>
        <p:sp>
          <p:nvSpPr>
            <p:cNvPr id="36" name="TextBox 36"/>
            <p:cNvSpPr txBox="1"/>
            <p:nvPr/>
          </p:nvSpPr>
          <p:spPr>
            <a:xfrm>
              <a:off x="7981950" y="3223260"/>
              <a:ext cx="1224770" cy="1390650"/>
            </a:xfrm>
            <a:prstGeom prst="rect">
              <a:avLst/>
            </a:prstGeom>
            <a:noFill/>
            <a:ln>
              <a:noFill/>
            </a:ln>
          </p:spPr>
          <p:txBody>
            <a:bodyPr wrap="none" lIns="0" tIns="0" rIns="0" bIns="0" anchor="t" anchorCtr="0">
              <a:spAutoFit/>
            </a:bodyPr>
            <a:lstStyle/>
            <a:p>
              <a:pPr algn="l"/>
              <a:r>
                <a:rPr lang="zh-CN" sz="7200" b="1" dirty="0">
                  <a:solidFill>
                    <a:schemeClr val="accent1"/>
                  </a:solidFill>
                  <a:latin typeface="Arial Black"/>
                  <a:ea typeface="Arial Black"/>
                  <a:cs typeface="Arial Black"/>
                </a:rPr>
                <a:t>03</a:t>
              </a:r>
            </a:p>
          </p:txBody>
        </p:sp>
      </p:grpSp>
      <p:grpSp>
        <p:nvGrpSpPr>
          <p:cNvPr id="41" name="Group 41"/>
          <p:cNvGrpSpPr/>
          <p:nvPr/>
        </p:nvGrpSpPr>
        <p:grpSpPr>
          <a:xfrm>
            <a:off x="7991856" y="4540568"/>
            <a:ext cx="1847088" cy="1521333"/>
            <a:chOff x="7991856" y="4540568"/>
            <a:chExt cx="1847088" cy="1521333"/>
          </a:xfrm>
        </p:grpSpPr>
        <p:sp>
          <p:nvSpPr>
            <p:cNvPr id="38" name="TextBox 38"/>
            <p:cNvSpPr txBox="1"/>
            <p:nvPr/>
          </p:nvSpPr>
          <p:spPr>
            <a:xfrm>
              <a:off x="7994142" y="4540568"/>
              <a:ext cx="1649349"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icrosoft YaHei"/>
                  <a:ea typeface="Microsoft YaHei"/>
                  <a:cs typeface="Microsoft YaHei"/>
                </a:rPr>
                <a:t>什么时候它不便宜？</a:t>
              </a:r>
            </a:p>
          </p:txBody>
        </p:sp>
        <p:sp>
          <p:nvSpPr>
            <p:cNvPr id="39" name="TextBox 39"/>
            <p:cNvSpPr txBox="1"/>
            <p:nvPr/>
          </p:nvSpPr>
          <p:spPr>
            <a:xfrm>
              <a:off x="7991856" y="4853940"/>
              <a:ext cx="1847088" cy="694944"/>
            </a:xfrm>
            <a:prstGeom prst="rect">
              <a:avLst/>
            </a:prstGeom>
            <a:noFill/>
            <a:ln>
              <a:noFill/>
            </a:ln>
          </p:spPr>
          <p:txBody>
            <a:bodyPr wrap="none" lIns="0" tIns="0" rIns="0" bIns="0" anchor="t" anchorCtr="0">
              <a:spAutoFit/>
            </a:bodyPr>
            <a:lstStyle/>
            <a:p>
              <a:pPr algn="l">
                <a:lnSpc>
                  <a:spcPts val="2700"/>
                </a:lnSpc>
              </a:pPr>
              <a:r>
                <a:rPr lang="zh-CN" sz="1800" b="1" dirty="0">
                  <a:solidFill>
                    <a:schemeClr val="accent1"/>
                  </a:solidFill>
                  <a:latin typeface="Microsoft YaHei"/>
                  <a:ea typeface="Microsoft YaHei"/>
                  <a:cs typeface="Microsoft YaHei"/>
                </a:rPr>
                <a:t>真正的稀缺是并网</a:t>
              </a:r>
              <a:br/>
              <a:r>
                <a:rPr lang="zh-CN" sz="1800" b="1" dirty="0">
                  <a:solidFill>
                    <a:schemeClr val="accent1"/>
                  </a:solidFill>
                  <a:latin typeface="Microsoft YaHei"/>
                  <a:ea typeface="Microsoft YaHei"/>
                  <a:cs typeface="Microsoft YaHei"/>
                </a:rPr>
                <a:t>容量与消纳空间</a:t>
              </a:r>
            </a:p>
          </p:txBody>
        </p:sp>
        <p:sp>
          <p:nvSpPr>
            <p:cNvPr id="40" name="TextBox 40"/>
            <p:cNvSpPr txBox="1"/>
            <p:nvPr/>
          </p:nvSpPr>
          <p:spPr>
            <a:xfrm>
              <a:off x="7994142" y="5550218"/>
              <a:ext cx="13853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美国并网中位等待</a:t>
              </a:r>
              <a:br/>
              <a:r>
                <a:rPr lang="zh-CN" sz="1350" dirty="0">
                  <a:solidFill>
                    <a:schemeClr val="accent3"/>
                  </a:solidFill>
                  <a:latin typeface="Microsoft YaHei"/>
                  <a:ea typeface="Microsoft YaHei"/>
                  <a:cs typeface="Microsoft YaHei"/>
                </a:rPr>
                <a:t>已达 61 个月</a:t>
              </a:r>
            </a:p>
          </p:txBody>
        </p:sp>
      </p:grpSp>
      <p:sp>
        <p:nvSpPr>
          <p:cNvPr id="42" name="Line 4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45" name="Group 45"/>
          <p:cNvGrpSpPr/>
          <p:nvPr/>
        </p:nvGrpSpPr>
        <p:grpSpPr>
          <a:xfrm>
            <a:off x="679704" y="6385560"/>
            <a:ext cx="10832592" cy="234696"/>
            <a:chOff x="679704" y="6385560"/>
            <a:chExt cx="10832592" cy="234696"/>
          </a:xfrm>
        </p:grpSpPr>
        <p:sp>
          <p:nvSpPr>
            <p:cNvPr id="43" name="TextBox 43"/>
            <p:cNvSpPr txBox="1"/>
            <p:nvPr/>
          </p:nvSpPr>
          <p:spPr>
            <a:xfrm>
              <a:off x="679704" y="6385560"/>
              <a:ext cx="9398392"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三条判断按生产端 / 系统端 / 电网端划分，覆盖成本从产生到兑现的完整链条｜来源：Our World in Data、NREL、Berkeley Lab</a:t>
              </a:r>
            </a:p>
          </p:txBody>
        </p:sp>
        <p:sp>
          <p:nvSpPr>
            <p:cNvPr id="44" name="TextBox 44"/>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04</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id="9" presetID="22" presetClass="entr" presetSubtype="2" fill="hold" grpId="0" nodeType="afterEffect">
                                  <p:stCondLst>
                                    <p:cond delay="300"/>
                                  </p:stCondLst>
                                  <p:childTnLst>
                                    <p:set>
                                      <p:cBhvr>
                                        <p:cTn id="10" dur="1" fill="hold">
                                          <p:stCondLst>
                                            <p:cond delay="0"/>
                                          </p:stCondLst>
                                        </p:cTn>
                                        <p:tgtEl>
                                          <p:spTgt spid="23"/>
                                        </p:tgtEl>
                                        <p:attrNameLst>
                                          <p:attrName>style.visibility</p:attrName>
                                        </p:attrNameLst>
                                      </p:cBhvr>
                                      <p:to>
                                        <p:strVal val="visible"/>
                                      </p:to>
                                    </p:set>
                                    <p:animEffect transition="in" filter="wipe(right)">
                                      <p:cBhvr>
                                        <p:cTn id="11" dur="700"/>
                                        <p:tgtEl>
                                          <p:spTgt spid="23"/>
                                        </p:tgtEl>
                                      </p:cBhvr>
                                    </p:animEffect>
                                  </p:childTnLst>
                                </p:cTn>
                              </p:par>
                            </p:childTnLst>
                          </p:cTn>
                        </p:par>
                        <p:par>
                          <p:cTn id="12" fill="hold">
                            <p:stCondLst>
                              <p:cond delay="1400"/>
                            </p:stCondLst>
                            <p:childTnLst>
                              <p:par>
                                <p:cTn id="13" presetID="10" presetClass="entr" presetSubtype="0" fill="hold" grpId="0" nodeType="afterEffect">
                                  <p:stCondLst>
                                    <p:cond delay="3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childTnLst>
                          </p:cTn>
                        </p:par>
                        <p:par>
                          <p:cTn id="16" fill="hold">
                            <p:stCondLst>
                              <p:cond delay="2100"/>
                            </p:stCondLst>
                            <p:childTnLst>
                              <p:par>
                                <p:cTn id="17" presetID="10" presetClass="entr" presetSubtype="0" fill="hold" grpId="0" nodeType="afterEffect">
                                  <p:stCondLst>
                                    <p:cond delay="3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childTnLst>
                          </p:cTn>
                        </p:par>
                        <p:par>
                          <p:cTn id="20" fill="hold">
                            <p:stCondLst>
                              <p:cond delay="2800"/>
                            </p:stCondLst>
                            <p:childTnLst>
                              <p:par>
                                <p:cTn id="21" presetID="10" presetClass="entr" presetSubtype="0" fill="hold" grpId="0" nodeType="afterEffect">
                                  <p:stCondLst>
                                    <p:cond delay="30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childTnLst>
                          </p:cTn>
                        </p:par>
                        <p:par>
                          <p:cTn id="24" fill="hold">
                            <p:stCondLst>
                              <p:cond delay="3500"/>
                            </p:stCondLst>
                            <p:childTnLst>
                              <p:par>
                                <p:cTn id="25" presetID="10" presetClass="entr" presetSubtype="0" fill="hold" grpId="0" nodeType="afterEffect">
                                  <p:stCondLst>
                                    <p:cond delay="30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par>
                          <p:cTn id="28" fill="hold">
                            <p:stCondLst>
                              <p:cond delay="4200"/>
                            </p:stCondLst>
                            <p:childTnLst>
                              <p:par>
                                <p:cTn id="29" presetID="10" presetClass="entr" presetSubtype="0" fill="hold" grpId="0" nodeType="afterEffect">
                                  <p:stCondLst>
                                    <p:cond delay="30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400"/>
                                        <p:tgtEl>
                                          <p:spTgt spid="37"/>
                                        </p:tgtEl>
                                      </p:cBhvr>
                                    </p:animEffect>
                                  </p:childTnLst>
                                </p:cTn>
                              </p:par>
                            </p:childTnLst>
                          </p:cTn>
                        </p:par>
                        <p:par>
                          <p:cTn id="32" fill="hold">
                            <p:stCondLst>
                              <p:cond delay="4900"/>
                            </p:stCondLst>
                            <p:childTnLst>
                              <p:par>
                                <p:cTn id="33" presetID="10" presetClass="entr" presetSubtype="0" fill="hold" grpId="0" nodeType="afterEffect">
                                  <p:stCondLst>
                                    <p:cond delay="30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accen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3A3A3A"/>
          </a:solidFill>
          <a:ln>
            <a:noFill/>
          </a:ln>
        </p:spPr>
      </p:sp>
      <p:grpSp>
        <p:nvGrpSpPr>
          <p:cNvPr id="4" name="!!argument-progress"/>
          <p:cNvGrpSpPr/>
          <p:nvPr/>
        </p:nvGrpSpPr>
        <p:grpSpPr>
          <a:xfrm>
            <a:off x="685800" y="723900"/>
            <a:ext cx="3609975" cy="38100"/>
            <a:chOff x="685800" y="723900"/>
            <a:chExt cx="3609975" cy="38100"/>
          </a:xfrm>
        </p:grpSpPr>
        <p:sp>
          <p:nvSpPr>
            <p:cNvPr id="3" name="Rectangle 3"/>
            <p:cNvSpPr/>
            <p:nvPr/>
          </p:nvSpPr>
          <p:spPr>
            <a:xfrm>
              <a:off x="685800" y="723900"/>
              <a:ext cx="3609975" cy="38100"/>
            </a:xfrm>
            <a:prstGeom prst="rect">
              <a:avLst/>
            </a:prstGeom>
            <a:solidFill>
              <a:schemeClr val="accent2"/>
            </a:solidFill>
            <a:ln>
              <a:noFill/>
            </a:ln>
          </p:spPr>
        </p:sp>
      </p:grpSp>
      <p:grpSp>
        <p:nvGrpSpPr>
          <p:cNvPr id="12" name="Group 12"/>
          <p:cNvGrpSpPr/>
          <p:nvPr/>
        </p:nvGrpSpPr>
        <p:grpSpPr>
          <a:xfrm>
            <a:off x="11110630" y="2476500"/>
            <a:ext cx="333941" cy="238125"/>
            <a:chOff x="11110630" y="2476500"/>
            <a:chExt cx="333941" cy="238125"/>
          </a:xfrm>
        </p:grpSpPr>
        <p:grpSp>
          <p:nvGrpSpPr>
            <p:cNvPr id="11" name="Group 11"/>
            <p:cNvGrpSpPr/>
            <p:nvPr/>
          </p:nvGrpSpPr>
          <p:grpSpPr>
            <a:xfrm>
              <a:off x="11110630" y="2476500"/>
              <a:ext cx="333941" cy="238125"/>
              <a:chOff x="11110630" y="2476500"/>
              <a:chExt cx="333941" cy="238125"/>
            </a:xfrm>
          </p:grpSpPr>
          <p:sp>
            <p:nvSpPr>
              <p:cNvPr id="5" name="Freeform 5"/>
              <p:cNvSpPr/>
              <p:nvPr/>
            </p:nvSpPr>
            <p:spPr>
              <a:xfrm>
                <a:off x="11110630" y="2476500"/>
                <a:ext cx="333941" cy="152400"/>
              </a:xfrm>
              <a:custGeom>
                <a:avLst/>
                <a:gdLst/>
                <a:ahLst/>
                <a:cxnLst/>
                <a:rect l="l" t="t" r="r" b="b"/>
                <a:pathLst>
                  <a:path w="333941" h="152400">
                    <a:moveTo>
                      <a:pt x="19904" y="152400"/>
                    </a:moveTo>
                    <a:lnTo>
                      <a:pt x="314036" y="152400"/>
                    </a:lnTo>
                    <a:cubicBezTo>
                      <a:pt x="319904" y="152400"/>
                      <a:pt x="325444" y="149696"/>
                      <a:pt x="329054" y="145070"/>
                    </a:cubicBezTo>
                    <a:cubicBezTo>
                      <a:pt x="332664" y="140444"/>
                      <a:pt x="333941" y="134413"/>
                      <a:pt x="332515" y="128721"/>
                    </a:cubicBezTo>
                    <a:lnTo>
                      <a:pt x="303940" y="14421"/>
                    </a:lnTo>
                    <a:cubicBezTo>
                      <a:pt x="301817" y="5945"/>
                      <a:pt x="294199" y="0"/>
                      <a:pt x="285461" y="0"/>
                    </a:cubicBezTo>
                    <a:lnTo>
                      <a:pt x="48479" y="0"/>
                    </a:lnTo>
                    <a:cubicBezTo>
                      <a:pt x="39742" y="0"/>
                      <a:pt x="32124" y="5945"/>
                      <a:pt x="30001" y="14421"/>
                    </a:cubicBezTo>
                    <a:lnTo>
                      <a:pt x="1426" y="128721"/>
                    </a:lnTo>
                    <a:cubicBezTo>
                      <a:pt x="0" y="134413"/>
                      <a:pt x="1277" y="140444"/>
                      <a:pt x="4887" y="145070"/>
                    </a:cubicBezTo>
                    <a:cubicBezTo>
                      <a:pt x="8496" y="149696"/>
                      <a:pt x="14037" y="152400"/>
                      <a:pt x="19904" y="152400"/>
                    </a:cubicBezTo>
                  </a:path>
                </a:pathLst>
              </a:custGeom>
              <a:noFill/>
              <a:ln w="28575">
                <a:solidFill>
                  <a:schemeClr val="accent2"/>
                </a:solidFill>
              </a:ln>
            </p:spPr>
          </p:sp>
          <p:sp>
            <p:nvSpPr>
              <p:cNvPr id="6" name="Freeform 6"/>
              <p:cNvSpPr/>
              <p:nvPr/>
            </p:nvSpPr>
            <p:spPr>
              <a:xfrm>
                <a:off x="11125200" y="2552700"/>
                <a:ext cx="304800" cy="9525"/>
              </a:xfrm>
              <a:custGeom>
                <a:avLst/>
                <a:gdLst/>
                <a:ahLst/>
                <a:cxnLst/>
                <a:rect l="l" t="t" r="r" b="b"/>
                <a:pathLst>
                  <a:path w="304800" h="9525">
                    <a:moveTo>
                      <a:pt x="0" y="0"/>
                    </a:moveTo>
                    <a:lnTo>
                      <a:pt x="304800" y="0"/>
                    </a:lnTo>
                  </a:path>
                </a:pathLst>
              </a:custGeom>
              <a:noFill/>
              <a:ln w="28575">
                <a:solidFill>
                  <a:schemeClr val="accent2"/>
                </a:solidFill>
              </a:ln>
            </p:spPr>
          </p:sp>
          <p:sp>
            <p:nvSpPr>
              <p:cNvPr id="7" name="Freeform 7"/>
              <p:cNvSpPr/>
              <p:nvPr/>
            </p:nvSpPr>
            <p:spPr>
              <a:xfrm>
                <a:off x="11220450" y="2476500"/>
                <a:ext cx="19050" cy="152400"/>
              </a:xfrm>
              <a:custGeom>
                <a:avLst/>
                <a:gdLst/>
                <a:ahLst/>
                <a:cxnLst/>
                <a:rect l="l" t="t" r="r" b="b"/>
                <a:pathLst>
                  <a:path w="19050" h="152400">
                    <a:moveTo>
                      <a:pt x="19050" y="0"/>
                    </a:moveTo>
                    <a:lnTo>
                      <a:pt x="0" y="152400"/>
                    </a:lnTo>
                  </a:path>
                </a:pathLst>
              </a:custGeom>
              <a:noFill/>
              <a:ln w="28575">
                <a:solidFill>
                  <a:schemeClr val="accent2"/>
                </a:solidFill>
              </a:ln>
            </p:spPr>
          </p:sp>
          <p:sp>
            <p:nvSpPr>
              <p:cNvPr id="8" name="Freeform 8"/>
              <p:cNvSpPr/>
              <p:nvPr/>
            </p:nvSpPr>
            <p:spPr>
              <a:xfrm>
                <a:off x="11315700" y="2476500"/>
                <a:ext cx="19050" cy="152400"/>
              </a:xfrm>
              <a:custGeom>
                <a:avLst/>
                <a:gdLst/>
                <a:ahLst/>
                <a:cxnLst/>
                <a:rect l="l" t="t" r="r" b="b"/>
                <a:pathLst>
                  <a:path w="19050" h="152400">
                    <a:moveTo>
                      <a:pt x="0" y="0"/>
                    </a:moveTo>
                    <a:lnTo>
                      <a:pt x="19050" y="152400"/>
                    </a:lnTo>
                  </a:path>
                </a:pathLst>
              </a:custGeom>
              <a:noFill/>
              <a:ln w="28575">
                <a:solidFill>
                  <a:schemeClr val="accent2"/>
                </a:solidFill>
              </a:ln>
            </p:spPr>
          </p:sp>
          <p:sp>
            <p:nvSpPr>
              <p:cNvPr id="9" name="Freeform 9"/>
              <p:cNvSpPr/>
              <p:nvPr/>
            </p:nvSpPr>
            <p:spPr>
              <a:xfrm>
                <a:off x="11277600" y="2628900"/>
                <a:ext cx="9525" cy="76200"/>
              </a:xfrm>
              <a:custGeom>
                <a:avLst/>
                <a:gdLst/>
                <a:ahLst/>
                <a:cxnLst/>
                <a:rect l="l" t="t" r="r" b="b"/>
                <a:pathLst>
                  <a:path w="9525" h="76200">
                    <a:moveTo>
                      <a:pt x="0" y="0"/>
                    </a:moveTo>
                    <a:lnTo>
                      <a:pt x="0" y="76200"/>
                    </a:lnTo>
                  </a:path>
                </a:pathLst>
              </a:custGeom>
              <a:noFill/>
              <a:ln w="28575">
                <a:solidFill>
                  <a:schemeClr val="accent2"/>
                </a:solidFill>
              </a:ln>
            </p:spPr>
          </p:sp>
          <p:sp>
            <p:nvSpPr>
              <p:cNvPr id="10" name="Freeform 10"/>
              <p:cNvSpPr/>
              <p:nvPr/>
            </p:nvSpPr>
            <p:spPr>
              <a:xfrm>
                <a:off x="11182350" y="2705100"/>
                <a:ext cx="190500" cy="9525"/>
              </a:xfrm>
              <a:custGeom>
                <a:avLst/>
                <a:gdLst/>
                <a:ahLst/>
                <a:cxnLst/>
                <a:rect l="l" t="t" r="r" b="b"/>
                <a:pathLst>
                  <a:path w="190500" h="9525">
                    <a:moveTo>
                      <a:pt x="0" y="0"/>
                    </a:moveTo>
                    <a:lnTo>
                      <a:pt x="190500" y="0"/>
                    </a:lnTo>
                  </a:path>
                </a:pathLst>
              </a:custGeom>
              <a:noFill/>
              <a:ln w="28575">
                <a:solidFill>
                  <a:schemeClr val="accent2"/>
                </a:solidFill>
              </a:ln>
            </p:spPr>
          </p:sp>
        </p:grpSp>
      </p:grpSp>
      <p:grpSp>
        <p:nvGrpSpPr>
          <p:cNvPr id="14" name="!!chapter-numeral"/>
          <p:cNvGrpSpPr/>
          <p:nvPr/>
        </p:nvGrpSpPr>
        <p:grpSpPr>
          <a:xfrm>
            <a:off x="666750" y="2895600"/>
            <a:ext cx="2015883" cy="2305050"/>
            <a:chOff x="666750" y="2895600"/>
            <a:chExt cx="2015883" cy="2305050"/>
          </a:xfrm>
        </p:grpSpPr>
        <p:sp>
          <p:nvSpPr>
            <p:cNvPr id="13" name="TextBox 13"/>
            <p:cNvSpPr txBox="1"/>
            <p:nvPr/>
          </p:nvSpPr>
          <p:spPr>
            <a:xfrm>
              <a:off x="666750" y="2895600"/>
              <a:ext cx="2015883" cy="2305050"/>
            </a:xfrm>
            <a:prstGeom prst="rect">
              <a:avLst/>
            </a:prstGeom>
            <a:noFill/>
            <a:ln>
              <a:noFill/>
            </a:ln>
          </p:spPr>
          <p:txBody>
            <a:bodyPr wrap="none" lIns="0" tIns="0" rIns="0" bIns="0" anchor="t" anchorCtr="0">
              <a:spAutoFit/>
            </a:bodyPr>
            <a:lstStyle/>
            <a:p>
              <a:pPr algn="l"/>
              <a:r>
                <a:rPr lang="zh-CN" sz="12000" b="1" dirty="0">
                  <a:solidFill>
                    <a:srgbClr val="FFFFFF"/>
                  </a:solidFill>
                  <a:latin typeface="Arial Black"/>
                  <a:ea typeface="Arial Black"/>
                  <a:cs typeface="Arial Black"/>
                </a:rPr>
                <a:t>01</a:t>
              </a:r>
            </a:p>
          </p:txBody>
        </p:sp>
      </p:grpSp>
      <p:sp>
        <p:nvSpPr>
          <p:cNvPr id="15" name="Line 15"/>
          <p:cNvSpPr/>
          <p:nvPr/>
        </p:nvSpPr>
        <p:spPr>
          <a:xfrm>
            <a:off x="2971800" y="2895600"/>
            <a:ext cx="9525" cy="2343150"/>
          </a:xfrm>
          <a:custGeom>
            <a:avLst/>
            <a:gdLst/>
            <a:ahLst/>
            <a:cxnLst/>
            <a:rect l="l" t="t" r="r" b="b"/>
            <a:pathLst>
              <a:path w="9525" h="2343150">
                <a:moveTo>
                  <a:pt x="0" y="0"/>
                </a:moveTo>
                <a:lnTo>
                  <a:pt x="0" y="2343150"/>
                </a:lnTo>
              </a:path>
            </a:pathLst>
          </a:custGeom>
          <a:noFill/>
          <a:ln w="9525">
            <a:solidFill>
              <a:srgbClr val="3A3A3A"/>
            </a:solidFill>
          </a:ln>
        </p:spPr>
      </p:sp>
      <p:grpSp>
        <p:nvGrpSpPr>
          <p:cNvPr id="17" name="Group 17"/>
          <p:cNvGrpSpPr/>
          <p:nvPr/>
        </p:nvGrpSpPr>
        <p:grpSpPr>
          <a:xfrm>
            <a:off x="3412236" y="3453765"/>
            <a:ext cx="4224528" cy="1159764"/>
            <a:chOff x="3412236" y="3453765"/>
            <a:chExt cx="4224528" cy="1159764"/>
          </a:xfrm>
        </p:grpSpPr>
        <p:sp>
          <p:nvSpPr>
            <p:cNvPr id="16" name="TextBox 16"/>
            <p:cNvSpPr txBox="1"/>
            <p:nvPr/>
          </p:nvSpPr>
          <p:spPr>
            <a:xfrm>
              <a:off x="3412236" y="3453765"/>
              <a:ext cx="4224528" cy="1159764"/>
            </a:xfrm>
            <a:prstGeom prst="rect">
              <a:avLst/>
            </a:prstGeom>
            <a:noFill/>
            <a:ln>
              <a:noFill/>
            </a:ln>
          </p:spPr>
          <p:txBody>
            <a:bodyPr wrap="none" lIns="0" tIns="0" rIns="0" bIns="0" anchor="t" anchorCtr="0">
              <a:spAutoFit/>
            </a:bodyPr>
            <a:lstStyle/>
            <a:p>
              <a:pPr algn="l">
                <a:lnSpc>
                  <a:spcPts val="4050"/>
                </a:lnSpc>
              </a:pPr>
              <a:r>
                <a:rPr lang="zh-CN" sz="3300" b="1" dirty="0">
                  <a:solidFill>
                    <a:srgbClr val="FFFFFF"/>
                  </a:solidFill>
                  <a:latin typeface="Microsoft YaHei"/>
                  <a:ea typeface="Microsoft YaHei"/>
                  <a:cs typeface="Microsoft YaHei"/>
                </a:rPr>
                <a:t>便宜来自学习率，</a:t>
              </a:r>
              <a:br/>
              <a:r>
                <a:rPr lang="zh-CN" sz="3300" b="1" dirty="0">
                  <a:solidFill>
                    <a:srgbClr val="FFFFFF"/>
                  </a:solidFill>
                  <a:latin typeface="Microsoft YaHei"/>
                  <a:ea typeface="Microsoft YaHei"/>
                  <a:cs typeface="Microsoft YaHei"/>
                </a:rPr>
                <a:t>不是补贴，也不是运气</a:t>
              </a:r>
            </a:p>
          </p:txBody>
        </p:sp>
      </p:grpSp>
      <p:grpSp>
        <p:nvGrpSpPr>
          <p:cNvPr id="19" name="Group 19"/>
          <p:cNvGrpSpPr/>
          <p:nvPr/>
        </p:nvGrpSpPr>
        <p:grpSpPr>
          <a:xfrm>
            <a:off x="3417570" y="4900612"/>
            <a:ext cx="5033501" cy="440055"/>
            <a:chOff x="3417570" y="4900612"/>
            <a:chExt cx="5033501" cy="440055"/>
          </a:xfrm>
        </p:grpSpPr>
        <p:sp>
          <p:nvSpPr>
            <p:cNvPr id="18" name="TextBox 18"/>
            <p:cNvSpPr txBox="1"/>
            <p:nvPr/>
          </p:nvSpPr>
          <p:spPr>
            <a:xfrm>
              <a:off x="3417570" y="4900612"/>
              <a:ext cx="5033501" cy="440055"/>
            </a:xfrm>
            <a:prstGeom prst="rect">
              <a:avLst/>
            </a:prstGeom>
            <a:noFill/>
            <a:ln>
              <a:noFill/>
            </a:ln>
          </p:spPr>
          <p:txBody>
            <a:bodyPr wrap="none" lIns="0" tIns="0" rIns="0" bIns="0" anchor="t" anchorCtr="0">
              <a:spAutoFit/>
            </a:bodyPr>
            <a:lstStyle/>
            <a:p>
              <a:pPr algn="l"/>
              <a:r>
                <a:rPr lang="zh-CN" sz="2250" dirty="0">
                  <a:solidFill>
                    <a:schemeClr val="accent6"/>
                  </a:solidFill>
                  <a:latin typeface="Microsoft YaHei"/>
                  <a:ea typeface="Microsoft YaHei"/>
                  <a:cs typeface="Microsoft YaHei"/>
                </a:rPr>
                <a:t xml:space="preserve">如果不是补贴，那 </a:t>
              </a:r>
              <a:r>
                <a:rPr lang="zh-CN" sz="2250" b="1" dirty="0">
                  <a:solidFill>
                    <a:schemeClr val="accent2"/>
                  </a:solidFill>
                  <a:latin typeface="Microsoft YaHei"/>
                  <a:ea typeface="Microsoft YaHei"/>
                  <a:cs typeface="Microsoft YaHei"/>
                </a:rPr>
                <a:t>81%</a:t>
              </a:r>
              <a:r>
                <a:rPr lang="zh-CN" sz="2250" dirty="0">
                  <a:solidFill>
                    <a:schemeClr val="accent6"/>
                  </a:solidFill>
                  <a:latin typeface="Microsoft YaHei"/>
                  <a:ea typeface="Microsoft YaHei"/>
                  <a:cs typeface="Microsoft YaHei"/>
                </a:rPr>
                <a:t xml:space="preserve"> 是从哪里来的</a:t>
              </a:r>
            </a:p>
          </p:txBody>
        </p:sp>
      </p:grpSp>
      <p:sp>
        <p:nvSpPr>
          <p:cNvPr id="20" name="Line 20"/>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3A3A3A"/>
            </a:solidFill>
          </a:ln>
        </p:spPr>
      </p:sp>
      <p:grpSp>
        <p:nvGrpSpPr>
          <p:cNvPr id="23" name="Group 23"/>
          <p:cNvGrpSpPr/>
          <p:nvPr/>
        </p:nvGrpSpPr>
        <p:grpSpPr>
          <a:xfrm>
            <a:off x="679704" y="6385560"/>
            <a:ext cx="10832592" cy="234696"/>
            <a:chOff x="679704" y="6385560"/>
            <a:chExt cx="10832592" cy="234696"/>
          </a:xfrm>
        </p:grpSpPr>
        <p:sp>
          <p:nvSpPr>
            <p:cNvPr id="21" name="TextBox 21"/>
            <p:cNvSpPr txBox="1"/>
            <p:nvPr/>
          </p:nvSpPr>
          <p:spPr>
            <a:xfrm>
              <a:off x="679704" y="6385560"/>
              <a:ext cx="197495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icrosoft YaHei"/>
                  <a:ea typeface="Microsoft YaHei"/>
                  <a:cs typeface="Microsoft YaHei"/>
                </a:rPr>
                <a:t>判断一 · 便宜来自制造规模</a:t>
              </a:r>
            </a:p>
          </p:txBody>
        </p:sp>
        <p:sp>
          <p:nvSpPr>
            <p:cNvPr id="22" name="TextBox 22"/>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icrosoft YaHei"/>
                  <a:ea typeface="Microsoft YaHei"/>
                  <a:cs typeface="Microsoft YaHei"/>
                </a:rPr>
                <a:t>05</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800"/>
                            </p:stCondLst>
                            <p:childTnLst>
                              <p:par>
                                <p:cTn id="9" presetID="10" presetClass="entr" presetSubtype="0" fill="hold" grpId="0" nodeType="afterEffect">
                                  <p:stCondLst>
                                    <p:cond delay="3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par>
                          <p:cTn id="12" fill="hold">
                            <p:stCondLst>
                              <p:cond delay="1500"/>
                            </p:stCondLst>
                            <p:childTnLst>
                              <p:par>
                                <p:cTn id="13" presetID="10" presetClass="entr" presetSubtype="0" fill="hold" grpId="0" nodeType="afterEffect">
                                  <p:stCondLst>
                                    <p:cond delay="3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Group 4"/>
          <p:cNvGrpSpPr/>
          <p:nvPr/>
        </p:nvGrpSpPr>
        <p:grpSpPr>
          <a:xfrm>
            <a:off x="685800" y="723900"/>
            <a:ext cx="4333875" cy="38100"/>
            <a:chOff x="685800" y="723900"/>
            <a:chExt cx="4333875" cy="38100"/>
          </a:xfrm>
        </p:grpSpPr>
        <p:sp>
          <p:nvSpPr>
            <p:cNvPr id="3" name="Rectangle 3"/>
            <p:cNvSpPr/>
            <p:nvPr/>
          </p:nvSpPr>
          <p:spPr>
            <a:xfrm>
              <a:off x="685800" y="723900"/>
              <a:ext cx="4333875" cy="38100"/>
            </a:xfrm>
            <a:prstGeom prst="rect">
              <a:avLst/>
            </a:prstGeom>
            <a:solidFill>
              <a:schemeClr val="accent2"/>
            </a:solidFill>
            <a:ln>
              <a:noFill/>
            </a:ln>
          </p:spPr>
        </p:sp>
      </p:grpSp>
      <p:grpSp>
        <p:nvGrpSpPr>
          <p:cNvPr id="6" name="Group 6"/>
          <p:cNvGrpSpPr/>
          <p:nvPr/>
        </p:nvGrpSpPr>
        <p:grpSpPr>
          <a:xfrm>
            <a:off x="669036" y="977265"/>
            <a:ext cx="6073807" cy="1159764"/>
            <a:chOff x="669036" y="977265"/>
            <a:chExt cx="6073807" cy="1159764"/>
          </a:xfrm>
        </p:grpSpPr>
        <p:sp>
          <p:nvSpPr>
            <p:cNvPr id="5" name="TextBox 5"/>
            <p:cNvSpPr txBox="1"/>
            <p:nvPr/>
          </p:nvSpPr>
          <p:spPr>
            <a:xfrm>
              <a:off x="669036" y="977265"/>
              <a:ext cx="6073807"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累计装机每翻一番，</a:t>
              </a:r>
              <a:br/>
              <a:r>
                <a:rPr lang="zh-CN" sz="3300" b="1" dirty="0">
                  <a:solidFill>
                    <a:schemeClr val="accent1"/>
                  </a:solidFill>
                  <a:latin typeface="Microsoft YaHei"/>
                  <a:ea typeface="Microsoft YaHei"/>
                  <a:cs typeface="Microsoft YaHei"/>
                </a:rPr>
                <a:t>组件价格下降 20%——四十年未变</a:t>
              </a:r>
            </a:p>
          </p:txBody>
        </p:sp>
      </p:grpSp>
      <p:grpSp>
        <p:nvGrpSpPr>
          <p:cNvPr id="9" name="Group 9"/>
          <p:cNvGrpSpPr/>
          <p:nvPr/>
        </p:nvGrpSpPr>
        <p:grpSpPr>
          <a:xfrm>
            <a:off x="666750" y="2461260"/>
            <a:ext cx="3697224" cy="1811274"/>
            <a:chOff x="666750" y="2461260"/>
            <a:chExt cx="3697224" cy="1811274"/>
          </a:xfrm>
        </p:grpSpPr>
        <p:sp>
          <p:nvSpPr>
            <p:cNvPr id="7" name="TextBox 7"/>
            <p:cNvSpPr txBox="1"/>
            <p:nvPr/>
          </p:nvSpPr>
          <p:spPr>
            <a:xfrm>
              <a:off x="666750" y="2461260"/>
              <a:ext cx="2033863"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Arial Black"/>
                  <a:ea typeface="Arial Black"/>
                  <a:cs typeface="Arial Black"/>
                </a:rPr>
                <a:t>20%</a:t>
              </a:r>
            </a:p>
          </p:txBody>
        </p:sp>
        <p:sp>
          <p:nvSpPr>
            <p:cNvPr id="8" name="TextBox 8"/>
            <p:cNvSpPr txBox="1"/>
            <p:nvPr/>
          </p:nvSpPr>
          <p:spPr>
            <a:xfrm>
              <a:off x="676656" y="3577590"/>
              <a:ext cx="368731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icrosoft YaHei"/>
                  <a:ea typeface="Microsoft YaHei"/>
                  <a:cs typeface="Microsoft YaHei"/>
                </a:rPr>
                <a:t>累计装机每翻一番的价格降幅，</a:t>
              </a:r>
              <a:br/>
              <a:r>
                <a:rPr lang="zh-CN" sz="1800" dirty="0">
                  <a:solidFill>
                    <a:schemeClr val="dk1"/>
                  </a:solidFill>
                  <a:latin typeface="Microsoft YaHei"/>
                  <a:ea typeface="Microsoft YaHei"/>
                  <a:cs typeface="Microsoft YaHei"/>
                </a:rPr>
                <a:t>已持续四十余年（Swanson's law）</a:t>
              </a:r>
            </a:p>
          </p:txBody>
        </p:sp>
      </p:grpSp>
      <p:sp>
        <p:nvSpPr>
          <p:cNvPr id="10" name="Line 10"/>
          <p:cNvSpPr/>
          <p:nvPr/>
        </p:nvSpPr>
        <p:spPr>
          <a:xfrm>
            <a:off x="685800" y="4476750"/>
            <a:ext cx="4076700" cy="9525"/>
          </a:xfrm>
          <a:custGeom>
            <a:avLst/>
            <a:gdLst/>
            <a:ahLst/>
            <a:cxnLst/>
            <a:rect l="l" t="t" r="r" b="b"/>
            <a:pathLst>
              <a:path w="4076700" h="9525">
                <a:moveTo>
                  <a:pt x="0" y="0"/>
                </a:moveTo>
                <a:lnTo>
                  <a:pt x="4076700" y="0"/>
                </a:lnTo>
              </a:path>
            </a:pathLst>
          </a:custGeom>
          <a:noFill/>
          <a:ln w="9525">
            <a:solidFill>
              <a:schemeClr val="accent6"/>
            </a:solidFill>
          </a:ln>
        </p:spPr>
      </p:sp>
      <p:grpSp>
        <p:nvGrpSpPr>
          <p:cNvPr id="16" name="Group 16"/>
          <p:cNvGrpSpPr/>
          <p:nvPr/>
        </p:nvGrpSpPr>
        <p:grpSpPr>
          <a:xfrm>
            <a:off x="676656" y="4720590"/>
            <a:ext cx="4519070" cy="1112711"/>
            <a:chOff x="676656" y="4720590"/>
            <a:chExt cx="4519070" cy="1112711"/>
          </a:xfrm>
        </p:grpSpPr>
        <p:sp>
          <p:nvSpPr>
            <p:cNvPr id="11" name="TextBox 11"/>
            <p:cNvSpPr txBox="1"/>
            <p:nvPr/>
          </p:nvSpPr>
          <p:spPr>
            <a:xfrm>
              <a:off x="676656" y="4720590"/>
              <a:ext cx="55138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icrosoft YaHei"/>
                  <a:ea typeface="Microsoft YaHei"/>
                  <a:cs typeface="Microsoft YaHei"/>
                </a:rPr>
                <a:t>1975</a:t>
              </a:r>
            </a:p>
          </p:txBody>
        </p:sp>
        <p:sp>
          <p:nvSpPr>
            <p:cNvPr id="12" name="TextBox 12"/>
            <p:cNvSpPr txBox="1"/>
            <p:nvPr/>
          </p:nvSpPr>
          <p:spPr>
            <a:xfrm>
              <a:off x="1819656" y="4720590"/>
              <a:ext cx="153276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$132.38 / 瓦</a:t>
              </a:r>
            </a:p>
          </p:txBody>
        </p:sp>
        <p:sp>
          <p:nvSpPr>
            <p:cNvPr id="13" name="TextBox 13"/>
            <p:cNvSpPr txBox="1"/>
            <p:nvPr/>
          </p:nvSpPr>
          <p:spPr>
            <a:xfrm>
              <a:off x="676656" y="5158740"/>
              <a:ext cx="55138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icrosoft YaHei"/>
                  <a:ea typeface="Microsoft YaHei"/>
                  <a:cs typeface="Microsoft YaHei"/>
                </a:rPr>
                <a:t>2024</a:t>
              </a:r>
            </a:p>
          </p:txBody>
        </p:sp>
        <p:sp>
          <p:nvSpPr>
            <p:cNvPr id="14" name="TextBox 14"/>
            <p:cNvSpPr txBox="1"/>
            <p:nvPr/>
          </p:nvSpPr>
          <p:spPr>
            <a:xfrm>
              <a:off x="1819656" y="5158740"/>
              <a:ext cx="139282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$0.265 / 瓦</a:t>
              </a:r>
            </a:p>
          </p:txBody>
        </p:sp>
        <p:sp>
          <p:nvSpPr>
            <p:cNvPr id="15" name="TextBox 15"/>
            <p:cNvSpPr txBox="1"/>
            <p:nvPr/>
          </p:nvSpPr>
          <p:spPr>
            <a:xfrm>
              <a:off x="678942" y="5569268"/>
              <a:ext cx="451678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icrosoft YaHei"/>
                  <a:ea typeface="Microsoft YaHei"/>
                  <a:cs typeface="Microsoft YaHei"/>
                </a:rPr>
                <a:t>constant 2025 USD｜累计装机 0.54 → 2,378,042 MW</a:t>
              </a:r>
            </a:p>
          </p:txBody>
        </p:sp>
      </p:grpSp>
      <p:grpSp>
        <p:nvGrpSpPr>
          <p:cNvPr id="19" name="module-price-decline"/>
          <p:cNvGrpSpPr/>
          <p:nvPr/>
        </p:nvGrpSpPr>
        <p:grpSpPr>
          <a:xfrm>
            <a:off x="5334000" y="2381250"/>
            <a:ext cx="6172200" cy="3467100"/>
            <a:chOff x="5334000" y="2381250"/>
            <a:chExt cx="6172200" cy="3467100"/>
          </a:xfrm>
        </p:grpSpPr>
        <p:graphicFrame>
          <p:nvGraphicFramePr>
            <p:cNvPr id="17" name="module-price-decline"/>
            <p:cNvGraphicFramePr>
              <a:graphicFrameLocks noGrp="1"/>
            </p:cNvGraphicFramePr>
            <p:nvPr/>
          </p:nvGraphicFramePr>
          <p:xfrm>
            <a:off x="5334000" y="2381250"/>
            <a:ext cx="6172200" cy="3467100"/>
          </p:xfrm>
          <a:graphic>
            <a:graphicData uri="http://schemas.openxmlformats.org/drawingml/2006/chart">
              <c:chart xmlns:c="http://schemas.openxmlformats.org/drawingml/2006/chart" r:id="rId2"/>
            </a:graphicData>
          </a:graphic>
        </p:graphicFrame>
        <p:sp>
          <p:nvSpPr>
            <p:cNvPr id="18" name="Chart Note 18"/>
            <p:cNvSpPr txBox="1"/>
            <p:nvPr/>
          </p:nvSpPr>
          <p:spPr>
            <a:xfrm>
              <a:off x="6096000" y="2473642"/>
              <a:ext cx="4381500" cy="274320"/>
            </a:xfrm>
            <a:prstGeom prst="rect">
              <a:avLst/>
            </a:prstGeom>
            <a:noFill/>
            <a:ln>
              <a:noFill/>
            </a:ln>
          </p:spPr>
          <p:txBody>
            <a:bodyPr wrap="square" lIns="0" tIns="0" rIns="0" bIns="0" anchor="b" anchorCtr="0"/>
            <a:lstStyle/>
            <a:p>
              <a:pPr algn="l"/>
              <a:r>
                <a:rPr lang="zh-CN" sz="1350">
                  <a:solidFill>
                    <a:srgbClr val="6E6E6E"/>
                  </a:solidFill>
                  <a:latin typeface="Arial"/>
                  <a:ea typeface="Microsoft YaHei"/>
                  <a:cs typeface="Arial"/>
                </a:rPr>
                <a:t>USD/W（constant 2025）｜2010–2020 为五年间隔</a:t>
              </a:r>
            </a:p>
          </p:txBody>
        </p:sp>
      </p:grpSp>
      <p:grpSp>
        <p:nvGrpSpPr>
          <p:cNvPr id="21" name="Group 21"/>
          <p:cNvGrpSpPr/>
          <p:nvPr/>
        </p:nvGrpSpPr>
        <p:grpSpPr>
          <a:xfrm>
            <a:off x="679704" y="5966460"/>
            <a:ext cx="7674376" cy="234696"/>
            <a:chOff x="679704" y="5966460"/>
            <a:chExt cx="7674376" cy="234696"/>
          </a:xfrm>
        </p:grpSpPr>
        <p:sp>
          <p:nvSpPr>
            <p:cNvPr id="20" name="TextBox 20"/>
            <p:cNvSpPr txBox="1"/>
            <p:nvPr/>
          </p:nvSpPr>
          <p:spPr>
            <a:xfrm>
              <a:off x="679704" y="5966460"/>
              <a:ext cx="767437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icrosoft YaHei"/>
                  <a:ea typeface="Microsoft YaHei"/>
                  <a:cs typeface="Microsoft YaHei"/>
                </a:rPr>
                <a:t>大多数技术不遵循 Wright's Law——自行车、冰箱、燃煤电厂都不呈指数下降；光伏、电池与计算机做到了</a:t>
              </a:r>
            </a:p>
          </p:txBody>
        </p:sp>
      </p:grpSp>
      <p:sp>
        <p:nvSpPr>
          <p:cNvPr id="22" name="Line 2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5" name="Group 25"/>
          <p:cNvGrpSpPr/>
          <p:nvPr/>
        </p:nvGrpSpPr>
        <p:grpSpPr>
          <a:xfrm>
            <a:off x="679704" y="6385560"/>
            <a:ext cx="10832592" cy="234696"/>
            <a:chOff x="679704" y="6385560"/>
            <a:chExt cx="10832592" cy="234696"/>
          </a:xfrm>
        </p:grpSpPr>
        <p:sp>
          <p:nvSpPr>
            <p:cNvPr id="23" name="TextBox 23"/>
            <p:cNvSpPr txBox="1"/>
            <p:nvPr/>
          </p:nvSpPr>
          <p:spPr>
            <a:xfrm>
              <a:off x="679704" y="6385560"/>
              <a:ext cx="9080576"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来源：Our World in Data（组件价格、累计装机、学习曲线）；Swanson's law 以 SunPower 创始人 Richard Swanson 命名</a:t>
              </a:r>
            </a:p>
          </p:txBody>
        </p:sp>
        <p:sp>
          <p:nvSpPr>
            <p:cNvPr id="24" name="TextBox 24"/>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200"/>
                            </p:stCondLst>
                            <p:childTnLst>
                              <p:par>
                                <p:cTn xmlns:p="http://schemas.openxmlformats.org/presentationml/2006/main" id="13" presetID="22" presetClass="entr" presetSubtype="2" fill="hold" grpId="0" nodeType="afterEffect">
                                  <p:stCondLst>
                                    <p:cond delay="300"/>
                                  </p:stCondLst>
                                  <p:childTnLst>
                                    <p:set>
                                      <p:cBhvr>
                                        <p:cTn id="14" dur="1" fill="hold">
                                          <p:stCondLst>
                                            <p:cond delay="0"/>
                                          </p:stCondLst>
                                        </p:cTn>
                                        <p:tgtEl>
                                          <p:spTgt spid="19"/>
                                        </p:tgtEl>
                                        <p:attrNameLst>
                                          <p:attrName>style.visibility</p:attrName>
                                        </p:attrNameLst>
                                      </p:cBhvr>
                                      <p:to>
                                        <p:strVal val="visible"/>
                                      </p:to>
                                    </p:set>
                                    <p:animEffect transition="in" filter="wipe(right)">
                                      <p:cBhvr>
                                        <p:cTn id="15" dur="900"/>
                                        <p:tgtEl>
                                          <p:spTgt spid="19"/>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par>
                          <p:cTn id="20" fill="hold">
                            <p:stCondLst>
                              <p:cond delay="31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argument-progress"/>
          <p:cNvGrpSpPr/>
          <p:nvPr/>
        </p:nvGrpSpPr>
        <p:grpSpPr>
          <a:xfrm>
            <a:off x="685800" y="723900"/>
            <a:ext cx="5048250" cy="38100"/>
            <a:chOff x="685800" y="723900"/>
            <a:chExt cx="5048250" cy="38100"/>
          </a:xfrm>
        </p:grpSpPr>
        <p:sp>
          <p:nvSpPr>
            <p:cNvPr id="3" name="Rectangle 3"/>
            <p:cNvSpPr/>
            <p:nvPr/>
          </p:nvSpPr>
          <p:spPr>
            <a:xfrm>
              <a:off x="685800" y="723900"/>
              <a:ext cx="5048250" cy="38100"/>
            </a:xfrm>
            <a:prstGeom prst="rect">
              <a:avLst/>
            </a:prstGeom>
            <a:solidFill>
              <a:schemeClr val="accent2"/>
            </a:solidFill>
            <a:ln>
              <a:noFill/>
            </a:ln>
          </p:spPr>
        </p:sp>
      </p:grpSp>
      <p:grpSp>
        <p:nvGrpSpPr>
          <p:cNvPr id="6" name="Group 6"/>
          <p:cNvGrpSpPr/>
          <p:nvPr/>
        </p:nvGrpSpPr>
        <p:grpSpPr>
          <a:xfrm>
            <a:off x="669036" y="977265"/>
            <a:ext cx="7158228" cy="1159764"/>
            <a:chOff x="669036" y="977265"/>
            <a:chExt cx="7158228" cy="1159764"/>
          </a:xfrm>
        </p:grpSpPr>
        <p:sp>
          <p:nvSpPr>
            <p:cNvPr id="5" name="TextBox 5"/>
            <p:cNvSpPr txBox="1"/>
            <p:nvPr/>
          </p:nvSpPr>
          <p:spPr>
            <a:xfrm>
              <a:off x="669036" y="977265"/>
              <a:ext cx="7158228"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今天的组件价格里含着制造商的亏损，</a:t>
              </a:r>
              <a:br/>
              <a:r>
                <a:rPr lang="zh-CN" sz="3300" b="1" dirty="0">
                  <a:solidFill>
                    <a:schemeClr val="accent1"/>
                  </a:solidFill>
                  <a:latin typeface="Microsoft YaHei"/>
                  <a:ea typeface="Microsoft YaHei"/>
                  <a:cs typeface="Microsoft YaHei"/>
                </a:rPr>
                <a:t>它不是可持续的均衡价</a:t>
              </a:r>
            </a:p>
          </p:txBody>
        </p:sp>
      </p:grpSp>
      <p:grpSp>
        <p:nvGrpSpPr>
          <p:cNvPr id="9" name="Group 9"/>
          <p:cNvGrpSpPr/>
          <p:nvPr/>
        </p:nvGrpSpPr>
        <p:grpSpPr>
          <a:xfrm>
            <a:off x="666750" y="2232660"/>
            <a:ext cx="3004775" cy="1714691"/>
            <a:chOff x="666750" y="2232660"/>
            <a:chExt cx="3004775" cy="1714691"/>
          </a:xfrm>
        </p:grpSpPr>
        <p:sp>
          <p:nvSpPr>
            <p:cNvPr id="7" name="TextBox 7"/>
            <p:cNvSpPr txBox="1"/>
            <p:nvPr/>
          </p:nvSpPr>
          <p:spPr>
            <a:xfrm>
              <a:off x="666750" y="2232660"/>
              <a:ext cx="3004775"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Arial Black"/>
                  <a:ea typeface="Arial Black"/>
                  <a:cs typeface="Arial Black"/>
                </a:rPr>
                <a:t>$0.09</a:t>
              </a:r>
            </a:p>
          </p:txBody>
        </p:sp>
        <p:sp>
          <p:nvSpPr>
            <p:cNvPr id="8" name="TextBox 8"/>
            <p:cNvSpPr txBox="1"/>
            <p:nvPr/>
          </p:nvSpPr>
          <p:spPr>
            <a:xfrm>
              <a:off x="678942" y="3435668"/>
              <a:ext cx="260261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2024 年全球组件批发现货均价 /W</a:t>
              </a:r>
              <a:br/>
              <a:r>
                <a:rPr lang="zh-CN" sz="1350" dirty="0">
                  <a:solidFill>
                    <a:schemeClr val="accent3"/>
                  </a:solidFill>
                  <a:latin typeface="Microsoft YaHei"/>
                  <a:ea typeface="Microsoft YaHei"/>
                  <a:cs typeface="Microsoft YaHei"/>
                </a:rPr>
                <a:t>同比 −45%，2025 上半年持平</a:t>
              </a:r>
            </a:p>
          </p:txBody>
        </p:sp>
      </p:grpSp>
      <p:grpSp>
        <p:nvGrpSpPr>
          <p:cNvPr id="12" name="Group 12"/>
          <p:cNvGrpSpPr/>
          <p:nvPr/>
        </p:nvGrpSpPr>
        <p:grpSpPr>
          <a:xfrm>
            <a:off x="4095750" y="2232660"/>
            <a:ext cx="2734818" cy="1714691"/>
            <a:chOff x="4095750" y="2232660"/>
            <a:chExt cx="2734818" cy="1714691"/>
          </a:xfrm>
        </p:grpSpPr>
        <p:sp>
          <p:nvSpPr>
            <p:cNvPr id="10" name="TextBox 10"/>
            <p:cNvSpPr txBox="1"/>
            <p:nvPr/>
          </p:nvSpPr>
          <p:spPr>
            <a:xfrm>
              <a:off x="4095750" y="2232660"/>
              <a:ext cx="2627198" cy="1390650"/>
            </a:xfrm>
            <a:prstGeom prst="rect">
              <a:avLst/>
            </a:prstGeom>
            <a:noFill/>
            <a:ln>
              <a:noFill/>
            </a:ln>
          </p:spPr>
          <p:txBody>
            <a:bodyPr wrap="none" lIns="0" tIns="0" rIns="0" bIns="0" anchor="t" anchorCtr="0">
              <a:spAutoFit/>
            </a:bodyPr>
            <a:lstStyle/>
            <a:p>
              <a:pPr algn="l"/>
              <a:r>
                <a:rPr lang="zh-CN" sz="7200" b="1" dirty="0">
                  <a:solidFill>
                    <a:schemeClr val="accent1"/>
                  </a:solidFill>
                  <a:latin typeface="Arial Black"/>
                  <a:ea typeface="Arial Black"/>
                  <a:cs typeface="Arial Black"/>
                </a:rPr>
                <a:t>−10%</a:t>
              </a:r>
            </a:p>
          </p:txBody>
        </p:sp>
        <p:sp>
          <p:nvSpPr>
            <p:cNvPr id="11" name="TextBox 11"/>
            <p:cNvSpPr txBox="1"/>
            <p:nvPr/>
          </p:nvSpPr>
          <p:spPr>
            <a:xfrm>
              <a:off x="4107942" y="3435668"/>
              <a:ext cx="272262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中国头部制造商利润率，自 2024 年</a:t>
              </a:r>
              <a:br/>
              <a:r>
                <a:rPr lang="zh-CN" sz="1350" dirty="0">
                  <a:solidFill>
                    <a:schemeClr val="accent3"/>
                  </a:solidFill>
                  <a:latin typeface="Microsoft YaHei"/>
                  <a:ea typeface="Microsoft YaHei"/>
                  <a:cs typeface="Microsoft YaHei"/>
                </a:rPr>
                <a:t>初累计亏损近 USD 50 亿</a:t>
              </a:r>
            </a:p>
          </p:txBody>
        </p:sp>
      </p:grpSp>
      <p:grpSp>
        <p:nvGrpSpPr>
          <p:cNvPr id="15" name="Group 15"/>
          <p:cNvGrpSpPr/>
          <p:nvPr/>
        </p:nvGrpSpPr>
        <p:grpSpPr>
          <a:xfrm>
            <a:off x="7524750" y="2232660"/>
            <a:ext cx="3813868" cy="1714691"/>
            <a:chOff x="7524750" y="2232660"/>
            <a:chExt cx="3813868" cy="1714691"/>
          </a:xfrm>
        </p:grpSpPr>
        <p:sp>
          <p:nvSpPr>
            <p:cNvPr id="13" name="TextBox 13"/>
            <p:cNvSpPr txBox="1"/>
            <p:nvPr/>
          </p:nvSpPr>
          <p:spPr>
            <a:xfrm>
              <a:off x="7524750" y="2232660"/>
              <a:ext cx="3813868" cy="1390650"/>
            </a:xfrm>
            <a:prstGeom prst="rect">
              <a:avLst/>
            </a:prstGeom>
            <a:noFill/>
            <a:ln>
              <a:noFill/>
            </a:ln>
          </p:spPr>
          <p:txBody>
            <a:bodyPr wrap="none" lIns="0" tIns="0" rIns="0" bIns="0" anchor="t" anchorCtr="0">
              <a:spAutoFit/>
            </a:bodyPr>
            <a:lstStyle/>
            <a:p>
              <a:pPr algn="l"/>
              <a:r>
                <a:rPr lang="zh-CN" sz="7200" b="1" dirty="0">
                  <a:solidFill>
                    <a:schemeClr val="accent1"/>
                  </a:solidFill>
                  <a:latin typeface="Arial Black"/>
                  <a:ea typeface="Arial Black"/>
                  <a:cs typeface="Arial Black"/>
                </a:rPr>
                <a:t>55–65%</a:t>
              </a:r>
            </a:p>
          </p:txBody>
        </p:sp>
        <p:sp>
          <p:nvSpPr>
            <p:cNvPr id="14" name="TextBox 14"/>
            <p:cNvSpPr txBox="1"/>
            <p:nvPr/>
          </p:nvSpPr>
          <p:spPr>
            <a:xfrm>
              <a:off x="7536942" y="3435668"/>
              <a:ext cx="300551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2024 年全球组件产能利用率</a:t>
              </a:r>
              <a:br/>
              <a:r>
                <a:rPr lang="zh-CN" sz="1350" dirty="0">
                  <a:solidFill>
                    <a:schemeClr val="accent3"/>
                  </a:solidFill>
                  <a:latin typeface="Microsoft YaHei"/>
                  <a:ea typeface="Microsoft YaHei"/>
                  <a:cs typeface="Microsoft YaHei"/>
                </a:rPr>
                <a:t>（2023 年为 60–80%，可能跌破 50%）</a:t>
              </a:r>
            </a:p>
          </p:txBody>
        </p:sp>
      </p:grpSp>
      <p:sp>
        <p:nvSpPr>
          <p:cNvPr id="16" name="Line 16"/>
          <p:cNvSpPr/>
          <p:nvPr/>
        </p:nvSpPr>
        <p:spPr>
          <a:xfrm>
            <a:off x="685800" y="40386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18" name="Group 18"/>
          <p:cNvGrpSpPr/>
          <p:nvPr/>
        </p:nvGrpSpPr>
        <p:grpSpPr>
          <a:xfrm>
            <a:off x="678942" y="4140518"/>
            <a:ext cx="8963406" cy="511683"/>
            <a:chOff x="678942" y="4140518"/>
            <a:chExt cx="8963406" cy="511683"/>
          </a:xfrm>
        </p:grpSpPr>
        <p:sp>
          <p:nvSpPr>
            <p:cNvPr id="17" name="TextBox 17"/>
            <p:cNvSpPr txBox="1"/>
            <p:nvPr/>
          </p:nvSpPr>
          <p:spPr>
            <a:xfrm>
              <a:off x="678942" y="4140518"/>
              <a:ext cx="896340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 xml:space="preserve">2025 年全球新增光伏 </a:t>
              </a:r>
              <a:r>
                <a:rPr lang="zh-CN" sz="1350" b="1" dirty="0">
                  <a:solidFill>
                    <a:schemeClr val="accent1"/>
                  </a:solidFill>
                  <a:latin typeface="Microsoft YaHei"/>
                  <a:ea typeface="Microsoft YaHei"/>
                  <a:cs typeface="Microsoft YaHei"/>
                </a:rPr>
                <a:t>647 GW</a:t>
              </a:r>
              <a:r>
                <a:rPr lang="zh-CN" sz="1350" dirty="0">
                  <a:solidFill>
                    <a:schemeClr val="dk1"/>
                  </a:solidFill>
                  <a:latin typeface="Microsoft YaHei"/>
                  <a:ea typeface="Microsoft YaHei"/>
                  <a:cs typeface="Microsoft YaHei"/>
                </a:rPr>
                <a:t>（+11%，Ember）｜IEA 口径首次突破 600 GW，2030 年将达 700 GW/年</a:t>
              </a:r>
              <a:br/>
              <a:r>
                <a:rPr lang="zh-CN" sz="1350" dirty="0">
                  <a:solidFill>
                    <a:schemeClr val="dk1"/>
                  </a:solidFill>
                  <a:latin typeface="Microsoft YaHei"/>
                  <a:ea typeface="Microsoft YaHei"/>
                  <a:cs typeface="Microsoft YaHei"/>
                </a:rPr>
                <a:t>光伏占当年全球可再生电力新增装机近 80%｜中国 2025 年投运近 370 GW（IEA）/ 378 GWdc（Ember，占全球 58%）</a:t>
              </a:r>
            </a:p>
          </p:txBody>
        </p:sp>
      </p:grpSp>
      <p:grpSp>
        <p:nvGrpSpPr>
          <p:cNvPr id="21" name="Group 21"/>
          <p:cNvGrpSpPr/>
          <p:nvPr/>
        </p:nvGrpSpPr>
        <p:grpSpPr>
          <a:xfrm>
            <a:off x="676656" y="4796790"/>
            <a:ext cx="4130802" cy="1150811"/>
            <a:chOff x="676656" y="4796790"/>
            <a:chExt cx="4130802" cy="1150811"/>
          </a:xfrm>
        </p:grpSpPr>
        <p:sp>
          <p:nvSpPr>
            <p:cNvPr id="19" name="TextBox 19"/>
            <p:cNvSpPr txBox="1"/>
            <p:nvPr/>
          </p:nvSpPr>
          <p:spPr>
            <a:xfrm>
              <a:off x="676656" y="479679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低价里的三个成分</a:t>
              </a:r>
            </a:p>
          </p:txBody>
        </p:sp>
        <p:sp>
          <p:nvSpPr>
            <p:cNvPr id="20" name="TextBox 20"/>
            <p:cNvSpPr txBox="1"/>
            <p:nvPr/>
          </p:nvSpPr>
          <p:spPr>
            <a:xfrm>
              <a:off x="678942" y="5188268"/>
              <a:ext cx="41285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产能 1,100–1,350 GW，是当年装机量的两倍以上</a:t>
              </a:r>
              <a:br/>
              <a:r>
                <a:rPr lang="zh-CN" sz="1350" dirty="0">
                  <a:solidFill>
                    <a:schemeClr val="dk1"/>
                  </a:solidFill>
                  <a:latin typeface="Microsoft YaHei"/>
                  <a:ea typeface="Microsoft YaHei"/>
                  <a:cs typeface="Microsoft YaHei"/>
                </a:rPr>
                <a:t>该价格低于多数制造商（含中国头部企业）的生产成本</a:t>
              </a:r>
              <a:br/>
              <a:r>
                <a:rPr lang="zh-CN" sz="1350" dirty="0">
                  <a:solidFill>
                    <a:schemeClr val="dk1"/>
                  </a:solidFill>
                  <a:latin typeface="Microsoft YaHei"/>
                  <a:ea typeface="Microsoft YaHei"/>
                  <a:cs typeface="Microsoft YaHei"/>
                </a:rPr>
                <a:t>中国价格自 2023 年跌超 60%，累计亏损近 USD 50 亿</a:t>
              </a:r>
            </a:p>
          </p:txBody>
        </p:sp>
      </p:grpSp>
      <p:sp>
        <p:nvSpPr>
          <p:cNvPr id="22" name="Line 22"/>
          <p:cNvSpPr/>
          <p:nvPr/>
        </p:nvSpPr>
        <p:spPr>
          <a:xfrm>
            <a:off x="6858000" y="4762500"/>
            <a:ext cx="9525" cy="1219200"/>
          </a:xfrm>
          <a:custGeom>
            <a:avLst/>
            <a:gdLst/>
            <a:ahLst/>
            <a:cxnLst/>
            <a:rect l="l" t="t" r="r" b="b"/>
            <a:pathLst>
              <a:path w="9525" h="1219200">
                <a:moveTo>
                  <a:pt x="0" y="0"/>
                </a:moveTo>
                <a:lnTo>
                  <a:pt x="0" y="1219200"/>
                </a:lnTo>
              </a:path>
            </a:pathLst>
          </a:custGeom>
          <a:noFill/>
          <a:ln w="9525">
            <a:solidFill>
              <a:schemeClr val="accent6"/>
            </a:solidFill>
          </a:ln>
        </p:spPr>
      </p:sp>
      <p:grpSp>
        <p:nvGrpSpPr>
          <p:cNvPr id="25" name="Group 25"/>
          <p:cNvGrpSpPr/>
          <p:nvPr/>
        </p:nvGrpSpPr>
        <p:grpSpPr>
          <a:xfrm>
            <a:off x="7153656" y="4796790"/>
            <a:ext cx="2844927" cy="1150811"/>
            <a:chOff x="7153656" y="4796790"/>
            <a:chExt cx="2844927" cy="1150811"/>
          </a:xfrm>
        </p:grpSpPr>
        <p:sp>
          <p:nvSpPr>
            <p:cNvPr id="23" name="TextBox 23"/>
            <p:cNvSpPr txBox="1"/>
            <p:nvPr/>
          </p:nvSpPr>
          <p:spPr>
            <a:xfrm>
              <a:off x="7153656" y="479679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但不是谁都买得到</a:t>
              </a:r>
            </a:p>
          </p:txBody>
        </p:sp>
        <p:sp>
          <p:nvSpPr>
            <p:cNvPr id="24" name="TextBox 24"/>
            <p:cNvSpPr txBox="1"/>
            <p:nvPr/>
          </p:nvSpPr>
          <p:spPr>
            <a:xfrm>
              <a:off x="7155942" y="5188268"/>
              <a:ext cx="2842641"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运往美国 $0.27/W（全球均价三倍）</a:t>
              </a:r>
              <a:br/>
              <a:r>
                <a:rPr lang="zh-CN" sz="1350" dirty="0">
                  <a:solidFill>
                    <a:schemeClr val="dk1"/>
                  </a:solidFill>
                  <a:latin typeface="Microsoft YaHei"/>
                  <a:ea typeface="Microsoft YaHei"/>
                  <a:cs typeface="Microsoft YaHei"/>
                </a:rPr>
                <a:t>印度本土制造 $0.15/W（高约 70%）</a:t>
              </a:r>
              <a:br/>
              <a:r>
                <a:rPr lang="zh-CN" sz="1350" dirty="0">
                  <a:solidFill>
                    <a:schemeClr val="dk1"/>
                  </a:solidFill>
                  <a:latin typeface="Microsoft YaHei"/>
                  <a:ea typeface="Microsoft YaHei"/>
                  <a:cs typeface="Microsoft YaHei"/>
                </a:rPr>
                <a:t>2030 年中国仍占供应链产能 75–95%</a:t>
              </a:r>
            </a:p>
          </p:txBody>
        </p:sp>
      </p:grpSp>
      <p:sp>
        <p:nvSpPr>
          <p:cNvPr id="26" name="Line 26"/>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9" name="Group 29"/>
          <p:cNvGrpSpPr/>
          <p:nvPr/>
        </p:nvGrpSpPr>
        <p:grpSpPr>
          <a:xfrm>
            <a:off x="679704" y="6385560"/>
            <a:ext cx="10832592" cy="234696"/>
            <a:chOff x="679704" y="6385560"/>
            <a:chExt cx="10832592" cy="234696"/>
          </a:xfrm>
        </p:grpSpPr>
        <p:sp>
          <p:nvSpPr>
            <p:cNvPr id="27" name="TextBox 27"/>
            <p:cNvSpPr txBox="1"/>
            <p:nvPr/>
          </p:nvSpPr>
          <p:spPr>
            <a:xfrm>
              <a:off x="679704" y="6385560"/>
              <a:ext cx="6624777"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来源：IEA《Renewables 2025》（产能、价格、利用率、地区价差）；Ember（新增装机）</a:t>
              </a:r>
            </a:p>
          </p:txBody>
        </p:sp>
        <p:sp>
          <p:nvSpPr>
            <p:cNvPr id="28" name="TextBox 28"/>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07</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id="9" presetID="10" presetClass="entr" presetSubtype="0" fill="hold" grpId="0" nodeType="afterEffect">
                                  <p:stCondLst>
                                    <p:cond delay="3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par>
                          <p:cTn id="12" fill="hold">
                            <p:stCondLst>
                              <p:cond delay="1100"/>
                            </p:stCondLst>
                            <p:childTnLst>
                              <p:par>
                                <p:cTn id="13" presetID="10" presetClass="entr" presetSubtype="0" fill="hold" grpId="0" nodeType="afterEffect">
                                  <p:stCondLst>
                                    <p:cond delay="3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par>
                          <p:cTn id="16" fill="hold">
                            <p:stCondLst>
                              <p:cond delay="1800"/>
                            </p:stCondLst>
                            <p:childTnLst>
                              <p:par>
                                <p:cTn id="17" presetID="10" presetClass="entr" presetSubtype="0" fill="hold" grpId="0" nodeType="afterEffect">
                                  <p:stCondLst>
                                    <p:cond delay="3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par>
                          <p:cTn id="20" fill="hold">
                            <p:stCondLst>
                              <p:cond delay="2500"/>
                            </p:stCondLst>
                            <p:childTnLst>
                              <p:par>
                                <p:cTn id="21" presetID="10" presetClass="entr" presetSubtype="0" fill="hold" grpId="0" nodeType="afterEffect">
                                  <p:stCondLst>
                                    <p:cond delay="3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childTnLst>
                          </p:cTn>
                        </p:par>
                        <p:par>
                          <p:cTn id="24" fill="hold">
                            <p:stCondLst>
                              <p:cond delay="3200"/>
                            </p:stCondLst>
                            <p:childTnLst>
                              <p:par>
                                <p:cTn id="25" presetID="10" presetClass="entr" presetSubtype="0" fill="hold" grpId="0" nodeType="afterEffect">
                                  <p:stCondLst>
                                    <p:cond delay="30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par>
                          <p:cTn id="28" fill="hold">
                            <p:stCondLst>
                              <p:cond delay="3900"/>
                            </p:stCondLst>
                            <p:childTnLst>
                              <p:par>
                                <p:cTn id="29" presetID="10" presetClass="entr" presetSubtype="0" fill="hold" grpId="0" nodeType="afterEffect">
                                  <p:stCondLst>
                                    <p:cond delay="30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accen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3A3A3A"/>
          </a:solidFill>
          <a:ln>
            <a:noFill/>
          </a:ln>
        </p:spPr>
      </p:sp>
      <p:grpSp>
        <p:nvGrpSpPr>
          <p:cNvPr id="4" name="!!argument-progress"/>
          <p:cNvGrpSpPr/>
          <p:nvPr/>
        </p:nvGrpSpPr>
        <p:grpSpPr>
          <a:xfrm>
            <a:off x="685800" y="723900"/>
            <a:ext cx="5772150" cy="38100"/>
            <a:chOff x="685800" y="723900"/>
            <a:chExt cx="5772150" cy="38100"/>
          </a:xfrm>
        </p:grpSpPr>
        <p:sp>
          <p:nvSpPr>
            <p:cNvPr id="3" name="Rectangle 3"/>
            <p:cNvSpPr/>
            <p:nvPr/>
          </p:nvSpPr>
          <p:spPr>
            <a:xfrm>
              <a:off x="685800" y="723900"/>
              <a:ext cx="5772150" cy="38100"/>
            </a:xfrm>
            <a:prstGeom prst="rect">
              <a:avLst/>
            </a:prstGeom>
            <a:solidFill>
              <a:schemeClr val="accent2"/>
            </a:solidFill>
            <a:ln>
              <a:noFill/>
            </a:ln>
          </p:spPr>
        </p:sp>
      </p:grpSp>
      <p:grpSp>
        <p:nvGrpSpPr>
          <p:cNvPr id="10" name="Group 10"/>
          <p:cNvGrpSpPr/>
          <p:nvPr/>
        </p:nvGrpSpPr>
        <p:grpSpPr>
          <a:xfrm>
            <a:off x="11125200" y="2495550"/>
            <a:ext cx="304800" cy="190500"/>
            <a:chOff x="11125200" y="2495550"/>
            <a:chExt cx="304800" cy="190500"/>
          </a:xfrm>
        </p:grpSpPr>
        <p:grpSp>
          <p:nvGrpSpPr>
            <p:cNvPr id="9" name="Group 9"/>
            <p:cNvGrpSpPr/>
            <p:nvPr/>
          </p:nvGrpSpPr>
          <p:grpSpPr>
            <a:xfrm>
              <a:off x="11125200" y="2495550"/>
              <a:ext cx="304800" cy="190500"/>
              <a:chOff x="11125200" y="2495550"/>
              <a:chExt cx="304800" cy="190500"/>
            </a:xfrm>
          </p:grpSpPr>
          <p:sp>
            <p:nvSpPr>
              <p:cNvPr id="5" name="Freeform 5"/>
              <p:cNvSpPr/>
              <p:nvPr/>
            </p:nvSpPr>
            <p:spPr>
              <a:xfrm>
                <a:off x="11125200" y="2495550"/>
                <a:ext cx="304800" cy="190500"/>
              </a:xfrm>
              <a:custGeom>
                <a:avLst/>
                <a:gdLst/>
                <a:ahLst/>
                <a:cxnLst/>
                <a:rect l="l" t="t" r="r" b="b"/>
                <a:pathLst>
                  <a:path w="304800" h="190500">
                    <a:moveTo>
                      <a:pt x="38100" y="0"/>
                    </a:moveTo>
                    <a:lnTo>
                      <a:pt x="247650" y="0"/>
                    </a:lnTo>
                    <a:cubicBezTo>
                      <a:pt x="268692" y="0"/>
                      <a:pt x="285750" y="17058"/>
                      <a:pt x="285750" y="38100"/>
                    </a:cubicBezTo>
                    <a:lnTo>
                      <a:pt x="285750" y="47625"/>
                    </a:lnTo>
                    <a:cubicBezTo>
                      <a:pt x="285750" y="52886"/>
                      <a:pt x="290014" y="57150"/>
                      <a:pt x="295275" y="57150"/>
                    </a:cubicBezTo>
                    <a:cubicBezTo>
                      <a:pt x="300536" y="57150"/>
                      <a:pt x="304800" y="61414"/>
                      <a:pt x="304800" y="66675"/>
                    </a:cubicBezTo>
                    <a:lnTo>
                      <a:pt x="304800" y="123825"/>
                    </a:lnTo>
                    <a:cubicBezTo>
                      <a:pt x="304800" y="129086"/>
                      <a:pt x="300536" y="133350"/>
                      <a:pt x="295275" y="133350"/>
                    </a:cubicBezTo>
                    <a:cubicBezTo>
                      <a:pt x="290014" y="133350"/>
                      <a:pt x="285750" y="137614"/>
                      <a:pt x="285750" y="142875"/>
                    </a:cubicBezTo>
                    <a:lnTo>
                      <a:pt x="285750" y="152400"/>
                    </a:lnTo>
                    <a:cubicBezTo>
                      <a:pt x="285750" y="173442"/>
                      <a:pt x="268692" y="190500"/>
                      <a:pt x="247650" y="190500"/>
                    </a:cubicBezTo>
                    <a:lnTo>
                      <a:pt x="38100" y="190500"/>
                    </a:lnTo>
                    <a:cubicBezTo>
                      <a:pt x="17058" y="190500"/>
                      <a:pt x="0" y="173442"/>
                      <a:pt x="0" y="152400"/>
                    </a:cubicBezTo>
                    <a:lnTo>
                      <a:pt x="0" y="38100"/>
                    </a:lnTo>
                    <a:cubicBezTo>
                      <a:pt x="0" y="17058"/>
                      <a:pt x="17058" y="0"/>
                      <a:pt x="38100" y="0"/>
                    </a:cubicBezTo>
                  </a:path>
                </a:pathLst>
              </a:custGeom>
              <a:noFill/>
              <a:ln w="28575">
                <a:solidFill>
                  <a:schemeClr val="accent2"/>
                </a:solidFill>
              </a:ln>
            </p:spPr>
          </p:sp>
          <p:sp>
            <p:nvSpPr>
              <p:cNvPr id="6" name="Freeform 6"/>
              <p:cNvSpPr/>
              <p:nvPr/>
            </p:nvSpPr>
            <p:spPr>
              <a:xfrm>
                <a:off x="11182350" y="2552700"/>
                <a:ext cx="9525" cy="76200"/>
              </a:xfrm>
              <a:custGeom>
                <a:avLst/>
                <a:gdLst/>
                <a:ahLst/>
                <a:cxnLst/>
                <a:rect l="l" t="t" r="r" b="b"/>
                <a:pathLst>
                  <a:path w="9525" h="76200">
                    <a:moveTo>
                      <a:pt x="0" y="0"/>
                    </a:moveTo>
                    <a:lnTo>
                      <a:pt x="0" y="76200"/>
                    </a:lnTo>
                  </a:path>
                </a:pathLst>
              </a:custGeom>
              <a:noFill/>
              <a:ln w="28575">
                <a:solidFill>
                  <a:schemeClr val="accent2"/>
                </a:solidFill>
              </a:ln>
            </p:spPr>
          </p:sp>
          <p:sp>
            <p:nvSpPr>
              <p:cNvPr id="7" name="Freeform 7"/>
              <p:cNvSpPr/>
              <p:nvPr/>
            </p:nvSpPr>
            <p:spPr>
              <a:xfrm>
                <a:off x="11239500" y="2552700"/>
                <a:ext cx="9525" cy="76200"/>
              </a:xfrm>
              <a:custGeom>
                <a:avLst/>
                <a:gdLst/>
                <a:ahLst/>
                <a:cxnLst/>
                <a:rect l="l" t="t" r="r" b="b"/>
                <a:pathLst>
                  <a:path w="9525" h="76200">
                    <a:moveTo>
                      <a:pt x="0" y="0"/>
                    </a:moveTo>
                    <a:lnTo>
                      <a:pt x="0" y="76200"/>
                    </a:lnTo>
                  </a:path>
                </a:pathLst>
              </a:custGeom>
              <a:noFill/>
              <a:ln w="28575">
                <a:solidFill>
                  <a:schemeClr val="accent2"/>
                </a:solidFill>
              </a:ln>
            </p:spPr>
          </p:sp>
          <p:sp>
            <p:nvSpPr>
              <p:cNvPr id="8" name="Freeform 8"/>
              <p:cNvSpPr/>
              <p:nvPr/>
            </p:nvSpPr>
            <p:spPr>
              <a:xfrm>
                <a:off x="11296650" y="2552700"/>
                <a:ext cx="9525" cy="76200"/>
              </a:xfrm>
              <a:custGeom>
                <a:avLst/>
                <a:gdLst/>
                <a:ahLst/>
                <a:cxnLst/>
                <a:rect l="l" t="t" r="r" b="b"/>
                <a:pathLst>
                  <a:path w="9525" h="76200">
                    <a:moveTo>
                      <a:pt x="0" y="0"/>
                    </a:moveTo>
                    <a:lnTo>
                      <a:pt x="0" y="76200"/>
                    </a:lnTo>
                  </a:path>
                </a:pathLst>
              </a:custGeom>
              <a:noFill/>
              <a:ln w="28575">
                <a:solidFill>
                  <a:schemeClr val="accent2"/>
                </a:solidFill>
              </a:ln>
            </p:spPr>
          </p:sp>
        </p:grpSp>
      </p:grpSp>
      <p:grpSp>
        <p:nvGrpSpPr>
          <p:cNvPr id="12" name="Group 12"/>
          <p:cNvGrpSpPr/>
          <p:nvPr/>
        </p:nvGrpSpPr>
        <p:grpSpPr>
          <a:xfrm>
            <a:off x="666750" y="2895600"/>
            <a:ext cx="2015883" cy="2305050"/>
            <a:chOff x="666750" y="2895600"/>
            <a:chExt cx="2015883" cy="2305050"/>
          </a:xfrm>
        </p:grpSpPr>
        <p:sp>
          <p:nvSpPr>
            <p:cNvPr id="11" name="TextBox 11"/>
            <p:cNvSpPr txBox="1"/>
            <p:nvPr/>
          </p:nvSpPr>
          <p:spPr>
            <a:xfrm>
              <a:off x="666750" y="2895600"/>
              <a:ext cx="2015883" cy="2305050"/>
            </a:xfrm>
            <a:prstGeom prst="rect">
              <a:avLst/>
            </a:prstGeom>
            <a:noFill/>
            <a:ln>
              <a:noFill/>
            </a:ln>
          </p:spPr>
          <p:txBody>
            <a:bodyPr wrap="none" lIns="0" tIns="0" rIns="0" bIns="0" anchor="t" anchorCtr="0">
              <a:spAutoFit/>
            </a:bodyPr>
            <a:lstStyle/>
            <a:p>
              <a:pPr algn="l"/>
              <a:r>
                <a:rPr lang="zh-CN" sz="12000" b="1" dirty="0">
                  <a:solidFill>
                    <a:srgbClr val="FFFFFF"/>
                  </a:solidFill>
                  <a:latin typeface="Arial Black"/>
                  <a:ea typeface="Arial Black"/>
                  <a:cs typeface="Arial Black"/>
                </a:rPr>
                <a:t>02</a:t>
              </a:r>
            </a:p>
          </p:txBody>
        </p:sp>
      </p:grpSp>
      <p:sp>
        <p:nvSpPr>
          <p:cNvPr id="13" name="Line 13"/>
          <p:cNvSpPr/>
          <p:nvPr/>
        </p:nvSpPr>
        <p:spPr>
          <a:xfrm>
            <a:off x="2971800" y="2895600"/>
            <a:ext cx="9525" cy="2343150"/>
          </a:xfrm>
          <a:custGeom>
            <a:avLst/>
            <a:gdLst/>
            <a:ahLst/>
            <a:cxnLst/>
            <a:rect l="l" t="t" r="r" b="b"/>
            <a:pathLst>
              <a:path w="9525" h="2343150">
                <a:moveTo>
                  <a:pt x="0" y="0"/>
                </a:moveTo>
                <a:lnTo>
                  <a:pt x="0" y="2343150"/>
                </a:lnTo>
              </a:path>
            </a:pathLst>
          </a:custGeom>
          <a:noFill/>
          <a:ln w="9525">
            <a:solidFill>
              <a:srgbClr val="3A3A3A"/>
            </a:solidFill>
          </a:ln>
        </p:spPr>
      </p:sp>
      <p:grpSp>
        <p:nvGrpSpPr>
          <p:cNvPr id="15" name="Group 15"/>
          <p:cNvGrpSpPr/>
          <p:nvPr/>
        </p:nvGrpSpPr>
        <p:grpSpPr>
          <a:xfrm>
            <a:off x="3412236" y="3453765"/>
            <a:ext cx="3805428" cy="1159764"/>
            <a:chOff x="3412236" y="3453765"/>
            <a:chExt cx="3805428" cy="1159764"/>
          </a:xfrm>
        </p:grpSpPr>
        <p:sp>
          <p:nvSpPr>
            <p:cNvPr id="14" name="TextBox 14"/>
            <p:cNvSpPr txBox="1"/>
            <p:nvPr/>
          </p:nvSpPr>
          <p:spPr>
            <a:xfrm>
              <a:off x="3412236" y="3453765"/>
              <a:ext cx="3805428" cy="1159764"/>
            </a:xfrm>
            <a:prstGeom prst="rect">
              <a:avLst/>
            </a:prstGeom>
            <a:noFill/>
            <a:ln>
              <a:noFill/>
            </a:ln>
          </p:spPr>
          <p:txBody>
            <a:bodyPr wrap="none" lIns="0" tIns="0" rIns="0" bIns="0" anchor="t" anchorCtr="0">
              <a:spAutoFit/>
            </a:bodyPr>
            <a:lstStyle/>
            <a:p>
              <a:pPr algn="l">
                <a:lnSpc>
                  <a:spcPts val="4050"/>
                </a:lnSpc>
              </a:pPr>
              <a:r>
                <a:rPr lang="zh-CN" sz="3300" b="1" dirty="0">
                  <a:solidFill>
                    <a:srgbClr val="FFFFFF"/>
                  </a:solidFill>
                  <a:latin typeface="Microsoft YaHei"/>
                  <a:ea typeface="Microsoft YaHei"/>
                  <a:cs typeface="Microsoft YaHei"/>
                </a:rPr>
                <a:t>成本中心已经从组件</a:t>
              </a:r>
              <a:br/>
              <a:r>
                <a:rPr lang="zh-CN" sz="3300" b="1" dirty="0">
                  <a:solidFill>
                    <a:srgbClr val="FFFFFF"/>
                  </a:solidFill>
                  <a:latin typeface="Microsoft YaHei"/>
                  <a:ea typeface="Microsoft YaHei"/>
                  <a:cs typeface="Microsoft YaHei"/>
                </a:rPr>
                <a:t>挪到了 BOS 与储能</a:t>
              </a:r>
            </a:p>
          </p:txBody>
        </p:sp>
      </p:grpSp>
      <p:grpSp>
        <p:nvGrpSpPr>
          <p:cNvPr id="17" name="Group 17"/>
          <p:cNvGrpSpPr/>
          <p:nvPr/>
        </p:nvGrpSpPr>
        <p:grpSpPr>
          <a:xfrm>
            <a:off x="3417570" y="4900612"/>
            <a:ext cx="4869180" cy="440055"/>
            <a:chOff x="3417570" y="4900612"/>
            <a:chExt cx="4869180" cy="440055"/>
          </a:xfrm>
        </p:grpSpPr>
        <p:sp>
          <p:nvSpPr>
            <p:cNvPr id="16" name="TextBox 16"/>
            <p:cNvSpPr txBox="1"/>
            <p:nvPr/>
          </p:nvSpPr>
          <p:spPr>
            <a:xfrm>
              <a:off x="3417570" y="4900612"/>
              <a:ext cx="4869180" cy="440055"/>
            </a:xfrm>
            <a:prstGeom prst="rect">
              <a:avLst/>
            </a:prstGeom>
            <a:noFill/>
            <a:ln>
              <a:noFill/>
            </a:ln>
          </p:spPr>
          <p:txBody>
            <a:bodyPr wrap="none" lIns="0" tIns="0" rIns="0" bIns="0" anchor="t" anchorCtr="0">
              <a:spAutoFit/>
            </a:bodyPr>
            <a:lstStyle/>
            <a:p>
              <a:pPr algn="l"/>
              <a:r>
                <a:rPr lang="zh-CN" sz="2250" dirty="0">
                  <a:solidFill>
                    <a:schemeClr val="accent6"/>
                  </a:solidFill>
                  <a:latin typeface="Microsoft YaHei"/>
                  <a:ea typeface="Microsoft YaHei"/>
                  <a:cs typeface="Microsoft YaHei"/>
                </a:rPr>
                <a:t>组件降了九成之后，剩下的钱在哪里</a:t>
              </a:r>
            </a:p>
          </p:txBody>
        </p:sp>
      </p:grpSp>
      <p:sp>
        <p:nvSpPr>
          <p:cNvPr id="18" name="Line 1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3A3A3A"/>
            </a:solidFill>
          </a:ln>
        </p:spPr>
      </p:sp>
      <p:grpSp>
        <p:nvGrpSpPr>
          <p:cNvPr id="21" name="Group 21"/>
          <p:cNvGrpSpPr/>
          <p:nvPr/>
        </p:nvGrpSpPr>
        <p:grpSpPr>
          <a:xfrm>
            <a:off x="679704" y="6385560"/>
            <a:ext cx="10832592" cy="234696"/>
            <a:chOff x="679704" y="6385560"/>
            <a:chExt cx="10832592" cy="234696"/>
          </a:xfrm>
        </p:grpSpPr>
        <p:sp>
          <p:nvSpPr>
            <p:cNvPr id="19" name="TextBox 19"/>
            <p:cNvSpPr txBox="1"/>
            <p:nvPr/>
          </p:nvSpPr>
          <p:spPr>
            <a:xfrm>
              <a:off x="679704" y="6385560"/>
              <a:ext cx="197495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icrosoft YaHei"/>
                  <a:ea typeface="Microsoft YaHei"/>
                  <a:cs typeface="Microsoft YaHei"/>
                </a:rPr>
                <a:t>判断二 · 钱已经从组件挪走</a:t>
              </a:r>
            </a:p>
          </p:txBody>
        </p:sp>
        <p:sp>
          <p:nvSpPr>
            <p:cNvPr id="20" name="TextBox 20"/>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icrosoft YaHei"/>
                  <a:ea typeface="Microsoft YaHei"/>
                  <a:cs typeface="Microsoft YaHei"/>
                </a:rPr>
                <a:t>08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800"/>
                            </p:stCondLst>
                            <p:childTnLst>
                              <p:par>
                                <p:cTn id="9" presetID="10" presetClass="entr" presetSubtype="0" fill="hold" grpId="0" nodeType="afterEffect">
                                  <p:stCondLst>
                                    <p:cond delay="3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500"/>
                            </p:stCondLst>
                            <p:childTnLst>
                              <p:par>
                                <p:cTn id="13" presetID="10" presetClass="entr" presetSubtype="0" fill="hold" grpId="0" nodeType="afterEffect">
                                  <p:stCondLst>
                                    <p:cond delay="3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Group 4"/>
          <p:cNvGrpSpPr/>
          <p:nvPr/>
        </p:nvGrpSpPr>
        <p:grpSpPr>
          <a:xfrm>
            <a:off x="685800" y="723900"/>
            <a:ext cx="6496050" cy="38100"/>
            <a:chOff x="685800" y="723900"/>
            <a:chExt cx="6496050" cy="38100"/>
          </a:xfrm>
        </p:grpSpPr>
        <p:sp>
          <p:nvSpPr>
            <p:cNvPr id="3" name="Rectangle 3"/>
            <p:cNvSpPr/>
            <p:nvPr/>
          </p:nvSpPr>
          <p:spPr>
            <a:xfrm>
              <a:off x="685800" y="723900"/>
              <a:ext cx="6496050" cy="38100"/>
            </a:xfrm>
            <a:prstGeom prst="rect">
              <a:avLst/>
            </a:prstGeom>
            <a:solidFill>
              <a:schemeClr val="accent2"/>
            </a:solidFill>
            <a:ln>
              <a:noFill/>
            </a:ln>
          </p:spPr>
        </p:sp>
      </p:grpSp>
      <p:grpSp>
        <p:nvGrpSpPr>
          <p:cNvPr id="6" name="Group 6"/>
          <p:cNvGrpSpPr/>
          <p:nvPr/>
        </p:nvGrpSpPr>
        <p:grpSpPr>
          <a:xfrm>
            <a:off x="669036" y="977265"/>
            <a:ext cx="6667881" cy="1159764"/>
            <a:chOff x="669036" y="977265"/>
            <a:chExt cx="6667881" cy="1159764"/>
          </a:xfrm>
        </p:grpSpPr>
        <p:sp>
          <p:nvSpPr>
            <p:cNvPr id="5" name="TextBox 5"/>
            <p:cNvSpPr txBox="1"/>
            <p:nvPr/>
          </p:nvSpPr>
          <p:spPr>
            <a:xfrm>
              <a:off x="669036" y="977265"/>
              <a:ext cx="6667881"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组件从系统成本的 44% 降到 30%，</a:t>
              </a:r>
              <a:br/>
              <a:r>
                <a:rPr lang="zh-CN" sz="3300" b="1" dirty="0">
                  <a:solidFill>
                    <a:schemeClr val="accent1"/>
                  </a:solidFill>
                  <a:latin typeface="Microsoft YaHei"/>
                  <a:ea typeface="Microsoft YaHei"/>
                  <a:cs typeface="Microsoft YaHei"/>
                </a:rPr>
                <a:t>系统总成本却在 2021 年见底</a:t>
              </a:r>
            </a:p>
          </p:txBody>
        </p:sp>
      </p:grpSp>
      <p:grpSp>
        <p:nvGrpSpPr>
          <p:cNvPr id="11" name="system-cost-split"/>
          <p:cNvGrpSpPr/>
          <p:nvPr/>
        </p:nvGrpSpPr>
        <p:grpSpPr>
          <a:xfrm>
            <a:off x="685800" y="2187892"/>
            <a:ext cx="6286500" cy="3717608"/>
            <a:chOff x="685800" y="2187892"/>
            <a:chExt cx="6286500" cy="3717608"/>
          </a:xfrm>
        </p:grpSpPr>
        <p:graphicFrame>
          <p:nvGraphicFramePr>
            <p:cNvPr id="7" name="system-cost-split"/>
            <p:cNvGraphicFramePr>
              <a:graphicFrameLocks noGrp="1"/>
            </p:cNvGraphicFramePr>
            <p:nvPr/>
          </p:nvGraphicFramePr>
          <p:xfrm>
            <a:off x="685800" y="2247900"/>
            <a:ext cx="6286500" cy="3657600"/>
          </p:xfrm>
          <a:graphic>
            <a:graphicData uri="http://schemas.openxmlformats.org/drawingml/2006/chart">
              <c:chart xmlns:c="http://schemas.openxmlformats.org/drawingml/2006/chart" r:id="rId2"/>
            </a:graphicData>
          </a:graphic>
        </p:graphicFrame>
        <p:sp>
          <p:nvSpPr>
            <p:cNvPr id="8" name="Chart Note 8"/>
            <p:cNvSpPr txBox="1"/>
            <p:nvPr/>
          </p:nvSpPr>
          <p:spPr>
            <a:xfrm>
              <a:off x="1524000" y="2187892"/>
              <a:ext cx="2286000" cy="274320"/>
            </a:xfrm>
            <a:prstGeom prst="rect">
              <a:avLst/>
            </a:prstGeom>
            <a:noFill/>
            <a:ln>
              <a:noFill/>
            </a:ln>
          </p:spPr>
          <p:txBody>
            <a:bodyPr wrap="square" lIns="0" tIns="0" rIns="0" bIns="0" anchor="b" anchorCtr="0"/>
            <a:lstStyle/>
            <a:p>
              <a:pPr algn="l"/>
              <a:r>
                <a:rPr lang="zh-CN" sz="1350">
                  <a:solidFill>
                    <a:srgbClr val="6E6E6E"/>
                  </a:solidFill>
                  <a:latin typeface="Arial"/>
                  <a:ea typeface="Microsoft YaHei"/>
                  <a:cs typeface="Arial"/>
                </a:rPr>
                <a:t>$/Wdc（2024 USD）</a:t>
              </a:r>
            </a:p>
          </p:txBody>
        </p:sp>
        <p:sp>
          <p:nvSpPr>
            <p:cNvPr id="9" name="Chart Note 9"/>
            <p:cNvSpPr txBox="1"/>
            <p:nvPr/>
          </p:nvSpPr>
          <p:spPr>
            <a:xfrm>
              <a:off x="2333625" y="2626042"/>
              <a:ext cx="952500" cy="274320"/>
            </a:xfrm>
            <a:prstGeom prst="rect">
              <a:avLst/>
            </a:prstGeom>
            <a:noFill/>
            <a:ln>
              <a:noFill/>
            </a:ln>
          </p:spPr>
          <p:txBody>
            <a:bodyPr wrap="square" lIns="0" tIns="0" rIns="0" bIns="0" anchor="b" anchorCtr="0"/>
            <a:lstStyle/>
            <a:p>
              <a:pPr algn="l"/>
              <a:r>
                <a:rPr lang="zh-CN" sz="1350">
                  <a:solidFill>
                    <a:srgbClr val="111111"/>
                  </a:solidFill>
                  <a:latin typeface="Arial"/>
                  <a:ea typeface="Microsoft YaHei"/>
                  <a:cs typeface="Arial"/>
                </a:rPr>
                <a:t>$6.94</a:t>
              </a:r>
            </a:p>
          </p:txBody>
        </p:sp>
        <p:sp>
          <p:nvSpPr>
            <p:cNvPr id="10" name="Chart Note 10"/>
            <p:cNvSpPr txBox="1"/>
            <p:nvPr/>
          </p:nvSpPr>
          <p:spPr>
            <a:xfrm>
              <a:off x="4905375" y="4692968"/>
              <a:ext cx="952500" cy="274320"/>
            </a:xfrm>
            <a:prstGeom prst="rect">
              <a:avLst/>
            </a:prstGeom>
            <a:noFill/>
            <a:ln>
              <a:noFill/>
            </a:ln>
          </p:spPr>
          <p:txBody>
            <a:bodyPr wrap="square" lIns="0" tIns="0" rIns="0" bIns="0" anchor="b" anchorCtr="0"/>
            <a:lstStyle/>
            <a:p>
              <a:pPr algn="l"/>
              <a:r>
                <a:rPr lang="zh-CN" sz="1350">
                  <a:solidFill>
                    <a:srgbClr val="111111"/>
                  </a:solidFill>
                  <a:latin typeface="Arial"/>
                  <a:ea typeface="Microsoft YaHei"/>
                  <a:cs typeface="Arial"/>
                </a:rPr>
                <a:t>$1.15</a:t>
              </a:r>
            </a:p>
          </p:txBody>
        </p:sp>
      </p:grpSp>
      <p:grpSp>
        <p:nvGrpSpPr>
          <p:cNvPr id="35" name="Group 35"/>
          <p:cNvGrpSpPr/>
          <p:nvPr/>
        </p:nvGrpSpPr>
        <p:grpSpPr>
          <a:xfrm>
            <a:off x="7353300" y="2251710"/>
            <a:ext cx="4083558" cy="2057591"/>
            <a:chOff x="7353300" y="2251710"/>
            <a:chExt cx="4083558" cy="2057591"/>
          </a:xfrm>
        </p:grpSpPr>
        <p:sp>
          <p:nvSpPr>
            <p:cNvPr id="12" name="TextBox 12"/>
            <p:cNvSpPr txBox="1"/>
            <p:nvPr/>
          </p:nvSpPr>
          <p:spPr>
            <a:xfrm>
              <a:off x="7613904" y="2251710"/>
              <a:ext cx="1156106"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分项（$/Wdc）</a:t>
              </a:r>
            </a:p>
          </p:txBody>
        </p:sp>
        <p:sp>
          <p:nvSpPr>
            <p:cNvPr id="13" name="TextBox 13"/>
            <p:cNvSpPr txBox="1"/>
            <p:nvPr/>
          </p:nvSpPr>
          <p:spPr>
            <a:xfrm>
              <a:off x="9925507" y="2251710"/>
              <a:ext cx="367589"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2010</a:t>
              </a:r>
            </a:p>
          </p:txBody>
        </p:sp>
        <p:sp>
          <p:nvSpPr>
            <p:cNvPr id="14" name="TextBox 14"/>
            <p:cNvSpPr txBox="1"/>
            <p:nvPr/>
          </p:nvSpPr>
          <p:spPr>
            <a:xfrm>
              <a:off x="11068507" y="2251710"/>
              <a:ext cx="367589"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2024</a:t>
              </a:r>
            </a:p>
          </p:txBody>
        </p:sp>
        <p:sp>
          <p:nvSpPr>
            <p:cNvPr id="15" name="Rectangle 15"/>
            <p:cNvSpPr/>
            <p:nvPr/>
          </p:nvSpPr>
          <p:spPr>
            <a:xfrm>
              <a:off x="7353300" y="2619375"/>
              <a:ext cx="152400" cy="152400"/>
            </a:xfrm>
            <a:prstGeom prst="rect">
              <a:avLst/>
            </a:prstGeom>
            <a:solidFill>
              <a:schemeClr val="accent2"/>
            </a:solidFill>
            <a:ln>
              <a:noFill/>
            </a:ln>
          </p:spPr>
        </p:sp>
        <p:sp>
          <p:nvSpPr>
            <p:cNvPr id="16" name="TextBox 16"/>
            <p:cNvSpPr txBox="1"/>
            <p:nvPr/>
          </p:nvSpPr>
          <p:spPr>
            <a:xfrm>
              <a:off x="7613142" y="2597468"/>
              <a:ext cx="10318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icrosoft YaHei"/>
                  <a:ea typeface="Microsoft YaHei"/>
                  <a:cs typeface="Microsoft YaHei"/>
                </a:rPr>
                <a:t>组件 Module</a:t>
              </a:r>
            </a:p>
          </p:txBody>
        </p:sp>
        <p:sp>
          <p:nvSpPr>
            <p:cNvPr id="17" name="TextBox 17"/>
            <p:cNvSpPr txBox="1"/>
            <p:nvPr/>
          </p:nvSpPr>
          <p:spPr>
            <a:xfrm>
              <a:off x="9780365" y="25974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$3.08</a:t>
              </a:r>
            </a:p>
          </p:txBody>
        </p:sp>
        <p:sp>
          <p:nvSpPr>
            <p:cNvPr id="18" name="TextBox 18"/>
            <p:cNvSpPr txBox="1"/>
            <p:nvPr/>
          </p:nvSpPr>
          <p:spPr>
            <a:xfrm>
              <a:off x="10923365" y="25974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$0.35</a:t>
              </a:r>
            </a:p>
          </p:txBody>
        </p:sp>
        <p:sp>
          <p:nvSpPr>
            <p:cNvPr id="19" name="Rectangle 19"/>
            <p:cNvSpPr/>
            <p:nvPr/>
          </p:nvSpPr>
          <p:spPr>
            <a:xfrm>
              <a:off x="7353300" y="2981325"/>
              <a:ext cx="152400" cy="152400"/>
            </a:xfrm>
            <a:prstGeom prst="rect">
              <a:avLst/>
            </a:prstGeom>
            <a:solidFill>
              <a:srgbClr val="9E9E9E"/>
            </a:solidFill>
            <a:ln>
              <a:noFill/>
            </a:ln>
          </p:spPr>
        </p:sp>
        <p:sp>
          <p:nvSpPr>
            <p:cNvPr id="20" name="TextBox 20"/>
            <p:cNvSpPr txBox="1"/>
            <p:nvPr/>
          </p:nvSpPr>
          <p:spPr>
            <a:xfrm>
              <a:off x="7613142" y="2959418"/>
              <a:ext cx="13772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icrosoft YaHei"/>
                  <a:ea typeface="Microsoft YaHei"/>
                  <a:cs typeface="Microsoft YaHei"/>
                </a:rPr>
                <a:t>逆变器 Inverter</a:t>
              </a:r>
            </a:p>
          </p:txBody>
        </p:sp>
        <p:sp>
          <p:nvSpPr>
            <p:cNvPr id="21" name="TextBox 21"/>
            <p:cNvSpPr txBox="1"/>
            <p:nvPr/>
          </p:nvSpPr>
          <p:spPr>
            <a:xfrm>
              <a:off x="9780365" y="29594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$0.35</a:t>
              </a:r>
            </a:p>
          </p:txBody>
        </p:sp>
        <p:sp>
          <p:nvSpPr>
            <p:cNvPr id="22" name="TextBox 22"/>
            <p:cNvSpPr txBox="1"/>
            <p:nvPr/>
          </p:nvSpPr>
          <p:spPr>
            <a:xfrm>
              <a:off x="10923365" y="29594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$0.03</a:t>
              </a:r>
            </a:p>
          </p:txBody>
        </p:sp>
        <p:sp>
          <p:nvSpPr>
            <p:cNvPr id="23" name="Rectangle 23"/>
            <p:cNvSpPr/>
            <p:nvPr/>
          </p:nvSpPr>
          <p:spPr>
            <a:xfrm>
              <a:off x="7353300" y="3343275"/>
              <a:ext cx="152400" cy="152400"/>
            </a:xfrm>
            <a:prstGeom prst="rect">
              <a:avLst/>
            </a:prstGeom>
            <a:solidFill>
              <a:schemeClr val="accent1"/>
            </a:solidFill>
            <a:ln>
              <a:noFill/>
            </a:ln>
          </p:spPr>
        </p:sp>
        <p:sp>
          <p:nvSpPr>
            <p:cNvPr id="24" name="TextBox 24"/>
            <p:cNvSpPr txBox="1"/>
            <p:nvPr/>
          </p:nvSpPr>
          <p:spPr>
            <a:xfrm>
              <a:off x="7613142" y="3321368"/>
              <a:ext cx="3689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icrosoft YaHei"/>
                  <a:ea typeface="Microsoft YaHei"/>
                  <a:cs typeface="Microsoft YaHei"/>
                </a:rPr>
                <a:t>BOS</a:t>
              </a:r>
            </a:p>
          </p:txBody>
        </p:sp>
        <p:sp>
          <p:nvSpPr>
            <p:cNvPr id="25" name="TextBox 25"/>
            <p:cNvSpPr txBox="1"/>
            <p:nvPr/>
          </p:nvSpPr>
          <p:spPr>
            <a:xfrm>
              <a:off x="9780365" y="33213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$0.96</a:t>
              </a:r>
            </a:p>
          </p:txBody>
        </p:sp>
        <p:sp>
          <p:nvSpPr>
            <p:cNvPr id="26" name="TextBox 26"/>
            <p:cNvSpPr txBox="1"/>
            <p:nvPr/>
          </p:nvSpPr>
          <p:spPr>
            <a:xfrm>
              <a:off x="10923365" y="33213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$0.33</a:t>
              </a:r>
            </a:p>
          </p:txBody>
        </p:sp>
        <p:sp>
          <p:nvSpPr>
            <p:cNvPr id="27" name="Rectangle 27"/>
            <p:cNvSpPr/>
            <p:nvPr/>
          </p:nvSpPr>
          <p:spPr>
            <a:xfrm>
              <a:off x="7353300" y="3705225"/>
              <a:ext cx="152400" cy="152400"/>
            </a:xfrm>
            <a:prstGeom prst="rect">
              <a:avLst/>
            </a:prstGeom>
            <a:solidFill>
              <a:schemeClr val="accent3"/>
            </a:solidFill>
            <a:ln>
              <a:noFill/>
            </a:ln>
          </p:spPr>
        </p:sp>
        <p:sp>
          <p:nvSpPr>
            <p:cNvPr id="28" name="TextBox 28"/>
            <p:cNvSpPr txBox="1"/>
            <p:nvPr/>
          </p:nvSpPr>
          <p:spPr>
            <a:xfrm>
              <a:off x="7613142" y="368331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icrosoft YaHei"/>
                  <a:ea typeface="Microsoft YaHei"/>
                  <a:cs typeface="Microsoft YaHei"/>
                </a:rPr>
                <a:t>人工 Labor</a:t>
              </a:r>
            </a:p>
          </p:txBody>
        </p:sp>
        <p:sp>
          <p:nvSpPr>
            <p:cNvPr id="29" name="TextBox 29"/>
            <p:cNvSpPr txBox="1"/>
            <p:nvPr/>
          </p:nvSpPr>
          <p:spPr>
            <a:xfrm>
              <a:off x="9780365" y="3683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$0.79</a:t>
              </a:r>
            </a:p>
          </p:txBody>
        </p:sp>
        <p:sp>
          <p:nvSpPr>
            <p:cNvPr id="30" name="TextBox 30"/>
            <p:cNvSpPr txBox="1"/>
            <p:nvPr/>
          </p:nvSpPr>
          <p:spPr>
            <a:xfrm>
              <a:off x="10923365" y="3683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$0.24</a:t>
              </a:r>
            </a:p>
          </p:txBody>
        </p:sp>
        <p:sp>
          <p:nvSpPr>
            <p:cNvPr id="31" name="Rectangle 31"/>
            <p:cNvSpPr/>
            <p:nvPr/>
          </p:nvSpPr>
          <p:spPr>
            <a:xfrm>
              <a:off x="7353300" y="4067175"/>
              <a:ext cx="152400" cy="152400"/>
            </a:xfrm>
            <a:prstGeom prst="rect">
              <a:avLst/>
            </a:prstGeom>
            <a:solidFill>
              <a:schemeClr val="accent6"/>
            </a:solidFill>
            <a:ln>
              <a:noFill/>
            </a:ln>
          </p:spPr>
        </p:sp>
        <p:sp>
          <p:nvSpPr>
            <p:cNvPr id="32" name="TextBox 32"/>
            <p:cNvSpPr txBox="1"/>
            <p:nvPr/>
          </p:nvSpPr>
          <p:spPr>
            <a:xfrm>
              <a:off x="7613142" y="4045268"/>
              <a:ext cx="158711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icrosoft YaHei"/>
                  <a:ea typeface="Microsoft YaHei"/>
                  <a:cs typeface="Microsoft YaHei"/>
                </a:rPr>
                <a:t>软成本 Soft Costs</a:t>
              </a:r>
            </a:p>
          </p:txBody>
        </p:sp>
        <p:sp>
          <p:nvSpPr>
            <p:cNvPr id="33" name="TextBox 33"/>
            <p:cNvSpPr txBox="1"/>
            <p:nvPr/>
          </p:nvSpPr>
          <p:spPr>
            <a:xfrm>
              <a:off x="9780365" y="40452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$1.77</a:t>
              </a:r>
            </a:p>
          </p:txBody>
        </p:sp>
        <p:sp>
          <p:nvSpPr>
            <p:cNvPr id="34" name="TextBox 34"/>
            <p:cNvSpPr txBox="1"/>
            <p:nvPr/>
          </p:nvSpPr>
          <p:spPr>
            <a:xfrm>
              <a:off x="10923365" y="40452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$0.20</a:t>
              </a:r>
            </a:p>
          </p:txBody>
        </p:sp>
      </p:grpSp>
      <p:grpSp>
        <p:nvGrpSpPr>
          <p:cNvPr id="38" name="Group 38"/>
          <p:cNvGrpSpPr/>
          <p:nvPr/>
        </p:nvGrpSpPr>
        <p:grpSpPr>
          <a:xfrm>
            <a:off x="7344156" y="4472940"/>
            <a:ext cx="3676551" cy="655511"/>
            <a:chOff x="7344156" y="4472940"/>
            <a:chExt cx="3676551" cy="655511"/>
          </a:xfrm>
        </p:grpSpPr>
        <p:sp>
          <p:nvSpPr>
            <p:cNvPr id="36" name="TextBox 36"/>
            <p:cNvSpPr txBox="1"/>
            <p:nvPr/>
          </p:nvSpPr>
          <p:spPr>
            <a:xfrm>
              <a:off x="7344156" y="4472940"/>
              <a:ext cx="367655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系统总成本 $6.94 → $1.15/Wdc</a:t>
              </a:r>
            </a:p>
          </p:txBody>
        </p:sp>
        <p:sp>
          <p:nvSpPr>
            <p:cNvPr id="37" name="TextBox 37"/>
            <p:cNvSpPr txBox="1"/>
            <p:nvPr/>
          </p:nvSpPr>
          <p:spPr>
            <a:xfrm>
              <a:off x="7346442" y="4864418"/>
              <a:ext cx="36198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icrosoft YaHei"/>
                  <a:ea typeface="Microsoft YaHei"/>
                  <a:cs typeface="Microsoft YaHei"/>
                </a:rPr>
                <a:t xml:space="preserve">组件绝对值降 </a:t>
              </a:r>
              <a:r>
                <a:rPr lang="zh-CN" sz="1350" b="1" dirty="0">
                  <a:solidFill>
                    <a:schemeClr val="accent2"/>
                  </a:solidFill>
                  <a:latin typeface="Microsoft YaHei"/>
                  <a:ea typeface="Microsoft YaHei"/>
                  <a:cs typeface="Microsoft YaHei"/>
                </a:rPr>
                <a:t>89%</a:t>
              </a:r>
              <a:r>
                <a:rPr lang="zh-CN" sz="1350" dirty="0">
                  <a:solidFill>
                    <a:schemeClr val="dk1"/>
                  </a:solidFill>
                  <a:latin typeface="Microsoft YaHei"/>
                  <a:ea typeface="Microsoft YaHei"/>
                  <a:cs typeface="Microsoft YaHei"/>
                </a:rPr>
                <a:t>，但份额从 44% 降到 30%</a:t>
              </a:r>
            </a:p>
          </p:txBody>
        </p:sp>
      </p:grpSp>
      <p:grpSp>
        <p:nvGrpSpPr>
          <p:cNvPr id="40" name="Group 40"/>
          <p:cNvGrpSpPr/>
          <p:nvPr/>
        </p:nvGrpSpPr>
        <p:grpSpPr>
          <a:xfrm>
            <a:off x="7346442" y="5378768"/>
            <a:ext cx="3511296" cy="759333"/>
            <a:chOff x="7346442" y="5378768"/>
            <a:chExt cx="3511296" cy="759333"/>
          </a:xfrm>
        </p:grpSpPr>
        <p:sp>
          <p:nvSpPr>
            <p:cNvPr id="39" name="TextBox 39"/>
            <p:cNvSpPr txBox="1"/>
            <p:nvPr/>
          </p:nvSpPr>
          <p:spPr>
            <a:xfrm>
              <a:off x="7346442" y="5378768"/>
              <a:ext cx="351129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3"/>
                  </a:solidFill>
                  <a:latin typeface="Microsoft YaHei"/>
                  <a:ea typeface="Microsoft YaHei"/>
                  <a:cs typeface="Microsoft YaHei"/>
                </a:rPr>
                <a:t>总成本序列（$/Wdc）：2010 6.94 ·</a:t>
              </a:r>
              <a:br/>
              <a:r>
                <a:rPr lang="zh-CN" sz="1350" dirty="0">
                  <a:solidFill>
                    <a:schemeClr val="accent3"/>
                  </a:solidFill>
                  <a:latin typeface="Microsoft YaHei"/>
                  <a:ea typeface="Microsoft YaHei"/>
                  <a:cs typeface="Microsoft YaHei"/>
                </a:rPr>
                <a:t>2016 1.99 · 2020 1.23 · 2021 1.08（最低）</a:t>
              </a:r>
            </a:p>
            <a:p>
              <a:pPr algn="l" marL="145732" indent="-145732">
                <a:lnSpc>
                  <a:spcPts val="1950"/>
                </a:lnSpc>
                <a:buClr>
                  <a:schemeClr val="accent3"/>
                </a:buClr>
                <a:buSzTx/>
                <a:buFontTx/>
                <a:buChar char="•"/>
              </a:pPr>
              <a:r>
                <a:rPr lang="zh-CN" sz="1350" dirty="0">
                  <a:solidFill>
                    <a:schemeClr val="accent3"/>
                  </a:solidFill>
                  <a:latin typeface="Microsoft YaHei"/>
                  <a:ea typeface="Microsoft YaHei"/>
                  <a:cs typeface="Microsoft YaHei"/>
                </a:rPr>
                <a:t>2022 1.14 · 2023 1.24 · 2024 1.15</a:t>
              </a:r>
            </a:p>
          </p:txBody>
        </p:sp>
      </p:grpSp>
      <p:sp>
        <p:nvSpPr>
          <p:cNvPr id="41" name="Line 41"/>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44" name="Group 44"/>
          <p:cNvGrpSpPr/>
          <p:nvPr/>
        </p:nvGrpSpPr>
        <p:grpSpPr>
          <a:xfrm>
            <a:off x="679704" y="6347460"/>
            <a:ext cx="10832592" cy="444246"/>
            <a:chOff x="679704" y="6347460"/>
            <a:chExt cx="10832592" cy="444246"/>
          </a:xfrm>
        </p:grpSpPr>
        <p:sp>
          <p:nvSpPr>
            <p:cNvPr id="42" name="TextBox 42"/>
            <p:cNvSpPr txBox="1"/>
            <p:nvPr/>
          </p:nvSpPr>
          <p:spPr>
            <a:xfrm>
              <a:off x="679704" y="6347460"/>
              <a:ext cx="8729472" cy="444246"/>
            </a:xfrm>
            <a:prstGeom prst="rect">
              <a:avLst/>
            </a:prstGeom>
            <a:noFill/>
            <a:ln>
              <a:noFill/>
            </a:ln>
          </p:spPr>
          <p:txBody>
            <a:bodyPr wrap="none" lIns="0" tIns="0" rIns="0" bIns="0" anchor="t" anchorCtr="0">
              <a:spAutoFit/>
            </a:bodyPr>
            <a:lstStyle/>
            <a:p>
              <a:pPr algn="l">
                <a:lnSpc>
                  <a:spcPts val="1650"/>
                </a:lnSpc>
              </a:pPr>
              <a:r>
                <a:rPr lang="zh-CN" sz="1200" dirty="0">
                  <a:solidFill>
                    <a:schemeClr val="accent3"/>
                  </a:solidFill>
                  <a:latin typeface="Microsoft YaHei"/>
                  <a:ea typeface="Microsoft YaHei"/>
                  <a:cs typeface="Microsoft YaHei"/>
                </a:rPr>
                <a:t>来源：NREL/TP-7A40-92536（2024 USD，100 MWdc 单轴跟踪基准）；组件份额 44% → 30% 为本卷据 NREL 分项计算</a:t>
              </a:r>
              <a:br/>
              <a:r>
                <a:rPr lang="zh-CN" sz="1200" dirty="0">
                  <a:solidFill>
                    <a:schemeClr val="accent3"/>
                  </a:solidFill>
                  <a:latin typeface="Microsoft YaHei"/>
                  <a:ea typeface="Microsoft YaHei"/>
                  <a:cs typeface="Microsoft YaHei"/>
                </a:rPr>
                <a:t>IRENA 全球口径：总安装成本 2010–2024 年降 87% 至 USD 708/kW；另一份 IRENA 报告给出 2024 年 USD 691/kW，两者不做平均</a:t>
              </a:r>
            </a:p>
          </p:txBody>
        </p:sp>
        <p:sp>
          <p:nvSpPr>
            <p:cNvPr id="43" name="TextBox 43"/>
            <p:cNvSpPr txBox="1"/>
            <p:nvPr/>
          </p:nvSpPr>
          <p:spPr>
            <a:xfrm>
              <a:off x="11322406" y="63474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22" presetClass="entr" presetSubtype="1" fill="hold" grpId="0" nodeType="afterEffect">
                                  <p:stCondLst>
                                    <p:cond delay="30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900"/>
                                        <p:tgtEl>
                                          <p:spTgt spid="11"/>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argument-progress"/>
          <p:cNvGrpSpPr/>
          <p:nvPr/>
        </p:nvGrpSpPr>
        <p:grpSpPr>
          <a:xfrm>
            <a:off x="685800" y="723900"/>
            <a:ext cx="7210425" cy="38100"/>
            <a:chOff x="685800" y="723900"/>
            <a:chExt cx="7210425" cy="38100"/>
          </a:xfrm>
        </p:grpSpPr>
        <p:sp>
          <p:nvSpPr>
            <p:cNvPr id="3" name="Rectangle 3"/>
            <p:cNvSpPr/>
            <p:nvPr/>
          </p:nvSpPr>
          <p:spPr>
            <a:xfrm>
              <a:off x="685800" y="723900"/>
              <a:ext cx="7210425" cy="38100"/>
            </a:xfrm>
            <a:prstGeom prst="rect">
              <a:avLst/>
            </a:prstGeom>
            <a:solidFill>
              <a:schemeClr val="accent2"/>
            </a:solidFill>
            <a:ln>
              <a:noFill/>
            </a:ln>
          </p:spPr>
        </p:sp>
      </p:grpSp>
      <p:grpSp>
        <p:nvGrpSpPr>
          <p:cNvPr id="6" name="Group 6"/>
          <p:cNvGrpSpPr/>
          <p:nvPr/>
        </p:nvGrpSpPr>
        <p:grpSpPr>
          <a:xfrm>
            <a:off x="669036" y="977265"/>
            <a:ext cx="9032841" cy="645414"/>
            <a:chOff x="669036" y="977265"/>
            <a:chExt cx="9032841" cy="645414"/>
          </a:xfrm>
        </p:grpSpPr>
        <p:sp>
          <p:nvSpPr>
            <p:cNvPr id="5" name="TextBox 5"/>
            <p:cNvSpPr txBox="1"/>
            <p:nvPr/>
          </p:nvSpPr>
          <p:spPr>
            <a:xfrm>
              <a:off x="669036" y="977265"/>
              <a:ext cx="9032841"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icrosoft YaHei"/>
                  <a:ea typeface="Microsoft YaHei"/>
                  <a:cs typeface="Microsoft YaHei"/>
                </a:rPr>
                <a:t>电芯价格在创新低，储能度电成本却涨了 39%</a:t>
              </a:r>
            </a:p>
          </p:txBody>
        </p:sp>
      </p:grpSp>
      <p:grpSp>
        <p:nvGrpSpPr>
          <p:cNvPr id="10" name="Group 10"/>
          <p:cNvGrpSpPr/>
          <p:nvPr/>
        </p:nvGrpSpPr>
        <p:grpSpPr>
          <a:xfrm>
            <a:off x="666750" y="1863090"/>
            <a:ext cx="3360610" cy="3112961"/>
            <a:chOff x="666750" y="1863090"/>
            <a:chExt cx="3360610" cy="3112961"/>
          </a:xfrm>
        </p:grpSpPr>
        <p:sp>
          <p:nvSpPr>
            <p:cNvPr id="7" name="TextBox 7"/>
            <p:cNvSpPr txBox="1"/>
            <p:nvPr/>
          </p:nvSpPr>
          <p:spPr>
            <a:xfrm>
              <a:off x="676656" y="1863090"/>
              <a:ext cx="128014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在降 · 电芯</a:t>
              </a:r>
            </a:p>
          </p:txBody>
        </p:sp>
        <p:sp>
          <p:nvSpPr>
            <p:cNvPr id="8" name="TextBox 8"/>
            <p:cNvSpPr txBox="1"/>
            <p:nvPr/>
          </p:nvSpPr>
          <p:spPr>
            <a:xfrm>
              <a:off x="666750" y="2270760"/>
              <a:ext cx="1818105"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Arial Black"/>
                  <a:ea typeface="Arial Black"/>
                  <a:cs typeface="Arial Black"/>
                </a:rPr>
                <a:t>$70</a:t>
              </a:r>
            </a:p>
          </p:txBody>
        </p:sp>
        <p:sp>
          <p:nvSpPr>
            <p:cNvPr id="9" name="TextBox 9"/>
            <p:cNvSpPr txBox="1"/>
            <p:nvPr/>
          </p:nvSpPr>
          <p:spPr>
            <a:xfrm>
              <a:off x="678942" y="3473768"/>
              <a:ext cx="3348418" cy="15022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储能专用电池组，2025 年，同比 −45%</a:t>
              </a:r>
              <a:br/>
              <a:r>
                <a:rPr lang="zh-CN" sz="1350" dirty="0">
                  <a:solidFill>
                    <a:schemeClr val="accent3"/>
                  </a:solidFill>
                  <a:latin typeface="Microsoft YaHei"/>
                  <a:ea typeface="Microsoft YaHei"/>
                  <a:cs typeface="Microsoft YaHei"/>
                </a:rPr>
                <a:t>全球电池组均价 USD 108/kWh（同比 −8%，</a:t>
              </a:r>
              <a:br/>
              <a:r>
                <a:rPr lang="zh-CN" sz="1350" dirty="0">
                  <a:solidFill>
                    <a:schemeClr val="accent3"/>
                  </a:solidFill>
                  <a:latin typeface="Microsoft YaHei"/>
                  <a:ea typeface="Microsoft YaHei"/>
                  <a:cs typeface="Microsoft YaHei"/>
                </a:rPr>
                <a:t>自 2010 年约 1,474 降 93%）</a:t>
              </a:r>
              <a:br/>
              <a:r>
                <a:rPr lang="zh-CN" sz="1350" dirty="0">
                  <a:solidFill>
                    <a:schemeClr val="accent3"/>
                  </a:solidFill>
                  <a:latin typeface="Microsoft YaHei"/>
                  <a:ea typeface="Microsoft YaHei"/>
                  <a:cs typeface="Microsoft YaHei"/>
                </a:rPr>
                <a:t>IRENA：电池储能系统成本 2010–2024</a:t>
              </a:r>
              <a:br/>
              <a:r>
                <a:rPr lang="zh-CN" sz="1350" dirty="0">
                  <a:solidFill>
                    <a:schemeClr val="accent3"/>
                  </a:solidFill>
                  <a:latin typeface="Microsoft YaHei"/>
                  <a:ea typeface="Microsoft YaHei"/>
                  <a:cs typeface="Microsoft YaHei"/>
                </a:rPr>
                <a:t>降 93%，2,634 → 197 USD/kWh</a:t>
              </a:r>
              <a:br/>
              <a:r>
                <a:rPr lang="zh-CN" sz="1350" dirty="0">
                  <a:solidFill>
                    <a:schemeClr val="accent3"/>
                  </a:solidFill>
                  <a:latin typeface="Microsoft YaHei"/>
                  <a:ea typeface="Microsoft YaHei"/>
                  <a:cs typeface="Microsoft YaHei"/>
                </a:rPr>
                <a:t>2025 年再降约 30%</a:t>
              </a:r>
            </a:p>
          </p:txBody>
        </p:sp>
      </p:grpSp>
      <p:sp>
        <p:nvSpPr>
          <p:cNvPr id="11" name="Line 11"/>
          <p:cNvSpPr/>
          <p:nvPr/>
        </p:nvSpPr>
        <p:spPr>
          <a:xfrm>
            <a:off x="5200650" y="1809750"/>
            <a:ext cx="9525" cy="3238500"/>
          </a:xfrm>
          <a:custGeom>
            <a:avLst/>
            <a:gdLst/>
            <a:ahLst/>
            <a:cxnLst/>
            <a:rect l="l" t="t" r="r" b="b"/>
            <a:pathLst>
              <a:path w="9525" h="3238500">
                <a:moveTo>
                  <a:pt x="0" y="0"/>
                </a:moveTo>
                <a:lnTo>
                  <a:pt x="0" y="3238500"/>
                </a:lnTo>
              </a:path>
            </a:pathLst>
          </a:custGeom>
          <a:noFill/>
          <a:ln w="9525">
            <a:solidFill>
              <a:schemeClr val="accent6"/>
            </a:solidFill>
          </a:ln>
        </p:spPr>
      </p:sp>
      <p:grpSp>
        <p:nvGrpSpPr>
          <p:cNvPr id="16" name="storage-lcos-range"/>
          <p:cNvGrpSpPr/>
          <p:nvPr/>
        </p:nvGrpSpPr>
        <p:grpSpPr>
          <a:xfrm>
            <a:off x="5334000" y="1809750"/>
            <a:ext cx="6172200" cy="3238500"/>
            <a:chOff x="5334000" y="1809750"/>
            <a:chExt cx="6172200" cy="3238500"/>
          </a:xfrm>
        </p:grpSpPr>
        <p:graphicFrame>
          <p:nvGraphicFramePr>
            <p:cNvPr id="12" name="storage-lcos-range"/>
            <p:cNvGraphicFramePr>
              <a:graphicFrameLocks noGrp="1"/>
            </p:cNvGraphicFramePr>
            <p:nvPr/>
          </p:nvGraphicFramePr>
          <p:xfrm>
            <a:off x="5334000" y="1809750"/>
            <a:ext cx="6172200" cy="3238500"/>
          </p:xfrm>
          <a:graphic>
            <a:graphicData uri="http://schemas.openxmlformats.org/drawingml/2006/chart">
              <c:chart r:id="rId2"/>
            </a:graphicData>
          </a:graphic>
        </p:graphicFrame>
        <p:sp>
          <p:nvSpPr>
            <p:cNvPr id="13" name="Chart Note 13"/>
            <p:cNvSpPr txBox="1"/>
            <p:nvPr/>
          </p:nvSpPr>
          <p:spPr>
            <a:xfrm>
              <a:off x="6096000" y="1902142"/>
              <a:ext cx="5143500" cy="274320"/>
            </a:xfrm>
            <a:prstGeom prst="rect">
              <a:avLst/>
            </a:prstGeom>
            <a:noFill/>
            <a:ln>
              <a:noFill/>
            </a:ln>
          </p:spPr>
          <p:txBody>
            <a:bodyPr wrap="square" lIns="0" tIns="0" rIns="0" bIns="0" anchor="b" anchorCtr="0"/>
            <a:lstStyle/>
            <a:p>
              <a:pPr algn="l"/>
              <a:r>
                <a:rPr lang="zh-CN" sz="1350">
                  <a:solidFill>
                    <a:srgbClr val="6E6E6E"/>
                  </a:solidFill>
                  <a:latin typeface="Arial"/>
                  <a:ea typeface="Microsoft YaHei"/>
                  <a:cs typeface="Arial"/>
                </a:rPr>
                <a:t>$/MWh｜公用事业级独立储能 100 MW/4h；2022 年无版本</a:t>
              </a:r>
            </a:p>
          </p:txBody>
        </p:sp>
        <p:sp>
          <p:nvSpPr>
            <p:cNvPr id="14" name="Chart Note 14"/>
            <p:cNvSpPr txBox="1"/>
            <p:nvPr/>
          </p:nvSpPr>
          <p:spPr>
            <a:xfrm>
              <a:off x="6667500" y="2473642"/>
              <a:ext cx="4476750" cy="274320"/>
            </a:xfrm>
            <a:prstGeom prst="rect">
              <a:avLst/>
            </a:prstGeom>
            <a:noFill/>
            <a:ln>
              <a:noFill/>
            </a:ln>
          </p:spPr>
          <p:txBody>
            <a:bodyPr wrap="square" lIns="0" tIns="0" rIns="0" bIns="0" anchor="b" anchorCtr="0"/>
            <a:lstStyle/>
            <a:p>
              <a:pPr algn="l"/>
              <a:r>
                <a:rPr lang="zh-CN" sz="1350">
                  <a:solidFill>
                    <a:srgbClr val="C8102E"/>
                  </a:solidFill>
                  <a:latin typeface="Arial"/>
                  <a:ea typeface="Microsoft YaHei"/>
                  <a:cs typeface="Arial"/>
                </a:rPr>
                <a:t>2026 逆转上一年降势：锂电池进口关税切断低价中国电芯</a:t>
              </a:r>
            </a:p>
          </p:txBody>
        </p:sp>
        <p:sp>
          <p:nvSpPr>
            <p:cNvPr id="15" name="Chart Note 15"/>
            <p:cNvSpPr txBox="1"/>
            <p:nvPr/>
          </p:nvSpPr>
          <p:spPr>
            <a:xfrm>
              <a:off x="6096000" y="4721542"/>
              <a:ext cx="3810000" cy="274320"/>
            </a:xfrm>
            <a:prstGeom prst="rect">
              <a:avLst/>
            </a:prstGeom>
            <a:noFill/>
            <a:ln>
              <a:noFill/>
            </a:ln>
          </p:spPr>
          <p:txBody>
            <a:bodyPr wrap="square" lIns="0" tIns="0" rIns="0" bIns="0" anchor="b" anchorCtr="0"/>
            <a:lstStyle/>
            <a:p>
              <a:pPr algn="l"/>
              <a:r>
                <a:rPr lang="zh-CN" sz="1350">
                  <a:solidFill>
                    <a:srgbClr val="111111"/>
                  </a:solidFill>
                  <a:latin typeface="Arial"/>
                  <a:ea typeface="Microsoft YaHei"/>
                  <a:cs typeface="Arial"/>
                </a:rPr>
                <a:t>2020 → 2026 累计 +39%（CAGR 6%）</a:t>
              </a:r>
            </a:p>
          </p:txBody>
        </p:sp>
      </p:grpSp>
      <p:grpSp>
        <p:nvGrpSpPr>
          <p:cNvPr id="19" name="Group 19"/>
          <p:cNvGrpSpPr/>
          <p:nvPr/>
        </p:nvGrpSpPr>
        <p:grpSpPr>
          <a:xfrm>
            <a:off x="676656" y="5292090"/>
            <a:ext cx="8279892" cy="884111"/>
            <a:chOff x="676656" y="5292090"/>
            <a:chExt cx="8279892" cy="884111"/>
          </a:xfrm>
        </p:grpSpPr>
        <p:sp>
          <p:nvSpPr>
            <p:cNvPr id="17" name="TextBox 17"/>
            <p:cNvSpPr txBox="1"/>
            <p:nvPr/>
          </p:nvSpPr>
          <p:spPr>
            <a:xfrm>
              <a:off x="676656" y="5292090"/>
              <a:ext cx="328059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可用的合成指标：firm LCOE</a:t>
              </a:r>
            </a:p>
          </p:txBody>
        </p:sp>
        <p:sp>
          <p:nvSpPr>
            <p:cNvPr id="18" name="TextBox 18"/>
            <p:cNvSpPr txBox="1"/>
            <p:nvPr/>
          </p:nvSpPr>
          <p:spPr>
            <a:xfrm>
              <a:off x="678942" y="5664518"/>
              <a:ext cx="827760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IRENA（2026-05）：2025 年高资源区 firm LCOE 为 USD 54–82/MWh，2030 年再降约 30%、2035 年约 40%</a:t>
              </a:r>
              <a:br/>
              <a:r>
                <a:rPr lang="zh-CN" sz="1350" dirty="0">
                  <a:solidFill>
                    <a:schemeClr val="accent3"/>
                  </a:solidFill>
                  <a:latin typeface="Microsoft YaHei"/>
                  <a:ea typeface="Microsoft YaHei"/>
                  <a:cs typeface="Microsoft YaHei"/>
                </a:rPr>
                <a:t>中国 90% 可靠性下 USD 30/MWh、99% 下约 46；巴西、印度、南非、澳大利亚与海湾 USD 65–82</a:t>
              </a:r>
            </a:p>
          </p:txBody>
        </p:sp>
      </p:grpSp>
      <p:sp>
        <p:nvSpPr>
          <p:cNvPr id="20" name="Line 20"/>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3" name="Group 23"/>
          <p:cNvGrpSpPr/>
          <p:nvPr/>
        </p:nvGrpSpPr>
        <p:grpSpPr>
          <a:xfrm>
            <a:off x="679704" y="6385560"/>
            <a:ext cx="10832592" cy="234696"/>
            <a:chOff x="679704" y="6385560"/>
            <a:chExt cx="10832592" cy="234696"/>
          </a:xfrm>
        </p:grpSpPr>
        <p:sp>
          <p:nvSpPr>
            <p:cNvPr id="21" name="TextBox 21"/>
            <p:cNvSpPr txBox="1"/>
            <p:nvPr/>
          </p:nvSpPr>
          <p:spPr>
            <a:xfrm>
              <a:off x="679704" y="6385560"/>
              <a:ext cx="10018672"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来源：BloombergNEF 2025 锂电池价格调查；Lazard LCOS v11.0；IRENA《24/7 renewables》；Lazard「光伏+储能」$61–$156/MWh</a:t>
              </a:r>
            </a:p>
          </p:txBody>
        </p:sp>
        <p:sp>
          <p:nvSpPr>
            <p:cNvPr id="22" name="TextBox 22"/>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10</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id="9" presetID="10" presetClass="entr" presetSubtype="0" fill="hold" grpId="0" nodeType="afterEffect">
                                  <p:stCondLst>
                                    <p:cond delay="3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100"/>
                            </p:stCondLst>
                            <p:childTnLst>
                              <p:par>
                                <p:cTn id="13" presetID="22" presetClass="entr" presetSubtype="2" fill="hold" grpId="0" nodeType="afterEffect">
                                  <p:stCondLst>
                                    <p:cond delay="30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900"/>
                                        <p:tgtEl>
                                          <p:spTgt spid="16"/>
                                        </p:tgtEl>
                                      </p:cBhvr>
                                    </p:animEffect>
                                  </p:childTnLst>
                                </p:cTn>
                              </p:par>
                            </p:childTnLst>
                          </p:cTn>
                        </p:par>
                        <p:par>
                          <p:cTn id="16" fill="hold">
                            <p:stCondLst>
                              <p:cond delay="2300"/>
                            </p:stCondLst>
                            <p:childTnLst>
                              <p:par>
                                <p:cTn id="17" presetID="10" presetClass="entr" presetSubtype="0" fill="hold" grpId="0" nodeType="afterEffect">
                                  <p:stCondLst>
                                    <p:cond delay="3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accen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3A3A3A"/>
          </a:solidFill>
          <a:ln>
            <a:noFill/>
          </a:ln>
        </p:spPr>
      </p:sp>
      <p:grpSp>
        <p:nvGrpSpPr>
          <p:cNvPr id="4" name="!!argument-progress"/>
          <p:cNvGrpSpPr/>
          <p:nvPr/>
        </p:nvGrpSpPr>
        <p:grpSpPr>
          <a:xfrm>
            <a:off x="685800" y="723900"/>
            <a:ext cx="7934325" cy="38100"/>
            <a:chOff x="685800" y="723900"/>
            <a:chExt cx="7934325" cy="38100"/>
          </a:xfrm>
        </p:grpSpPr>
        <p:sp>
          <p:nvSpPr>
            <p:cNvPr id="3" name="Rectangle 3"/>
            <p:cNvSpPr/>
            <p:nvPr/>
          </p:nvSpPr>
          <p:spPr>
            <a:xfrm>
              <a:off x="685800" y="723900"/>
              <a:ext cx="7934325" cy="38100"/>
            </a:xfrm>
            <a:prstGeom prst="rect">
              <a:avLst/>
            </a:prstGeom>
            <a:solidFill>
              <a:schemeClr val="accent2"/>
            </a:solidFill>
            <a:ln>
              <a:noFill/>
            </a:ln>
          </p:spPr>
        </p:sp>
      </p:grpSp>
      <p:grpSp>
        <p:nvGrpSpPr>
          <p:cNvPr id="12" name="Group 12"/>
          <p:cNvGrpSpPr/>
          <p:nvPr/>
        </p:nvGrpSpPr>
        <p:grpSpPr>
          <a:xfrm>
            <a:off x="11106150" y="2419350"/>
            <a:ext cx="342900" cy="342900"/>
            <a:chOff x="11106150" y="2419350"/>
            <a:chExt cx="342900" cy="342900"/>
          </a:xfrm>
        </p:grpSpPr>
        <p:grpSp>
          <p:nvGrpSpPr>
            <p:cNvPr id="11" name="Group 11"/>
            <p:cNvGrpSpPr/>
            <p:nvPr/>
          </p:nvGrpSpPr>
          <p:grpSpPr>
            <a:xfrm>
              <a:off x="11106150" y="2419350"/>
              <a:ext cx="342900" cy="342900"/>
              <a:chOff x="11106150" y="2419350"/>
              <a:chExt cx="342900" cy="342900"/>
            </a:xfrm>
          </p:grpSpPr>
          <p:sp>
            <p:nvSpPr>
              <p:cNvPr id="5" name="Freeform 5"/>
              <p:cNvSpPr/>
              <p:nvPr/>
            </p:nvSpPr>
            <p:spPr>
              <a:xfrm>
                <a:off x="11129299" y="2590800"/>
                <a:ext cx="148301" cy="148301"/>
              </a:xfrm>
              <a:custGeom>
                <a:avLst/>
                <a:gdLst/>
                <a:ahLst/>
                <a:cxnLst/>
                <a:rect l="l" t="t" r="r" b="b"/>
                <a:pathLst>
                  <a:path w="148301" h="148301">
                    <a:moveTo>
                      <a:pt x="53051" y="0"/>
                    </a:moveTo>
                    <a:lnTo>
                      <a:pt x="148301" y="95250"/>
                    </a:lnTo>
                    <a:lnTo>
                      <a:pt x="119726" y="123825"/>
                    </a:lnTo>
                    <a:cubicBezTo>
                      <a:pt x="102806" y="141303"/>
                      <a:pt x="77777" y="148301"/>
                      <a:pt x="54246" y="142132"/>
                    </a:cubicBezTo>
                    <a:cubicBezTo>
                      <a:pt x="30715" y="135963"/>
                      <a:pt x="12338" y="117586"/>
                      <a:pt x="6169" y="94055"/>
                    </a:cubicBezTo>
                    <a:cubicBezTo>
                      <a:pt x="0" y="70524"/>
                      <a:pt x="6998" y="45495"/>
                      <a:pt x="24476" y="28575"/>
                    </a:cubicBezTo>
                    <a:lnTo>
                      <a:pt x="53051" y="0"/>
                    </a:lnTo>
                  </a:path>
                </a:pathLst>
              </a:custGeom>
              <a:noFill/>
              <a:ln w="28575">
                <a:solidFill>
                  <a:schemeClr val="accent2"/>
                </a:solidFill>
              </a:ln>
            </p:spPr>
          </p:sp>
          <p:sp>
            <p:nvSpPr>
              <p:cNvPr id="6" name="Freeform 6"/>
              <p:cNvSpPr/>
              <p:nvPr/>
            </p:nvSpPr>
            <p:spPr>
              <a:xfrm>
                <a:off x="11277600" y="2442499"/>
                <a:ext cx="148301" cy="148301"/>
              </a:xfrm>
              <a:custGeom>
                <a:avLst/>
                <a:gdLst/>
                <a:ahLst/>
                <a:cxnLst/>
                <a:rect l="l" t="t" r="r" b="b"/>
                <a:pathLst>
                  <a:path w="148301" h="148301">
                    <a:moveTo>
                      <a:pt x="95250" y="148301"/>
                    </a:moveTo>
                    <a:lnTo>
                      <a:pt x="0" y="53051"/>
                    </a:lnTo>
                    <a:lnTo>
                      <a:pt x="28575" y="24476"/>
                    </a:lnTo>
                    <a:cubicBezTo>
                      <a:pt x="45495" y="6998"/>
                      <a:pt x="70524" y="0"/>
                      <a:pt x="94055" y="6169"/>
                    </a:cubicBezTo>
                    <a:cubicBezTo>
                      <a:pt x="117586" y="12338"/>
                      <a:pt x="135963" y="30715"/>
                      <a:pt x="142132" y="54246"/>
                    </a:cubicBezTo>
                    <a:cubicBezTo>
                      <a:pt x="148301" y="77777"/>
                      <a:pt x="141303" y="102806"/>
                      <a:pt x="123825" y="119726"/>
                    </a:cubicBezTo>
                    <a:lnTo>
                      <a:pt x="95250" y="148301"/>
                    </a:lnTo>
                  </a:path>
                </a:pathLst>
              </a:custGeom>
              <a:noFill/>
              <a:ln w="28575">
                <a:solidFill>
                  <a:schemeClr val="accent2"/>
                </a:solidFill>
              </a:ln>
            </p:spPr>
          </p:sp>
          <p:sp>
            <p:nvSpPr>
              <p:cNvPr id="7" name="Freeform 7"/>
              <p:cNvSpPr/>
              <p:nvPr/>
            </p:nvSpPr>
            <p:spPr>
              <a:xfrm>
                <a:off x="11106150" y="2714625"/>
                <a:ext cx="47625" cy="47625"/>
              </a:xfrm>
              <a:custGeom>
                <a:avLst/>
                <a:gdLst/>
                <a:ahLst/>
                <a:cxnLst/>
                <a:rect l="l" t="t" r="r" b="b"/>
                <a:pathLst>
                  <a:path w="47625" h="47625">
                    <a:moveTo>
                      <a:pt x="0" y="47625"/>
                    </a:moveTo>
                    <a:lnTo>
                      <a:pt x="47625" y="0"/>
                    </a:lnTo>
                  </a:path>
                </a:pathLst>
              </a:custGeom>
              <a:noFill/>
              <a:ln w="28575">
                <a:solidFill>
                  <a:schemeClr val="accent2"/>
                </a:solidFill>
              </a:ln>
            </p:spPr>
          </p:sp>
          <p:sp>
            <p:nvSpPr>
              <p:cNvPr id="8" name="Freeform 8"/>
              <p:cNvSpPr/>
              <p:nvPr/>
            </p:nvSpPr>
            <p:spPr>
              <a:xfrm>
                <a:off x="11401425" y="2419350"/>
                <a:ext cx="47625" cy="47625"/>
              </a:xfrm>
              <a:custGeom>
                <a:avLst/>
                <a:gdLst/>
                <a:ahLst/>
                <a:cxnLst/>
                <a:rect l="l" t="t" r="r" b="b"/>
                <a:pathLst>
                  <a:path w="47625" h="47625">
                    <a:moveTo>
                      <a:pt x="0" y="47625"/>
                    </a:moveTo>
                    <a:lnTo>
                      <a:pt x="47625" y="0"/>
                    </a:lnTo>
                  </a:path>
                </a:pathLst>
              </a:custGeom>
              <a:noFill/>
              <a:ln w="28575">
                <a:solidFill>
                  <a:schemeClr val="accent2"/>
                </a:solidFill>
              </a:ln>
            </p:spPr>
          </p:sp>
          <p:sp>
            <p:nvSpPr>
              <p:cNvPr id="9" name="Freeform 9"/>
              <p:cNvSpPr/>
              <p:nvPr/>
            </p:nvSpPr>
            <p:spPr>
              <a:xfrm>
                <a:off x="11201400" y="2571750"/>
                <a:ext cx="38100" cy="38100"/>
              </a:xfrm>
              <a:custGeom>
                <a:avLst/>
                <a:gdLst/>
                <a:ahLst/>
                <a:cxnLst/>
                <a:rect l="l" t="t" r="r" b="b"/>
                <a:pathLst>
                  <a:path w="38100" h="38100">
                    <a:moveTo>
                      <a:pt x="38100" y="0"/>
                    </a:moveTo>
                    <a:lnTo>
                      <a:pt x="0" y="38100"/>
                    </a:lnTo>
                  </a:path>
                </a:pathLst>
              </a:custGeom>
              <a:noFill/>
              <a:ln w="28575">
                <a:solidFill>
                  <a:schemeClr val="accent2"/>
                </a:solidFill>
              </a:ln>
            </p:spPr>
          </p:sp>
          <p:sp>
            <p:nvSpPr>
              <p:cNvPr id="10" name="Freeform 10"/>
              <p:cNvSpPr/>
              <p:nvPr/>
            </p:nvSpPr>
            <p:spPr>
              <a:xfrm>
                <a:off x="11258550" y="2628900"/>
                <a:ext cx="38100" cy="38100"/>
              </a:xfrm>
              <a:custGeom>
                <a:avLst/>
                <a:gdLst/>
                <a:ahLst/>
                <a:cxnLst/>
                <a:rect l="l" t="t" r="r" b="b"/>
                <a:pathLst>
                  <a:path w="38100" h="38100">
                    <a:moveTo>
                      <a:pt x="38100" y="0"/>
                    </a:moveTo>
                    <a:lnTo>
                      <a:pt x="0" y="38100"/>
                    </a:lnTo>
                  </a:path>
                </a:pathLst>
              </a:custGeom>
              <a:noFill/>
              <a:ln w="28575">
                <a:solidFill>
                  <a:schemeClr val="accent2"/>
                </a:solidFill>
              </a:ln>
            </p:spPr>
          </p:sp>
        </p:grpSp>
      </p:grpSp>
      <p:grpSp>
        <p:nvGrpSpPr>
          <p:cNvPr id="14" name="Group 14"/>
          <p:cNvGrpSpPr/>
          <p:nvPr/>
        </p:nvGrpSpPr>
        <p:grpSpPr>
          <a:xfrm>
            <a:off x="666750" y="2895600"/>
            <a:ext cx="2015883" cy="2305050"/>
            <a:chOff x="666750" y="2895600"/>
            <a:chExt cx="2015883" cy="2305050"/>
          </a:xfrm>
        </p:grpSpPr>
        <p:sp>
          <p:nvSpPr>
            <p:cNvPr id="13" name="TextBox 13"/>
            <p:cNvSpPr txBox="1"/>
            <p:nvPr/>
          </p:nvSpPr>
          <p:spPr>
            <a:xfrm>
              <a:off x="666750" y="2895600"/>
              <a:ext cx="2015883" cy="2305050"/>
            </a:xfrm>
            <a:prstGeom prst="rect">
              <a:avLst/>
            </a:prstGeom>
            <a:noFill/>
            <a:ln>
              <a:noFill/>
            </a:ln>
          </p:spPr>
          <p:txBody>
            <a:bodyPr wrap="none" lIns="0" tIns="0" rIns="0" bIns="0" anchor="t" anchorCtr="0">
              <a:spAutoFit/>
            </a:bodyPr>
            <a:lstStyle/>
            <a:p>
              <a:pPr algn="l"/>
              <a:r>
                <a:rPr lang="zh-CN" sz="12000" b="1" dirty="0">
                  <a:solidFill>
                    <a:srgbClr val="FFFFFF"/>
                  </a:solidFill>
                  <a:latin typeface="Arial Black"/>
                  <a:ea typeface="Arial Black"/>
                  <a:cs typeface="Arial Black"/>
                </a:rPr>
                <a:t>03</a:t>
              </a:r>
            </a:p>
          </p:txBody>
        </p:sp>
      </p:grpSp>
      <p:sp>
        <p:nvSpPr>
          <p:cNvPr id="15" name="Line 15"/>
          <p:cNvSpPr/>
          <p:nvPr/>
        </p:nvSpPr>
        <p:spPr>
          <a:xfrm>
            <a:off x="2971800" y="2895600"/>
            <a:ext cx="9525" cy="2343150"/>
          </a:xfrm>
          <a:custGeom>
            <a:avLst/>
            <a:gdLst/>
            <a:ahLst/>
            <a:cxnLst/>
            <a:rect l="l" t="t" r="r" b="b"/>
            <a:pathLst>
              <a:path w="9525" h="2343150">
                <a:moveTo>
                  <a:pt x="0" y="0"/>
                </a:moveTo>
                <a:lnTo>
                  <a:pt x="0" y="2343150"/>
                </a:lnTo>
              </a:path>
            </a:pathLst>
          </a:custGeom>
          <a:noFill/>
          <a:ln w="9525">
            <a:solidFill>
              <a:srgbClr val="3A3A3A"/>
            </a:solidFill>
          </a:ln>
        </p:spPr>
      </p:sp>
      <p:grpSp>
        <p:nvGrpSpPr>
          <p:cNvPr id="17" name="Group 17"/>
          <p:cNvGrpSpPr/>
          <p:nvPr/>
        </p:nvGrpSpPr>
        <p:grpSpPr>
          <a:xfrm>
            <a:off x="3412236" y="3453765"/>
            <a:ext cx="4224528" cy="1159764"/>
            <a:chOff x="3412236" y="3453765"/>
            <a:chExt cx="4224528" cy="1159764"/>
          </a:xfrm>
        </p:grpSpPr>
        <p:sp>
          <p:nvSpPr>
            <p:cNvPr id="16" name="TextBox 16"/>
            <p:cNvSpPr txBox="1"/>
            <p:nvPr/>
          </p:nvSpPr>
          <p:spPr>
            <a:xfrm>
              <a:off x="3412236" y="3453765"/>
              <a:ext cx="4224528" cy="1159764"/>
            </a:xfrm>
            <a:prstGeom prst="rect">
              <a:avLst/>
            </a:prstGeom>
            <a:noFill/>
            <a:ln>
              <a:noFill/>
            </a:ln>
          </p:spPr>
          <p:txBody>
            <a:bodyPr wrap="none" lIns="0" tIns="0" rIns="0" bIns="0" anchor="t" anchorCtr="0">
              <a:spAutoFit/>
            </a:bodyPr>
            <a:lstStyle/>
            <a:p>
              <a:pPr algn="l">
                <a:lnSpc>
                  <a:spcPts val="4050"/>
                </a:lnSpc>
              </a:pPr>
              <a:r>
                <a:rPr lang="zh-CN" sz="3300" b="1" dirty="0">
                  <a:solidFill>
                    <a:srgbClr val="FFFFFF"/>
                  </a:solidFill>
                  <a:latin typeface="Microsoft YaHei"/>
                  <a:ea typeface="Microsoft YaHei"/>
                  <a:cs typeface="Microsoft YaHei"/>
                </a:rPr>
                <a:t>稀缺的不是价格，</a:t>
              </a:r>
              <a:br/>
              <a:r>
                <a:rPr lang="zh-CN" sz="3300" b="1" dirty="0">
                  <a:solidFill>
                    <a:srgbClr val="FFFFFF"/>
                  </a:solidFill>
                  <a:latin typeface="Microsoft YaHei"/>
                  <a:ea typeface="Microsoft YaHei"/>
                  <a:cs typeface="Microsoft YaHei"/>
                </a:rPr>
                <a:t>是并网容量与消纳空间</a:t>
              </a:r>
            </a:p>
          </p:txBody>
        </p:sp>
      </p:grpSp>
      <p:grpSp>
        <p:nvGrpSpPr>
          <p:cNvPr id="19" name="Group 19"/>
          <p:cNvGrpSpPr/>
          <p:nvPr/>
        </p:nvGrpSpPr>
        <p:grpSpPr>
          <a:xfrm>
            <a:off x="3417570" y="4900612"/>
            <a:ext cx="4566285" cy="440055"/>
            <a:chOff x="3417570" y="4900612"/>
            <a:chExt cx="4566285" cy="440055"/>
          </a:xfrm>
        </p:grpSpPr>
        <p:sp>
          <p:nvSpPr>
            <p:cNvPr id="18" name="TextBox 18"/>
            <p:cNvSpPr txBox="1"/>
            <p:nvPr/>
          </p:nvSpPr>
          <p:spPr>
            <a:xfrm>
              <a:off x="3417570" y="4900612"/>
              <a:ext cx="4566285" cy="440055"/>
            </a:xfrm>
            <a:prstGeom prst="rect">
              <a:avLst/>
            </a:prstGeom>
            <a:noFill/>
            <a:ln>
              <a:noFill/>
            </a:ln>
          </p:spPr>
          <p:txBody>
            <a:bodyPr wrap="none" lIns="0" tIns="0" rIns="0" bIns="0" anchor="t" anchorCtr="0">
              <a:spAutoFit/>
            </a:bodyPr>
            <a:lstStyle/>
            <a:p>
              <a:pPr algn="l"/>
              <a:r>
                <a:rPr lang="zh-CN" sz="2250" dirty="0">
                  <a:solidFill>
                    <a:schemeClr val="accent6"/>
                  </a:solidFill>
                  <a:latin typeface="Microsoft YaHei"/>
                  <a:ea typeface="Microsoft YaHei"/>
                  <a:cs typeface="Microsoft YaHei"/>
                </a:rPr>
                <a:t>如果价格已经不是问题，那什么是</a:t>
              </a:r>
            </a:p>
          </p:txBody>
        </p:sp>
      </p:grpSp>
      <p:sp>
        <p:nvSpPr>
          <p:cNvPr id="20" name="Line 20"/>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3A3A3A"/>
            </a:solidFill>
          </a:ln>
        </p:spPr>
      </p:sp>
      <p:grpSp>
        <p:nvGrpSpPr>
          <p:cNvPr id="23" name="Group 23"/>
          <p:cNvGrpSpPr/>
          <p:nvPr/>
        </p:nvGrpSpPr>
        <p:grpSpPr>
          <a:xfrm>
            <a:off x="679704" y="6385560"/>
            <a:ext cx="10832592" cy="234696"/>
            <a:chOff x="679704" y="6385560"/>
            <a:chExt cx="10832592" cy="234696"/>
          </a:xfrm>
        </p:grpSpPr>
        <p:sp>
          <p:nvSpPr>
            <p:cNvPr id="21" name="TextBox 21"/>
            <p:cNvSpPr txBox="1"/>
            <p:nvPr/>
          </p:nvSpPr>
          <p:spPr>
            <a:xfrm>
              <a:off x="679704" y="6385560"/>
              <a:ext cx="197495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icrosoft YaHei"/>
                  <a:ea typeface="Microsoft YaHei"/>
                  <a:cs typeface="Microsoft YaHei"/>
                </a:rPr>
                <a:t>判断三 · 真正的约束在电网</a:t>
              </a:r>
            </a:p>
          </p:txBody>
        </p:sp>
        <p:sp>
          <p:nvSpPr>
            <p:cNvPr id="22" name="TextBox 22"/>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icrosoft YaHei"/>
                  <a:ea typeface="Microsoft YaHei"/>
                  <a:cs typeface="Microsoft YaHei"/>
                </a:rPr>
                <a:t>11</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800"/>
                            </p:stCondLst>
                            <p:childTnLst>
                              <p:par>
                                <p:cTn id="9" presetID="10" presetClass="entr" presetSubtype="0" fill="hold" grpId="0" nodeType="afterEffect">
                                  <p:stCondLst>
                                    <p:cond delay="3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par>
                          <p:cTn id="12" fill="hold">
                            <p:stCondLst>
                              <p:cond delay="1500"/>
                            </p:stCondLst>
                            <p:childTnLst>
                              <p:par>
                                <p:cTn id="13" presetID="10" presetClass="entr" presetSubtype="0" fill="hold" grpId="0" nodeType="afterEffect">
                                  <p:stCondLst>
                                    <p:cond delay="3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Group 4"/>
          <p:cNvGrpSpPr/>
          <p:nvPr/>
        </p:nvGrpSpPr>
        <p:grpSpPr>
          <a:xfrm>
            <a:off x="685800" y="723900"/>
            <a:ext cx="8658225" cy="38100"/>
            <a:chOff x="685800" y="723900"/>
            <a:chExt cx="8658225" cy="38100"/>
          </a:xfrm>
        </p:grpSpPr>
        <p:sp>
          <p:nvSpPr>
            <p:cNvPr id="3" name="Rectangle 3"/>
            <p:cNvSpPr/>
            <p:nvPr/>
          </p:nvSpPr>
          <p:spPr>
            <a:xfrm>
              <a:off x="685800" y="723900"/>
              <a:ext cx="8658225" cy="38100"/>
            </a:xfrm>
            <a:prstGeom prst="rect">
              <a:avLst/>
            </a:prstGeom>
            <a:solidFill>
              <a:schemeClr val="accent2"/>
            </a:solidFill>
            <a:ln>
              <a:noFill/>
            </a:ln>
          </p:spPr>
        </p:sp>
      </p:grpSp>
      <p:grpSp>
        <p:nvGrpSpPr>
          <p:cNvPr id="6" name="Group 6"/>
          <p:cNvGrpSpPr/>
          <p:nvPr/>
        </p:nvGrpSpPr>
        <p:grpSpPr>
          <a:xfrm>
            <a:off x="669036" y="977265"/>
            <a:ext cx="7816215" cy="1159764"/>
            <a:chOff x="669036" y="977265"/>
            <a:chExt cx="7816215" cy="1159764"/>
          </a:xfrm>
        </p:grpSpPr>
        <p:sp>
          <p:nvSpPr>
            <p:cNvPr id="5" name="TextBox 5"/>
            <p:cNvSpPr txBox="1"/>
            <p:nvPr/>
          </p:nvSpPr>
          <p:spPr>
            <a:xfrm>
              <a:off x="669036" y="977265"/>
              <a:ext cx="7816215"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并网中位等待从 22 个月拉长到 61 个月，</a:t>
              </a:r>
              <a:br/>
              <a:r>
                <a:rPr lang="zh-CN" sz="3300" b="1" dirty="0">
                  <a:solidFill>
                    <a:schemeClr val="accent1"/>
                  </a:solidFill>
                  <a:latin typeface="Microsoft YaHei"/>
                  <a:ea typeface="Microsoft YaHei"/>
                  <a:cs typeface="Microsoft YaHei"/>
                </a:rPr>
                <a:t>排队里压着 2,061 GW</a:t>
              </a:r>
            </a:p>
          </p:txBody>
        </p:sp>
      </p:grpSp>
      <p:grpSp>
        <p:nvGrpSpPr>
          <p:cNvPr id="9" name="queue-wait-months"/>
          <p:cNvGrpSpPr/>
          <p:nvPr/>
        </p:nvGrpSpPr>
        <p:grpSpPr>
          <a:xfrm>
            <a:off x="685800" y="2225992"/>
            <a:ext cx="5334000" cy="3679508"/>
            <a:chOff x="685800" y="2225992"/>
            <a:chExt cx="5334000" cy="3679508"/>
          </a:xfrm>
        </p:grpSpPr>
        <p:graphicFrame>
          <p:nvGraphicFramePr>
            <p:cNvPr id="7" name="queue-wait-months"/>
            <p:cNvGraphicFramePr>
              <a:graphicFrameLocks noGrp="1"/>
            </p:cNvGraphicFramePr>
            <p:nvPr/>
          </p:nvGraphicFramePr>
          <p:xfrm>
            <a:off x="685800" y="2247900"/>
            <a:ext cx="5334000" cy="3657600"/>
          </p:xfrm>
          <a:graphic>
            <a:graphicData uri="http://schemas.openxmlformats.org/drawingml/2006/chart">
              <c:chart xmlns:c="http://schemas.openxmlformats.org/drawingml/2006/chart" r:id="rId2"/>
            </a:graphicData>
          </a:graphic>
        </p:graphicFrame>
        <p:sp>
          <p:nvSpPr>
            <p:cNvPr id="8" name="Chart Note 8"/>
            <p:cNvSpPr txBox="1"/>
            <p:nvPr/>
          </p:nvSpPr>
          <p:spPr>
            <a:xfrm>
              <a:off x="1428750" y="2225992"/>
              <a:ext cx="4000500" cy="274320"/>
            </a:xfrm>
            <a:prstGeom prst="rect">
              <a:avLst/>
            </a:prstGeom>
            <a:noFill/>
            <a:ln>
              <a:noFill/>
            </a:ln>
          </p:spPr>
          <p:txBody>
            <a:bodyPr wrap="square" lIns="0" tIns="0" rIns="0" bIns="0" anchor="b" anchorCtr="0"/>
            <a:lstStyle/>
            <a:p>
              <a:pPr algn="l"/>
              <a:r>
                <a:rPr lang="zh-CN" sz="1350">
                  <a:solidFill>
                    <a:srgbClr val="6E6E6E"/>
                  </a:solidFill>
                  <a:latin typeface="Arial"/>
                  <a:ea typeface="Microsoft YaHei"/>
                  <a:cs typeface="Arial"/>
                </a:rPr>
                <a:t>从提出并网申请到商业运行的中位耗时（月）</a:t>
              </a:r>
            </a:p>
          </p:txBody>
        </p:sp>
      </p:grpSp>
      <p:sp>
        <p:nvSpPr>
          <p:cNvPr id="10" name="Line 10"/>
          <p:cNvSpPr/>
          <p:nvPr/>
        </p:nvSpPr>
        <p:spPr>
          <a:xfrm>
            <a:off x="6210300" y="2247900"/>
            <a:ext cx="9525" cy="3657600"/>
          </a:xfrm>
          <a:custGeom>
            <a:avLst/>
            <a:gdLst/>
            <a:ahLst/>
            <a:cxnLst/>
            <a:rect l="l" t="t" r="r" b="b"/>
            <a:pathLst>
              <a:path w="9525" h="3657600">
                <a:moveTo>
                  <a:pt x="0" y="0"/>
                </a:moveTo>
                <a:lnTo>
                  <a:pt x="0" y="3657600"/>
                </a:lnTo>
              </a:path>
            </a:pathLst>
          </a:custGeom>
          <a:noFill/>
          <a:ln w="9525">
            <a:solidFill>
              <a:schemeClr val="accent6"/>
            </a:solidFill>
          </a:ln>
        </p:spPr>
      </p:sp>
      <p:grpSp>
        <p:nvGrpSpPr>
          <p:cNvPr id="13" name="Group 13"/>
          <p:cNvGrpSpPr/>
          <p:nvPr/>
        </p:nvGrpSpPr>
        <p:grpSpPr>
          <a:xfrm>
            <a:off x="6391656" y="2320290"/>
            <a:ext cx="3745040" cy="1417511"/>
            <a:chOff x="6391656" y="2320290"/>
            <a:chExt cx="3745040" cy="1417511"/>
          </a:xfrm>
        </p:grpSpPr>
        <p:sp>
          <p:nvSpPr>
            <p:cNvPr id="11" name="TextBox 11"/>
            <p:cNvSpPr txBox="1"/>
            <p:nvPr/>
          </p:nvSpPr>
          <p:spPr>
            <a:xfrm>
              <a:off x="6391656" y="23202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队列里有什么</a:t>
              </a:r>
            </a:p>
          </p:txBody>
        </p:sp>
        <p:sp>
          <p:nvSpPr>
            <p:cNvPr id="12" name="TextBox 12"/>
            <p:cNvSpPr txBox="1"/>
            <p:nvPr/>
          </p:nvSpPr>
          <p:spPr>
            <a:xfrm>
              <a:off x="6393942" y="2730818"/>
              <a:ext cx="374275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 xml:space="preserve">8,244 个项目、约 </a:t>
              </a:r>
              <a:r>
                <a:rPr lang="zh-CN" sz="1350" b="1" dirty="0">
                  <a:solidFill>
                    <a:schemeClr val="accent2"/>
                  </a:solidFill>
                  <a:latin typeface="Microsoft YaHei"/>
                  <a:ea typeface="Microsoft YaHei"/>
                  <a:cs typeface="Microsoft YaHei"/>
                </a:rPr>
                <a:t>2,061 GW</a:t>
              </a:r>
              <a:r>
                <a:rPr lang="zh-CN" sz="1350" dirty="0">
                  <a:solidFill>
                    <a:schemeClr val="dk1"/>
                  </a:solidFill>
                  <a:latin typeface="Microsoft YaHei"/>
                  <a:ea typeface="Microsoft YaHei"/>
                  <a:cs typeface="Microsoft YaHei"/>
                </a:rPr>
                <a:t>（2025 年底）</a:t>
              </a:r>
              <a:br/>
              <a:r>
                <a:rPr lang="zh-CN" sz="1350" dirty="0">
                  <a:solidFill>
                    <a:schemeClr val="accent3"/>
                  </a:solidFill>
                  <a:latin typeface="Microsoft YaHei"/>
                  <a:ea typeface="Microsoft YaHei"/>
                  <a:cs typeface="Microsoft YaHei"/>
                </a:rPr>
                <a:t>光伏 773 GW（−19%）· 储能 749 GW（−16%）</a:t>
              </a:r>
              <a:br/>
              <a:r>
                <a:rPr lang="zh-CN" sz="1350" dirty="0">
                  <a:solidFill>
                    <a:schemeClr val="accent3"/>
                  </a:solidFill>
                  <a:latin typeface="Microsoft YaHei"/>
                  <a:ea typeface="Microsoft YaHei"/>
                  <a:cs typeface="Microsoft YaHei"/>
                </a:rPr>
                <a:t>风电 220 GW（−19%）· 天然气 253 GW（+86%）</a:t>
              </a:r>
              <a:br/>
              <a:r>
                <a:rPr lang="zh-CN" sz="1350" dirty="0">
                  <a:solidFill>
                    <a:schemeClr val="accent3"/>
                  </a:solidFill>
                  <a:latin typeface="Microsoft YaHei"/>
                  <a:ea typeface="Microsoft YaHei"/>
                  <a:cs typeface="Microsoft YaHei"/>
                </a:rPr>
                <a:t>另有 549 GW 已签或已出草签并网协议未投运</a:t>
              </a:r>
            </a:p>
          </p:txBody>
        </p:sp>
      </p:grpSp>
      <p:grpSp>
        <p:nvGrpSpPr>
          <p:cNvPr id="17" name="Group 17"/>
          <p:cNvGrpSpPr/>
          <p:nvPr/>
        </p:nvGrpSpPr>
        <p:grpSpPr>
          <a:xfrm>
            <a:off x="6391656" y="4072890"/>
            <a:ext cx="3436430" cy="1760411"/>
            <a:chOff x="6391656" y="4072890"/>
            <a:chExt cx="3436430" cy="1760411"/>
          </a:xfrm>
        </p:grpSpPr>
        <p:sp>
          <p:nvSpPr>
            <p:cNvPr id="14" name="TextBox 14"/>
            <p:cNvSpPr txBox="1"/>
            <p:nvPr/>
          </p:nvSpPr>
          <p:spPr>
            <a:xfrm>
              <a:off x="6391656" y="40728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全球尺度</a:t>
              </a:r>
            </a:p>
          </p:txBody>
        </p:sp>
        <p:sp>
          <p:nvSpPr>
            <p:cNvPr id="15" name="TextBox 15"/>
            <p:cNvSpPr txBox="1"/>
            <p:nvPr/>
          </p:nvSpPr>
          <p:spPr>
            <a:xfrm>
              <a:off x="6393942" y="4483418"/>
              <a:ext cx="343414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至少 3,000 GW 可再生项目在接入队列等待，</a:t>
              </a:r>
              <a:br/>
              <a:r>
                <a:rPr lang="zh-CN" sz="1350" dirty="0">
                  <a:solidFill>
                    <a:schemeClr val="dk1"/>
                  </a:solidFill>
                  <a:latin typeface="Microsoft YaHei"/>
                  <a:ea typeface="Microsoft YaHei"/>
                  <a:cs typeface="Microsoft YaHei"/>
                </a:rPr>
                <a:t>其中 1,500 GW 已进入后期阶段——相当于</a:t>
              </a:r>
              <a:br/>
              <a:r>
                <a:rPr lang="zh-CN" sz="1350" dirty="0">
                  <a:solidFill>
                    <a:schemeClr val="dk1"/>
                  </a:solidFill>
                  <a:latin typeface="Microsoft YaHei"/>
                  <a:ea typeface="Microsoft YaHei"/>
                  <a:cs typeface="Microsoft YaHei"/>
                </a:rPr>
                <a:t>2022 年全球新增风光装机的五倍</a:t>
              </a:r>
            </a:p>
          </p:txBody>
        </p:sp>
        <p:sp>
          <p:nvSpPr>
            <p:cNvPr id="16" name="TextBox 16"/>
            <p:cNvSpPr txBox="1"/>
            <p:nvPr/>
          </p:nvSpPr>
          <p:spPr>
            <a:xfrm>
              <a:off x="6393942" y="5321618"/>
              <a:ext cx="3271695"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 xml:space="preserve">2040 年前需新增或更换 </a:t>
              </a:r>
              <a:r>
                <a:rPr lang="zh-CN" sz="1350" b="1" dirty="0">
                  <a:solidFill>
                    <a:schemeClr val="accent2"/>
                  </a:solidFill>
                  <a:latin typeface="Microsoft YaHei"/>
                  <a:ea typeface="Microsoft YaHei"/>
                  <a:cs typeface="Microsoft YaHei"/>
                </a:rPr>
                <a:t>8,000 万公里</a:t>
              </a:r>
              <a:r>
                <a:rPr lang="zh-CN" sz="1350" dirty="0">
                  <a:solidFill>
                    <a:schemeClr val="dk1"/>
                  </a:solidFill>
                  <a:latin typeface="Microsoft YaHei"/>
                  <a:ea typeface="Microsoft YaHei"/>
                  <a:cs typeface="Microsoft YaHei"/>
                </a:rPr>
                <a:t>输配</a:t>
              </a:r>
              <a:br/>
              <a:r>
                <a:rPr lang="zh-CN" sz="1350" dirty="0">
                  <a:solidFill>
                    <a:schemeClr val="dk1"/>
                  </a:solidFill>
                  <a:latin typeface="Microsoft YaHei"/>
                  <a:ea typeface="Microsoft YaHei"/>
                  <a:cs typeface="Microsoft YaHei"/>
                </a:rPr>
                <a:t>电线路，相当于现有全球电网的总长度</a:t>
              </a:r>
            </a:p>
          </p:txBody>
        </p:sp>
      </p:grpSp>
      <p:sp>
        <p:nvSpPr>
          <p:cNvPr id="18" name="Line 1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1" name="Group 21"/>
          <p:cNvGrpSpPr/>
          <p:nvPr/>
        </p:nvGrpSpPr>
        <p:grpSpPr>
          <a:xfrm>
            <a:off x="679704" y="6347460"/>
            <a:ext cx="10832592" cy="444246"/>
            <a:chOff x="679704" y="6347460"/>
            <a:chExt cx="10832592" cy="444246"/>
          </a:xfrm>
        </p:grpSpPr>
        <p:sp>
          <p:nvSpPr>
            <p:cNvPr id="19" name="TextBox 19"/>
            <p:cNvSpPr txBox="1"/>
            <p:nvPr/>
          </p:nvSpPr>
          <p:spPr>
            <a:xfrm>
              <a:off x="679704" y="6347460"/>
              <a:ext cx="8881872" cy="444246"/>
            </a:xfrm>
            <a:prstGeom prst="rect">
              <a:avLst/>
            </a:prstGeom>
            <a:noFill/>
            <a:ln>
              <a:noFill/>
            </a:ln>
          </p:spPr>
          <p:txBody>
            <a:bodyPr wrap="none" lIns="0" tIns="0" rIns="0" bIns="0" anchor="t" anchorCtr="0">
              <a:spAutoFit/>
            </a:bodyPr>
            <a:lstStyle/>
            <a:p>
              <a:pPr algn="l">
                <a:lnSpc>
                  <a:spcPts val="1650"/>
                </a:lnSpc>
              </a:pPr>
              <a:r>
                <a:rPr lang="zh-CN" sz="1200" dirty="0">
                  <a:solidFill>
                    <a:schemeClr val="accent3"/>
                  </a:solidFill>
                  <a:latin typeface="Microsoft YaHei"/>
                  <a:ea typeface="Microsoft YaHei"/>
                  <a:cs typeface="Microsoft YaHei"/>
                </a:rPr>
                <a:t>来源：Berkeley Lab《Queued Up: 2026 Edition》（美国并网队列）；IEA《Electricity Grids and Secure Energy Transitions》</a:t>
              </a:r>
              <a:br/>
              <a:r>
                <a:rPr lang="zh-CN" sz="1200" dirty="0">
                  <a:solidFill>
                    <a:schemeClr val="accent3"/>
                  </a:solidFill>
                  <a:latin typeface="Microsoft YaHei"/>
                  <a:ea typeface="Microsoft YaHei"/>
                  <a:cs typeface="Microsoft YaHei"/>
                </a:rPr>
                <a:t>电网年投资自 2015 年以来长期停滞在约 USD 3,000 亿，需在 2030 年前翻倍至每年 USD 6,000 亿以上</a:t>
              </a:r>
            </a:p>
          </p:txBody>
        </p:sp>
        <p:sp>
          <p:nvSpPr>
            <p:cNvPr id="20" name="TextBox 20"/>
            <p:cNvSpPr txBox="1"/>
            <p:nvPr/>
          </p:nvSpPr>
          <p:spPr>
            <a:xfrm>
              <a:off x="11322406" y="63474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22" presetClass="entr" presetSubtype="1" fill="hold" grpId="0" nodeType="afterEffect">
                                  <p:stCondLst>
                                    <p:cond delay="30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900"/>
                                        <p:tgtEl>
                                          <p:spTgt spid="9"/>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Group 4"/>
          <p:cNvGrpSpPr/>
          <p:nvPr/>
        </p:nvGrpSpPr>
        <p:grpSpPr>
          <a:xfrm>
            <a:off x="685800" y="723900"/>
            <a:ext cx="9382125" cy="38100"/>
            <a:chOff x="685800" y="723900"/>
            <a:chExt cx="9382125" cy="38100"/>
          </a:xfrm>
        </p:grpSpPr>
        <p:sp>
          <p:nvSpPr>
            <p:cNvPr id="3" name="Rectangle 3"/>
            <p:cNvSpPr/>
            <p:nvPr/>
          </p:nvSpPr>
          <p:spPr>
            <a:xfrm>
              <a:off x="685800" y="723900"/>
              <a:ext cx="9382125" cy="38100"/>
            </a:xfrm>
            <a:prstGeom prst="rect">
              <a:avLst/>
            </a:prstGeom>
            <a:solidFill>
              <a:schemeClr val="accent2"/>
            </a:solidFill>
            <a:ln>
              <a:noFill/>
            </a:ln>
          </p:spPr>
        </p:sp>
      </p:grpSp>
      <p:grpSp>
        <p:nvGrpSpPr>
          <p:cNvPr id="6" name="Group 6"/>
          <p:cNvGrpSpPr/>
          <p:nvPr/>
        </p:nvGrpSpPr>
        <p:grpSpPr>
          <a:xfrm>
            <a:off x="669036" y="977265"/>
            <a:ext cx="5062728" cy="1159764"/>
            <a:chOff x="669036" y="977265"/>
            <a:chExt cx="5062728" cy="1159764"/>
          </a:xfrm>
        </p:grpSpPr>
        <p:sp>
          <p:nvSpPr>
            <p:cNvPr id="5" name="TextBox 5"/>
            <p:cNvSpPr txBox="1"/>
            <p:nvPr/>
          </p:nvSpPr>
          <p:spPr>
            <a:xfrm>
              <a:off x="669036" y="977265"/>
              <a:ext cx="5062728" cy="1159764"/>
            </a:xfrm>
            <a:prstGeom prst="rect">
              <a:avLst/>
            </a:prstGeom>
            <a:noFill/>
            <a:ln>
              <a:noFill/>
            </a:ln>
          </p:spPr>
          <p:txBody>
            <a:bodyPr wrap="none" lIns="0" tIns="0" rIns="0" bIns="0" anchor="t" anchorCtr="0">
              <a:spAutoFit/>
            </a:bodyPr>
            <a:lstStyle/>
            <a:p>
              <a:pPr algn="l">
                <a:lnSpc>
                  <a:spcPts val="4050"/>
                </a:lnSpc>
              </a:pPr>
              <a:r>
                <a:rPr lang="zh-CN" sz="3300" b="1" dirty="0">
                  <a:solidFill>
                    <a:schemeClr val="accent1"/>
                  </a:solidFill>
                  <a:latin typeface="Microsoft YaHei"/>
                  <a:ea typeface="Microsoft YaHei"/>
                  <a:cs typeface="Microsoft YaHei"/>
                </a:rPr>
                <a:t>弃电与负电价同步上升，</a:t>
              </a:r>
              <a:br/>
              <a:r>
                <a:rPr lang="zh-CN" sz="3300" b="1" dirty="0">
                  <a:solidFill>
                    <a:schemeClr val="accent1"/>
                  </a:solidFill>
                  <a:latin typeface="Microsoft YaHei"/>
                  <a:ea typeface="Microsoft YaHei"/>
                  <a:cs typeface="Microsoft YaHei"/>
                </a:rPr>
                <a:t>光伏卖出的每度电正在贬值</a:t>
              </a:r>
            </a:p>
          </p:txBody>
        </p:sp>
      </p:grpSp>
      <p:grpSp>
        <p:nvGrpSpPr>
          <p:cNvPr id="9" name="Group 9"/>
          <p:cNvGrpSpPr/>
          <p:nvPr/>
        </p:nvGrpSpPr>
        <p:grpSpPr>
          <a:xfrm>
            <a:off x="676656" y="2320290"/>
            <a:ext cx="4147947" cy="1912811"/>
            <a:chOff x="676656" y="2320290"/>
            <a:chExt cx="4147947" cy="1912811"/>
          </a:xfrm>
        </p:grpSpPr>
        <p:sp>
          <p:nvSpPr>
            <p:cNvPr id="7" name="TextBox 7"/>
            <p:cNvSpPr txBox="1"/>
            <p:nvPr/>
          </p:nvSpPr>
          <p:spPr>
            <a:xfrm>
              <a:off x="676656" y="2320290"/>
              <a:ext cx="316839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弃电：可治理，但治理有代价</a:t>
              </a:r>
            </a:p>
          </p:txBody>
        </p:sp>
        <p:sp>
          <p:nvSpPr>
            <p:cNvPr id="8" name="TextBox 8"/>
            <p:cNvSpPr txBox="1"/>
            <p:nvPr/>
          </p:nvSpPr>
          <p:spPr>
            <a:xfrm>
              <a:off x="678942" y="2730818"/>
              <a:ext cx="4145661" cy="15022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中国 2010 年代初弃风弃光率曾达 15%，经省级</a:t>
              </a:r>
              <a:br/>
              <a:r>
                <a:rPr lang="zh-CN" sz="1350" dirty="0">
                  <a:solidFill>
                    <a:schemeClr val="dk1"/>
                  </a:solidFill>
                  <a:latin typeface="Microsoft YaHei"/>
                  <a:ea typeface="Microsoft YaHei"/>
                  <a:cs typeface="Microsoft YaHei"/>
                </a:rPr>
                <a:t>&lt;5% 目标、电价改革与年均 USD 880 亿电网投资</a:t>
              </a:r>
              <a:br/>
              <a:r>
                <a:rPr lang="zh-CN" sz="1350" dirty="0">
                  <a:solidFill>
                    <a:schemeClr val="dk1"/>
                  </a:solidFill>
                  <a:latin typeface="Microsoft YaHei"/>
                  <a:ea typeface="Microsoft YaHei"/>
                  <a:cs typeface="Microsoft YaHei"/>
                </a:rPr>
                <a:t>降至 3% 以下；2024 年为缓解拥堵将高渗透率省</a:t>
              </a:r>
              <a:br/>
              <a:r>
                <a:rPr lang="zh-CN" sz="1350" dirty="0">
                  <a:solidFill>
                    <a:schemeClr val="dk1"/>
                  </a:solidFill>
                  <a:latin typeface="Microsoft YaHei"/>
                  <a:ea typeface="Microsoft YaHei"/>
                  <a:cs typeface="Microsoft YaHei"/>
                </a:rPr>
                <a:t xml:space="preserve">份上限由 5% 提高到 10%，弃光率升至 </a:t>
              </a:r>
              <a:r>
                <a:rPr lang="zh-CN" sz="1350" b="1" dirty="0">
                  <a:solidFill>
                    <a:schemeClr val="accent2"/>
                  </a:solidFill>
                  <a:latin typeface="Microsoft YaHei"/>
                  <a:ea typeface="Microsoft YaHei"/>
                  <a:cs typeface="Microsoft YaHei"/>
                </a:rPr>
                <a:t>3.2%</a:t>
              </a:r>
              <a:br/>
              <a:r>
                <a:rPr lang="zh-CN" sz="1350" dirty="0">
                  <a:solidFill>
                    <a:schemeClr val="dk1"/>
                  </a:solidFill>
                  <a:latin typeface="Microsoft YaHei"/>
                  <a:ea typeface="Microsoft YaHei"/>
                  <a:cs typeface="Microsoft YaHei"/>
                </a:rPr>
                <a:t>加州 2024 年 CAISO 弃电 340 万 MWh（+29%），光伏</a:t>
              </a:r>
              <a:br/>
              <a:r>
                <a:rPr lang="zh-CN" sz="1350" dirty="0">
                  <a:solidFill>
                    <a:schemeClr val="dk1"/>
                  </a:solidFill>
                  <a:latin typeface="Microsoft YaHei"/>
                  <a:ea typeface="Microsoft YaHei"/>
                  <a:cs typeface="Microsoft YaHei"/>
                </a:rPr>
                <a:t>占 93%；WEIM 当年避免逾 274,000 MWh 弃电</a:t>
              </a:r>
            </a:p>
          </p:txBody>
        </p:sp>
      </p:grpSp>
      <p:grpSp>
        <p:nvGrpSpPr>
          <p:cNvPr id="12" name="Group 12"/>
          <p:cNvGrpSpPr/>
          <p:nvPr/>
        </p:nvGrpSpPr>
        <p:grpSpPr>
          <a:xfrm>
            <a:off x="676656" y="4453890"/>
            <a:ext cx="4628007" cy="1665161"/>
            <a:chOff x="676656" y="4453890"/>
            <a:chExt cx="4628007" cy="1665161"/>
          </a:xfrm>
        </p:grpSpPr>
        <p:sp>
          <p:nvSpPr>
            <p:cNvPr id="10" name="TextBox 10"/>
            <p:cNvSpPr txBox="1"/>
            <p:nvPr/>
          </p:nvSpPr>
          <p:spPr>
            <a:xfrm>
              <a:off x="676656" y="4453890"/>
              <a:ext cx="292608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价值贬损：捕获率同步崩塌</a:t>
              </a:r>
            </a:p>
          </p:txBody>
        </p:sp>
        <p:sp>
          <p:nvSpPr>
            <p:cNvPr id="11" name="TextBox 11"/>
            <p:cNvSpPr txBox="1"/>
            <p:nvPr/>
          </p:nvSpPr>
          <p:spPr>
            <a:xfrm>
              <a:off x="678942" y="4864418"/>
              <a:ext cx="4625721" cy="12546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 xml:space="preserve">捕获系数（2025 → 2026 同月）：法国 </a:t>
              </a:r>
              <a:r>
                <a:rPr lang="zh-CN" sz="1350" b="1" dirty="0">
                  <a:solidFill>
                    <a:schemeClr val="accent2"/>
                  </a:solidFill>
                  <a:latin typeface="Microsoft YaHei"/>
                  <a:ea typeface="Microsoft YaHei"/>
                  <a:cs typeface="Microsoft YaHei"/>
                </a:rPr>
                <a:t>0.42 → 0.10</a:t>
              </a:r>
              <a:br/>
              <a:r>
                <a:rPr lang="zh-CN" sz="1350" dirty="0">
                  <a:solidFill>
                    <a:schemeClr val="dk1"/>
                  </a:solidFill>
                  <a:latin typeface="Microsoft YaHei"/>
                  <a:ea typeface="Microsoft YaHei"/>
                  <a:cs typeface="Microsoft YaHei"/>
                </a:rPr>
                <a:t>德国 0.40 → 0.26 · 波兰 0.54 → 0.40</a:t>
              </a:r>
              <a:br/>
              <a:r>
                <a:rPr lang="zh-CN" sz="1350" dirty="0">
                  <a:solidFill>
                    <a:schemeClr val="dk1"/>
                  </a:solidFill>
                  <a:latin typeface="Microsoft YaHei"/>
                  <a:ea typeface="Microsoft YaHei"/>
                  <a:cs typeface="Microsoft YaHei"/>
                </a:rPr>
                <a:t>意大利 0.75 → 0.71 · 西班牙 0.71 → 0.18</a:t>
              </a:r>
              <a:br/>
              <a:r>
                <a:rPr lang="zh-CN" sz="1350" dirty="0">
                  <a:solidFill>
                    <a:schemeClr val="dk1"/>
                  </a:solidFill>
                  <a:latin typeface="Microsoft YaHei"/>
                  <a:ea typeface="Microsoft YaHei"/>
                  <a:cs typeface="Microsoft YaHei"/>
                </a:rPr>
                <a:t>德国 2024 捕获电价 EUR 47/MWh、捕获率 59%（欧洲最低）</a:t>
              </a:r>
              <a:br/>
              <a:r>
                <a:rPr lang="zh-CN" sz="1350" dirty="0">
                  <a:solidFill>
                    <a:schemeClr val="dk1"/>
                  </a:solidFill>
                  <a:latin typeface="Microsoft YaHei"/>
                  <a:ea typeface="Microsoft YaHei"/>
                  <a:cs typeface="Microsoft YaHei"/>
                </a:rPr>
                <a:t>2025 年约 54%，2022 年曾达 98%</a:t>
              </a:r>
            </a:p>
          </p:txBody>
        </p:sp>
      </p:grpSp>
      <p:sp>
        <p:nvSpPr>
          <p:cNvPr id="13" name="Line 13"/>
          <p:cNvSpPr/>
          <p:nvPr/>
        </p:nvSpPr>
        <p:spPr>
          <a:xfrm>
            <a:off x="6210300" y="2247900"/>
            <a:ext cx="9525" cy="3657600"/>
          </a:xfrm>
          <a:custGeom>
            <a:avLst/>
            <a:gdLst/>
            <a:ahLst/>
            <a:cxnLst/>
            <a:rect l="l" t="t" r="r" b="b"/>
            <a:pathLst>
              <a:path w="9525" h="3657600">
                <a:moveTo>
                  <a:pt x="0" y="0"/>
                </a:moveTo>
                <a:lnTo>
                  <a:pt x="0" y="3657600"/>
                </a:lnTo>
              </a:path>
            </a:pathLst>
          </a:custGeom>
          <a:noFill/>
          <a:ln w="9525">
            <a:solidFill>
              <a:schemeClr val="accent6"/>
            </a:solidFill>
          </a:ln>
        </p:spPr>
      </p:sp>
      <p:grpSp>
        <p:nvGrpSpPr>
          <p:cNvPr id="16" name="negative-price-hours"/>
          <p:cNvGrpSpPr/>
          <p:nvPr/>
        </p:nvGrpSpPr>
        <p:grpSpPr>
          <a:xfrm>
            <a:off x="6400800" y="2225992"/>
            <a:ext cx="5105400" cy="3679508"/>
            <a:chOff x="6400800" y="2225992"/>
            <a:chExt cx="5105400" cy="3679508"/>
          </a:xfrm>
        </p:grpSpPr>
        <p:graphicFrame>
          <p:nvGraphicFramePr>
            <p:cNvPr id="14" name="negative-price-hours"/>
            <p:cNvGraphicFramePr>
              <a:graphicFrameLocks noGrp="1"/>
            </p:cNvGraphicFramePr>
            <p:nvPr/>
          </p:nvGraphicFramePr>
          <p:xfrm>
            <a:off x="6400800" y="2247900"/>
            <a:ext cx="5105400" cy="3657600"/>
          </p:xfrm>
          <a:graphic>
            <a:graphicData uri="http://schemas.openxmlformats.org/drawingml/2006/chart">
              <c:chart xmlns:c="http://schemas.openxmlformats.org/drawingml/2006/chart" r:id="rId2"/>
            </a:graphicData>
          </a:graphic>
        </p:graphicFrame>
        <p:sp>
          <p:nvSpPr>
            <p:cNvPr id="15" name="Chart Note 15"/>
            <p:cNvSpPr txBox="1"/>
            <p:nvPr/>
          </p:nvSpPr>
          <p:spPr>
            <a:xfrm>
              <a:off x="7620000" y="2225992"/>
              <a:ext cx="3238500" cy="274320"/>
            </a:xfrm>
            <a:prstGeom prst="rect">
              <a:avLst/>
            </a:prstGeom>
            <a:noFill/>
            <a:ln>
              <a:noFill/>
            </a:ln>
          </p:spPr>
          <p:txBody>
            <a:bodyPr wrap="square" lIns="0" tIns="0" rIns="0" bIns="0" anchor="b" anchorCtr="0"/>
            <a:lstStyle/>
            <a:p>
              <a:pPr algn="l"/>
              <a:r>
                <a:rPr lang="zh-CN" sz="1350">
                  <a:solidFill>
                    <a:srgbClr val="6E6E6E"/>
                  </a:solidFill>
                  <a:latin typeface="Arial"/>
                  <a:ea typeface="Microsoft YaHei"/>
                  <a:cs typeface="Arial"/>
                </a:rPr>
                <a:t>月度负电价小时数（Pexapark）</a:t>
              </a:r>
            </a:p>
          </p:txBody>
        </p:sp>
      </p:grpSp>
      <p:sp>
        <p:nvSpPr>
          <p:cNvPr id="17" name="Line 17"/>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0" name="Group 20"/>
          <p:cNvGrpSpPr/>
          <p:nvPr/>
        </p:nvGrpSpPr>
        <p:grpSpPr>
          <a:xfrm>
            <a:off x="679704" y="6347460"/>
            <a:ext cx="10832592" cy="444246"/>
            <a:chOff x="679704" y="6347460"/>
            <a:chExt cx="10832592" cy="444246"/>
          </a:xfrm>
        </p:grpSpPr>
        <p:sp>
          <p:nvSpPr>
            <p:cNvPr id="18" name="TextBox 18"/>
            <p:cNvSpPr txBox="1"/>
            <p:nvPr/>
          </p:nvSpPr>
          <p:spPr>
            <a:xfrm>
              <a:off x="679704" y="6347460"/>
              <a:ext cx="9445752" cy="444246"/>
            </a:xfrm>
            <a:prstGeom prst="rect">
              <a:avLst/>
            </a:prstGeom>
            <a:noFill/>
            <a:ln>
              <a:noFill/>
            </a:ln>
          </p:spPr>
          <p:txBody>
            <a:bodyPr wrap="none" lIns="0" tIns="0" rIns="0" bIns="0" anchor="t" anchorCtr="0">
              <a:spAutoFit/>
            </a:bodyPr>
            <a:lstStyle/>
            <a:p>
              <a:pPr algn="l">
                <a:lnSpc>
                  <a:spcPts val="1650"/>
                </a:lnSpc>
              </a:pPr>
              <a:r>
                <a:rPr lang="zh-CN" sz="1200" dirty="0">
                  <a:solidFill>
                    <a:schemeClr val="accent3"/>
                  </a:solidFill>
                  <a:latin typeface="Microsoft YaHei"/>
                  <a:ea typeface="Microsoft YaHei"/>
                  <a:cs typeface="Microsoft YaHei"/>
                </a:rPr>
                <a:t>来源：IEA《Renewables 2025》、美国 EIA（CAISO）、Pexapark（经 pv magazine 转述）；IEA：弃电与负电价是系统灵活性不足的信号</a:t>
              </a:r>
              <a:br/>
              <a:r>
                <a:rPr lang="zh-CN" sz="1200" dirty="0">
                  <a:solidFill>
                    <a:schemeClr val="accent3"/>
                  </a:solidFill>
                  <a:latin typeface="Microsoft YaHei"/>
                  <a:ea typeface="Microsoft YaHei"/>
                  <a:cs typeface="Microsoft YaHei"/>
                </a:rPr>
                <a:t>拥堵成本已出现但仍不大：德国 &gt;EUR 5/MWh、西班牙约 4；约占居民电费 0.5–1.5%；美国 ISO New England &lt;USD 1 到 MISO USD 12/MWh</a:t>
              </a:r>
            </a:p>
          </p:txBody>
        </p:sp>
        <p:sp>
          <p:nvSpPr>
            <p:cNvPr id="19" name="TextBox 19"/>
            <p:cNvSpPr txBox="1"/>
            <p:nvPr/>
          </p:nvSpPr>
          <p:spPr>
            <a:xfrm>
              <a:off x="11322406" y="63474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par>
                          <p:cTn id="16" fill="hold">
                            <p:stCondLst>
                              <p:cond delay="1800"/>
                            </p:stCondLst>
                            <p:childTnLst>
                              <p:par>
                                <p:cTn xmlns:p="http://schemas.openxmlformats.org/presentationml/2006/main" id="17" presetID="22" presetClass="entr" presetSubtype="2" fill="hold" grpId="0" nodeType="afterEffect">
                                  <p:stCondLst>
                                    <p:cond delay="300"/>
                                  </p:stCondLst>
                                  <p:childTnLst>
                                    <p:set>
                                      <p:cBhvr>
                                        <p:cTn id="18" dur="1" fill="hold">
                                          <p:stCondLst>
                                            <p:cond delay="0"/>
                                          </p:stCondLst>
                                        </p:cTn>
                                        <p:tgtEl>
                                          <p:spTgt spid="16"/>
                                        </p:tgtEl>
                                        <p:attrNameLst>
                                          <p:attrName>style.visibility</p:attrName>
                                        </p:attrNameLst>
                                      </p:cBhvr>
                                      <p:to>
                                        <p:strVal val="visible"/>
                                      </p:to>
                                    </p:set>
                                    <p:animEffect transition="in" filter="wipe(right)">
                                      <p:cBhvr>
                                        <p:cTn id="19" dur="9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argument-progress"/>
          <p:cNvGrpSpPr/>
          <p:nvPr/>
        </p:nvGrpSpPr>
        <p:grpSpPr>
          <a:xfrm>
            <a:off x="685800" y="723900"/>
            <a:ext cx="10106025" cy="38100"/>
            <a:chOff x="685800" y="723900"/>
            <a:chExt cx="10106025" cy="38100"/>
          </a:xfrm>
        </p:grpSpPr>
        <p:sp>
          <p:nvSpPr>
            <p:cNvPr id="3" name="Rectangle 3"/>
            <p:cNvSpPr/>
            <p:nvPr/>
          </p:nvSpPr>
          <p:spPr>
            <a:xfrm>
              <a:off x="685800" y="723900"/>
              <a:ext cx="10106025" cy="38100"/>
            </a:xfrm>
            <a:prstGeom prst="rect">
              <a:avLst/>
            </a:prstGeom>
            <a:solidFill>
              <a:schemeClr val="accent2"/>
            </a:solidFill>
            <a:ln>
              <a:noFill/>
            </a:ln>
          </p:spPr>
        </p:sp>
      </p:grpSp>
      <p:grpSp>
        <p:nvGrpSpPr>
          <p:cNvPr id="18" name="Group 18"/>
          <p:cNvGrpSpPr/>
          <p:nvPr/>
        </p:nvGrpSpPr>
        <p:grpSpPr>
          <a:xfrm>
            <a:off x="685800" y="1866900"/>
            <a:ext cx="10829925" cy="4267200"/>
            <a:chOff x="685800" y="1866900"/>
            <a:chExt cx="10829925" cy="4267200"/>
          </a:xfrm>
        </p:grpSpPr>
        <p:sp>
          <p:nvSpPr>
            <p:cNvPr id="5" name="Line 5"/>
            <p:cNvSpPr/>
            <p:nvPr/>
          </p:nvSpPr>
          <p:spPr>
            <a:xfrm>
              <a:off x="6858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6" name="Line 6"/>
            <p:cNvSpPr/>
            <p:nvPr/>
          </p:nvSpPr>
          <p:spPr>
            <a:xfrm>
              <a:off x="16002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7" name="Line 7"/>
            <p:cNvSpPr/>
            <p:nvPr/>
          </p:nvSpPr>
          <p:spPr>
            <a:xfrm>
              <a:off x="25146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8" name="Line 8"/>
            <p:cNvSpPr/>
            <p:nvPr/>
          </p:nvSpPr>
          <p:spPr>
            <a:xfrm>
              <a:off x="34290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9" name="Line 9"/>
            <p:cNvSpPr/>
            <p:nvPr/>
          </p:nvSpPr>
          <p:spPr>
            <a:xfrm>
              <a:off x="43434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0" name="Line 10"/>
            <p:cNvSpPr/>
            <p:nvPr/>
          </p:nvSpPr>
          <p:spPr>
            <a:xfrm>
              <a:off x="52578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1" name="Line 11"/>
            <p:cNvSpPr/>
            <p:nvPr/>
          </p:nvSpPr>
          <p:spPr>
            <a:xfrm>
              <a:off x="61722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2" name="Line 12"/>
            <p:cNvSpPr/>
            <p:nvPr/>
          </p:nvSpPr>
          <p:spPr>
            <a:xfrm>
              <a:off x="70866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3" name="Line 13"/>
            <p:cNvSpPr/>
            <p:nvPr/>
          </p:nvSpPr>
          <p:spPr>
            <a:xfrm>
              <a:off x="80010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4" name="Line 14"/>
            <p:cNvSpPr/>
            <p:nvPr/>
          </p:nvSpPr>
          <p:spPr>
            <a:xfrm>
              <a:off x="89154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5" name="Line 15"/>
            <p:cNvSpPr/>
            <p:nvPr/>
          </p:nvSpPr>
          <p:spPr>
            <a:xfrm>
              <a:off x="98298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6" name="Line 16"/>
            <p:cNvSpPr/>
            <p:nvPr/>
          </p:nvSpPr>
          <p:spPr>
            <a:xfrm>
              <a:off x="107442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sp>
          <p:nvSpPr>
            <p:cNvPr id="17" name="Line 17"/>
            <p:cNvSpPr/>
            <p:nvPr/>
          </p:nvSpPr>
          <p:spPr>
            <a:xfrm>
              <a:off x="11506200" y="1866900"/>
              <a:ext cx="9525" cy="4267200"/>
            </a:xfrm>
            <a:custGeom>
              <a:avLst/>
              <a:gdLst/>
              <a:ahLst/>
              <a:cxnLst/>
              <a:rect l="l" t="t" r="r" b="b"/>
              <a:pathLst>
                <a:path w="9525" h="4267200">
                  <a:moveTo>
                    <a:pt x="0" y="0"/>
                  </a:moveTo>
                  <a:lnTo>
                    <a:pt x="0" y="4267200"/>
                  </a:lnTo>
                </a:path>
              </a:pathLst>
            </a:custGeom>
            <a:noFill/>
            <a:ln w="9525">
              <a:solidFill>
                <a:srgbClr val="E8E8E8"/>
              </a:solidFill>
            </a:ln>
          </p:spPr>
        </p:sp>
      </p:grpSp>
      <p:grpSp>
        <p:nvGrpSpPr>
          <p:cNvPr id="20" name="Group 20"/>
          <p:cNvGrpSpPr/>
          <p:nvPr/>
        </p:nvGrpSpPr>
        <p:grpSpPr>
          <a:xfrm>
            <a:off x="669036" y="977265"/>
            <a:ext cx="10251186" cy="645414"/>
            <a:chOff x="669036" y="977265"/>
            <a:chExt cx="10251186" cy="645414"/>
          </a:xfrm>
        </p:grpSpPr>
        <p:sp>
          <p:nvSpPr>
            <p:cNvPr id="19" name="TextBox 19"/>
            <p:cNvSpPr txBox="1"/>
            <p:nvPr/>
          </p:nvSpPr>
          <p:spPr>
            <a:xfrm>
              <a:off x="669036" y="977265"/>
              <a:ext cx="10251186"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icrosoft YaHei"/>
                  <a:ea typeface="Microsoft YaHei"/>
                  <a:cs typeface="Microsoft YaHei"/>
                </a:rPr>
                <a:t>「最便宜」有四种口径，它们不可平均、也不可互换</a:t>
              </a:r>
            </a:p>
          </p:txBody>
        </p:sp>
      </p:grpSp>
      <p:graphicFrame>
        <p:nvGraphicFramePr>
          <p:cNvPr id="21" name="lcoe-methodology-table"/>
          <p:cNvGraphicFramePr>
            <a:graphicFrameLocks noGrp="1"/>
          </p:cNvGraphicFramePr>
          <p:nvPr/>
        </p:nvGraphicFramePr>
        <p:xfrm>
          <a:off x="685800" y="1905000"/>
          <a:ext cx="10820400" cy="2286000"/>
        </p:xfrm>
        <a:graphic>
          <a:graphicData uri="http://schemas.openxmlformats.org/drawingml/2006/table">
            <a:tbl>
              <a:tblPr firstRow="1" bandRow="0">
                <a:tableStyleId>{5C22544A-7EE6-4342-B048-85BDC9FD1C3A}</a:tableStyleId>
              </a:tblPr>
              <a:tblGrid>
                <a:gridCol w="1828800"/>
                <a:gridCol w="2743200"/>
                <a:gridCol w="2743200"/>
                <a:gridCol w="3505200"/>
              </a:tblGrid>
              <a:tr h="457200">
                <a:tc>
                  <a:txBody>
                    <a:bodyPr/>
                    <a:lstStyle/>
                    <a:p>
                      <a:pPr/>
                      <a:r>
                        <a:rPr lang="zh-CN" sz="1500" b="1">
                          <a:solidFill>
                            <a:schemeClr val="accent1"/>
                          </a:solidFill>
                          <a:latin typeface="Microsoft YaHei"/>
                          <a:ea typeface="Microsoft YaHei"/>
                          <a:cs typeface="Microsoft YaHei"/>
                        </a:rPr>
                        <a:t>机构</a:t>
                      </a:r>
                    </a:p>
                  </a:txBody>
                  <a:tcPr anchor="ctr" marL="152400" marR="152400" marT="95250" marB="95250">
                    <a:lnL>
                      <a:noFill/>
                    </a:lnL>
                    <a:lnR>
                      <a:noFill/>
                    </a:lnR>
                    <a:lnT w="19050">
                      <a:solidFill>
                        <a:schemeClr val="accent1"/>
                      </a:solidFill>
                      <a:prstDash val="solid"/>
                    </a:lnT>
                    <a:lnB w="19050">
                      <a:solidFill>
                        <a:schemeClr val="accent1"/>
                      </a:solidFill>
                      <a:prstDash val="solid"/>
                    </a:lnB>
                    <a:noFill/>
                  </a:tcPr>
                </a:tc>
                <a:tc>
                  <a:txBody>
                    <a:bodyPr/>
                    <a:lstStyle/>
                    <a:p>
                      <a:pPr/>
                      <a:r>
                        <a:rPr lang="zh-CN" sz="1500" b="1">
                          <a:solidFill>
                            <a:schemeClr val="accent1"/>
                          </a:solidFill>
                          <a:latin typeface="Microsoft YaHei"/>
                          <a:ea typeface="Microsoft YaHei"/>
                          <a:cs typeface="Microsoft YaHei"/>
                        </a:rPr>
                        <a:t>地域与口径</a:t>
                      </a:r>
                    </a:p>
                  </a:txBody>
                  <a:tcPr anchor="ctr" marL="152400" marR="152400" marT="95250" marB="95250">
                    <a:lnL>
                      <a:noFill/>
                    </a:lnL>
                    <a:lnR>
                      <a:noFill/>
                    </a:lnR>
                    <a:lnT w="19050">
                      <a:solidFill>
                        <a:schemeClr val="accent1"/>
                      </a:solidFill>
                      <a:prstDash val="solid"/>
                    </a:lnT>
                    <a:lnB w="19050">
                      <a:solidFill>
                        <a:schemeClr val="accent1"/>
                      </a:solidFill>
                      <a:prstDash val="solid"/>
                    </a:lnB>
                    <a:noFill/>
                  </a:tcPr>
                </a:tc>
                <a:tc>
                  <a:txBody>
                    <a:bodyPr/>
                    <a:lstStyle/>
                    <a:p>
                      <a:pPr/>
                      <a:r>
                        <a:rPr lang="zh-CN" sz="1500" b="1">
                          <a:solidFill>
                            <a:schemeClr val="accent1"/>
                          </a:solidFill>
                          <a:latin typeface="Microsoft YaHei"/>
                          <a:ea typeface="Microsoft YaHei"/>
                          <a:cs typeface="Microsoft YaHei"/>
                        </a:rPr>
                        <a:t>单位与基年</a:t>
                      </a:r>
                    </a:p>
                  </a:txBody>
                  <a:tcPr anchor="ctr" marL="152400" marR="152400" marT="95250" marB="95250">
                    <a:lnL>
                      <a:noFill/>
                    </a:lnL>
                    <a:lnR>
                      <a:noFill/>
                    </a:lnR>
                    <a:lnT w="19050">
                      <a:solidFill>
                        <a:schemeClr val="accent1"/>
                      </a:solidFill>
                      <a:prstDash val="solid"/>
                    </a:lnT>
                    <a:lnB w="19050">
                      <a:solidFill>
                        <a:schemeClr val="accent1"/>
                      </a:solidFill>
                      <a:prstDash val="solid"/>
                    </a:lnB>
                    <a:noFill/>
                  </a:tcPr>
                </a:tc>
                <a:tc>
                  <a:txBody>
                    <a:bodyPr/>
                    <a:lstStyle/>
                    <a:p>
                      <a:pPr/>
                      <a:r>
                        <a:rPr lang="zh-CN" sz="1500" b="1">
                          <a:solidFill>
                            <a:schemeClr val="accent1"/>
                          </a:solidFill>
                          <a:latin typeface="Microsoft YaHei"/>
                          <a:ea typeface="Microsoft YaHei"/>
                          <a:cs typeface="Microsoft YaHei"/>
                        </a:rPr>
                        <a:t>最新值</a:t>
                      </a:r>
                    </a:p>
                  </a:txBody>
                  <a:tcPr anchor="ctr" marL="152400" marR="152400" marT="95250" marB="95250">
                    <a:lnL>
                      <a:noFill/>
                    </a:lnL>
                    <a:lnR>
                      <a:noFill/>
                    </a:lnR>
                    <a:lnT w="19050">
                      <a:solidFill>
                        <a:schemeClr val="accent1"/>
                      </a:solidFill>
                      <a:prstDash val="solid"/>
                    </a:lnT>
                    <a:lnB w="19050">
                      <a:solidFill>
                        <a:schemeClr val="accent1"/>
                      </a:solidFill>
                      <a:prstDash val="solid"/>
                    </a:lnB>
                    <a:noFill/>
                  </a:tcPr>
                </a:tc>
              </a:tr>
              <a:tr h="457200">
                <a:tc>
                  <a:txBody>
                    <a:bodyPr/>
                    <a:lstStyle/>
                    <a:p>
                      <a:pPr/>
                      <a:r>
                        <a:rPr lang="zh-CN" sz="1500" b="1">
                          <a:solidFill>
                            <a:schemeClr val="accent1"/>
                          </a:solidFill>
                          <a:latin typeface="Microsoft YaHei"/>
                          <a:ea typeface="Microsoft YaHei"/>
                          <a:cs typeface="Microsoft YaHei"/>
                        </a:rPr>
                        <a:t>Lazard v19.0</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美国、无补贴、区间值</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USD/MWh</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1">
                          <a:solidFill>
                            <a:schemeClr val="accent2"/>
                          </a:solidFill>
                          <a:latin typeface="Microsoft YaHei"/>
                          <a:ea typeface="Microsoft YaHei"/>
                          <a:cs typeface="Microsoft YaHei"/>
                        </a:rPr>
                        <a:t>2026 年 $40–$98（均值 $69）</a:t>
                      </a:r>
                    </a:p>
                  </a:txBody>
                  <a:tcPr anchor="ctr" marL="152400" marR="152400" marT="95250" marB="95250">
                    <a:lnL>
                      <a:noFill/>
                    </a:lnL>
                    <a:lnR>
                      <a:noFill/>
                    </a:lnR>
                    <a:lnT>
                      <a:noFill/>
                    </a:lnT>
                    <a:lnB w="9525">
                      <a:solidFill>
                        <a:schemeClr val="accent6"/>
                      </a:solidFill>
                      <a:prstDash val="solid"/>
                    </a:lnB>
                    <a:noFill/>
                  </a:tcPr>
                </a:tc>
              </a:tr>
              <a:tr h="457200">
                <a:tc>
                  <a:txBody>
                    <a:bodyPr/>
                    <a:lstStyle/>
                    <a:p>
                      <a:pPr/>
                      <a:r>
                        <a:rPr lang="zh-CN" sz="1500" b="1">
                          <a:solidFill>
                            <a:schemeClr val="accent1"/>
                          </a:solidFill>
                          <a:latin typeface="Microsoft YaHei"/>
                          <a:ea typeface="Microsoft YaHei"/>
                          <a:cs typeface="Microsoft YaHei"/>
                        </a:rPr>
                        <a:t>IRENA</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全球加权平均、实际投产</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USD/kWh，报告当年美元</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2024 年 0.043；2025 年 0.044</a:t>
                      </a:r>
                    </a:p>
                  </a:txBody>
                  <a:tcPr anchor="ctr" marL="152400" marR="152400" marT="95250" marB="95250">
                    <a:lnL>
                      <a:noFill/>
                    </a:lnL>
                    <a:lnR>
                      <a:noFill/>
                    </a:lnR>
                    <a:lnT>
                      <a:noFill/>
                    </a:lnT>
                    <a:lnB w="9525">
                      <a:solidFill>
                        <a:schemeClr val="accent6"/>
                      </a:solidFill>
                      <a:prstDash val="solid"/>
                    </a:lnB>
                    <a:noFill/>
                  </a:tcPr>
                </a:tc>
              </a:tr>
              <a:tr h="457200">
                <a:tc>
                  <a:txBody>
                    <a:bodyPr/>
                    <a:lstStyle/>
                    <a:p>
                      <a:pPr/>
                      <a:r>
                        <a:rPr lang="zh-CN" sz="1500" b="1">
                          <a:solidFill>
                            <a:schemeClr val="accent1"/>
                          </a:solidFill>
                          <a:latin typeface="Microsoft YaHei"/>
                          <a:ea typeface="Microsoft YaHei"/>
                          <a:cs typeface="Microsoft YaHei"/>
                        </a:rPr>
                        <a:t>NREL</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美国基准电站 100 MWdc</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¢/kWh，2024 USD</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2024 年 4.8¢</a:t>
                      </a:r>
                    </a:p>
                  </a:txBody>
                  <a:tcPr anchor="ctr" marL="152400" marR="152400" marT="95250" marB="95250">
                    <a:lnL>
                      <a:noFill/>
                    </a:lnL>
                    <a:lnR>
                      <a:noFill/>
                    </a:lnR>
                    <a:lnT>
                      <a:noFill/>
                    </a:lnT>
                    <a:lnB w="9525">
                      <a:solidFill>
                        <a:schemeClr val="accent6"/>
                      </a:solidFill>
                      <a:prstDash val="solid"/>
                    </a:lnB>
                    <a:noFill/>
                  </a:tcPr>
                </a:tc>
              </a:tr>
              <a:tr h="457200">
                <a:tc>
                  <a:txBody>
                    <a:bodyPr/>
                    <a:lstStyle/>
                    <a:p>
                      <a:pPr/>
                      <a:r>
                        <a:rPr lang="zh-CN" sz="1500" b="1">
                          <a:solidFill>
                            <a:schemeClr val="accent1"/>
                          </a:solidFill>
                          <a:latin typeface="Microsoft YaHei"/>
                          <a:ea typeface="Microsoft YaHei"/>
                          <a:cs typeface="Microsoft YaHei"/>
                        </a:rPr>
                        <a:t>BloombergNEF</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全球电池组价格调查</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USD/kWh，2025 实际美元</a:t>
                      </a:r>
                    </a:p>
                  </a:txBody>
                  <a:tcPr anchor="ctr" marL="152400" marR="152400" marT="95250" marB="95250">
                    <a:lnL>
                      <a:noFill/>
                    </a:lnL>
                    <a:lnR>
                      <a:noFill/>
                    </a:lnR>
                    <a:lnT>
                      <a:noFill/>
                    </a:lnT>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2025 年 108（储能专用 70）</a:t>
                      </a:r>
                    </a:p>
                  </a:txBody>
                  <a:tcPr anchor="ctr" marL="152400" marR="152400" marT="95250" marB="95250">
                    <a:lnL>
                      <a:noFill/>
                    </a:lnL>
                    <a:lnR>
                      <a:noFill/>
                    </a:lnR>
                    <a:lnT>
                      <a:noFill/>
                    </a:lnT>
                    <a:lnB w="9525">
                      <a:solidFill>
                        <a:schemeClr val="accent6"/>
                      </a:solidFill>
                      <a:prstDash val="solid"/>
                    </a:lnB>
                    <a:noFill/>
                  </a:tcPr>
                </a:tc>
              </a:tr>
            </a:tbl>
          </a:graphicData>
        </a:graphic>
      </p:graphicFrame>
      <p:grpSp>
        <p:nvGrpSpPr>
          <p:cNvPr id="28" name="Group 28"/>
          <p:cNvGrpSpPr/>
          <p:nvPr/>
        </p:nvGrpSpPr>
        <p:grpSpPr>
          <a:xfrm>
            <a:off x="676656" y="4453890"/>
            <a:ext cx="4140757" cy="1665161"/>
            <a:chOff x="676656" y="4453890"/>
            <a:chExt cx="4140757" cy="1665161"/>
          </a:xfrm>
        </p:grpSpPr>
        <p:sp>
          <p:nvSpPr>
            <p:cNvPr id="22" name="TextBox 22"/>
            <p:cNvSpPr txBox="1"/>
            <p:nvPr/>
          </p:nvSpPr>
          <p:spPr>
            <a:xfrm>
              <a:off x="676656" y="4453890"/>
              <a:ext cx="279239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LCOE 这个指标没算什么</a:t>
              </a:r>
            </a:p>
          </p:txBody>
        </p:sp>
        <p:grpSp>
          <p:nvGrpSpPr>
            <p:cNvPr id="26" name="Group 26"/>
            <p:cNvGrpSpPr/>
            <p:nvPr/>
          </p:nvGrpSpPr>
          <p:grpSpPr>
            <a:xfrm>
              <a:off x="4593279" y="4468296"/>
              <a:ext cx="224134" cy="192560"/>
              <a:chOff x="4593279" y="4468296"/>
              <a:chExt cx="224134" cy="192560"/>
            </a:xfrm>
          </p:grpSpPr>
          <p:sp>
            <p:nvSpPr>
              <p:cNvPr id="23" name="Freeform 23"/>
              <p:cNvSpPr/>
              <p:nvPr/>
            </p:nvSpPr>
            <p:spPr>
              <a:xfrm>
                <a:off x="4705350" y="4538663"/>
                <a:ext cx="9525" cy="44450"/>
              </a:xfrm>
              <a:custGeom>
                <a:avLst/>
                <a:gdLst/>
                <a:ahLst/>
                <a:cxnLst/>
                <a:rect l="l" t="t" r="r" b="b"/>
                <a:pathLst>
                  <a:path w="9525" h="44450">
                    <a:moveTo>
                      <a:pt x="0" y="0"/>
                    </a:moveTo>
                    <a:lnTo>
                      <a:pt x="0" y="44450"/>
                    </a:lnTo>
                  </a:path>
                </a:pathLst>
              </a:custGeom>
              <a:noFill/>
              <a:ln w="16669">
                <a:solidFill>
                  <a:schemeClr val="accent2"/>
                </a:solidFill>
              </a:ln>
            </p:spPr>
          </p:sp>
          <p:sp>
            <p:nvSpPr>
              <p:cNvPr id="24" name="Freeform 24"/>
              <p:cNvSpPr/>
              <p:nvPr/>
            </p:nvSpPr>
            <p:spPr>
              <a:xfrm>
                <a:off x="4593279" y="4468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16669">
                <a:solidFill>
                  <a:schemeClr val="accent2"/>
                </a:solidFill>
              </a:ln>
            </p:spPr>
          </p:sp>
          <p:sp>
            <p:nvSpPr>
              <p:cNvPr id="25" name="Freeform 25"/>
              <p:cNvSpPr/>
              <p:nvPr/>
            </p:nvSpPr>
            <p:spPr>
              <a:xfrm>
                <a:off x="4705350" y="4616451"/>
                <a:ext cx="9525" cy="9525"/>
              </a:xfrm>
              <a:custGeom>
                <a:avLst/>
                <a:gdLst/>
                <a:ahLst/>
                <a:cxnLst/>
                <a:rect l="l" t="t" r="r" b="b"/>
                <a:pathLst>
                  <a:path w="9525" h="9525">
                    <a:moveTo>
                      <a:pt x="0" y="0"/>
                    </a:moveTo>
                    <a:lnTo>
                      <a:pt x="111" y="0"/>
                    </a:lnTo>
                  </a:path>
                </a:pathLst>
              </a:custGeom>
              <a:noFill/>
              <a:ln w="16669">
                <a:solidFill>
                  <a:schemeClr val="accent2"/>
                </a:solidFill>
              </a:ln>
            </p:spPr>
          </p:sp>
        </p:grpSp>
        <p:sp>
          <p:nvSpPr>
            <p:cNvPr id="27" name="TextBox 27"/>
            <p:cNvSpPr txBox="1"/>
            <p:nvPr/>
          </p:nvSpPr>
          <p:spPr>
            <a:xfrm>
              <a:off x="678942" y="4864418"/>
              <a:ext cx="3957066" cy="12546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icrosoft YaHei"/>
                  <a:ea typeface="Microsoft YaHei"/>
                  <a:cs typeface="Microsoft YaHei"/>
                </a:rPr>
                <a:t>Lazard 明确列出未纳入的因素：</a:t>
              </a:r>
            </a:p>
            <a:p>
              <a:pPr algn="l" marL="145732" indent="-145732">
                <a:lnSpc>
                  <a:spcPts val="1950"/>
                </a:lnSpc>
                <a:buClr>
                  <a:schemeClr val="accent3"/>
                </a:buClr>
                <a:buSzTx/>
                <a:buFontTx/>
                <a:buChar char="•"/>
              </a:pPr>
              <a:r>
                <a:rPr lang="zh-CN" sz="1350" dirty="0">
                  <a:solidFill>
                    <a:schemeClr val="accent3"/>
                  </a:solidFill>
                  <a:latin typeface="Microsoft YaHei"/>
                  <a:ea typeface="Microsoft YaHei"/>
                  <a:cs typeface="Microsoft YaHei"/>
                </a:rPr>
                <a:t>输电队列改革与网络升级等输电事项</a:t>
              </a:r>
            </a:p>
            <a:p>
              <a:pPr algn="l" marL="145732" indent="-145732">
                <a:lnSpc>
                  <a:spcPts val="1950"/>
                </a:lnSpc>
                <a:buClr>
                  <a:schemeClr val="accent3"/>
                </a:buClr>
                <a:buSzTx/>
                <a:buFontTx/>
                <a:buChar char="•"/>
              </a:pPr>
              <a:r>
                <a:rPr lang="zh-CN" sz="1350" dirty="0">
                  <a:solidFill>
                    <a:schemeClr val="accent3"/>
                  </a:solidFill>
                  <a:latin typeface="Microsoft YaHei"/>
                  <a:ea typeface="Microsoft YaHei"/>
                  <a:cs typeface="Microsoft YaHei"/>
                </a:rPr>
                <a:t>拥堵、弃电或其他并网整合成本</a:t>
              </a:r>
            </a:p>
            <a:p>
              <a:pPr algn="l" marL="145732" indent="-145732">
                <a:lnSpc>
                  <a:spcPts val="1950"/>
                </a:lnSpc>
                <a:buClr>
                  <a:schemeClr val="accent3"/>
                </a:buClr>
                <a:buSzTx/>
                <a:buFontTx/>
                <a:buChar char="•"/>
              </a:pPr>
              <a:r>
                <a:rPr lang="zh-CN" sz="1350" dirty="0">
                  <a:solidFill>
                    <a:schemeClr val="accent3"/>
                  </a:solidFill>
                  <a:latin typeface="Microsoft YaHei"/>
                  <a:ea typeface="Microsoft YaHei"/>
                  <a:cs typeface="Microsoft YaHei"/>
                </a:rPr>
                <a:t>许可与其他开发成本</a:t>
              </a:r>
              <a:br/>
              <a:r>
                <a:rPr lang="zh-CN" sz="1350" dirty="0">
                  <a:solidFill>
                    <a:schemeClr val="dk1"/>
                  </a:solidFill>
                  <a:latin typeface="Microsoft YaHei"/>
                  <a:ea typeface="Microsoft YaHei"/>
                  <a:cs typeface="Microsoft YaHei"/>
                </a:rPr>
                <a:t>任何只用 LCOE 横条作结论的页，都应同时出现这句</a:t>
              </a:r>
            </a:p>
          </p:txBody>
        </p:sp>
      </p:grpSp>
      <p:sp>
        <p:nvSpPr>
          <p:cNvPr id="29" name="Line 29"/>
          <p:cNvSpPr/>
          <p:nvPr/>
        </p:nvSpPr>
        <p:spPr>
          <a:xfrm>
            <a:off x="5715000" y="4400550"/>
            <a:ext cx="9525" cy="1733550"/>
          </a:xfrm>
          <a:custGeom>
            <a:avLst/>
            <a:gdLst/>
            <a:ahLst/>
            <a:cxnLst/>
            <a:rect l="l" t="t" r="r" b="b"/>
            <a:pathLst>
              <a:path w="9525" h="1733550">
                <a:moveTo>
                  <a:pt x="0" y="0"/>
                </a:moveTo>
                <a:lnTo>
                  <a:pt x="0" y="1733550"/>
                </a:lnTo>
              </a:path>
            </a:pathLst>
          </a:custGeom>
          <a:noFill/>
          <a:ln w="9525">
            <a:solidFill>
              <a:schemeClr val="accent6"/>
            </a:solidFill>
          </a:ln>
        </p:spPr>
      </p:sp>
      <p:grpSp>
        <p:nvGrpSpPr>
          <p:cNvPr id="33" name="Group 33"/>
          <p:cNvGrpSpPr/>
          <p:nvPr/>
        </p:nvGrpSpPr>
        <p:grpSpPr>
          <a:xfrm>
            <a:off x="6010656" y="4453890"/>
            <a:ext cx="4782312" cy="1627061"/>
            <a:chOff x="6010656" y="4453890"/>
            <a:chExt cx="4782312" cy="1627061"/>
          </a:xfrm>
        </p:grpSpPr>
        <p:sp>
          <p:nvSpPr>
            <p:cNvPr id="30" name="TextBox 30"/>
            <p:cNvSpPr txBox="1"/>
            <p:nvPr/>
          </p:nvSpPr>
          <p:spPr>
            <a:xfrm>
              <a:off x="6010656" y="4453890"/>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正面回应与权威原话</a:t>
              </a:r>
            </a:p>
          </p:txBody>
        </p:sp>
        <p:sp>
          <p:nvSpPr>
            <p:cNvPr id="31" name="TextBox 31"/>
            <p:cNvSpPr txBox="1"/>
            <p:nvPr/>
          </p:nvSpPr>
          <p:spPr>
            <a:xfrm>
              <a:off x="6012942" y="4826318"/>
              <a:ext cx="478002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icrosoft YaHei"/>
                  <a:ea typeface="Microsoft YaHei"/>
                  <a:cs typeface="Microsoft YaHei"/>
                </a:rPr>
                <a:t>Lazard 另有 Cost of Firming Intermittency 分析：即便计入</a:t>
              </a:r>
              <a:br/>
              <a:r>
                <a:rPr lang="zh-CN" sz="1350" dirty="0">
                  <a:solidFill>
                    <a:schemeClr val="dk1"/>
                  </a:solidFill>
                  <a:latin typeface="Microsoft YaHei"/>
                  <a:ea typeface="Microsoft YaHei"/>
                  <a:cs typeface="Microsoft YaHei"/>
                </a:rPr>
                <a:t>调峰成本，可再生与新建燃气联合循环相比总体仍具竞争力</a:t>
              </a:r>
            </a:p>
          </p:txBody>
        </p:sp>
        <p:sp>
          <p:nvSpPr>
            <p:cNvPr id="32" name="TextBox 32"/>
            <p:cNvSpPr txBox="1"/>
            <p:nvPr/>
          </p:nvSpPr>
          <p:spPr>
            <a:xfrm>
              <a:off x="6012942" y="5359718"/>
              <a:ext cx="4582858" cy="721233"/>
            </a:xfrm>
            <a:prstGeom prst="rect">
              <a:avLst/>
            </a:prstGeom>
            <a:noFill/>
            <a:ln>
              <a:noFill/>
            </a:ln>
          </p:spPr>
          <p:txBody>
            <a:bodyPr wrap="none" lIns="0" tIns="0" rIns="0" bIns="0" anchor="t" anchorCtr="0">
              <a:spAutoFit/>
            </a:bodyPr>
            <a:lstStyle/>
            <a:p>
              <a:pPr algn="l">
                <a:lnSpc>
                  <a:spcPts val="1800"/>
                </a:lnSpc>
              </a:pPr>
              <a:r>
                <a:rPr lang="zh-CN" sz="1350" dirty="0">
                  <a:solidFill>
                    <a:schemeClr val="accent2"/>
                  </a:solidFill>
                  <a:latin typeface="Microsoft YaHei"/>
                  <a:ea typeface="Microsoft YaHei"/>
                  <a:cs typeface="Microsoft YaHei"/>
                </a:rPr>
                <a:t>“solar PV is now the cheapest source</a:t>
              </a:r>
              <a:br/>
              <a:r>
                <a:rPr lang="zh-CN" sz="1350" dirty="0">
                  <a:solidFill>
                    <a:schemeClr val="accent2"/>
                  </a:solidFill>
                  <a:latin typeface="Microsoft YaHei"/>
                  <a:ea typeface="Microsoft YaHei"/>
                  <a:cs typeface="Microsoft YaHei"/>
                </a:rPr>
                <a:t>of electricity in history.”</a:t>
              </a:r>
              <a:br/>
              <a:r>
                <a:rPr lang="zh-CN" sz="1350" dirty="0">
                  <a:solidFill>
                    <a:schemeClr val="accent3"/>
                  </a:solidFill>
                  <a:latin typeface="Microsoft YaHei"/>
                  <a:ea typeface="Microsoft YaHei"/>
                  <a:cs typeface="Microsoft YaHei"/>
                </a:rPr>
                <a:t>—— IEA WEO 2020（原文含低成本融资与优质资源两个限定）</a:t>
              </a:r>
            </a:p>
          </p:txBody>
        </p:sp>
      </p:grpSp>
      <p:sp>
        <p:nvSpPr>
          <p:cNvPr id="34" name="Line 34"/>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37" name="Group 37"/>
          <p:cNvGrpSpPr/>
          <p:nvPr/>
        </p:nvGrpSpPr>
        <p:grpSpPr>
          <a:xfrm>
            <a:off x="679704" y="6385560"/>
            <a:ext cx="10832592" cy="234696"/>
            <a:chOff x="679704" y="6385560"/>
            <a:chExt cx="10832592" cy="234696"/>
          </a:xfrm>
        </p:grpSpPr>
        <p:sp>
          <p:nvSpPr>
            <p:cNvPr id="35" name="TextBox 35"/>
            <p:cNvSpPr txBox="1"/>
            <p:nvPr/>
          </p:nvSpPr>
          <p:spPr>
            <a:xfrm>
              <a:off x="679704" y="6385560"/>
              <a:ext cx="7256643"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口径警告：同一年 Lazard 均值 $61/MWh 与 IRENA $43/MWh 相差一倍以上，是口径差异不是矛盾</a:t>
              </a:r>
            </a:p>
          </p:txBody>
        </p:sp>
        <p:sp>
          <p:nvSpPr>
            <p:cNvPr id="36" name="TextBox 36"/>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14</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400"/>
                            </p:stCondLst>
                            <p:childTnLst>
                              <p:par>
                                <p:cTn id="9" presetID="22" presetClass="entr" presetSubtype="4" fill="hold" grpId="0" nodeType="afterEffect">
                                  <p:stCondLst>
                                    <p:cond delay="30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900"/>
                                        <p:tgtEl>
                                          <p:spTgt spid="21"/>
                                        </p:tgtEl>
                                      </p:cBhvr>
                                    </p:animEffect>
                                  </p:childTnLst>
                                </p:cTn>
                              </p:par>
                            </p:childTnLst>
                          </p:cTn>
                        </p:par>
                        <p:par>
                          <p:cTn id="12" fill="hold">
                            <p:stCondLst>
                              <p:cond delay="1600"/>
                            </p:stCondLst>
                            <p:childTnLst>
                              <p:par>
                                <p:cTn id="13" presetID="10" presetClass="entr" presetSubtype="0" fill="hold" grpId="0" nodeType="afterEffect">
                                  <p:stCondLst>
                                    <p:cond delay="30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par>
                          <p:cTn id="16" fill="hold">
                            <p:stCondLst>
                              <p:cond delay="2300"/>
                            </p:stCondLst>
                            <p:childTnLst>
                              <p:par>
                                <p:cTn id="17" presetID="10" presetClass="entr" presetSubtype="0" fill="hold" grpId="0" nodeType="afterEffect">
                                  <p:stCondLst>
                                    <p:cond delay="30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723900"/>
            <a:ext cx="10820400" cy="38100"/>
          </a:xfrm>
          <a:prstGeom prst="rect">
            <a:avLst/>
          </a:prstGeom>
          <a:solidFill>
            <a:srgbClr val="E8E8E8"/>
          </a:solidFill>
          <a:ln>
            <a:noFill/>
          </a:ln>
        </p:spPr>
      </p:sp>
      <p:grpSp>
        <p:nvGrpSpPr>
          <p:cNvPr id="4" name="!!argument-progress"/>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chemeClr val="accent2"/>
            </a:solidFill>
            <a:ln>
              <a:noFill/>
            </a:ln>
          </p:spPr>
        </p:sp>
      </p:grpSp>
      <p:grpSp>
        <p:nvGrpSpPr>
          <p:cNvPr id="6" name="Group 6"/>
          <p:cNvGrpSpPr/>
          <p:nvPr/>
        </p:nvGrpSpPr>
        <p:grpSpPr>
          <a:xfrm>
            <a:off x="669036" y="977265"/>
            <a:ext cx="8918448" cy="645414"/>
            <a:chOff x="669036" y="977265"/>
            <a:chExt cx="8918448" cy="645414"/>
          </a:xfrm>
        </p:grpSpPr>
        <p:sp>
          <p:nvSpPr>
            <p:cNvPr id="5" name="TextBox 5"/>
            <p:cNvSpPr txBox="1"/>
            <p:nvPr/>
          </p:nvSpPr>
          <p:spPr>
            <a:xfrm>
              <a:off x="669036" y="977265"/>
              <a:ext cx="8918448"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icrosoft YaHei"/>
                  <a:ea typeface="Microsoft YaHei"/>
                  <a:cs typeface="Microsoft YaHei"/>
                </a:rPr>
                <a:t>把预算从最便宜的组件，移到最好的并网位置</a:t>
              </a:r>
            </a:p>
          </p:txBody>
        </p:sp>
      </p:grpSp>
      <p:grpSp>
        <p:nvGrpSpPr>
          <p:cNvPr id="10" name="Group 10"/>
          <p:cNvGrpSpPr/>
          <p:nvPr/>
        </p:nvGrpSpPr>
        <p:grpSpPr>
          <a:xfrm>
            <a:off x="676656" y="1901190"/>
            <a:ext cx="6731965" cy="617411"/>
            <a:chOff x="676656" y="1901190"/>
            <a:chExt cx="6731965" cy="617411"/>
          </a:xfrm>
        </p:grpSpPr>
        <p:sp>
          <p:nvSpPr>
            <p:cNvPr id="7" name="TextBox 7"/>
            <p:cNvSpPr txBox="1"/>
            <p:nvPr/>
          </p:nvSpPr>
          <p:spPr>
            <a:xfrm>
              <a:off x="676656" y="1901190"/>
              <a:ext cx="314955"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Arial Black"/>
                  <a:ea typeface="Arial Black"/>
                  <a:cs typeface="Arial Black"/>
                </a:rPr>
                <a:t>01</a:t>
              </a:r>
            </a:p>
          </p:txBody>
        </p:sp>
        <p:sp>
          <p:nvSpPr>
            <p:cNvPr id="8" name="TextBox 8"/>
            <p:cNvSpPr txBox="1"/>
            <p:nvPr/>
          </p:nvSpPr>
          <p:spPr>
            <a:xfrm>
              <a:off x="1286256" y="1901190"/>
              <a:ext cx="483553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不要用 2020 年前的价格表做 2026 年的决策</a:t>
              </a:r>
            </a:p>
          </p:txBody>
        </p:sp>
        <p:sp>
          <p:nvSpPr>
            <p:cNvPr id="9" name="TextBox 9"/>
            <p:cNvSpPr txBox="1"/>
            <p:nvPr/>
          </p:nvSpPr>
          <p:spPr>
            <a:xfrm>
              <a:off x="1288542" y="2254568"/>
              <a:ext cx="612007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icrosoft YaHei"/>
                  <a:ea typeface="Microsoft YaHei"/>
                  <a:cs typeface="Microsoft YaHei"/>
                </a:rPr>
                <a:t>同一口径下光伏 LCOE 已降 81–90%，且已是多数市场最便宜的新增电源</a:t>
              </a:r>
            </a:p>
          </p:txBody>
        </p:sp>
      </p:grpSp>
      <p:sp>
        <p:nvSpPr>
          <p:cNvPr id="11" name="Line 11"/>
          <p:cNvSpPr/>
          <p:nvPr/>
        </p:nvSpPr>
        <p:spPr>
          <a:xfrm>
            <a:off x="685800" y="25527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15" name="Group 15"/>
          <p:cNvGrpSpPr/>
          <p:nvPr/>
        </p:nvGrpSpPr>
        <p:grpSpPr>
          <a:xfrm>
            <a:off x="676656" y="2644140"/>
            <a:ext cx="8796223" cy="617411"/>
            <a:chOff x="676656" y="2644140"/>
            <a:chExt cx="8796223" cy="617411"/>
          </a:xfrm>
        </p:grpSpPr>
        <p:sp>
          <p:nvSpPr>
            <p:cNvPr id="12" name="TextBox 12"/>
            <p:cNvSpPr txBox="1"/>
            <p:nvPr/>
          </p:nvSpPr>
          <p:spPr>
            <a:xfrm>
              <a:off x="676656" y="2644140"/>
              <a:ext cx="314955"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Arial Black"/>
                  <a:ea typeface="Arial Black"/>
                  <a:cs typeface="Arial Black"/>
                </a:rPr>
                <a:t>02</a:t>
              </a:r>
            </a:p>
          </p:txBody>
        </p:sp>
        <p:sp>
          <p:nvSpPr>
            <p:cNvPr id="13" name="TextBox 13"/>
            <p:cNvSpPr txBox="1"/>
            <p:nvPr/>
          </p:nvSpPr>
          <p:spPr>
            <a:xfrm>
              <a:off x="1286256" y="2644140"/>
              <a:ext cx="316839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但也不要假设它会一直更便宜</a:t>
              </a:r>
            </a:p>
          </p:txBody>
        </p:sp>
        <p:sp>
          <p:nvSpPr>
            <p:cNvPr id="14" name="TextBox 14"/>
            <p:cNvSpPr txBox="1"/>
            <p:nvPr/>
          </p:nvSpPr>
          <p:spPr>
            <a:xfrm>
              <a:off x="1288542" y="2997518"/>
              <a:ext cx="8184337"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icrosoft YaHei"/>
                  <a:ea typeface="Microsoft YaHei"/>
                  <a:cs typeface="Microsoft YaHei"/>
                </a:rPr>
                <a:t>两条独立序列都在 2021 年触底并回升；低价含卖方亏损；WACC 4.2%→10.0% 使 LCOE $53→$83</a:t>
              </a:r>
            </a:p>
          </p:txBody>
        </p:sp>
      </p:grpSp>
      <p:sp>
        <p:nvSpPr>
          <p:cNvPr id="16" name="Line 16"/>
          <p:cNvSpPr/>
          <p:nvPr/>
        </p:nvSpPr>
        <p:spPr>
          <a:xfrm>
            <a:off x="685800" y="329565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0" name="Group 20"/>
          <p:cNvGrpSpPr/>
          <p:nvPr/>
        </p:nvGrpSpPr>
        <p:grpSpPr>
          <a:xfrm>
            <a:off x="676656" y="3387090"/>
            <a:ext cx="10483487" cy="617411"/>
            <a:chOff x="676656" y="3387090"/>
            <a:chExt cx="10483487" cy="617411"/>
          </a:xfrm>
        </p:grpSpPr>
        <p:sp>
          <p:nvSpPr>
            <p:cNvPr id="17" name="TextBox 17"/>
            <p:cNvSpPr txBox="1"/>
            <p:nvPr/>
          </p:nvSpPr>
          <p:spPr>
            <a:xfrm>
              <a:off x="676656" y="3387090"/>
              <a:ext cx="314955"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Arial Black"/>
                  <a:ea typeface="Arial Black"/>
                  <a:cs typeface="Arial Black"/>
                </a:rPr>
                <a:t>03</a:t>
              </a:r>
            </a:p>
          </p:txBody>
        </p:sp>
        <p:sp>
          <p:nvSpPr>
            <p:cNvPr id="18" name="TextBox 18"/>
            <p:cNvSpPr txBox="1"/>
            <p:nvPr/>
          </p:nvSpPr>
          <p:spPr>
            <a:xfrm>
              <a:off x="1286256" y="3387090"/>
              <a:ext cx="607618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把重心从「买便宜组件」转向「买可调度性与并网位置」</a:t>
              </a:r>
            </a:p>
          </p:txBody>
        </p:sp>
        <p:sp>
          <p:nvSpPr>
            <p:cNvPr id="19" name="TextBox 19"/>
            <p:cNvSpPr txBox="1"/>
            <p:nvPr/>
          </p:nvSpPr>
          <p:spPr>
            <a:xfrm>
              <a:off x="1288542" y="3740468"/>
              <a:ext cx="9871601"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icrosoft YaHei"/>
                  <a:ea typeface="Microsoft YaHei"/>
                  <a:cs typeface="Microsoft YaHei"/>
                </a:rPr>
                <a:t>成本中心已从组件转向 BOS 与储能；储能 LCOS 2020–2026 上涨 39%；firm LCOE（USD 54–82/MWh）已是可用指标</a:t>
              </a:r>
            </a:p>
          </p:txBody>
        </p:sp>
      </p:grpSp>
      <p:sp>
        <p:nvSpPr>
          <p:cNvPr id="21" name="Line 21"/>
          <p:cNvSpPr/>
          <p:nvPr/>
        </p:nvSpPr>
        <p:spPr>
          <a:xfrm>
            <a:off x="685800" y="40386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25" name="Group 25"/>
          <p:cNvGrpSpPr/>
          <p:nvPr/>
        </p:nvGrpSpPr>
        <p:grpSpPr>
          <a:xfrm>
            <a:off x="676656" y="4130040"/>
            <a:ext cx="8047330" cy="617411"/>
            <a:chOff x="676656" y="4130040"/>
            <a:chExt cx="8047330" cy="617411"/>
          </a:xfrm>
        </p:grpSpPr>
        <p:sp>
          <p:nvSpPr>
            <p:cNvPr id="22" name="TextBox 22"/>
            <p:cNvSpPr txBox="1"/>
            <p:nvPr/>
          </p:nvSpPr>
          <p:spPr>
            <a:xfrm>
              <a:off x="676656" y="4130040"/>
              <a:ext cx="314955"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Arial Black"/>
                  <a:ea typeface="Arial Black"/>
                  <a:cs typeface="Arial Black"/>
                </a:rPr>
                <a:t>04</a:t>
              </a:r>
            </a:p>
          </p:txBody>
        </p:sp>
        <p:sp>
          <p:nvSpPr>
            <p:cNvPr id="23" name="TextBox 23"/>
            <p:cNvSpPr txBox="1"/>
            <p:nvPr/>
          </p:nvSpPr>
          <p:spPr>
            <a:xfrm>
              <a:off x="1286256" y="4130040"/>
              <a:ext cx="462229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icrosoft YaHei"/>
                  <a:ea typeface="Microsoft YaHei"/>
                  <a:cs typeface="Microsoft YaHei"/>
                </a:rPr>
                <a:t>稀缺资源是并网容量与消纳空间，不是价格</a:t>
              </a:r>
            </a:p>
          </p:txBody>
        </p:sp>
        <p:sp>
          <p:nvSpPr>
            <p:cNvPr id="24" name="TextBox 24"/>
            <p:cNvSpPr txBox="1"/>
            <p:nvPr/>
          </p:nvSpPr>
          <p:spPr>
            <a:xfrm>
              <a:off x="1288542" y="4483418"/>
              <a:ext cx="743544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icrosoft YaHei"/>
                  <a:ea typeface="Microsoft YaHei"/>
                  <a:cs typeface="Microsoft YaHei"/>
                </a:rPr>
                <a:t>美国队列中位等待 61 个月、全球 3,000 GW 排队；排在队列里的便宜电不产生度电价值</a:t>
              </a:r>
            </a:p>
          </p:txBody>
        </p:sp>
      </p:grpSp>
      <p:grpSp>
        <p:nvGrpSpPr>
          <p:cNvPr id="51" name="Group 51"/>
          <p:cNvGrpSpPr/>
          <p:nvPr/>
        </p:nvGrpSpPr>
        <p:grpSpPr>
          <a:xfrm>
            <a:off x="678942" y="5035868"/>
            <a:ext cx="10090048" cy="1241488"/>
            <a:chOff x="678942" y="5035868"/>
            <a:chExt cx="10090048" cy="1241488"/>
          </a:xfrm>
        </p:grpSpPr>
        <p:sp>
          <p:nvSpPr>
            <p:cNvPr id="26" name="TextBox 26"/>
            <p:cNvSpPr txBox="1"/>
            <p:nvPr/>
          </p:nvSpPr>
          <p:spPr>
            <a:xfrm>
              <a:off x="678942" y="5035868"/>
              <a:ext cx="801014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icrosoft YaHei"/>
                  <a:ea typeface="Microsoft YaHei"/>
                  <a:cs typeface="Microsoft YaHei"/>
                </a:rPr>
                <a:t>来源（可点击）｜每个数字均标注来源与年份；不同机构口径并列写出，不做平均、不做跨口径换算</a:t>
              </a:r>
            </a:p>
          </p:txBody>
        </p:sp>
        <p:grpSp>
          <p:nvGrpSpPr>
            <p:cNvPr id="29" name="Group 29"/>
            <p:cNvGrpSpPr/>
            <p:nvPr/>
          </p:nvGrpSpPr>
          <p:grpSpPr>
            <a:xfrm>
              <a:off x="685800" y="5356860"/>
              <a:ext cx="4606629" cy="234696"/>
              <a:chOff x="685800" y="5356860"/>
              <a:chExt cx="4606629" cy="234696"/>
            </a:xfrm>
          </p:grpSpPr>
          <p:sp>
            <p:nvSpPr>
              <p:cNvPr id="27" name="Rectangle 27">
                <a:hlinkClick r:id="rId2"/>
              </p:cNvPr>
              <p:cNvSpPr/>
              <p:nvPr/>
            </p:nvSpPr>
            <p:spPr>
              <a:xfrm>
                <a:off x="685800" y="5372100"/>
                <a:ext cx="76200" cy="28575"/>
              </a:xfrm>
              <a:prstGeom prst="rect">
                <a:avLst/>
              </a:prstGeom>
              <a:solidFill>
                <a:schemeClr val="accent2"/>
              </a:solidFill>
              <a:ln>
                <a:noFill/>
              </a:ln>
            </p:spPr>
          </p:sp>
          <p:sp>
            <p:nvSpPr>
              <p:cNvPr id="28" name="TextBox 28">
                <a:hlinkClick r:id="rId2"/>
              </p:cNvPr>
              <p:cNvSpPr txBox="1"/>
              <p:nvPr/>
            </p:nvSpPr>
            <p:spPr>
              <a:xfrm>
                <a:off x="832104" y="5356860"/>
                <a:ext cx="4460325"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Lazard LCOE+ 2026 Edition（LCOE v19.0 / LCOS v11.0）</a:t>
                </a:r>
              </a:p>
            </p:txBody>
          </p:sp>
        </p:grpSp>
        <p:grpSp>
          <p:nvGrpSpPr>
            <p:cNvPr id="32" name="Group 32"/>
            <p:cNvGrpSpPr/>
            <p:nvPr/>
          </p:nvGrpSpPr>
          <p:grpSpPr>
            <a:xfrm>
              <a:off x="685800" y="5585460"/>
              <a:ext cx="2023954" cy="234696"/>
              <a:chOff x="685800" y="5585460"/>
              <a:chExt cx="2023954" cy="234696"/>
            </a:xfrm>
          </p:grpSpPr>
          <p:sp>
            <p:nvSpPr>
              <p:cNvPr id="30" name="Rectangle 30">
                <a:hlinkClick r:id="rId3"/>
              </p:cNvPr>
              <p:cNvSpPr/>
              <p:nvPr/>
            </p:nvSpPr>
            <p:spPr>
              <a:xfrm>
                <a:off x="685800" y="5600700"/>
                <a:ext cx="76200" cy="28575"/>
              </a:xfrm>
              <a:prstGeom prst="rect">
                <a:avLst/>
              </a:prstGeom>
              <a:solidFill>
                <a:schemeClr val="accent2"/>
              </a:solidFill>
              <a:ln>
                <a:noFill/>
              </a:ln>
            </p:spPr>
          </p:sp>
          <p:sp>
            <p:nvSpPr>
              <p:cNvPr id="31" name="TextBox 31">
                <a:hlinkClick r:id="rId3"/>
              </p:cNvPr>
              <p:cNvSpPr txBox="1"/>
              <p:nvPr/>
            </p:nvSpPr>
            <p:spPr>
              <a:xfrm>
                <a:off x="832104" y="5585460"/>
                <a:ext cx="1877650"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IEA《Renewables 2025》</a:t>
                </a:r>
              </a:p>
            </p:txBody>
          </p:sp>
        </p:grpSp>
        <p:grpSp>
          <p:nvGrpSpPr>
            <p:cNvPr id="35" name="Group 35"/>
            <p:cNvGrpSpPr/>
            <p:nvPr/>
          </p:nvGrpSpPr>
          <p:grpSpPr>
            <a:xfrm>
              <a:off x="685800" y="5814060"/>
              <a:ext cx="4237863" cy="234696"/>
              <a:chOff x="685800" y="5814060"/>
              <a:chExt cx="4237863" cy="234696"/>
            </a:xfrm>
          </p:grpSpPr>
          <p:sp>
            <p:nvSpPr>
              <p:cNvPr id="33" name="Rectangle 33">
                <a:hlinkClick r:id="rId4"/>
              </p:cNvPr>
              <p:cNvSpPr/>
              <p:nvPr/>
            </p:nvSpPr>
            <p:spPr>
              <a:xfrm>
                <a:off x="685800" y="5829300"/>
                <a:ext cx="76200" cy="28575"/>
              </a:xfrm>
              <a:prstGeom prst="rect">
                <a:avLst/>
              </a:prstGeom>
              <a:solidFill>
                <a:schemeClr val="accent2"/>
              </a:solidFill>
              <a:ln>
                <a:noFill/>
              </a:ln>
            </p:spPr>
          </p:sp>
          <p:sp>
            <p:nvSpPr>
              <p:cNvPr id="34" name="TextBox 34">
                <a:hlinkClick r:id="rId4"/>
              </p:cNvPr>
              <p:cNvSpPr txBox="1"/>
              <p:nvPr/>
            </p:nvSpPr>
            <p:spPr>
              <a:xfrm>
                <a:off x="832104" y="5814060"/>
                <a:ext cx="4091559"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IRENA《Renewable Power Generation Costs in 2024》</a:t>
                </a:r>
              </a:p>
            </p:txBody>
          </p:sp>
        </p:grpSp>
        <p:grpSp>
          <p:nvGrpSpPr>
            <p:cNvPr id="38" name="Group 38"/>
            <p:cNvGrpSpPr/>
            <p:nvPr/>
          </p:nvGrpSpPr>
          <p:grpSpPr>
            <a:xfrm>
              <a:off x="685800" y="6042660"/>
              <a:ext cx="3623462" cy="234696"/>
              <a:chOff x="685800" y="6042660"/>
              <a:chExt cx="3623462" cy="234696"/>
            </a:xfrm>
          </p:grpSpPr>
          <p:sp>
            <p:nvSpPr>
              <p:cNvPr id="36" name="Rectangle 36">
                <a:hlinkClick r:id="rId5"/>
              </p:cNvPr>
              <p:cNvSpPr/>
              <p:nvPr/>
            </p:nvSpPr>
            <p:spPr>
              <a:xfrm>
                <a:off x="685800" y="6057900"/>
                <a:ext cx="76200" cy="28575"/>
              </a:xfrm>
              <a:prstGeom prst="rect">
                <a:avLst/>
              </a:prstGeom>
              <a:solidFill>
                <a:schemeClr val="accent2"/>
              </a:solidFill>
              <a:ln>
                <a:noFill/>
              </a:ln>
            </p:spPr>
          </p:sp>
          <p:sp>
            <p:nvSpPr>
              <p:cNvPr id="37" name="TextBox 37">
                <a:hlinkClick r:id="rId5"/>
              </p:cNvPr>
              <p:cNvSpPr txBox="1"/>
              <p:nvPr/>
            </p:nvSpPr>
            <p:spPr>
              <a:xfrm>
                <a:off x="832104" y="6042660"/>
                <a:ext cx="3477158"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NREL/TP-7A40-92536（15 年成本下降记录）</a:t>
                </a:r>
              </a:p>
            </p:txBody>
          </p:sp>
        </p:grpSp>
        <p:grpSp>
          <p:nvGrpSpPr>
            <p:cNvPr id="41" name="Group 41"/>
            <p:cNvGrpSpPr/>
            <p:nvPr/>
          </p:nvGrpSpPr>
          <p:grpSpPr>
            <a:xfrm>
              <a:off x="6286500" y="5356860"/>
              <a:ext cx="3375554" cy="234696"/>
              <a:chOff x="6286500" y="5356860"/>
              <a:chExt cx="3375554" cy="234696"/>
            </a:xfrm>
          </p:grpSpPr>
          <p:sp>
            <p:nvSpPr>
              <p:cNvPr id="39" name="Rectangle 39">
                <a:hlinkClick r:id="rId6"/>
              </p:cNvPr>
              <p:cNvSpPr/>
              <p:nvPr/>
            </p:nvSpPr>
            <p:spPr>
              <a:xfrm>
                <a:off x="6286500" y="5372100"/>
                <a:ext cx="76200" cy="28575"/>
              </a:xfrm>
              <a:prstGeom prst="rect">
                <a:avLst/>
              </a:prstGeom>
              <a:solidFill>
                <a:schemeClr val="accent2"/>
              </a:solidFill>
              <a:ln>
                <a:noFill/>
              </a:ln>
            </p:spPr>
          </p:sp>
          <p:sp>
            <p:nvSpPr>
              <p:cNvPr id="40" name="TextBox 40">
                <a:hlinkClick r:id="rId6"/>
              </p:cNvPr>
              <p:cNvSpPr txBox="1"/>
              <p:nvPr/>
            </p:nvSpPr>
            <p:spPr>
              <a:xfrm>
                <a:off x="6432804" y="5356860"/>
                <a:ext cx="3229250"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Berkeley Lab《Queued Up: 2026 Edition》</a:t>
                </a:r>
              </a:p>
            </p:txBody>
          </p:sp>
        </p:grpSp>
        <p:grpSp>
          <p:nvGrpSpPr>
            <p:cNvPr id="44" name="Group 44"/>
            <p:cNvGrpSpPr/>
            <p:nvPr/>
          </p:nvGrpSpPr>
          <p:grpSpPr>
            <a:xfrm>
              <a:off x="6286500" y="5585460"/>
              <a:ext cx="3014167" cy="234696"/>
              <a:chOff x="6286500" y="5585460"/>
              <a:chExt cx="3014167" cy="234696"/>
            </a:xfrm>
          </p:grpSpPr>
          <p:sp>
            <p:nvSpPr>
              <p:cNvPr id="42" name="Rectangle 42">
                <a:hlinkClick r:id="rId7"/>
              </p:cNvPr>
              <p:cNvSpPr/>
              <p:nvPr/>
            </p:nvSpPr>
            <p:spPr>
              <a:xfrm>
                <a:off x="6286500" y="5600700"/>
                <a:ext cx="76200" cy="28575"/>
              </a:xfrm>
              <a:prstGeom prst="rect">
                <a:avLst/>
              </a:prstGeom>
              <a:solidFill>
                <a:schemeClr val="accent2"/>
              </a:solidFill>
              <a:ln>
                <a:noFill/>
              </a:ln>
            </p:spPr>
          </p:sp>
          <p:sp>
            <p:nvSpPr>
              <p:cNvPr id="43" name="TextBox 43">
                <a:hlinkClick r:id="rId7"/>
              </p:cNvPr>
              <p:cNvSpPr txBox="1"/>
              <p:nvPr/>
            </p:nvSpPr>
            <p:spPr>
              <a:xfrm>
                <a:off x="6432804" y="5585460"/>
                <a:ext cx="2867863"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BloombergNEF 2025 年锂电池价格调查</a:t>
                </a:r>
              </a:p>
            </p:txBody>
          </p:sp>
        </p:grpSp>
        <p:grpSp>
          <p:nvGrpSpPr>
            <p:cNvPr id="47" name="Group 47"/>
            <p:cNvGrpSpPr/>
            <p:nvPr/>
          </p:nvGrpSpPr>
          <p:grpSpPr>
            <a:xfrm>
              <a:off x="6286500" y="5814060"/>
              <a:ext cx="3346813" cy="234696"/>
              <a:chOff x="6286500" y="5814060"/>
              <a:chExt cx="3346813" cy="234696"/>
            </a:xfrm>
          </p:grpSpPr>
          <p:sp>
            <p:nvSpPr>
              <p:cNvPr id="45" name="Rectangle 45">
                <a:hlinkClick r:id="rId8"/>
              </p:cNvPr>
              <p:cNvSpPr/>
              <p:nvPr/>
            </p:nvSpPr>
            <p:spPr>
              <a:xfrm>
                <a:off x="6286500" y="5829300"/>
                <a:ext cx="76200" cy="28575"/>
              </a:xfrm>
              <a:prstGeom prst="rect">
                <a:avLst/>
              </a:prstGeom>
              <a:solidFill>
                <a:schemeClr val="accent2"/>
              </a:solidFill>
              <a:ln>
                <a:noFill/>
              </a:ln>
            </p:spPr>
          </p:sp>
          <p:sp>
            <p:nvSpPr>
              <p:cNvPr id="46" name="TextBox 46">
                <a:hlinkClick r:id="rId8"/>
              </p:cNvPr>
              <p:cNvSpPr txBox="1"/>
              <p:nvPr/>
            </p:nvSpPr>
            <p:spPr>
              <a:xfrm>
                <a:off x="6432804" y="5814060"/>
                <a:ext cx="3200509"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Our World in Data（组件价格与学习曲线）</a:t>
                </a:r>
              </a:p>
            </p:txBody>
          </p:sp>
        </p:grpSp>
        <p:grpSp>
          <p:nvGrpSpPr>
            <p:cNvPr id="50" name="Group 50"/>
            <p:cNvGrpSpPr/>
            <p:nvPr/>
          </p:nvGrpSpPr>
          <p:grpSpPr>
            <a:xfrm>
              <a:off x="6286500" y="6042660"/>
              <a:ext cx="4482490" cy="234696"/>
              <a:chOff x="6286500" y="6042660"/>
              <a:chExt cx="4482490" cy="234696"/>
            </a:xfrm>
          </p:grpSpPr>
          <p:sp>
            <p:nvSpPr>
              <p:cNvPr id="48" name="Rectangle 48">
                <a:hlinkClick r:id="rId9"/>
              </p:cNvPr>
              <p:cNvSpPr/>
              <p:nvPr/>
            </p:nvSpPr>
            <p:spPr>
              <a:xfrm>
                <a:off x="6286500" y="6057900"/>
                <a:ext cx="76200" cy="28575"/>
              </a:xfrm>
              <a:prstGeom prst="rect">
                <a:avLst/>
              </a:prstGeom>
              <a:solidFill>
                <a:schemeClr val="accent2"/>
              </a:solidFill>
              <a:ln>
                <a:noFill/>
              </a:ln>
            </p:spPr>
          </p:sp>
          <p:sp>
            <p:nvSpPr>
              <p:cNvPr id="49" name="TextBox 49">
                <a:hlinkClick r:id="rId9"/>
              </p:cNvPr>
              <p:cNvSpPr txBox="1"/>
              <p:nvPr/>
            </p:nvSpPr>
            <p:spPr>
              <a:xfrm>
                <a:off x="6432804" y="6042660"/>
                <a:ext cx="4336186" cy="234696"/>
              </a:xfrm>
              <a:prstGeom prst="rect">
                <a:avLst/>
              </a:prstGeom>
              <a:noFill/>
              <a:ln>
                <a:noFill/>
              </a:ln>
            </p:spPr>
            <p:txBody>
              <a:bodyPr wrap="none" lIns="0" tIns="0" rIns="0" bIns="0" anchor="t" anchorCtr="0">
                <a:spAutoFit/>
              </a:bodyPr>
              <a:lstStyle/>
              <a:p>
                <a:pPr algn="l"/>
                <a:r>
                  <a:rPr lang="zh-CN" sz="1200" u="sng" dirty="0">
                    <a:solidFill>
                      <a:schemeClr val="accent1"/>
                    </a:solidFill>
                    <a:latin typeface="Microsoft YaHei"/>
                    <a:ea typeface="Microsoft YaHei"/>
                    <a:cs typeface="Microsoft YaHei"/>
                  </a:rPr>
                  <a:t>IEA《Electricity Grids and Secure Energy Transitions》</a:t>
                </a:r>
              </a:p>
            </p:txBody>
          </p:sp>
        </p:grpSp>
      </p:grpSp>
      <p:sp>
        <p:nvSpPr>
          <p:cNvPr id="52" name="Line 5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5" name="Group 55"/>
          <p:cNvGrpSpPr/>
          <p:nvPr/>
        </p:nvGrpSpPr>
        <p:grpSpPr>
          <a:xfrm>
            <a:off x="679704" y="6385560"/>
            <a:ext cx="10832592" cy="234696"/>
            <a:chOff x="679704" y="6385560"/>
            <a:chExt cx="10832592" cy="234696"/>
          </a:xfrm>
        </p:grpSpPr>
        <p:sp>
          <p:nvSpPr>
            <p:cNvPr id="53" name="TextBox 53"/>
            <p:cNvSpPr txBox="1"/>
            <p:nvPr/>
          </p:nvSpPr>
          <p:spPr>
            <a:xfrm>
              <a:off x="679704" y="6385560"/>
              <a:ext cx="7217054"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icrosoft YaHei"/>
                  <a:ea typeface="Microsoft YaHei"/>
                  <a:cs typeface="Microsoft YaHei"/>
                </a:rPr>
                <a:t>检索日期 2026-09-04｜90 条外部事实、20 个来源页，全部记录在项目 sources/ 的事实溯源文件中</a:t>
              </a:r>
            </a:p>
          </p:txBody>
        </p:sp>
        <p:sp>
          <p:nvSpPr>
            <p:cNvPr id="54" name="TextBox 54"/>
            <p:cNvSpPr txBox="1"/>
            <p:nvPr/>
          </p:nvSpPr>
          <p:spPr>
            <a:xfrm>
              <a:off x="11322406" y="6385560"/>
              <a:ext cx="189890"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Microsoft YaHei"/>
                  <a:ea typeface="Microsoft YaHei"/>
                  <a:cs typeface="Microsoft YaHei"/>
                </a:rPr>
                <a:t>15</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800"/>
                            </p:stCondLst>
                            <p:childTnLst>
                              <p:par>
                                <p:cTn id="9" presetID="10" presetClass="entr" presetSubtype="0" fill="hold" grpId="0" nodeType="afterEffect">
                                  <p:stCondLst>
                                    <p:cond delay="3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500"/>
                            </p:stCondLst>
                            <p:childTnLst>
                              <p:par>
                                <p:cTn id="13" presetID="10" presetClass="entr" presetSubtype="0" fill="hold" grpId="0" nodeType="afterEffect">
                                  <p:stCondLst>
                                    <p:cond delay="3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childTnLst>
                          </p:cTn>
                        </p:par>
                        <p:par>
                          <p:cTn id="16" fill="hold">
                            <p:stCondLst>
                              <p:cond delay="2200"/>
                            </p:stCondLst>
                            <p:childTnLst>
                              <p:par>
                                <p:cTn id="17" presetID="10" presetClass="entr" presetSubtype="0" fill="hold" grpId="0" nodeType="afterEffect">
                                  <p:stCondLst>
                                    <p:cond delay="3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par>
                          <p:cTn id="20" fill="hold">
                            <p:stCondLst>
                              <p:cond delay="2900"/>
                            </p:stCondLst>
                            <p:childTnLst>
                              <p:par>
                                <p:cTn id="21" presetID="10" presetClass="entr" presetSubtype="0" fill="hold" grpId="0" nodeType="afterEffect">
                                  <p:stCondLst>
                                    <p:cond delay="30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childTnLst>
                          </p:cTn>
                        </p:par>
                        <p:par>
                          <p:cTn id="24" fill="hold">
                            <p:stCondLst>
                              <p:cond delay="3600"/>
                            </p:stCondLst>
                            <p:childTnLst>
                              <p:par>
                                <p:cTn id="25" presetID="10" presetClass="entr" presetSubtype="0" fill="hold" grpId="0" nodeType="afterEffect">
                                  <p:stCondLst>
                                    <p:cond delay="30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solar_cheapest_power">
  <a:themeElements>
    <a:clrScheme name="ppt169_solar_cheapest_power">
      <a:dk1>
        <a:srgbClr val="1A1A1A"/>
      </a:dk1>
      <a:lt1>
        <a:srgbClr val="FFFFFF"/>
      </a:lt1>
      <a:dk2>
        <a:srgbClr val="1F497D"/>
      </a:dk2>
      <a:lt2>
        <a:srgbClr val="F2F2F2"/>
      </a:lt2>
      <a:accent1>
        <a:srgbClr val="111111"/>
      </a:accent1>
      <a:accent2>
        <a:srgbClr val="C8102E"/>
      </a:accent2>
      <a:accent3>
        <a:srgbClr val="6E6E6E"/>
      </a:accent3>
      <a:accent4>
        <a:srgbClr val="111111"/>
      </a:accent4>
      <a:accent5>
        <a:srgbClr val="6E6E6E"/>
      </a:accent5>
      <a:accent6>
        <a:srgbClr val="D4D4D4"/>
      </a:accent6>
      <a:hlink>
        <a:srgbClr val="C8102E"/>
      </a:hlink>
      <a:folHlink>
        <a:srgbClr val="6E6E6E"/>
      </a:folHlink>
    </a:clrScheme>
    <a:fontScheme name="ppt169_solar_cheapest_pow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solar_cheapest_pow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solar_cheapest_power">
  <a:themeElements>
    <a:clrScheme name="ppt169_solar_cheapest_power">
      <a:dk1>
        <a:srgbClr val="1A1A1A"/>
      </a:dk1>
      <a:lt1>
        <a:srgbClr val="FFFFFF"/>
      </a:lt1>
      <a:dk2>
        <a:srgbClr val="1F497D"/>
      </a:dk2>
      <a:lt2>
        <a:srgbClr val="F2F2F2"/>
      </a:lt2>
      <a:accent1>
        <a:srgbClr val="111111"/>
      </a:accent1>
      <a:accent2>
        <a:srgbClr val="C8102E"/>
      </a:accent2>
      <a:accent3>
        <a:srgbClr val="6E6E6E"/>
      </a:accent3>
      <a:accent4>
        <a:srgbClr val="111111"/>
      </a:accent4>
      <a:accent5>
        <a:srgbClr val="6E6E6E"/>
      </a:accent5>
      <a:accent6>
        <a:srgbClr val="D4D4D4"/>
      </a:accent6>
      <a:hlink>
        <a:srgbClr val="C8102E"/>
      </a:hlink>
      <a:folHlink>
        <a:srgbClr val="6E6E6E"/>
      </a:folHlink>
    </a:clrScheme>
    <a:fontScheme name="ppt169_solar_cheapest_pow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solar_cheapest_pow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2026-09-05T04:30:39Z</dcterms:created>
  <dcterms:modified xsi:type="dcterms:W3CDTF">2026-09-05T04:30:39Z</dcterms:modified>
  <cp:category/>
  <cp:contentStatus/>
</cp:coreProperties>
</file>