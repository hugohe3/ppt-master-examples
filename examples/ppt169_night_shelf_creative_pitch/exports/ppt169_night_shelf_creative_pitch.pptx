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Thank you for making the time. Before anything else, one piece of housekeeping: Fog and Fern Books is a fictional shop, and every commercial figure in this deck — footfall, budget, staffing, print quantities — is illustrative. The research is not. Every number about reading and sleep is real and linked at the back. What you are about to see is a late autumn campaign called The Night Shelf, and the whole thing rests on a single idea: give the night back to reading.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truth the work is built on, and it is a truth about time, not about taste. The Bureau of Labor Statistics measures how Americans actually spend a day, and in the 2025 averages, reading for personal interest comes to about sixteen minutes. Television comes to two hours and thirty-seven. That is the same day. Look at how the gap changes with age. Among fifteen to twenty-four year olds it is ten minutes of reading against one hour forty-six of television. Among people sixty-five and over, reading more than triples, but television nearly doubles as well. Nobody in this room has to argue that people should love books more. They already do. What they do not have is room.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 where is the room? There is exactly one place left, and something else is already sitting in it. The American Academy of Sleep Medicine surveyed two thousand US adults last June: half of them use a screen in bed every single day, another third most days of the week, and a quarter openly say they choose the phone over the sleep they know they need. And that hour has a measurable price. A Norwegian study of forty-five thousand students, published in Frontiers in Psychiatry in March, found that each additional hour of screen time after getting into bed raised the odds of insomnia symptoms by fifty-nine percent and cost twenty-four minutes of sleep. Now here is the part that turns a problem into a campaign. Reading in bed is the one behaviour that has been tested the other way. In a randomised trial of nine hundred and ninety-one people, forty-two percent of those who read a book in bed said their sleep improved, against twenty-eight percent who did not. The bookshop is not selling a nicer habit. It is selling a better one, and it can say so with a straight face.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Which gives the work a very specific job. Make Fog and Fern the shop a reader thinks of at nine in the evening. Not the shop they visit on a Saturday afternoon — the one that owns the last hour of their day. And it has to happen inside three constraints, all of which are illustrative for this example client but realistic for a shop your size. No paid media at all beyond the frontage and the channels you already own. One season, six weeks from the first paste-up to the last event. And five people, every one of whom is already working a full shift.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bridge is one sentence long, and it is the reason the constraints stop being a problem. Reading is not competing with the day. It is competing with the last hour. Stop arguing for reading in general and go and own bedtime. That single move makes a no-budget campaign winnable, because it tells you exactly where the work has to appear — the street at seven, the shelf at eight, the bedside at ten — and it tells you what it has to sound like.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Night Shelf. The last hour belongs to a book. That is the whole idea, and it is deliberately something a customer can repeat without being told twice. The shelf is real — a physical shelf in the shop, restocked every week with books chosen for the hour before sleep, staff-picked and short enough to finish. And the shop stays open into that hour, which is the part nobody else on the street is doing.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work. One lamp, one shelf, one open book, and the rest of the room left dark. I am not going to explain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It is a platform, not a poster, and here is the proof — four surfaces, four different moments of the same evening. The street poster catches the walk home, printed two colours on uncoated stock so it looks like something the shop made. The phone post arrives when the screen is already in your hand, which is the honest place to interrupt it. The window lightbox is the panel you already own, running the same picture at full width so someone crossing the road can read it. And the bookmark leaves with the book and shows up at the bedside, which is where the idea finally lands. All four are mockups of proposed executions, and none of them assumes a placement you do not already control.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system underneath, and it is small enough that you can keep running it yourself after we have gone. One type voice: a bookish serif for everything the campaign says, and a quiet sans for everything the shop adds later, so your own notices never look like they are shouting. Four colours, each doing exactly one job. Night ink is always the ground. Lamplight is the light in the picture and the mark — it is never used for type, which is the rule that keeps everything legible. Paper cream is anything a reader physically touches. Fern is only ever your own signature, so a customer learns to read it as the shop speaking rather than the campaign. And the crescent on the shelf rule works from a poster down to a bookmark without redrawing it. The one prohibition worth remembering: red only ever appears when we are talking about a screen.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word about how the finished thing should feel, because that is easier to lose than the idea. Unhurried. Warm, printed, and made by the shop rather than bought by it. In practice that means three decisions. Uncoated cream stock, two inks, no laminate — it should feel like paper, not packaging. The photography happens at night in your shop with the lights you already have, not lit as a studio set. And every line gets written to be read aloud in one breath, because half of these will be spoken by a bookseller before anyone reads them.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And this is the only test that actually matters for a shop with no media budget. At real size, from the pavement on the far side of the street, seen at ordinary standing height — does the poster still read? It does, because the composition is one shape and four words. This is a mockup, but it is at the window's real dimensions and at honest eye level. Nothing here assumes a site you do not already have.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the unglamorous half, and I want to be straightforward about it. Six weeks: brief, artwork, print, paste-up, launch, then the event run. Seven deliverables across four channel classes, two print suppliers, and no paid media anywhere. Every quantity, lead time and owner on this page is illustrative for this fictional client and none of it is a quotation — but the shape is right, and the shape says this is buildable by five people who are already busy. The two things that genuinely constrain the timeline are the poster and the lightbox panel, both at three weeks, so artwork has to be signed off in week two or the whole run slides.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Finally, how you will know it worked, using only something you can already count. If the shop is busier between eight and ten in the evening in week six than it was in week one, the idea worked. No panel, no tracking study, no attribution model — just your own door in your own hour. So the ask is simple: approve The Night Shelf for late autumn. Everything on the research side is listed here and every link is live, and to say it once more plainly, Fog and Fern Books and every figure attached to it are fictional and exist only as an example.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night_shelf_creative_pitc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night_shelf_creative_pitc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a:solidFill>
            <a:schemeClr val="tx1"/>
          </a:solidFill>
          <a:latin typeface="+mn-lt"/>
          <a:ea typeface="+mn-ea"/>
          <a:cs typeface="+mn-cs"/>
        </a:defRPr>
      </a:lvl9pPr>
    </p:bodyStyle>
    <p:otherStyle>
      <a:defPPr>
        <a:defRPr lang="en-US"/>
      </a:defPPr>
      <a:lvl1pPr marL="0" algn="l" defTabSz="457200" rtl="0" eaLnBrk="1" latinLnBrk="0" hangingPunct="1">
        <a:defRPr sz="2250" kern="1200">
          <a:solidFill>
            <a:schemeClr val="tx1"/>
          </a:solidFill>
          <a:latin typeface="+mn-lt"/>
          <a:ea typeface="+mn-ea"/>
          <a:cs typeface="+mn-cs"/>
        </a:defRPr>
      </a:lvl1pPr>
      <a:lvl2pPr marL="457200" algn="l" defTabSz="457200" rtl="0" eaLnBrk="1" latinLnBrk="0" hangingPunct="1">
        <a:defRPr sz="2100" kern="1200">
          <a:solidFill>
            <a:schemeClr val="tx1"/>
          </a:solidFill>
          <a:latin typeface="+mn-lt"/>
          <a:ea typeface="+mn-ea"/>
          <a:cs typeface="+mn-cs"/>
        </a:defRPr>
      </a:lvl2pPr>
      <a:lvl3pPr marL="914400" algn="l" defTabSz="457200" rtl="0" eaLnBrk="1" latinLnBrk="0" hangingPunct="1">
        <a:defRPr sz="1950" kern="1200">
          <a:solidFill>
            <a:schemeClr val="tx1"/>
          </a:solidFill>
          <a:latin typeface="+mn-lt"/>
          <a:ea typeface="+mn-ea"/>
          <a:cs typeface="+mn-cs"/>
        </a:defRPr>
      </a:lvl3pPr>
      <a:lvl4pPr marL="1371600" algn="l" defTabSz="457200" rtl="0" eaLnBrk="1" latinLnBrk="0" hangingPunct="1">
        <a:defRPr sz="1850" kern="1200">
          <a:solidFill>
            <a:schemeClr val="tx1"/>
          </a:solidFill>
          <a:latin typeface="+mn-lt"/>
          <a:ea typeface="+mn-ea"/>
          <a:cs typeface="+mn-cs"/>
        </a:defRPr>
      </a:lvl4pPr>
      <a:lvl5pPr marL="1828800" algn="l" defTabSz="457200" rtl="0" eaLnBrk="1" latinLnBrk="0" hangingPunct="1">
        <a:defRPr sz="1700" kern="1200">
          <a:solidFill>
            <a:schemeClr val="tx1"/>
          </a:solidFill>
          <a:latin typeface="+mn-lt"/>
          <a:ea typeface="+mn-ea"/>
          <a:cs typeface="+mn-cs"/>
        </a:defRPr>
      </a:lvl5pPr>
      <a:lvl6pPr marL="2286000" algn="l" defTabSz="457200" rtl="0" eaLnBrk="1" latinLnBrk="0" hangingPunct="1">
        <a:defRPr sz="1550" kern="1200">
          <a:solidFill>
            <a:schemeClr val="tx1"/>
          </a:solidFill>
          <a:latin typeface="+mn-lt"/>
          <a:ea typeface="+mn-ea"/>
          <a:cs typeface="+mn-cs"/>
        </a:defRPr>
      </a:lvl6pPr>
      <a:lvl7pPr marL="2743200" algn="l" defTabSz="457200" rtl="0" eaLnBrk="1" latinLnBrk="0" hangingPunct="1">
        <a:defRPr sz="1400" kern="1200">
          <a:solidFill>
            <a:schemeClr val="tx1"/>
          </a:solidFill>
          <a:latin typeface="+mn-lt"/>
          <a:ea typeface="+mn-ea"/>
          <a:cs typeface="+mn-cs"/>
        </a:defRPr>
      </a:lvl7pPr>
      <a:lvl8pPr marL="3200400" algn="l" defTabSz="457200" rtl="0" eaLnBrk="1" latinLnBrk="0" hangingPunct="1">
        <a:defRPr sz="1250" kern="1200">
          <a:solidFill>
            <a:schemeClr val="tx1"/>
          </a:solidFill>
          <a:latin typeface="+mn-lt"/>
          <a:ea typeface="+mn-ea"/>
          <a:cs typeface="+mn-cs"/>
        </a:defRPr>
      </a:lvl8pPr>
      <a:lvl9pPr marL="3657600" algn="l" defTabSz="457200" rtl="0" eaLnBrk="1" latinLnBrk="0" hangingPunct="1">
        <a:defRPr sz="1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1b29a1d3325c182.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695115484a5e1e0.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09b96578cef7d79.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1b29a1d3325c182.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8d2957b472e10ef.jpg"/>
  <Relationship Id="rId3" Type="http://schemas.openxmlformats.org/officeDocument/2006/relationships/image" Target="../media/image_681f979e66b2f466.jpg"/>
  <Relationship Id="rId4" Type="http://schemas.openxmlformats.org/officeDocument/2006/relationships/image" Target="../media/image_01b29a1d3325c182.jpg"/>
  <Relationship Id="rId5" Type="http://schemas.openxmlformats.org/officeDocument/2006/relationships/image" Target="../media/image_a4e8a29eb1f3b1f1.png"/>
  <Relationship Id="rId6"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72223b2d9a41c1e.jpg"/>
  <Relationship Id="rId3" Type="http://schemas.openxmlformats.org/officeDocument/2006/relationships/image" Target="../media/image_0e1d8d66fe8c66fb.png"/>
  <Relationship Id="rId4" Type="http://schemas.openxmlformats.org/officeDocument/2006/relationships/image" Target="../media/image_e9d289513bbf01cb.png"/>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0b14389a3c461e6.jpg"/>
  <Relationship Id="rId3" Type="http://schemas.openxmlformats.org/officeDocument/2006/relationships/image" Target="../media/image_c861f724646265c2.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5d6d62b9d0087ab.jpg"/>
  <Relationship Id="rId3" Type="http://schemas.openxmlformats.org/officeDocument/2006/relationships/image" Target="../media/image_18d2957b472e10ef.jp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45d0c3ca88e4a0.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pewresearch.org/short-reads/2026/04/09/americans-still-opt-for-print-books-over-digital-or-audio-versions-few-are-in-book-clubs/" TargetMode="External"/>
  <Relationship Id="rId3" Type="http://schemas.openxmlformats.org/officeDocument/2006/relationships/hyperlink" Target="https://www.bls.gov/charts/american-time-use/activity-leisure.htm" TargetMode="External"/>
  <Relationship Id="rId4" Type="http://schemas.openxmlformats.org/officeDocument/2006/relationships/hyperlink" Target="https://www.arts.gov/impact/research/responses-to-the-2022-SPPA/a-time-of-hope-and-worry" TargetMode="External"/>
  <Relationship Id="rId5" Type="http://schemas.openxmlformats.org/officeDocument/2006/relationships/hyperlink" Target="https://literacytrust.org.uk/research-services/research-reports/children-and-young-peoples-reading-in-2025/" TargetMode="External"/>
  <Relationship Id="rId6" Type="http://schemas.openxmlformats.org/officeDocument/2006/relationships/hyperlink" Target="https://www.frontiersin.org/journals/psychiatry/articles/10.3389/fpsyt.2025.1548273/full" TargetMode="External"/>
  <Relationship Id="rId7" Type="http://schemas.openxmlformats.org/officeDocument/2006/relationships/hyperlink" Target="https://aasm.org/americans-are-doomscrolling-at-bedtime-prioritizing-screen-time-over-sleep/" TargetMode="External"/>
  <Relationship Id="rId8" Type="http://schemas.openxmlformats.org/officeDocument/2006/relationships/hyperlink" Target="https://pmc.ncbi.nlm.nih.gov/articles/PMC8740874/" TargetMode="External"/>
  <Relationship Id="rId9" Type="http://schemas.openxmlformats.org/officeDocument/2006/relationships/hyperlink" Target="https://www.bookweb.org/press-and-media" TargetMode="External"/>
  <Relationship Id="rId10"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0" y="0"/>
            <a:ext cx="3771900" cy="6858000"/>
            <a:chOff x="0" y="0"/>
            <a:chExt cx="3771900" cy="6858000"/>
          </a:xfrm>
        </p:grpSpPr>
        <p:pic>
          <p:nvPicPr>
            <p:cNvPr id="2" name="Image 2"/>
            <p:cNvPicPr>
              <a:picLocks noChangeAspect="1"/>
            </p:cNvPicPr>
            <p:nvPr/>
          </p:nvPicPr>
          <p:blipFill>
            <a:blip r:embed="rId2"/>
            <a:srcRect l="0" t="22000" r="76000" b="0"/>
            <a:stretch>
              <a:fillRect/>
            </a:stretch>
          </p:blipFill>
          <p:spPr>
            <a:xfrm>
              <a:off x="0" y="0"/>
              <a:ext cx="3771900" cy="6858000"/>
            </a:xfrm>
            <a:prstGeom prst="rect">
              <a:avLst/>
            </a:prstGeom>
          </p:spPr>
        </p:pic>
        <p:sp>
          <p:nvSpPr>
            <p:cNvPr id="3" name="Rectangle 3"/>
            <p:cNvSpPr/>
            <p:nvPr/>
          </p:nvSpPr>
          <p:spPr>
            <a:xfrm>
              <a:off x="2343150" y="0"/>
              <a:ext cx="1428750" cy="6858000"/>
            </a:xfrm>
            <a:prstGeom prst="rect">
              <a:avLst/>
            </a:prstGeom>
            <a:gradFill>
              <a:gsLst>
                <a:gs pos="0">
                  <a:schemeClr val="lt1">
                    <a:alpha val="0"/>
                  </a:schemeClr>
                </a:gs>
                <a:gs pos="100000">
                  <a:schemeClr val="lt1"/>
                </a:gs>
              </a:gsLst>
              <a:lin ang="0" scaled="1"/>
            </a:gradFill>
            <a:ln>
              <a:noFill/>
            </a:ln>
          </p:spPr>
        </p:sp>
      </p:grpSp>
      <p:grpSp>
        <p:nvGrpSpPr>
          <p:cNvPr id="7" name="Group 7"/>
          <p:cNvGrpSpPr/>
          <p:nvPr/>
        </p:nvGrpSpPr>
        <p:grpSpPr>
          <a:xfrm>
            <a:off x="4457700" y="1638300"/>
            <a:ext cx="1257300" cy="466725"/>
            <a:chOff x="4457700" y="1638300"/>
            <a:chExt cx="1257300" cy="466725"/>
          </a:xfrm>
        </p:grpSpPr>
        <p:sp>
          <p:nvSpPr>
            <p:cNvPr id="5" name="Freeform 5"/>
            <p:cNvSpPr/>
            <p:nvPr/>
          </p:nvSpPr>
          <p:spPr>
            <a:xfrm>
              <a:off x="4457700" y="1638300"/>
              <a:ext cx="342900" cy="438150"/>
            </a:xfrm>
            <a:prstGeom prst="moon">
              <a:avLst/>
            </a:prstGeom>
            <a:solidFill>
              <a:schemeClr val="accent1"/>
            </a:solidFill>
            <a:ln>
              <a:noFill/>
            </a:ln>
          </p:spPr>
        </p:sp>
        <p:sp>
          <p:nvSpPr>
            <p:cNvPr id="6" name="Rectangle 6"/>
            <p:cNvSpPr/>
            <p:nvPr/>
          </p:nvSpPr>
          <p:spPr>
            <a:xfrm>
              <a:off x="4457700" y="2076450"/>
              <a:ext cx="1257300" cy="28575"/>
            </a:xfrm>
            <a:prstGeom prst="rect">
              <a:avLst/>
            </a:prstGeom>
            <a:solidFill>
              <a:schemeClr val="dk1"/>
            </a:solidFill>
            <a:ln>
              <a:noFill/>
            </a:ln>
          </p:spPr>
        </p:sp>
      </p:grpSp>
      <p:grpSp>
        <p:nvGrpSpPr>
          <p:cNvPr id="10" name="Group 10"/>
          <p:cNvGrpSpPr/>
          <p:nvPr/>
        </p:nvGrpSpPr>
        <p:grpSpPr>
          <a:xfrm>
            <a:off x="4438650" y="2367915"/>
            <a:ext cx="6527786" cy="1653730"/>
            <a:chOff x="4438650" y="2367915"/>
            <a:chExt cx="6527786" cy="1653730"/>
          </a:xfrm>
        </p:grpSpPr>
        <p:sp>
          <p:nvSpPr>
            <p:cNvPr id="8" name="TextBox 8"/>
            <p:cNvSpPr txBox="1"/>
            <p:nvPr/>
          </p:nvSpPr>
          <p:spPr>
            <a:xfrm>
              <a:off x="4438650" y="2367915"/>
              <a:ext cx="6527786" cy="1219200"/>
            </a:xfrm>
            <a:prstGeom prst="rect">
              <a:avLst/>
            </a:prstGeom>
            <a:noFill/>
            <a:ln>
              <a:noFill/>
            </a:ln>
          </p:spPr>
          <p:txBody>
            <a:bodyPr wrap="none" lIns="0" tIns="0" rIns="0" bIns="0" anchor="t" anchorCtr="0">
              <a:spAutoFit/>
            </a:bodyPr>
            <a:lstStyle/>
            <a:p>
              <a:pPr algn="l"/>
              <a:r>
                <a:rPr lang="en-US" sz="6300" dirty="0">
                  <a:solidFill>
                    <a:schemeClr val="dk1"/>
                  </a:solidFill>
                  <a:latin typeface="+mj-lt"/>
                  <a:ea typeface="+mj-ea"/>
                  <a:cs typeface="+mj-cs"/>
                </a:rPr>
                <a:t>The Night Shelf</a:t>
              </a:r>
            </a:p>
          </p:txBody>
        </p:sp>
        <p:sp>
          <p:nvSpPr>
            <p:cNvPr id="9" name="TextBox 9"/>
            <p:cNvSpPr txBox="1"/>
            <p:nvPr/>
          </p:nvSpPr>
          <p:spPr>
            <a:xfrm>
              <a:off x="4443222" y="3464242"/>
              <a:ext cx="5667854" cy="557403"/>
            </a:xfrm>
            <a:prstGeom prst="rect">
              <a:avLst/>
            </a:prstGeom>
            <a:noFill/>
            <a:ln>
              <a:noFill/>
            </a:ln>
          </p:spPr>
          <p:txBody>
            <a:bodyPr wrap="none" lIns="0" tIns="0" rIns="0" bIns="0" anchor="t" anchorCtr="0">
              <a:spAutoFit/>
            </a:bodyPr>
            <a:lstStyle/>
            <a:p>
              <a:pPr algn="l"/>
              <a:r>
                <a:rPr lang="en-US" sz="2850" i="1" dirty="0">
                  <a:solidFill>
                    <a:schemeClr val="accent1"/>
                  </a:solidFill>
                  <a:latin typeface="+mj-lt"/>
                  <a:ea typeface="+mj-ea"/>
                  <a:cs typeface="+mj-cs"/>
                </a:rPr>
                <a:t>Give the night back to reading.</a:t>
              </a:r>
            </a:p>
          </p:txBody>
        </p:sp>
      </p:grpSp>
      <p:grpSp>
        <p:nvGrpSpPr>
          <p:cNvPr id="13" name="Group 13"/>
          <p:cNvGrpSpPr/>
          <p:nvPr/>
        </p:nvGrpSpPr>
        <p:grpSpPr>
          <a:xfrm>
            <a:off x="4448556" y="4625340"/>
            <a:ext cx="6057831" cy="1207961"/>
            <a:chOff x="4448556" y="4625340"/>
            <a:chExt cx="6057831" cy="1207961"/>
          </a:xfrm>
        </p:grpSpPr>
        <p:sp>
          <p:nvSpPr>
            <p:cNvPr id="11" name="TextBox 11"/>
            <p:cNvSpPr txBox="1"/>
            <p:nvPr/>
          </p:nvSpPr>
          <p:spPr>
            <a:xfrm>
              <a:off x="4448556" y="4625340"/>
              <a:ext cx="475913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Fog &amp; Fern Books — late autumn campaign</a:t>
              </a:r>
            </a:p>
          </p:txBody>
        </p:sp>
        <p:sp>
          <p:nvSpPr>
            <p:cNvPr id="12" name="TextBox 12"/>
            <p:cNvSpPr txBox="1"/>
            <p:nvPr/>
          </p:nvSpPr>
          <p:spPr>
            <a:xfrm>
              <a:off x="4450842" y="5321618"/>
              <a:ext cx="6055545"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Example pitch. Fog &amp; Fern Books, its figures, constraints and this campaign are</a:t>
              </a:r>
              <a:br/>
              <a:r>
                <a:rPr lang="en-US" sz="1350" dirty="0">
                  <a:solidFill>
                    <a:schemeClr val="accent5"/>
                  </a:solidFill>
                  <a:latin typeface="+mn-lt"/>
                  <a:ea typeface="+mn-ea"/>
                  <a:cs typeface="+mn-cs"/>
                </a:rPr>
                <a:t>fictional; every research finding cited is real and sourced.</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700"/>
                                        <p:tgtEl>
                                          <p:spTgt spid="10"/>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7512" y="678180"/>
            <a:ext cx="6806251" cy="704088"/>
            <a:chOff x="667512" y="678180"/>
            <a:chExt cx="6806251" cy="704088"/>
          </a:xfrm>
        </p:grpSpPr>
        <p:sp>
          <p:nvSpPr>
            <p:cNvPr id="2" name="TextBox 2"/>
            <p:cNvSpPr txBox="1"/>
            <p:nvPr/>
          </p:nvSpPr>
          <p:spPr>
            <a:xfrm>
              <a:off x="667512" y="678180"/>
              <a:ext cx="6806251"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There are sixteen minutes left</a:t>
              </a:r>
            </a:p>
          </p:txBody>
        </p:sp>
      </p:grpSp>
      <p:grpSp>
        <p:nvGrpSpPr>
          <p:cNvPr id="8" name="Group 8"/>
          <p:cNvGrpSpPr/>
          <p:nvPr/>
        </p:nvGrpSpPr>
        <p:grpSpPr>
          <a:xfrm>
            <a:off x="8115300" y="872490"/>
            <a:ext cx="2811249" cy="352044"/>
            <a:chOff x="8115300" y="872490"/>
            <a:chExt cx="2811249" cy="352044"/>
          </a:xfrm>
        </p:grpSpPr>
        <p:sp>
          <p:nvSpPr>
            <p:cNvPr id="4" name="Rectangle 4"/>
            <p:cNvSpPr/>
            <p:nvPr/>
          </p:nvSpPr>
          <p:spPr>
            <a:xfrm>
              <a:off x="8115300" y="914400"/>
              <a:ext cx="190500" cy="190500"/>
            </a:xfrm>
            <a:prstGeom prst="rect">
              <a:avLst/>
            </a:prstGeom>
            <a:solidFill>
              <a:schemeClr val="accent1"/>
            </a:solidFill>
            <a:ln>
              <a:noFill/>
            </a:ln>
          </p:spPr>
        </p:sp>
        <p:sp>
          <p:nvSpPr>
            <p:cNvPr id="5" name="TextBox 5"/>
            <p:cNvSpPr txBox="1"/>
            <p:nvPr/>
          </p:nvSpPr>
          <p:spPr>
            <a:xfrm>
              <a:off x="8410956" y="872490"/>
              <a:ext cx="92831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Reading</a:t>
              </a:r>
            </a:p>
          </p:txBody>
        </p:sp>
        <p:sp>
          <p:nvSpPr>
            <p:cNvPr id="6" name="Rectangle 6"/>
            <p:cNvSpPr/>
            <p:nvPr/>
          </p:nvSpPr>
          <p:spPr>
            <a:xfrm>
              <a:off x="9515475" y="914400"/>
              <a:ext cx="190500" cy="190500"/>
            </a:xfrm>
            <a:prstGeom prst="rect">
              <a:avLst/>
            </a:prstGeom>
            <a:solidFill>
              <a:schemeClr val="accent3"/>
            </a:solidFill>
            <a:ln>
              <a:noFill/>
            </a:ln>
          </p:spPr>
        </p:sp>
        <p:sp>
          <p:nvSpPr>
            <p:cNvPr id="7" name="TextBox 7"/>
            <p:cNvSpPr txBox="1"/>
            <p:nvPr/>
          </p:nvSpPr>
          <p:spPr>
            <a:xfrm>
              <a:off x="9811131" y="872490"/>
              <a:ext cx="111541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Television</a:t>
              </a:r>
            </a:p>
          </p:txBody>
        </p:sp>
      </p:grpSp>
      <p:grpSp>
        <p:nvGrpSpPr>
          <p:cNvPr id="13" name="Group 13"/>
          <p:cNvGrpSpPr/>
          <p:nvPr/>
        </p:nvGrpSpPr>
        <p:grpSpPr>
          <a:xfrm>
            <a:off x="666750" y="1356360"/>
            <a:ext cx="7536595" cy="1390650"/>
            <a:chOff x="666750" y="1356360"/>
            <a:chExt cx="7536595" cy="1390650"/>
          </a:xfrm>
        </p:grpSpPr>
        <p:sp>
          <p:nvSpPr>
            <p:cNvPr id="9" name="TextBox 9"/>
            <p:cNvSpPr txBox="1"/>
            <p:nvPr/>
          </p:nvSpPr>
          <p:spPr>
            <a:xfrm>
              <a:off x="666750" y="1356360"/>
              <a:ext cx="3108728"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n-lt"/>
                  <a:ea typeface="+mn-ea"/>
                  <a:cs typeface="+mn-cs"/>
                </a:rPr>
                <a:t>16 min</a:t>
              </a:r>
            </a:p>
          </p:txBody>
        </p:sp>
        <p:sp>
          <p:nvSpPr>
            <p:cNvPr id="10" name="TextBox 10"/>
            <p:cNvSpPr txBox="1"/>
            <p:nvPr/>
          </p:nvSpPr>
          <p:spPr>
            <a:xfrm>
              <a:off x="676656" y="2263140"/>
              <a:ext cx="1769603"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reading, per day</a:t>
              </a:r>
            </a:p>
          </p:txBody>
        </p:sp>
        <p:sp>
          <p:nvSpPr>
            <p:cNvPr id="11" name="TextBox 11"/>
            <p:cNvSpPr txBox="1"/>
            <p:nvPr/>
          </p:nvSpPr>
          <p:spPr>
            <a:xfrm>
              <a:off x="4286250" y="1356360"/>
              <a:ext cx="3917095" cy="1390650"/>
            </a:xfrm>
            <a:prstGeom prst="rect">
              <a:avLst/>
            </a:prstGeom>
            <a:noFill/>
            <a:ln>
              <a:noFill/>
            </a:ln>
          </p:spPr>
          <p:txBody>
            <a:bodyPr wrap="none" lIns="0" tIns="0" rIns="0" bIns="0" anchor="t" anchorCtr="0">
              <a:spAutoFit/>
            </a:bodyPr>
            <a:lstStyle/>
            <a:p>
              <a:pPr algn="l"/>
              <a:r>
                <a:rPr lang="en-US" sz="7200" b="1" dirty="0">
                  <a:solidFill>
                    <a:schemeClr val="accent3"/>
                  </a:solidFill>
                  <a:latin typeface="+mn-lt"/>
                  <a:ea typeface="+mn-ea"/>
                  <a:cs typeface="+mn-cs"/>
                </a:rPr>
                <a:t>2 h 37 m</a:t>
              </a:r>
            </a:p>
          </p:txBody>
        </p:sp>
        <p:sp>
          <p:nvSpPr>
            <p:cNvPr id="12" name="TextBox 12"/>
            <p:cNvSpPr txBox="1"/>
            <p:nvPr/>
          </p:nvSpPr>
          <p:spPr>
            <a:xfrm>
              <a:off x="4296156" y="2263140"/>
              <a:ext cx="197145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mn-lt"/>
                  <a:ea typeface="+mn-ea"/>
                  <a:cs typeface="+mn-cs"/>
                </a:rPr>
                <a:t>television, per day</a:t>
              </a:r>
            </a:p>
          </p:txBody>
        </p:sp>
      </p:grpSp>
      <p:grpSp>
        <p:nvGrpSpPr>
          <p:cNvPr id="46" name="Group 46"/>
          <p:cNvGrpSpPr/>
          <p:nvPr/>
        </p:nvGrpSpPr>
        <p:grpSpPr>
          <a:xfrm>
            <a:off x="1485900" y="2845118"/>
            <a:ext cx="9715500" cy="3141916"/>
            <a:chOff x="1485900" y="2845118"/>
            <a:chExt cx="9715500" cy="3141916"/>
          </a:xfrm>
        </p:grpSpPr>
        <p:grpSp>
          <p:nvGrpSpPr>
            <p:cNvPr id="45" name="Group 45"/>
            <p:cNvGrpSpPr/>
            <p:nvPr/>
          </p:nvGrpSpPr>
          <p:grpSpPr>
            <a:xfrm>
              <a:off x="1485900" y="2845118"/>
              <a:ext cx="9715500" cy="3141916"/>
              <a:chOff x="1485900" y="2845118"/>
              <a:chExt cx="9715500" cy="3141916"/>
            </a:xfrm>
          </p:grpSpPr>
          <p:sp>
            <p:nvSpPr>
              <p:cNvPr id="14" name="Line 14"/>
              <p:cNvSpPr/>
              <p:nvPr/>
            </p:nvSpPr>
            <p:spPr>
              <a:xfrm>
                <a:off x="1485900" y="5524500"/>
                <a:ext cx="9715500" cy="9525"/>
              </a:xfrm>
              <a:custGeom>
                <a:avLst/>
                <a:gdLst/>
                <a:ahLst/>
                <a:cxnLst/>
                <a:rect l="l" t="t" r="r" b="b"/>
                <a:pathLst>
                  <a:path w="9715500" h="9525">
                    <a:moveTo>
                      <a:pt x="0" y="0"/>
                    </a:moveTo>
                    <a:lnTo>
                      <a:pt x="9715500" y="0"/>
                    </a:lnTo>
                  </a:path>
                </a:pathLst>
              </a:custGeom>
              <a:noFill/>
              <a:ln w="9525">
                <a:solidFill>
                  <a:srgbClr val="3A3A40"/>
                </a:solidFill>
              </a:ln>
            </p:spPr>
          </p:sp>
          <p:sp>
            <p:nvSpPr>
              <p:cNvPr id="15" name="Rectangle 15"/>
              <p:cNvSpPr/>
              <p:nvPr/>
            </p:nvSpPr>
            <p:spPr>
              <a:xfrm>
                <a:off x="1819275" y="5429250"/>
                <a:ext cx="476250" cy="95250"/>
              </a:xfrm>
              <a:prstGeom prst="rect">
                <a:avLst/>
              </a:prstGeom>
              <a:solidFill>
                <a:schemeClr val="accent1"/>
              </a:solidFill>
              <a:ln>
                <a:noFill/>
              </a:ln>
            </p:spPr>
          </p:sp>
          <p:sp>
            <p:nvSpPr>
              <p:cNvPr id="16" name="Rectangle 16"/>
              <p:cNvSpPr/>
              <p:nvPr/>
            </p:nvSpPr>
            <p:spPr>
              <a:xfrm>
                <a:off x="2295525" y="4514850"/>
                <a:ext cx="476250" cy="1009650"/>
              </a:xfrm>
              <a:prstGeom prst="rect">
                <a:avLst/>
              </a:prstGeom>
              <a:solidFill>
                <a:schemeClr val="accent3"/>
              </a:solidFill>
              <a:ln>
                <a:noFill/>
              </a:ln>
            </p:spPr>
          </p:sp>
          <p:sp>
            <p:nvSpPr>
              <p:cNvPr id="17" name="Rectangle 17"/>
              <p:cNvSpPr/>
              <p:nvPr/>
            </p:nvSpPr>
            <p:spPr>
              <a:xfrm>
                <a:off x="3438525" y="5429250"/>
                <a:ext cx="476250" cy="95250"/>
              </a:xfrm>
              <a:prstGeom prst="rect">
                <a:avLst/>
              </a:prstGeom>
              <a:solidFill>
                <a:schemeClr val="accent1"/>
              </a:solidFill>
              <a:ln>
                <a:noFill/>
              </a:ln>
            </p:spPr>
          </p:sp>
          <p:sp>
            <p:nvSpPr>
              <p:cNvPr id="18" name="Rectangle 18"/>
              <p:cNvSpPr/>
              <p:nvPr/>
            </p:nvSpPr>
            <p:spPr>
              <a:xfrm>
                <a:off x="3914775" y="4448175"/>
                <a:ext cx="476250" cy="1076325"/>
              </a:xfrm>
              <a:prstGeom prst="rect">
                <a:avLst/>
              </a:prstGeom>
              <a:solidFill>
                <a:schemeClr val="accent3"/>
              </a:solidFill>
              <a:ln>
                <a:noFill/>
              </a:ln>
            </p:spPr>
          </p:sp>
          <p:sp>
            <p:nvSpPr>
              <p:cNvPr id="19" name="Rectangle 19"/>
              <p:cNvSpPr/>
              <p:nvPr/>
            </p:nvSpPr>
            <p:spPr>
              <a:xfrm>
                <a:off x="5057775" y="5400675"/>
                <a:ext cx="476250" cy="123825"/>
              </a:xfrm>
              <a:prstGeom prst="rect">
                <a:avLst/>
              </a:prstGeom>
              <a:solidFill>
                <a:schemeClr val="accent1"/>
              </a:solidFill>
              <a:ln>
                <a:noFill/>
              </a:ln>
            </p:spPr>
          </p:sp>
          <p:sp>
            <p:nvSpPr>
              <p:cNvPr id="20" name="Rectangle 20"/>
              <p:cNvSpPr/>
              <p:nvPr/>
            </p:nvSpPr>
            <p:spPr>
              <a:xfrm>
                <a:off x="5534025" y="4514850"/>
                <a:ext cx="476250" cy="1009650"/>
              </a:xfrm>
              <a:prstGeom prst="rect">
                <a:avLst/>
              </a:prstGeom>
              <a:solidFill>
                <a:schemeClr val="accent3"/>
              </a:solidFill>
              <a:ln>
                <a:noFill/>
              </a:ln>
            </p:spPr>
          </p:sp>
          <p:sp>
            <p:nvSpPr>
              <p:cNvPr id="21" name="Rectangle 21"/>
              <p:cNvSpPr/>
              <p:nvPr/>
            </p:nvSpPr>
            <p:spPr>
              <a:xfrm>
                <a:off x="6677025" y="5400675"/>
                <a:ext cx="476250" cy="123825"/>
              </a:xfrm>
              <a:prstGeom prst="rect">
                <a:avLst/>
              </a:prstGeom>
              <a:solidFill>
                <a:schemeClr val="accent1"/>
              </a:solidFill>
              <a:ln>
                <a:noFill/>
              </a:ln>
            </p:spPr>
          </p:sp>
          <p:sp>
            <p:nvSpPr>
              <p:cNvPr id="22" name="Rectangle 22"/>
              <p:cNvSpPr/>
              <p:nvPr/>
            </p:nvSpPr>
            <p:spPr>
              <a:xfrm>
                <a:off x="7153275" y="4229100"/>
                <a:ext cx="476250" cy="1295400"/>
              </a:xfrm>
              <a:prstGeom prst="rect">
                <a:avLst/>
              </a:prstGeom>
              <a:solidFill>
                <a:schemeClr val="accent3"/>
              </a:solidFill>
              <a:ln>
                <a:noFill/>
              </a:ln>
            </p:spPr>
          </p:sp>
          <p:sp>
            <p:nvSpPr>
              <p:cNvPr id="23" name="Rectangle 23"/>
              <p:cNvSpPr/>
              <p:nvPr/>
            </p:nvSpPr>
            <p:spPr>
              <a:xfrm>
                <a:off x="8296275" y="5400675"/>
                <a:ext cx="476250" cy="123825"/>
              </a:xfrm>
              <a:prstGeom prst="rect">
                <a:avLst/>
              </a:prstGeom>
              <a:solidFill>
                <a:schemeClr val="accent1"/>
              </a:solidFill>
              <a:ln>
                <a:noFill/>
              </a:ln>
            </p:spPr>
          </p:sp>
          <p:sp>
            <p:nvSpPr>
              <p:cNvPr id="24" name="Rectangle 24"/>
              <p:cNvSpPr/>
              <p:nvPr/>
            </p:nvSpPr>
            <p:spPr>
              <a:xfrm>
                <a:off x="8772525" y="3771900"/>
                <a:ext cx="476250" cy="1752600"/>
              </a:xfrm>
              <a:prstGeom prst="rect">
                <a:avLst/>
              </a:prstGeom>
              <a:solidFill>
                <a:schemeClr val="accent3"/>
              </a:solidFill>
              <a:ln>
                <a:noFill/>
              </a:ln>
            </p:spPr>
          </p:sp>
          <p:sp>
            <p:nvSpPr>
              <p:cNvPr id="25" name="Rectangle 25"/>
              <p:cNvSpPr/>
              <p:nvPr/>
            </p:nvSpPr>
            <p:spPr>
              <a:xfrm>
                <a:off x="9915525" y="5219700"/>
                <a:ext cx="476250" cy="304800"/>
              </a:xfrm>
              <a:prstGeom prst="rect">
                <a:avLst/>
              </a:prstGeom>
              <a:solidFill>
                <a:schemeClr val="accent1"/>
              </a:solidFill>
              <a:ln>
                <a:noFill/>
              </a:ln>
            </p:spPr>
          </p:sp>
          <p:sp>
            <p:nvSpPr>
              <p:cNvPr id="26" name="Rectangle 26"/>
              <p:cNvSpPr/>
              <p:nvPr/>
            </p:nvSpPr>
            <p:spPr>
              <a:xfrm>
                <a:off x="10391775" y="3067050"/>
                <a:ext cx="476250" cy="2457450"/>
              </a:xfrm>
              <a:prstGeom prst="rect">
                <a:avLst/>
              </a:prstGeom>
              <a:solidFill>
                <a:schemeClr val="accent3"/>
              </a:solidFill>
              <a:ln>
                <a:noFill/>
              </a:ln>
            </p:spPr>
          </p:sp>
          <p:sp>
            <p:nvSpPr>
              <p:cNvPr id="27" name="TextBox 27"/>
              <p:cNvSpPr txBox="1"/>
              <p:nvPr/>
            </p:nvSpPr>
            <p:spPr>
              <a:xfrm>
                <a:off x="1949460" y="5207318"/>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a:t>
                </a:r>
              </a:p>
            </p:txBody>
          </p:sp>
          <p:sp>
            <p:nvSpPr>
              <p:cNvPr id="28" name="TextBox 28"/>
              <p:cNvSpPr txBox="1"/>
              <p:nvPr/>
            </p:nvSpPr>
            <p:spPr>
              <a:xfrm>
                <a:off x="2375169" y="4292918"/>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106</a:t>
                </a:r>
              </a:p>
            </p:txBody>
          </p:sp>
          <p:sp>
            <p:nvSpPr>
              <p:cNvPr id="29" name="TextBox 29"/>
              <p:cNvSpPr txBox="1"/>
              <p:nvPr/>
            </p:nvSpPr>
            <p:spPr>
              <a:xfrm>
                <a:off x="3568710" y="5207318"/>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a:t>
                </a:r>
              </a:p>
            </p:txBody>
          </p:sp>
          <p:sp>
            <p:nvSpPr>
              <p:cNvPr id="30" name="TextBox 30"/>
              <p:cNvSpPr txBox="1"/>
              <p:nvPr/>
            </p:nvSpPr>
            <p:spPr>
              <a:xfrm>
                <a:off x="3994419" y="4226242"/>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113</a:t>
                </a:r>
              </a:p>
            </p:txBody>
          </p:sp>
          <p:sp>
            <p:nvSpPr>
              <p:cNvPr id="31" name="TextBox 31"/>
              <p:cNvSpPr txBox="1"/>
              <p:nvPr/>
            </p:nvSpPr>
            <p:spPr>
              <a:xfrm>
                <a:off x="5187960" y="5178742"/>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13</a:t>
                </a:r>
              </a:p>
            </p:txBody>
          </p:sp>
          <p:sp>
            <p:nvSpPr>
              <p:cNvPr id="32" name="TextBox 32"/>
              <p:cNvSpPr txBox="1"/>
              <p:nvPr/>
            </p:nvSpPr>
            <p:spPr>
              <a:xfrm>
                <a:off x="5613669" y="4292918"/>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106</a:t>
                </a:r>
              </a:p>
            </p:txBody>
          </p:sp>
          <p:sp>
            <p:nvSpPr>
              <p:cNvPr id="33" name="TextBox 33"/>
              <p:cNvSpPr txBox="1"/>
              <p:nvPr/>
            </p:nvSpPr>
            <p:spPr>
              <a:xfrm>
                <a:off x="6807210" y="5178742"/>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13</a:t>
                </a:r>
              </a:p>
            </p:txBody>
          </p:sp>
          <p:sp>
            <p:nvSpPr>
              <p:cNvPr id="34" name="TextBox 34"/>
              <p:cNvSpPr txBox="1"/>
              <p:nvPr/>
            </p:nvSpPr>
            <p:spPr>
              <a:xfrm>
                <a:off x="7232919" y="4007168"/>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136</a:t>
                </a:r>
              </a:p>
            </p:txBody>
          </p:sp>
          <p:sp>
            <p:nvSpPr>
              <p:cNvPr id="35" name="TextBox 35"/>
              <p:cNvSpPr txBox="1"/>
              <p:nvPr/>
            </p:nvSpPr>
            <p:spPr>
              <a:xfrm>
                <a:off x="8426460" y="5178742"/>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13</a:t>
                </a:r>
              </a:p>
            </p:txBody>
          </p:sp>
          <p:sp>
            <p:nvSpPr>
              <p:cNvPr id="36" name="TextBox 36"/>
              <p:cNvSpPr txBox="1"/>
              <p:nvPr/>
            </p:nvSpPr>
            <p:spPr>
              <a:xfrm>
                <a:off x="8852169" y="3549968"/>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184</a:t>
                </a:r>
              </a:p>
            </p:txBody>
          </p:sp>
          <p:sp>
            <p:nvSpPr>
              <p:cNvPr id="37" name="TextBox 37"/>
              <p:cNvSpPr txBox="1"/>
              <p:nvPr/>
            </p:nvSpPr>
            <p:spPr>
              <a:xfrm>
                <a:off x="10045710" y="4997768"/>
                <a:ext cx="21588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32</a:t>
                </a:r>
              </a:p>
            </p:txBody>
          </p:sp>
          <p:sp>
            <p:nvSpPr>
              <p:cNvPr id="38" name="TextBox 38"/>
              <p:cNvSpPr txBox="1"/>
              <p:nvPr/>
            </p:nvSpPr>
            <p:spPr>
              <a:xfrm>
                <a:off x="10471419" y="2845118"/>
                <a:ext cx="31696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258</a:t>
                </a:r>
              </a:p>
            </p:txBody>
          </p:sp>
          <p:sp>
            <p:nvSpPr>
              <p:cNvPr id="39" name="TextBox 39"/>
              <p:cNvSpPr txBox="1"/>
              <p:nvPr/>
            </p:nvSpPr>
            <p:spPr>
              <a:xfrm>
                <a:off x="1949441" y="5634990"/>
                <a:ext cx="692169"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15–24</a:t>
                </a:r>
              </a:p>
            </p:txBody>
          </p:sp>
          <p:sp>
            <p:nvSpPr>
              <p:cNvPr id="40" name="TextBox 40"/>
              <p:cNvSpPr txBox="1"/>
              <p:nvPr/>
            </p:nvSpPr>
            <p:spPr>
              <a:xfrm>
                <a:off x="3568691" y="5634990"/>
                <a:ext cx="692169"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25–34</a:t>
                </a:r>
              </a:p>
            </p:txBody>
          </p:sp>
          <p:sp>
            <p:nvSpPr>
              <p:cNvPr id="41" name="TextBox 41"/>
              <p:cNvSpPr txBox="1"/>
              <p:nvPr/>
            </p:nvSpPr>
            <p:spPr>
              <a:xfrm>
                <a:off x="5187941" y="5634990"/>
                <a:ext cx="692169"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35–44</a:t>
                </a:r>
              </a:p>
            </p:txBody>
          </p:sp>
          <p:sp>
            <p:nvSpPr>
              <p:cNvPr id="42" name="TextBox 42"/>
              <p:cNvSpPr txBox="1"/>
              <p:nvPr/>
            </p:nvSpPr>
            <p:spPr>
              <a:xfrm>
                <a:off x="6807191" y="5634990"/>
                <a:ext cx="692169"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45–54</a:t>
                </a:r>
              </a:p>
            </p:txBody>
          </p:sp>
          <p:sp>
            <p:nvSpPr>
              <p:cNvPr id="43" name="TextBox 43"/>
              <p:cNvSpPr txBox="1"/>
              <p:nvPr/>
            </p:nvSpPr>
            <p:spPr>
              <a:xfrm>
                <a:off x="8426441" y="5634990"/>
                <a:ext cx="692169"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55–64</a:t>
                </a:r>
              </a:p>
            </p:txBody>
          </p:sp>
          <p:sp>
            <p:nvSpPr>
              <p:cNvPr id="44" name="TextBox 44"/>
              <p:cNvSpPr txBox="1"/>
              <p:nvPr/>
            </p:nvSpPr>
            <p:spPr>
              <a:xfrm>
                <a:off x="10177099" y="5634990"/>
                <a:ext cx="429353" cy="352044"/>
              </a:xfrm>
              <a:prstGeom prst="rect">
                <a:avLst/>
              </a:prstGeom>
              <a:noFill/>
              <a:ln>
                <a:noFill/>
              </a:ln>
            </p:spPr>
            <p:txBody>
              <a:bodyPr wrap="none" lIns="0" tIns="0" rIns="0" bIns="0" anchor="t" anchorCtr="0">
                <a:spAutoFit/>
              </a:bodyPr>
              <a:lstStyle/>
              <a:p>
                <a:pPr algn="ctr"/>
                <a:r>
                  <a:rPr lang="en-US" sz="1800" dirty="0">
                    <a:solidFill>
                      <a:schemeClr val="accent5"/>
                    </a:solidFill>
                    <a:latin typeface="+mn-lt"/>
                    <a:ea typeface="+mn-ea"/>
                    <a:cs typeface="+mn-cs"/>
                  </a:rPr>
                  <a:t>65+</a:t>
                </a:r>
              </a:p>
            </p:txBody>
          </p:sp>
        </p:grpSp>
      </p:grpSp>
      <p:grpSp>
        <p:nvGrpSpPr>
          <p:cNvPr id="48" name="Group 48"/>
          <p:cNvGrpSpPr/>
          <p:nvPr/>
        </p:nvGrpSpPr>
        <p:grpSpPr>
          <a:xfrm>
            <a:off x="676656" y="6035040"/>
            <a:ext cx="9966611" cy="352044"/>
            <a:chOff x="676656" y="6035040"/>
            <a:chExt cx="9966611" cy="352044"/>
          </a:xfrm>
        </p:grpSpPr>
        <p:sp>
          <p:nvSpPr>
            <p:cNvPr id="47" name="TextBox 47"/>
            <p:cNvSpPr txBox="1"/>
            <p:nvPr/>
          </p:nvSpPr>
          <p:spPr>
            <a:xfrm>
              <a:off x="676656" y="6035040"/>
              <a:ext cx="996661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The youngest band reads for ten minutes a day and watches television for one hour forty-six.</a:t>
              </a:r>
            </a:p>
          </p:txBody>
        </p:sp>
      </p:grpSp>
      <p:grpSp>
        <p:nvGrpSpPr>
          <p:cNvPr id="50" name="Group 50"/>
          <p:cNvGrpSpPr/>
          <p:nvPr/>
        </p:nvGrpSpPr>
        <p:grpSpPr>
          <a:xfrm>
            <a:off x="678942" y="6426518"/>
            <a:ext cx="9862843" cy="264033"/>
            <a:chOff x="678942" y="6426518"/>
            <a:chExt cx="9862843" cy="264033"/>
          </a:xfrm>
        </p:grpSpPr>
        <p:sp>
          <p:nvSpPr>
            <p:cNvPr id="49" name="TextBox 49"/>
            <p:cNvSpPr txBox="1"/>
            <p:nvPr/>
          </p:nvSpPr>
          <p:spPr>
            <a:xfrm>
              <a:off x="678942" y="6426518"/>
              <a:ext cx="986284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US Bureau of Labor Statistics, American Time Use Survey, 2025 annual averages. Published hours converted to minutes.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600"/>
                                        <p:tgtEl>
                                          <p:spTgt spid="13"/>
                                        </p:tgtEl>
                                      </p:cBhvr>
                                    </p:animEffect>
                                  </p:childTnLst>
                                </p:cTn>
                              </p:par>
                            </p:childTnLst>
                          </p:cTn>
                        </p:par>
                        <p:par>
                          <p:cTn id="12" fill="hold">
                            <p:stCondLst>
                              <p:cond delay="12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7512" y="678180"/>
            <a:ext cx="6750880" cy="704088"/>
            <a:chOff x="667512" y="678180"/>
            <a:chExt cx="6750880" cy="704088"/>
          </a:xfrm>
        </p:grpSpPr>
        <p:sp>
          <p:nvSpPr>
            <p:cNvPr id="2" name="TextBox 2"/>
            <p:cNvSpPr txBox="1"/>
            <p:nvPr/>
          </p:nvSpPr>
          <p:spPr>
            <a:xfrm>
              <a:off x="667512" y="678180"/>
              <a:ext cx="6750880"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The last hour is already taken</a:t>
              </a:r>
            </a:p>
          </p:txBody>
        </p:sp>
      </p:grpSp>
      <p:grpSp>
        <p:nvGrpSpPr>
          <p:cNvPr id="5" name="Group 5"/>
          <p:cNvGrpSpPr/>
          <p:nvPr/>
        </p:nvGrpSpPr>
        <p:grpSpPr>
          <a:xfrm>
            <a:off x="10001250" y="571500"/>
            <a:ext cx="1238250" cy="1381125"/>
            <a:chOff x="10001250" y="571500"/>
            <a:chExt cx="1238250" cy="1381125"/>
          </a:xfrm>
        </p:grpSpPr>
        <p:pic>
          <p:nvPicPr>
            <p:cNvPr id="4" name="Image 4"/>
            <p:cNvPicPr>
              <a:picLocks noChangeAspect="1"/>
            </p:cNvPicPr>
            <p:nvPr/>
          </p:nvPicPr>
          <p:blipFill>
            <a:blip r:embed="rId2"/>
            <a:stretch>
              <a:fillRect/>
            </a:stretch>
          </p:blipFill>
          <p:spPr>
            <a:xfrm>
              <a:off x="10001250" y="571500"/>
              <a:ext cx="1238250" cy="1381125"/>
            </a:xfrm>
            <a:prstGeom prst="rect">
              <a:avLst/>
            </a:prstGeom>
          </p:spPr>
        </p:pic>
      </p:grpSp>
      <p:grpSp>
        <p:nvGrpSpPr>
          <p:cNvPr id="9" name="Group 9"/>
          <p:cNvGrpSpPr/>
          <p:nvPr/>
        </p:nvGrpSpPr>
        <p:grpSpPr>
          <a:xfrm>
            <a:off x="672084" y="1743075"/>
            <a:ext cx="8967216" cy="1406842"/>
            <a:chOff x="672084" y="1743075"/>
            <a:chExt cx="8967216" cy="1406842"/>
          </a:xfrm>
        </p:grpSpPr>
        <p:sp>
          <p:nvSpPr>
            <p:cNvPr id="6" name="Line 6"/>
            <p:cNvSpPr/>
            <p:nvPr/>
          </p:nvSpPr>
          <p:spPr>
            <a:xfrm>
              <a:off x="685800" y="1743075"/>
              <a:ext cx="8953500" cy="9525"/>
            </a:xfrm>
            <a:custGeom>
              <a:avLst/>
              <a:gdLst/>
              <a:ahLst/>
              <a:cxnLst/>
              <a:rect l="l" t="t" r="r" b="b"/>
              <a:pathLst>
                <a:path w="8953500" h="9525">
                  <a:moveTo>
                    <a:pt x="0" y="0"/>
                  </a:moveTo>
                  <a:lnTo>
                    <a:pt x="8953500" y="0"/>
                  </a:lnTo>
                </a:path>
              </a:pathLst>
            </a:custGeom>
            <a:noFill/>
            <a:ln w="9525">
              <a:solidFill>
                <a:schemeClr val="accent6"/>
              </a:solidFill>
            </a:ln>
          </p:spPr>
        </p:sp>
        <p:sp>
          <p:nvSpPr>
            <p:cNvPr id="7" name="TextBox 7"/>
            <p:cNvSpPr txBox="1"/>
            <p:nvPr/>
          </p:nvSpPr>
          <p:spPr>
            <a:xfrm>
              <a:off x="672084" y="1823085"/>
              <a:ext cx="816037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Half of adults are on a screen in bed every day.</a:t>
              </a:r>
            </a:p>
          </p:txBody>
        </p:sp>
        <p:sp>
          <p:nvSpPr>
            <p:cNvPr id="8" name="TextBox 8"/>
            <p:cNvSpPr txBox="1"/>
            <p:nvPr/>
          </p:nvSpPr>
          <p:spPr>
            <a:xfrm>
              <a:off x="674370" y="2328862"/>
              <a:ext cx="7583291" cy="821055"/>
            </a:xfrm>
            <a:prstGeom prst="rect">
              <a:avLst/>
            </a:prstGeom>
            <a:noFill/>
            <a:ln>
              <a:noFill/>
            </a:ln>
          </p:spPr>
          <p:txBody>
            <a:bodyPr wrap="none" lIns="0" tIns="0" rIns="0" bIns="0" anchor="t" anchorCtr="0">
              <a:spAutoFit/>
            </a:bodyPr>
            <a:lstStyle/>
            <a:p>
              <a:pPr algn="l">
                <a:lnSpc>
                  <a:spcPts val="3000"/>
                </a:lnSpc>
              </a:pPr>
              <a:r>
                <a:rPr lang="en-US" sz="2250" dirty="0">
                  <a:solidFill>
                    <a:schemeClr val="dk1"/>
                  </a:solidFill>
                  <a:latin typeface="+mn-lt"/>
                  <a:ea typeface="+mn-ea"/>
                  <a:cs typeface="+mn-cs"/>
                </a:rPr>
                <a:t>Another third are there most days or several days a week; a</a:t>
              </a:r>
              <a:br/>
              <a:r>
                <a:rPr lang="en-US" sz="2250" dirty="0">
                  <a:solidFill>
                    <a:schemeClr val="dk1"/>
                  </a:solidFill>
                  <a:latin typeface="+mn-lt"/>
                  <a:ea typeface="+mn-ea"/>
                  <a:cs typeface="+mn-cs"/>
                </a:rPr>
                <a:t>quarter choose the phone over sleep.</a:t>
              </a:r>
            </a:p>
          </p:txBody>
        </p:sp>
      </p:grpSp>
      <p:grpSp>
        <p:nvGrpSpPr>
          <p:cNvPr id="13" name="Group 13"/>
          <p:cNvGrpSpPr/>
          <p:nvPr/>
        </p:nvGrpSpPr>
        <p:grpSpPr>
          <a:xfrm>
            <a:off x="672084" y="3267075"/>
            <a:ext cx="8967216" cy="1406842"/>
            <a:chOff x="672084" y="3267075"/>
            <a:chExt cx="8967216" cy="1406842"/>
          </a:xfrm>
        </p:grpSpPr>
        <p:sp>
          <p:nvSpPr>
            <p:cNvPr id="10" name="Line 10"/>
            <p:cNvSpPr/>
            <p:nvPr/>
          </p:nvSpPr>
          <p:spPr>
            <a:xfrm>
              <a:off x="685800" y="3267075"/>
              <a:ext cx="8953500" cy="9525"/>
            </a:xfrm>
            <a:custGeom>
              <a:avLst/>
              <a:gdLst/>
              <a:ahLst/>
              <a:cxnLst/>
              <a:rect l="l" t="t" r="r" b="b"/>
              <a:pathLst>
                <a:path w="8953500" h="9525">
                  <a:moveTo>
                    <a:pt x="0" y="0"/>
                  </a:moveTo>
                  <a:lnTo>
                    <a:pt x="8953500" y="0"/>
                  </a:lnTo>
                </a:path>
              </a:pathLst>
            </a:custGeom>
            <a:noFill/>
            <a:ln w="9525">
              <a:solidFill>
                <a:schemeClr val="accent6"/>
              </a:solidFill>
            </a:ln>
          </p:spPr>
        </p:sp>
        <p:sp>
          <p:nvSpPr>
            <p:cNvPr id="11" name="TextBox 11"/>
            <p:cNvSpPr txBox="1"/>
            <p:nvPr/>
          </p:nvSpPr>
          <p:spPr>
            <a:xfrm>
              <a:off x="672084" y="3347085"/>
              <a:ext cx="8180231" cy="528066"/>
            </a:xfrm>
            <a:prstGeom prst="rect">
              <a:avLst/>
            </a:prstGeom>
            <a:noFill/>
            <a:ln>
              <a:noFill/>
            </a:ln>
          </p:spPr>
          <p:txBody>
            <a:bodyPr wrap="none" lIns="0" tIns="0" rIns="0" bIns="0" anchor="t" anchorCtr="0">
              <a:spAutoFit/>
            </a:bodyPr>
            <a:lstStyle/>
            <a:p>
              <a:pPr algn="l"/>
              <a:r>
                <a:rPr lang="en-US" sz="2700" b="1" dirty="0">
                  <a:solidFill>
                    <a:schemeClr val="accent3"/>
                  </a:solidFill>
                  <a:latin typeface="+mn-lt"/>
                  <a:ea typeface="+mn-ea"/>
                  <a:cs typeface="+mn-cs"/>
                </a:rPr>
                <a:t>Each extra hour of it costs 24 minutes of sleep.</a:t>
              </a:r>
            </a:p>
          </p:txBody>
        </p:sp>
        <p:sp>
          <p:nvSpPr>
            <p:cNvPr id="12" name="TextBox 12"/>
            <p:cNvSpPr txBox="1"/>
            <p:nvPr/>
          </p:nvSpPr>
          <p:spPr>
            <a:xfrm>
              <a:off x="674370" y="3852862"/>
              <a:ext cx="7837951" cy="821055"/>
            </a:xfrm>
            <a:prstGeom prst="rect">
              <a:avLst/>
            </a:prstGeom>
            <a:noFill/>
            <a:ln>
              <a:noFill/>
            </a:ln>
          </p:spPr>
          <p:txBody>
            <a:bodyPr wrap="none" lIns="0" tIns="0" rIns="0" bIns="0" anchor="t" anchorCtr="0">
              <a:spAutoFit/>
            </a:bodyPr>
            <a:lstStyle/>
            <a:p>
              <a:pPr algn="l">
                <a:lnSpc>
                  <a:spcPts val="3000"/>
                </a:lnSpc>
              </a:pPr>
              <a:r>
                <a:rPr lang="en-US" sz="2250" dirty="0">
                  <a:solidFill>
                    <a:schemeClr val="dk1"/>
                  </a:solidFill>
                  <a:latin typeface="+mn-lt"/>
                  <a:ea typeface="+mn-ea"/>
                  <a:cs typeface="+mn-cs"/>
                </a:rPr>
                <a:t>One more hour of screen time after getting into bed raised the</a:t>
              </a:r>
              <a:br/>
              <a:r>
                <a:rPr lang="en-US" sz="2250" dirty="0">
                  <a:solidFill>
                    <a:schemeClr val="dk1"/>
                  </a:solidFill>
                  <a:latin typeface="+mn-lt"/>
                  <a:ea typeface="+mn-ea"/>
                  <a:cs typeface="+mn-cs"/>
                </a:rPr>
                <a:t>odds of insomnia symptoms by 59 percent.</a:t>
              </a:r>
            </a:p>
          </p:txBody>
        </p:sp>
      </p:grpSp>
      <p:grpSp>
        <p:nvGrpSpPr>
          <p:cNvPr id="17" name="Group 17"/>
          <p:cNvGrpSpPr/>
          <p:nvPr/>
        </p:nvGrpSpPr>
        <p:grpSpPr>
          <a:xfrm>
            <a:off x="672084" y="4791075"/>
            <a:ext cx="8967216" cy="1406842"/>
            <a:chOff x="672084" y="4791075"/>
            <a:chExt cx="8967216" cy="1406842"/>
          </a:xfrm>
        </p:grpSpPr>
        <p:sp>
          <p:nvSpPr>
            <p:cNvPr id="14" name="Line 14"/>
            <p:cNvSpPr/>
            <p:nvPr/>
          </p:nvSpPr>
          <p:spPr>
            <a:xfrm>
              <a:off x="685800" y="4791075"/>
              <a:ext cx="8953500" cy="9525"/>
            </a:xfrm>
            <a:custGeom>
              <a:avLst/>
              <a:gdLst/>
              <a:ahLst/>
              <a:cxnLst/>
              <a:rect l="l" t="t" r="r" b="b"/>
              <a:pathLst>
                <a:path w="8953500" h="9525">
                  <a:moveTo>
                    <a:pt x="0" y="0"/>
                  </a:moveTo>
                  <a:lnTo>
                    <a:pt x="8953500" y="0"/>
                  </a:lnTo>
                </a:path>
              </a:pathLst>
            </a:custGeom>
            <a:noFill/>
            <a:ln w="9525">
              <a:solidFill>
                <a:schemeClr val="accent6"/>
              </a:solidFill>
            </a:ln>
          </p:spPr>
        </p:sp>
        <p:sp>
          <p:nvSpPr>
            <p:cNvPr id="15" name="TextBox 15"/>
            <p:cNvSpPr txBox="1"/>
            <p:nvPr/>
          </p:nvSpPr>
          <p:spPr>
            <a:xfrm>
              <a:off x="672084" y="4871085"/>
              <a:ext cx="5754982"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n-lt"/>
                  <a:ea typeface="+mn-ea"/>
                  <a:cs typeface="+mn-cs"/>
                </a:rPr>
                <a:t>A book in bed does the opposite.</a:t>
              </a:r>
            </a:p>
          </p:txBody>
        </p:sp>
        <p:sp>
          <p:nvSpPr>
            <p:cNvPr id="16" name="TextBox 16"/>
            <p:cNvSpPr txBox="1"/>
            <p:nvPr/>
          </p:nvSpPr>
          <p:spPr>
            <a:xfrm>
              <a:off x="674370" y="5376862"/>
              <a:ext cx="8092840" cy="821055"/>
            </a:xfrm>
            <a:prstGeom prst="rect">
              <a:avLst/>
            </a:prstGeom>
            <a:noFill/>
            <a:ln>
              <a:noFill/>
            </a:ln>
          </p:spPr>
          <p:txBody>
            <a:bodyPr wrap="none" lIns="0" tIns="0" rIns="0" bIns="0" anchor="t" anchorCtr="0">
              <a:spAutoFit/>
            </a:bodyPr>
            <a:lstStyle/>
            <a:p>
              <a:pPr algn="l">
                <a:lnSpc>
                  <a:spcPts val="3000"/>
                </a:lnSpc>
              </a:pPr>
              <a:r>
                <a:rPr lang="en-US" sz="2250" dirty="0">
                  <a:solidFill>
                    <a:schemeClr val="dk1"/>
                  </a:solidFill>
                  <a:latin typeface="+mn-lt"/>
                  <a:ea typeface="+mn-ea"/>
                  <a:cs typeface="+mn-cs"/>
                </a:rPr>
                <a:t>In a randomised trial, 42 percent of people who read in bed said</a:t>
              </a:r>
              <a:br/>
              <a:r>
                <a:rPr lang="en-US" sz="2250" dirty="0">
                  <a:solidFill>
                    <a:schemeClr val="dk1"/>
                  </a:solidFill>
                  <a:latin typeface="+mn-lt"/>
                  <a:ea typeface="+mn-ea"/>
                  <a:cs typeface="+mn-cs"/>
                </a:rPr>
                <a:t>their sleep improved, against 28 percent who did not.</a:t>
              </a:r>
            </a:p>
          </p:txBody>
        </p:sp>
      </p:grpSp>
      <p:grpSp>
        <p:nvGrpSpPr>
          <p:cNvPr id="19" name="Group 19"/>
          <p:cNvGrpSpPr/>
          <p:nvPr/>
        </p:nvGrpSpPr>
        <p:grpSpPr>
          <a:xfrm>
            <a:off x="678942" y="6293168"/>
            <a:ext cx="10087192" cy="492633"/>
            <a:chOff x="678942" y="6293168"/>
            <a:chExt cx="10087192" cy="492633"/>
          </a:xfrm>
        </p:grpSpPr>
        <p:sp>
          <p:nvSpPr>
            <p:cNvPr id="18" name="TextBox 18"/>
            <p:cNvSpPr txBox="1"/>
            <p:nvPr/>
          </p:nvSpPr>
          <p:spPr>
            <a:xfrm>
              <a:off x="678942" y="6293168"/>
              <a:ext cx="10087192"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Sources: American Academy of Sleep Medicine, 2,007 US adults, June 2025; SHOT2022 in Frontiers in Psychiatry, 45,202 students,</a:t>
              </a:r>
              <a:br/>
              <a:r>
                <a:rPr lang="en-US" sz="1350" dirty="0">
                  <a:solidFill>
                    <a:schemeClr val="accent5"/>
                  </a:solidFill>
                  <a:latin typeface="+mn-lt"/>
                  <a:ea typeface="+mn-ea"/>
                  <a:cs typeface="+mn-cs"/>
                </a:rPr>
                <a:t>March 2025; The People's Trial in Trials 22:873, 991 participants, 2021.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7512" y="678180"/>
            <a:ext cx="5612288" cy="704088"/>
            <a:chOff x="667512" y="678180"/>
            <a:chExt cx="5612288" cy="704088"/>
          </a:xfrm>
        </p:grpSpPr>
        <p:sp>
          <p:nvSpPr>
            <p:cNvPr id="2" name="TextBox 2"/>
            <p:cNvSpPr txBox="1"/>
            <p:nvPr/>
          </p:nvSpPr>
          <p:spPr>
            <a:xfrm>
              <a:off x="667512" y="678180"/>
              <a:ext cx="5612288"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What the work has to do</a:t>
              </a:r>
            </a:p>
          </p:txBody>
        </p:sp>
      </p:grpSp>
      <p:grpSp>
        <p:nvGrpSpPr>
          <p:cNvPr id="5" name="Group 5"/>
          <p:cNvGrpSpPr/>
          <p:nvPr/>
        </p:nvGrpSpPr>
        <p:grpSpPr>
          <a:xfrm>
            <a:off x="672084" y="1823085"/>
            <a:ext cx="8967178" cy="966216"/>
            <a:chOff x="672084" y="1823085"/>
            <a:chExt cx="8967178" cy="966216"/>
          </a:xfrm>
        </p:grpSpPr>
        <p:sp>
          <p:nvSpPr>
            <p:cNvPr id="4" name="TextBox 4"/>
            <p:cNvSpPr txBox="1"/>
            <p:nvPr/>
          </p:nvSpPr>
          <p:spPr>
            <a:xfrm>
              <a:off x="672084" y="1823085"/>
              <a:ext cx="8967178" cy="966216"/>
            </a:xfrm>
            <a:prstGeom prst="rect">
              <a:avLst/>
            </a:prstGeom>
            <a:noFill/>
            <a:ln>
              <a:noFill/>
            </a:ln>
          </p:spPr>
          <p:txBody>
            <a:bodyPr wrap="none" lIns="0" tIns="0" rIns="0" bIns="0" anchor="t" anchorCtr="0">
              <a:spAutoFit/>
            </a:bodyPr>
            <a:lstStyle/>
            <a:p>
              <a:pPr algn="l">
                <a:lnSpc>
                  <a:spcPts val="3450"/>
                </a:lnSpc>
              </a:pPr>
              <a:r>
                <a:rPr lang="en-US" sz="2700" dirty="0">
                  <a:solidFill>
                    <a:schemeClr val="accent1"/>
                  </a:solidFill>
                  <a:latin typeface="+mn-lt"/>
                  <a:ea typeface="+mn-ea"/>
                  <a:cs typeface="+mn-cs"/>
                </a:rPr>
                <a:t>Make Fog &amp; Fern the place a reader thinks of at nine in the</a:t>
              </a:r>
              <a:br/>
              <a:r>
                <a:rPr lang="en-US" sz="2700" dirty="0">
                  <a:solidFill>
                    <a:schemeClr val="accent1"/>
                  </a:solidFill>
                  <a:latin typeface="+mn-lt"/>
                  <a:ea typeface="+mn-ea"/>
                  <a:cs typeface="+mn-cs"/>
                </a:rPr>
                <a:t>evening.</a:t>
              </a:r>
            </a:p>
          </p:txBody>
        </p:sp>
      </p:grpSp>
      <p:grpSp>
        <p:nvGrpSpPr>
          <p:cNvPr id="10" name="Group 10"/>
          <p:cNvGrpSpPr/>
          <p:nvPr/>
        </p:nvGrpSpPr>
        <p:grpSpPr>
          <a:xfrm>
            <a:off x="1047750" y="3143250"/>
            <a:ext cx="9525000" cy="2190750"/>
            <a:chOff x="1047750" y="3143250"/>
            <a:chExt cx="9525000" cy="2190750"/>
          </a:xfrm>
        </p:grpSpPr>
        <p:sp>
          <p:nvSpPr>
            <p:cNvPr id="6" name="Freeform 6"/>
            <p:cNvSpPr/>
            <p:nvPr/>
          </p:nvSpPr>
          <p:spPr>
            <a:xfrm>
              <a:off x="1047750" y="3143250"/>
              <a:ext cx="9525000" cy="2190750"/>
            </a:xfrm>
            <a:prstGeom prst="bracketPair">
              <a:avLst/>
            </a:prstGeom>
            <a:noFill/>
            <a:ln w="19050">
              <a:solidFill>
                <a:schemeClr val="accent2"/>
              </a:solidFill>
            </a:ln>
          </p:spPr>
        </p:sp>
        <p:sp>
          <p:nvSpPr>
            <p:cNvPr id="7" name="TextBox 7"/>
            <p:cNvSpPr txBox="1"/>
            <p:nvPr/>
          </p:nvSpPr>
          <p:spPr>
            <a:xfrm>
              <a:off x="1607820" y="3433762"/>
              <a:ext cx="832541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No paid media beyond the shop's own frontage and channels.</a:t>
              </a:r>
            </a:p>
          </p:txBody>
        </p:sp>
        <p:sp>
          <p:nvSpPr>
            <p:cNvPr id="8" name="TextBox 8"/>
            <p:cNvSpPr txBox="1"/>
            <p:nvPr/>
          </p:nvSpPr>
          <p:spPr>
            <a:xfrm>
              <a:off x="1607820" y="4062412"/>
              <a:ext cx="777687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One season — six weeks from first paste-up to last event.</a:t>
              </a:r>
            </a:p>
          </p:txBody>
        </p:sp>
        <p:sp>
          <p:nvSpPr>
            <p:cNvPr id="9" name="TextBox 9"/>
            <p:cNvSpPr txBox="1"/>
            <p:nvPr/>
          </p:nvSpPr>
          <p:spPr>
            <a:xfrm>
              <a:off x="1607820" y="4691062"/>
              <a:ext cx="6446162"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Five people, all of whom already work full shifts.</a:t>
              </a:r>
            </a:p>
          </p:txBody>
        </p:sp>
      </p:grpSp>
      <p:grpSp>
        <p:nvGrpSpPr>
          <p:cNvPr id="12" name="Group 12"/>
          <p:cNvGrpSpPr/>
          <p:nvPr/>
        </p:nvGrpSpPr>
        <p:grpSpPr>
          <a:xfrm>
            <a:off x="678942" y="5855018"/>
            <a:ext cx="6999911" cy="264033"/>
            <a:chOff x="678942" y="5855018"/>
            <a:chExt cx="6999911" cy="264033"/>
          </a:xfrm>
        </p:grpSpPr>
        <p:sp>
          <p:nvSpPr>
            <p:cNvPr id="11" name="TextBox 11"/>
            <p:cNvSpPr txBox="1"/>
            <p:nvPr/>
          </p:nvSpPr>
          <p:spPr>
            <a:xfrm>
              <a:off x="678942" y="5855018"/>
              <a:ext cx="699991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Shop scale, staffing, budget and timing are illustrative and belong to this fictional client.</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childTnLst>
                          </p:cTn>
                        </p:par>
                        <p:par>
                          <p:cTn id="12" fill="hold">
                            <p:stCondLst>
                              <p:cond delay="12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8080A">
                  <a:alpha val="92000"/>
                </a:srgbClr>
              </a:gs>
              <a:gs pos="55000">
                <a:srgbClr val="08080A">
                  <a:alpha val="62000"/>
                </a:srgbClr>
              </a:gs>
              <a:gs pos="100000">
                <a:srgbClr val="08080A">
                  <a:alpha val="34000"/>
                </a:srgbClr>
              </a:gs>
            </a:gsLst>
            <a:lin ang="0" scaled="1"/>
          </a:gradFill>
          <a:ln>
            <a:noFill/>
          </a:ln>
        </p:spPr>
      </p:sp>
      <p:grpSp>
        <p:nvGrpSpPr>
          <p:cNvPr id="5" name="!!the-thought"/>
          <p:cNvGrpSpPr/>
          <p:nvPr/>
        </p:nvGrpSpPr>
        <p:grpSpPr>
          <a:xfrm>
            <a:off x="934212" y="2468880"/>
            <a:ext cx="8584341" cy="1885188"/>
            <a:chOff x="934212" y="2468880"/>
            <a:chExt cx="8584341" cy="1885188"/>
          </a:xfrm>
        </p:grpSpPr>
        <p:sp>
          <p:nvSpPr>
            <p:cNvPr id="4" name="TextBox 4"/>
            <p:cNvSpPr txBox="1"/>
            <p:nvPr/>
          </p:nvSpPr>
          <p:spPr>
            <a:xfrm>
              <a:off x="934212" y="2468880"/>
              <a:ext cx="8584341" cy="1885188"/>
            </a:xfrm>
            <a:prstGeom prst="rect">
              <a:avLst/>
            </a:prstGeom>
            <a:noFill/>
            <a:ln>
              <a:noFill/>
            </a:ln>
          </p:spPr>
          <p:txBody>
            <a:bodyPr wrap="none" lIns="0" tIns="0" rIns="0" bIns="0" anchor="t" anchorCtr="0">
              <a:spAutoFit/>
            </a:bodyPr>
            <a:lstStyle/>
            <a:p>
              <a:pPr algn="l">
                <a:lnSpc>
                  <a:spcPts val="4650"/>
                </a:lnSpc>
              </a:pPr>
              <a:r>
                <a:rPr lang="en-US" sz="3600" dirty="0">
                  <a:solidFill>
                    <a:schemeClr val="dk1"/>
                  </a:solidFill>
                  <a:latin typeface="+mj-lt"/>
                  <a:ea typeface="+mj-ea"/>
                  <a:cs typeface="+mj-cs"/>
                </a:rPr>
                <a:t>Reading is not competing with the day.</a:t>
              </a:r>
              <a:br/>
              <a:r>
                <a:rPr lang="en-US" sz="3600" dirty="0">
                  <a:solidFill>
                    <a:schemeClr val="dk1"/>
                  </a:solidFill>
                  <a:latin typeface="+mj-lt"/>
                  <a:ea typeface="+mj-ea"/>
                  <a:cs typeface="+mj-cs"/>
                </a:rPr>
                <a:t>It is competing with the last hour.</a:t>
              </a:r>
              <a:br/>
              <a:r>
                <a:rPr lang="en-US" sz="3600" dirty="0">
                  <a:solidFill>
                    <a:schemeClr val="accent1"/>
                  </a:solidFill>
                  <a:latin typeface="+mj-lt"/>
                  <a:ea typeface="+mj-ea"/>
                  <a:cs typeface="+mj-cs"/>
                </a:rPr>
                <a:t>So stop arguing for reading. Own bedtime.</a:t>
              </a:r>
            </a:p>
          </p:txBody>
        </p:sp>
      </p:grpSp>
      <p:grpSp>
        <p:nvGrpSpPr>
          <p:cNvPr id="7" name="Group 7"/>
          <p:cNvGrpSpPr/>
          <p:nvPr/>
        </p:nvGrpSpPr>
        <p:grpSpPr>
          <a:xfrm>
            <a:off x="943356" y="4568190"/>
            <a:ext cx="8913708" cy="656844"/>
            <a:chOff x="943356" y="4568190"/>
            <a:chExt cx="8913708" cy="656844"/>
          </a:xfrm>
        </p:grpSpPr>
        <p:sp>
          <p:nvSpPr>
            <p:cNvPr id="6" name="TextBox 6"/>
            <p:cNvSpPr txBox="1"/>
            <p:nvPr/>
          </p:nvSpPr>
          <p:spPr>
            <a:xfrm>
              <a:off x="943356" y="4568190"/>
              <a:ext cx="8913708" cy="656844"/>
            </a:xfrm>
            <a:prstGeom prst="rect">
              <a:avLst/>
            </a:prstGeom>
            <a:noFill/>
            <a:ln>
              <a:noFill/>
            </a:ln>
          </p:spPr>
          <p:txBody>
            <a:bodyPr wrap="none" lIns="0" tIns="0" rIns="0" bIns="0" anchor="t" anchorCtr="0">
              <a:spAutoFit/>
            </a:bodyPr>
            <a:lstStyle/>
            <a:p>
              <a:pPr algn="l">
                <a:lnSpc>
                  <a:spcPts val="2400"/>
                </a:lnSpc>
              </a:pPr>
              <a:r>
                <a:rPr lang="en-US" sz="1800" dirty="0">
                  <a:solidFill>
                    <a:schemeClr val="accent5"/>
                  </a:solidFill>
                  <a:latin typeface="+mn-lt"/>
                  <a:ea typeface="+mn-ea"/>
                  <a:cs typeface="+mn-cs"/>
                </a:rPr>
                <a:t>Which changes where the work has to appear: the street at seven, the shelf at eight, the</a:t>
              </a:r>
              <a:br/>
              <a:r>
                <a:rPr lang="en-US" sz="1800" dirty="0">
                  <a:solidFill>
                    <a:schemeClr val="accent5"/>
                  </a:solidFill>
                  <a:latin typeface="+mn-lt"/>
                  <a:ea typeface="+mn-ea"/>
                  <a:cs typeface="+mn-cs"/>
                </a:rPr>
                <a:t>bedside at ten.</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p:tgtEl>
                                          <p:spTgt spid="5"/>
                                        </p:tgtEl>
                                      </p:cBhvr>
                                    </p:animEffect>
                                  </p:childTnLst>
                                </p:cTn>
                              </p:par>
                            </p:childTnLst>
                          </p:cTn>
                        </p:par>
                        <p:par>
                          <p:cTn id="8" fill="hold">
                            <p:stCondLst>
                              <p:cond delay="800"/>
                            </p:stCondLst>
                            <p:childTnLst>
                              <p:par>
                                <p:cTn id="9" presetID="10" presetClass="entr" presetSubtype="0" fill="hold" grpId="0" nodeType="afterEffect">
                                  <p:stCondLst>
                                    <p:cond delay="1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467350" y="1428750"/>
            <a:ext cx="1257300" cy="466725"/>
            <a:chOff x="5467350" y="1428750"/>
            <a:chExt cx="1257300" cy="466725"/>
          </a:xfrm>
        </p:grpSpPr>
        <p:sp>
          <p:nvSpPr>
            <p:cNvPr id="2" name="Freeform 2"/>
            <p:cNvSpPr/>
            <p:nvPr/>
          </p:nvSpPr>
          <p:spPr>
            <a:xfrm>
              <a:off x="5924550" y="1428750"/>
              <a:ext cx="342900" cy="438150"/>
            </a:xfrm>
            <a:prstGeom prst="moon">
              <a:avLst/>
            </a:prstGeom>
            <a:solidFill>
              <a:schemeClr val="accent1"/>
            </a:solidFill>
            <a:ln>
              <a:noFill/>
            </a:ln>
          </p:spPr>
        </p:sp>
        <p:sp>
          <p:nvSpPr>
            <p:cNvPr id="3" name="Rectangle 3"/>
            <p:cNvSpPr/>
            <p:nvPr/>
          </p:nvSpPr>
          <p:spPr>
            <a:xfrm>
              <a:off x="5467350" y="1866900"/>
              <a:ext cx="1257300" cy="28575"/>
            </a:xfrm>
            <a:prstGeom prst="rect">
              <a:avLst/>
            </a:prstGeom>
            <a:solidFill>
              <a:schemeClr val="dk1"/>
            </a:solidFill>
            <a:ln>
              <a:noFill/>
            </a:ln>
          </p:spPr>
        </p:sp>
      </p:grpSp>
      <p:grpSp>
        <p:nvGrpSpPr>
          <p:cNvPr id="6" name="!!the-thought"/>
          <p:cNvGrpSpPr/>
          <p:nvPr/>
        </p:nvGrpSpPr>
        <p:grpSpPr>
          <a:xfrm>
            <a:off x="3348803" y="3036570"/>
            <a:ext cx="5494393" cy="1809750"/>
            <a:chOff x="3348803" y="3036570"/>
            <a:chExt cx="5494393" cy="1809750"/>
          </a:xfrm>
        </p:grpSpPr>
        <p:sp>
          <p:nvSpPr>
            <p:cNvPr id="5" name="TextBox 5"/>
            <p:cNvSpPr txBox="1"/>
            <p:nvPr/>
          </p:nvSpPr>
          <p:spPr>
            <a:xfrm>
              <a:off x="3348803" y="3036570"/>
              <a:ext cx="5494393" cy="1809750"/>
            </a:xfrm>
            <a:prstGeom prst="rect">
              <a:avLst/>
            </a:prstGeom>
            <a:noFill/>
            <a:ln>
              <a:noFill/>
            </a:ln>
          </p:spPr>
          <p:txBody>
            <a:bodyPr wrap="none" lIns="0" tIns="0" rIns="0" bIns="0" anchor="t" anchorCtr="0">
              <a:spAutoFit/>
            </a:bodyPr>
            <a:lstStyle/>
            <a:p>
              <a:pPr algn="ctr">
                <a:lnSpc>
                  <a:spcPts val="6000"/>
                </a:lnSpc>
              </a:pPr>
              <a:r>
                <a:rPr lang="en-US" sz="5400" dirty="0">
                  <a:solidFill>
                    <a:schemeClr val="dk1"/>
                  </a:solidFill>
                  <a:latin typeface="+mj-lt"/>
                  <a:ea typeface="+mj-ea"/>
                  <a:cs typeface="+mj-cs"/>
                </a:rPr>
                <a:t>The last hour</a:t>
              </a:r>
              <a:br/>
              <a:r>
                <a:rPr lang="en-US" sz="5400" dirty="0">
                  <a:solidFill>
                    <a:schemeClr val="dk1"/>
                  </a:solidFill>
                  <a:latin typeface="+mj-lt"/>
                  <a:ea typeface="+mj-ea"/>
                  <a:cs typeface="+mj-cs"/>
                </a:rPr>
                <a:t>belongs to a book.</a:t>
              </a:r>
            </a:p>
          </p:txBody>
        </p:sp>
      </p:grpSp>
      <p:grpSp>
        <p:nvGrpSpPr>
          <p:cNvPr id="8" name="Group 8"/>
          <p:cNvGrpSpPr/>
          <p:nvPr/>
        </p:nvGrpSpPr>
        <p:grpSpPr>
          <a:xfrm>
            <a:off x="2096392" y="5139690"/>
            <a:ext cx="7999217" cy="656844"/>
            <a:chOff x="2096392" y="5139690"/>
            <a:chExt cx="7999217" cy="656844"/>
          </a:xfrm>
        </p:grpSpPr>
        <p:sp>
          <p:nvSpPr>
            <p:cNvPr id="7" name="TextBox 7"/>
            <p:cNvSpPr txBox="1"/>
            <p:nvPr/>
          </p:nvSpPr>
          <p:spPr>
            <a:xfrm>
              <a:off x="2096392" y="5139690"/>
              <a:ext cx="7999217" cy="656844"/>
            </a:xfrm>
            <a:prstGeom prst="rect">
              <a:avLst/>
            </a:prstGeom>
            <a:noFill/>
            <a:ln>
              <a:noFill/>
            </a:ln>
          </p:spPr>
          <p:txBody>
            <a:bodyPr wrap="none" lIns="0" tIns="0" rIns="0" bIns="0" anchor="t" anchorCtr="0">
              <a:spAutoFit/>
            </a:bodyPr>
            <a:lstStyle/>
            <a:p>
              <a:pPr algn="ctr">
                <a:lnSpc>
                  <a:spcPts val="2400"/>
                </a:lnSpc>
              </a:pPr>
              <a:r>
                <a:rPr lang="en-US" sz="1800" dirty="0">
                  <a:solidFill>
                    <a:schemeClr val="accent5"/>
                  </a:solidFill>
                  <a:latin typeface="+mn-lt"/>
                  <a:ea typeface="+mn-ea"/>
                  <a:cs typeface="+mn-cs"/>
                </a:rPr>
                <a:t>The Night Shelf — the books chosen for the hour before sleep, and a shop that</a:t>
              </a:r>
              <a:br/>
              <a:r>
                <a:rPr lang="en-US" sz="1800" dirty="0">
                  <a:solidFill>
                    <a:schemeClr val="accent5"/>
                  </a:solidFill>
                  <a:latin typeface="+mn-lt"/>
                  <a:ea typeface="+mn-ea"/>
                  <a:cs typeface="+mn-cs"/>
                </a:rPr>
                <a:t>stays open into it.</a:t>
              </a:r>
            </a:p>
          </p:txBody>
        </p:sp>
      </p:gr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15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9" name="!!hero-artwork"/>
          <p:cNvGrpSpPr/>
          <p:nvPr/>
        </p:nvGrpSpPr>
        <p:grpSpPr>
          <a:xfrm>
            <a:off x="0" y="0"/>
            <a:ext cx="12192000" cy="6858000"/>
            <a:chOff x="0" y="0"/>
            <a:chExt cx="12192000" cy="685800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8080A">
                    <a:alpha val="0"/>
                  </a:srgbClr>
                </a:gs>
                <a:gs pos="45000">
                  <a:srgbClr val="08080A">
                    <a:alpha val="14000"/>
                  </a:srgbClr>
                </a:gs>
                <a:gs pos="100000">
                  <a:srgbClr val="08080A">
                    <a:alpha val="80000"/>
                  </a:srgbClr>
                </a:gs>
              </a:gsLst>
              <a:lin ang="0" scaled="1"/>
            </a:gradFill>
            <a:ln>
              <a:noFill/>
            </a:ln>
          </p:spPr>
        </p:sp>
        <p:grpSp>
          <p:nvGrpSpPr>
            <p:cNvPr id="8" name="Group 8"/>
            <p:cNvGrpSpPr/>
            <p:nvPr/>
          </p:nvGrpSpPr>
          <p:grpSpPr>
            <a:xfrm>
              <a:off x="7796022" y="3543300"/>
              <a:ext cx="2908666" cy="2043684"/>
              <a:chOff x="7796022" y="3543300"/>
              <a:chExt cx="2908666" cy="2043684"/>
            </a:xfrm>
          </p:grpSpPr>
          <p:sp>
            <p:nvSpPr>
              <p:cNvPr id="4" name="Freeform 4"/>
              <p:cNvSpPr/>
              <p:nvPr/>
            </p:nvSpPr>
            <p:spPr>
              <a:xfrm>
                <a:off x="7810500" y="3543300"/>
                <a:ext cx="304800" cy="390525"/>
              </a:xfrm>
              <a:prstGeom prst="moon">
                <a:avLst/>
              </a:prstGeom>
              <a:solidFill>
                <a:schemeClr val="accent1"/>
              </a:solidFill>
              <a:ln>
                <a:noFill/>
              </a:ln>
            </p:spPr>
          </p:sp>
          <p:sp>
            <p:nvSpPr>
              <p:cNvPr id="5" name="Rectangle 5"/>
              <p:cNvSpPr/>
              <p:nvPr/>
            </p:nvSpPr>
            <p:spPr>
              <a:xfrm>
                <a:off x="7810500" y="3933825"/>
                <a:ext cx="1123950" cy="28575"/>
              </a:xfrm>
              <a:prstGeom prst="rect">
                <a:avLst/>
              </a:prstGeom>
              <a:solidFill>
                <a:schemeClr val="dk1"/>
              </a:solidFill>
              <a:ln>
                <a:noFill/>
              </a:ln>
            </p:spPr>
          </p:sp>
          <p:sp>
            <p:nvSpPr>
              <p:cNvPr id="6" name="TextBox 6"/>
              <p:cNvSpPr txBox="1"/>
              <p:nvPr/>
            </p:nvSpPr>
            <p:spPr>
              <a:xfrm>
                <a:off x="7796022" y="4169092"/>
                <a:ext cx="2908666" cy="995553"/>
              </a:xfrm>
              <a:prstGeom prst="rect">
                <a:avLst/>
              </a:prstGeom>
              <a:noFill/>
              <a:ln>
                <a:noFill/>
              </a:ln>
            </p:spPr>
            <p:txBody>
              <a:bodyPr wrap="none" lIns="0" tIns="0" rIns="0" bIns="0" anchor="t" anchorCtr="0">
                <a:spAutoFit/>
              </a:bodyPr>
              <a:lstStyle/>
              <a:p>
                <a:pPr algn="l">
                  <a:lnSpc>
                    <a:spcPts val="3450"/>
                  </a:lnSpc>
                </a:pPr>
                <a:r>
                  <a:rPr lang="en-US" sz="2850" dirty="0">
                    <a:solidFill>
                      <a:schemeClr val="dk1"/>
                    </a:solidFill>
                    <a:latin typeface="+mj-lt"/>
                    <a:ea typeface="+mj-ea"/>
                    <a:cs typeface="+mj-cs"/>
                  </a:rPr>
                  <a:t>The last hour</a:t>
                </a:r>
                <a:br/>
                <a:r>
                  <a:rPr lang="en-US" sz="2850" dirty="0">
                    <a:solidFill>
                      <a:schemeClr val="dk1"/>
                    </a:solidFill>
                    <a:latin typeface="+mj-lt"/>
                    <a:ea typeface="+mj-ea"/>
                    <a:cs typeface="+mj-cs"/>
                  </a:rPr>
                  <a:t>belongs to a book.</a:t>
                </a:r>
              </a:p>
            </p:txBody>
          </p:sp>
          <p:sp>
            <p:nvSpPr>
              <p:cNvPr id="7" name="TextBox 7"/>
              <p:cNvSpPr txBox="1"/>
              <p:nvPr/>
            </p:nvSpPr>
            <p:spPr>
              <a:xfrm>
                <a:off x="7801356" y="5234940"/>
                <a:ext cx="199879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Fog &amp; Fern Books</a:t>
                </a:r>
              </a:p>
            </p:txBody>
          </p:sp>
        </p:grpSp>
      </p:grpSp>
    </p:spTree>
  </p:cSld>
  <p:clrMapOvr>
    <a:masterClrMapping/>
  </p:clrMapOvr>
  <p:transition p14:dur="400">
    <p:fade/>
  </p:transition>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67512" y="678180"/>
            <a:ext cx="8244543" cy="704088"/>
            <a:chOff x="667512" y="678180"/>
            <a:chExt cx="8244543" cy="704088"/>
          </a:xfrm>
        </p:grpSpPr>
        <p:sp>
          <p:nvSpPr>
            <p:cNvPr id="2" name="TextBox 2"/>
            <p:cNvSpPr txBox="1"/>
            <p:nvPr/>
          </p:nvSpPr>
          <p:spPr>
            <a:xfrm>
              <a:off x="667512" y="678180"/>
              <a:ext cx="8244543"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It runs everywhere the hour is spent</a:t>
              </a:r>
            </a:p>
          </p:txBody>
        </p:sp>
      </p:grpSp>
      <p:grpSp>
        <p:nvGrpSpPr>
          <p:cNvPr id="8" name="Group 8"/>
          <p:cNvGrpSpPr/>
          <p:nvPr/>
        </p:nvGrpSpPr>
        <p:grpSpPr>
          <a:xfrm>
            <a:off x="678942" y="2190750"/>
            <a:ext cx="2102358" cy="3833051"/>
            <a:chOff x="678942" y="2190750"/>
            <a:chExt cx="2102358" cy="3833051"/>
          </a:xfrm>
        </p:grpSpPr>
        <p:pic>
          <p:nvPicPr>
            <p:cNvPr id="4" name="Image 4"/>
            <p:cNvPicPr>
              <a:picLocks noChangeAspect="1"/>
            </p:cNvPicPr>
            <p:nvPr/>
          </p:nvPicPr>
          <p:blipFill>
            <a:blip r:embed="rId2"/>
            <a:srcRect l="310" t="0" r="311" b="0"/>
            <a:stretch>
              <a:fillRect/>
            </a:stretch>
          </p:blipFill>
          <p:spPr>
            <a:xfrm>
              <a:off x="685800" y="2190750"/>
              <a:ext cx="2095500" cy="3143250"/>
            </a:xfrm>
            <a:custGeom>
              <a:avLst/>
              <a:gdLst/>
              <a:ahLst/>
              <a:cxnLst/>
              <a:rect l="l" t="t" r="r" b="b"/>
              <a:pathLst>
                <a:path w="2095500" h="3143250">
                  <a:moveTo>
                    <a:pt x="0" y="0"/>
                  </a:moveTo>
                  <a:lnTo>
                    <a:pt x="1885950" y="0"/>
                  </a:lnTo>
                  <a:lnTo>
                    <a:pt x="2095500" y="209550"/>
                  </a:lnTo>
                  <a:lnTo>
                    <a:pt x="2095500" y="3143250"/>
                  </a:lnTo>
                  <a:lnTo>
                    <a:pt x="0" y="3143250"/>
                  </a:lnTo>
                  <a:close/>
                </a:path>
              </a:pathLst>
            </a:custGeom>
          </p:spPr>
        </p:pic>
        <p:sp>
          <p:nvSpPr>
            <p:cNvPr id="5" name="TextBox 5"/>
            <p:cNvSpPr txBox="1"/>
            <p:nvPr/>
          </p:nvSpPr>
          <p:spPr>
            <a:xfrm>
              <a:off x="831342" y="4540568"/>
              <a:ext cx="1415011" cy="473583"/>
            </a:xfrm>
            <a:prstGeom prst="rect">
              <a:avLst/>
            </a:prstGeom>
            <a:noFill/>
            <a:ln>
              <a:noFill/>
            </a:ln>
          </p:spPr>
          <p:txBody>
            <a:bodyPr wrap="none" lIns="0" tIns="0" rIns="0" bIns="0" anchor="t" anchorCtr="0">
              <a:spAutoFit/>
            </a:bodyPr>
            <a:lstStyle/>
            <a:p>
              <a:pPr algn="l">
                <a:lnSpc>
                  <a:spcPts val="1650"/>
                </a:lnSpc>
              </a:pPr>
              <a:r>
                <a:rPr lang="en-US" sz="1350" dirty="0">
                  <a:solidFill>
                    <a:srgbClr val="141416"/>
                  </a:solidFill>
                  <a:latin typeface="+mn-lt"/>
                  <a:ea typeface="+mn-ea"/>
                  <a:cs typeface="+mn-cs"/>
                </a:rPr>
                <a:t>The last hour</a:t>
              </a:r>
              <a:br/>
              <a:r>
                <a:rPr lang="en-US" sz="1350" dirty="0">
                  <a:solidFill>
                    <a:srgbClr val="141416"/>
                  </a:solidFill>
                  <a:latin typeface="+mn-lt"/>
                  <a:ea typeface="+mn-ea"/>
                  <a:cs typeface="+mn-cs"/>
                </a:rPr>
                <a:t>belongs to a book.</a:t>
              </a:r>
            </a:p>
          </p:txBody>
        </p:sp>
        <p:sp>
          <p:nvSpPr>
            <p:cNvPr id="6" name="TextBox 6"/>
            <p:cNvSpPr txBox="1"/>
            <p:nvPr/>
          </p:nvSpPr>
          <p:spPr>
            <a:xfrm>
              <a:off x="831342" y="5035868"/>
              <a:ext cx="1499097" cy="264033"/>
            </a:xfrm>
            <a:prstGeom prst="rect">
              <a:avLst/>
            </a:prstGeom>
            <a:noFill/>
            <a:ln>
              <a:noFill/>
            </a:ln>
          </p:spPr>
          <p:txBody>
            <a:bodyPr wrap="none" lIns="0" tIns="0" rIns="0" bIns="0" anchor="t" anchorCtr="0">
              <a:spAutoFit/>
            </a:bodyPr>
            <a:lstStyle/>
            <a:p>
              <a:pPr algn="l"/>
              <a:r>
                <a:rPr lang="en-US" sz="1350" dirty="0">
                  <a:solidFill>
                    <a:srgbClr val="4A6B62"/>
                  </a:solidFill>
                  <a:latin typeface="+mn-lt"/>
                  <a:ea typeface="+mn-ea"/>
                  <a:cs typeface="+mn-cs"/>
                </a:rPr>
                <a:t>Fog &amp; Fern Books</a:t>
              </a:r>
            </a:p>
          </p:txBody>
        </p:sp>
        <p:sp>
          <p:nvSpPr>
            <p:cNvPr id="7" name="TextBox 7"/>
            <p:cNvSpPr txBox="1"/>
            <p:nvPr/>
          </p:nvSpPr>
          <p:spPr>
            <a:xfrm>
              <a:off x="678942" y="5531168"/>
              <a:ext cx="111922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Street poster</a:t>
              </a:r>
              <a:br/>
              <a:r>
                <a:rPr lang="en-US" sz="1350" dirty="0">
                  <a:solidFill>
                    <a:schemeClr val="accent5"/>
                  </a:solidFill>
                  <a:latin typeface="+mn-lt"/>
                  <a:ea typeface="+mn-ea"/>
                  <a:cs typeface="+mn-cs"/>
                </a:rPr>
                <a:t>the walk home</a:t>
              </a:r>
            </a:p>
          </p:txBody>
        </p:sp>
      </p:grpSp>
      <p:grpSp>
        <p:nvGrpSpPr>
          <p:cNvPr id="16" name="Group 16"/>
          <p:cNvGrpSpPr/>
          <p:nvPr/>
        </p:nvGrpSpPr>
        <p:grpSpPr>
          <a:xfrm>
            <a:off x="3231642" y="1905000"/>
            <a:ext cx="1911858" cy="4118801"/>
            <a:chOff x="3231642" y="1905000"/>
            <a:chExt cx="1911858" cy="4118801"/>
          </a:xfrm>
        </p:grpSpPr>
        <p:sp>
          <p:nvSpPr>
            <p:cNvPr id="9" name="Rectangle 9"/>
            <p:cNvSpPr/>
            <p:nvPr/>
          </p:nvSpPr>
          <p:spPr>
            <a:xfrm>
              <a:off x="3238500" y="1905000"/>
              <a:ext cx="1905000" cy="3429000"/>
            </a:xfrm>
            <a:prstGeom prst="roundRect">
              <a:avLst>
                <a:gd name="adj" fmla="val 12000"/>
              </a:avLst>
            </a:prstGeom>
            <a:solidFill>
              <a:srgbClr val="141416"/>
            </a:solidFill>
            <a:ln w="19050">
              <a:solidFill>
                <a:schemeClr val="accent6"/>
              </a:solidFill>
            </a:ln>
          </p:spPr>
        </p:sp>
        <p:sp>
          <p:nvSpPr>
            <p:cNvPr id="10" name="Rectangle 10"/>
            <p:cNvSpPr/>
            <p:nvPr/>
          </p:nvSpPr>
          <p:spPr>
            <a:xfrm>
              <a:off x="3352800" y="2076450"/>
              <a:ext cx="1676400" cy="3086100"/>
            </a:xfrm>
            <a:prstGeom prst="roundRect">
              <a:avLst>
                <a:gd name="adj" fmla="val 5682"/>
              </a:avLst>
            </a:prstGeom>
            <a:solidFill>
              <a:schemeClr val="lt1"/>
            </a:solidFill>
            <a:ln>
              <a:noFill/>
            </a:ln>
          </p:spPr>
        </p:sp>
        <p:sp>
          <p:nvSpPr>
            <p:cNvPr id="11" name="Ellipse 11"/>
            <p:cNvSpPr/>
            <p:nvPr/>
          </p:nvSpPr>
          <p:spPr>
            <a:xfrm>
              <a:off x="3409950" y="2171700"/>
              <a:ext cx="152400" cy="152400"/>
            </a:xfrm>
            <a:prstGeom prst="ellipse">
              <a:avLst/>
            </a:prstGeom>
            <a:solidFill>
              <a:schemeClr val="accent2"/>
            </a:solidFill>
            <a:ln>
              <a:noFill/>
            </a:ln>
          </p:spPr>
        </p:sp>
        <p:sp>
          <p:nvSpPr>
            <p:cNvPr id="12" name="TextBox 12"/>
            <p:cNvSpPr txBox="1"/>
            <p:nvPr/>
          </p:nvSpPr>
          <p:spPr>
            <a:xfrm>
              <a:off x="3650742" y="2159318"/>
              <a:ext cx="93746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Fog &amp; Fern</a:t>
              </a:r>
            </a:p>
          </p:txBody>
        </p:sp>
        <p:pic>
          <p:nvPicPr>
            <p:cNvPr id="13" name="Image 13"/>
            <p:cNvPicPr>
              <a:picLocks noChangeAspect="1"/>
            </p:cNvPicPr>
            <p:nvPr/>
          </p:nvPicPr>
          <p:blipFill>
            <a:blip r:embed="rId3"/>
            <a:stretch>
              <a:fillRect/>
            </a:stretch>
          </p:blipFill>
          <p:spPr>
            <a:xfrm>
              <a:off x="3352800" y="2400300"/>
              <a:ext cx="1676400" cy="1676400"/>
            </a:xfrm>
            <a:prstGeom prst="roundRect">
              <a:avLst>
                <a:gd name="adj" fmla="val 4545"/>
              </a:avLst>
            </a:prstGeom>
          </p:spPr>
        </p:pic>
        <p:sp>
          <p:nvSpPr>
            <p:cNvPr id="14" name="TextBox 14"/>
            <p:cNvSpPr txBox="1"/>
            <p:nvPr/>
          </p:nvSpPr>
          <p:spPr>
            <a:xfrm>
              <a:off x="3422142" y="4159568"/>
              <a:ext cx="1415011"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The last hour</a:t>
              </a:r>
              <a:br/>
              <a:r>
                <a:rPr lang="en-US" sz="1350" dirty="0">
                  <a:solidFill>
                    <a:schemeClr val="dk1"/>
                  </a:solidFill>
                  <a:latin typeface="+mn-lt"/>
                  <a:ea typeface="+mn-ea"/>
                  <a:cs typeface="+mn-cs"/>
                </a:rPr>
                <a:t>belongs to a book.</a:t>
              </a:r>
            </a:p>
          </p:txBody>
        </p:sp>
        <p:sp>
          <p:nvSpPr>
            <p:cNvPr id="15" name="TextBox 15"/>
            <p:cNvSpPr txBox="1"/>
            <p:nvPr/>
          </p:nvSpPr>
          <p:spPr>
            <a:xfrm>
              <a:off x="3231642" y="5531168"/>
              <a:ext cx="118622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Phone</a:t>
              </a:r>
              <a:br/>
              <a:r>
                <a:rPr lang="en-US" sz="1350" dirty="0">
                  <a:solidFill>
                    <a:schemeClr val="accent5"/>
                  </a:solidFill>
                  <a:latin typeface="+mn-lt"/>
                  <a:ea typeface="+mn-ea"/>
                  <a:cs typeface="+mn-cs"/>
                </a:rPr>
                <a:t>already in hand</a:t>
              </a:r>
            </a:p>
          </p:txBody>
        </p:sp>
      </p:grpSp>
      <p:grpSp>
        <p:nvGrpSpPr>
          <p:cNvPr id="20" name="!!hero-artwork"/>
          <p:cNvGrpSpPr/>
          <p:nvPr/>
        </p:nvGrpSpPr>
        <p:grpSpPr>
          <a:xfrm>
            <a:off x="5574792" y="4238625"/>
            <a:ext cx="3854958" cy="1785176"/>
            <a:chOff x="5574792" y="4238625"/>
            <a:chExt cx="3854958" cy="1785176"/>
          </a:xfrm>
        </p:grpSpPr>
        <p:pic>
          <p:nvPicPr>
            <p:cNvPr id="17" name="Image 17"/>
            <p:cNvPicPr>
              <a:picLocks noChangeAspect="1"/>
            </p:cNvPicPr>
            <p:nvPr/>
          </p:nvPicPr>
          <p:blipFill>
            <a:blip r:embed="rId4"/>
            <a:srcRect l="5000" t="42000" r="12000" b="16000"/>
            <a:stretch>
              <a:fillRect/>
            </a:stretch>
          </p:blipFill>
          <p:spPr>
            <a:xfrm>
              <a:off x="5600700" y="4257675"/>
              <a:ext cx="3810000" cy="1076325"/>
            </a:xfrm>
            <a:prstGeom prst="rect">
              <a:avLst/>
            </a:prstGeom>
          </p:spPr>
        </p:pic>
        <p:sp>
          <p:nvSpPr>
            <p:cNvPr id="18" name="Rectangle 18"/>
            <p:cNvSpPr/>
            <p:nvPr/>
          </p:nvSpPr>
          <p:spPr>
            <a:xfrm>
              <a:off x="5581650" y="4238625"/>
              <a:ext cx="3848100" cy="1114425"/>
            </a:xfrm>
            <a:prstGeom prst="rect">
              <a:avLst/>
            </a:prstGeom>
            <a:noFill/>
            <a:ln w="19050">
              <a:solidFill>
                <a:schemeClr val="accent2"/>
              </a:solidFill>
            </a:ln>
          </p:spPr>
        </p:sp>
        <p:sp>
          <p:nvSpPr>
            <p:cNvPr id="19" name="TextBox 19"/>
            <p:cNvSpPr txBox="1"/>
            <p:nvPr/>
          </p:nvSpPr>
          <p:spPr>
            <a:xfrm>
              <a:off x="5574792" y="5531168"/>
              <a:ext cx="265397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Shop window</a:t>
              </a:r>
              <a:br/>
              <a:r>
                <a:rPr lang="en-US" sz="1350" dirty="0">
                  <a:solidFill>
                    <a:schemeClr val="accent5"/>
                  </a:solidFill>
                  <a:latin typeface="+mn-lt"/>
                  <a:ea typeface="+mn-ea"/>
                  <a:cs typeface="+mn-cs"/>
                </a:rPr>
                <a:t>the lightbox the shop already owns</a:t>
              </a:r>
            </a:p>
          </p:txBody>
        </p:sp>
      </p:grpSp>
      <p:grpSp>
        <p:nvGrpSpPr>
          <p:cNvPr id="23" name="Group 23"/>
          <p:cNvGrpSpPr/>
          <p:nvPr/>
        </p:nvGrpSpPr>
        <p:grpSpPr>
          <a:xfrm>
            <a:off x="9708642" y="2514600"/>
            <a:ext cx="1207008" cy="3509201"/>
            <a:chOff x="9708642" y="2514600"/>
            <a:chExt cx="1207008" cy="3509201"/>
          </a:xfrm>
        </p:grpSpPr>
        <p:pic>
          <p:nvPicPr>
            <p:cNvPr id="21" name="Image 21"/>
            <p:cNvPicPr>
              <a:picLocks noChangeAspect="1"/>
            </p:cNvPicPr>
            <p:nvPr/>
          </p:nvPicPr>
          <p:blipFill>
            <a:blip r:embed="rId5"/>
            <a:stretch>
              <a:fillRect/>
            </a:stretch>
          </p:blipFill>
          <p:spPr>
            <a:xfrm>
              <a:off x="9867900" y="2514600"/>
              <a:ext cx="1047750" cy="2819400"/>
            </a:xfrm>
            <a:prstGeom prst="rect">
              <a:avLst/>
            </a:prstGeom>
          </p:spPr>
        </p:pic>
        <p:sp>
          <p:nvSpPr>
            <p:cNvPr id="22" name="TextBox 22"/>
            <p:cNvSpPr txBox="1"/>
            <p:nvPr/>
          </p:nvSpPr>
          <p:spPr>
            <a:xfrm>
              <a:off x="9708642" y="5531168"/>
              <a:ext cx="86205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Bookmark</a:t>
              </a:r>
              <a:br/>
              <a:r>
                <a:rPr lang="en-US" sz="1350" dirty="0">
                  <a:solidFill>
                    <a:schemeClr val="accent5"/>
                  </a:solidFill>
                  <a:latin typeface="+mn-lt"/>
                  <a:ea typeface="+mn-ea"/>
                  <a:cs typeface="+mn-cs"/>
                </a:rPr>
                <a:t>goes home</a:t>
              </a:r>
            </a:p>
          </p:txBody>
        </p:sp>
      </p:grpSp>
      <p:grpSp>
        <p:nvGrpSpPr>
          <p:cNvPr id="25" name="Group 25"/>
          <p:cNvGrpSpPr/>
          <p:nvPr/>
        </p:nvGrpSpPr>
        <p:grpSpPr>
          <a:xfrm>
            <a:off x="678942" y="6426518"/>
            <a:ext cx="8485635" cy="264033"/>
            <a:chOff x="678942" y="6426518"/>
            <a:chExt cx="8485635" cy="264033"/>
          </a:xfrm>
        </p:grpSpPr>
        <p:sp>
          <p:nvSpPr>
            <p:cNvPr id="24" name="TextBox 24"/>
            <p:cNvSpPr txBox="1"/>
            <p:nvPr/>
          </p:nvSpPr>
          <p:spPr>
            <a:xfrm>
              <a:off x="678942" y="6426518"/>
              <a:ext cx="848563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All four are mockups of proposed executions; no placement is shown that the shop does not already own.</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15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150"/>
                            </p:stCondLst>
                            <p:childTnLst>
                              <p:par>
                                <p:cTn id="13" presetID="10" presetClass="entr" presetSubtype="0" fill="hold" grpId="0" nodeType="afterEffect">
                                  <p:stCondLst>
                                    <p:cond delay="15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1800"/>
                            </p:stCondLst>
                            <p:childTnLst>
                              <p:par>
                                <p:cTn id="17" presetID="10" presetClass="entr" presetSubtype="0" fill="hold" grpId="0" nodeType="afterEffect">
                                  <p:stCondLst>
                                    <p:cond delay="15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par>
                          <p:cTn id="20" fill="hold">
                            <p:stCondLst>
                              <p:cond delay="2450"/>
                            </p:stCondLst>
                            <p:childTnLst>
                              <p:par>
                                <p:cTn id="21" presetID="10" presetClass="entr" presetSubtype="0" fill="hold" grpId="0" nodeType="afterEffect">
                                  <p:stCondLst>
                                    <p:cond delay="15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8080A">
                  <a:alpha val="66000"/>
                </a:srgbClr>
              </a:gs>
              <a:gs pos="55000">
                <a:srgbClr val="08080A">
                  <a:alpha val="86000"/>
                </a:srgbClr>
              </a:gs>
              <a:gs pos="100000">
                <a:srgbClr val="08080A">
                  <a:alpha val="93000"/>
                </a:srgbClr>
              </a:gs>
            </a:gsLst>
            <a:lin ang="5400000" scaled="1"/>
          </a:gradFill>
          <a:ln>
            <a:noFill/>
          </a:ln>
        </p:spPr>
      </p:sp>
      <p:grpSp>
        <p:nvGrpSpPr>
          <p:cNvPr id="5" name="Group 5"/>
          <p:cNvGrpSpPr/>
          <p:nvPr/>
        </p:nvGrpSpPr>
        <p:grpSpPr>
          <a:xfrm>
            <a:off x="667512" y="678180"/>
            <a:ext cx="4431171" cy="704088"/>
            <a:chOff x="667512" y="678180"/>
            <a:chExt cx="4431171" cy="704088"/>
          </a:xfrm>
        </p:grpSpPr>
        <p:sp>
          <p:nvSpPr>
            <p:cNvPr id="4" name="TextBox 4"/>
            <p:cNvSpPr txBox="1"/>
            <p:nvPr/>
          </p:nvSpPr>
          <p:spPr>
            <a:xfrm>
              <a:off x="667512" y="678180"/>
              <a:ext cx="4431171"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The identity, in use</a:t>
              </a:r>
            </a:p>
          </p:txBody>
        </p:sp>
      </p:grpSp>
      <p:grpSp>
        <p:nvGrpSpPr>
          <p:cNvPr id="9" name="Group 9"/>
          <p:cNvGrpSpPr/>
          <p:nvPr/>
        </p:nvGrpSpPr>
        <p:grpSpPr>
          <a:xfrm>
            <a:off x="671322" y="1710690"/>
            <a:ext cx="7270405" cy="1150811"/>
            <a:chOff x="671322" y="1710690"/>
            <a:chExt cx="7270405" cy="1150811"/>
          </a:xfrm>
        </p:grpSpPr>
        <p:sp>
          <p:nvSpPr>
            <p:cNvPr id="6" name="TextBox 6"/>
            <p:cNvSpPr txBox="1"/>
            <p:nvPr/>
          </p:nvSpPr>
          <p:spPr>
            <a:xfrm>
              <a:off x="676656" y="1710690"/>
              <a:ext cx="119740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Type voice</a:t>
              </a:r>
            </a:p>
          </p:txBody>
        </p:sp>
        <p:sp>
          <p:nvSpPr>
            <p:cNvPr id="7" name="TextBox 7"/>
            <p:cNvSpPr txBox="1"/>
            <p:nvPr/>
          </p:nvSpPr>
          <p:spPr>
            <a:xfrm>
              <a:off x="671322" y="2073592"/>
              <a:ext cx="5768147"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j-lt"/>
                  <a:ea typeface="+mj-ea"/>
                  <a:cs typeface="+mj-cs"/>
                </a:rPr>
                <a:t>The last hour belongs to a book.</a:t>
              </a:r>
            </a:p>
          </p:txBody>
        </p:sp>
        <p:sp>
          <p:nvSpPr>
            <p:cNvPr id="8" name="TextBox 8"/>
            <p:cNvSpPr txBox="1"/>
            <p:nvPr/>
          </p:nvSpPr>
          <p:spPr>
            <a:xfrm>
              <a:off x="678942" y="2597468"/>
              <a:ext cx="726278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Georgia for everything the campaign says; a quiet sans for everything the shop adds later.</a:t>
              </a:r>
            </a:p>
          </p:txBody>
        </p:sp>
      </p:grpSp>
      <p:grpSp>
        <p:nvGrpSpPr>
          <p:cNvPr id="23" name="Group 23"/>
          <p:cNvGrpSpPr/>
          <p:nvPr/>
        </p:nvGrpSpPr>
        <p:grpSpPr>
          <a:xfrm>
            <a:off x="676656" y="3139440"/>
            <a:ext cx="7400544" cy="1341311"/>
            <a:chOff x="676656" y="3139440"/>
            <a:chExt cx="7400544" cy="1341311"/>
          </a:xfrm>
        </p:grpSpPr>
        <p:sp>
          <p:nvSpPr>
            <p:cNvPr id="10" name="TextBox 10"/>
            <p:cNvSpPr txBox="1"/>
            <p:nvPr/>
          </p:nvSpPr>
          <p:spPr>
            <a:xfrm>
              <a:off x="676656" y="3139440"/>
              <a:ext cx="156123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Palette, by job</a:t>
              </a:r>
            </a:p>
          </p:txBody>
        </p:sp>
        <p:sp>
          <p:nvSpPr>
            <p:cNvPr id="11" name="Rectangle 11"/>
            <p:cNvSpPr/>
            <p:nvPr/>
          </p:nvSpPr>
          <p:spPr>
            <a:xfrm>
              <a:off x="685800" y="3543300"/>
              <a:ext cx="1676400" cy="419100"/>
            </a:xfrm>
            <a:prstGeom prst="rect">
              <a:avLst/>
            </a:prstGeom>
            <a:solidFill>
              <a:schemeClr val="lt1"/>
            </a:solidFill>
            <a:ln w="9525">
              <a:solidFill>
                <a:srgbClr val="3A3A40"/>
              </a:solidFill>
            </a:ln>
          </p:spPr>
        </p:sp>
        <p:sp>
          <p:nvSpPr>
            <p:cNvPr id="12" name="TextBox 12"/>
            <p:cNvSpPr txBox="1"/>
            <p:nvPr/>
          </p:nvSpPr>
          <p:spPr>
            <a:xfrm>
              <a:off x="678942" y="4007168"/>
              <a:ext cx="72582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Night ink</a:t>
              </a:r>
            </a:p>
          </p:txBody>
        </p:sp>
        <p:sp>
          <p:nvSpPr>
            <p:cNvPr id="13" name="TextBox 13"/>
            <p:cNvSpPr txBox="1"/>
            <p:nvPr/>
          </p:nvSpPr>
          <p:spPr>
            <a:xfrm>
              <a:off x="678942" y="4216718"/>
              <a:ext cx="88278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ground</a:t>
              </a:r>
            </a:p>
          </p:txBody>
        </p:sp>
        <p:sp>
          <p:nvSpPr>
            <p:cNvPr id="14" name="Rectangle 14"/>
            <p:cNvSpPr/>
            <p:nvPr/>
          </p:nvSpPr>
          <p:spPr>
            <a:xfrm>
              <a:off x="2590800" y="3543300"/>
              <a:ext cx="1676400" cy="419100"/>
            </a:xfrm>
            <a:prstGeom prst="rect">
              <a:avLst/>
            </a:prstGeom>
            <a:solidFill>
              <a:schemeClr val="accent1"/>
            </a:solidFill>
            <a:ln>
              <a:noFill/>
            </a:ln>
          </p:spPr>
        </p:sp>
        <p:sp>
          <p:nvSpPr>
            <p:cNvPr id="15" name="TextBox 15"/>
            <p:cNvSpPr txBox="1"/>
            <p:nvPr/>
          </p:nvSpPr>
          <p:spPr>
            <a:xfrm>
              <a:off x="2583942" y="4007168"/>
              <a:ext cx="80672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Lamplight</a:t>
              </a:r>
            </a:p>
          </p:txBody>
        </p:sp>
        <p:sp>
          <p:nvSpPr>
            <p:cNvPr id="16" name="TextBox 16"/>
            <p:cNvSpPr txBox="1"/>
            <p:nvPr/>
          </p:nvSpPr>
          <p:spPr>
            <a:xfrm>
              <a:off x="2583942" y="4216718"/>
              <a:ext cx="10341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only light</a:t>
              </a:r>
            </a:p>
          </p:txBody>
        </p:sp>
        <p:sp>
          <p:nvSpPr>
            <p:cNvPr id="17" name="Rectangle 17"/>
            <p:cNvSpPr/>
            <p:nvPr/>
          </p:nvSpPr>
          <p:spPr>
            <a:xfrm>
              <a:off x="4495800" y="3543300"/>
              <a:ext cx="1676400" cy="419100"/>
            </a:xfrm>
            <a:prstGeom prst="rect">
              <a:avLst/>
            </a:prstGeom>
            <a:solidFill>
              <a:schemeClr val="lt2"/>
            </a:solidFill>
            <a:ln>
              <a:noFill/>
            </a:ln>
          </p:spPr>
        </p:sp>
        <p:sp>
          <p:nvSpPr>
            <p:cNvPr id="18" name="TextBox 18"/>
            <p:cNvSpPr txBox="1"/>
            <p:nvPr/>
          </p:nvSpPr>
          <p:spPr>
            <a:xfrm>
              <a:off x="4488942" y="4007168"/>
              <a:ext cx="10600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Paper cream</a:t>
              </a:r>
            </a:p>
          </p:txBody>
        </p:sp>
        <p:sp>
          <p:nvSpPr>
            <p:cNvPr id="19" name="TextBox 19"/>
            <p:cNvSpPr txBox="1"/>
            <p:nvPr/>
          </p:nvSpPr>
          <p:spPr>
            <a:xfrm>
              <a:off x="4488942" y="4216718"/>
              <a:ext cx="155942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what readers touch</a:t>
              </a:r>
            </a:p>
          </p:txBody>
        </p:sp>
        <p:sp>
          <p:nvSpPr>
            <p:cNvPr id="20" name="Rectangle 20"/>
            <p:cNvSpPr/>
            <p:nvPr/>
          </p:nvSpPr>
          <p:spPr>
            <a:xfrm>
              <a:off x="6400800" y="3543300"/>
              <a:ext cx="1676400" cy="419100"/>
            </a:xfrm>
            <a:prstGeom prst="rect">
              <a:avLst/>
            </a:prstGeom>
            <a:solidFill>
              <a:schemeClr val="accent2"/>
            </a:solidFill>
            <a:ln>
              <a:noFill/>
            </a:ln>
          </p:spPr>
        </p:sp>
        <p:sp>
          <p:nvSpPr>
            <p:cNvPr id="21" name="TextBox 21"/>
            <p:cNvSpPr txBox="1"/>
            <p:nvPr/>
          </p:nvSpPr>
          <p:spPr>
            <a:xfrm>
              <a:off x="6393942" y="4007168"/>
              <a:ext cx="3926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Fern</a:t>
              </a:r>
            </a:p>
          </p:txBody>
        </p:sp>
        <p:sp>
          <p:nvSpPr>
            <p:cNvPr id="22" name="TextBox 22"/>
            <p:cNvSpPr txBox="1"/>
            <p:nvPr/>
          </p:nvSpPr>
          <p:spPr>
            <a:xfrm>
              <a:off x="6393942" y="4216718"/>
              <a:ext cx="167477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shop's own mark</a:t>
              </a:r>
            </a:p>
          </p:txBody>
        </p:sp>
      </p:grpSp>
      <p:grpSp>
        <p:nvGrpSpPr>
          <p:cNvPr id="34" name="Group 34"/>
          <p:cNvGrpSpPr/>
          <p:nvPr/>
        </p:nvGrpSpPr>
        <p:grpSpPr>
          <a:xfrm>
            <a:off x="676656" y="4758690"/>
            <a:ext cx="3900073" cy="1360361"/>
            <a:chOff x="676656" y="4758690"/>
            <a:chExt cx="3900073" cy="1360361"/>
          </a:xfrm>
        </p:grpSpPr>
        <p:sp>
          <p:nvSpPr>
            <p:cNvPr id="24" name="TextBox 24"/>
            <p:cNvSpPr txBox="1"/>
            <p:nvPr/>
          </p:nvSpPr>
          <p:spPr>
            <a:xfrm>
              <a:off x="676656" y="4758690"/>
              <a:ext cx="275993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The mark, at three scales</a:t>
              </a:r>
            </a:p>
          </p:txBody>
        </p:sp>
        <p:sp>
          <p:nvSpPr>
            <p:cNvPr id="25" name="Freeform 25"/>
            <p:cNvSpPr/>
            <p:nvPr/>
          </p:nvSpPr>
          <p:spPr>
            <a:xfrm>
              <a:off x="1143000" y="5276850"/>
              <a:ext cx="342900" cy="438150"/>
            </a:xfrm>
            <a:prstGeom prst="moon">
              <a:avLst/>
            </a:prstGeom>
            <a:solidFill>
              <a:schemeClr val="accent1"/>
            </a:solidFill>
            <a:ln>
              <a:noFill/>
            </a:ln>
          </p:spPr>
        </p:sp>
        <p:sp>
          <p:nvSpPr>
            <p:cNvPr id="26" name="Rectangle 26"/>
            <p:cNvSpPr/>
            <p:nvPr/>
          </p:nvSpPr>
          <p:spPr>
            <a:xfrm>
              <a:off x="685800" y="5715000"/>
              <a:ext cx="1257300" cy="28575"/>
            </a:xfrm>
            <a:prstGeom prst="rect">
              <a:avLst/>
            </a:prstGeom>
            <a:solidFill>
              <a:schemeClr val="dk1"/>
            </a:solidFill>
            <a:ln>
              <a:noFill/>
            </a:ln>
          </p:spPr>
        </p:sp>
        <p:sp>
          <p:nvSpPr>
            <p:cNvPr id="27" name="TextBox 27"/>
            <p:cNvSpPr txBox="1"/>
            <p:nvPr/>
          </p:nvSpPr>
          <p:spPr>
            <a:xfrm>
              <a:off x="678942" y="5855018"/>
              <a:ext cx="51883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poster</a:t>
              </a:r>
            </a:p>
          </p:txBody>
        </p:sp>
        <p:sp>
          <p:nvSpPr>
            <p:cNvPr id="28" name="Freeform 28"/>
            <p:cNvSpPr/>
            <p:nvPr/>
          </p:nvSpPr>
          <p:spPr>
            <a:xfrm>
              <a:off x="2676525" y="5429250"/>
              <a:ext cx="285750" cy="285750"/>
            </a:xfrm>
            <a:prstGeom prst="moon">
              <a:avLst/>
            </a:prstGeom>
            <a:solidFill>
              <a:schemeClr val="accent1"/>
            </a:solidFill>
            <a:ln>
              <a:noFill/>
            </a:ln>
          </p:spPr>
        </p:sp>
        <p:sp>
          <p:nvSpPr>
            <p:cNvPr id="29" name="Rectangle 29"/>
            <p:cNvSpPr/>
            <p:nvPr/>
          </p:nvSpPr>
          <p:spPr>
            <a:xfrm>
              <a:off x="2400300" y="5715000"/>
              <a:ext cx="838200" cy="19050"/>
            </a:xfrm>
            <a:prstGeom prst="rect">
              <a:avLst/>
            </a:prstGeom>
            <a:solidFill>
              <a:schemeClr val="dk1"/>
            </a:solidFill>
            <a:ln>
              <a:noFill/>
            </a:ln>
          </p:spPr>
        </p:sp>
        <p:sp>
          <p:nvSpPr>
            <p:cNvPr id="30" name="TextBox 30"/>
            <p:cNvSpPr txBox="1"/>
            <p:nvPr/>
          </p:nvSpPr>
          <p:spPr>
            <a:xfrm>
              <a:off x="2393442" y="5855018"/>
              <a:ext cx="61984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window</a:t>
              </a:r>
            </a:p>
          </p:txBody>
        </p:sp>
        <p:sp>
          <p:nvSpPr>
            <p:cNvPr id="31" name="Freeform 31"/>
            <p:cNvSpPr/>
            <p:nvPr/>
          </p:nvSpPr>
          <p:spPr>
            <a:xfrm>
              <a:off x="3895725" y="5543550"/>
              <a:ext cx="171450" cy="171450"/>
            </a:xfrm>
            <a:prstGeom prst="moon">
              <a:avLst/>
            </a:prstGeom>
            <a:solidFill>
              <a:schemeClr val="accent1"/>
            </a:solidFill>
            <a:ln>
              <a:noFill/>
            </a:ln>
          </p:spPr>
        </p:sp>
        <p:sp>
          <p:nvSpPr>
            <p:cNvPr id="32" name="Rectangle 32"/>
            <p:cNvSpPr/>
            <p:nvPr/>
          </p:nvSpPr>
          <p:spPr>
            <a:xfrm>
              <a:off x="3771900" y="5715000"/>
              <a:ext cx="419100" cy="19050"/>
            </a:xfrm>
            <a:prstGeom prst="rect">
              <a:avLst/>
            </a:prstGeom>
            <a:solidFill>
              <a:schemeClr val="dk1"/>
            </a:solidFill>
            <a:ln>
              <a:noFill/>
            </a:ln>
          </p:spPr>
        </p:sp>
        <p:sp>
          <p:nvSpPr>
            <p:cNvPr id="33" name="TextBox 33"/>
            <p:cNvSpPr txBox="1"/>
            <p:nvPr/>
          </p:nvSpPr>
          <p:spPr>
            <a:xfrm>
              <a:off x="3765042" y="5855018"/>
              <a:ext cx="81168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bookmark</a:t>
              </a:r>
            </a:p>
          </p:txBody>
        </p:sp>
      </p:grpSp>
      <p:grpSp>
        <p:nvGrpSpPr>
          <p:cNvPr id="39" name="Group 39"/>
          <p:cNvGrpSpPr/>
          <p:nvPr/>
        </p:nvGrpSpPr>
        <p:grpSpPr>
          <a:xfrm>
            <a:off x="8756142" y="1714500"/>
            <a:ext cx="2520178" cy="4652201"/>
            <a:chOff x="8756142" y="1714500"/>
            <a:chExt cx="2520178" cy="4652201"/>
          </a:xfrm>
        </p:grpSpPr>
        <p:pic>
          <p:nvPicPr>
            <p:cNvPr id="35" name="Image 35"/>
            <p:cNvPicPr>
              <a:picLocks noChangeAspect="1"/>
            </p:cNvPicPr>
            <p:nvPr/>
          </p:nvPicPr>
          <p:blipFill>
            <a:blip r:embed="rId3"/>
            <a:stretch>
              <a:fillRect/>
            </a:stretch>
          </p:blipFill>
          <p:spPr>
            <a:xfrm>
              <a:off x="9144000" y="1714500"/>
              <a:ext cx="1047750" cy="1647825"/>
            </a:xfrm>
            <a:prstGeom prst="rect">
              <a:avLst/>
            </a:prstGeom>
          </p:spPr>
        </p:pic>
        <p:sp>
          <p:nvSpPr>
            <p:cNvPr id="36" name="TextBox 36"/>
            <p:cNvSpPr txBox="1"/>
            <p:nvPr/>
          </p:nvSpPr>
          <p:spPr>
            <a:xfrm>
              <a:off x="8756142" y="3530918"/>
              <a:ext cx="252017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Lamplight is a light source, never</a:t>
              </a:r>
              <a:br/>
              <a:r>
                <a:rPr lang="en-US" sz="1350" dirty="0">
                  <a:solidFill>
                    <a:schemeClr val="accent5"/>
                  </a:solidFill>
                  <a:latin typeface="+mn-lt"/>
                  <a:ea typeface="+mn-ea"/>
                  <a:cs typeface="+mn-cs"/>
                </a:rPr>
                <a:t>a type colour.</a:t>
              </a:r>
            </a:p>
          </p:txBody>
        </p:sp>
        <p:pic>
          <p:nvPicPr>
            <p:cNvPr id="37" name="Image 37"/>
            <p:cNvPicPr>
              <a:picLocks noChangeAspect="1"/>
            </p:cNvPicPr>
            <p:nvPr/>
          </p:nvPicPr>
          <p:blipFill>
            <a:blip r:embed="rId4"/>
            <a:stretch>
              <a:fillRect/>
            </a:stretch>
          </p:blipFill>
          <p:spPr>
            <a:xfrm>
              <a:off x="9144000" y="4248150"/>
              <a:ext cx="1047750" cy="1457325"/>
            </a:xfrm>
            <a:prstGeom prst="rect">
              <a:avLst/>
            </a:prstGeom>
          </p:spPr>
        </p:pic>
        <p:sp>
          <p:nvSpPr>
            <p:cNvPr id="38" name="TextBox 38"/>
            <p:cNvSpPr txBox="1"/>
            <p:nvPr/>
          </p:nvSpPr>
          <p:spPr>
            <a:xfrm>
              <a:off x="8756142" y="5874068"/>
              <a:ext cx="251033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Fern marks only the surfaces the</a:t>
              </a:r>
              <a:br/>
              <a:r>
                <a:rPr lang="en-US" sz="1350" dirty="0">
                  <a:solidFill>
                    <a:schemeClr val="accent5"/>
                  </a:solidFill>
                  <a:latin typeface="+mn-lt"/>
                  <a:ea typeface="+mn-ea"/>
                  <a:cs typeface="+mn-cs"/>
                </a:rPr>
                <a:t>shop itself owns.</a:t>
              </a:r>
            </a:p>
          </p:txBody>
        </p:sp>
      </p:grpSp>
      <p:grpSp>
        <p:nvGrpSpPr>
          <p:cNvPr id="41" name="Group 41"/>
          <p:cNvGrpSpPr/>
          <p:nvPr/>
        </p:nvGrpSpPr>
        <p:grpSpPr>
          <a:xfrm>
            <a:off x="678942" y="6426518"/>
            <a:ext cx="7464958" cy="264033"/>
            <a:chOff x="678942" y="6426518"/>
            <a:chExt cx="7464958" cy="264033"/>
          </a:xfrm>
        </p:grpSpPr>
        <p:sp>
          <p:nvSpPr>
            <p:cNvPr id="40" name="TextBox 40"/>
            <p:cNvSpPr txBox="1"/>
            <p:nvPr/>
          </p:nvSpPr>
          <p:spPr>
            <a:xfrm>
              <a:off x="678942" y="6426518"/>
              <a:ext cx="7464958"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Ember appears only where a screen is being referred to; nothing else in the campaign is red.</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450"/>
                            </p:stCondLst>
                            <p:childTnLst>
                              <p:par>
                                <p:cTn xmlns:p="http://schemas.openxmlformats.org/presentationml/2006/main" id="21" presetID="10" presetClass="entr" presetSubtype="0" fill="hold" grpId="0" nodeType="afterEffect">
                                  <p:stCondLst>
                                    <p:cond delay="15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8080A">
                  <a:alpha val="90000"/>
                </a:srgbClr>
              </a:gs>
              <a:gs pos="60000">
                <a:srgbClr val="08080A">
                  <a:alpha val="74000"/>
                </a:srgbClr>
              </a:gs>
              <a:gs pos="100000">
                <a:srgbClr val="08080A">
                  <a:alpha val="52000"/>
                </a:srgbClr>
              </a:gs>
            </a:gsLst>
            <a:lin ang="0" scaled="1"/>
          </a:gradFill>
          <a:ln>
            <a:noFill/>
          </a:ln>
        </p:spPr>
      </p:sp>
      <p:grpSp>
        <p:nvGrpSpPr>
          <p:cNvPr id="5" name="Group 5"/>
          <p:cNvGrpSpPr/>
          <p:nvPr/>
        </p:nvGrpSpPr>
        <p:grpSpPr>
          <a:xfrm>
            <a:off x="667512" y="678180"/>
            <a:ext cx="3383461" cy="704088"/>
            <a:chOff x="667512" y="678180"/>
            <a:chExt cx="3383461" cy="704088"/>
          </a:xfrm>
        </p:grpSpPr>
        <p:sp>
          <p:nvSpPr>
            <p:cNvPr id="4" name="TextBox 4"/>
            <p:cNvSpPr txBox="1"/>
            <p:nvPr/>
          </p:nvSpPr>
          <p:spPr>
            <a:xfrm>
              <a:off x="667512" y="678180"/>
              <a:ext cx="3383461" cy="704088"/>
            </a:xfrm>
            <a:prstGeom prst="rect">
              <a:avLst/>
            </a:prstGeom>
            <a:noFill/>
            <a:ln>
              <a:noFill/>
            </a:ln>
          </p:spPr>
          <p:txBody>
            <a:bodyPr wrap="none" lIns="0" tIns="0" rIns="0" bIns="0" anchor="t" anchorCtr="0">
              <a:spAutoFit/>
            </a:bodyPr>
            <a:lstStyle/>
            <a:p>
              <a:pPr algn="l"/>
              <a:r>
                <a:rPr lang="en-US" sz="3600" dirty="0">
                  <a:solidFill>
                    <a:schemeClr val="dk1"/>
                  </a:solidFill>
                  <a:latin typeface="+mj-lt"/>
                  <a:ea typeface="+mj-ea"/>
                  <a:cs typeface="+mj-cs"/>
                </a:rPr>
                <a:t>Tone and craft</a:t>
              </a:r>
            </a:p>
          </p:txBody>
        </p:sp>
      </p:grpSp>
      <p:grpSp>
        <p:nvGrpSpPr>
          <p:cNvPr id="8" name="!!campaign-mark"/>
          <p:cNvGrpSpPr/>
          <p:nvPr/>
        </p:nvGrpSpPr>
        <p:grpSpPr>
          <a:xfrm>
            <a:off x="9525000" y="1428750"/>
            <a:ext cx="1257300" cy="466725"/>
            <a:chOff x="9525000" y="1428750"/>
            <a:chExt cx="1257300" cy="466725"/>
          </a:xfrm>
        </p:grpSpPr>
        <p:sp>
          <p:nvSpPr>
            <p:cNvPr id="6" name="Freeform 6"/>
            <p:cNvSpPr/>
            <p:nvPr/>
          </p:nvSpPr>
          <p:spPr>
            <a:xfrm>
              <a:off x="9982200" y="1428750"/>
              <a:ext cx="342900" cy="438150"/>
            </a:xfrm>
            <a:prstGeom prst="moon">
              <a:avLst/>
            </a:prstGeom>
            <a:solidFill>
              <a:schemeClr val="accent1"/>
            </a:solidFill>
            <a:ln>
              <a:noFill/>
            </a:ln>
          </p:spPr>
        </p:sp>
        <p:sp>
          <p:nvSpPr>
            <p:cNvPr id="7" name="Rectangle 7"/>
            <p:cNvSpPr/>
            <p:nvPr/>
          </p:nvSpPr>
          <p:spPr>
            <a:xfrm>
              <a:off x="9525000" y="1866900"/>
              <a:ext cx="1257300" cy="28575"/>
            </a:xfrm>
            <a:prstGeom prst="rect">
              <a:avLst/>
            </a:prstGeom>
            <a:solidFill>
              <a:schemeClr val="dk1"/>
            </a:solidFill>
            <a:ln>
              <a:noFill/>
            </a:ln>
          </p:spPr>
        </p:sp>
      </p:grpSp>
      <p:grpSp>
        <p:nvGrpSpPr>
          <p:cNvPr id="10" name="Group 10"/>
          <p:cNvGrpSpPr/>
          <p:nvPr/>
        </p:nvGrpSpPr>
        <p:grpSpPr>
          <a:xfrm>
            <a:off x="666750" y="2177415"/>
            <a:ext cx="4326527" cy="1219200"/>
            <a:chOff x="666750" y="2177415"/>
            <a:chExt cx="4326527" cy="1219200"/>
          </a:xfrm>
        </p:grpSpPr>
        <p:sp>
          <p:nvSpPr>
            <p:cNvPr id="9" name="TextBox 9"/>
            <p:cNvSpPr txBox="1"/>
            <p:nvPr/>
          </p:nvSpPr>
          <p:spPr>
            <a:xfrm>
              <a:off x="666750" y="2177415"/>
              <a:ext cx="4326527" cy="1219200"/>
            </a:xfrm>
            <a:prstGeom prst="rect">
              <a:avLst/>
            </a:prstGeom>
            <a:noFill/>
            <a:ln>
              <a:noFill/>
            </a:ln>
          </p:spPr>
          <p:txBody>
            <a:bodyPr wrap="none" lIns="0" tIns="0" rIns="0" bIns="0" anchor="t" anchorCtr="0">
              <a:spAutoFit/>
            </a:bodyPr>
            <a:lstStyle/>
            <a:p>
              <a:pPr algn="l"/>
              <a:r>
                <a:rPr lang="en-US" sz="6300" dirty="0">
                  <a:solidFill>
                    <a:schemeClr val="dk1"/>
                  </a:solidFill>
                  <a:effectLst>
                    <a:glow rad="57150">
                      <a:srgbClr val="E9C877">
                        <a:alpha val="45000"/>
                      </a:srgbClr>
                    </a:glow>
                  </a:effectLst>
                  <a:latin typeface="+mj-lt"/>
                  <a:ea typeface="+mj-ea"/>
                  <a:cs typeface="+mj-cs"/>
                </a:rPr>
                <a:t>Unhurried</a:t>
              </a:r>
            </a:p>
          </p:txBody>
        </p:sp>
      </p:grpSp>
      <p:grpSp>
        <p:nvGrpSpPr>
          <p:cNvPr id="12" name="Group 12"/>
          <p:cNvGrpSpPr/>
          <p:nvPr/>
        </p:nvGrpSpPr>
        <p:grpSpPr>
          <a:xfrm>
            <a:off x="672084" y="3251835"/>
            <a:ext cx="5515281" cy="528066"/>
            <a:chOff x="672084" y="3251835"/>
            <a:chExt cx="5515281" cy="528066"/>
          </a:xfrm>
        </p:grpSpPr>
        <p:sp>
          <p:nvSpPr>
            <p:cNvPr id="11" name="TextBox 11"/>
            <p:cNvSpPr txBox="1"/>
            <p:nvPr/>
          </p:nvSpPr>
          <p:spPr>
            <a:xfrm>
              <a:off x="672084" y="3251835"/>
              <a:ext cx="5515281"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n-lt"/>
                  <a:ea typeface="+mn-ea"/>
                  <a:cs typeface="+mn-cs"/>
                </a:rPr>
                <a:t>Warm, printed, made by the shop.</a:t>
              </a:r>
            </a:p>
          </p:txBody>
        </p:sp>
      </p:grpSp>
      <p:grpSp>
        <p:nvGrpSpPr>
          <p:cNvPr id="16" name="Group 16"/>
          <p:cNvGrpSpPr/>
          <p:nvPr/>
        </p:nvGrpSpPr>
        <p:grpSpPr>
          <a:xfrm>
            <a:off x="674370" y="4100512"/>
            <a:ext cx="6548564" cy="1354455"/>
            <a:chOff x="674370" y="4100512"/>
            <a:chExt cx="6548564" cy="1354455"/>
          </a:xfrm>
        </p:grpSpPr>
        <p:sp>
          <p:nvSpPr>
            <p:cNvPr id="13" name="TextBox 13"/>
            <p:cNvSpPr txBox="1"/>
            <p:nvPr/>
          </p:nvSpPr>
          <p:spPr>
            <a:xfrm>
              <a:off x="674370" y="4100512"/>
              <a:ext cx="612714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Uncoated cream stock, two inks, no laminate.</a:t>
              </a:r>
            </a:p>
          </p:txBody>
        </p:sp>
        <p:sp>
          <p:nvSpPr>
            <p:cNvPr id="14" name="TextBox 14"/>
            <p:cNvSpPr txBox="1"/>
            <p:nvPr/>
          </p:nvSpPr>
          <p:spPr>
            <a:xfrm>
              <a:off x="674370" y="4557712"/>
              <a:ext cx="641522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Photographed at night in the shop, not on a set.</a:t>
              </a:r>
            </a:p>
          </p:txBody>
        </p:sp>
        <p:sp>
          <p:nvSpPr>
            <p:cNvPr id="15" name="TextBox 15"/>
            <p:cNvSpPr txBox="1"/>
            <p:nvPr/>
          </p:nvSpPr>
          <p:spPr>
            <a:xfrm>
              <a:off x="674370" y="5014912"/>
              <a:ext cx="6548564"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Every line written to be read aloud in one breath.</a:t>
              </a:r>
            </a:p>
          </p:txBody>
        </p:sp>
      </p:grpSp>
      <p:grpSp>
        <p:nvGrpSpPr>
          <p:cNvPr id="19" name="Group 19"/>
          <p:cNvGrpSpPr/>
          <p:nvPr/>
        </p:nvGrpSpPr>
        <p:grpSpPr>
          <a:xfrm>
            <a:off x="8565642" y="3733800"/>
            <a:ext cx="2480775" cy="2899601"/>
            <a:chOff x="8565642" y="3733800"/>
            <a:chExt cx="2480775" cy="2899601"/>
          </a:xfrm>
        </p:grpSpPr>
        <p:pic>
          <p:nvPicPr>
            <p:cNvPr id="17" name="Image 17"/>
            <p:cNvPicPr>
              <a:picLocks noChangeAspect="1"/>
            </p:cNvPicPr>
            <p:nvPr/>
          </p:nvPicPr>
          <p:blipFill>
            <a:blip r:embed="rId3"/>
            <a:stretch>
              <a:fillRect/>
            </a:stretch>
          </p:blipFill>
          <p:spPr>
            <a:xfrm>
              <a:off x="8575083" y="3733800"/>
              <a:ext cx="2471334" cy="2257425"/>
            </a:xfrm>
            <a:prstGeom prst="rect">
              <a:avLst/>
            </a:prstGeom>
          </p:spPr>
        </p:pic>
        <p:sp>
          <p:nvSpPr>
            <p:cNvPr id="18" name="TextBox 18"/>
            <p:cNvSpPr txBox="1"/>
            <p:nvPr/>
          </p:nvSpPr>
          <p:spPr>
            <a:xfrm>
              <a:off x="8565642" y="6140768"/>
              <a:ext cx="234896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Something the shop made, not</a:t>
              </a:r>
              <a:br/>
              <a:r>
                <a:rPr lang="en-US" sz="1350" dirty="0">
                  <a:solidFill>
                    <a:schemeClr val="accent5"/>
                  </a:solidFill>
                  <a:latin typeface="+mn-lt"/>
                  <a:ea typeface="+mn-ea"/>
                  <a:cs typeface="+mn-cs"/>
                </a:rPr>
                <a:t>something it bought.</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15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00"/>
                                        <p:tgtEl>
                                          <p:spTgt spid="10"/>
                                        </p:tgtEl>
                                      </p:cBhvr>
                                    </p:animEffect>
                                  </p:childTnLst>
                                </p:cTn>
                              </p:par>
                            </p:childTnLst>
                          </p:cTn>
                        </p:par>
                        <p:par>
                          <p:cTn id="12" fill="hold">
                            <p:stCondLst>
                              <p:cond delay="1450"/>
                            </p:stCondLst>
                            <p:childTnLst>
                              <p:par>
                                <p:cTn id="13" presetID="10" presetClass="entr" presetSubtype="0" fill="hold" grpId="0" nodeType="afterEffect">
                                  <p:stCondLst>
                                    <p:cond delay="1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15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8080A">
                  <a:alpha val="86000"/>
                </a:srgbClr>
              </a:gs>
              <a:gs pos="52000">
                <a:srgbClr val="08080A">
                  <a:alpha val="34000"/>
                </a:srgbClr>
              </a:gs>
              <a:gs pos="100000">
                <a:srgbClr val="08080A">
                  <a:alpha val="0"/>
                </a:srgbClr>
              </a:gs>
            </a:gsLst>
            <a:lin ang="0" scaled="1"/>
          </a:gradFill>
          <a:ln>
            <a:noFill/>
          </a:ln>
        </p:spPr>
      </p:sp>
      <p:grpSp>
        <p:nvGrpSpPr>
          <p:cNvPr id="6" name="Group 6"/>
          <p:cNvGrpSpPr/>
          <p:nvPr/>
        </p:nvGrpSpPr>
        <p:grpSpPr>
          <a:xfrm>
            <a:off x="8877300" y="1447800"/>
            <a:ext cx="1352550" cy="2095500"/>
            <a:chOff x="8877300" y="1447800"/>
            <a:chExt cx="1352550" cy="2095500"/>
          </a:xfrm>
        </p:grpSpPr>
        <p:pic>
          <p:nvPicPr>
            <p:cNvPr id="4" name="Image 4"/>
            <p:cNvPicPr>
              <a:picLocks noChangeAspect="1"/>
            </p:cNvPicPr>
            <p:nvPr/>
          </p:nvPicPr>
          <p:blipFill>
            <a:blip r:embed="rId3"/>
            <a:srcRect l="1892" t="0" r="1891" b="0"/>
            <a:stretch>
              <a:fillRect/>
            </a:stretch>
          </p:blipFill>
          <p:spPr>
            <a:xfrm>
              <a:off x="8877300" y="1447800"/>
              <a:ext cx="1352550" cy="2095500"/>
            </a:xfrm>
            <a:prstGeom prst="rect">
              <a:avLst/>
            </a:prstGeom>
          </p:spPr>
        </p:pic>
        <p:sp>
          <p:nvSpPr>
            <p:cNvPr id="5" name="TextBox 5"/>
            <p:cNvSpPr txBox="1"/>
            <p:nvPr/>
          </p:nvSpPr>
          <p:spPr>
            <a:xfrm>
              <a:off x="8965692" y="2997518"/>
              <a:ext cx="1079900" cy="264033"/>
            </a:xfrm>
            <a:prstGeom prst="rect">
              <a:avLst/>
            </a:prstGeom>
            <a:noFill/>
            <a:ln>
              <a:noFill/>
            </a:ln>
          </p:spPr>
          <p:txBody>
            <a:bodyPr wrap="none" lIns="0" tIns="0" rIns="0" bIns="0" anchor="t" anchorCtr="0">
              <a:spAutoFit/>
            </a:bodyPr>
            <a:lstStyle/>
            <a:p>
              <a:pPr algn="l"/>
              <a:r>
                <a:rPr lang="en-US" sz="1350" dirty="0">
                  <a:solidFill>
                    <a:srgbClr val="141416"/>
                  </a:solidFill>
                  <a:latin typeface="+mn-lt"/>
                  <a:ea typeface="+mn-ea"/>
                  <a:cs typeface="+mn-cs"/>
                </a:rPr>
                <a:t>The last hour</a:t>
              </a:r>
            </a:p>
          </p:txBody>
        </p:sp>
      </p:grpSp>
      <p:grpSp>
        <p:nvGrpSpPr>
          <p:cNvPr id="9" name="!!campaign-mark"/>
          <p:cNvGrpSpPr/>
          <p:nvPr/>
        </p:nvGrpSpPr>
        <p:grpSpPr>
          <a:xfrm>
            <a:off x="952500" y="4095750"/>
            <a:ext cx="1257300" cy="466725"/>
            <a:chOff x="952500" y="4095750"/>
            <a:chExt cx="1257300" cy="466725"/>
          </a:xfrm>
        </p:grpSpPr>
        <p:sp>
          <p:nvSpPr>
            <p:cNvPr id="7" name="Freeform 7"/>
            <p:cNvSpPr/>
            <p:nvPr/>
          </p:nvSpPr>
          <p:spPr>
            <a:xfrm>
              <a:off x="1409700" y="4095750"/>
              <a:ext cx="342900" cy="438150"/>
            </a:xfrm>
            <a:prstGeom prst="moon">
              <a:avLst/>
            </a:prstGeom>
            <a:solidFill>
              <a:schemeClr val="accent1"/>
            </a:solidFill>
            <a:ln>
              <a:noFill/>
            </a:ln>
          </p:spPr>
        </p:sp>
        <p:sp>
          <p:nvSpPr>
            <p:cNvPr id="8" name="Rectangle 8"/>
            <p:cNvSpPr/>
            <p:nvPr/>
          </p:nvSpPr>
          <p:spPr>
            <a:xfrm>
              <a:off x="952500" y="4533900"/>
              <a:ext cx="1257300" cy="28575"/>
            </a:xfrm>
            <a:prstGeom prst="rect">
              <a:avLst/>
            </a:prstGeom>
            <a:solidFill>
              <a:schemeClr val="dk1"/>
            </a:solidFill>
            <a:ln>
              <a:noFill/>
            </a:ln>
          </p:spPr>
        </p:sp>
      </p:grpSp>
      <p:grpSp>
        <p:nvGrpSpPr>
          <p:cNvPr id="11" name="Group 11"/>
          <p:cNvGrpSpPr/>
          <p:nvPr/>
        </p:nvGrpSpPr>
        <p:grpSpPr>
          <a:xfrm>
            <a:off x="938022" y="4835842"/>
            <a:ext cx="5638276" cy="995553"/>
            <a:chOff x="938022" y="4835842"/>
            <a:chExt cx="5638276" cy="995553"/>
          </a:xfrm>
        </p:grpSpPr>
        <p:sp>
          <p:nvSpPr>
            <p:cNvPr id="10" name="TextBox 10"/>
            <p:cNvSpPr txBox="1"/>
            <p:nvPr/>
          </p:nvSpPr>
          <p:spPr>
            <a:xfrm>
              <a:off x="938022" y="4835842"/>
              <a:ext cx="5638276" cy="995553"/>
            </a:xfrm>
            <a:prstGeom prst="rect">
              <a:avLst/>
            </a:prstGeom>
            <a:noFill/>
            <a:ln>
              <a:noFill/>
            </a:ln>
          </p:spPr>
          <p:txBody>
            <a:bodyPr wrap="none" lIns="0" tIns="0" rIns="0" bIns="0" anchor="t" anchorCtr="0">
              <a:spAutoFit/>
            </a:bodyPr>
            <a:lstStyle/>
            <a:p>
              <a:pPr algn="l">
                <a:lnSpc>
                  <a:spcPts val="3450"/>
                </a:lnSpc>
              </a:pPr>
              <a:r>
                <a:rPr lang="en-US" sz="2850" dirty="0">
                  <a:solidFill>
                    <a:schemeClr val="dk1"/>
                  </a:solidFill>
                  <a:latin typeface="+mj-lt"/>
                  <a:ea typeface="+mj-ea"/>
                  <a:cs typeface="+mj-cs"/>
                </a:rPr>
                <a:t>At real size, from the far pavement,</a:t>
              </a:r>
              <a:br/>
              <a:r>
                <a:rPr lang="en-US" sz="2850" dirty="0">
                  <a:solidFill>
                    <a:schemeClr val="dk1"/>
                  </a:solidFill>
                  <a:latin typeface="+mj-lt"/>
                  <a:ea typeface="+mj-ea"/>
                  <a:cs typeface="+mj-cs"/>
                </a:rPr>
                <a:t>the poster still reads.</a:t>
              </a:r>
            </a:p>
          </p:txBody>
        </p:sp>
      </p:grpSp>
      <p:grpSp>
        <p:nvGrpSpPr>
          <p:cNvPr id="13" name="Group 13"/>
          <p:cNvGrpSpPr/>
          <p:nvPr/>
        </p:nvGrpSpPr>
        <p:grpSpPr>
          <a:xfrm>
            <a:off x="945642" y="6045518"/>
            <a:ext cx="6226628" cy="264033"/>
            <a:chOff x="945642" y="6045518"/>
            <a:chExt cx="6226628" cy="264033"/>
          </a:xfrm>
        </p:grpSpPr>
        <p:sp>
          <p:nvSpPr>
            <p:cNvPr id="12" name="TextBox 12"/>
            <p:cNvSpPr txBox="1"/>
            <p:nvPr/>
          </p:nvSpPr>
          <p:spPr>
            <a:xfrm>
              <a:off x="945642" y="6045518"/>
              <a:ext cx="62266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Mockup at the window's real dimensions, seen at ordinary standing eye level.</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par>
                          <p:cTn id="8" fill="hold">
                            <p:stCondLst>
                              <p:cond delay="600"/>
                            </p:stCondLst>
                            <p:childTnLst>
                              <p:par>
                                <p:cTn id="9" presetID="10" presetClass="entr" presetSubtype="0" fill="hold" grpId="0" nodeType="afterEffect">
                                  <p:stCondLst>
                                    <p:cond delay="15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Group 3"/>
          <p:cNvGrpSpPr/>
          <p:nvPr/>
        </p:nvGrpSpPr>
        <p:grpSpPr>
          <a:xfrm>
            <a:off x="667512" y="601980"/>
            <a:ext cx="5013317" cy="704088"/>
            <a:chOff x="667512" y="601980"/>
            <a:chExt cx="5013317" cy="704088"/>
          </a:xfrm>
        </p:grpSpPr>
        <p:sp>
          <p:nvSpPr>
            <p:cNvPr id="2" name="TextBox 2"/>
            <p:cNvSpPr txBox="1"/>
            <p:nvPr/>
          </p:nvSpPr>
          <p:spPr>
            <a:xfrm>
              <a:off x="667512" y="601980"/>
              <a:ext cx="5013317" cy="704088"/>
            </a:xfrm>
            <a:prstGeom prst="rect">
              <a:avLst/>
            </a:prstGeom>
            <a:noFill/>
            <a:ln>
              <a:noFill/>
            </a:ln>
          </p:spPr>
          <p:txBody>
            <a:bodyPr wrap="none" lIns="0" tIns="0" rIns="0" bIns="0" anchor="t" anchorCtr="0">
              <a:spAutoFit/>
            </a:bodyPr>
            <a:lstStyle/>
            <a:p>
              <a:pPr algn="l"/>
              <a:r>
                <a:rPr lang="en-US" sz="3600" dirty="0">
                  <a:solidFill>
                    <a:srgbClr val="141416"/>
                  </a:solidFill>
                  <a:latin typeface="+mj-lt"/>
                  <a:ea typeface="+mj-ea"/>
                  <a:cs typeface="+mj-cs"/>
                </a:rPr>
                <a:t>What it takes to make</a:t>
              </a:r>
            </a:p>
          </p:txBody>
        </p:sp>
      </p:grpSp>
      <p:grpSp>
        <p:nvGrpSpPr>
          <p:cNvPr id="28" name="Group 28"/>
          <p:cNvGrpSpPr/>
          <p:nvPr/>
        </p:nvGrpSpPr>
        <p:grpSpPr>
          <a:xfrm>
            <a:off x="7231856" y="773906"/>
            <a:ext cx="4232450" cy="277845"/>
            <a:chOff x="7231856" y="773906"/>
            <a:chExt cx="4232450" cy="277845"/>
          </a:xfrm>
        </p:grpSpPr>
        <p:grpSp>
          <p:nvGrpSpPr>
            <p:cNvPr id="7" name="Group 7"/>
            <p:cNvGrpSpPr/>
            <p:nvPr/>
          </p:nvGrpSpPr>
          <p:grpSpPr>
            <a:xfrm>
              <a:off x="7231856" y="773906"/>
              <a:ext cx="185737" cy="185737"/>
              <a:chOff x="7231856" y="773906"/>
              <a:chExt cx="185737" cy="185737"/>
            </a:xfrm>
          </p:grpSpPr>
          <p:sp>
            <p:nvSpPr>
              <p:cNvPr id="4" name="Freeform 4"/>
              <p:cNvSpPr/>
              <p:nvPr/>
            </p:nvSpPr>
            <p:spPr>
              <a:xfrm>
                <a:off x="7231856" y="835818"/>
                <a:ext cx="185737" cy="82550"/>
              </a:xfrm>
              <a:custGeom>
                <a:avLst/>
                <a:gdLst/>
                <a:ahLst/>
                <a:cxnLst/>
                <a:rect l="l" t="t" r="r" b="b"/>
                <a:pathLst>
                  <a:path w="185737" h="82550">
                    <a:moveTo>
                      <a:pt x="144462" y="82550"/>
                    </a:moveTo>
                    <a:lnTo>
                      <a:pt x="165099" y="82550"/>
                    </a:lnTo>
                    <a:cubicBezTo>
                      <a:pt x="176497" y="82550"/>
                      <a:pt x="185737" y="73310"/>
                      <a:pt x="185737" y="61912"/>
                    </a:cubicBezTo>
                    <a:lnTo>
                      <a:pt x="185737" y="20637"/>
                    </a:lnTo>
                    <a:cubicBezTo>
                      <a:pt x="185737" y="9240"/>
                      <a:pt x="176497" y="0"/>
                      <a:pt x="165099" y="0"/>
                    </a:cubicBezTo>
                    <a:lnTo>
                      <a:pt x="20637" y="0"/>
                    </a:lnTo>
                    <a:cubicBezTo>
                      <a:pt x="9240" y="0"/>
                      <a:pt x="0" y="9240"/>
                      <a:pt x="0" y="20637"/>
                    </a:cubicBezTo>
                    <a:lnTo>
                      <a:pt x="0" y="61912"/>
                    </a:lnTo>
                    <a:cubicBezTo>
                      <a:pt x="0" y="73310"/>
                      <a:pt x="9240" y="82550"/>
                      <a:pt x="20637" y="82550"/>
                    </a:cubicBezTo>
                    <a:lnTo>
                      <a:pt x="41275" y="82550"/>
                    </a:lnTo>
                  </a:path>
                </a:pathLst>
              </a:custGeom>
              <a:noFill/>
              <a:ln w="20637">
                <a:solidFill>
                  <a:srgbClr val="4A6B62"/>
                </a:solidFill>
              </a:ln>
            </p:spPr>
          </p:sp>
          <p:sp>
            <p:nvSpPr>
              <p:cNvPr id="5" name="Freeform 5"/>
              <p:cNvSpPr/>
              <p:nvPr/>
            </p:nvSpPr>
            <p:spPr>
              <a:xfrm>
                <a:off x="7273131" y="773906"/>
                <a:ext cx="103187" cy="61912"/>
              </a:xfrm>
              <a:custGeom>
                <a:avLst/>
                <a:gdLst/>
                <a:ahLst/>
                <a:cxnLst/>
                <a:rect l="l" t="t" r="r" b="b"/>
                <a:pathLst>
                  <a:path w="103187" h="61912">
                    <a:moveTo>
                      <a:pt x="103187" y="61912"/>
                    </a:moveTo>
                    <a:lnTo>
                      <a:pt x="103187" y="20637"/>
                    </a:lnTo>
                    <a:cubicBezTo>
                      <a:pt x="103187" y="9240"/>
                      <a:pt x="93947" y="0"/>
                      <a:pt x="82550" y="0"/>
                    </a:cubicBezTo>
                    <a:lnTo>
                      <a:pt x="20637" y="0"/>
                    </a:lnTo>
                    <a:cubicBezTo>
                      <a:pt x="9240" y="0"/>
                      <a:pt x="0" y="9240"/>
                      <a:pt x="0" y="20637"/>
                    </a:cubicBezTo>
                    <a:lnTo>
                      <a:pt x="0" y="61912"/>
                    </a:lnTo>
                  </a:path>
                </a:pathLst>
              </a:custGeom>
              <a:noFill/>
              <a:ln w="20637">
                <a:solidFill>
                  <a:srgbClr val="4A6B62"/>
                </a:solidFill>
              </a:ln>
            </p:spPr>
          </p:sp>
          <p:sp>
            <p:nvSpPr>
              <p:cNvPr id="6" name="Freeform 6"/>
              <p:cNvSpPr/>
              <p:nvPr/>
            </p:nvSpPr>
            <p:spPr>
              <a:xfrm>
                <a:off x="7273131" y="877093"/>
                <a:ext cx="103187" cy="82550"/>
              </a:xfrm>
              <a:custGeom>
                <a:avLst/>
                <a:gdLst/>
                <a:ahLst/>
                <a:cxnLst/>
                <a:rect l="l" t="t" r="r" b="b"/>
                <a:pathLst>
                  <a:path w="103187" h="82550">
                    <a:moveTo>
                      <a:pt x="0" y="20637"/>
                    </a:moveTo>
                    <a:cubicBezTo>
                      <a:pt x="0" y="9240"/>
                      <a:pt x="9240" y="0"/>
                      <a:pt x="20637" y="0"/>
                    </a:cubicBezTo>
                    <a:lnTo>
                      <a:pt x="82550" y="0"/>
                    </a:lnTo>
                    <a:cubicBezTo>
                      <a:pt x="93947" y="0"/>
                      <a:pt x="103187" y="9240"/>
                      <a:pt x="103187" y="20637"/>
                    </a:cubicBezTo>
                    <a:lnTo>
                      <a:pt x="103187" y="61912"/>
                    </a:lnTo>
                    <a:cubicBezTo>
                      <a:pt x="103187" y="73310"/>
                      <a:pt x="93947" y="82550"/>
                      <a:pt x="82550" y="82550"/>
                    </a:cubicBezTo>
                    <a:lnTo>
                      <a:pt x="20637" y="82550"/>
                    </a:lnTo>
                    <a:cubicBezTo>
                      <a:pt x="9240" y="82550"/>
                      <a:pt x="0" y="73310"/>
                      <a:pt x="0" y="61912"/>
                    </a:cubicBezTo>
                    <a:lnTo>
                      <a:pt x="0" y="20637"/>
                    </a:lnTo>
                  </a:path>
                </a:pathLst>
              </a:custGeom>
              <a:noFill/>
              <a:ln w="20637">
                <a:solidFill>
                  <a:srgbClr val="4A6B62"/>
                </a:solidFill>
              </a:ln>
            </p:spPr>
          </p:sp>
        </p:grpSp>
        <p:sp>
          <p:nvSpPr>
            <p:cNvPr id="8" name="TextBox 8"/>
            <p:cNvSpPr txBox="1"/>
            <p:nvPr/>
          </p:nvSpPr>
          <p:spPr>
            <a:xfrm>
              <a:off x="7517892" y="787718"/>
              <a:ext cx="391634" cy="264033"/>
            </a:xfrm>
            <a:prstGeom prst="rect">
              <a:avLst/>
            </a:prstGeom>
            <a:noFill/>
            <a:ln>
              <a:noFill/>
            </a:ln>
          </p:spPr>
          <p:txBody>
            <a:bodyPr wrap="none" lIns="0" tIns="0" rIns="0" bIns="0" anchor="t" anchorCtr="0">
              <a:spAutoFit/>
            </a:bodyPr>
            <a:lstStyle/>
            <a:p>
              <a:pPr algn="l"/>
              <a:r>
                <a:rPr lang="en-US" sz="1350" dirty="0">
                  <a:solidFill>
                    <a:srgbClr val="141416"/>
                  </a:solidFill>
                  <a:latin typeface="+mn-lt"/>
                  <a:ea typeface="+mn-ea"/>
                  <a:cs typeface="+mn-cs"/>
                </a:rPr>
                <a:t>Print</a:t>
              </a:r>
            </a:p>
          </p:txBody>
        </p:sp>
        <p:grpSp>
          <p:nvGrpSpPr>
            <p:cNvPr id="12" name="Group 12"/>
            <p:cNvGrpSpPr/>
            <p:nvPr/>
          </p:nvGrpSpPr>
          <p:grpSpPr>
            <a:xfrm>
              <a:off x="8301037" y="773906"/>
              <a:ext cx="123825" cy="185737"/>
              <a:chOff x="8301037" y="773906"/>
              <a:chExt cx="123825" cy="185737"/>
            </a:xfrm>
          </p:grpSpPr>
          <p:sp>
            <p:nvSpPr>
              <p:cNvPr id="9" name="Freeform 9"/>
              <p:cNvSpPr/>
              <p:nvPr/>
            </p:nvSpPr>
            <p:spPr>
              <a:xfrm>
                <a:off x="8301037" y="773906"/>
                <a:ext cx="123825" cy="185737"/>
              </a:xfrm>
              <a:custGeom>
                <a:avLst/>
                <a:gdLst/>
                <a:ahLst/>
                <a:cxnLst/>
                <a:rect l="l" t="t" r="r" b="b"/>
                <a:pathLst>
                  <a:path w="123825" h="185737">
                    <a:moveTo>
                      <a:pt x="0" y="20637"/>
                    </a:moveTo>
                    <a:cubicBezTo>
                      <a:pt x="0" y="9240"/>
                      <a:pt x="9240" y="0"/>
                      <a:pt x="20637" y="0"/>
                    </a:cubicBezTo>
                    <a:lnTo>
                      <a:pt x="103187" y="0"/>
                    </a:lnTo>
                    <a:cubicBezTo>
                      <a:pt x="114585" y="0"/>
                      <a:pt x="123825" y="9240"/>
                      <a:pt x="123825" y="20637"/>
                    </a:cubicBezTo>
                    <a:lnTo>
                      <a:pt x="123825" y="165099"/>
                    </a:lnTo>
                    <a:cubicBezTo>
                      <a:pt x="123825" y="176497"/>
                      <a:pt x="114585" y="185737"/>
                      <a:pt x="103187" y="185737"/>
                    </a:cubicBezTo>
                    <a:lnTo>
                      <a:pt x="20637" y="185737"/>
                    </a:lnTo>
                    <a:cubicBezTo>
                      <a:pt x="9240" y="185737"/>
                      <a:pt x="0" y="176497"/>
                      <a:pt x="0" y="165099"/>
                    </a:cubicBezTo>
                    <a:lnTo>
                      <a:pt x="0" y="20637"/>
                    </a:lnTo>
                  </a:path>
                </a:pathLst>
              </a:custGeom>
              <a:noFill/>
              <a:ln w="20637">
                <a:solidFill>
                  <a:srgbClr val="4A6B62"/>
                </a:solidFill>
              </a:ln>
            </p:spPr>
          </p:sp>
          <p:sp>
            <p:nvSpPr>
              <p:cNvPr id="10" name="Freeform 10"/>
              <p:cNvSpPr/>
              <p:nvPr/>
            </p:nvSpPr>
            <p:spPr>
              <a:xfrm>
                <a:off x="8352631" y="784225"/>
                <a:ext cx="20637" cy="9525"/>
              </a:xfrm>
              <a:custGeom>
                <a:avLst/>
                <a:gdLst/>
                <a:ahLst/>
                <a:cxnLst/>
                <a:rect l="l" t="t" r="r" b="b"/>
                <a:pathLst>
                  <a:path w="20637" h="9525">
                    <a:moveTo>
                      <a:pt x="0" y="0"/>
                    </a:moveTo>
                    <a:lnTo>
                      <a:pt x="20637" y="0"/>
                    </a:lnTo>
                  </a:path>
                </a:pathLst>
              </a:custGeom>
              <a:noFill/>
              <a:ln w="20637">
                <a:solidFill>
                  <a:srgbClr val="4A6B62"/>
                </a:solidFill>
              </a:ln>
            </p:spPr>
          </p:sp>
          <p:sp>
            <p:nvSpPr>
              <p:cNvPr id="11" name="Freeform 11"/>
              <p:cNvSpPr/>
              <p:nvPr/>
            </p:nvSpPr>
            <p:spPr>
              <a:xfrm>
                <a:off x="8362950" y="918368"/>
                <a:ext cx="9525" cy="9525"/>
              </a:xfrm>
              <a:custGeom>
                <a:avLst/>
                <a:gdLst/>
                <a:ahLst/>
                <a:cxnLst/>
                <a:rect l="l" t="t" r="r" b="b"/>
                <a:pathLst>
                  <a:path w="9525" h="9525">
                    <a:moveTo>
                      <a:pt x="0" y="0"/>
                    </a:moveTo>
                    <a:lnTo>
                      <a:pt x="0" y="103"/>
                    </a:lnTo>
                  </a:path>
                </a:pathLst>
              </a:custGeom>
              <a:noFill/>
              <a:ln w="20637">
                <a:solidFill>
                  <a:srgbClr val="4A6B62"/>
                </a:solidFill>
              </a:ln>
            </p:spPr>
          </p:sp>
        </p:grpSp>
        <p:sp>
          <p:nvSpPr>
            <p:cNvPr id="13" name="TextBox 13"/>
            <p:cNvSpPr txBox="1"/>
            <p:nvPr/>
          </p:nvSpPr>
          <p:spPr>
            <a:xfrm>
              <a:off x="8556117" y="787718"/>
              <a:ext cx="513401" cy="264033"/>
            </a:xfrm>
            <a:prstGeom prst="rect">
              <a:avLst/>
            </a:prstGeom>
            <a:noFill/>
            <a:ln>
              <a:noFill/>
            </a:ln>
          </p:spPr>
          <p:txBody>
            <a:bodyPr wrap="none" lIns="0" tIns="0" rIns="0" bIns="0" anchor="t" anchorCtr="0">
              <a:spAutoFit/>
            </a:bodyPr>
            <a:lstStyle/>
            <a:p>
              <a:pPr algn="l"/>
              <a:r>
                <a:rPr lang="en-US" sz="1350" dirty="0">
                  <a:solidFill>
                    <a:srgbClr val="141416"/>
                  </a:solidFill>
                  <a:latin typeface="+mn-lt"/>
                  <a:ea typeface="+mn-ea"/>
                  <a:cs typeface="+mn-cs"/>
                </a:rPr>
                <a:t>Social</a:t>
              </a:r>
            </a:p>
          </p:txBody>
        </p:sp>
        <p:grpSp>
          <p:nvGrpSpPr>
            <p:cNvPr id="19" name="Group 19"/>
            <p:cNvGrpSpPr/>
            <p:nvPr/>
          </p:nvGrpSpPr>
          <p:grpSpPr>
            <a:xfrm>
              <a:off x="9355931" y="773906"/>
              <a:ext cx="185737" cy="195262"/>
              <a:chOff x="9355931" y="773906"/>
              <a:chExt cx="185737" cy="195262"/>
            </a:xfrm>
          </p:grpSpPr>
          <p:sp>
            <p:nvSpPr>
              <p:cNvPr id="14" name="Freeform 14"/>
              <p:cNvSpPr/>
              <p:nvPr/>
            </p:nvSpPr>
            <p:spPr>
              <a:xfrm>
                <a:off x="9355931" y="959643"/>
                <a:ext cx="185737" cy="9525"/>
              </a:xfrm>
              <a:custGeom>
                <a:avLst/>
                <a:gdLst/>
                <a:ahLst/>
                <a:cxnLst/>
                <a:rect l="l" t="t" r="r" b="b"/>
                <a:pathLst>
                  <a:path w="185737" h="9525">
                    <a:moveTo>
                      <a:pt x="0" y="0"/>
                    </a:moveTo>
                    <a:lnTo>
                      <a:pt x="185737" y="0"/>
                    </a:lnTo>
                  </a:path>
                </a:pathLst>
              </a:custGeom>
              <a:noFill/>
              <a:ln w="20637">
                <a:solidFill>
                  <a:srgbClr val="4A6B62"/>
                </a:solidFill>
              </a:ln>
            </p:spPr>
          </p:sp>
          <p:sp>
            <p:nvSpPr>
              <p:cNvPr id="15" name="Freeform 15"/>
              <p:cNvSpPr/>
              <p:nvPr/>
            </p:nvSpPr>
            <p:spPr>
              <a:xfrm>
                <a:off x="9355931" y="773906"/>
                <a:ext cx="185737" cy="82550"/>
              </a:xfrm>
              <a:custGeom>
                <a:avLst/>
                <a:gdLst/>
                <a:ahLst/>
                <a:cxnLst/>
                <a:rect l="l" t="t" r="r" b="b"/>
                <a:pathLst>
                  <a:path w="185737" h="82550">
                    <a:moveTo>
                      <a:pt x="0" y="41275"/>
                    </a:moveTo>
                    <a:lnTo>
                      <a:pt x="0" y="51594"/>
                    </a:lnTo>
                    <a:cubicBezTo>
                      <a:pt x="0" y="68690"/>
                      <a:pt x="13860" y="82550"/>
                      <a:pt x="30956" y="82550"/>
                    </a:cubicBezTo>
                    <a:cubicBezTo>
                      <a:pt x="48053" y="82550"/>
                      <a:pt x="61912" y="68690"/>
                      <a:pt x="61912" y="51594"/>
                    </a:cubicBezTo>
                    <a:lnTo>
                      <a:pt x="61912" y="41275"/>
                    </a:lnTo>
                    <a:moveTo>
                      <a:pt x="61912" y="51594"/>
                    </a:moveTo>
                    <a:cubicBezTo>
                      <a:pt x="61912" y="68690"/>
                      <a:pt x="75772" y="82550"/>
                      <a:pt x="92868" y="82550"/>
                    </a:cubicBezTo>
                    <a:cubicBezTo>
                      <a:pt x="109965" y="82550"/>
                      <a:pt x="123825" y="68690"/>
                      <a:pt x="123825" y="51594"/>
                    </a:cubicBezTo>
                    <a:lnTo>
                      <a:pt x="123825" y="41275"/>
                    </a:lnTo>
                    <a:moveTo>
                      <a:pt x="123825" y="51594"/>
                    </a:moveTo>
                    <a:cubicBezTo>
                      <a:pt x="123825" y="68690"/>
                      <a:pt x="137684" y="82550"/>
                      <a:pt x="154781" y="82550"/>
                    </a:cubicBezTo>
                    <a:cubicBezTo>
                      <a:pt x="171877" y="82550"/>
                      <a:pt x="185737" y="68690"/>
                      <a:pt x="185737" y="51594"/>
                    </a:cubicBezTo>
                    <a:lnTo>
                      <a:pt x="185737" y="41275"/>
                    </a:lnTo>
                    <a:lnTo>
                      <a:pt x="0" y="41275"/>
                    </a:lnTo>
                    <a:lnTo>
                      <a:pt x="20637" y="0"/>
                    </a:lnTo>
                    <a:lnTo>
                      <a:pt x="165099" y="0"/>
                    </a:lnTo>
                    <a:lnTo>
                      <a:pt x="185737" y="41275"/>
                    </a:lnTo>
                  </a:path>
                </a:pathLst>
              </a:custGeom>
              <a:noFill/>
              <a:ln w="20637">
                <a:solidFill>
                  <a:srgbClr val="4A6B62"/>
                </a:solidFill>
              </a:ln>
            </p:spPr>
          </p:sp>
          <p:sp>
            <p:nvSpPr>
              <p:cNvPr id="16" name="Freeform 16"/>
              <p:cNvSpPr/>
              <p:nvPr/>
            </p:nvSpPr>
            <p:spPr>
              <a:xfrm>
                <a:off x="9376569" y="854908"/>
                <a:ext cx="9525" cy="104735"/>
              </a:xfrm>
              <a:custGeom>
                <a:avLst/>
                <a:gdLst/>
                <a:ahLst/>
                <a:cxnLst/>
                <a:rect l="l" t="t" r="r" b="b"/>
                <a:pathLst>
                  <a:path w="9525" h="104735">
                    <a:moveTo>
                      <a:pt x="0" y="104735"/>
                    </a:moveTo>
                    <a:lnTo>
                      <a:pt x="0" y="0"/>
                    </a:lnTo>
                  </a:path>
                </a:pathLst>
              </a:custGeom>
              <a:noFill/>
              <a:ln w="20637">
                <a:solidFill>
                  <a:srgbClr val="4A6B62"/>
                </a:solidFill>
              </a:ln>
            </p:spPr>
          </p:sp>
          <p:sp>
            <p:nvSpPr>
              <p:cNvPr id="17" name="Freeform 17"/>
              <p:cNvSpPr/>
              <p:nvPr/>
            </p:nvSpPr>
            <p:spPr>
              <a:xfrm>
                <a:off x="9521031" y="854908"/>
                <a:ext cx="9525" cy="104735"/>
              </a:xfrm>
              <a:custGeom>
                <a:avLst/>
                <a:gdLst/>
                <a:ahLst/>
                <a:cxnLst/>
                <a:rect l="l" t="t" r="r" b="b"/>
                <a:pathLst>
                  <a:path w="9525" h="104735">
                    <a:moveTo>
                      <a:pt x="0" y="104735"/>
                    </a:moveTo>
                    <a:lnTo>
                      <a:pt x="0" y="0"/>
                    </a:lnTo>
                  </a:path>
                </a:pathLst>
              </a:custGeom>
              <a:noFill/>
              <a:ln w="20637">
                <a:solidFill>
                  <a:srgbClr val="4A6B62"/>
                </a:solidFill>
              </a:ln>
            </p:spPr>
          </p:sp>
          <p:sp>
            <p:nvSpPr>
              <p:cNvPr id="18" name="Freeform 18"/>
              <p:cNvSpPr/>
              <p:nvPr/>
            </p:nvSpPr>
            <p:spPr>
              <a:xfrm>
                <a:off x="9417843" y="897731"/>
                <a:ext cx="61912" cy="61912"/>
              </a:xfrm>
              <a:custGeom>
                <a:avLst/>
                <a:gdLst/>
                <a:ahLst/>
                <a:cxnLst/>
                <a:rect l="l" t="t" r="r" b="b"/>
                <a:pathLst>
                  <a:path w="61912" h="61912">
                    <a:moveTo>
                      <a:pt x="0" y="61912"/>
                    </a:moveTo>
                    <a:lnTo>
                      <a:pt x="0" y="20637"/>
                    </a:lnTo>
                    <a:cubicBezTo>
                      <a:pt x="0" y="9240"/>
                      <a:pt x="9240" y="0"/>
                      <a:pt x="20637" y="0"/>
                    </a:cubicBezTo>
                    <a:lnTo>
                      <a:pt x="41275" y="0"/>
                    </a:lnTo>
                    <a:cubicBezTo>
                      <a:pt x="52673" y="0"/>
                      <a:pt x="61912" y="9240"/>
                      <a:pt x="61912" y="20637"/>
                    </a:cubicBezTo>
                    <a:lnTo>
                      <a:pt x="61912" y="61912"/>
                    </a:lnTo>
                  </a:path>
                </a:pathLst>
              </a:custGeom>
              <a:noFill/>
              <a:ln w="20637">
                <a:solidFill>
                  <a:srgbClr val="4A6B62"/>
                </a:solidFill>
              </a:ln>
            </p:spPr>
          </p:sp>
        </p:grpSp>
        <p:sp>
          <p:nvSpPr>
            <p:cNvPr id="20" name="TextBox 20"/>
            <p:cNvSpPr txBox="1"/>
            <p:nvPr/>
          </p:nvSpPr>
          <p:spPr>
            <a:xfrm>
              <a:off x="9641967" y="787718"/>
              <a:ext cx="634823" cy="264033"/>
            </a:xfrm>
            <a:prstGeom prst="rect">
              <a:avLst/>
            </a:prstGeom>
            <a:noFill/>
            <a:ln>
              <a:noFill/>
            </a:ln>
          </p:spPr>
          <p:txBody>
            <a:bodyPr wrap="none" lIns="0" tIns="0" rIns="0" bIns="0" anchor="t" anchorCtr="0">
              <a:spAutoFit/>
            </a:bodyPr>
            <a:lstStyle/>
            <a:p>
              <a:pPr algn="l"/>
              <a:r>
                <a:rPr lang="en-US" sz="1350" dirty="0">
                  <a:solidFill>
                    <a:srgbClr val="141416"/>
                  </a:solidFill>
                  <a:latin typeface="+mn-lt"/>
                  <a:ea typeface="+mn-ea"/>
                  <a:cs typeface="+mn-cs"/>
                </a:rPr>
                <a:t>In-store</a:t>
              </a:r>
            </a:p>
          </p:txBody>
        </p:sp>
        <p:grpSp>
          <p:nvGrpSpPr>
            <p:cNvPr id="26" name="Group 26"/>
            <p:cNvGrpSpPr/>
            <p:nvPr/>
          </p:nvGrpSpPr>
          <p:grpSpPr>
            <a:xfrm>
              <a:off x="10614025" y="773906"/>
              <a:ext cx="165099" cy="185737"/>
              <a:chOff x="10614025" y="773906"/>
              <a:chExt cx="165099" cy="185737"/>
            </a:xfrm>
          </p:grpSpPr>
          <p:sp>
            <p:nvSpPr>
              <p:cNvPr id="21" name="Freeform 21"/>
              <p:cNvSpPr/>
              <p:nvPr/>
            </p:nvSpPr>
            <p:spPr>
              <a:xfrm>
                <a:off x="10614025" y="794544"/>
                <a:ext cx="165099" cy="165099"/>
              </a:xfrm>
              <a:custGeom>
                <a:avLst/>
                <a:gdLst/>
                <a:ahLst/>
                <a:cxnLst/>
                <a:rect l="l" t="t" r="r" b="b"/>
                <a:pathLst>
                  <a:path w="165099" h="165099">
                    <a:moveTo>
                      <a:pt x="0" y="20637"/>
                    </a:moveTo>
                    <a:cubicBezTo>
                      <a:pt x="0" y="9240"/>
                      <a:pt x="9240" y="0"/>
                      <a:pt x="20637" y="0"/>
                    </a:cubicBezTo>
                    <a:lnTo>
                      <a:pt x="144462" y="0"/>
                    </a:lnTo>
                    <a:cubicBezTo>
                      <a:pt x="155860" y="0"/>
                      <a:pt x="165099" y="9240"/>
                      <a:pt x="165099" y="20637"/>
                    </a:cubicBezTo>
                    <a:lnTo>
                      <a:pt x="165099" y="144462"/>
                    </a:lnTo>
                    <a:cubicBezTo>
                      <a:pt x="165099" y="155860"/>
                      <a:pt x="155860" y="165099"/>
                      <a:pt x="144462" y="165099"/>
                    </a:cubicBezTo>
                    <a:lnTo>
                      <a:pt x="20637" y="165099"/>
                    </a:lnTo>
                    <a:cubicBezTo>
                      <a:pt x="9240" y="165099"/>
                      <a:pt x="0" y="155860"/>
                      <a:pt x="0" y="144462"/>
                    </a:cubicBezTo>
                    <a:lnTo>
                      <a:pt x="0" y="20637"/>
                    </a:lnTo>
                  </a:path>
                </a:pathLst>
              </a:custGeom>
              <a:noFill/>
              <a:ln w="20637">
                <a:solidFill>
                  <a:srgbClr val="4A6B62"/>
                </a:solidFill>
              </a:ln>
            </p:spPr>
          </p:sp>
          <p:sp>
            <p:nvSpPr>
              <p:cNvPr id="22" name="Freeform 22"/>
              <p:cNvSpPr/>
              <p:nvPr/>
            </p:nvSpPr>
            <p:spPr>
              <a:xfrm>
                <a:off x="10737849" y="773906"/>
                <a:ext cx="9525" cy="41275"/>
              </a:xfrm>
              <a:custGeom>
                <a:avLst/>
                <a:gdLst/>
                <a:ahLst/>
                <a:cxnLst/>
                <a:rect l="l" t="t" r="r" b="b"/>
                <a:pathLst>
                  <a:path w="9525" h="41275">
                    <a:moveTo>
                      <a:pt x="0" y="0"/>
                    </a:moveTo>
                    <a:lnTo>
                      <a:pt x="0" y="41275"/>
                    </a:lnTo>
                  </a:path>
                </a:pathLst>
              </a:custGeom>
              <a:noFill/>
              <a:ln w="20637">
                <a:solidFill>
                  <a:srgbClr val="4A6B62"/>
                </a:solidFill>
              </a:ln>
            </p:spPr>
          </p:sp>
          <p:sp>
            <p:nvSpPr>
              <p:cNvPr id="23" name="Freeform 23"/>
              <p:cNvSpPr/>
              <p:nvPr/>
            </p:nvSpPr>
            <p:spPr>
              <a:xfrm>
                <a:off x="10655300" y="773906"/>
                <a:ext cx="9525" cy="41275"/>
              </a:xfrm>
              <a:custGeom>
                <a:avLst/>
                <a:gdLst/>
                <a:ahLst/>
                <a:cxnLst/>
                <a:rect l="l" t="t" r="r" b="b"/>
                <a:pathLst>
                  <a:path w="9525" h="41275">
                    <a:moveTo>
                      <a:pt x="0" y="0"/>
                    </a:moveTo>
                    <a:lnTo>
                      <a:pt x="0" y="41275"/>
                    </a:lnTo>
                  </a:path>
                </a:pathLst>
              </a:custGeom>
              <a:noFill/>
              <a:ln w="20637">
                <a:solidFill>
                  <a:srgbClr val="4A6B62"/>
                </a:solidFill>
              </a:ln>
            </p:spPr>
          </p:sp>
          <p:sp>
            <p:nvSpPr>
              <p:cNvPr id="24" name="Freeform 24"/>
              <p:cNvSpPr/>
              <p:nvPr/>
            </p:nvSpPr>
            <p:spPr>
              <a:xfrm>
                <a:off x="10614025" y="856456"/>
                <a:ext cx="165099" cy="9525"/>
              </a:xfrm>
              <a:custGeom>
                <a:avLst/>
                <a:gdLst/>
                <a:ahLst/>
                <a:cxnLst/>
                <a:rect l="l" t="t" r="r" b="b"/>
                <a:pathLst>
                  <a:path w="165099" h="9525">
                    <a:moveTo>
                      <a:pt x="0" y="0"/>
                    </a:moveTo>
                    <a:lnTo>
                      <a:pt x="165099" y="0"/>
                    </a:lnTo>
                  </a:path>
                </a:pathLst>
              </a:custGeom>
              <a:noFill/>
              <a:ln w="20637">
                <a:solidFill>
                  <a:srgbClr val="4A6B62"/>
                </a:solidFill>
              </a:ln>
            </p:spPr>
          </p:sp>
          <p:sp>
            <p:nvSpPr>
              <p:cNvPr id="25" name="Freeform 25"/>
              <p:cNvSpPr/>
              <p:nvPr/>
            </p:nvSpPr>
            <p:spPr>
              <a:xfrm>
                <a:off x="10655300" y="897731"/>
                <a:ext cx="20637" cy="20637"/>
              </a:xfrm>
              <a:custGeom>
                <a:avLst/>
                <a:gdLst/>
                <a:ahLst/>
                <a:cxnLst/>
                <a:rect l="l" t="t" r="r" b="b"/>
                <a:pathLst>
                  <a:path w="20637" h="20637">
                    <a:moveTo>
                      <a:pt x="0" y="0"/>
                    </a:moveTo>
                    <a:lnTo>
                      <a:pt x="20637" y="0"/>
                    </a:lnTo>
                    <a:lnTo>
                      <a:pt x="20637" y="20637"/>
                    </a:lnTo>
                    <a:lnTo>
                      <a:pt x="0" y="20637"/>
                    </a:lnTo>
                    <a:lnTo>
                      <a:pt x="0" y="0"/>
                    </a:lnTo>
                  </a:path>
                </a:pathLst>
              </a:custGeom>
              <a:noFill/>
              <a:ln w="20637">
                <a:solidFill>
                  <a:srgbClr val="4A6B62"/>
                </a:solidFill>
              </a:ln>
            </p:spPr>
          </p:sp>
        </p:grpSp>
        <p:sp>
          <p:nvSpPr>
            <p:cNvPr id="27" name="TextBox 27"/>
            <p:cNvSpPr txBox="1"/>
            <p:nvPr/>
          </p:nvSpPr>
          <p:spPr>
            <a:xfrm>
              <a:off x="10889742" y="787718"/>
              <a:ext cx="574564" cy="264033"/>
            </a:xfrm>
            <a:prstGeom prst="rect">
              <a:avLst/>
            </a:prstGeom>
            <a:noFill/>
            <a:ln>
              <a:noFill/>
            </a:ln>
          </p:spPr>
          <p:txBody>
            <a:bodyPr wrap="none" lIns="0" tIns="0" rIns="0" bIns="0" anchor="t" anchorCtr="0">
              <a:spAutoFit/>
            </a:bodyPr>
            <a:lstStyle/>
            <a:p>
              <a:pPr algn="l"/>
              <a:r>
                <a:rPr lang="en-US" sz="1350" dirty="0">
                  <a:solidFill>
                    <a:srgbClr val="141416"/>
                  </a:solidFill>
                  <a:latin typeface="+mn-lt"/>
                  <a:ea typeface="+mn-ea"/>
                  <a:cs typeface="+mn-cs"/>
                </a:rPr>
                <a:t>Events</a:t>
              </a:r>
            </a:p>
          </p:txBody>
        </p:sp>
      </p:grpSp>
      <p:grpSp>
        <p:nvGrpSpPr>
          <p:cNvPr id="42" name="Group 42"/>
          <p:cNvGrpSpPr/>
          <p:nvPr/>
        </p:nvGrpSpPr>
        <p:grpSpPr>
          <a:xfrm>
            <a:off x="685800" y="1333500"/>
            <a:ext cx="9729065" cy="346901"/>
            <a:chOff x="685800" y="1333500"/>
            <a:chExt cx="9729065" cy="346901"/>
          </a:xfrm>
        </p:grpSpPr>
        <p:sp>
          <p:nvSpPr>
            <p:cNvPr id="29" name="Freeform 29"/>
            <p:cNvSpPr/>
            <p:nvPr/>
          </p:nvSpPr>
          <p:spPr>
            <a:xfrm>
              <a:off x="685800" y="1333500"/>
              <a:ext cx="1619250" cy="342900"/>
            </a:xfrm>
            <a:prstGeom prst="chevron">
              <a:avLst/>
            </a:prstGeom>
            <a:solidFill>
              <a:schemeClr val="accent2"/>
            </a:solidFill>
            <a:ln>
              <a:noFill/>
            </a:ln>
          </p:spPr>
        </p:sp>
        <p:sp>
          <p:nvSpPr>
            <p:cNvPr id="30" name="Freeform 30"/>
            <p:cNvSpPr/>
            <p:nvPr/>
          </p:nvSpPr>
          <p:spPr>
            <a:xfrm>
              <a:off x="2114550" y="1333500"/>
              <a:ext cx="1619250" cy="342900"/>
            </a:xfrm>
            <a:prstGeom prst="chevron">
              <a:avLst/>
            </a:prstGeom>
            <a:solidFill>
              <a:schemeClr val="accent2"/>
            </a:solidFill>
            <a:ln>
              <a:noFill/>
            </a:ln>
          </p:spPr>
        </p:sp>
        <p:sp>
          <p:nvSpPr>
            <p:cNvPr id="31" name="Freeform 31"/>
            <p:cNvSpPr/>
            <p:nvPr/>
          </p:nvSpPr>
          <p:spPr>
            <a:xfrm>
              <a:off x="3543300" y="1333500"/>
              <a:ext cx="1619250" cy="342900"/>
            </a:xfrm>
            <a:prstGeom prst="chevron">
              <a:avLst/>
            </a:prstGeom>
            <a:solidFill>
              <a:schemeClr val="accent2"/>
            </a:solidFill>
            <a:ln>
              <a:noFill/>
            </a:ln>
          </p:spPr>
        </p:sp>
        <p:sp>
          <p:nvSpPr>
            <p:cNvPr id="32" name="Freeform 32"/>
            <p:cNvSpPr/>
            <p:nvPr/>
          </p:nvSpPr>
          <p:spPr>
            <a:xfrm>
              <a:off x="4972050" y="1333500"/>
              <a:ext cx="1619250" cy="342900"/>
            </a:xfrm>
            <a:prstGeom prst="chevron">
              <a:avLst/>
            </a:prstGeom>
            <a:solidFill>
              <a:schemeClr val="accent2"/>
            </a:solidFill>
            <a:ln>
              <a:noFill/>
            </a:ln>
          </p:spPr>
        </p:sp>
        <p:sp>
          <p:nvSpPr>
            <p:cNvPr id="33" name="Freeform 33"/>
            <p:cNvSpPr/>
            <p:nvPr/>
          </p:nvSpPr>
          <p:spPr>
            <a:xfrm>
              <a:off x="6400800" y="1333500"/>
              <a:ext cx="1619250" cy="342900"/>
            </a:xfrm>
            <a:prstGeom prst="chevron">
              <a:avLst/>
            </a:prstGeom>
            <a:solidFill>
              <a:schemeClr val="accent2"/>
            </a:solidFill>
            <a:ln>
              <a:noFill/>
            </a:ln>
          </p:spPr>
        </p:sp>
        <p:sp>
          <p:nvSpPr>
            <p:cNvPr id="34" name="Freeform 34"/>
            <p:cNvSpPr/>
            <p:nvPr/>
          </p:nvSpPr>
          <p:spPr>
            <a:xfrm>
              <a:off x="7829550" y="1333500"/>
              <a:ext cx="1619250" cy="342900"/>
            </a:xfrm>
            <a:prstGeom prst="chevron">
              <a:avLst/>
            </a:prstGeom>
            <a:solidFill>
              <a:schemeClr val="accent2"/>
            </a:solidFill>
            <a:ln>
              <a:noFill/>
            </a:ln>
          </p:spPr>
        </p:sp>
        <p:sp>
          <p:nvSpPr>
            <p:cNvPr id="35" name="TextBox 35"/>
            <p:cNvSpPr txBox="1"/>
            <p:nvPr/>
          </p:nvSpPr>
          <p:spPr>
            <a:xfrm>
              <a:off x="1311791" y="1416368"/>
              <a:ext cx="367267"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brief</a:t>
              </a:r>
            </a:p>
          </p:txBody>
        </p:sp>
        <p:sp>
          <p:nvSpPr>
            <p:cNvPr id="36" name="TextBox 36"/>
            <p:cNvSpPr txBox="1"/>
            <p:nvPr/>
          </p:nvSpPr>
          <p:spPr>
            <a:xfrm>
              <a:off x="2619414" y="1416368"/>
              <a:ext cx="609523"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artwork</a:t>
              </a:r>
            </a:p>
          </p:txBody>
        </p:sp>
        <p:sp>
          <p:nvSpPr>
            <p:cNvPr id="37" name="TextBox 37"/>
            <p:cNvSpPr txBox="1"/>
            <p:nvPr/>
          </p:nvSpPr>
          <p:spPr>
            <a:xfrm>
              <a:off x="4169291" y="1416368"/>
              <a:ext cx="367267"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print</a:t>
              </a:r>
            </a:p>
          </p:txBody>
        </p:sp>
        <p:sp>
          <p:nvSpPr>
            <p:cNvPr id="38" name="TextBox 38"/>
            <p:cNvSpPr txBox="1"/>
            <p:nvPr/>
          </p:nvSpPr>
          <p:spPr>
            <a:xfrm>
              <a:off x="5421175" y="1416368"/>
              <a:ext cx="721000"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paste-up</a:t>
              </a:r>
            </a:p>
          </p:txBody>
        </p:sp>
        <p:sp>
          <p:nvSpPr>
            <p:cNvPr id="39" name="TextBox 39"/>
            <p:cNvSpPr txBox="1"/>
            <p:nvPr/>
          </p:nvSpPr>
          <p:spPr>
            <a:xfrm>
              <a:off x="6935778" y="1416368"/>
              <a:ext cx="549295"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launch</a:t>
              </a:r>
            </a:p>
          </p:txBody>
        </p:sp>
        <p:sp>
          <p:nvSpPr>
            <p:cNvPr id="40" name="TextBox 40"/>
            <p:cNvSpPr txBox="1"/>
            <p:nvPr/>
          </p:nvSpPr>
          <p:spPr>
            <a:xfrm>
              <a:off x="8364582" y="1416368"/>
              <a:ext cx="549186" cy="264033"/>
            </a:xfrm>
            <a:prstGeom prst="rect">
              <a:avLst/>
            </a:prstGeom>
            <a:noFill/>
            <a:ln>
              <a:noFill/>
            </a:ln>
          </p:spPr>
          <p:txBody>
            <a:bodyPr wrap="none" lIns="0" tIns="0" rIns="0" bIns="0" anchor="t" anchorCtr="0">
              <a:spAutoFit/>
            </a:bodyPr>
            <a:lstStyle/>
            <a:p>
              <a:pPr algn="ctr"/>
              <a:r>
                <a:rPr lang="en-US" sz="1350" dirty="0">
                  <a:solidFill>
                    <a:srgbClr val="141416"/>
                  </a:solidFill>
                  <a:latin typeface="+mn-lt"/>
                  <a:ea typeface="+mn-ea"/>
                  <a:cs typeface="+mn-cs"/>
                </a:rPr>
                <a:t>events</a:t>
              </a:r>
            </a:p>
          </p:txBody>
        </p:sp>
        <p:sp>
          <p:nvSpPr>
            <p:cNvPr id="41" name="TextBox 41"/>
            <p:cNvSpPr txBox="1"/>
            <p:nvPr/>
          </p:nvSpPr>
          <p:spPr>
            <a:xfrm>
              <a:off x="9613392" y="1416368"/>
              <a:ext cx="801473" cy="264033"/>
            </a:xfrm>
            <a:prstGeom prst="rect">
              <a:avLst/>
            </a:prstGeom>
            <a:noFill/>
            <a:ln>
              <a:noFill/>
            </a:ln>
          </p:spPr>
          <p:txBody>
            <a:bodyPr wrap="none" lIns="0" tIns="0" rIns="0" bIns="0" anchor="t" anchorCtr="0">
              <a:spAutoFit/>
            </a:bodyPr>
            <a:lstStyle/>
            <a:p>
              <a:pPr algn="l"/>
              <a:r>
                <a:rPr lang="en-US" sz="1350" dirty="0">
                  <a:solidFill>
                    <a:srgbClr val="4A6B62"/>
                  </a:solidFill>
                  <a:latin typeface="+mn-lt"/>
                  <a:ea typeface="+mn-ea"/>
                  <a:cs typeface="+mn-cs"/>
                </a:rPr>
                <a:t>six weeks</a:t>
              </a:r>
            </a:p>
          </p:txBody>
        </p:sp>
      </p:grpSp>
      <p:grpSp>
        <p:nvGrpSpPr>
          <p:cNvPr id="91" name="Group 91"/>
          <p:cNvGrpSpPr/>
          <p:nvPr/>
        </p:nvGrpSpPr>
        <p:grpSpPr>
          <a:xfrm>
            <a:off x="685800" y="2095500"/>
            <a:ext cx="10820400" cy="3520059"/>
            <a:chOff x="685800" y="2095500"/>
            <a:chExt cx="10820400" cy="3520059"/>
          </a:xfrm>
        </p:grpSpPr>
        <p:sp>
          <p:nvSpPr>
            <p:cNvPr id="43" name="Rectangle 43"/>
            <p:cNvSpPr/>
            <p:nvPr/>
          </p:nvSpPr>
          <p:spPr>
            <a:xfrm>
              <a:off x="685800" y="2095500"/>
              <a:ext cx="10820400" cy="438150"/>
            </a:xfrm>
            <a:prstGeom prst="rect">
              <a:avLst/>
            </a:prstGeom>
            <a:solidFill>
              <a:srgbClr val="141416"/>
            </a:solidFill>
            <a:ln>
              <a:noFill/>
            </a:ln>
          </p:spPr>
        </p:sp>
        <p:sp>
          <p:nvSpPr>
            <p:cNvPr id="44" name="TextBox 44"/>
            <p:cNvSpPr txBox="1"/>
            <p:nvPr/>
          </p:nvSpPr>
          <p:spPr>
            <a:xfrm>
              <a:off x="829056" y="2196465"/>
              <a:ext cx="1318086" cy="352044"/>
            </a:xfrm>
            <a:prstGeom prst="rect">
              <a:avLst/>
            </a:prstGeom>
            <a:noFill/>
            <a:ln>
              <a:noFill/>
            </a:ln>
          </p:spPr>
          <p:txBody>
            <a:bodyPr wrap="none" lIns="0" tIns="0" rIns="0" bIns="0" anchor="t" anchorCtr="0">
              <a:spAutoFit/>
            </a:bodyPr>
            <a:lstStyle/>
            <a:p>
              <a:pPr algn="l"/>
              <a:r>
                <a:rPr lang="en-US" sz="1800" b="1" dirty="0">
                  <a:solidFill>
                    <a:srgbClr val="F4F1EA"/>
                  </a:solidFill>
                  <a:latin typeface="+mn-lt"/>
                  <a:ea typeface="+mn-ea"/>
                  <a:cs typeface="+mn-cs"/>
                </a:rPr>
                <a:t>Deliverable</a:t>
              </a:r>
            </a:p>
          </p:txBody>
        </p:sp>
        <p:sp>
          <p:nvSpPr>
            <p:cNvPr id="45" name="TextBox 45"/>
            <p:cNvSpPr txBox="1"/>
            <p:nvPr/>
          </p:nvSpPr>
          <p:spPr>
            <a:xfrm>
              <a:off x="3686556" y="2196465"/>
              <a:ext cx="847293" cy="352044"/>
            </a:xfrm>
            <a:prstGeom prst="rect">
              <a:avLst/>
            </a:prstGeom>
            <a:noFill/>
            <a:ln>
              <a:noFill/>
            </a:ln>
          </p:spPr>
          <p:txBody>
            <a:bodyPr wrap="none" lIns="0" tIns="0" rIns="0" bIns="0" anchor="t" anchorCtr="0">
              <a:spAutoFit/>
            </a:bodyPr>
            <a:lstStyle/>
            <a:p>
              <a:pPr algn="l"/>
              <a:r>
                <a:rPr lang="en-US" sz="1800" b="1" dirty="0">
                  <a:solidFill>
                    <a:srgbClr val="F4F1EA"/>
                  </a:solidFill>
                  <a:latin typeface="+mn-lt"/>
                  <a:ea typeface="+mn-ea"/>
                  <a:cs typeface="+mn-cs"/>
                </a:rPr>
                <a:t>Format</a:t>
              </a:r>
            </a:p>
          </p:txBody>
        </p:sp>
        <p:sp>
          <p:nvSpPr>
            <p:cNvPr id="46" name="TextBox 46"/>
            <p:cNvSpPr txBox="1"/>
            <p:nvPr/>
          </p:nvSpPr>
          <p:spPr>
            <a:xfrm>
              <a:off x="6297316" y="2196465"/>
              <a:ext cx="1007978" cy="352044"/>
            </a:xfrm>
            <a:prstGeom prst="rect">
              <a:avLst/>
            </a:prstGeom>
            <a:noFill/>
            <a:ln>
              <a:noFill/>
            </a:ln>
          </p:spPr>
          <p:txBody>
            <a:bodyPr wrap="none" lIns="0" tIns="0" rIns="0" bIns="0" anchor="t" anchorCtr="0">
              <a:spAutoFit/>
            </a:bodyPr>
            <a:lstStyle/>
            <a:p>
              <a:pPr algn="r"/>
              <a:r>
                <a:rPr lang="en-US" sz="1800" b="1" dirty="0">
                  <a:solidFill>
                    <a:srgbClr val="F4F1EA"/>
                  </a:solidFill>
                  <a:latin typeface="+mn-lt"/>
                  <a:ea typeface="+mn-ea"/>
                  <a:cs typeface="+mn-cs"/>
                </a:rPr>
                <a:t>Quantity</a:t>
              </a:r>
            </a:p>
          </p:txBody>
        </p:sp>
        <p:sp>
          <p:nvSpPr>
            <p:cNvPr id="47" name="TextBox 47"/>
            <p:cNvSpPr txBox="1"/>
            <p:nvPr/>
          </p:nvSpPr>
          <p:spPr>
            <a:xfrm>
              <a:off x="7591806" y="2196465"/>
              <a:ext cx="1157422" cy="352044"/>
            </a:xfrm>
            <a:prstGeom prst="rect">
              <a:avLst/>
            </a:prstGeom>
            <a:noFill/>
            <a:ln>
              <a:noFill/>
            </a:ln>
          </p:spPr>
          <p:txBody>
            <a:bodyPr wrap="none" lIns="0" tIns="0" rIns="0" bIns="0" anchor="t" anchorCtr="0">
              <a:spAutoFit/>
            </a:bodyPr>
            <a:lstStyle/>
            <a:p>
              <a:pPr algn="l"/>
              <a:r>
                <a:rPr lang="en-US" sz="1800" b="1" dirty="0">
                  <a:solidFill>
                    <a:srgbClr val="F4F1EA"/>
                  </a:solidFill>
                  <a:latin typeface="+mn-lt"/>
                  <a:ea typeface="+mn-ea"/>
                  <a:cs typeface="+mn-cs"/>
                </a:rPr>
                <a:t>Lead time</a:t>
              </a:r>
            </a:p>
          </p:txBody>
        </p:sp>
        <p:sp>
          <p:nvSpPr>
            <p:cNvPr id="48" name="TextBox 48"/>
            <p:cNvSpPr txBox="1"/>
            <p:nvPr/>
          </p:nvSpPr>
          <p:spPr>
            <a:xfrm>
              <a:off x="9306306" y="2196465"/>
              <a:ext cx="780863" cy="352044"/>
            </a:xfrm>
            <a:prstGeom prst="rect">
              <a:avLst/>
            </a:prstGeom>
            <a:noFill/>
            <a:ln>
              <a:noFill/>
            </a:ln>
          </p:spPr>
          <p:txBody>
            <a:bodyPr wrap="none" lIns="0" tIns="0" rIns="0" bIns="0" anchor="t" anchorCtr="0">
              <a:spAutoFit/>
            </a:bodyPr>
            <a:lstStyle/>
            <a:p>
              <a:pPr algn="l"/>
              <a:r>
                <a:rPr lang="en-US" sz="1800" b="1" dirty="0">
                  <a:solidFill>
                    <a:srgbClr val="F4F1EA"/>
                  </a:solidFill>
                  <a:latin typeface="+mn-lt"/>
                  <a:ea typeface="+mn-ea"/>
                  <a:cs typeface="+mn-cs"/>
                </a:rPr>
                <a:t>Owner</a:t>
              </a:r>
            </a:p>
          </p:txBody>
        </p:sp>
        <p:sp>
          <p:nvSpPr>
            <p:cNvPr id="49" name="Line 49"/>
            <p:cNvSpPr/>
            <p:nvPr/>
          </p:nvSpPr>
          <p:spPr>
            <a:xfrm>
              <a:off x="685800" y="297180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50" name="TextBox 50"/>
            <p:cNvSpPr txBox="1"/>
            <p:nvPr/>
          </p:nvSpPr>
          <p:spPr>
            <a:xfrm>
              <a:off x="829056" y="2634615"/>
              <a:ext cx="1412139"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Street poster</a:t>
              </a:r>
            </a:p>
          </p:txBody>
        </p:sp>
        <p:sp>
          <p:nvSpPr>
            <p:cNvPr id="51" name="TextBox 51"/>
            <p:cNvSpPr txBox="1"/>
            <p:nvPr/>
          </p:nvSpPr>
          <p:spPr>
            <a:xfrm>
              <a:off x="3686556" y="2634615"/>
              <a:ext cx="1365129"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2:3, two inks</a:t>
              </a:r>
            </a:p>
          </p:txBody>
        </p:sp>
        <p:sp>
          <p:nvSpPr>
            <p:cNvPr id="52" name="TextBox 52"/>
            <p:cNvSpPr txBox="1"/>
            <p:nvPr/>
          </p:nvSpPr>
          <p:spPr>
            <a:xfrm>
              <a:off x="6882678" y="2634615"/>
              <a:ext cx="422616"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120</a:t>
              </a:r>
            </a:p>
          </p:txBody>
        </p:sp>
        <p:sp>
          <p:nvSpPr>
            <p:cNvPr id="53" name="TextBox 53"/>
            <p:cNvSpPr txBox="1"/>
            <p:nvPr/>
          </p:nvSpPr>
          <p:spPr>
            <a:xfrm>
              <a:off x="7591806" y="263461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3 weeks</a:t>
              </a:r>
            </a:p>
          </p:txBody>
        </p:sp>
        <p:sp>
          <p:nvSpPr>
            <p:cNvPr id="54" name="TextBox 54"/>
            <p:cNvSpPr txBox="1"/>
            <p:nvPr/>
          </p:nvSpPr>
          <p:spPr>
            <a:xfrm>
              <a:off x="9306306" y="2634615"/>
              <a:ext cx="1674720"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Print supplier A</a:t>
              </a:r>
            </a:p>
          </p:txBody>
        </p:sp>
        <p:sp>
          <p:nvSpPr>
            <p:cNvPr id="55" name="Line 55"/>
            <p:cNvSpPr/>
            <p:nvPr/>
          </p:nvSpPr>
          <p:spPr>
            <a:xfrm>
              <a:off x="685800" y="340995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56" name="TextBox 56"/>
            <p:cNvSpPr txBox="1"/>
            <p:nvPr/>
          </p:nvSpPr>
          <p:spPr>
            <a:xfrm>
              <a:off x="829056" y="3072765"/>
              <a:ext cx="2450222"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Window lightbox panel</a:t>
              </a:r>
            </a:p>
          </p:txBody>
        </p:sp>
        <p:sp>
          <p:nvSpPr>
            <p:cNvPr id="57" name="TextBox 57"/>
            <p:cNvSpPr txBox="1"/>
            <p:nvPr/>
          </p:nvSpPr>
          <p:spPr>
            <a:xfrm>
              <a:off x="3686556" y="3072765"/>
              <a:ext cx="170887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1180 × 340 mm</a:t>
              </a:r>
            </a:p>
          </p:txBody>
        </p:sp>
        <p:sp>
          <p:nvSpPr>
            <p:cNvPr id="58" name="TextBox 58"/>
            <p:cNvSpPr txBox="1"/>
            <p:nvPr/>
          </p:nvSpPr>
          <p:spPr>
            <a:xfrm>
              <a:off x="7152230" y="3072765"/>
              <a:ext cx="153064"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1</a:t>
              </a:r>
            </a:p>
          </p:txBody>
        </p:sp>
        <p:sp>
          <p:nvSpPr>
            <p:cNvPr id="59" name="TextBox 59"/>
            <p:cNvSpPr txBox="1"/>
            <p:nvPr/>
          </p:nvSpPr>
          <p:spPr>
            <a:xfrm>
              <a:off x="7591806" y="307276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3 weeks</a:t>
              </a:r>
            </a:p>
          </p:txBody>
        </p:sp>
        <p:sp>
          <p:nvSpPr>
            <p:cNvPr id="60" name="TextBox 60"/>
            <p:cNvSpPr txBox="1"/>
            <p:nvPr/>
          </p:nvSpPr>
          <p:spPr>
            <a:xfrm>
              <a:off x="9306306" y="3072765"/>
              <a:ext cx="1674720"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Print supplier A</a:t>
              </a:r>
            </a:p>
          </p:txBody>
        </p:sp>
        <p:sp>
          <p:nvSpPr>
            <p:cNvPr id="61" name="Line 61"/>
            <p:cNvSpPr/>
            <p:nvPr/>
          </p:nvSpPr>
          <p:spPr>
            <a:xfrm>
              <a:off x="685800" y="384810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62" name="TextBox 62"/>
            <p:cNvSpPr txBox="1"/>
            <p:nvPr/>
          </p:nvSpPr>
          <p:spPr>
            <a:xfrm>
              <a:off x="829056" y="3510915"/>
              <a:ext cx="2138891"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Social film and stills</a:t>
              </a:r>
            </a:p>
          </p:txBody>
        </p:sp>
        <p:sp>
          <p:nvSpPr>
            <p:cNvPr id="63" name="TextBox 63"/>
            <p:cNvSpPr txBox="1"/>
            <p:nvPr/>
          </p:nvSpPr>
          <p:spPr>
            <a:xfrm>
              <a:off x="3686556" y="3510915"/>
              <a:ext cx="1365759"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1:1 and 9:16</a:t>
              </a:r>
            </a:p>
          </p:txBody>
        </p:sp>
        <p:sp>
          <p:nvSpPr>
            <p:cNvPr id="64" name="TextBox 64"/>
            <p:cNvSpPr txBox="1"/>
            <p:nvPr/>
          </p:nvSpPr>
          <p:spPr>
            <a:xfrm>
              <a:off x="6505731" y="3510915"/>
              <a:ext cx="799563"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9 posts</a:t>
              </a:r>
            </a:p>
          </p:txBody>
        </p:sp>
        <p:sp>
          <p:nvSpPr>
            <p:cNvPr id="65" name="TextBox 65"/>
            <p:cNvSpPr txBox="1"/>
            <p:nvPr/>
          </p:nvSpPr>
          <p:spPr>
            <a:xfrm>
              <a:off x="7591806" y="351091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2 weeks</a:t>
              </a:r>
            </a:p>
          </p:txBody>
        </p:sp>
        <p:sp>
          <p:nvSpPr>
            <p:cNvPr id="66" name="TextBox 66"/>
            <p:cNvSpPr txBox="1"/>
            <p:nvPr/>
          </p:nvSpPr>
          <p:spPr>
            <a:xfrm>
              <a:off x="9306306" y="3510915"/>
              <a:ext cx="119856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Shop team</a:t>
              </a:r>
            </a:p>
          </p:txBody>
        </p:sp>
        <p:sp>
          <p:nvSpPr>
            <p:cNvPr id="67" name="Line 67"/>
            <p:cNvSpPr/>
            <p:nvPr/>
          </p:nvSpPr>
          <p:spPr>
            <a:xfrm>
              <a:off x="685800" y="428625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68" name="TextBox 68"/>
            <p:cNvSpPr txBox="1"/>
            <p:nvPr/>
          </p:nvSpPr>
          <p:spPr>
            <a:xfrm>
              <a:off x="829056" y="3949065"/>
              <a:ext cx="1924533"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Printed bookmark</a:t>
              </a:r>
            </a:p>
          </p:txBody>
        </p:sp>
        <p:sp>
          <p:nvSpPr>
            <p:cNvPr id="69" name="TextBox 69"/>
            <p:cNvSpPr txBox="1"/>
            <p:nvPr/>
          </p:nvSpPr>
          <p:spPr>
            <a:xfrm>
              <a:off x="3686556" y="3949065"/>
              <a:ext cx="143932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55 × 180 mm</a:t>
              </a:r>
            </a:p>
          </p:txBody>
        </p:sp>
        <p:sp>
          <p:nvSpPr>
            <p:cNvPr id="70" name="TextBox 70"/>
            <p:cNvSpPr txBox="1"/>
            <p:nvPr/>
          </p:nvSpPr>
          <p:spPr>
            <a:xfrm>
              <a:off x="6680586" y="3949065"/>
              <a:ext cx="624708"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3,000</a:t>
              </a:r>
            </a:p>
          </p:txBody>
        </p:sp>
        <p:sp>
          <p:nvSpPr>
            <p:cNvPr id="71" name="TextBox 71"/>
            <p:cNvSpPr txBox="1"/>
            <p:nvPr/>
          </p:nvSpPr>
          <p:spPr>
            <a:xfrm>
              <a:off x="7591806" y="394906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2 weeks</a:t>
              </a:r>
            </a:p>
          </p:txBody>
        </p:sp>
        <p:sp>
          <p:nvSpPr>
            <p:cNvPr id="72" name="TextBox 72"/>
            <p:cNvSpPr txBox="1"/>
            <p:nvPr/>
          </p:nvSpPr>
          <p:spPr>
            <a:xfrm>
              <a:off x="9306306" y="3949065"/>
              <a:ext cx="1674720"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Print supplier B</a:t>
              </a:r>
            </a:p>
          </p:txBody>
        </p:sp>
        <p:sp>
          <p:nvSpPr>
            <p:cNvPr id="73" name="Line 73"/>
            <p:cNvSpPr/>
            <p:nvPr/>
          </p:nvSpPr>
          <p:spPr>
            <a:xfrm>
              <a:off x="685800" y="472440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74" name="TextBox 74"/>
            <p:cNvSpPr txBox="1"/>
            <p:nvPr/>
          </p:nvSpPr>
          <p:spPr>
            <a:xfrm>
              <a:off x="829056" y="4387215"/>
              <a:ext cx="123673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Shelf talker</a:t>
              </a:r>
            </a:p>
          </p:txBody>
        </p:sp>
        <p:sp>
          <p:nvSpPr>
            <p:cNvPr id="75" name="TextBox 75"/>
            <p:cNvSpPr txBox="1"/>
            <p:nvPr/>
          </p:nvSpPr>
          <p:spPr>
            <a:xfrm>
              <a:off x="3686556" y="4387215"/>
              <a:ext cx="1333905"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A6, two inks</a:t>
              </a:r>
            </a:p>
          </p:txBody>
        </p:sp>
        <p:sp>
          <p:nvSpPr>
            <p:cNvPr id="76" name="TextBox 76"/>
            <p:cNvSpPr txBox="1"/>
            <p:nvPr/>
          </p:nvSpPr>
          <p:spPr>
            <a:xfrm>
              <a:off x="7017454" y="4387215"/>
              <a:ext cx="287840"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40</a:t>
              </a:r>
            </a:p>
          </p:txBody>
        </p:sp>
        <p:sp>
          <p:nvSpPr>
            <p:cNvPr id="77" name="TextBox 77"/>
            <p:cNvSpPr txBox="1"/>
            <p:nvPr/>
          </p:nvSpPr>
          <p:spPr>
            <a:xfrm>
              <a:off x="7591806" y="438721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2 weeks</a:t>
              </a:r>
            </a:p>
          </p:txBody>
        </p:sp>
        <p:sp>
          <p:nvSpPr>
            <p:cNvPr id="78" name="TextBox 78"/>
            <p:cNvSpPr txBox="1"/>
            <p:nvPr/>
          </p:nvSpPr>
          <p:spPr>
            <a:xfrm>
              <a:off x="9306306" y="4387215"/>
              <a:ext cx="1674720"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Print supplier B</a:t>
              </a:r>
            </a:p>
          </p:txBody>
        </p:sp>
        <p:sp>
          <p:nvSpPr>
            <p:cNvPr id="79" name="Line 79"/>
            <p:cNvSpPr/>
            <p:nvPr/>
          </p:nvSpPr>
          <p:spPr>
            <a:xfrm>
              <a:off x="685800" y="516255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80" name="TextBox 80"/>
            <p:cNvSpPr txBox="1"/>
            <p:nvPr/>
          </p:nvSpPr>
          <p:spPr>
            <a:xfrm>
              <a:off x="829056" y="4825365"/>
              <a:ext cx="2274927"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Evening event series</a:t>
              </a:r>
            </a:p>
          </p:txBody>
        </p:sp>
        <p:sp>
          <p:nvSpPr>
            <p:cNvPr id="81" name="TextBox 81"/>
            <p:cNvSpPr txBox="1"/>
            <p:nvPr/>
          </p:nvSpPr>
          <p:spPr>
            <a:xfrm>
              <a:off x="3686556" y="4825365"/>
              <a:ext cx="1203649"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90 minutes</a:t>
              </a:r>
            </a:p>
          </p:txBody>
        </p:sp>
        <p:sp>
          <p:nvSpPr>
            <p:cNvPr id="82" name="TextBox 82"/>
            <p:cNvSpPr txBox="1"/>
            <p:nvPr/>
          </p:nvSpPr>
          <p:spPr>
            <a:xfrm>
              <a:off x="6114875" y="4825365"/>
              <a:ext cx="1190419"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6 evenings</a:t>
              </a:r>
            </a:p>
          </p:txBody>
        </p:sp>
        <p:sp>
          <p:nvSpPr>
            <p:cNvPr id="83" name="TextBox 83"/>
            <p:cNvSpPr txBox="1"/>
            <p:nvPr/>
          </p:nvSpPr>
          <p:spPr>
            <a:xfrm>
              <a:off x="7591806" y="482536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6 weeks</a:t>
              </a:r>
            </a:p>
          </p:txBody>
        </p:sp>
        <p:sp>
          <p:nvSpPr>
            <p:cNvPr id="84" name="TextBox 84"/>
            <p:cNvSpPr txBox="1"/>
            <p:nvPr/>
          </p:nvSpPr>
          <p:spPr>
            <a:xfrm>
              <a:off x="9306306" y="4825365"/>
              <a:ext cx="119856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Shop team</a:t>
              </a:r>
            </a:p>
          </p:txBody>
        </p:sp>
        <p:sp>
          <p:nvSpPr>
            <p:cNvPr id="85" name="Line 85"/>
            <p:cNvSpPr/>
            <p:nvPr/>
          </p:nvSpPr>
          <p:spPr>
            <a:xfrm>
              <a:off x="685800" y="5600700"/>
              <a:ext cx="10820400" cy="9525"/>
            </a:xfrm>
            <a:custGeom>
              <a:avLst/>
              <a:gdLst/>
              <a:ahLst/>
              <a:cxnLst/>
              <a:rect l="l" t="t" r="r" b="b"/>
              <a:pathLst>
                <a:path w="10820400" h="9525">
                  <a:moveTo>
                    <a:pt x="0" y="0"/>
                  </a:moveTo>
                  <a:lnTo>
                    <a:pt x="10820400" y="0"/>
                  </a:lnTo>
                </a:path>
              </a:pathLst>
            </a:custGeom>
            <a:noFill/>
            <a:ln w="9525">
              <a:solidFill>
                <a:srgbClr val="C2C0BC"/>
              </a:solidFill>
            </a:ln>
          </p:spPr>
        </p:sp>
        <p:sp>
          <p:nvSpPr>
            <p:cNvPr id="86" name="TextBox 86"/>
            <p:cNvSpPr txBox="1"/>
            <p:nvPr/>
          </p:nvSpPr>
          <p:spPr>
            <a:xfrm>
              <a:off x="829056" y="5263515"/>
              <a:ext cx="176315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Local radio read</a:t>
              </a:r>
            </a:p>
          </p:txBody>
        </p:sp>
        <p:sp>
          <p:nvSpPr>
            <p:cNvPr id="87" name="TextBox 87"/>
            <p:cNvSpPr txBox="1"/>
            <p:nvPr/>
          </p:nvSpPr>
          <p:spPr>
            <a:xfrm>
              <a:off x="3686556" y="5263515"/>
              <a:ext cx="1257734"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30 seconds</a:t>
              </a:r>
            </a:p>
          </p:txBody>
        </p:sp>
        <p:sp>
          <p:nvSpPr>
            <p:cNvPr id="88" name="TextBox 88"/>
            <p:cNvSpPr txBox="1"/>
            <p:nvPr/>
          </p:nvSpPr>
          <p:spPr>
            <a:xfrm>
              <a:off x="6505731" y="5263515"/>
              <a:ext cx="799563" cy="352044"/>
            </a:xfrm>
            <a:prstGeom prst="rect">
              <a:avLst/>
            </a:prstGeom>
            <a:noFill/>
            <a:ln>
              <a:noFill/>
            </a:ln>
          </p:spPr>
          <p:txBody>
            <a:bodyPr wrap="none" lIns="0" tIns="0" rIns="0" bIns="0" anchor="t" anchorCtr="0">
              <a:spAutoFit/>
            </a:bodyPr>
            <a:lstStyle/>
            <a:p>
              <a:pPr algn="r"/>
              <a:r>
                <a:rPr lang="en-US" sz="1800" dirty="0">
                  <a:solidFill>
                    <a:srgbClr val="141416"/>
                  </a:solidFill>
                  <a:latin typeface="+mn-lt"/>
                  <a:ea typeface="+mn-ea"/>
                  <a:cs typeface="+mn-cs"/>
                </a:rPr>
                <a:t>4 spots</a:t>
              </a:r>
            </a:p>
          </p:txBody>
        </p:sp>
        <p:sp>
          <p:nvSpPr>
            <p:cNvPr id="89" name="TextBox 89"/>
            <p:cNvSpPr txBox="1"/>
            <p:nvPr/>
          </p:nvSpPr>
          <p:spPr>
            <a:xfrm>
              <a:off x="7591806" y="5263515"/>
              <a:ext cx="907248"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4 weeks</a:t>
              </a:r>
            </a:p>
          </p:txBody>
        </p:sp>
        <p:sp>
          <p:nvSpPr>
            <p:cNvPr id="90" name="TextBox 90"/>
            <p:cNvSpPr txBox="1"/>
            <p:nvPr/>
          </p:nvSpPr>
          <p:spPr>
            <a:xfrm>
              <a:off x="9306306" y="5263515"/>
              <a:ext cx="1198566" cy="352044"/>
            </a:xfrm>
            <a:prstGeom prst="rect">
              <a:avLst/>
            </a:prstGeom>
            <a:noFill/>
            <a:ln>
              <a:noFill/>
            </a:ln>
          </p:spPr>
          <p:txBody>
            <a:bodyPr wrap="none" lIns="0" tIns="0" rIns="0" bIns="0" anchor="t" anchorCtr="0">
              <a:spAutoFit/>
            </a:bodyPr>
            <a:lstStyle/>
            <a:p>
              <a:pPr algn="l"/>
              <a:r>
                <a:rPr lang="en-US" sz="1800" dirty="0">
                  <a:solidFill>
                    <a:srgbClr val="141416"/>
                  </a:solidFill>
                  <a:latin typeface="+mn-lt"/>
                  <a:ea typeface="+mn-ea"/>
                  <a:cs typeface="+mn-cs"/>
                </a:rPr>
                <a:t>Shop team</a:t>
              </a:r>
            </a:p>
          </p:txBody>
        </p:sp>
      </p:grpSp>
      <p:grpSp>
        <p:nvGrpSpPr>
          <p:cNvPr id="93" name="Group 93"/>
          <p:cNvGrpSpPr/>
          <p:nvPr/>
        </p:nvGrpSpPr>
        <p:grpSpPr>
          <a:xfrm>
            <a:off x="678942" y="5969318"/>
            <a:ext cx="8525057" cy="264033"/>
            <a:chOff x="678942" y="5969318"/>
            <a:chExt cx="8525057" cy="264033"/>
          </a:xfrm>
        </p:grpSpPr>
        <p:sp>
          <p:nvSpPr>
            <p:cNvPr id="92" name="TextBox 92"/>
            <p:cNvSpPr txBox="1"/>
            <p:nvPr/>
          </p:nvSpPr>
          <p:spPr>
            <a:xfrm>
              <a:off x="678942" y="5969318"/>
              <a:ext cx="8525057" cy="264033"/>
            </a:xfrm>
            <a:prstGeom prst="rect">
              <a:avLst/>
            </a:prstGeom>
            <a:noFill/>
            <a:ln>
              <a:noFill/>
            </a:ln>
          </p:spPr>
          <p:txBody>
            <a:bodyPr wrap="none" lIns="0" tIns="0" rIns="0" bIns="0" anchor="t" anchorCtr="0">
              <a:spAutoFit/>
            </a:bodyPr>
            <a:lstStyle/>
            <a:p>
              <a:pPr algn="l"/>
              <a:r>
                <a:rPr lang="en-US" sz="1350" dirty="0">
                  <a:solidFill>
                    <a:srgbClr val="4A6B62"/>
                  </a:solidFill>
                  <a:latin typeface="+mn-lt"/>
                  <a:ea typeface="+mn-ea"/>
                  <a:cs typeface="+mn-cs"/>
                </a:rPr>
                <a:t>Every quantity, lead time and owner above is illustrative for this fictional client; nothing here is a quotation.</a:t>
              </a:r>
            </a:p>
          </p:txBody>
        </p:sp>
      </p:grpSp>
      <p:grpSp>
        <p:nvGrpSpPr>
          <p:cNvPr id="95" name="Group 95"/>
          <p:cNvGrpSpPr/>
          <p:nvPr/>
        </p:nvGrpSpPr>
        <p:grpSpPr>
          <a:xfrm>
            <a:off x="10382250" y="5676900"/>
            <a:ext cx="1047750" cy="809625"/>
            <a:chOff x="10382250" y="5676900"/>
            <a:chExt cx="1047750" cy="809625"/>
          </a:xfrm>
        </p:grpSpPr>
        <p:pic>
          <p:nvPicPr>
            <p:cNvPr id="94" name="Image 94"/>
            <p:cNvPicPr>
              <a:picLocks noChangeAspect="1"/>
            </p:cNvPicPr>
            <p:nvPr/>
          </p:nvPicPr>
          <p:blipFill>
            <a:blip r:embed="rId2"/>
            <a:stretch>
              <a:fillRect/>
            </a:stretch>
          </p:blipFill>
          <p:spPr>
            <a:xfrm>
              <a:off x="10382250" y="5676900"/>
              <a:ext cx="1047750" cy="809625"/>
            </a:xfrm>
            <a:prstGeom prst="rect">
              <a:avLst/>
            </a:prstGeom>
          </p:spPr>
        </p:pic>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childTnLst>
                          </p:cTn>
                        </p:par>
                        <p:par>
                          <p:cTn id="12" fill="hold">
                            <p:stCondLst>
                              <p:cond delay="10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600"/>
                                        <p:tgtEl>
                                          <p:spTgt spid="42"/>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93"/>
                                        </p:tgtEl>
                                        <p:attrNameLst>
                                          <p:attrName>style.visibility</p:attrName>
                                        </p:attrNameLst>
                                      </p:cBhvr>
                                      <p:to>
                                        <p:strVal val="visible"/>
                                      </p:to>
                                    </p:set>
                                    <p:animEffect transition="in" filter="fade">
                                      <p:cBhvr>
                                        <p:cTn id="19" dur="4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3" name="Group 3"/>
          <p:cNvGrpSpPr/>
          <p:nvPr/>
        </p:nvGrpSpPr>
        <p:grpSpPr>
          <a:xfrm>
            <a:off x="667512" y="601980"/>
            <a:ext cx="6668591" cy="704088"/>
            <a:chOff x="667512" y="601980"/>
            <a:chExt cx="6668591" cy="704088"/>
          </a:xfrm>
        </p:grpSpPr>
        <p:sp>
          <p:nvSpPr>
            <p:cNvPr id="2" name="TextBox 2"/>
            <p:cNvSpPr txBox="1"/>
            <p:nvPr/>
          </p:nvSpPr>
          <p:spPr>
            <a:xfrm>
              <a:off x="667512" y="601980"/>
              <a:ext cx="6668591" cy="704088"/>
            </a:xfrm>
            <a:prstGeom prst="rect">
              <a:avLst/>
            </a:prstGeom>
            <a:noFill/>
            <a:ln>
              <a:noFill/>
            </a:ln>
          </p:spPr>
          <p:txBody>
            <a:bodyPr wrap="none" lIns="0" tIns="0" rIns="0" bIns="0" anchor="t" anchorCtr="0">
              <a:spAutoFit/>
            </a:bodyPr>
            <a:lstStyle/>
            <a:p>
              <a:pPr algn="l"/>
              <a:r>
                <a:rPr lang="en-US" sz="3600" dirty="0">
                  <a:solidFill>
                    <a:srgbClr val="141416"/>
                  </a:solidFill>
                  <a:latin typeface="+mj-lt"/>
                  <a:ea typeface="+mj-ea"/>
                  <a:cs typeface="+mj-cs"/>
                </a:rPr>
                <a:t>How you will know it worked</a:t>
              </a:r>
            </a:p>
          </p:txBody>
        </p:sp>
      </p:grpSp>
      <p:grpSp>
        <p:nvGrpSpPr>
          <p:cNvPr id="5" name="Group 5"/>
          <p:cNvGrpSpPr/>
          <p:nvPr/>
        </p:nvGrpSpPr>
        <p:grpSpPr>
          <a:xfrm>
            <a:off x="671322" y="1502092"/>
            <a:ext cx="9524099" cy="995553"/>
            <a:chOff x="671322" y="1502092"/>
            <a:chExt cx="9524099" cy="995553"/>
          </a:xfrm>
        </p:grpSpPr>
        <p:sp>
          <p:nvSpPr>
            <p:cNvPr id="4" name="TextBox 4"/>
            <p:cNvSpPr txBox="1"/>
            <p:nvPr/>
          </p:nvSpPr>
          <p:spPr>
            <a:xfrm>
              <a:off x="671322" y="1502092"/>
              <a:ext cx="9524099" cy="995553"/>
            </a:xfrm>
            <a:prstGeom prst="rect">
              <a:avLst/>
            </a:prstGeom>
            <a:noFill/>
            <a:ln>
              <a:noFill/>
            </a:ln>
          </p:spPr>
          <p:txBody>
            <a:bodyPr wrap="none" lIns="0" tIns="0" rIns="0" bIns="0" anchor="t" anchorCtr="0">
              <a:spAutoFit/>
            </a:bodyPr>
            <a:lstStyle/>
            <a:p>
              <a:pPr algn="l">
                <a:lnSpc>
                  <a:spcPts val="3450"/>
                </a:lnSpc>
              </a:pPr>
              <a:r>
                <a:rPr lang="en-US" sz="2850" dirty="0">
                  <a:solidFill>
                    <a:srgbClr val="141416"/>
                  </a:solidFill>
                  <a:latin typeface="+mj-lt"/>
                  <a:ea typeface="+mj-ea"/>
                  <a:cs typeface="+mj-cs"/>
                </a:rPr>
                <a:t>If the shop is busier between eight and ten in the evening in</a:t>
              </a:r>
              <a:br/>
              <a:r>
                <a:rPr lang="en-US" sz="2850" dirty="0">
                  <a:solidFill>
                    <a:srgbClr val="141416"/>
                  </a:solidFill>
                  <a:latin typeface="+mj-lt"/>
                  <a:ea typeface="+mj-ea"/>
                  <a:cs typeface="+mj-cs"/>
                </a:rPr>
                <a:t>week six than in week one, the idea worked.</a:t>
              </a:r>
            </a:p>
          </p:txBody>
        </p:sp>
      </p:grpSp>
      <p:grpSp>
        <p:nvGrpSpPr>
          <p:cNvPr id="7" name="Group 7"/>
          <p:cNvGrpSpPr/>
          <p:nvPr/>
        </p:nvGrpSpPr>
        <p:grpSpPr>
          <a:xfrm>
            <a:off x="672084" y="2661285"/>
            <a:ext cx="7143676" cy="528066"/>
            <a:chOff x="672084" y="2661285"/>
            <a:chExt cx="7143676" cy="528066"/>
          </a:xfrm>
        </p:grpSpPr>
        <p:sp>
          <p:nvSpPr>
            <p:cNvPr id="6" name="TextBox 6"/>
            <p:cNvSpPr txBox="1"/>
            <p:nvPr/>
          </p:nvSpPr>
          <p:spPr>
            <a:xfrm>
              <a:off x="672084" y="2661285"/>
              <a:ext cx="7143676" cy="528066"/>
            </a:xfrm>
            <a:prstGeom prst="rect">
              <a:avLst/>
            </a:prstGeom>
            <a:noFill/>
            <a:ln>
              <a:noFill/>
            </a:ln>
          </p:spPr>
          <p:txBody>
            <a:bodyPr wrap="none" lIns="0" tIns="0" rIns="0" bIns="0" anchor="t" anchorCtr="0">
              <a:spAutoFit/>
            </a:bodyPr>
            <a:lstStyle/>
            <a:p>
              <a:pPr algn="l"/>
              <a:r>
                <a:rPr lang="en-US" sz="2700" b="1" dirty="0">
                  <a:solidFill>
                    <a:srgbClr val="4A6B62"/>
                  </a:solidFill>
                  <a:latin typeface="+mn-lt"/>
                  <a:ea typeface="+mn-ea"/>
                  <a:cs typeface="+mn-cs"/>
                </a:rPr>
                <a:t>Approve The Night Shelf for late autumn.</a:t>
              </a:r>
            </a:p>
          </p:txBody>
        </p:sp>
      </p:grpSp>
      <p:grpSp>
        <p:nvGrpSpPr>
          <p:cNvPr id="9" name="Group 9"/>
          <p:cNvGrpSpPr/>
          <p:nvPr/>
        </p:nvGrpSpPr>
        <p:grpSpPr>
          <a:xfrm>
            <a:off x="676656" y="3291840"/>
            <a:ext cx="914437" cy="352044"/>
            <a:chOff x="676656" y="3291840"/>
            <a:chExt cx="914437" cy="352044"/>
          </a:xfrm>
        </p:grpSpPr>
        <p:sp>
          <p:nvSpPr>
            <p:cNvPr id="8" name="TextBox 8"/>
            <p:cNvSpPr txBox="1"/>
            <p:nvPr/>
          </p:nvSpPr>
          <p:spPr>
            <a:xfrm>
              <a:off x="676656" y="3291840"/>
              <a:ext cx="914437" cy="352044"/>
            </a:xfrm>
            <a:prstGeom prst="rect">
              <a:avLst/>
            </a:prstGeom>
            <a:noFill/>
            <a:ln>
              <a:noFill/>
            </a:ln>
          </p:spPr>
          <p:txBody>
            <a:bodyPr wrap="none" lIns="0" tIns="0" rIns="0" bIns="0" anchor="t" anchorCtr="0">
              <a:spAutoFit/>
            </a:bodyPr>
            <a:lstStyle/>
            <a:p>
              <a:pPr algn="l"/>
              <a:r>
                <a:rPr lang="en-US" sz="1800" dirty="0">
                  <a:solidFill>
                    <a:srgbClr val="4A6B62"/>
                  </a:solidFill>
                  <a:latin typeface="+mn-lt"/>
                  <a:ea typeface="+mn-ea"/>
                  <a:cs typeface="+mn-cs"/>
                </a:rPr>
                <a:t>Sources</a:t>
              </a:r>
            </a:p>
          </p:txBody>
        </p:sp>
      </p:grpSp>
      <p:grpSp>
        <p:nvGrpSpPr>
          <p:cNvPr id="14" name="Group 14"/>
          <p:cNvGrpSpPr/>
          <p:nvPr/>
        </p:nvGrpSpPr>
        <p:grpSpPr>
          <a:xfrm>
            <a:off x="678942" y="3664268"/>
            <a:ext cx="4633830" cy="1292733"/>
            <a:chOff x="678942" y="3664268"/>
            <a:chExt cx="4633830" cy="1292733"/>
          </a:xfrm>
        </p:grpSpPr>
        <p:sp>
          <p:nvSpPr>
            <p:cNvPr id="10" name="TextBox 10"/>
            <p:cNvSpPr txBox="1"/>
            <p:nvPr/>
          </p:nvSpPr>
          <p:spPr>
            <a:xfrm>
              <a:off x="678942" y="3664268"/>
              <a:ext cx="4355367"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2"/>
                </a:rPr>
                <a:t>Pew Research Center — book reading, October 2025</a:t>
              </a:r>
            </a:p>
          </p:txBody>
        </p:sp>
        <p:sp>
          <p:nvSpPr>
            <p:cNvPr id="11" name="TextBox 11"/>
            <p:cNvSpPr txBox="1"/>
            <p:nvPr/>
          </p:nvSpPr>
          <p:spPr>
            <a:xfrm>
              <a:off x="678942" y="4007168"/>
              <a:ext cx="4633830"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3"/>
                </a:rPr>
                <a:t>US Bureau of Labor Statistics — Time Use Survey, 2025</a:t>
              </a:r>
            </a:p>
          </p:txBody>
        </p:sp>
        <p:sp>
          <p:nvSpPr>
            <p:cNvPr id="12" name="TextBox 12"/>
            <p:cNvSpPr txBox="1"/>
            <p:nvPr/>
          </p:nvSpPr>
          <p:spPr>
            <a:xfrm>
              <a:off x="678942" y="4350068"/>
              <a:ext cx="3901539"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4"/>
                </a:rPr>
                <a:t>National Endowment for the Arts — SPPA 2022</a:t>
              </a:r>
            </a:p>
          </p:txBody>
        </p:sp>
        <p:sp>
          <p:nvSpPr>
            <p:cNvPr id="13" name="TextBox 13"/>
            <p:cNvSpPr txBox="1"/>
            <p:nvPr/>
          </p:nvSpPr>
          <p:spPr>
            <a:xfrm>
              <a:off x="678942" y="4692968"/>
              <a:ext cx="3386620"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5"/>
                </a:rPr>
                <a:t>National Literacy Trust — reading in 2025</a:t>
              </a:r>
            </a:p>
          </p:txBody>
        </p:sp>
      </p:grpSp>
      <p:grpSp>
        <p:nvGrpSpPr>
          <p:cNvPr id="19" name="Group 19"/>
          <p:cNvGrpSpPr/>
          <p:nvPr/>
        </p:nvGrpSpPr>
        <p:grpSpPr>
          <a:xfrm>
            <a:off x="6165342" y="3664268"/>
            <a:ext cx="4724905" cy="1292733"/>
            <a:chOff x="6165342" y="3664268"/>
            <a:chExt cx="4724905" cy="1292733"/>
          </a:xfrm>
        </p:grpSpPr>
        <p:sp>
          <p:nvSpPr>
            <p:cNvPr id="15" name="TextBox 15"/>
            <p:cNvSpPr txBox="1"/>
            <p:nvPr/>
          </p:nvSpPr>
          <p:spPr>
            <a:xfrm>
              <a:off x="6165342" y="3664268"/>
              <a:ext cx="4359281"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6"/>
                </a:rPr>
                <a:t>Frontiers in Psychiatry — screens after bedtime, 2025</a:t>
              </a:r>
            </a:p>
          </p:txBody>
        </p:sp>
        <p:sp>
          <p:nvSpPr>
            <p:cNvPr id="16" name="TextBox 16"/>
            <p:cNvSpPr txBox="1"/>
            <p:nvPr/>
          </p:nvSpPr>
          <p:spPr>
            <a:xfrm>
              <a:off x="6165342" y="4007168"/>
              <a:ext cx="4724905"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7"/>
                </a:rPr>
                <a:t>American Academy of Sleep Medicine — bedtime screens</a:t>
              </a:r>
            </a:p>
          </p:txBody>
        </p:sp>
        <p:sp>
          <p:nvSpPr>
            <p:cNvPr id="17" name="TextBox 17"/>
            <p:cNvSpPr txBox="1"/>
            <p:nvPr/>
          </p:nvSpPr>
          <p:spPr>
            <a:xfrm>
              <a:off x="6165342" y="4350068"/>
              <a:ext cx="3346906"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8"/>
                </a:rPr>
                <a:t>The People's Trial — Trials 22:873, 2021</a:t>
              </a:r>
            </a:p>
          </p:txBody>
        </p:sp>
        <p:sp>
          <p:nvSpPr>
            <p:cNvPr id="18" name="TextBox 18"/>
            <p:cNvSpPr txBox="1"/>
            <p:nvPr/>
          </p:nvSpPr>
          <p:spPr>
            <a:xfrm>
              <a:off x="6165342" y="4692968"/>
              <a:ext cx="3808602" cy="264033"/>
            </a:xfrm>
            <a:prstGeom prst="rect">
              <a:avLst/>
            </a:prstGeom>
            <a:noFill/>
            <a:ln>
              <a:noFill/>
            </a:ln>
          </p:spPr>
          <p:txBody>
            <a:bodyPr wrap="none" lIns="0" tIns="0" rIns="0" bIns="0" anchor="t" anchorCtr="0">
              <a:spAutoFit/>
            </a:bodyPr>
            <a:lstStyle/>
            <a:p>
              <a:pPr algn="l"/>
              <a:r>
                <a:rPr lang="en-US" sz="1350" u="sng" dirty="0">
                  <a:solidFill>
                    <a:srgbClr val="141416"/>
                  </a:solidFill>
                  <a:latin typeface="+mn-lt"/>
                  <a:ea typeface="+mn-ea"/>
                  <a:cs typeface="+mn-cs"/>
                  <a:hlinkClick r:id="rId9"/>
                </a:rPr>
                <a:t>American Booksellers Association — members</a:t>
              </a:r>
            </a:p>
          </p:txBody>
        </p:sp>
      </p:grpSp>
      <p:grpSp>
        <p:nvGrpSpPr>
          <p:cNvPr id="21" name="Group 21"/>
          <p:cNvGrpSpPr/>
          <p:nvPr/>
        </p:nvGrpSpPr>
        <p:grpSpPr>
          <a:xfrm>
            <a:off x="678942" y="6102668"/>
            <a:ext cx="9791407" cy="492633"/>
            <a:chOff x="678942" y="6102668"/>
            <a:chExt cx="9791407" cy="492633"/>
          </a:xfrm>
        </p:grpSpPr>
        <p:sp>
          <p:nvSpPr>
            <p:cNvPr id="20" name="TextBox 20"/>
            <p:cNvSpPr txBox="1"/>
            <p:nvPr/>
          </p:nvSpPr>
          <p:spPr>
            <a:xfrm>
              <a:off x="678942" y="6102668"/>
              <a:ext cx="9791407" cy="492633"/>
            </a:xfrm>
            <a:prstGeom prst="rect">
              <a:avLst/>
            </a:prstGeom>
            <a:noFill/>
            <a:ln>
              <a:noFill/>
            </a:ln>
          </p:spPr>
          <p:txBody>
            <a:bodyPr wrap="none" lIns="0" tIns="0" rIns="0" bIns="0" anchor="t" anchorCtr="0">
              <a:spAutoFit/>
            </a:bodyPr>
            <a:lstStyle/>
            <a:p>
              <a:pPr algn="l">
                <a:lnSpc>
                  <a:spcPts val="1800"/>
                </a:lnSpc>
              </a:pPr>
              <a:r>
                <a:rPr lang="en-US" sz="1350" dirty="0">
                  <a:solidFill>
                    <a:srgbClr val="4A6B62"/>
                  </a:solidFill>
                  <a:latin typeface="+mn-lt"/>
                  <a:ea typeface="+mn-ea"/>
                  <a:cs typeface="+mn-cs"/>
                </a:rPr>
                <a:t>Fog &amp; Fern Books, its figures, its constraints and this campaign are fictional and exist only as an example. Every research finding</a:t>
              </a:r>
              <a:br/>
              <a:r>
                <a:rPr lang="en-US" sz="1350" dirty="0">
                  <a:solidFill>
                    <a:srgbClr val="4A6B62"/>
                  </a:solidFill>
                  <a:latin typeface="+mn-lt"/>
                  <a:ea typeface="+mn-ea"/>
                  <a:cs typeface="+mn-cs"/>
                </a:rPr>
                <a:t>cited above is real and linked.</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night_shelf_creative_pitch">
  <a:themeElements>
    <a:clrScheme name="ppt169_night_shelf_creative_pitch">
      <a:dk1>
        <a:srgbClr val="EDEAE3"/>
      </a:dk1>
      <a:lt1>
        <a:srgbClr val="0E0E10"/>
      </a:lt1>
      <a:dk2>
        <a:srgbClr val="1F497D"/>
      </a:dk2>
      <a:lt2>
        <a:srgbClr val="F4F1EA"/>
      </a:lt2>
      <a:accent1>
        <a:srgbClr val="E9C877"/>
      </a:accent1>
      <a:accent2>
        <a:srgbClr val="7FA69B"/>
      </a:accent2>
      <a:accent3>
        <a:srgbClr val="C4553F"/>
      </a:accent3>
      <a:accent4>
        <a:srgbClr val="E9C877"/>
      </a:accent4>
      <a:accent5>
        <a:srgbClr val="A29E97"/>
      </a:accent5>
      <a:accent6>
        <a:srgbClr val="2E2E33"/>
      </a:accent6>
      <a:hlink>
        <a:srgbClr val="7FA69B"/>
      </a:hlink>
      <a:folHlink>
        <a:srgbClr val="C4553F"/>
      </a:folHlink>
    </a:clrScheme>
    <a:fontScheme name="ppt169_night_shelf_creative_pitch">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ight_shelf_creative_pit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night_shelf_creative_pitch">
  <a:themeElements>
    <a:clrScheme name="ppt169_night_shelf_creative_pitch">
      <a:dk1>
        <a:srgbClr val="EDEAE3"/>
      </a:dk1>
      <a:lt1>
        <a:srgbClr val="0E0E10"/>
      </a:lt1>
      <a:dk2>
        <a:srgbClr val="1F497D"/>
      </a:dk2>
      <a:lt2>
        <a:srgbClr val="F4F1EA"/>
      </a:lt2>
      <a:accent1>
        <a:srgbClr val="E9C877"/>
      </a:accent1>
      <a:accent2>
        <a:srgbClr val="7FA69B"/>
      </a:accent2>
      <a:accent3>
        <a:srgbClr val="C4553F"/>
      </a:accent3>
      <a:accent4>
        <a:srgbClr val="E9C877"/>
      </a:accent4>
      <a:accent5>
        <a:srgbClr val="A29E97"/>
      </a:accent5>
      <a:accent6>
        <a:srgbClr val="2E2E33"/>
      </a:accent6>
      <a:hlink>
        <a:srgbClr val="7FA69B"/>
      </a:hlink>
      <a:folHlink>
        <a:srgbClr val="C4553F"/>
      </a:folHlink>
    </a:clrScheme>
    <a:fontScheme name="ppt169_night_shelf_creative_pitch">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ight_shelf_creative_pit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2026-09-10T13:36:00Z</dcterms:created>
  <dcterms:modified xsi:type="dcterms:W3CDTF">2026-09-10T13:36:00Z</dcterms:modified>
  <cp:category/>
  <cp:contentStatus/>
</cp:coreProperties>
</file>