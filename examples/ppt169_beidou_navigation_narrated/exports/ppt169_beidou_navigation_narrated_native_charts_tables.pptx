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1201.xml" ContentType="application/vnd.openxmlformats-officedocument.drawingml.chart+xml"/>
  <Override PartName="/ppt/charts/chart8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
</Relationships>
</file>

<file path=ppt/charts/_rels/chart8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801.xlsx"/>
</Relationships>
</file>

<file path=ppt/charts/_rels/chart12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1201.xlsx"/>
</Relationships>
</file>

<file path=ppt/charts/chart8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北斗三号标称空间星座</c:v>
                </c:pt>
              </c:strCache>
            </c:strRef>
          </c:tx>
          <c:dPt>
            <c:idx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1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dPt>
            <c:idx val="2"/>
            <c:spPr>
              <a:solidFill>
                <a:srgbClr val="8FA0C0"/>
              </a:solidFill>
              <a:ln>
                <a:solidFill>
                  <a:srgbClr val="8FA0C0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MEO 中圆地球轨道 24 颗</c:v>
                </c:pt>
                <c:pt idx="1">
                  <c:v>GEO 地球静止轨道 3 颗</c:v>
                </c:pt>
                <c:pt idx="2">
                  <c:v>IGSO 倾斜地球同步轨道 3 颗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</c:spPr>
    </c:plotArea>
    <c:legend>
      <c:legendPos val="r"/>
      <c:layout/>
      <c:overlay val="0"/>
      <c:txPr>
        <a:bodyPr/>
        <a:lstStyle/>
        <a:p>
          <a:pPr>
            <a:defRPr lang="zh-CN" sz="1650">
              <a:solidFill>
                <a:srgbClr val="D8E0F0"/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lang="zh-CN" sz="1650">
          <a:solidFill>
            <a:srgbClr val="D8E0F0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charts/chart12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21495327103"/>
          <c:y val="0.0333333333333"/>
          <c:w val="0.859813084112"/>
          <c:h val="0.7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单次报文最大长度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Pt>
            <c:idx val="0"/>
            <c:invertIfNegative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</c:spPr>
          </c:dPt>
          <c:dPt>
            <c:idx val="1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区域短报文</c:v>
                </c:pt>
                <c:pt idx="1">
                  <c:v>全球短报文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14000</c:v>
                </c:pt>
                <c:pt idx="1">
                  <c:v>560</c:v>
                </c:pt>
              </c:numCache>
            </c:numRef>
          </c:val>
        </c:ser>
        <c:gapWidth val="64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 cap="flat" cmpd="sng" algn="ctr">
            <a:solidFill>
              <a:srgbClr val="1E2B4A"/>
            </a:solidFill>
            <a:round/>
          </a:ln>
        </c:spPr>
        <c:txPr>
          <a:bodyPr/>
          <a:lstStyle/>
          <a:p>
            <a:pPr>
              <a:defRPr lang="zh-CN" sz="1650">
                <a:solidFill>
                  <a:srgbClr val="8FA0C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4000"/>
          <c:min val="0"/>
        </c:scaling>
        <c:delete val="0"/>
        <c:axPos val="b"/>
        <c:majorGridlines>
          <c:spPr>
            <a:ln w="6350" cap="flat" cmpd="sng" algn="ctr">
              <a:solidFill>
                <a:srgbClr val="1A2747"/>
              </a:solidFill>
              <a:round/>
            </a:ln>
          </c:spPr>
        </c:majorGridlines>
        <c:title>
          <c:tx>
            <c:rich>
              <a:bodyPr/>
              <a:lstStyle/>
              <a:p>
                <a:pPr/>
                <a:r>
                  <a:rPr lang="zh-CN" sz="1650">
                    <a:solidFill>
                      <a:srgbClr val="8FA0C0"/>
                    </a:solidFill>
                    <a:latin typeface="Microsoft YaHei"/>
                    <a:ea typeface="Microsoft YaHei"/>
                    <a:cs typeface="Microsoft YaHei"/>
                  </a:rPr>
                  <a:t>单次报文最大长度(比特)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 w="9525" cap="flat" cmpd="sng" algn="ctr">
            <a:solidFill>
              <a:srgbClr val="1E2B4A"/>
            </a:solidFill>
            <a:round/>
          </a:ln>
        </c:spPr>
        <c:txPr>
          <a:bodyPr/>
          <a:lstStyle/>
          <a:p>
            <a:pPr>
              <a:defRPr lang="zh-CN" sz="1650">
                <a:solidFill>
                  <a:srgbClr val="8FA0C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max"/>
        <c:crossBetween val="between"/>
        <c:majorUnit val="35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1650">
          <a:solidFill>
            <a:srgbClr val="8FA0C0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二〇〇〇年十月三十一日,中国把第一颗北斗导航试验卫星送上天。那时候,天上只有这一颗。二十年后,二〇二〇年七月三十一日,由三十颗卫星组成的北斗三号全球系统正式开通。这二十年,中国走的是一条别人没有走过的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说清楚北斗是什么。官方定性只有一句:它是中国着眼于国家安全和经济社会发展需要,自主建设运行的全球卫星导航系统。它提供定位、导航、授时三件事,而这三件事今天已经是基础设施,像电和水一样。建设原则是八个字:自主、开放、兼容、渐进。自主排在最前面,意思是能独立向全球用户提供服务。基础设施可以开放,但必须自己能开、自己能关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条路不是走一步看一步。一九九四年北斗一号正式启动,同时定下三步走战略:二〇〇〇年年底建成北斗一号,服务中国;二〇一二年年底建成北斗二号,服务亚太;二〇二〇年建成北斗三号,服务全球。三步,服务范围一步比一步大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一步,都在解决上一步留下的限制。第一步解决从无到有:二〇〇〇年十月三十一日首星升空,二〇〇三年五月二十五日第三颗到位。但北斗一号用的是有源定位——用户得先发信号,系统才能定位,有时延,容量也有限。第二步就解决这个:二〇一二年十二月二十七日,十四颗星的北斗二号服务亚太,增加了无源定位——不用发信号,只靠接收就能定位。第三步用星间链路,解决了全球组网必须全球布站的难题。二〇二〇年六月二十三日,第五十五颗星升空,比原计划提前半年;七月三十一日正式开通。两年半,十八箭三十星,创下世界导航卫星组网新纪录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三代放在一起看,差别不在多了几颗星。北斗一号:二〇〇〇年年底建成,服务中国,有源定位,三颗星。北斗二号:二〇一二年年底建成,服务亚太,兼容有源并增加无源,十四颗星。北斗三号:二〇二〇年建成,服务全球,两种体制都继承,再加星间链路,三十颗星。真正的分水岭,是定位体制这一行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三十颗星,不在同一个高度上。三颗地球静止轨道卫星,高度三万五千七百八十六公里,分别定点在东经八十度、一百一十点五度和一百四十度。三颗倾斜地球同步轨道卫星高度相同,但轨道倾角五十五度。还有二十四颗中圆地球轨道卫星,高度两万一千五百二十八公里,倾角同样五十五度,均匀分布在三个轨道面上。三种轨道混在一个星座里,高轨卫星比别的系统多,所以在高楼之间、在低纬度地区更不容易被挡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一层,都在替你做一件具体的事。三颗地球静止轨道卫星,负责中国及周边的星基增强、精密单点定位和区域短报文。二十四颗中圆轨道卫星,负责全球的定位导航授时,其中六颗还带着搜救载荷。而搜救的回执要送回遇险的人手里,靠的是二十四颗中圆轨道卫星加三颗倾斜同步轨道卫星,通过星间链路传回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所以这三十颗是这样分的:二十四颗在中圆轨道,地球静止轨道和倾斜同步轨道各三颗。干全球定位这份活的主力,就是那二十四颗;而另外六颗高轨卫星,提供的是别的系统没有的服务。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它是怎么知道你在哪儿的?卫星不停播发信号,信号里带着发出的时刻。接收机收到以后,拿当前时间一减,就知道信号走了多久,乘以光速,就是你到这颗星的距离。知道到一颗星的距离,你在一个球面上;三颗星,三个球面交在一起,位置就定住了。那为什么还要第四颗?因为你手表的误差也是未知数,第四个距离,就是用来把它一起解出来的。而这整个过程,你什么都不用发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能准到什么程度?这些数字写在北斗公开服务性能规范第三版里,都是百分之九十五置信度的统计值:全球平均水平定位精度优于九米,垂直优于十米;测速精度优于每秒零点二米;授时精度优于二十纳秒;定位服务可用性全球平均不低于百分之九十九。这不是宣传口径,是带约束条件的公开指标,谁都可以去核对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但北斗还会做一件别的导航系统不做的事。海上没有手机信号的时候,别的系统只能告诉这条船它在哪儿;北斗能让它把这句话发出去。这个功能不是后来加上的——早在北斗一号就设计了双向短报文通信。官方的原话是:这种通信与导航一体化的设计,是北斗的独创。服务成功率不低于百分之九十五,时延平均优于两秒,平均每三十秒可以发一次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次能发多少?在中国及周边,也就是东经七十五度到一百三十五度、北纬十度到五十五度这片区域,单次报文最大一万四千比特,相当于一千个汉字。在全球任意位置,单次五百六十比特,相当于四十个汉字。四十个字,够把我在哪、出了什么事、需要什么,说清楚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套系统离你有多远?交通运输、农林渔业、水文监测、气象测报、通信授时、电力调度、救灾减灾、公共安全,都在用它。而离你最近的那一个就在你口袋里:二〇二四年,国内约两点八八亿部智能手机支持北斗定位,占比百分之九十八;同一年,中国卫星导航与位置服务产业总产值五千七百五十八亿元,同比增长百分之七点三九。你今天用地图的时候,大概率就在用北斗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从一颗试验星到三十颗组网星,用了二十年。下一步的计划是:到二〇三五年,建设完善更加泛在、更加融合、更加智能的国家综合时空体系。北斗要从一个导航系统,变成一整套时空体系。这部片子里的每一个数字,都来自屏幕下方这几个可以公开查到的出处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beidou_navigation_narrate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beidou_navigation_narrate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ff7f67649ba55f7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801.xml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f4106d68d25d173.jp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1201.xml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b3fc05a5b9490b9.jp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://www.beidou.gov.cn/xt/xtjs/" TargetMode="External"/>
  <Relationship Id="rId3" Type="http://schemas.openxmlformats.org/officeDocument/2006/relationships/hyperlink" Target="http://www.beidou.gov.cn/xt/gfxz/202105/P020210526215541444683.pdf" TargetMode="External"/>
  <Relationship Id="rId4" Type="http://schemas.openxmlformats.org/officeDocument/2006/relationships/hyperlink" Target="https://www.gov.cn/zhengce/2022-11/04/content_5724523.htm" TargetMode="External"/>
  <Relationship Id="rId5" Type="http://schemas.openxmlformats.org/officeDocument/2006/relationships/hyperlink" Target="http://www.news.cn/politics/20250518/c81eaecabddd4ca79ffcfb1cb1ade4a7/c.html" TargetMode="External"/>
  <Relationship Id="rId6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416" t="0" r="417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>
                  <a:alpha val="90000"/>
                </a:schemeClr>
              </a:gs>
              <a:gs pos="55000">
                <a:schemeClr val="lt1">
                  <a:alpha val="42000"/>
                </a:schemeClr>
              </a:gs>
              <a:gs pos="100000">
                <a:schemeClr val="lt1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66750" y="1276350"/>
            <a:ext cx="8761476" cy="2099310"/>
            <a:chOff x="666750" y="1276350"/>
            <a:chExt cx="8761476" cy="2099310"/>
          </a:xfrm>
        </p:grpSpPr>
        <p:sp>
          <p:nvSpPr>
            <p:cNvPr id="4" name="TextBox 4"/>
            <p:cNvSpPr txBox="1"/>
            <p:nvPr/>
          </p:nvSpPr>
          <p:spPr>
            <a:xfrm>
              <a:off x="670560" y="1276350"/>
              <a:ext cx="32613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chemeClr val="accent5"/>
                  </a:solidFill>
                  <a:latin typeface="SimHei"/>
                  <a:ea typeface="SimHei"/>
                  <a:cs typeface="SimHei"/>
                </a:rPr>
                <a:t>北斗卫星导航系统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66750" y="1985010"/>
              <a:ext cx="8761476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从一颗星到全球组网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6750" y="4621530"/>
            <a:ext cx="1563624" cy="1276350"/>
            <a:chOff x="666750" y="4621530"/>
            <a:chExt cx="1563624" cy="1276350"/>
          </a:xfrm>
        </p:grpSpPr>
        <p:sp>
          <p:nvSpPr>
            <p:cNvPr id="7" name="TextBox 7"/>
            <p:cNvSpPr txBox="1"/>
            <p:nvPr/>
          </p:nvSpPr>
          <p:spPr>
            <a:xfrm>
              <a:off x="666750" y="4621530"/>
              <a:ext cx="526771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25118" y="5155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颗试验星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942" y="55121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2000-10-31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857500" y="4621530"/>
            <a:ext cx="5417820" cy="1276350"/>
            <a:chOff x="2857500" y="4621530"/>
            <a:chExt cx="5417820" cy="1276350"/>
          </a:xfrm>
        </p:grpSpPr>
        <p:sp>
          <p:nvSpPr>
            <p:cNvPr id="11" name="Line 11"/>
            <p:cNvSpPr/>
            <p:nvPr/>
          </p:nvSpPr>
          <p:spPr>
            <a:xfrm>
              <a:off x="2857500" y="5219700"/>
              <a:ext cx="24765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prstDash val="lgDash"/>
              <a:tailEnd type="triangle" w="lg" len="lg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772150" y="4621530"/>
              <a:ext cx="1015441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30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25818" y="51558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颗全球组网星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84342" y="55121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2020-07-31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8942" y="6293168"/>
            <a:ext cx="4002843" cy="264033"/>
            <a:chOff x="678942" y="6293168"/>
            <a:chExt cx="4002843" cy="264033"/>
          </a:xfrm>
        </p:grpSpPr>
        <p:sp>
          <p:nvSpPr>
            <p:cNvPr id="16" name="TextBox 16"/>
            <p:cNvSpPr txBox="1"/>
            <p:nvPr/>
          </p:nvSpPr>
          <p:spPr>
            <a:xfrm>
              <a:off x="678942" y="6293168"/>
              <a:ext cx="40028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来源:北斗卫星导航系统官网 · 中国政府网 2020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85800" y="44767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4" name="Group 4"/>
          <p:cNvGrpSpPr/>
          <p:nvPr/>
        </p:nvGrpSpPr>
        <p:grpSpPr>
          <a:xfrm>
            <a:off x="666750" y="836295"/>
            <a:ext cx="8727148" cy="762000"/>
            <a:chOff x="666750" y="836295"/>
            <a:chExt cx="8727148" cy="762000"/>
          </a:xfrm>
        </p:grpSpPr>
        <p:sp>
          <p:nvSpPr>
            <p:cNvPr id="3" name="TextBox 3"/>
            <p:cNvSpPr txBox="1"/>
            <p:nvPr/>
          </p:nvSpPr>
          <p:spPr>
            <a:xfrm>
              <a:off x="666750" y="836295"/>
              <a:ext cx="872714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导航是基础设施,基础设施要自己能开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5800" y="2038350"/>
            <a:ext cx="6831711" cy="1547051"/>
            <a:chOff x="685800" y="2038350"/>
            <a:chExt cx="6831711" cy="1547051"/>
          </a:xfrm>
        </p:grpSpPr>
        <p:sp>
          <p:nvSpPr>
            <p:cNvPr id="5" name="Freeform 5"/>
            <p:cNvSpPr/>
            <p:nvPr/>
          </p:nvSpPr>
          <p:spPr>
            <a:xfrm>
              <a:off x="685800" y="2038350"/>
              <a:ext cx="247650" cy="1143000"/>
            </a:xfrm>
            <a:prstGeom prst="leftBracke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29284" y="2108835"/>
              <a:ext cx="6388227" cy="10805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270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中国着眼于国家安全和经济社会发展需要,</a:t>
              </a:r>
              <a:br/>
              <a:r>
                <a:rPr lang="zh-CN" sz="270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自主建设运行的全球卫星导航系统。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36142" y="3321368"/>
              <a:ext cx="429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来源:中国卫星导航系统管理办公室官网《系统介绍》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7418" y="4127182"/>
            <a:ext cx="5363337" cy="1770507"/>
            <a:chOff x="677418" y="4127182"/>
            <a:chExt cx="5363337" cy="1770507"/>
          </a:xfrm>
        </p:grpSpPr>
        <p:sp>
          <p:nvSpPr>
            <p:cNvPr id="9" name="TextBox 9"/>
            <p:cNvSpPr txBox="1"/>
            <p:nvPr/>
          </p:nvSpPr>
          <p:spPr>
            <a:xfrm>
              <a:off x="677418" y="41271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它提供的三件事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1198245" y="4476750"/>
              <a:ext cx="461010" cy="1420939"/>
              <a:chOff x="1198245" y="4476750"/>
              <a:chExt cx="461010" cy="1420939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1428750" y="447675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275410" y="4972704"/>
                <a:ext cx="306679" cy="339834"/>
                <a:chOff x="1275410" y="4972704"/>
                <a:chExt cx="306679" cy="339834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376362" y="5073650"/>
                  <a:ext cx="10477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04775">
                      <a:moveTo>
                        <a:pt x="0" y="52387"/>
                      </a:moveTo>
                      <a:cubicBezTo>
                        <a:pt x="0" y="81320"/>
                        <a:pt x="23455" y="104775"/>
                        <a:pt x="52387" y="104775"/>
                      </a:cubicBezTo>
                      <a:cubicBezTo>
                        <a:pt x="81320" y="104775"/>
                        <a:pt x="104775" y="81320"/>
                        <a:pt x="104775" y="52387"/>
                      </a:cubicBezTo>
                      <a:cubicBezTo>
                        <a:pt x="104775" y="23455"/>
                        <a:pt x="81320" y="0"/>
                        <a:pt x="52387" y="0"/>
                      </a:cubicBezTo>
                      <a:cubicBezTo>
                        <a:pt x="23455" y="0"/>
                        <a:pt x="0" y="23455"/>
                        <a:pt x="0" y="52387"/>
                      </a:cubicBezTo>
                    </a:path>
                  </a:pathLst>
                </a:custGeom>
                <a:noFill/>
                <a:ln w="52387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75410" y="4972704"/>
                  <a:ext cx="306679" cy="339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679" h="339834">
                      <a:moveTo>
                        <a:pt x="252124" y="252119"/>
                      </a:moveTo>
                      <a:lnTo>
                        <a:pt x="178031" y="326212"/>
                      </a:lnTo>
                      <a:cubicBezTo>
                        <a:pt x="164395" y="339834"/>
                        <a:pt x="142301" y="339834"/>
                        <a:pt x="128665" y="326212"/>
                      </a:cubicBezTo>
                      <a:lnTo>
                        <a:pt x="54554" y="252119"/>
                      </a:lnTo>
                      <a:cubicBezTo>
                        <a:pt x="0" y="197562"/>
                        <a:pt x="2" y="109110"/>
                        <a:pt x="54557" y="54555"/>
                      </a:cubicBezTo>
                      <a:cubicBezTo>
                        <a:pt x="109113" y="0"/>
                        <a:pt x="197565" y="0"/>
                        <a:pt x="252121" y="54555"/>
                      </a:cubicBezTo>
                      <a:cubicBezTo>
                        <a:pt x="306677" y="109110"/>
                        <a:pt x="306679" y="197562"/>
                        <a:pt x="252124" y="252119"/>
                      </a:cubicBezTo>
                    </a:path>
                  </a:pathLst>
                </a:custGeom>
                <a:noFill/>
                <a:ln w="52387">
                  <a:solidFill>
                    <a:schemeClr val="accent1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198245" y="557498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定位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388995" y="4476750"/>
              <a:ext cx="461010" cy="1420939"/>
              <a:chOff x="3388995" y="4476750"/>
              <a:chExt cx="461010" cy="1420939"/>
            </a:xfrm>
          </p:grpSpPr>
          <p:sp>
            <p:nvSpPr>
              <p:cNvPr id="16" name="Line 16"/>
              <p:cNvSpPr/>
              <p:nvPr/>
            </p:nvSpPr>
            <p:spPr>
              <a:xfrm>
                <a:off x="3619500" y="447675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3462337" y="4986337"/>
                <a:ext cx="314325" cy="314325"/>
                <a:chOff x="3462337" y="4986337"/>
                <a:chExt cx="314325" cy="314325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3462337" y="5230812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3"/>
                        <a:pt x="15636" y="69850"/>
                        <a:pt x="34925" y="69850"/>
                      </a:cubicBezTo>
                      <a:cubicBezTo>
                        <a:pt x="54213" y="69850"/>
                        <a:pt x="69850" y="54213"/>
                        <a:pt x="69850" y="34925"/>
                      </a:cubicBezTo>
                      <a:cubicBezTo>
                        <a:pt x="69850" y="15636"/>
                        <a:pt x="54213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52387">
                  <a:solidFill>
                    <a:schemeClr val="accent1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3706812" y="4986337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34925" y="69850"/>
                      </a:moveTo>
                      <a:cubicBezTo>
                        <a:pt x="54213" y="69850"/>
                        <a:pt x="69850" y="54213"/>
                        <a:pt x="69850" y="34925"/>
                      </a:cubicBezTo>
                      <a:cubicBezTo>
                        <a:pt x="69850" y="15636"/>
                        <a:pt x="54213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  <a:cubicBezTo>
                        <a:pt x="0" y="54213"/>
                        <a:pt x="15636" y="69850"/>
                        <a:pt x="34925" y="69850"/>
                      </a:cubicBezTo>
                    </a:path>
                  </a:pathLst>
                </a:custGeom>
                <a:noFill/>
                <a:ln w="52387">
                  <a:solidFill>
                    <a:schemeClr val="accent1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497262" y="5021262"/>
                  <a:ext cx="261937" cy="24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37" h="244475">
                      <a:moveTo>
                        <a:pt x="104775" y="244475"/>
                      </a:moveTo>
                      <a:lnTo>
                        <a:pt x="200818" y="244475"/>
                      </a:lnTo>
                      <a:cubicBezTo>
                        <a:pt x="234573" y="244475"/>
                        <a:pt x="261937" y="217111"/>
                        <a:pt x="261937" y="183356"/>
                      </a:cubicBezTo>
                      <a:cubicBezTo>
                        <a:pt x="261937" y="149601"/>
                        <a:pt x="234573" y="122237"/>
                        <a:pt x="200818" y="122237"/>
                      </a:cubicBezTo>
                      <a:lnTo>
                        <a:pt x="61119" y="122237"/>
                      </a:lnTo>
                      <a:cubicBezTo>
                        <a:pt x="27364" y="122237"/>
                        <a:pt x="0" y="94874"/>
                        <a:pt x="0" y="61119"/>
                      </a:cubicBezTo>
                      <a:cubicBezTo>
                        <a:pt x="0" y="27364"/>
                        <a:pt x="27364" y="0"/>
                        <a:pt x="61119" y="0"/>
                      </a:cubicBezTo>
                      <a:lnTo>
                        <a:pt x="139700" y="0"/>
                      </a:lnTo>
                    </a:path>
                  </a:pathLst>
                </a:custGeom>
                <a:noFill/>
                <a:ln w="52387">
                  <a:solidFill>
                    <a:schemeClr val="accent1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3388995" y="557498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导航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579745" y="4476750"/>
              <a:ext cx="461010" cy="1420939"/>
              <a:chOff x="5579745" y="4476750"/>
              <a:chExt cx="461010" cy="1420939"/>
            </a:xfrm>
          </p:grpSpPr>
          <p:sp>
            <p:nvSpPr>
              <p:cNvPr id="23" name="Line 23"/>
              <p:cNvSpPr/>
              <p:nvPr/>
            </p:nvSpPr>
            <p:spPr>
              <a:xfrm>
                <a:off x="5810250" y="447675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5653087" y="4986337"/>
                <a:ext cx="314324" cy="314324"/>
                <a:chOff x="5653087" y="4986337"/>
                <a:chExt cx="314324" cy="314324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5653087" y="4986337"/>
                  <a:ext cx="314324" cy="314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4" h="314324">
                      <a:moveTo>
                        <a:pt x="0" y="157162"/>
                      </a:moveTo>
                      <a:cubicBezTo>
                        <a:pt x="0" y="243961"/>
                        <a:pt x="70364" y="314324"/>
                        <a:pt x="157162" y="314324"/>
                      </a:cubicBezTo>
                      <a:cubicBezTo>
                        <a:pt x="243961" y="314324"/>
                        <a:pt x="314324" y="243961"/>
                        <a:pt x="314324" y="157162"/>
                      </a:cubicBezTo>
                      <a:cubicBezTo>
                        <a:pt x="314324" y="70364"/>
                        <a:pt x="243961" y="0"/>
                        <a:pt x="157162" y="0"/>
                      </a:cubicBezTo>
                      <a:cubicBezTo>
                        <a:pt x="70364" y="0"/>
                        <a:pt x="0" y="70364"/>
                        <a:pt x="0" y="157162"/>
                      </a:cubicBezTo>
                    </a:path>
                  </a:pathLst>
                </a:custGeom>
                <a:noFill/>
                <a:ln w="52387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5810250" y="5056187"/>
                  <a:ext cx="52387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7" h="139700">
                      <a:moveTo>
                        <a:pt x="0" y="0"/>
                      </a:moveTo>
                      <a:lnTo>
                        <a:pt x="0" y="87312"/>
                      </a:lnTo>
                      <a:lnTo>
                        <a:pt x="52387" y="139700"/>
                      </a:lnTo>
                    </a:path>
                  </a:pathLst>
                </a:custGeom>
                <a:noFill/>
                <a:ln w="52387">
                  <a:solidFill>
                    <a:schemeClr val="accent1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5579745" y="557498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授时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8267700" y="4012882"/>
            <a:ext cx="1106424" cy="2231708"/>
            <a:chOff x="8267700" y="4012882"/>
            <a:chExt cx="1106424" cy="2231708"/>
          </a:xfrm>
        </p:grpSpPr>
        <p:sp>
          <p:nvSpPr>
            <p:cNvPr id="30" name="Line 30"/>
            <p:cNvSpPr/>
            <p:nvPr/>
          </p:nvSpPr>
          <p:spPr>
            <a:xfrm>
              <a:off x="8267700" y="4038600"/>
              <a:ext cx="9525" cy="2019300"/>
            </a:xfrm>
            <a:custGeom>
              <a:avLst/>
              <a:gdLst/>
              <a:ahLst/>
              <a:cxnLst/>
              <a:rect l="l" t="t" r="r" b="b"/>
              <a:pathLst>
                <a:path w="9525" h="2019300">
                  <a:moveTo>
                    <a:pt x="0" y="0"/>
                  </a:moveTo>
                  <a:lnTo>
                    <a:pt x="0" y="20193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68868" y="4012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建设原则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62010" y="4400550"/>
              <a:ext cx="838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chemeClr val="accent2"/>
                  </a:solidFill>
                  <a:latin typeface="SimHei"/>
                  <a:ea typeface="SimHei"/>
                  <a:cs typeface="SimHei"/>
                </a:rPr>
                <a:t>自主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62010" y="4819650"/>
              <a:ext cx="838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chemeClr val="accent5"/>
                  </a:solidFill>
                  <a:latin typeface="SimHei"/>
                  <a:ea typeface="SimHei"/>
                  <a:cs typeface="SimHei"/>
                </a:rPr>
                <a:t>开放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62010" y="5238750"/>
              <a:ext cx="838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chemeClr val="accent5"/>
                  </a:solidFill>
                  <a:latin typeface="SimHei"/>
                  <a:ea typeface="SimHei"/>
                  <a:cs typeface="SimHei"/>
                </a:rPr>
                <a:t>兼容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62010" y="5657850"/>
              <a:ext cx="838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chemeClr val="accent5"/>
                  </a:solidFill>
                  <a:latin typeface="SimHei"/>
                  <a:ea typeface="SimHei"/>
                  <a:cs typeface="SimHei"/>
                </a:rPr>
                <a:t>渐进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836295"/>
            <a:ext cx="6390818" cy="762000"/>
            <a:chOff x="666750" y="836295"/>
            <a:chExt cx="6390818" cy="76200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836295"/>
              <a:ext cx="639081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一条路线,三十年,分三步走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2084" y="1613535"/>
            <a:ext cx="8659940" cy="528066"/>
            <a:chOff x="672084" y="1613535"/>
            <a:chExt cx="8659940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672084" y="1613535"/>
              <a:ext cx="865994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1994年,三步走的发展战略与北斗一号建设同时定下。</a:t>
              </a:r>
            </a:p>
          </p:txBody>
        </p:sp>
      </p:grpSp>
      <p:grpSp>
        <p:nvGrpSpPr>
          <p:cNvPr id="26" name="!!three-step-timeline"/>
          <p:cNvGrpSpPr/>
          <p:nvPr/>
        </p:nvGrpSpPr>
        <p:grpSpPr>
          <a:xfrm>
            <a:off x="1333500" y="3676650"/>
            <a:ext cx="9525000" cy="1737551"/>
            <a:chOff x="1333500" y="3676650"/>
            <a:chExt cx="9525000" cy="1737551"/>
          </a:xfrm>
        </p:grpSpPr>
        <p:sp>
          <p:nvSpPr>
            <p:cNvPr id="6" name="Line 6"/>
            <p:cNvSpPr/>
            <p:nvPr/>
          </p:nvSpPr>
          <p:spPr>
            <a:xfrm>
              <a:off x="1333500" y="447675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9715500" y="44767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  <a:prstDash val="lgDash"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333500" y="4391025"/>
              <a:ext cx="1228725" cy="171450"/>
              <a:chOff x="1333500" y="4391025"/>
              <a:chExt cx="1228725" cy="171450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1333500" y="4476750"/>
                <a:ext cx="114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9525">
                    <a:moveTo>
                      <a:pt x="0" y="0"/>
                    </a:moveTo>
                    <a:lnTo>
                      <a:pt x="11430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2390775" y="4391025"/>
                <a:ext cx="171450" cy="1714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2017014" y="3676650"/>
              <a:ext cx="918972" cy="1737551"/>
              <a:chOff x="2017014" y="3676650"/>
              <a:chExt cx="918972" cy="1737551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2017014" y="3676650"/>
                <a:ext cx="918972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2000</a:t>
                </a:r>
              </a:p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2324100" y="4324350"/>
                <a:ext cx="304800" cy="30480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023872" y="48129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北斗一号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106168" y="51501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服务中国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5636514" y="3676650"/>
              <a:ext cx="918972" cy="1737551"/>
              <a:chOff x="5636514" y="3676650"/>
              <a:chExt cx="918972" cy="1737551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5636514" y="3676650"/>
                <a:ext cx="918972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2012</a:t>
                </a:r>
              </a:p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6010275" y="4391025"/>
                <a:ext cx="171450" cy="17145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643372" y="48129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北斗二号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725668" y="51501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服务亚太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9256014" y="3676650"/>
              <a:ext cx="918972" cy="1737551"/>
              <a:chOff x="9256014" y="3676650"/>
              <a:chExt cx="918972" cy="1737551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9256014" y="3676650"/>
                <a:ext cx="918972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2020</a:t>
                </a:r>
              </a:p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9629775" y="4391025"/>
                <a:ext cx="171450" cy="17145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262872" y="48129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北斗三号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345168" y="51501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服务全球</a:t>
                </a: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678942" y="6293168"/>
            <a:ext cx="5702084" cy="264033"/>
            <a:chOff x="678942" y="6293168"/>
            <a:chExt cx="5702084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678942" y="6293168"/>
              <a:ext cx="5702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来源:北斗卫星导航系统官网《系统介绍》与北斗建设三步走专题 2020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836295"/>
            <a:ext cx="6627076" cy="762000"/>
            <a:chOff x="666750" y="836295"/>
            <a:chExt cx="6627076" cy="76200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836295"/>
              <a:ext cx="662707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从有源到无源,再到全球组网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600950" y="1822132"/>
            <a:ext cx="3769766" cy="1599248"/>
            <a:chOff x="7600950" y="1822132"/>
            <a:chExt cx="3769766" cy="1599248"/>
          </a:xfrm>
        </p:grpSpPr>
        <p:sp>
          <p:nvSpPr>
            <p:cNvPr id="4" name="TextBox 4"/>
            <p:cNvSpPr txBox="1"/>
            <p:nvPr/>
          </p:nvSpPr>
          <p:spPr>
            <a:xfrm>
              <a:off x="7611618" y="1822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全球星座部署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00950" y="2145030"/>
              <a:ext cx="3769766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18箭30星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13142" y="3054668"/>
              <a:ext cx="3203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两年半完成,创世界导航卫星组网新纪录</a:t>
              </a:r>
            </a:p>
          </p:txBody>
        </p:sp>
      </p:grpSp>
      <p:grpSp>
        <p:nvGrpSpPr>
          <p:cNvPr id="28" name="!!three-step-timeline"/>
          <p:cNvGrpSpPr/>
          <p:nvPr/>
        </p:nvGrpSpPr>
        <p:grpSpPr>
          <a:xfrm>
            <a:off x="856726" y="3676650"/>
            <a:ext cx="10569417" cy="1737551"/>
            <a:chOff x="856726" y="3676650"/>
            <a:chExt cx="10569417" cy="1737551"/>
          </a:xfrm>
        </p:grpSpPr>
        <p:sp>
          <p:nvSpPr>
            <p:cNvPr id="8" name="Line 8"/>
            <p:cNvSpPr/>
            <p:nvPr/>
          </p:nvSpPr>
          <p:spPr>
            <a:xfrm>
              <a:off x="1333500" y="447675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715500" y="44767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  <a:prstDash val="lgDash"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333500" y="4391025"/>
              <a:ext cx="8467725" cy="171450"/>
              <a:chOff x="1333500" y="4391025"/>
              <a:chExt cx="8467725" cy="171450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1333500" y="4476750"/>
                <a:ext cx="838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382000" h="9525">
                    <a:moveTo>
                      <a:pt x="0" y="0"/>
                    </a:moveTo>
                    <a:lnTo>
                      <a:pt x="83820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9629775" y="4391025"/>
                <a:ext cx="171450" cy="1714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856726" y="3676650"/>
              <a:ext cx="3239548" cy="1737551"/>
              <a:chOff x="856726" y="3676650"/>
              <a:chExt cx="3239548" cy="1737551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2017014" y="3676650"/>
                <a:ext cx="918972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2000</a:t>
                </a:r>
              </a:p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2390775" y="4391025"/>
                <a:ext cx="171450" cy="17145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185358" y="4812982"/>
                <a:ext cx="258228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Microsoft YaHei"/>
                    <a:ea typeface="Microsoft YaHei"/>
                    <a:cs typeface="Microsoft YaHei"/>
                  </a:rPr>
                  <a:t>有源定位:用户得先发信号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56726" y="5150168"/>
                <a:ext cx="32395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2000-10-31 首星 · 2003-05-25 建成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835157" y="3676650"/>
              <a:ext cx="2521687" cy="1737551"/>
              <a:chOff x="4835157" y="3676650"/>
              <a:chExt cx="2521687" cy="1737551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5636514" y="3676650"/>
                <a:ext cx="918972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2012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6010275" y="4391025"/>
                <a:ext cx="171450" cy="17145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915919" y="4812982"/>
                <a:ext cx="236016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Microsoft YaHei"/>
                    <a:ea typeface="Microsoft YaHei"/>
                    <a:cs typeface="Microsoft YaHei"/>
                  </a:rPr>
                  <a:t>增加无源定位:只靠接收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835157" y="5150168"/>
                <a:ext cx="252168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2012-12-27 区域服务 · 14星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8004858" y="3676650"/>
              <a:ext cx="3421285" cy="1737551"/>
              <a:chOff x="8004858" y="3676650"/>
              <a:chExt cx="3421285" cy="1737551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9256014" y="3676650"/>
                <a:ext cx="918972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2020</a:t>
                </a:r>
              </a:p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9563100" y="4324350"/>
                <a:ext cx="304800" cy="30480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690905" y="4812982"/>
                <a:ext cx="204918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Microsoft YaHei"/>
                    <a:ea typeface="Microsoft YaHei"/>
                    <a:cs typeface="Microsoft YaHei"/>
                  </a:rPr>
                  <a:t>两种体制 + 星间链路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004858" y="5150168"/>
                <a:ext cx="34212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2020-06-23 收官星 · 2020-07-31 开通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678942" y="6293168"/>
            <a:ext cx="6547161" cy="264033"/>
            <a:chOff x="678942" y="6293168"/>
            <a:chExt cx="6547161" cy="264033"/>
          </a:xfrm>
        </p:grpSpPr>
        <p:sp>
          <p:nvSpPr>
            <p:cNvPr id="29" name="TextBox 29"/>
            <p:cNvSpPr txBox="1"/>
            <p:nvPr/>
          </p:nvSpPr>
          <p:spPr>
            <a:xfrm>
              <a:off x="678942" y="6293168"/>
              <a:ext cx="65471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来源:北斗卫星导航系统官网 · 新华网 2020-06-23 · 中国政府网 2020-07-31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836295"/>
            <a:ext cx="7152094" cy="762000"/>
            <a:chOff x="666750" y="836295"/>
            <a:chExt cx="7152094" cy="76200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836295"/>
              <a:ext cx="715209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三代北斗,差别不在多了几颗星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2084" y="1613535"/>
            <a:ext cx="8587245" cy="528066"/>
            <a:chOff x="672084" y="1613535"/>
            <a:chExt cx="8587245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672084" y="1613535"/>
              <a:ext cx="85872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同一组判据横向读:真正的分水岭在定位体制这一行。</a:t>
              </a:r>
            </a:p>
          </p:txBody>
        </p:sp>
      </p:grpSp>
      <p:graphicFrame>
        <p:nvGraphicFramePr>
          <p:cNvPr id="6" name="three-generation-comparison"/>
          <p:cNvGraphicFramePr>
            <a:graphicFrameLocks noGrp="1"/>
          </p:cNvGraphicFramePr>
          <p:nvPr/>
        </p:nvGraphicFramePr>
        <p:xfrm>
          <a:off x="685800" y="2857500"/>
          <a:ext cx="108204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/>
                <a:gridCol w="2381250"/>
                <a:gridCol w="2981325"/>
                <a:gridCol w="2981325"/>
              </a:tblGrid>
              <a:tr h="533400">
                <a:tc>
                  <a:txBody>
                    <a:bodyPr/>
                    <a:lstStyle/>
                    <a:p>
                      <a:pPr/>
                      <a:r>
                        <a:rPr lang="zh-CN" sz="225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判据</a:t>
                      </a:r>
                    </a:p>
                  </a:txBody>
                  <a:tcPr anchor="ctr" marL="114300" marR="114300" marT="66675" marB="66675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19050">
                      <a:solidFill>
                        <a:schemeClr val="accent1"/>
                      </a:solidFill>
                      <a:prstDash val="solid"/>
                    </a:lnB>
                    <a:solidFill>
                      <a:srgbClr val="111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25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北斗一号</a:t>
                      </a:r>
                    </a:p>
                  </a:txBody>
                  <a:tcPr anchor="ctr" marL="114300" marR="114300" marT="66675" marB="66675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19050">
                      <a:solidFill>
                        <a:schemeClr val="accent1"/>
                      </a:solidFill>
                      <a:prstDash val="solid"/>
                    </a:lnB>
                    <a:solidFill>
                      <a:srgbClr val="111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25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北斗二号</a:t>
                      </a:r>
                    </a:p>
                  </a:txBody>
                  <a:tcPr anchor="ctr" marL="114300" marR="114300" marT="66675" marB="66675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19050">
                      <a:solidFill>
                        <a:schemeClr val="accent1"/>
                      </a:solidFill>
                      <a:prstDash val="solid"/>
                    </a:lnB>
                    <a:solidFill>
                      <a:srgbClr val="111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25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北斗三号</a:t>
                      </a:r>
                    </a:p>
                  </a:txBody>
                  <a:tcPr anchor="ctr" marL="114300" marR="114300" marT="66675" marB="66675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19050">
                      <a:solidFill>
                        <a:schemeClr val="accent1"/>
                      </a:solidFill>
                      <a:prstDash val="solid"/>
                    </a:lnB>
                    <a:solidFill>
                      <a:srgbClr val="111C3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建成时间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2000年年底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2012年年底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2020年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服务范围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中国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亚太地区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全球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定位体制</a:t>
                      </a:r>
                    </a:p>
                  </a:txBody>
                  <a:tcPr anchor="ctr" marL="114300" marR="114300" marT="114300" marB="114300">
                    <a:lnL w="38100">
                      <a:solidFill>
                        <a:schemeClr val="accent2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有源定位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兼容有源,增加无源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继承两种,加星间链路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星座构成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3颗 GEO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14颗:5GEO+5IGSO+4MEO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30颗:3GEO+3IGSO+24MEO</a:t>
                      </a:r>
                    </a:p>
                  </a:txBody>
                  <a:tcPr anchor="ctr" marL="114300" marR="114300" marT="114300" marB="114300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pSp>
        <p:nvGrpSpPr>
          <p:cNvPr id="8" name="Group 8"/>
          <p:cNvGrpSpPr/>
          <p:nvPr/>
        </p:nvGrpSpPr>
        <p:grpSpPr>
          <a:xfrm>
            <a:off x="678942" y="6293168"/>
            <a:ext cx="6283643" cy="264033"/>
            <a:chOff x="678942" y="6293168"/>
            <a:chExt cx="628364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678942" y="6293168"/>
              <a:ext cx="62836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来源:北斗卫星导航系统官网《系统介绍》《公开服务性能规范(3.0版)》2021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836295"/>
            <a:ext cx="4527004" cy="762000"/>
            <a:chOff x="666750" y="836295"/>
            <a:chExt cx="4527004" cy="76200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836295"/>
              <a:ext cx="452700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三种轨道,一个星座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2084" y="1613535"/>
            <a:ext cx="8787155" cy="528066"/>
            <a:chOff x="672084" y="1613535"/>
            <a:chExt cx="8787155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672084" y="1613535"/>
              <a:ext cx="878715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三十颗星不在同一个高度上——高轨卫星比别的系统多。</a:t>
              </a:r>
            </a:p>
          </p:txBody>
        </p:sp>
      </p:grpSp>
      <p:grpSp>
        <p:nvGrpSpPr>
          <p:cNvPr id="25" name="!!orbit-system"/>
          <p:cNvGrpSpPr/>
          <p:nvPr/>
        </p:nvGrpSpPr>
        <p:grpSpPr>
          <a:xfrm>
            <a:off x="1047750" y="1991884"/>
            <a:ext cx="5905500" cy="4588732"/>
            <a:chOff x="1047750" y="1991884"/>
            <a:chExt cx="5905500" cy="4588732"/>
          </a:xfrm>
        </p:grpSpPr>
        <p:sp>
          <p:nvSpPr>
            <p:cNvPr id="6" name="Ellipse 6"/>
            <p:cNvSpPr/>
            <p:nvPr/>
          </p:nvSpPr>
          <p:spPr>
            <a:xfrm>
              <a:off x="1047750" y="3257550"/>
              <a:ext cx="5905500" cy="2057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 rot="2100000">
              <a:off x="1333500" y="3352800"/>
              <a:ext cx="5334000" cy="1866900"/>
            </a:xfrm>
            <a:prstGeom prst="ellipse">
              <a:avLst/>
            </a:prstGeom>
            <a:noFill/>
            <a:ln w="19050">
              <a:solidFill>
                <a:srgbClr val="8FA0C0"/>
              </a:solidFill>
            </a:ln>
          </p:spPr>
        </p:sp>
        <p:sp>
          <p:nvSpPr>
            <p:cNvPr id="8" name="Ellipse 8"/>
            <p:cNvSpPr/>
            <p:nvPr/>
          </p:nvSpPr>
          <p:spPr>
            <a:xfrm rot="-2100000">
              <a:off x="2095500" y="3619500"/>
              <a:ext cx="3810000" cy="13335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3409950" y="3695700"/>
              <a:ext cx="1181100" cy="11811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385888" y="3204210"/>
              <a:ext cx="5446394" cy="1653540"/>
              <a:chOff x="1385888" y="3204210"/>
              <a:chExt cx="5446394" cy="165354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6717982" y="4580572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385888" y="474345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3686175" y="320421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1685067" y="3030638"/>
              <a:ext cx="3724458" cy="2998640"/>
              <a:chOff x="1685067" y="3030638"/>
              <a:chExt cx="3724458" cy="2998640"/>
            </a:xfrm>
          </p:grpSpPr>
          <p:sp>
            <p:nvSpPr>
              <p:cNvPr id="14" name="Ellipse 14"/>
              <p:cNvSpPr/>
              <p:nvPr/>
            </p:nvSpPr>
            <p:spPr>
              <a:xfrm rot="2100000">
                <a:off x="5272781" y="5892534"/>
                <a:ext cx="114300" cy="114300"/>
              </a:xfrm>
              <a:prstGeom prst="ellipse">
                <a:avLst/>
              </a:prstGeom>
              <a:solidFill>
                <a:srgbClr val="8FA0C0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 rot="2100000">
                <a:off x="1707511" y="3053083"/>
                <a:ext cx="114300" cy="114300"/>
              </a:xfrm>
              <a:prstGeom prst="ellipse">
                <a:avLst/>
              </a:prstGeom>
              <a:solidFill>
                <a:srgbClr val="8FA0C0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 rot="2100000">
                <a:off x="4849758" y="3741683"/>
                <a:ext cx="114300" cy="114300"/>
              </a:xfrm>
              <a:prstGeom prst="ellipse">
                <a:avLst/>
              </a:prstGeom>
              <a:solidFill>
                <a:srgbClr val="8FA0C0"/>
              </a:solidFill>
              <a:ln>
                <a:noFill/>
              </a:ln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2360421" y="3113992"/>
              <a:ext cx="3280158" cy="2344516"/>
              <a:chOff x="2360421" y="3113992"/>
              <a:chExt cx="3280158" cy="2344516"/>
            </a:xfrm>
          </p:grpSpPr>
          <p:sp>
            <p:nvSpPr>
              <p:cNvPr id="18" name="Ellipse 18"/>
              <p:cNvSpPr/>
              <p:nvPr/>
            </p:nvSpPr>
            <p:spPr>
              <a:xfrm rot="-2100000">
                <a:off x="5503835" y="3136437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 rot="-2100000">
                <a:off x="5054669" y="415559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 rot="-2100000">
                <a:off x="3494185" y="5248258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 rot="-2100000">
                <a:off x="2382865" y="5321763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 rot="-2100000">
                <a:off x="2832031" y="430260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 rot="-2100000">
                <a:off x="4392515" y="3209942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</p:grpSp>
      </p:grpSp>
      <p:grpSp>
        <p:nvGrpSpPr>
          <p:cNvPr id="41" name="Group 41"/>
          <p:cNvGrpSpPr/>
          <p:nvPr/>
        </p:nvGrpSpPr>
        <p:grpSpPr>
          <a:xfrm>
            <a:off x="7620000" y="2679382"/>
            <a:ext cx="3493503" cy="3134869"/>
            <a:chOff x="7620000" y="2679382"/>
            <a:chExt cx="3493503" cy="3134869"/>
          </a:xfrm>
        </p:grpSpPr>
        <p:grpSp>
          <p:nvGrpSpPr>
            <p:cNvPr id="30" name="Group 30"/>
            <p:cNvGrpSpPr/>
            <p:nvPr/>
          </p:nvGrpSpPr>
          <p:grpSpPr>
            <a:xfrm>
              <a:off x="7620000" y="2679382"/>
              <a:ext cx="3266313" cy="848869"/>
              <a:chOff x="7620000" y="2679382"/>
              <a:chExt cx="3266313" cy="848869"/>
            </a:xfrm>
          </p:grpSpPr>
          <p:sp>
            <p:nvSpPr>
              <p:cNvPr id="26" name="Line 26"/>
              <p:cNvSpPr/>
              <p:nvPr/>
            </p:nvSpPr>
            <p:spPr>
              <a:xfrm>
                <a:off x="7620000" y="278130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145018" y="2679382"/>
                <a:ext cx="24538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GEO 地球静止轨道 · 3颗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45018" y="2984182"/>
                <a:ext cx="217135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35786 km · 倾角 0°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46542" y="3264218"/>
                <a:ext cx="27397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定点东经 80° / 110.5° / 140°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7620000" y="3822382"/>
              <a:ext cx="3493503" cy="848869"/>
              <a:chOff x="7620000" y="3822382"/>
              <a:chExt cx="3493503" cy="848869"/>
            </a:xfrm>
          </p:grpSpPr>
          <p:sp>
            <p:nvSpPr>
              <p:cNvPr id="31" name="Line 31"/>
              <p:cNvSpPr/>
              <p:nvPr/>
            </p:nvSpPr>
            <p:spPr>
              <a:xfrm>
                <a:off x="7620000" y="392430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38100">
                <a:solidFill>
                  <a:srgbClr val="8FA0C0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145018" y="3822382"/>
                <a:ext cx="296848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IGSO 倾斜地球同步轨道 · 3颗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145018" y="4127182"/>
                <a:ext cx="22935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35786 km · 倾角 55°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146542" y="4407218"/>
                <a:ext cx="18674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与赤道面成 55 度夹角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7620000" y="4965382"/>
              <a:ext cx="3147955" cy="848869"/>
              <a:chOff x="7620000" y="4965382"/>
              <a:chExt cx="3147955" cy="848869"/>
            </a:xfrm>
          </p:grpSpPr>
          <p:sp>
            <p:nvSpPr>
              <p:cNvPr id="36" name="Line 36"/>
              <p:cNvSpPr/>
              <p:nvPr/>
            </p:nvSpPr>
            <p:spPr>
              <a:xfrm>
                <a:off x="7620000" y="506730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45018" y="4965382"/>
                <a:ext cx="262293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MEO 中圆地球轨道 · 24颗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45018" y="5270182"/>
                <a:ext cx="22935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21528 km · 倾角 55°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46542" y="5550218"/>
                <a:ext cx="17897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Walker 24/3/1 星座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678942" y="6293168"/>
            <a:ext cx="5329523" cy="264033"/>
            <a:chOff x="678942" y="6293168"/>
            <a:chExt cx="5329523" cy="264033"/>
          </a:xfrm>
        </p:grpSpPr>
        <p:sp>
          <p:nvSpPr>
            <p:cNvPr id="42" name="TextBox 42"/>
            <p:cNvSpPr txBox="1"/>
            <p:nvPr/>
          </p:nvSpPr>
          <p:spPr>
            <a:xfrm>
              <a:off x="678942" y="6293168"/>
              <a:ext cx="5329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来源:《北斗卫星导航系统公开服务性能规范(3.0版)》2021 §4.1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1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836295"/>
            <a:ext cx="6863334" cy="762000"/>
            <a:chOff x="666750" y="836295"/>
            <a:chExt cx="6863334" cy="76200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836295"/>
              <a:ext cx="686333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每一层轨道都在替你做一件事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2084" y="1613535"/>
            <a:ext cx="4589031" cy="528066"/>
            <a:chOff x="672084" y="1613535"/>
            <a:chExt cx="4589031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672084" y="1613535"/>
              <a:ext cx="458903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同一张图,这次看的是分工。</a:t>
              </a:r>
            </a:p>
          </p:txBody>
        </p:sp>
      </p:grpSp>
      <p:grpSp>
        <p:nvGrpSpPr>
          <p:cNvPr id="25" name="!!orbit-system"/>
          <p:cNvGrpSpPr/>
          <p:nvPr/>
        </p:nvGrpSpPr>
        <p:grpSpPr>
          <a:xfrm>
            <a:off x="1047750" y="1991884"/>
            <a:ext cx="5905500" cy="4588732"/>
            <a:chOff x="1047750" y="1991884"/>
            <a:chExt cx="5905500" cy="4588732"/>
          </a:xfrm>
        </p:grpSpPr>
        <p:sp>
          <p:nvSpPr>
            <p:cNvPr id="6" name="Ellipse 6"/>
            <p:cNvSpPr/>
            <p:nvPr/>
          </p:nvSpPr>
          <p:spPr>
            <a:xfrm>
              <a:off x="1047750" y="3257550"/>
              <a:ext cx="5905500" cy="2057400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7" name="Ellipse 7"/>
            <p:cNvSpPr/>
            <p:nvPr/>
          </p:nvSpPr>
          <p:spPr>
            <a:xfrm rot="2100000">
              <a:off x="1333500" y="3352800"/>
              <a:ext cx="5334000" cy="1866900"/>
            </a:xfrm>
            <a:prstGeom prst="ellipse">
              <a:avLst/>
            </a:prstGeom>
            <a:noFill/>
            <a:ln w="19050">
              <a:solidFill>
                <a:srgbClr val="8FA0C0"/>
              </a:solidFill>
            </a:ln>
          </p:spPr>
        </p:sp>
        <p:sp>
          <p:nvSpPr>
            <p:cNvPr id="8" name="Ellipse 8"/>
            <p:cNvSpPr/>
            <p:nvPr/>
          </p:nvSpPr>
          <p:spPr>
            <a:xfrm rot="-2100000">
              <a:off x="2095500" y="3619500"/>
              <a:ext cx="3810000" cy="13335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3409950" y="3695700"/>
              <a:ext cx="1181100" cy="11811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366838" y="3185160"/>
              <a:ext cx="5484494" cy="1691640"/>
              <a:chOff x="1366838" y="3185160"/>
              <a:chExt cx="5484494" cy="169164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6698932" y="4561522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366838" y="472440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3667125" y="318516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1685067" y="3030638"/>
              <a:ext cx="3724458" cy="2998640"/>
              <a:chOff x="1685067" y="3030638"/>
              <a:chExt cx="3724458" cy="2998640"/>
            </a:xfrm>
          </p:grpSpPr>
          <p:sp>
            <p:nvSpPr>
              <p:cNvPr id="14" name="Ellipse 14"/>
              <p:cNvSpPr/>
              <p:nvPr/>
            </p:nvSpPr>
            <p:spPr>
              <a:xfrm rot="2100000">
                <a:off x="5272781" y="5892534"/>
                <a:ext cx="114300" cy="114300"/>
              </a:xfrm>
              <a:prstGeom prst="ellipse">
                <a:avLst/>
              </a:prstGeom>
              <a:solidFill>
                <a:srgbClr val="8FA0C0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 rot="2100000">
                <a:off x="1707511" y="3053083"/>
                <a:ext cx="114300" cy="114300"/>
              </a:xfrm>
              <a:prstGeom prst="ellipse">
                <a:avLst/>
              </a:prstGeom>
              <a:solidFill>
                <a:srgbClr val="8FA0C0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 rot="2100000">
                <a:off x="4849758" y="3741683"/>
                <a:ext cx="114300" cy="114300"/>
              </a:xfrm>
              <a:prstGeom prst="ellipse">
                <a:avLst/>
              </a:prstGeom>
              <a:solidFill>
                <a:srgbClr val="8FA0C0"/>
              </a:solidFill>
              <a:ln>
                <a:noFill/>
              </a:ln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2360421" y="3113992"/>
              <a:ext cx="3280158" cy="2344516"/>
              <a:chOff x="2360421" y="3113992"/>
              <a:chExt cx="3280158" cy="2344516"/>
            </a:xfrm>
          </p:grpSpPr>
          <p:sp>
            <p:nvSpPr>
              <p:cNvPr id="18" name="Ellipse 18"/>
              <p:cNvSpPr/>
              <p:nvPr/>
            </p:nvSpPr>
            <p:spPr>
              <a:xfrm rot="-2100000">
                <a:off x="5503835" y="3136437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 rot="-2100000">
                <a:off x="5054669" y="415559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 rot="-2100000">
                <a:off x="3494185" y="5248258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 rot="-2100000">
                <a:off x="2382865" y="5321763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 rot="-2100000">
                <a:off x="2832031" y="430260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 rot="-2100000">
                <a:off x="4392515" y="3209942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</p:grpSp>
      </p:grpSp>
      <p:grpSp>
        <p:nvGrpSpPr>
          <p:cNvPr id="41" name="Group 41"/>
          <p:cNvGrpSpPr/>
          <p:nvPr/>
        </p:nvGrpSpPr>
        <p:grpSpPr>
          <a:xfrm>
            <a:off x="7543800" y="2584132"/>
            <a:ext cx="2843765" cy="3180207"/>
            <a:chOff x="7543800" y="2584132"/>
            <a:chExt cx="2843765" cy="3180207"/>
          </a:xfrm>
        </p:grpSpPr>
        <p:grpSp>
          <p:nvGrpSpPr>
            <p:cNvPr id="30" name="Group 30"/>
            <p:cNvGrpSpPr/>
            <p:nvPr/>
          </p:nvGrpSpPr>
          <p:grpSpPr>
            <a:xfrm>
              <a:off x="7543800" y="2584132"/>
              <a:ext cx="2843765" cy="894207"/>
              <a:chOff x="7543800" y="2584132"/>
              <a:chExt cx="2843765" cy="894207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543800" y="2647950"/>
                <a:ext cx="133350" cy="1333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783068" y="2584132"/>
                <a:ext cx="114246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GEO · 3 颗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83068" y="2888932"/>
                <a:ext cx="260449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星基增强 · 精密单点定位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783068" y="3155632"/>
                <a:ext cx="248232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区域短报文(中国及周边)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7543800" y="3727132"/>
              <a:ext cx="2721597" cy="894207"/>
              <a:chOff x="7543800" y="3727132"/>
              <a:chExt cx="2721597" cy="894207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7543800" y="3790950"/>
                <a:ext cx="133350" cy="133350"/>
              </a:xfrm>
              <a:prstGeom prst="rect">
                <a:avLst/>
              </a:prstGeom>
              <a:solidFill>
                <a:srgbClr val="8FA0C0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783068" y="3727132"/>
                <a:ext cx="121287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IGSO · 3 颗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783068" y="4031932"/>
                <a:ext cx="177279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与 MEO 共同承载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783068" y="4298632"/>
                <a:ext cx="248232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搜救返向链路(星间链路)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7543800" y="4870132"/>
              <a:ext cx="2399519" cy="894207"/>
              <a:chOff x="7543800" y="4870132"/>
              <a:chExt cx="2399519" cy="894207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543800" y="4933950"/>
                <a:ext cx="133350" cy="13335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783068" y="4870132"/>
                <a:ext cx="131848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MEO · 24 颗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783068" y="5174932"/>
                <a:ext cx="17937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全球定位导航授时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783068" y="5441632"/>
                <a:ext cx="216025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其中 6 颗带搜救载荷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678942" y="6293168"/>
            <a:ext cx="5729345" cy="264033"/>
            <a:chOff x="678942" y="6293168"/>
            <a:chExt cx="5729345" cy="264033"/>
          </a:xfrm>
        </p:grpSpPr>
        <p:sp>
          <p:nvSpPr>
            <p:cNvPr id="42" name="TextBox 42"/>
            <p:cNvSpPr txBox="1"/>
            <p:nvPr/>
          </p:nvSpPr>
          <p:spPr>
            <a:xfrm>
              <a:off x="678942" y="6293168"/>
              <a:ext cx="57293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来源:《北斗卫星导航系统公开服务性能规范(3.0版)》2021 §6 §7 §8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836295"/>
            <a:ext cx="5997054" cy="762000"/>
            <a:chOff x="666750" y="836295"/>
            <a:chExt cx="5997054" cy="76200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836295"/>
              <a:ext cx="599705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30 颗星,24 颗在中圆轨道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2084" y="1613535"/>
            <a:ext cx="6297359" cy="528066"/>
            <a:chOff x="672084" y="1613535"/>
            <a:chExt cx="6297359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672084" y="1613535"/>
              <a:ext cx="629735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干全球定位这份活的主力,是那 24 颗。</a:t>
              </a:r>
            </a:p>
          </p:txBody>
        </p:sp>
      </p:grpSp>
      <p:grpSp>
        <p:nvGrpSpPr>
          <p:cNvPr id="9" name="constellation-composition"/>
          <p:cNvGrpSpPr/>
          <p:nvPr/>
        </p:nvGrpSpPr>
        <p:grpSpPr>
          <a:xfrm>
            <a:off x="2381250" y="2476500"/>
            <a:ext cx="7429500" cy="3238500"/>
            <a:chOff x="2381250" y="2476500"/>
            <a:chExt cx="7429500" cy="3238500"/>
          </a:xfrm>
        </p:grpSpPr>
        <p:graphicFrame>
          <p:nvGraphicFramePr>
            <p:cNvPr id="6" name="constellation-composition"/>
            <p:cNvGraphicFramePr>
              <a:graphicFrameLocks noGrp="1"/>
            </p:cNvGraphicFramePr>
            <p:nvPr/>
          </p:nvGraphicFramePr>
          <p:xfrm>
            <a:off x="2381250" y="2476500"/>
            <a:ext cx="7429500" cy="323850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7" name="Chart Note 7"/>
            <p:cNvSpPr txBox="1"/>
            <p:nvPr/>
          </p:nvSpPr>
          <p:spPr>
            <a:xfrm>
              <a:off x="3238500" y="3059430"/>
              <a:ext cx="1524000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ctr"/>
              <a:r>
                <a:rPr lang="zh-CN" sz="6600">
                  <a:solidFill>
                    <a:srgbClr val="D8E0F0"/>
                  </a:solidFill>
                  <a:latin typeface="Microsoft YaHei"/>
                  <a:ea typeface="Microsoft YaHei"/>
                  <a:cs typeface="Microsoft YaHei"/>
                </a:rPr>
                <a:t>30</a:t>
              </a:r>
            </a:p>
          </p:txBody>
        </p:sp>
        <p:sp>
          <p:nvSpPr>
            <p:cNvPr id="8" name="Chart Note 8"/>
            <p:cNvSpPr txBox="1"/>
            <p:nvPr/>
          </p:nvSpPr>
          <p:spPr>
            <a:xfrm>
              <a:off x="3048000" y="4289108"/>
              <a:ext cx="19050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ctr"/>
              <a:r>
                <a:rPr lang="zh-CN" sz="1650">
                  <a:solidFill>
                    <a:srgbClr val="8FA0C0"/>
                  </a:solidFill>
                  <a:latin typeface="Microsoft YaHei"/>
                  <a:ea typeface="Microsoft YaHei"/>
                  <a:cs typeface="Microsoft YaHei"/>
                </a:rPr>
                <a:t>颗在轨组网星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8942" y="6293168"/>
            <a:ext cx="5329523" cy="264033"/>
            <a:chOff x="678942" y="6293168"/>
            <a:chExt cx="5329523" cy="264033"/>
          </a:xfrm>
        </p:grpSpPr>
        <p:sp>
          <p:nvSpPr>
            <p:cNvPr id="10" name="TextBox 10"/>
            <p:cNvSpPr txBox="1"/>
            <p:nvPr/>
          </p:nvSpPr>
          <p:spPr>
            <a:xfrm>
              <a:off x="678942" y="6293168"/>
              <a:ext cx="5329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来源:《北斗卫星导航系统公开服务性能规范(3.0版)》2021 §4.1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836295"/>
            <a:ext cx="6102058" cy="762000"/>
            <a:chOff x="666750" y="836295"/>
            <a:chExt cx="6102058" cy="76200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836295"/>
              <a:ext cx="610205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量四个距离,解四个未知数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2084" y="1613535"/>
            <a:ext cx="7169696" cy="528066"/>
            <a:chOff x="672084" y="1613535"/>
            <a:chExt cx="7169696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672084" y="1613535"/>
              <a:ext cx="716969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卫星报时间,你算距离——而你什么都不用发。</a:t>
              </a:r>
            </a:p>
          </p:txBody>
        </p:sp>
      </p:grpSp>
      <p:grpSp>
        <p:nvGrpSpPr>
          <p:cNvPr id="35" name="!!ranging-geometry"/>
          <p:cNvGrpSpPr/>
          <p:nvPr/>
        </p:nvGrpSpPr>
        <p:grpSpPr>
          <a:xfrm>
            <a:off x="1676400" y="2295525"/>
            <a:ext cx="4267200" cy="3552825"/>
            <a:chOff x="1676400" y="2295525"/>
            <a:chExt cx="4267200" cy="3552825"/>
          </a:xfrm>
        </p:grpSpPr>
        <p:sp>
          <p:nvSpPr>
            <p:cNvPr id="6" name="Line 6"/>
            <p:cNvSpPr/>
            <p:nvPr/>
          </p:nvSpPr>
          <p:spPr>
            <a:xfrm>
              <a:off x="3143250" y="5638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809750" y="2428875"/>
              <a:ext cx="4000500" cy="3000375"/>
              <a:chOff x="1809750" y="2428875"/>
              <a:chExt cx="4000500" cy="3000375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1809750" y="2762250"/>
                <a:ext cx="200025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2667000">
                    <a:moveTo>
                      <a:pt x="0" y="0"/>
                    </a:moveTo>
                    <a:lnTo>
                      <a:pt x="2000250" y="266700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  <a:prstDash val="lgDash"/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3143250" y="2428875"/>
                <a:ext cx="666750" cy="3000375"/>
              </a:xfrm>
              <a:custGeom>
                <a:avLst/>
                <a:gdLst/>
                <a:ahLst/>
                <a:cxnLst/>
                <a:rect l="l" t="t" r="r" b="b"/>
                <a:pathLst>
                  <a:path w="666750" h="3000375">
                    <a:moveTo>
                      <a:pt x="0" y="0"/>
                    </a:moveTo>
                    <a:lnTo>
                      <a:pt x="666750" y="3000375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  <a:prstDash val="lgDash"/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3810000" y="2619375"/>
                <a:ext cx="857250" cy="2809875"/>
              </a:xfrm>
              <a:custGeom>
                <a:avLst/>
                <a:gdLst/>
                <a:ahLst/>
                <a:cxnLst/>
                <a:rect l="l" t="t" r="r" b="b"/>
                <a:pathLst>
                  <a:path w="857250" h="2809875">
                    <a:moveTo>
                      <a:pt x="857250" y="0"/>
                    </a:moveTo>
                    <a:lnTo>
                      <a:pt x="0" y="2809875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  <a:prstDash val="lgDash"/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3810000" y="3238500"/>
                <a:ext cx="2000250" cy="219075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2190750">
                    <a:moveTo>
                      <a:pt x="2000250" y="0"/>
                    </a:moveTo>
                    <a:lnTo>
                      <a:pt x="0" y="219075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  <a:prstDash val="lgDash"/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3064192" y="4866322"/>
              <a:ext cx="1449706" cy="981076"/>
              <a:chOff x="3064192" y="4866322"/>
              <a:chExt cx="1449706" cy="98107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3103245" y="4866322"/>
                <a:ext cx="1292543" cy="968693"/>
              </a:xfrm>
              <a:custGeom>
                <a:avLst/>
                <a:gdLst/>
                <a:ahLst/>
                <a:cxnLst/>
                <a:rect l="l" t="t" r="r" b="b"/>
                <a:pathLst>
                  <a:path w="1292543" h="968693">
                    <a:moveTo>
                      <a:pt x="1292543" y="0"/>
                    </a:moveTo>
                    <a:cubicBezTo>
                      <a:pt x="947616" y="423970"/>
                      <a:pt x="503740" y="756631"/>
                      <a:pt x="0" y="968693"/>
                    </a:cubicBezTo>
                  </a:path>
                </a:pathLst>
              </a:custGeom>
              <a:noFill/>
              <a:ln w="14288">
                <a:solidFill>
                  <a:schemeClr val="accent3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064192" y="5179695"/>
                <a:ext cx="1449705" cy="334732"/>
              </a:xfrm>
              <a:custGeom>
                <a:avLst/>
                <a:gdLst/>
                <a:ahLst/>
                <a:cxnLst/>
                <a:rect l="l" t="t" r="r" b="b"/>
                <a:pathLst>
                  <a:path w="1449705" h="334732">
                    <a:moveTo>
                      <a:pt x="1449705" y="0"/>
                    </a:moveTo>
                    <a:cubicBezTo>
                      <a:pt x="1000047" y="224191"/>
                      <a:pt x="502285" y="334732"/>
                      <a:pt x="0" y="321945"/>
                    </a:cubicBezTo>
                  </a:path>
                </a:pathLst>
              </a:custGeom>
              <a:noFill/>
              <a:ln w="14288">
                <a:solidFill>
                  <a:schemeClr val="accent3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153728" y="5136832"/>
                <a:ext cx="1360170" cy="415290"/>
              </a:xfrm>
              <a:custGeom>
                <a:avLst/>
                <a:gdLst/>
                <a:ahLst/>
                <a:cxnLst/>
                <a:rect l="l" t="t" r="r" b="b"/>
                <a:pathLst>
                  <a:path w="1360170" h="415290">
                    <a:moveTo>
                      <a:pt x="1360170" y="415290"/>
                    </a:moveTo>
                    <a:cubicBezTo>
                      <a:pt x="879609" y="390358"/>
                      <a:pt x="412531" y="247748"/>
                      <a:pt x="0" y="0"/>
                    </a:cubicBezTo>
                  </a:path>
                </a:pathLst>
              </a:custGeom>
              <a:noFill/>
              <a:ln w="14288">
                <a:solidFill>
                  <a:schemeClr val="accent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339465" y="4880610"/>
                <a:ext cx="1062038" cy="966788"/>
              </a:xfrm>
              <a:custGeom>
                <a:avLst/>
                <a:gdLst/>
                <a:ahLst/>
                <a:cxnLst/>
                <a:rect l="l" t="t" r="r" b="b"/>
                <a:pathLst>
                  <a:path w="1062038" h="966788">
                    <a:moveTo>
                      <a:pt x="1062038" y="966788"/>
                    </a:moveTo>
                    <a:cubicBezTo>
                      <a:pt x="634173" y="736391"/>
                      <a:pt x="269470" y="404397"/>
                      <a:pt x="0" y="0"/>
                    </a:cubicBezTo>
                  </a:path>
                </a:pathLst>
              </a:custGeom>
              <a:noFill/>
              <a:ln w="14288">
                <a:solidFill>
                  <a:schemeClr val="accent3"/>
                </a:solidFill>
              </a:ln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1676400" y="2295525"/>
              <a:ext cx="4267200" cy="1163764"/>
              <a:chOff x="1676400" y="2295525"/>
              <a:chExt cx="4267200" cy="1163764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1676400" y="2628900"/>
                <a:ext cx="266700" cy="2667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740284" y="266033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3009900" y="2295525"/>
                <a:ext cx="266700" cy="2667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073784" y="2326958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4533900" y="2486025"/>
                <a:ext cx="266700" cy="2667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597784" y="2517458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5676900" y="3105150"/>
                <a:ext cx="266700" cy="2667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740784" y="31365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3390900" y="5010150"/>
              <a:ext cx="838200" cy="838200"/>
              <a:chOff x="3390900" y="5010150"/>
              <a:chExt cx="838200" cy="838200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3390900" y="5010150"/>
                <a:ext cx="838200" cy="83820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  <a:prstDash val="dash"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3657600" y="5276850"/>
                <a:ext cx="314325" cy="323850"/>
                <a:chOff x="3657600" y="5276850"/>
                <a:chExt cx="314325" cy="32385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3962400" y="5276850"/>
                  <a:ext cx="9525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2400">
                      <a:moveTo>
                        <a:pt x="0" y="0"/>
                      </a:moveTo>
                      <a:lnTo>
                        <a:pt x="0" y="15240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3886200" y="5286375"/>
                  <a:ext cx="95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3350">
                      <a:moveTo>
                        <a:pt x="0" y="0"/>
                      </a:moveTo>
                      <a:lnTo>
                        <a:pt x="0" y="13335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3810000" y="5295900"/>
                  <a:ext cx="9525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4800">
                      <a:moveTo>
                        <a:pt x="0" y="0"/>
                      </a:moveTo>
                      <a:lnTo>
                        <a:pt x="0" y="30480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3733800" y="5305425"/>
                  <a:ext cx="952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0">
                      <a:moveTo>
                        <a:pt x="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3657600" y="5314950"/>
                  <a:ext cx="952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76200">
                      <a:moveTo>
                        <a:pt x="0" y="0"/>
                      </a:moveTo>
                      <a:lnTo>
                        <a:pt x="0" y="7620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3657600" y="5353050"/>
                  <a:ext cx="304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9525">
                      <a:moveTo>
                        <a:pt x="30480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</a:ln>
              </p:spPr>
            </p:sp>
          </p:grpSp>
        </p:grpSp>
      </p:grpSp>
      <p:grpSp>
        <p:nvGrpSpPr>
          <p:cNvPr id="37" name="Group 37"/>
          <p:cNvGrpSpPr/>
          <p:nvPr/>
        </p:nvGrpSpPr>
        <p:grpSpPr>
          <a:xfrm>
            <a:off x="6656070" y="2614612"/>
            <a:ext cx="3309271" cy="440055"/>
            <a:chOff x="6656070" y="2614612"/>
            <a:chExt cx="3309271" cy="440055"/>
          </a:xfrm>
        </p:grpSpPr>
        <p:sp>
          <p:nvSpPr>
            <p:cNvPr id="36" name="TextBox 36"/>
            <p:cNvSpPr txBox="1"/>
            <p:nvPr/>
          </p:nvSpPr>
          <p:spPr>
            <a:xfrm>
              <a:off x="6656070" y="2614612"/>
              <a:ext cx="330927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① 信号里带着发出的时刻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656070" y="3281362"/>
            <a:ext cx="3097244" cy="440055"/>
            <a:chOff x="6656070" y="3281362"/>
            <a:chExt cx="3097244" cy="440055"/>
          </a:xfrm>
        </p:grpSpPr>
        <p:sp>
          <p:nvSpPr>
            <p:cNvPr id="38" name="TextBox 38"/>
            <p:cNvSpPr txBox="1"/>
            <p:nvPr/>
          </p:nvSpPr>
          <p:spPr>
            <a:xfrm>
              <a:off x="6656070" y="3281362"/>
              <a:ext cx="30972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② 时间差 × 光速 = 距离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656070" y="3948112"/>
            <a:ext cx="3166110" cy="802005"/>
            <a:chOff x="6656070" y="3948112"/>
            <a:chExt cx="3166110" cy="802005"/>
          </a:xfrm>
        </p:grpSpPr>
        <p:sp>
          <p:nvSpPr>
            <p:cNvPr id="40" name="TextBox 40"/>
            <p:cNvSpPr txBox="1"/>
            <p:nvPr/>
          </p:nvSpPr>
          <p:spPr>
            <a:xfrm>
              <a:off x="6656070" y="3948112"/>
              <a:ext cx="3166110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22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③ 三个距离定住位置,</a:t>
              </a:r>
              <a:br/>
              <a:r>
                <a:rPr lang="zh-CN" sz="22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第四个解掉你手表的钟差</a:t>
              </a:r>
            </a:p>
          </p:txBody>
        </p:sp>
      </p:grpSp>
      <mc:AlternateContent>
        <mc:Choice Requires="a14">
          <p:sp>
            <p:nvSpPr>
              <p:cNvPr id="42" name="ranging-equation"/>
              <p:cNvSpPr txBox="1">
                <a:spLocks noGrp="1"/>
              </p:cNvSpPr>
              <p:nvPr/>
            </p:nvSpPr>
            <p:spPr>
              <a:xfrm>
                <a:off x="6591300" y="5219700"/>
                <a:ext cx="49149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>
                    <m:oMathParaPr>
                      <m:jc m:val="center"/>
                    </m:oMathParaPr>
                    <m:oMath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35D0A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35D0A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sz="1650" dirty="0">
                              <a:solidFill>
                                <a:srgbClr val="35D0A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35D0A5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35D0A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35D0A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sz="1650" dirty="0">
                              <a:solidFill>
                                <a:srgbClr val="35D0A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35D0A5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35D0A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35D0A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sz="1650" dirty="0">
                              <a:solidFill>
                                <a:srgbClr val="35D0A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35D0A5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650" dirty="0">
                              <a:solidFill>
                                <a:srgbClr val="35D0A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p>
                          <m:r>
                            <a:rPr lang="zh-CN" sz="1650" dirty="0">
                              <a:solidFill>
                                <a:srgbClr val="35D0A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Δ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35D0A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35D0A5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650" dirty="0">
                                  <a:solidFill>
                                    <a:srgbClr val="35D0A5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δt</m:t>
                              </m:r>
                            </m:e>
                          </m:d>
                        </m:e>
                        <m:sup>
                          <m:r>
                            <a:rPr lang="zh-CN" sz="1650" dirty="0">
                              <a:solidFill>
                                <a:srgbClr val="35D0A5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44" name="Group 44"/>
          <p:cNvGrpSpPr/>
          <p:nvPr/>
        </p:nvGrpSpPr>
        <p:grpSpPr>
          <a:xfrm>
            <a:off x="678942" y="6293168"/>
            <a:ext cx="3748411" cy="264033"/>
            <a:chOff x="678942" y="6293168"/>
            <a:chExt cx="3748411" cy="264033"/>
          </a:xfrm>
        </p:grpSpPr>
        <p:sp>
          <p:nvSpPr>
            <p:cNvPr id="43" name="TextBox 43"/>
            <p:cNvSpPr txBox="1"/>
            <p:nvPr/>
          </p:nvSpPr>
          <p:spPr>
            <a:xfrm>
              <a:off x="678942" y="6293168"/>
              <a:ext cx="37484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本页为通用卫星导航原理示意,不引用具体文献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9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9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9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836295"/>
            <a:ext cx="5498287" cy="762000"/>
            <a:chOff x="666750" y="836295"/>
            <a:chExt cx="5498287" cy="76200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836295"/>
              <a:ext cx="5498287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水平 9 米,授时 20 纳秒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2084" y="1613535"/>
            <a:ext cx="7133349" cy="528066"/>
            <a:chOff x="672084" y="1613535"/>
            <a:chExt cx="7133349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672084" y="1613535"/>
              <a:ext cx="713334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这不是宣传口径,是带约束条件的公开指标。</a:t>
              </a:r>
            </a:p>
          </p:txBody>
        </p:sp>
      </p:grpSp>
      <p:grpSp>
        <p:nvGrpSpPr>
          <p:cNvPr id="29" name="!!ranging-geometry"/>
          <p:cNvGrpSpPr/>
          <p:nvPr/>
        </p:nvGrpSpPr>
        <p:grpSpPr>
          <a:xfrm>
            <a:off x="1676400" y="2295525"/>
            <a:ext cx="4267200" cy="3551873"/>
            <a:chOff x="1676400" y="2295525"/>
            <a:chExt cx="4267200" cy="3551873"/>
          </a:xfrm>
        </p:grpSpPr>
        <p:sp>
          <p:nvSpPr>
            <p:cNvPr id="6" name="Line 6"/>
            <p:cNvSpPr/>
            <p:nvPr/>
          </p:nvSpPr>
          <p:spPr>
            <a:xfrm>
              <a:off x="3143250" y="5638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809750" y="2428875"/>
              <a:ext cx="4000500" cy="3000375"/>
              <a:chOff x="1809750" y="2428875"/>
              <a:chExt cx="4000500" cy="3000375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1809750" y="2762250"/>
                <a:ext cx="200025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2667000">
                    <a:moveTo>
                      <a:pt x="0" y="0"/>
                    </a:moveTo>
                    <a:lnTo>
                      <a:pt x="2000250" y="26670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3143250" y="2428875"/>
                <a:ext cx="666750" cy="3000375"/>
              </a:xfrm>
              <a:custGeom>
                <a:avLst/>
                <a:gdLst/>
                <a:ahLst/>
                <a:cxnLst/>
                <a:rect l="l" t="t" r="r" b="b"/>
                <a:pathLst>
                  <a:path w="666750" h="3000375">
                    <a:moveTo>
                      <a:pt x="0" y="0"/>
                    </a:moveTo>
                    <a:lnTo>
                      <a:pt x="666750" y="300037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3810000" y="2619375"/>
                <a:ext cx="857250" cy="2809875"/>
              </a:xfrm>
              <a:custGeom>
                <a:avLst/>
                <a:gdLst/>
                <a:ahLst/>
                <a:cxnLst/>
                <a:rect l="l" t="t" r="r" b="b"/>
                <a:pathLst>
                  <a:path w="857250" h="2809875">
                    <a:moveTo>
                      <a:pt x="857250" y="0"/>
                    </a:moveTo>
                    <a:lnTo>
                      <a:pt x="0" y="280987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3810000" y="3238500"/>
                <a:ext cx="2000250" cy="219075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2190750">
                    <a:moveTo>
                      <a:pt x="2000250" y="0"/>
                    </a:moveTo>
                    <a:lnTo>
                      <a:pt x="0" y="21907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3064192" y="4866322"/>
              <a:ext cx="1449706" cy="981076"/>
              <a:chOff x="3064192" y="4866322"/>
              <a:chExt cx="1449706" cy="98107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3103245" y="4866322"/>
                <a:ext cx="1292543" cy="968693"/>
              </a:xfrm>
              <a:custGeom>
                <a:avLst/>
                <a:gdLst/>
                <a:ahLst/>
                <a:cxnLst/>
                <a:rect l="l" t="t" r="r" b="b"/>
                <a:pathLst>
                  <a:path w="1292543" h="968693">
                    <a:moveTo>
                      <a:pt x="1292543" y="0"/>
                    </a:moveTo>
                    <a:cubicBezTo>
                      <a:pt x="947616" y="423970"/>
                      <a:pt x="503740" y="756631"/>
                      <a:pt x="0" y="968693"/>
                    </a:cubicBezTo>
                  </a:path>
                </a:pathLst>
              </a:custGeom>
              <a:noFill/>
              <a:ln w="14288">
                <a:solidFill>
                  <a:schemeClr val="accent3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064192" y="5179695"/>
                <a:ext cx="1449705" cy="334732"/>
              </a:xfrm>
              <a:custGeom>
                <a:avLst/>
                <a:gdLst/>
                <a:ahLst/>
                <a:cxnLst/>
                <a:rect l="l" t="t" r="r" b="b"/>
                <a:pathLst>
                  <a:path w="1449705" h="334732">
                    <a:moveTo>
                      <a:pt x="1449705" y="0"/>
                    </a:moveTo>
                    <a:cubicBezTo>
                      <a:pt x="1000047" y="224191"/>
                      <a:pt x="502285" y="334732"/>
                      <a:pt x="0" y="321945"/>
                    </a:cubicBezTo>
                  </a:path>
                </a:pathLst>
              </a:custGeom>
              <a:noFill/>
              <a:ln w="14288">
                <a:solidFill>
                  <a:schemeClr val="accent3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153728" y="5136832"/>
                <a:ext cx="1360170" cy="415290"/>
              </a:xfrm>
              <a:custGeom>
                <a:avLst/>
                <a:gdLst/>
                <a:ahLst/>
                <a:cxnLst/>
                <a:rect l="l" t="t" r="r" b="b"/>
                <a:pathLst>
                  <a:path w="1360170" h="415290">
                    <a:moveTo>
                      <a:pt x="1360170" y="415290"/>
                    </a:moveTo>
                    <a:cubicBezTo>
                      <a:pt x="879609" y="390358"/>
                      <a:pt x="412531" y="247748"/>
                      <a:pt x="0" y="0"/>
                    </a:cubicBezTo>
                  </a:path>
                </a:pathLst>
              </a:custGeom>
              <a:noFill/>
              <a:ln w="14288">
                <a:solidFill>
                  <a:schemeClr val="accent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339465" y="4880610"/>
                <a:ext cx="1062038" cy="966788"/>
              </a:xfrm>
              <a:custGeom>
                <a:avLst/>
                <a:gdLst/>
                <a:ahLst/>
                <a:cxnLst/>
                <a:rect l="l" t="t" r="r" b="b"/>
                <a:pathLst>
                  <a:path w="1062038" h="966788">
                    <a:moveTo>
                      <a:pt x="1062038" y="966788"/>
                    </a:moveTo>
                    <a:cubicBezTo>
                      <a:pt x="634173" y="736391"/>
                      <a:pt x="269470" y="404397"/>
                      <a:pt x="0" y="0"/>
                    </a:cubicBezTo>
                  </a:path>
                </a:pathLst>
              </a:custGeom>
              <a:noFill/>
              <a:ln w="14288">
                <a:solidFill>
                  <a:schemeClr val="accent3"/>
                </a:solidFill>
              </a:ln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1676400" y="2295525"/>
              <a:ext cx="4267200" cy="1163764"/>
              <a:chOff x="1676400" y="2295525"/>
              <a:chExt cx="4267200" cy="1163764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1676400" y="2628900"/>
                <a:ext cx="266700" cy="2667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740284" y="266033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3009900" y="2295525"/>
                <a:ext cx="266700" cy="2667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073784" y="2326958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4533900" y="2486025"/>
                <a:ext cx="266700" cy="2667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597784" y="2517458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5676900" y="3105150"/>
                <a:ext cx="266700" cy="2667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740784" y="31365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3638550" y="5257800"/>
              <a:ext cx="342900" cy="342900"/>
              <a:chOff x="3638550" y="5257800"/>
              <a:chExt cx="342900" cy="342900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3638550" y="5257800"/>
                <a:ext cx="342900" cy="34290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3733800" y="535305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38" name="Group 38"/>
          <p:cNvGrpSpPr/>
          <p:nvPr/>
        </p:nvGrpSpPr>
        <p:grpSpPr>
          <a:xfrm>
            <a:off x="6591300" y="2584132"/>
            <a:ext cx="4568381" cy="2951607"/>
            <a:chOff x="6591300" y="2584132"/>
            <a:chExt cx="4568381" cy="2951607"/>
          </a:xfrm>
        </p:grpSpPr>
        <p:sp>
          <p:nvSpPr>
            <p:cNvPr id="30" name="Line 30"/>
            <p:cNvSpPr/>
            <p:nvPr/>
          </p:nvSpPr>
          <p:spPr>
            <a:xfrm>
              <a:off x="6591300" y="259080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11518" y="2584132"/>
              <a:ext cx="31820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全球平均定位精度(95% 置信度)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00850" y="3002280"/>
              <a:ext cx="1903933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9 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11518" y="3917632"/>
              <a:ext cx="43481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水平方向优于 9 米 · 垂直方向优于 10 米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6811518" y="4412932"/>
              <a:ext cx="2526754" cy="1122807"/>
              <a:chOff x="6811518" y="4412932"/>
              <a:chExt cx="2526754" cy="1122807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6811518" y="4412932"/>
                <a:ext cx="252675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测速精度优于 0.2 米/秒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811518" y="4812982"/>
                <a:ext cx="228241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授时精度优于 20 纳秒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811518" y="5213032"/>
                <a:ext cx="23046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定位服务可用性 ≥ 99%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678942" y="6293168"/>
            <a:ext cx="5329523" cy="264033"/>
            <a:chOff x="678942" y="6293168"/>
            <a:chExt cx="5329523" cy="264033"/>
          </a:xfrm>
        </p:grpSpPr>
        <p:sp>
          <p:nvSpPr>
            <p:cNvPr id="39" name="TextBox 39"/>
            <p:cNvSpPr txBox="1"/>
            <p:nvPr/>
          </p:nvSpPr>
          <p:spPr>
            <a:xfrm>
              <a:off x="678942" y="6293168"/>
              <a:ext cx="5329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来源:《北斗卫星导航系统公开服务性能规范(3.0版)》2021 §5.7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35574" r="0" b="0"/>
          <a:stretch>
            <a:fillRect/>
          </a:stretch>
        </p:blipFill>
        <p:spPr>
          <a:xfrm>
            <a:off x="0" y="2476500"/>
            <a:ext cx="12192000" cy="43815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2476500"/>
            <a:ext cx="12192000" cy="876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476500"/>
            <a:ext cx="8382000" cy="4381500"/>
          </a:xfrm>
          <a:prstGeom prst="rect">
            <a:avLst/>
          </a:prstGeom>
          <a:gradFill>
            <a:gsLst>
              <a:gs pos="0">
                <a:schemeClr val="lt1">
                  <a:alpha val="92000"/>
                </a:schemeClr>
              </a:gs>
              <a:gs pos="60000">
                <a:schemeClr val="lt1">
                  <a:alpha val="34000"/>
                </a:schemeClr>
              </a:gs>
              <a:gs pos="100000">
                <a:schemeClr val="lt1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66750" y="836295"/>
            <a:ext cx="9252166" cy="762000"/>
            <a:chOff x="666750" y="836295"/>
            <a:chExt cx="9252166" cy="762000"/>
          </a:xfrm>
        </p:grpSpPr>
        <p:sp>
          <p:nvSpPr>
            <p:cNvPr id="5" name="TextBox 5"/>
            <p:cNvSpPr txBox="1"/>
            <p:nvPr/>
          </p:nvSpPr>
          <p:spPr>
            <a:xfrm>
              <a:off x="666750" y="836295"/>
              <a:ext cx="925216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没有信号的地方,它还能替你发出一句话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72084" y="1613535"/>
            <a:ext cx="9314193" cy="528066"/>
            <a:chOff x="672084" y="1613535"/>
            <a:chExt cx="9314193" cy="528066"/>
          </a:xfrm>
        </p:grpSpPr>
        <p:sp>
          <p:nvSpPr>
            <p:cNvPr id="7" name="TextBox 7"/>
            <p:cNvSpPr txBox="1"/>
            <p:nvPr/>
          </p:nvSpPr>
          <p:spPr>
            <a:xfrm>
              <a:off x="672084" y="1613535"/>
              <a:ext cx="93141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别的系统只告诉你在哪儿;北斗还能让你把这句话发出去。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38200" y="3899535"/>
            <a:ext cx="4202811" cy="1267016"/>
            <a:chOff x="838200" y="3899535"/>
            <a:chExt cx="4202811" cy="1267016"/>
          </a:xfrm>
        </p:grpSpPr>
        <p:sp>
          <p:nvSpPr>
            <p:cNvPr id="9" name="Rectangle 9"/>
            <p:cNvSpPr/>
            <p:nvPr/>
          </p:nvSpPr>
          <p:spPr>
            <a:xfrm>
              <a:off x="838200" y="390525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3084" y="3899535"/>
              <a:ext cx="3987927" cy="1042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zh-CN" sz="270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通信与导航一体化的设计,</a:t>
              </a:r>
              <a:br/>
              <a:r>
                <a:rPr lang="zh-CN" sz="270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是北斗的独创。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9942" y="4902518"/>
              <a:ext cx="25307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——北斗卫星导航系统官网,2020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4118" y="5727382"/>
            <a:ext cx="6136253" cy="322707"/>
            <a:chOff x="944118" y="5727382"/>
            <a:chExt cx="6136253" cy="322707"/>
          </a:xfrm>
        </p:grpSpPr>
        <p:sp>
          <p:nvSpPr>
            <p:cNvPr id="13" name="TextBox 13"/>
            <p:cNvSpPr txBox="1"/>
            <p:nvPr/>
          </p:nvSpPr>
          <p:spPr>
            <a:xfrm>
              <a:off x="944118" y="5727382"/>
              <a:ext cx="61362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成功率 ≥95% · 时延平均优于 2 秒 · 频度平均 1 次/30 秒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78942" y="6293168"/>
            <a:ext cx="5692997" cy="264033"/>
            <a:chOff x="678942" y="6293168"/>
            <a:chExt cx="5692997" cy="264033"/>
          </a:xfrm>
        </p:grpSpPr>
        <p:sp>
          <p:nvSpPr>
            <p:cNvPr id="15" name="TextBox 15"/>
            <p:cNvSpPr txBox="1"/>
            <p:nvPr/>
          </p:nvSpPr>
          <p:spPr>
            <a:xfrm>
              <a:off x="678942" y="6293168"/>
              <a:ext cx="5692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来源:北斗卫星导航系统官网 ·《公开服务性能规范(3.0版)》2021 §7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836295"/>
            <a:ext cx="6889585" cy="762000"/>
            <a:chOff x="666750" y="836295"/>
            <a:chExt cx="6889585" cy="76200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836295"/>
              <a:ext cx="688958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区域 1000 个汉字,全球 40 个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2084" y="1613535"/>
            <a:ext cx="8950719" cy="528066"/>
            <a:chOff x="672084" y="1613535"/>
            <a:chExt cx="8950719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672084" y="1613535"/>
              <a:ext cx="895071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四十个字,够把我在哪、出了什么事、需要什么说清楚。</a:t>
              </a:r>
            </a:p>
          </p:txBody>
        </p:sp>
      </p:grpSp>
      <p:grpSp>
        <p:nvGrpSpPr>
          <p:cNvPr id="9" name="short-message-capacity"/>
          <p:cNvGrpSpPr/>
          <p:nvPr/>
        </p:nvGrpSpPr>
        <p:grpSpPr>
          <a:xfrm>
            <a:off x="1238250" y="3048000"/>
            <a:ext cx="10191750" cy="2857500"/>
            <a:chOff x="1238250" y="3048000"/>
            <a:chExt cx="10191750" cy="2857500"/>
          </a:xfrm>
        </p:grpSpPr>
        <p:graphicFrame>
          <p:nvGraphicFramePr>
            <p:cNvPr id="6" name="short-message-capacity"/>
            <p:cNvGraphicFramePr>
              <a:graphicFrameLocks noGrp="1"/>
            </p:cNvGraphicFramePr>
            <p:nvPr/>
          </p:nvGraphicFramePr>
          <p:xfrm>
            <a:off x="1238250" y="3048000"/>
            <a:ext cx="10191750" cy="285750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7" name="Chart Note 7"/>
            <p:cNvSpPr txBox="1"/>
            <p:nvPr/>
          </p:nvSpPr>
          <p:spPr>
            <a:xfrm>
              <a:off x="8001000" y="3431858"/>
              <a:ext cx="30480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r"/>
              <a:r>
                <a:rPr lang="zh-CN" sz="1650">
                  <a:solidFill>
                    <a:srgbClr val="060B1A"/>
                  </a:solidFill>
                  <a:latin typeface="Microsoft YaHei"/>
                  <a:ea typeface="Microsoft YaHei"/>
                  <a:cs typeface="Microsoft YaHei"/>
                </a:rPr>
                <a:t>14000 比特 · 1000 个汉字</a:t>
              </a:r>
            </a:p>
          </p:txBody>
        </p:sp>
        <p:sp>
          <p:nvSpPr>
            <p:cNvPr id="8" name="Chart Note 8"/>
            <p:cNvSpPr txBox="1"/>
            <p:nvPr/>
          </p:nvSpPr>
          <p:spPr>
            <a:xfrm>
              <a:off x="2971800" y="4431982"/>
              <a:ext cx="26670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l"/>
              <a:r>
                <a:rPr lang="zh-CN" sz="1650">
                  <a:solidFill>
                    <a:srgbClr val="D8E0F0"/>
                  </a:solidFill>
                  <a:latin typeface="Microsoft YaHei"/>
                  <a:ea typeface="Microsoft YaHei"/>
                  <a:cs typeface="Microsoft YaHei"/>
                </a:rPr>
                <a:t>560 比特 · 40 个汉字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8942" y="6083618"/>
            <a:ext cx="6737985" cy="492633"/>
            <a:chOff x="678942" y="6083618"/>
            <a:chExt cx="6737985" cy="492633"/>
          </a:xfrm>
        </p:grpSpPr>
        <p:sp>
          <p:nvSpPr>
            <p:cNvPr id="10" name="TextBox 10"/>
            <p:cNvSpPr txBox="1"/>
            <p:nvPr/>
          </p:nvSpPr>
          <p:spPr>
            <a:xfrm>
              <a:off x="678942" y="6083618"/>
              <a:ext cx="35485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区域服务区:东经 75°–135°,北纬 10°–55°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942" y="6312218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来源:《公开服务性能规范(3.0版)》2021 §7 · 白皮书《新时代的中国北斗》2022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30392" r="0" b="30392"/>
          <a:stretch>
            <a:fillRect/>
          </a:stretch>
        </p:blipFill>
        <p:spPr>
          <a:xfrm>
            <a:off x="0" y="4191000"/>
            <a:ext cx="12192000" cy="2667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4191000"/>
            <a:ext cx="12192000" cy="2667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lt1">
                  <a:alpha val="32000"/>
                </a:schemeClr>
              </a:gs>
            </a:gsLst>
            <a:lin ang="5400000" scaled="1"/>
          </a:gra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66750" y="836295"/>
            <a:ext cx="7230847" cy="762000"/>
            <a:chOff x="666750" y="836295"/>
            <a:chExt cx="7230847" cy="762000"/>
          </a:xfrm>
        </p:grpSpPr>
        <p:sp>
          <p:nvSpPr>
            <p:cNvPr id="4" name="TextBox 4"/>
            <p:cNvSpPr txBox="1"/>
            <p:nvPr/>
          </p:nvSpPr>
          <p:spPr>
            <a:xfrm>
              <a:off x="666750" y="836295"/>
              <a:ext cx="7230847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98% 的国产手机里,已经有北斗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1917382"/>
            <a:ext cx="4258437" cy="1694498"/>
            <a:chOff x="666750" y="1917382"/>
            <a:chExt cx="4258437" cy="1694498"/>
          </a:xfrm>
        </p:grpSpPr>
        <p:sp>
          <p:nvSpPr>
            <p:cNvPr id="6" name="TextBox 6"/>
            <p:cNvSpPr txBox="1"/>
            <p:nvPr/>
          </p:nvSpPr>
          <p:spPr>
            <a:xfrm>
              <a:off x="677418" y="1917382"/>
              <a:ext cx="36817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2024 年国内支持北斗定位的智能手机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6750" y="2335530"/>
              <a:ext cx="4258437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2.88 亿部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7418" y="3250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占比 98%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57950" y="1917382"/>
            <a:ext cx="4258437" cy="1694498"/>
            <a:chOff x="6457950" y="1917382"/>
            <a:chExt cx="4258437" cy="1694498"/>
          </a:xfrm>
        </p:grpSpPr>
        <p:sp>
          <p:nvSpPr>
            <p:cNvPr id="10" name="TextBox 10"/>
            <p:cNvSpPr txBox="1"/>
            <p:nvPr/>
          </p:nvSpPr>
          <p:spPr>
            <a:xfrm>
              <a:off x="6468618" y="1917382"/>
              <a:ext cx="3903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2024 年卫星导航与位置服务产业总产值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57950" y="2335530"/>
              <a:ext cx="4258437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5758 亿元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68618" y="3250882"/>
              <a:ext cx="16382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同比增长 7.39%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757172" y="4498839"/>
            <a:ext cx="8220456" cy="1703650"/>
            <a:chOff x="1757172" y="4498839"/>
            <a:chExt cx="8220456" cy="1703650"/>
          </a:xfrm>
        </p:grpSpPr>
        <p:grpSp>
          <p:nvGrpSpPr>
            <p:cNvPr id="19" name="Group 19"/>
            <p:cNvGrpSpPr/>
            <p:nvPr/>
          </p:nvGrpSpPr>
          <p:grpSpPr>
            <a:xfrm>
              <a:off x="1757172" y="4505325"/>
              <a:ext cx="905256" cy="763714"/>
              <a:chOff x="1757172" y="4505325"/>
              <a:chExt cx="905256" cy="763714"/>
            </a:xfrm>
          </p:grpSpPr>
          <p:grpSp>
            <p:nvGrpSpPr>
              <p:cNvPr id="17" name="Group 17"/>
              <p:cNvGrpSpPr/>
              <p:nvPr/>
            </p:nvGrpSpPr>
            <p:grpSpPr>
              <a:xfrm>
                <a:off x="2066925" y="4505325"/>
                <a:ext cx="285751" cy="285751"/>
                <a:chOff x="2066925" y="4505325"/>
                <a:chExt cx="285751" cy="285751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2066925" y="4727576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2289176" y="45053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31750" y="63500"/>
                      </a:move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  <a:cubicBezTo>
                        <a:pt x="0" y="49285"/>
                        <a:pt x="14215" y="63500"/>
                        <a:pt x="31750" y="63500"/>
                      </a:cubicBez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2098675" y="4537075"/>
                  <a:ext cx="238125" cy="22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222250">
                      <a:moveTo>
                        <a:pt x="95250" y="222250"/>
                      </a:moveTo>
                      <a:lnTo>
                        <a:pt x="182563" y="222250"/>
                      </a:lnTo>
                      <a:cubicBezTo>
                        <a:pt x="213249" y="222250"/>
                        <a:pt x="238125" y="197374"/>
                        <a:pt x="238125" y="166688"/>
                      </a:cubicBezTo>
                      <a:cubicBezTo>
                        <a:pt x="238125" y="136001"/>
                        <a:pt x="213249" y="111125"/>
                        <a:pt x="182563" y="111125"/>
                      </a:cubicBezTo>
                      <a:lnTo>
                        <a:pt x="55563" y="111125"/>
                      </a:lnTo>
                      <a:cubicBezTo>
                        <a:pt x="24876" y="111125"/>
                        <a:pt x="0" y="86249"/>
                        <a:pt x="0" y="55563"/>
                      </a:cubicBezTo>
                      <a:cubicBezTo>
                        <a:pt x="0" y="24876"/>
                        <a:pt x="24876" y="0"/>
                        <a:pt x="55563" y="0"/>
                      </a:cubicBezTo>
                      <a:lnTo>
                        <a:pt x="127000" y="0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757172" y="494633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交通运输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195572" y="4537075"/>
              <a:ext cx="905256" cy="731964"/>
              <a:chOff x="4195572" y="4537075"/>
              <a:chExt cx="905256" cy="731964"/>
            </a:xfrm>
          </p:grpSpPr>
          <p:grpSp>
            <p:nvGrpSpPr>
              <p:cNvPr id="26" name="Group 26"/>
              <p:cNvGrpSpPr/>
              <p:nvPr/>
            </p:nvGrpSpPr>
            <p:grpSpPr>
              <a:xfrm>
                <a:off x="4505325" y="4537075"/>
                <a:ext cx="285751" cy="222250"/>
                <a:chOff x="4505325" y="4537075"/>
                <a:chExt cx="285751" cy="222250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4505325" y="4632325"/>
                  <a:ext cx="1270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127000">
                      <a:moveTo>
                        <a:pt x="0" y="63500"/>
                      </a:moveTo>
                      <a:cubicBezTo>
                        <a:pt x="0" y="98570"/>
                        <a:pt x="28430" y="127000"/>
                        <a:pt x="63500" y="127000"/>
                      </a:cubicBezTo>
                      <a:cubicBezTo>
                        <a:pt x="98570" y="127000"/>
                        <a:pt x="127000" y="98570"/>
                        <a:pt x="127000" y="63500"/>
                      </a:cubicBezTo>
                      <a:cubicBezTo>
                        <a:pt x="127000" y="28430"/>
                        <a:pt x="98570" y="0"/>
                        <a:pt x="63500" y="0"/>
                      </a:cubicBezTo>
                      <a:cubicBezTo>
                        <a:pt x="28430" y="0"/>
                        <a:pt x="0" y="28430"/>
                        <a:pt x="0" y="63500"/>
                      </a:cubicBez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4568825" y="46958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9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4727576" y="46958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624388" y="4727576"/>
                  <a:ext cx="1031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88" h="9525">
                      <a:moveTo>
                        <a:pt x="0" y="0"/>
                      </a:moveTo>
                      <a:lnTo>
                        <a:pt x="103188" y="0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537075" y="4537075"/>
                  <a:ext cx="238125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161925">
                      <a:moveTo>
                        <a:pt x="238125" y="161925"/>
                      </a:moveTo>
                      <a:lnTo>
                        <a:pt x="238125" y="95250"/>
                      </a:lnTo>
                      <a:cubicBezTo>
                        <a:pt x="238125" y="86483"/>
                        <a:pt x="231018" y="79375"/>
                        <a:pt x="222250" y="79375"/>
                      </a:cubicBezTo>
                      <a:lnTo>
                        <a:pt x="127000" y="79375"/>
                      </a:lnTo>
                      <a:lnTo>
                        <a:pt x="95250" y="0"/>
                      </a:lnTo>
                      <a:lnTo>
                        <a:pt x="0" y="0"/>
                      </a:lnTo>
                      <a:lnTo>
                        <a:pt x="0" y="103188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711701" y="4537075"/>
                  <a:ext cx="31750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79375">
                      <a:moveTo>
                        <a:pt x="31750" y="0"/>
                      </a:moveTo>
                      <a:lnTo>
                        <a:pt x="15875" y="0"/>
                      </a:lnTo>
                      <a:cubicBezTo>
                        <a:pt x="7107" y="0"/>
                        <a:pt x="0" y="7107"/>
                        <a:pt x="0" y="15875"/>
                      </a:cubicBezTo>
                      <a:lnTo>
                        <a:pt x="0" y="79375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4195572" y="494633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农林渔业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633972" y="4521200"/>
              <a:ext cx="905256" cy="747839"/>
              <a:chOff x="6633972" y="4521200"/>
              <a:chExt cx="905256" cy="747839"/>
            </a:xfrm>
          </p:grpSpPr>
          <p:grpSp>
            <p:nvGrpSpPr>
              <p:cNvPr id="32" name="Group 32"/>
              <p:cNvGrpSpPr/>
              <p:nvPr/>
            </p:nvGrpSpPr>
            <p:grpSpPr>
              <a:xfrm>
                <a:off x="6943725" y="4521200"/>
                <a:ext cx="285751" cy="254001"/>
                <a:chOff x="6943725" y="4521200"/>
                <a:chExt cx="285751" cy="254001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6943725" y="4521200"/>
                  <a:ext cx="285751" cy="254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254001">
                      <a:moveTo>
                        <a:pt x="0" y="47625"/>
                      </a:moveTo>
                      <a:lnTo>
                        <a:pt x="95250" y="0"/>
                      </a:lnTo>
                      <a:lnTo>
                        <a:pt x="190500" y="47625"/>
                      </a:lnTo>
                      <a:lnTo>
                        <a:pt x="285751" y="0"/>
                      </a:lnTo>
                      <a:lnTo>
                        <a:pt x="285751" y="206375"/>
                      </a:lnTo>
                      <a:lnTo>
                        <a:pt x="190500" y="254001"/>
                      </a:lnTo>
                      <a:lnTo>
                        <a:pt x="95250" y="206375"/>
                      </a:lnTo>
                      <a:lnTo>
                        <a:pt x="0" y="254001"/>
                      </a:lnTo>
                      <a:lnTo>
                        <a:pt x="0" y="47625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7038975" y="4521200"/>
                  <a:ext cx="9525" cy="2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75">
                      <a:moveTo>
                        <a:pt x="0" y="0"/>
                      </a:moveTo>
                      <a:lnTo>
                        <a:pt x="0" y="206375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7134225" y="4568825"/>
                  <a:ext cx="9525" cy="2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75">
                      <a:moveTo>
                        <a:pt x="0" y="0"/>
                      </a:moveTo>
                      <a:lnTo>
                        <a:pt x="0" y="206375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6633972" y="494633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水文监测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9072372" y="4498839"/>
              <a:ext cx="905256" cy="770200"/>
              <a:chOff x="9072372" y="4498839"/>
              <a:chExt cx="905256" cy="770200"/>
            </a:xfrm>
          </p:grpSpPr>
          <p:grpSp>
            <p:nvGrpSpPr>
              <p:cNvPr id="38" name="Group 38"/>
              <p:cNvGrpSpPr/>
              <p:nvPr/>
            </p:nvGrpSpPr>
            <p:grpSpPr>
              <a:xfrm>
                <a:off x="9375606" y="4498839"/>
                <a:ext cx="292269" cy="292236"/>
                <a:chOff x="9375606" y="4498839"/>
                <a:chExt cx="292269" cy="292236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9509125" y="4632325"/>
                  <a:ext cx="158750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0" h="158750">
                      <a:moveTo>
                        <a:pt x="158750" y="15875"/>
                      </a:moveTo>
                      <a:lnTo>
                        <a:pt x="31750" y="15875"/>
                      </a:lnTo>
                      <a:cubicBezTo>
                        <a:pt x="31750" y="7107"/>
                        <a:pt x="24643" y="0"/>
                        <a:pt x="15875" y="0"/>
                      </a:cubicBezTo>
                      <a:cubicBezTo>
                        <a:pt x="7107" y="0"/>
                        <a:pt x="0" y="7107"/>
                        <a:pt x="0" y="15875"/>
                      </a:cubicBezTo>
                      <a:cubicBezTo>
                        <a:pt x="0" y="24643"/>
                        <a:pt x="7107" y="31750"/>
                        <a:pt x="15875" y="31750"/>
                      </a:cubicBezTo>
                      <a:lnTo>
                        <a:pt x="15875" y="158750"/>
                      </a:lnTo>
                      <a:cubicBezTo>
                        <a:pt x="94783" y="158750"/>
                        <a:pt x="158750" y="94783"/>
                        <a:pt x="158750" y="15875"/>
                      </a:cubicBez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9440833" y="4564033"/>
                  <a:ext cx="147667" cy="147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67" h="147667">
                      <a:moveTo>
                        <a:pt x="147667" y="36542"/>
                      </a:moveTo>
                      <a:cubicBezTo>
                        <a:pt x="129032" y="11695"/>
                        <a:pt x="97618" y="0"/>
                        <a:pt x="67271" y="6611"/>
                      </a:cubicBezTo>
                      <a:cubicBezTo>
                        <a:pt x="36925" y="13222"/>
                        <a:pt x="13222" y="36925"/>
                        <a:pt x="6611" y="67271"/>
                      </a:cubicBezTo>
                      <a:cubicBezTo>
                        <a:pt x="0" y="97618"/>
                        <a:pt x="11695" y="129032"/>
                        <a:pt x="36542" y="147667"/>
                      </a:cubicBez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9375606" y="4498839"/>
                  <a:ext cx="284110" cy="284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110" h="284220">
                      <a:moveTo>
                        <a:pt x="284110" y="101737"/>
                      </a:moveTo>
                      <a:cubicBezTo>
                        <a:pt x="261863" y="39044"/>
                        <a:pt x="199293" y="0"/>
                        <a:pt x="133202" y="7570"/>
                      </a:cubicBezTo>
                      <a:cubicBezTo>
                        <a:pt x="67112" y="15140"/>
                        <a:pt x="14990" y="67320"/>
                        <a:pt x="7495" y="133419"/>
                      </a:cubicBezTo>
                      <a:cubicBezTo>
                        <a:pt x="0" y="199519"/>
                        <a:pt x="39115" y="262045"/>
                        <a:pt x="101833" y="284220"/>
                      </a:cubicBez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9072372" y="494633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气象测报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757172" y="5438775"/>
              <a:ext cx="905256" cy="763714"/>
              <a:chOff x="1757172" y="5438775"/>
              <a:chExt cx="905256" cy="763714"/>
            </a:xfrm>
          </p:grpSpPr>
          <p:grpSp>
            <p:nvGrpSpPr>
              <p:cNvPr id="43" name="Group 43"/>
              <p:cNvGrpSpPr/>
              <p:nvPr/>
            </p:nvGrpSpPr>
            <p:grpSpPr>
              <a:xfrm>
                <a:off x="2066925" y="5438775"/>
                <a:ext cx="285751" cy="285751"/>
                <a:chOff x="2066925" y="5438775"/>
                <a:chExt cx="285751" cy="285751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2066925" y="5438775"/>
                  <a:ext cx="285751" cy="285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285751">
                      <a:moveTo>
                        <a:pt x="0" y="142875"/>
                      </a:moveTo>
                      <a:cubicBezTo>
                        <a:pt x="0" y="221783"/>
                        <a:pt x="63967" y="285751"/>
                        <a:pt x="142875" y="285751"/>
                      </a:cubicBezTo>
                      <a:cubicBezTo>
                        <a:pt x="221783" y="285751"/>
                        <a:pt x="285751" y="221783"/>
                        <a:pt x="285751" y="142875"/>
                      </a:cubicBezTo>
                      <a:cubicBezTo>
                        <a:pt x="285751" y="63967"/>
                        <a:pt x="221783" y="0"/>
                        <a:pt x="142875" y="0"/>
                      </a:cubicBezTo>
                      <a:cubicBezTo>
                        <a:pt x="63967" y="0"/>
                        <a:pt x="0" y="63967"/>
                        <a:pt x="0" y="142875"/>
                      </a:cubicBez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2209800" y="5502275"/>
                  <a:ext cx="476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127000">
                      <a:moveTo>
                        <a:pt x="0" y="0"/>
                      </a:moveTo>
                      <a:lnTo>
                        <a:pt x="0" y="79375"/>
                      </a:lnTo>
                      <a:lnTo>
                        <a:pt x="47625" y="127000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1757172" y="58797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通信授时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195572" y="5438775"/>
              <a:ext cx="905256" cy="763714"/>
              <a:chOff x="4195572" y="5438775"/>
              <a:chExt cx="905256" cy="763714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4537075" y="5438775"/>
                <a:ext cx="222250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1">
                    <a:moveTo>
                      <a:pt x="127000" y="0"/>
                    </a:moveTo>
                    <a:lnTo>
                      <a:pt x="127000" y="111125"/>
                    </a:lnTo>
                    <a:lnTo>
                      <a:pt x="222250" y="111125"/>
                    </a:lnTo>
                    <a:lnTo>
                      <a:pt x="95250" y="285751"/>
                    </a:lnTo>
                    <a:lnTo>
                      <a:pt x="95250" y="174625"/>
                    </a:lnTo>
                    <a:lnTo>
                      <a:pt x="0" y="174625"/>
                    </a:lnTo>
                    <a:lnTo>
                      <a:pt x="127000" y="0"/>
                    </a:lnTo>
                  </a:path>
                </a:pathLst>
              </a:custGeom>
              <a:noFill/>
              <a:ln w="47625">
                <a:solidFill>
                  <a:schemeClr val="accent1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4195572" y="58797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电力调度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6633972" y="5438775"/>
              <a:ext cx="905256" cy="763714"/>
              <a:chOff x="6633972" y="5438775"/>
              <a:chExt cx="905256" cy="763714"/>
            </a:xfrm>
          </p:grpSpPr>
          <p:grpSp>
            <p:nvGrpSpPr>
              <p:cNvPr id="55" name="Group 55"/>
              <p:cNvGrpSpPr/>
              <p:nvPr/>
            </p:nvGrpSpPr>
            <p:grpSpPr>
              <a:xfrm>
                <a:off x="6943725" y="5438775"/>
                <a:ext cx="285751" cy="285751"/>
                <a:chOff x="6943725" y="5438775"/>
                <a:chExt cx="285751" cy="285751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7023100" y="5518150"/>
                  <a:ext cx="1270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127000">
                      <a:moveTo>
                        <a:pt x="0" y="63500"/>
                      </a:moveTo>
                      <a:cubicBezTo>
                        <a:pt x="0" y="98570"/>
                        <a:pt x="28430" y="127000"/>
                        <a:pt x="63500" y="127000"/>
                      </a:cubicBezTo>
                      <a:cubicBezTo>
                        <a:pt x="98570" y="127000"/>
                        <a:pt x="127000" y="98570"/>
                        <a:pt x="127000" y="63500"/>
                      </a:cubicBezTo>
                      <a:cubicBezTo>
                        <a:pt x="127000" y="28430"/>
                        <a:pt x="98570" y="0"/>
                        <a:pt x="63500" y="0"/>
                      </a:cubicBezTo>
                      <a:cubicBezTo>
                        <a:pt x="28430" y="0"/>
                        <a:pt x="0" y="28430"/>
                        <a:pt x="0" y="63500"/>
                      </a:cubicBez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6943725" y="5438775"/>
                  <a:ext cx="285751" cy="285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285751">
                      <a:moveTo>
                        <a:pt x="0" y="142875"/>
                      </a:moveTo>
                      <a:cubicBezTo>
                        <a:pt x="0" y="221783"/>
                        <a:pt x="63967" y="285751"/>
                        <a:pt x="142875" y="285751"/>
                      </a:cubicBezTo>
                      <a:cubicBezTo>
                        <a:pt x="221783" y="285751"/>
                        <a:pt x="285751" y="221783"/>
                        <a:pt x="285751" y="142875"/>
                      </a:cubicBezTo>
                      <a:cubicBezTo>
                        <a:pt x="285751" y="63967"/>
                        <a:pt x="221783" y="0"/>
                        <a:pt x="142875" y="0"/>
                      </a:cubicBezTo>
                      <a:cubicBezTo>
                        <a:pt x="63967" y="0"/>
                        <a:pt x="0" y="63967"/>
                        <a:pt x="0" y="142875"/>
                      </a:cubicBez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7134225" y="5629275"/>
                  <a:ext cx="53181" cy="53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81" h="53181">
                      <a:moveTo>
                        <a:pt x="0" y="0"/>
                      </a:moveTo>
                      <a:lnTo>
                        <a:pt x="53181" y="53181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6985794" y="5629275"/>
                  <a:ext cx="53181" cy="53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81" h="53181">
                      <a:moveTo>
                        <a:pt x="53181" y="0"/>
                      </a:moveTo>
                      <a:lnTo>
                        <a:pt x="0" y="53181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6985794" y="5480844"/>
                  <a:ext cx="53181" cy="53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81" h="53181">
                      <a:moveTo>
                        <a:pt x="0" y="0"/>
                      </a:moveTo>
                      <a:lnTo>
                        <a:pt x="53181" y="53181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134225" y="5480844"/>
                  <a:ext cx="53181" cy="53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81" h="53181">
                      <a:moveTo>
                        <a:pt x="53181" y="0"/>
                      </a:moveTo>
                      <a:lnTo>
                        <a:pt x="0" y="53181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6633972" y="58797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救灾减灾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9072372" y="5454650"/>
              <a:ext cx="905256" cy="747839"/>
              <a:chOff x="9072372" y="5454650"/>
              <a:chExt cx="905256" cy="747839"/>
            </a:xfrm>
          </p:grpSpPr>
          <p:grpSp>
            <p:nvGrpSpPr>
              <p:cNvPr id="64" name="Group 64"/>
              <p:cNvGrpSpPr/>
              <p:nvPr/>
            </p:nvGrpSpPr>
            <p:grpSpPr>
              <a:xfrm>
                <a:off x="9398000" y="5454650"/>
                <a:ext cx="263526" cy="269876"/>
                <a:chOff x="9398000" y="5454650"/>
                <a:chExt cx="263526" cy="269876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9652001" y="545465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9588501" y="5462588"/>
                  <a:ext cx="952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1125">
                      <a:moveTo>
                        <a:pt x="0" y="0"/>
                      </a:moveTo>
                      <a:lnTo>
                        <a:pt x="0" y="111125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9525000" y="5470525"/>
                  <a:ext cx="9525" cy="254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1">
                      <a:moveTo>
                        <a:pt x="0" y="0"/>
                      </a:moveTo>
                      <a:lnTo>
                        <a:pt x="0" y="254001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9461500" y="5478463"/>
                  <a:ext cx="9525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79375">
                      <a:moveTo>
                        <a:pt x="0" y="0"/>
                      </a:moveTo>
                      <a:lnTo>
                        <a:pt x="0" y="79375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9398000" y="5486400"/>
                  <a:ext cx="952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3500">
                      <a:moveTo>
                        <a:pt x="0" y="0"/>
                      </a:moveTo>
                      <a:lnTo>
                        <a:pt x="0" y="63500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9398000" y="5518150"/>
                  <a:ext cx="25400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9525">
                      <a:moveTo>
                        <a:pt x="254001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47625">
                  <a:solidFill>
                    <a:schemeClr val="accent1"/>
                  </a:solidFill>
                </a:ln>
              </p:spPr>
            </p:sp>
          </p:grpSp>
          <p:sp>
            <p:nvSpPr>
              <p:cNvPr id="65" name="TextBox 65"/>
              <p:cNvSpPr txBox="1"/>
              <p:nvPr/>
            </p:nvSpPr>
            <p:spPr>
              <a:xfrm>
                <a:off x="9072372" y="58797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公共安全</a:t>
                </a:r>
              </a:p>
            </p:txBody>
          </p:sp>
        </p:grpSp>
      </p:grpSp>
      <p:grpSp>
        <p:nvGrpSpPr>
          <p:cNvPr id="69" name="Group 69"/>
          <p:cNvGrpSpPr/>
          <p:nvPr/>
        </p:nvGrpSpPr>
        <p:grpSpPr>
          <a:xfrm>
            <a:off x="678942" y="6293168"/>
            <a:ext cx="7455846" cy="264033"/>
            <a:chOff x="678942" y="6293168"/>
            <a:chExt cx="7455846" cy="264033"/>
          </a:xfrm>
        </p:grpSpPr>
        <p:sp>
          <p:nvSpPr>
            <p:cNvPr id="68" name="TextBox 68"/>
            <p:cNvSpPr txBox="1"/>
            <p:nvPr/>
          </p:nvSpPr>
          <p:spPr>
            <a:xfrm>
              <a:off x="678942" y="6293168"/>
              <a:ext cx="74558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来源:北斗卫星导航系统官网 ·《2025中国卫星导航与位置服务产业发展白皮书》(经新华网)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836295"/>
            <a:ext cx="4422000" cy="762000"/>
            <a:chOff x="666750" y="836295"/>
            <a:chExt cx="4422000" cy="76200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836295"/>
              <a:ext cx="442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dirty="0">
                  <a:solidFill>
                    <a:schemeClr val="dk1"/>
                  </a:solidFill>
                  <a:latin typeface="SimHei"/>
                  <a:ea typeface="SimHei"/>
                  <a:cs typeface="SimHei"/>
                </a:rPr>
                <a:t>下一步,到 2035 年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2084" y="1899285"/>
            <a:ext cx="9131427" cy="1042416"/>
            <a:chOff x="672084" y="1899285"/>
            <a:chExt cx="9131427" cy="1042416"/>
          </a:xfrm>
        </p:grpSpPr>
        <p:sp>
          <p:nvSpPr>
            <p:cNvPr id="4" name="TextBox 4"/>
            <p:cNvSpPr txBox="1"/>
            <p:nvPr/>
          </p:nvSpPr>
          <p:spPr>
            <a:xfrm>
              <a:off x="672084" y="1899285"/>
              <a:ext cx="9131427" cy="1042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zh-CN" sz="270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从一颗试验星到三十颗组网星,用了二十年;</a:t>
              </a:r>
              <a:br/>
              <a:r>
                <a:rPr lang="zh-CN" sz="270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下一个二十年,北斗要从一个导航系统变成一整套时空体系。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25118" y="3771900"/>
            <a:ext cx="10485882" cy="1706689"/>
            <a:chOff x="1325118" y="3771900"/>
            <a:chExt cx="10485882" cy="1706689"/>
          </a:xfrm>
        </p:grpSpPr>
        <p:sp>
          <p:nvSpPr>
            <p:cNvPr id="6" name="Line 6"/>
            <p:cNvSpPr/>
            <p:nvPr/>
          </p:nvSpPr>
          <p:spPr>
            <a:xfrm>
              <a:off x="1333500" y="447675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9715500" y="44767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  <a:prstDash val="lgDash"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256014" y="3771900"/>
              <a:ext cx="918972" cy="1204151"/>
              <a:chOff x="9256014" y="3771900"/>
              <a:chExt cx="918972" cy="1204151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9256014" y="3771900"/>
                <a:ext cx="918972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2020</a:t>
                </a:r>
              </a:p>
            </p:txBody>
          </p:sp>
          <p:sp>
            <p:nvSpPr>
              <p:cNvPr id="9" name="Ellipse 9"/>
              <p:cNvSpPr/>
              <p:nvPr/>
            </p:nvSpPr>
            <p:spPr>
              <a:xfrm>
                <a:off x="9629775" y="4391025"/>
                <a:ext cx="171450" cy="1714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345168" y="47120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全球开通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0306431" y="3771900"/>
              <a:ext cx="1104138" cy="1204151"/>
              <a:chOff x="10306431" y="3771900"/>
              <a:chExt cx="1104138" cy="1204151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0399014" y="3771900"/>
                <a:ext cx="918972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2035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10744200" y="4362450"/>
                <a:ext cx="228600" cy="22860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  <a:custDash>
                  <a:ds d="200000" sp="150000"/>
                </a:custDash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306431" y="47120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综合时空体系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325118" y="4807268"/>
              <a:ext cx="3193123" cy="671321"/>
              <a:chOff x="1325118" y="4807268"/>
              <a:chExt cx="3193123" cy="671321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1326642" y="480726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国家综合时空体系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325118" y="5155882"/>
                <a:ext cx="319312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更加泛在 · 更加融合 · 更加智能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677418" y="5632132"/>
            <a:ext cx="8324145" cy="925069"/>
            <a:chOff x="677418" y="5632132"/>
            <a:chExt cx="8324145" cy="925069"/>
          </a:xfrm>
        </p:grpSpPr>
        <p:sp>
          <p:nvSpPr>
            <p:cNvPr id="20" name="TextBox 20"/>
            <p:cNvSpPr txBox="1"/>
            <p:nvPr/>
          </p:nvSpPr>
          <p:spPr>
            <a:xfrm>
              <a:off x="677418" y="5632132"/>
              <a:ext cx="22602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本片事实来源(可点击)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8942" y="59502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u="sng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  <a:hlinkClick r:id="rId2"/>
                </a:rPr>
                <a:t>中国卫星导航系统管理办公室官网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89142" y="5950268"/>
              <a:ext cx="2912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u="sng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  <a:hlinkClick r:id="rId3"/>
                </a:rPr>
                <a:t>《公开服务性能规范(3.0版)》2021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8942" y="6293168"/>
              <a:ext cx="28760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u="sng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  <a:hlinkClick r:id="rId4"/>
                </a:rPr>
                <a:t>《新时代的中国北斗》白皮书 2022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89142" y="6293168"/>
              <a:ext cx="21672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u="sng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  <a:hlinkClick r:id="rId5"/>
                </a:rPr>
                <a:t>2024 年产业产值(新华网)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1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pt169_beidou_navigation_narrated">
  <a:themeElements>
    <a:clrScheme name="ppt169_beidou_navigation_narrated">
      <a:dk1>
        <a:srgbClr val="D8E0F0"/>
      </a:dk1>
      <a:lt1>
        <a:srgbClr val="060B1A"/>
      </a:lt1>
      <a:dk2>
        <a:srgbClr val="1F497D"/>
      </a:dk2>
      <a:lt2>
        <a:srgbClr val="0E1730"/>
      </a:lt2>
      <a:accent1>
        <a:srgbClr val="4EA8FF"/>
      </a:accent1>
      <a:accent2>
        <a:srgbClr val="FFC24B"/>
      </a:accent2>
      <a:accent3>
        <a:srgbClr val="35D0A5"/>
      </a:accent3>
      <a:accent4>
        <a:srgbClr val="4EA8FF"/>
      </a:accent4>
      <a:accent5>
        <a:srgbClr val="8FA0C0"/>
      </a:accent5>
      <a:accent6>
        <a:srgbClr val="1E2B4A"/>
      </a:accent6>
      <a:hlink>
        <a:srgbClr val="FFC24B"/>
      </a:hlink>
      <a:folHlink>
        <a:srgbClr val="35D0A5"/>
      </a:folHlink>
    </a:clrScheme>
    <a:fontScheme name="ppt169_beidou_navigation_narrated">
      <a:majorFont>
        <a:latin typeface="Arial"/>
        <a:ea typeface="SimHei"/>
        <a:cs typeface="Arial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beidou_navigation_narrat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169_beidou_navigation_narrated">
  <a:themeElements>
    <a:clrScheme name="ppt169_beidou_navigation_narrated">
      <a:dk1>
        <a:srgbClr val="D8E0F0"/>
      </a:dk1>
      <a:lt1>
        <a:srgbClr val="060B1A"/>
      </a:lt1>
      <a:dk2>
        <a:srgbClr val="1F497D"/>
      </a:dk2>
      <a:lt2>
        <a:srgbClr val="0E1730"/>
      </a:lt2>
      <a:accent1>
        <a:srgbClr val="4EA8FF"/>
      </a:accent1>
      <a:accent2>
        <a:srgbClr val="FFC24B"/>
      </a:accent2>
      <a:accent3>
        <a:srgbClr val="35D0A5"/>
      </a:accent3>
      <a:accent4>
        <a:srgbClr val="4EA8FF"/>
      </a:accent4>
      <a:accent5>
        <a:srgbClr val="8FA0C0"/>
      </a:accent5>
      <a:accent6>
        <a:srgbClr val="1E2B4A"/>
      </a:accent6>
      <a:hlink>
        <a:srgbClr val="FFC24B"/>
      </a:hlink>
      <a:folHlink>
        <a:srgbClr val="35D0A5"/>
      </a:folHlink>
    </a:clrScheme>
    <a:fontScheme name="ppt169_beidou_navigation_narrated">
      <a:majorFont>
        <a:latin typeface="Arial"/>
        <a:ea typeface="SimHei"/>
        <a:cs typeface="Arial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beidou_navigation_narrat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2026-09-11T05:47:25Z</dcterms:created>
  <dcterms:modified xsi:type="dcterms:W3CDTF">2026-09-11T05:47:25Z</dcterms:modified>
  <cp:category/>
  <cp:contentStatus/>
</cp:coreProperties>
</file>