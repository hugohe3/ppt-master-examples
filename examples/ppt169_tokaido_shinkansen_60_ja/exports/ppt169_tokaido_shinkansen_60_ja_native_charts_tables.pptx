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301.xml" ContentType="application/vnd.openxmlformats-officedocument.drawingml.chart+xml"/>
  <Override PartName="/ppt/charts/chart9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charts/_rels/chart301.xml.rels><?xml version="1.0" encoding="UTF-8" standalone="yes"?>
<Relationships xmlns="http://schemas.openxmlformats.org/package/2006/relationships">
<Relationship Id="rId1" Type="http://schemas.openxmlformats.org/officeDocument/2006/relationships/package" Target="../embeddings/Microsoft_Excel_Sheet301.xlsx"/>
</Relationships>
</file>

<file path=ppt/charts/_rels/chart901.xml.rels><?xml version="1.0" encoding="UTF-8" standalone="yes"?>
<Relationships xmlns="http://schemas.openxmlformats.org/package/2006/relationships">
<Relationship Id="rId1" Type="http://schemas.openxmlformats.org/officeDocument/2006/relationships/package" Target="../embeddings/Microsoft_Excel_Sheet901.xlsx"/>
</Relationships>
</file>

<file path=ppt/charts/chart301.xml><?xml version="1.0" encoding="utf-8"?>
<c:chartSpace xmlns:c="http://schemas.openxmlformats.org/drawingml/2006/chart" xmlns:a="http://schemas.openxmlformats.org/drawingml/2006/main" xmlns:r="http://schemas.openxmlformats.org/officeDocument/2006/relationships">
  <c:date1904 val="0"/>
  <c:lang val="ja-JP"/>
  <c:chart>
    <c:autoTitleDeleted val="1"/>
    <c:plotArea>
      <c:layout>
        <c:manualLayout>
          <c:layoutTarget val="inner"/>
          <c:xMode val="edge"/>
          <c:yMode val="edge"/>
          <c:wMode val="factor"/>
          <c:hMode val="factor"/>
          <c:x val="0.223958333333"/>
          <c:y val="0.0224215246637"/>
          <c:w val="0.668402777778"/>
          <c:h val="0.807174887892"/>
        </c:manualLayout>
      </c:layout>
      <c:barChart>
        <c:barDir val="bar"/>
        <c:grouping val="clustered"/>
        <c:varyColors val="1"/>
        <c:ser>
          <c:idx val="0"/>
          <c:order val="0"/>
          <c:tx>
            <c:strRef>
              <c:f>Sheet1!$B$1</c:f>
              <c:strCache>
                <c:ptCount val="1"/>
                <c:pt idx="0">
                  <c:v>所要時間(分)</c:v>
                </c:pt>
              </c:strCache>
            </c:strRef>
          </c:tx>
          <c:spPr>
            <a:solidFill>
              <a:srgbClr val="4472C4"/>
            </a:solidFill>
            <a:ln>
              <a:solidFill>
                <a:srgbClr val="4472C4"/>
              </a:solidFill>
            </a:ln>
          </c:spPr>
          <c:invertIfNegative val="0"/>
          <c:dPt>
            <c:idx val="0"/>
            <c:invertIfNegative val="0"/>
            <c:spPr>
              <a:solidFill>
                <a:srgbClr val="A69A80"/>
              </a:solidFill>
              <a:ln>
                <a:solidFill>
                  <a:srgbClr val="A69A80"/>
                </a:solidFill>
              </a:ln>
            </c:spPr>
          </c:dPt>
          <c:dPt>
            <c:idx val="1"/>
            <c:invertIfNegative val="0"/>
            <c:spPr>
              <a:solidFill>
                <a:schemeClr val="accent1"/>
              </a:solidFill>
              <a:ln>
                <a:solidFill>
                  <a:schemeClr val="accent1"/>
                </a:solidFill>
              </a:ln>
            </c:spPr>
          </c:dPt>
          <c:dPt>
            <c:idx val="2"/>
            <c:invertIfNegative val="0"/>
            <c:spPr>
              <a:solidFill>
                <a:schemeClr val="accent1"/>
              </a:solidFill>
              <a:ln>
                <a:solidFill>
                  <a:schemeClr val="accent1"/>
                </a:solidFill>
              </a:ln>
            </c:spPr>
          </c:dPt>
          <c:dPt>
            <c:idx val="3"/>
            <c:invertIfNegative val="0"/>
            <c:spPr>
              <a:solidFill>
                <a:schemeClr val="accent2"/>
              </a:solidFill>
              <a:ln>
                <a:solidFill>
                  <a:schemeClr val="accent2"/>
                </a:solidFill>
              </a:ln>
            </c:spPr>
          </c:dPt>
          <c:cat>
            <c:strRef>
              <c:f>Sheet1!$A$2:$A$5</c:f>
              <c:strCache>
                <c:ptCount val="4"/>
                <c:pt idx="0">
                  <c:v>在来線 約6時間</c:v>
                </c:pt>
                <c:pt idx="1">
                  <c:v>1964年 4時間</c:v>
                </c:pt>
                <c:pt idx="2">
                  <c:v>1965年 3時間10分</c:v>
                </c:pt>
                <c:pt idx="3">
                  <c:v>2026年 2時間21分</c:v>
                </c:pt>
              </c:strCache>
            </c:strRef>
          </c:cat>
          <c:val>
            <c:numRef>
              <c:f>Sheet1!$B$2:$B$5</c:f>
              <c:numCache>
                <c:formatCode>General</c:formatCode>
                <c:ptCount val="4"/>
                <c:pt idx="0">
                  <c:v>360</c:v>
                </c:pt>
                <c:pt idx="1">
                  <c:v>240</c:v>
                </c:pt>
                <c:pt idx="2">
                  <c:v>190</c:v>
                </c:pt>
                <c:pt idx="3">
                  <c:v>141</c:v>
                </c:pt>
              </c:numCache>
            </c:numRef>
          </c:val>
        </c:ser>
        <c:dLbls>
          <c:numFmt formatCode="0" sourceLinked="0"/>
          <c:txPr>
            <a:bodyPr/>
            <a:lstStyle/>
            <a:p>
              <a:pPr>
                <a:defRPr lang="ja-JP" sz="1650" b="1">
                  <a:solidFill>
                    <a:srgbClr val="22262E"/>
                  </a:solidFill>
                  <a:latin typeface="Yu Gothic"/>
                  <a:ea typeface="Yu Gothic"/>
                  <a:cs typeface="Yu Gothic"/>
                </a:defRPr>
              </a:pPr>
              <a:endParaRPr lang="ja-JP"/>
            </a:p>
          </c:txPr>
          <c:dLblPos val="outEnd"/>
          <c:showLegendKey val="0"/>
          <c:showVal val="1"/>
          <c:showCatName val="0"/>
          <c:showSerName val="0"/>
          <c:showPercent val="0"/>
          <c:showBubbleSize val="0"/>
          <c:showLeaderLines val="0"/>
        </c:dLbls>
        <c:gapWidth val="67"/>
        <c:axId val="2068027336"/>
        <c:axId val="2113994440"/>
      </c:barChart>
      <c:catAx>
        <c:axId val="2068027336"/>
        <c:scaling>
          <c:orientation val="maxMin"/>
        </c:scaling>
        <c:delete val="0"/>
        <c:axPos val="l"/>
        <c:majorTickMark val="none"/>
        <c:minorTickMark val="none"/>
        <c:tickLblPos val="nextTo"/>
        <c:spPr>
          <a:ln w="9525" cap="flat" cmpd="sng" algn="ctr">
            <a:solidFill>
              <a:schemeClr val="accent1"/>
            </a:solidFill>
            <a:round/>
          </a:ln>
        </c:spPr>
        <c:txPr>
          <a:bodyPr/>
          <a:lstStyle/>
          <a:p>
            <a:pPr>
              <a:defRPr lang="ja-JP" sz="1650">
                <a:solidFill>
                  <a:srgbClr val="22262E"/>
                </a:solidFill>
                <a:latin typeface="Yu Gothic"/>
                <a:ea typeface="Yu Gothic"/>
                <a:cs typeface="Yu Gothic"/>
              </a:defRPr>
            </a:pPr>
            <a:endParaRPr lang="ja-JP"/>
          </a:p>
        </c:txPr>
        <c:crossAx val="2113994440"/>
        <c:crosses val="autoZero"/>
        <c:auto val="1"/>
        <c:lblAlgn val="ctr"/>
        <c:lblOffset val="100"/>
        <c:noMultiLvlLbl val="0"/>
      </c:catAx>
      <c:valAx>
        <c:axId val="2113994440"/>
        <c:scaling>
          <c:orientation val="minMax"/>
          <c:max val="400"/>
          <c:min val="0"/>
        </c:scaling>
        <c:delete val="0"/>
        <c:axPos val="b"/>
        <c:majorGridlines>
          <c:spPr>
            <a:ln w="6350" cap="flat" cmpd="sng" algn="ctr">
              <a:solidFill>
                <a:srgbClr val="C7B99D"/>
              </a:solidFill>
              <a:round/>
            </a:ln>
          </c:spPr>
        </c:majorGridlines>
        <c:title>
          <c:tx>
            <c:rich>
              <a:bodyPr/>
              <a:lstStyle/>
              <a:p>
                <a:pPr/>
                <a:r>
                  <a:rPr lang="ja-JP" sz="1650">
                    <a:solidFill>
                      <a:srgbClr val="22262E"/>
                    </a:solidFill>
                    <a:latin typeface="Yu Gothic"/>
                    <a:ea typeface="Yu Gothic"/>
                    <a:cs typeface="Yu Gothic"/>
                  </a:rPr>
                  <a:t>所要時間(分)</a:t>
                </a:r>
              </a:p>
            </c:rich>
          </c:tx>
          <c:layout/>
          <c:overlay val="0"/>
        </c:title>
        <c:majorTickMark val="none"/>
        <c:minorTickMark val="none"/>
        <c:tickLblPos val="nextTo"/>
        <c:spPr>
          <a:ln w="9525" cap="flat" cmpd="sng" algn="ctr">
            <a:solidFill>
              <a:schemeClr val="accent1"/>
            </a:solidFill>
            <a:round/>
          </a:ln>
        </c:spPr>
        <c:txPr>
          <a:bodyPr/>
          <a:lstStyle/>
          <a:p>
            <a:pPr>
              <a:defRPr lang="ja-JP" sz="1650">
                <a:solidFill>
                  <a:srgbClr val="22262E"/>
                </a:solidFill>
                <a:latin typeface="Yu Gothic"/>
                <a:ea typeface="Yu Gothic"/>
                <a:cs typeface="Yu Gothic"/>
              </a:defRPr>
            </a:pPr>
            <a:endParaRPr lang="ja-JP"/>
          </a:p>
        </c:txPr>
        <c:crossAx val="2068027336"/>
        <c:crosses val="max"/>
        <c:crossBetween val="between"/>
        <c:majorUnit val="100"/>
      </c:valAx>
      <c:spPr>
        <a:noFill/>
        <a:ln>
          <a:noFill/>
        </a:ln>
      </c:spPr>
    </c:plotArea>
    <c:plotVisOnly val="1"/>
    <c:dispBlanksAs val="gap"/>
  </c:chart>
  <c:spPr>
    <a:noFill/>
    <a:ln>
      <a:noFill/>
    </a:ln>
  </c:spPr>
  <c:txPr>
    <a:bodyPr/>
    <a:lstStyle/>
    <a:p>
      <a:pPr>
        <a:defRPr lang="ja-JP" sz="1650">
          <a:solidFill>
            <a:srgbClr val="22262E"/>
          </a:solidFill>
          <a:latin typeface="Yu Gothic"/>
          <a:ea typeface="Yu Gothic"/>
          <a:cs typeface="Yu Gothic"/>
        </a:defRPr>
      </a:pPr>
      <a:endParaRPr lang="ja-JP"/>
    </a:p>
  </c:txPr>
  <c:externalData r:id="rId1">
    <c:autoUpdate val="0"/>
  </c:externalData>
</c:chartSpace>
</file>

<file path=ppt/charts/chart901.xml><?xml version="1.0" encoding="utf-8"?>
<c:chartSpace xmlns:c="http://schemas.openxmlformats.org/drawingml/2006/chart" xmlns:a="http://schemas.openxmlformats.org/drawingml/2006/main" xmlns:r="http://schemas.openxmlformats.org/officeDocument/2006/relationships">
  <c:date1904 val="0"/>
  <c:lang val="ja-JP"/>
  <c:chart>
    <c:autoTitleDeleted val="1"/>
    <c:plotArea>
      <c:layout>
        <c:manualLayout>
          <c:layoutTarget val="inner"/>
          <c:xMode val="edge"/>
          <c:yMode val="edge"/>
          <c:wMode val="factor"/>
          <c:hMode val="factor"/>
          <c:x val="0.0673076923077"/>
          <c:y val="0.0701754385965"/>
          <c:w val="0.913461538462"/>
          <c:h val="0.767543859649"/>
        </c:manualLayout>
      </c:layout>
      <c:barChart>
        <c:barDir val="col"/>
        <c:grouping val="clustered"/>
        <c:varyColors val="1"/>
        <c:ser>
          <c:idx val="0"/>
          <c:order val="0"/>
          <c:tx>
            <c:strRef>
              <c:f>Sheet1!$B$1</c:f>
              <c:strCache>
                <c:ptCount val="1"/>
                <c:pt idx="0">
                  <c:v>輸送人キロ(億人キロ)</c:v>
                </c:pt>
              </c:strCache>
            </c:strRef>
          </c:tx>
          <c:spPr>
            <a:solidFill>
              <a:srgbClr val="4472C4"/>
            </a:solidFill>
            <a:ln>
              <a:solidFill>
                <a:srgbClr val="4472C4"/>
              </a:solidFill>
            </a:ln>
          </c:spPr>
          <c:invertIfNegative val="0"/>
          <c:dPt>
            <c:idx val="0"/>
            <c:invertIfNegative val="0"/>
            <c:spPr>
              <a:solidFill>
                <a:schemeClr val="accent1"/>
              </a:solidFill>
              <a:ln>
                <a:solidFill>
                  <a:schemeClr val="accent1"/>
                </a:solidFill>
              </a:ln>
            </c:spPr>
          </c:dPt>
          <c:dPt>
            <c:idx val="1"/>
            <c:invertIfNegative val="0"/>
            <c:spPr>
              <a:solidFill>
                <a:schemeClr val="accent1"/>
              </a:solidFill>
              <a:ln>
                <a:solidFill>
                  <a:schemeClr val="accent1"/>
                </a:solidFill>
              </a:ln>
            </c:spPr>
          </c:dPt>
          <c:dPt>
            <c:idx val="2"/>
            <c:invertIfNegative val="0"/>
            <c:spPr>
              <a:solidFill>
                <a:schemeClr val="accent1"/>
              </a:solidFill>
              <a:ln>
                <a:solidFill>
                  <a:schemeClr val="accent1"/>
                </a:solidFill>
              </a:ln>
            </c:spPr>
          </c:dPt>
          <c:dPt>
            <c:idx val="3"/>
            <c:invertIfNegative val="0"/>
            <c:spPr>
              <a:solidFill>
                <a:schemeClr val="accent1"/>
              </a:solidFill>
              <a:ln>
                <a:solidFill>
                  <a:schemeClr val="accent1"/>
                </a:solidFill>
              </a:ln>
            </c:spPr>
          </c:dPt>
          <c:dPt>
            <c:idx val="4"/>
            <c:invertIfNegative val="0"/>
            <c:spPr>
              <a:solidFill>
                <a:schemeClr val="accent1"/>
              </a:solidFill>
              <a:ln>
                <a:solidFill>
                  <a:schemeClr val="accent1"/>
                </a:solidFill>
              </a:ln>
            </c:spPr>
          </c:dPt>
          <c:dPt>
            <c:idx val="5"/>
            <c:invertIfNegative val="0"/>
            <c:spPr>
              <a:solidFill>
                <a:schemeClr val="accent1"/>
              </a:solidFill>
              <a:ln>
                <a:solidFill>
                  <a:schemeClr val="accent1"/>
                </a:solidFill>
              </a:ln>
            </c:spPr>
          </c:dPt>
          <c:dPt>
            <c:idx val="6"/>
            <c:invertIfNegative val="0"/>
            <c:spPr>
              <a:solidFill>
                <a:schemeClr val="accent1"/>
              </a:solidFill>
              <a:ln>
                <a:solidFill>
                  <a:schemeClr val="accent1"/>
                </a:solidFill>
              </a:ln>
            </c:spPr>
          </c:dPt>
          <c:dPt>
            <c:idx val="7"/>
            <c:invertIfNegative val="0"/>
            <c:spPr>
              <a:solidFill>
                <a:schemeClr val="accent1"/>
              </a:solidFill>
              <a:ln>
                <a:solidFill>
                  <a:schemeClr val="accent1"/>
                </a:solidFill>
              </a:ln>
            </c:spPr>
          </c:dPt>
          <c:dPt>
            <c:idx val="8"/>
            <c:invertIfNegative val="0"/>
            <c:spPr>
              <a:solidFill>
                <a:schemeClr val="accent1"/>
              </a:solidFill>
              <a:ln>
                <a:solidFill>
                  <a:schemeClr val="accent1"/>
                </a:solidFill>
              </a:ln>
            </c:spPr>
          </c:dPt>
          <c:dPt>
            <c:idx val="9"/>
            <c:invertIfNegative val="0"/>
            <c:spPr>
              <a:solidFill>
                <a:schemeClr val="accent1"/>
              </a:solidFill>
              <a:ln>
                <a:solidFill>
                  <a:schemeClr val="accent1"/>
                </a:solidFill>
              </a:ln>
            </c:spPr>
          </c:dPt>
          <c:dPt>
            <c:idx val="10"/>
            <c:invertIfNegative val="0"/>
            <c:spPr>
              <a:solidFill>
                <a:schemeClr val="accent1"/>
              </a:solidFill>
              <a:ln>
                <a:solidFill>
                  <a:schemeClr val="accent1"/>
                </a:solidFill>
              </a:ln>
            </c:spPr>
          </c:dPt>
          <c:dPt>
            <c:idx val="11"/>
            <c:invertIfNegative val="0"/>
            <c:spPr>
              <a:solidFill>
                <a:schemeClr val="accent1"/>
              </a:solidFill>
              <a:ln>
                <a:solidFill>
                  <a:schemeClr val="accent1"/>
                </a:solidFill>
              </a:ln>
            </c:spPr>
          </c:dPt>
          <c:dPt>
            <c:idx val="12"/>
            <c:invertIfNegative val="0"/>
            <c:spPr>
              <a:solidFill>
                <a:schemeClr val="accent1"/>
              </a:solidFill>
              <a:ln>
                <a:solidFill>
                  <a:schemeClr val="accent1"/>
                </a:solidFill>
              </a:ln>
            </c:spPr>
          </c:dPt>
          <c:dPt>
            <c:idx val="13"/>
            <c:invertIfNegative val="0"/>
            <c:spPr>
              <a:solidFill>
                <a:schemeClr val="accent1"/>
              </a:solidFill>
              <a:ln>
                <a:solidFill>
                  <a:schemeClr val="accent1"/>
                </a:solidFill>
              </a:ln>
            </c:spPr>
          </c:dPt>
          <c:dPt>
            <c:idx val="14"/>
            <c:invertIfNegative val="0"/>
            <c:spPr>
              <a:solidFill>
                <a:schemeClr val="accent1"/>
              </a:solidFill>
              <a:ln>
                <a:solidFill>
                  <a:schemeClr val="accent1"/>
                </a:solidFill>
              </a:ln>
            </c:spPr>
          </c:dPt>
          <c:dPt>
            <c:idx val="15"/>
            <c:invertIfNegative val="0"/>
            <c:spPr>
              <a:solidFill>
                <a:schemeClr val="accent1"/>
              </a:solidFill>
              <a:ln>
                <a:solidFill>
                  <a:schemeClr val="accent1"/>
                </a:solidFill>
              </a:ln>
            </c:spPr>
          </c:dPt>
          <c:dPt>
            <c:idx val="16"/>
            <c:invertIfNegative val="0"/>
            <c:spPr>
              <a:solidFill>
                <a:schemeClr val="accent1"/>
              </a:solidFill>
              <a:ln>
                <a:solidFill>
                  <a:schemeClr val="accent1"/>
                </a:solidFill>
              </a:ln>
            </c:spPr>
          </c:dPt>
          <c:dPt>
            <c:idx val="17"/>
            <c:invertIfNegative val="0"/>
            <c:spPr>
              <a:solidFill>
                <a:schemeClr val="accent1"/>
              </a:solidFill>
              <a:ln>
                <a:solidFill>
                  <a:schemeClr val="accent1"/>
                </a:solidFill>
              </a:ln>
            </c:spPr>
          </c:dPt>
          <c:dPt>
            <c:idx val="18"/>
            <c:invertIfNegative val="0"/>
            <c:spPr>
              <a:solidFill>
                <a:schemeClr val="accent3"/>
              </a:solidFill>
              <a:ln>
                <a:solidFill>
                  <a:schemeClr val="accent3"/>
                </a:solidFill>
              </a:ln>
            </c:spPr>
          </c:dPt>
          <c:dPt>
            <c:idx val="19"/>
            <c:invertIfNegative val="0"/>
            <c:spPr>
              <a:solidFill>
                <a:schemeClr val="accent3"/>
              </a:solidFill>
              <a:ln>
                <a:solidFill>
                  <a:schemeClr val="accent3"/>
                </a:solidFill>
              </a:ln>
            </c:spPr>
          </c:dPt>
          <c:dPt>
            <c:idx val="20"/>
            <c:invertIfNegative val="0"/>
            <c:spPr>
              <a:solidFill>
                <a:schemeClr val="accent1"/>
              </a:solidFill>
              <a:ln>
                <a:solidFill>
                  <a:schemeClr val="accent1"/>
                </a:solidFill>
              </a:ln>
            </c:spPr>
          </c:dPt>
          <c:dPt>
            <c:idx val="21"/>
            <c:invertIfNegative val="0"/>
            <c:spPr>
              <a:solidFill>
                <a:schemeClr val="accent1"/>
              </a:solidFill>
              <a:ln>
                <a:solidFill>
                  <a:schemeClr val="accent1"/>
                </a:solidFill>
              </a:ln>
            </c:spPr>
          </c:dPt>
          <c:dPt>
            <c:idx val="22"/>
            <c:invertIfNegative val="0"/>
            <c:spPr>
              <a:solidFill>
                <a:schemeClr val="accent1"/>
              </a:solidFill>
              <a:ln>
                <a:solidFill>
                  <a:schemeClr val="accent1"/>
                </a:solidFill>
              </a:ln>
            </c:spPr>
          </c:dPt>
          <c:dPt>
            <c:idx val="23"/>
            <c:invertIfNegative val="0"/>
            <c:spPr>
              <a:solidFill>
                <a:schemeClr val="accent2"/>
              </a:solidFill>
              <a:ln>
                <a:solidFill>
                  <a:schemeClr val="accent2"/>
                </a:solidFill>
              </a:ln>
            </c:spPr>
          </c:dPt>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numFmt formatCode="0" sourceLinked="0"/>
              <c:txPr>
                <a:bodyPr/>
                <a:lstStyle/>
                <a:p>
                  <a:pPr>
                    <a:defRPr lang="ja-JP" sz="1500" b="1">
                      <a:solidFill>
                        <a:srgbClr val="22262E"/>
                      </a:solidFill>
                      <a:latin typeface="Yu Gothic"/>
                      <a:ea typeface="Yu Gothic"/>
                      <a:cs typeface="Yu Gothic"/>
                    </a:defRPr>
                  </a:pPr>
                  <a:endParaRPr lang="ja-JP"/>
                </a:p>
              </c:txPr>
              <c:dLblPos val="outEnd"/>
              <c:showLegendKey val="0"/>
              <c:showVal val="1"/>
              <c:showCatName val="0"/>
              <c:showSerName val="0"/>
              <c:showPercent val="0"/>
              <c:showBubbleSize val="0"/>
            </c:dLbl>
            <c:dLbl>
              <c:idx val="18"/>
              <c:numFmt formatCode="0" sourceLinked="0"/>
              <c:txPr>
                <a:bodyPr/>
                <a:lstStyle/>
                <a:p>
                  <a:pPr>
                    <a:defRPr lang="ja-JP" sz="1500" b="1">
                      <a:solidFill>
                        <a:srgbClr val="22262E"/>
                      </a:solidFill>
                      <a:latin typeface="Yu Gothic"/>
                      <a:ea typeface="Yu Gothic"/>
                      <a:cs typeface="Yu Gothic"/>
                    </a:defRPr>
                  </a:pPr>
                  <a:endParaRPr lang="ja-JP"/>
                </a:p>
              </c:txPr>
              <c:dLblPos val="outEnd"/>
              <c:showLegendKey val="0"/>
              <c:showVal val="1"/>
              <c:showCatName val="0"/>
              <c:showSerName val="0"/>
              <c:showPercent val="0"/>
              <c:showBubbleSize val="0"/>
            </c:dLbl>
            <c:dLbl>
              <c:idx val="19"/>
              <c:delete val="1"/>
            </c:dLbl>
            <c:dLbl>
              <c:idx val="20"/>
              <c:delete val="1"/>
            </c:dLbl>
            <c:dLbl>
              <c:idx val="21"/>
              <c:delete val="1"/>
            </c:dLbl>
            <c:dLbl>
              <c:idx val="22"/>
              <c:delete val="1"/>
            </c:dLbl>
            <c:dLbl>
              <c:idx val="23"/>
              <c:numFmt formatCode="0" sourceLinked="0"/>
              <c:txPr>
                <a:bodyPr/>
                <a:lstStyle/>
                <a:p>
                  <a:pPr>
                    <a:defRPr lang="ja-JP" sz="1500" b="1">
                      <a:solidFill>
                        <a:srgbClr val="22262E"/>
                      </a:solidFill>
                      <a:latin typeface="Yu Gothic"/>
                      <a:ea typeface="Yu Gothic"/>
                      <a:cs typeface="Yu Gothic"/>
                    </a:defRPr>
                  </a:pPr>
                  <a:endParaRPr lang="ja-JP"/>
                </a:p>
              </c:txPr>
              <c:dLblPos val="outEnd"/>
              <c:showLegendKey val="0"/>
              <c:showVal val="1"/>
              <c:showCatName val="0"/>
              <c:showSerName val="0"/>
              <c:showPercent val="0"/>
              <c:showBubbleSize val="0"/>
            </c:dLbl>
            <c:showLeaderLines val="0"/>
          </c:dLbls>
          <c:cat>
            <c:strRef>
              <c:f>Sheet1!$A$2:$A$25</c:f>
              <c:strCache>
                <c:ptCount val="24"/>
                <c:pt idx="0">
                  <c:v>02</c:v>
                </c:pt>
                <c:pt idx="1">
                  <c:v>03</c:v>
                </c:pt>
                <c:pt idx="2">
                  <c:v>04</c:v>
                </c:pt>
                <c:pt idx="3">
                  <c:v>05</c:v>
                </c:pt>
                <c:pt idx="4">
                  <c:v>06</c:v>
                </c:pt>
                <c:pt idx="5">
                  <c:v>07</c:v>
                </c:pt>
                <c:pt idx="6">
                  <c:v>08</c:v>
                </c:pt>
                <c:pt idx="7">
                  <c:v>09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strCache>
            </c:strRef>
          </c:cat>
          <c:val>
            <c:numRef>
              <c:f>Sheet1!$B$2:$B$25</c:f>
              <c:numCache>
                <c:formatCode>General</c:formatCode>
                <c:ptCount val="24"/>
                <c:pt idx="0">
                  <c:v>396</c:v>
                </c:pt>
                <c:pt idx="1">
                  <c:v>403</c:v>
                </c:pt>
                <c:pt idx="2">
                  <c:v>416</c:v>
                </c:pt>
                <c:pt idx="3">
                  <c:v>438</c:v>
                </c:pt>
                <c:pt idx="4">
                  <c:v>445</c:v>
                </c:pt>
                <c:pt idx="5">
                  <c:v>465</c:v>
                </c:pt>
                <c:pt idx="6">
                  <c:v>460</c:v>
                </c:pt>
                <c:pt idx="7">
                  <c:v>427</c:v>
                </c:pt>
                <c:pt idx="8">
                  <c:v>437</c:v>
                </c:pt>
                <c:pt idx="9">
                  <c:v>443</c:v>
                </c:pt>
                <c:pt idx="10">
                  <c:v>469</c:v>
                </c:pt>
                <c:pt idx="11">
                  <c:v>489</c:v>
                </c:pt>
                <c:pt idx="12">
                  <c:v>501</c:v>
                </c:pt>
                <c:pt idx="13">
                  <c:v>522</c:v>
                </c:pt>
                <c:pt idx="14">
                  <c:v>529</c:v>
                </c:pt>
                <c:pt idx="15">
                  <c:v>548</c:v>
                </c:pt>
                <c:pt idx="16">
                  <c:v>563</c:v>
                </c:pt>
                <c:pt idx="17">
                  <c:v>540</c:v>
                </c:pt>
                <c:pt idx="18">
                  <c:v>182</c:v>
                </c:pt>
                <c:pt idx="19">
                  <c:v>252</c:v>
                </c:pt>
                <c:pt idx="20">
                  <c:v>424</c:v>
                </c:pt>
                <c:pt idx="21">
                  <c:v>528</c:v>
                </c:pt>
                <c:pt idx="22">
                  <c:v>552</c:v>
                </c:pt>
                <c:pt idx="23">
                  <c:v>609</c:v>
                </c:pt>
              </c:numCache>
            </c:numRef>
          </c:val>
        </c:ser>
        <c:gapWidth val="58"/>
        <c:axId val="2068027336"/>
        <c:axId val="2113994440"/>
      </c:barChart>
      <c:catAx>
        <c:axId val="2068027336"/>
        <c:scaling>
          <c:orientation val="minMax"/>
        </c:scaling>
        <c:delete val="0"/>
        <c:axPos val="b"/>
        <c:title>
          <c:tx>
            <c:rich>
              <a:bodyPr/>
              <a:lstStyle/>
              <a:p>
                <a:pPr/>
                <a:r>
                  <a:rPr lang="ja-JP" sz="1650">
                    <a:solidFill>
                      <a:srgbClr val="22262E"/>
                    </a:solidFill>
                    <a:latin typeface="Yu Gothic"/>
                    <a:ea typeface="Yu Gothic"/>
                    <a:cs typeface="Yu Gothic"/>
                  </a:rPr>
                  <a:t>年度(2002〜2025年度の下2桁)</a:t>
                </a:r>
              </a:p>
            </c:rich>
          </c:tx>
          <c:layout/>
          <c:overlay val="0"/>
        </c:title>
        <c:majorTickMark val="none"/>
        <c:minorTickMark val="none"/>
        <c:tickLblPos val="nextTo"/>
        <c:spPr>
          <a:ln w="9525" cap="flat" cmpd="sng" algn="ctr">
            <a:solidFill>
              <a:schemeClr val="accent1"/>
            </a:solidFill>
            <a:round/>
          </a:ln>
        </c:spPr>
        <c:txPr>
          <a:bodyPr/>
          <a:lstStyle/>
          <a:p>
            <a:pPr>
              <a:defRPr lang="ja-JP" sz="1500">
                <a:solidFill>
                  <a:srgbClr val="5E5A52"/>
                </a:solidFill>
                <a:latin typeface="Yu Gothic"/>
                <a:ea typeface="Yu Gothic"/>
                <a:cs typeface="Yu Gothic"/>
              </a:defRPr>
            </a:pPr>
            <a:endParaRPr lang="ja-JP"/>
          </a:p>
        </c:txPr>
        <c:crossAx val="2113994440"/>
        <c:crosses val="autoZero"/>
        <c:auto val="1"/>
        <c:lblAlgn val="ctr"/>
        <c:lblOffset val="100"/>
        <c:noMultiLvlLbl val="0"/>
      </c:catAx>
      <c:valAx>
        <c:axId val="2113994440"/>
        <c:scaling>
          <c:orientation val="minMax"/>
          <c:max val="700"/>
          <c:min val="0"/>
        </c:scaling>
        <c:delete val="0"/>
        <c:axPos val="l"/>
        <c:majorGridlines>
          <c:spPr>
            <a:ln w="6350" cap="flat" cmpd="sng" algn="ctr">
              <a:solidFill>
                <a:srgbClr val="C7B99D"/>
              </a:solidFill>
              <a:round/>
            </a:ln>
          </c:spPr>
        </c:majorGridlines>
        <c:title>
          <c:tx>
            <c:rich>
              <a:bodyPr/>
              <a:lstStyle/>
              <a:p>
                <a:pPr/>
                <a:r>
                  <a:rPr lang="ja-JP" sz="1650">
                    <a:solidFill>
                      <a:srgbClr val="22262E"/>
                    </a:solidFill>
                    <a:latin typeface="Yu Gothic"/>
                    <a:ea typeface="Yu Gothic"/>
                    <a:cs typeface="Yu Gothic"/>
                  </a:rPr>
                  <a:t>輸送人キロ(億人キロ)</a:t>
                </a:r>
              </a:p>
            </c:rich>
          </c:tx>
          <c:layout/>
          <c:overlay val="0"/>
        </c:title>
        <c:majorTickMark val="none"/>
        <c:minorTickMark val="none"/>
        <c:tickLblPos val="nextTo"/>
        <c:spPr>
          <a:ln w="9525" cap="flat" cmpd="sng" algn="ctr">
            <a:solidFill>
              <a:schemeClr val="accent1"/>
            </a:solidFill>
            <a:round/>
          </a:ln>
        </c:spPr>
        <c:txPr>
          <a:bodyPr/>
          <a:lstStyle/>
          <a:p>
            <a:pPr>
              <a:defRPr lang="ja-JP" sz="1500">
                <a:solidFill>
                  <a:srgbClr val="5E5A52"/>
                </a:solidFill>
                <a:latin typeface="Yu Gothic"/>
                <a:ea typeface="Yu Gothic"/>
                <a:cs typeface="Yu Gothic"/>
              </a:defRPr>
            </a:pPr>
            <a:endParaRPr lang="ja-JP"/>
          </a:p>
        </c:txPr>
        <c:crossAx val="2068027336"/>
        <c:crosses val="autoZero"/>
        <c:crossBetween val="between"/>
        <c:majorUnit val="100"/>
      </c:valAx>
      <c:spPr>
        <a:noFill/>
        <a:ln>
          <a:noFill/>
        </a:ln>
      </c:spPr>
    </c:plotArea>
    <c:plotVisOnly val="1"/>
    <c:dispBlanksAs val="gap"/>
  </c:chart>
  <c:spPr>
    <a:noFill/>
    <a:ln>
      <a:noFill/>
    </a:ln>
  </c:spPr>
  <c:txPr>
    <a:bodyPr/>
    <a:lstStyle/>
    <a:p>
      <a:pPr>
        <a:defRPr lang="ja-JP" sz="1500">
          <a:solidFill>
            <a:srgbClr val="5E5A52"/>
          </a:solidFill>
          <a:latin typeface="Yu Gothic"/>
          <a:ea typeface="Yu Gothic"/>
          <a:cs typeface="Yu Gothic"/>
        </a:defRPr>
      </a:pPr>
      <a:endParaRPr lang="ja-JP"/>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ja-JP"/>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ja-JP"/>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ja-JP"/>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ja-JP"/>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ja-JP"/>
          </a:p>
        </p:txBody>
      </p:sp>
    </p:spTree>
  </p:cSld>
  <p:clrMap bg1="lt1" tx1="dk1" bg2="lt2" tx2="dk2" accent1="accent1" accent2="accent2" accent3="accent3" accent4="accent4" accent5="accent5" accent6="accent6" hlink="hlink" folHlink="folHlink"/>
  <p:hf/>
  <p:notesStyle>
    <a:lvl1pPr marL="0" algn="l">
      <a:defRPr sz="1200" lang="ja-JP"/>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1964年10月1日の朝、東京と新大阪のあいだに一本の線が走り出しました。東海道新幹線です。今日はこの線が2024年に迎えた開業60年を、確かめられる数字だけで振り返ります。速さ、本数、そして安全。この三つをどう積み上げてきたのかを、一緒にたどっていきましょう。</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最初に、今日の話を四つの数字にまとめておきます。東京から新大阪までの最速が2時間21分。1日に走る列車が395本。1列車あたりの平均の遅れが1.0分。そして開業以来、乗車中のお客様が亡くなったりけがをしたりする列車事故はゼロです。四つの切り口は私たちの整理ですが、どの数字もJR東海のファクトシートに載っているものです。ここからは、この順番で一つずつ見ていきます。</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そもそも、なぜ新幹線だったのでしょうか。在来線の時代、東京から大阪まではおよそ6時間かかっていました。開業の日、それが4時間になります。およそ3分の2です。翌年には時速210キロの本格運転で3時間10分、ほぼ半分まで縮まりました。そして今は2時間21分です。グラフの一番下の赤い棒が、いまの私たちの距離感です。</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開業の日の姿を思い浮かべてみましょう。車両は0系、最高速度は時速210キロ、東京と新大阪を4時間で結びました。1日の運転本数は平均60本です。右の絵はAIで描いたイメージで、実際の車両を写したものではありません。この4時間という数字を覚えておいてください。次のページで、この数字がどう縮んでいくかを追いかけま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さきほどの4時間は、ここから7世代の車両の交代とともに縮んでいきました。0系から100系、300系、700系、N700系、N700A、そしてN700S。最高速度は210キロから285キロへ上がり、最速の所要時間は4時間から2時間21分へ、合わせて99分短くなりました。1992年の300系で2時間30分、2015年の285キロ運転を経て、2020年度には2時間21分です。なお700系が登場したときは、最速の所要時間は変わっていません。速さは一度に上がったのではなく、階段のように積み上がってきたのです。</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では、その速さは何から生まれたのでしょうか。表を横に読むと答えが見えてきます。300系はアルミ合金の車体と誘導電動機で、0系より約30パーセント軽くなりました。N700系は新幹線で初めて車体を傾けるしくみを実用化し、カーブを速く走れるようにしました。N700Aは地震のときにより早く止まるためのブレーキを備え、N700Sは高速鉄道として世界で初めてSiC素子を駆動システムに使っています。軽くする、速く曲がる、確実に止まる。その積み重ねが速さを支えてきました。</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ここからは二つ目の数字、本数の話です。開業のとき、1日の列車は平均60本でした。2025年度は臨時列車を含めて395本。およそ6.6倍です。速さの話だと思っていた方も多いかもしれませんが、実はこの60年のもう一人の主役は本数でした。</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本数を増やしたのは、「のぞみ」の増発です。1時間あたりの片道の「のぞみ」は、1992年度には最大1本でした。2003年10月に品川駅が開業し、全列車が時速270キロで走れるようになると、7本に増えます。2019年度には12本、そして2026年3月のダイヤ改正で13本になりました。車両の性能をそろえ、駅をひとつ増やすことで、同じ線路にもっと多くの列車を走らせられるようになったのです。</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本数が増えた結果、どれだけの人を運んだのでしょうか。これは輸送人キロという、乗った人数に乗った距離を掛けた数字です。2020年度はコロナ禍で182億人キロまで落ち込みました。それでも2025年度には609億人キロと、コロナ前の2018年度の563億人キロを上回っています。資料の最も古い1987年度の321億人キロと比べると、約1.9倍です。2025年度の輸送人員は、1日あたり50万4千人、年間では1億8400万人にのぼります。</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これだけの本数を走らせながら、遅れは1列車あたり平均1.0分でした。しかもこの数字には、台風や地震など自然災害による遅れも含まれています。東京圏と大阪圏のあいだの1日の輸送力は、新幹線がおよそ38万席、航空はおよそ3万席で、約13倍の差があります。対航空のシェアは鉄道が86パーセントです。さらに1座席あたりで比べると、東京から大阪まで移動するエネルギーは航空機の約8分の1、二酸化炭素は約12分の1です。たくさん、正確に、そして環境にもやさしく運んでいることがわかりま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そして四つ目の数字です。開業以来の60年間、乗車中のお客様が亡くなったりけがをしたりする列車事故は、一度も起きていません。ゼロです。これまで見てきた速さも本数も、すべてこの前提の上に成り立っています。では、地震の多い国で、この記録はどうやって守られてきたのでしょうか。</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答えの一つが、大きな揺れが来る前に列車を止めるしくみです。地震が起きると、まず小さな揺れ、P波が伝わってきます。これを線路から離れた遠方地震計、線路沿いの沿線地震計、そして気象庁の緊急地震速報で捉え、変電所からの送電を止めます。電気が止まると、列車は自動的に非常ブレーキをかけて停止します。2017年の発表時点で、遠方地震計は21か所、沿線地震計は50か所でした。さらに、地震の規模や震央の推定に必要なデータを2秒から1秒に短縮し、海底の地震観測網を使うことで、南海トラフでは最大約15秒、日本海溝では最大約30秒早く地震を捉えられる見込みです。このしくみは「テラス」と呼ばれ、2008年からは緊急地震速報と組み合わせて使われています。</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列車を止めたあとにも、備えがあります。一つは、脱線そのものを防ぐ脱線防止ガードです。2025年度末までに約937キロで敷設が終わり、2028年度までに全線で完了する見込みです。万一脱線しても大きくそれないようにする逸脱防止ストッパは、すでに全車両に付いています。高架橋の柱約1万9600本、橋脚約900基、盛土約9.4キロの耐震補強も完了しました。そして開業から時間がたった構造物を長く使い続けるため、2013年度からは大規模な改修工事も進めています。</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最後に、次の60年です。JR東海は、超電導リニアによる中央新幹線を計画しています。営業速度は時速500キロ、品川から名古屋までは最速86分が40分に、品川から大阪までは134分が67分になる計画です。目的は、開業から60年以上たった東海道新幹線の老朽化と、巨大地震などの大災害に備えて、大動脈を二本にすることです。技術開発は国の評価委員会で完了と評価され、工事の契約や用地の取得も進んでいます。一方で、静岡工区のトンネル掘削に着手する見込みが立っておらず、新しい開業時期は見通せません。総工事費も7.04兆円から11.0兆円になる見通しが示されています。決まっていることと、まだ見通せないことを分けて見ておくことが大切です。</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東海道新幹線の60年は、速さだけの歴史ではありませんでした。速さ、本数、正確さ、安全を同時に積み上げてきた60年です。そして次の60年は、この大動脈を二重にして守る段階に入っています。今日の数字の出典は、このページのリンクからすべて確かめられます。ご清聴ありがとうございました。</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tokaido_shinkansen_60_ja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tokaido_shinkansen_60_ja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a:solidFill>
            <a:schemeClr val="tx1"/>
          </a:solidFill>
          <a:latin typeface="+mn-lt"/>
          <a:ea typeface="+mn-ea"/>
          <a:cs typeface="+mn-cs"/>
        </a:defRPr>
      </a:lvl9pPr>
    </p:bodyStyle>
    <p:otherStyle>
      <a:defPPr>
        <a:defRPr lang="en-US"/>
      </a:defPPr>
      <a:lvl1pPr marL="0" algn="l" defTabSz="457200" rtl="0" eaLnBrk="1" latinLnBrk="0" hangingPunct="1">
        <a:defRPr sz="2100" kern="1200">
          <a:solidFill>
            <a:schemeClr val="tx1"/>
          </a:solidFill>
          <a:latin typeface="+mn-lt"/>
          <a:ea typeface="+mn-ea"/>
          <a:cs typeface="+mn-cs"/>
        </a:defRPr>
      </a:lvl1pPr>
      <a:lvl2pPr marL="457200" algn="l" defTabSz="457200" rtl="0" eaLnBrk="1" latinLnBrk="0" hangingPunct="1">
        <a:defRPr sz="1950" kern="1200">
          <a:solidFill>
            <a:schemeClr val="tx1"/>
          </a:solidFill>
          <a:latin typeface="+mn-lt"/>
          <a:ea typeface="+mn-ea"/>
          <a:cs typeface="+mn-cs"/>
        </a:defRPr>
      </a:lvl2pPr>
      <a:lvl3pPr marL="914400" algn="l" defTabSz="457200" rtl="0" eaLnBrk="1" latinLnBrk="0" hangingPunct="1">
        <a:defRPr sz="1850" kern="1200">
          <a:solidFill>
            <a:schemeClr val="tx1"/>
          </a:solidFill>
          <a:latin typeface="+mn-lt"/>
          <a:ea typeface="+mn-ea"/>
          <a:cs typeface="+mn-cs"/>
        </a:defRPr>
      </a:lvl3pPr>
      <a:lvl4pPr marL="1371600" algn="l" defTabSz="457200" rtl="0" eaLnBrk="1" latinLnBrk="0" hangingPunct="1">
        <a:defRPr sz="1700" kern="1200">
          <a:solidFill>
            <a:schemeClr val="tx1"/>
          </a:solidFill>
          <a:latin typeface="+mn-lt"/>
          <a:ea typeface="+mn-ea"/>
          <a:cs typeface="+mn-cs"/>
        </a:defRPr>
      </a:lvl4pPr>
      <a:lvl5pPr marL="1828800" algn="l" defTabSz="457200" rtl="0" eaLnBrk="1" latinLnBrk="0" hangingPunct="1">
        <a:defRPr sz="1600" kern="1200">
          <a:solidFill>
            <a:schemeClr val="tx1"/>
          </a:solidFill>
          <a:latin typeface="+mn-lt"/>
          <a:ea typeface="+mn-ea"/>
          <a:cs typeface="+mn-cs"/>
        </a:defRPr>
      </a:lvl5pPr>
      <a:lvl6pPr marL="2286000" algn="l" defTabSz="457200" rtl="0" eaLnBrk="1" latinLnBrk="0" hangingPunct="1">
        <a:defRPr sz="1450" kern="1200">
          <a:solidFill>
            <a:schemeClr val="tx1"/>
          </a:solidFill>
          <a:latin typeface="+mn-lt"/>
          <a:ea typeface="+mn-ea"/>
          <a:cs typeface="+mn-cs"/>
        </a:defRPr>
      </a:lvl6pPr>
      <a:lvl7pPr marL="2743200" algn="l" defTabSz="457200" rtl="0" eaLnBrk="1" latinLnBrk="0" hangingPunct="1">
        <a:defRPr sz="13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0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e03a0d58055c51b.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301.xml"/>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b185987de111b41.jp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901.xml"/>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4999b527d94b460.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3d145ab437d6734.jp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company.jr-central.co.jp/ir/factsheets/_pdf/factsheets2026-02-01.pdf" TargetMode="External"/>
  <Relationship Id="rId3" Type="http://schemas.openxmlformats.org/officeDocument/2006/relationships/hyperlink" Target="https://company.jr-central.co.jp/ir/factsheets/_pdf/factsheets2026-03.pdf" TargetMode="External"/>
  <Relationship Id="rId4" Type="http://schemas.openxmlformats.org/officeDocument/2006/relationships/hyperlink" Target="https://company.jr-central.co.jp/ir/factsheets/_pdf/factsheets2026-07.pdf" TargetMode="External"/>
  <Relationship Id="rId5" Type="http://schemas.openxmlformats.org/officeDocument/2006/relationships/hyperlink" Target="https://saiyo.jr-central.co.jp/company/business/shinkansen.html" TargetMode="External"/>
  <Relationship Id="rId6" Type="http://schemas.openxmlformats.org/officeDocument/2006/relationships/hyperlink" Target="https://railway.jr-central.co.jp/train/shinkansen/n700s/" TargetMode="External"/>
  <Relationship Id="rId7" Type="http://schemas.openxmlformats.org/officeDocument/2006/relationships/hyperlink" Target="https://jr-central.co.jp/news/release/_pdf/000043174.pdf" TargetMode="External"/>
  <Relationship Id="rId8" Type="http://schemas.openxmlformats.org/officeDocument/2006/relationships/hyperlink" Target="https://jr-central.co.jp/news/release/_pdf/000035513.pdf" TargetMode="External"/>
  <Relationship Id="rId9" Type="http://schemas.openxmlformats.org/officeDocument/2006/relationships/hyperlink" Target="https://jr-central.co.jp/news/release/_pdf/000014824.pdf" TargetMode="External"/>
  <Relationship Id="rId10" Type="http://schemas.openxmlformats.org/officeDocument/2006/relationships/hyperlink" Target="https://www.jstage.jst.go.jp/article/jsmemag/120/1179/120_10/_pdf/-char/ja" TargetMode="External"/>
  <Relationship Id="rId11"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5" name="Group 55"/>
          <p:cNvGrpSpPr/>
          <p:nvPr/>
        </p:nvGrpSpPr>
        <p:grpSpPr>
          <a:xfrm>
            <a:off x="25718" y="25718"/>
            <a:ext cx="1948815" cy="1127759"/>
            <a:chOff x="25718" y="25718"/>
            <a:chExt cx="1948815" cy="1127759"/>
          </a:xfrm>
        </p:grpSpPr>
        <p:sp>
          <p:nvSpPr>
            <p:cNvPr id="2" name="Ellipse 2"/>
            <p:cNvSpPr/>
            <p:nvPr/>
          </p:nvSpPr>
          <p:spPr>
            <a:xfrm>
              <a:off x="25718" y="25718"/>
              <a:ext cx="100965" cy="100965"/>
            </a:xfrm>
            <a:prstGeom prst="ellipse">
              <a:avLst/>
            </a:prstGeom>
            <a:solidFill>
              <a:schemeClr val="accent3">
                <a:alpha val="55000"/>
              </a:schemeClr>
            </a:solidFill>
            <a:ln>
              <a:noFill/>
            </a:ln>
          </p:spPr>
        </p:sp>
        <p:sp>
          <p:nvSpPr>
            <p:cNvPr id="3" name="Ellipse 3"/>
            <p:cNvSpPr/>
            <p:nvPr/>
          </p:nvSpPr>
          <p:spPr>
            <a:xfrm>
              <a:off x="29527" y="239078"/>
              <a:ext cx="93345" cy="93345"/>
            </a:xfrm>
            <a:prstGeom prst="ellipse">
              <a:avLst/>
            </a:prstGeom>
            <a:solidFill>
              <a:schemeClr val="accent3">
                <a:alpha val="55000"/>
              </a:schemeClr>
            </a:solidFill>
            <a:ln>
              <a:noFill/>
            </a:ln>
          </p:spPr>
        </p:sp>
        <p:sp>
          <p:nvSpPr>
            <p:cNvPr id="4" name="Ellipse 4"/>
            <p:cNvSpPr/>
            <p:nvPr/>
          </p:nvSpPr>
          <p:spPr>
            <a:xfrm>
              <a:off x="34290" y="453390"/>
              <a:ext cx="83820" cy="83820"/>
            </a:xfrm>
            <a:prstGeom prst="ellipse">
              <a:avLst/>
            </a:prstGeom>
            <a:solidFill>
              <a:schemeClr val="accent3">
                <a:alpha val="55000"/>
              </a:schemeClr>
            </a:solidFill>
            <a:ln>
              <a:noFill/>
            </a:ln>
          </p:spPr>
        </p:sp>
        <p:sp>
          <p:nvSpPr>
            <p:cNvPr id="5" name="Ellipse 5"/>
            <p:cNvSpPr/>
            <p:nvPr/>
          </p:nvSpPr>
          <p:spPr>
            <a:xfrm>
              <a:off x="38100" y="666750"/>
              <a:ext cx="76200" cy="76200"/>
            </a:xfrm>
            <a:prstGeom prst="ellipse">
              <a:avLst/>
            </a:prstGeom>
            <a:solidFill>
              <a:schemeClr val="accent3">
                <a:alpha val="55000"/>
              </a:schemeClr>
            </a:solidFill>
            <a:ln>
              <a:noFill/>
            </a:ln>
          </p:spPr>
        </p:sp>
        <p:sp>
          <p:nvSpPr>
            <p:cNvPr id="6" name="Ellipse 6"/>
            <p:cNvSpPr/>
            <p:nvPr/>
          </p:nvSpPr>
          <p:spPr>
            <a:xfrm>
              <a:off x="42862" y="881062"/>
              <a:ext cx="66675" cy="66675"/>
            </a:xfrm>
            <a:prstGeom prst="ellipse">
              <a:avLst/>
            </a:prstGeom>
            <a:solidFill>
              <a:schemeClr val="accent3">
                <a:alpha val="55000"/>
              </a:schemeClr>
            </a:solidFill>
            <a:ln>
              <a:noFill/>
            </a:ln>
          </p:spPr>
        </p:sp>
        <p:sp>
          <p:nvSpPr>
            <p:cNvPr id="7" name="Ellipse 7"/>
            <p:cNvSpPr/>
            <p:nvPr/>
          </p:nvSpPr>
          <p:spPr>
            <a:xfrm>
              <a:off x="46672" y="1094422"/>
              <a:ext cx="59055" cy="59055"/>
            </a:xfrm>
            <a:prstGeom prst="ellipse">
              <a:avLst/>
            </a:prstGeom>
            <a:solidFill>
              <a:schemeClr val="accent3">
                <a:alpha val="55000"/>
              </a:schemeClr>
            </a:solidFill>
            <a:ln>
              <a:noFill/>
            </a:ln>
          </p:spPr>
        </p:sp>
        <p:sp>
          <p:nvSpPr>
            <p:cNvPr id="8" name="Ellipse 8"/>
            <p:cNvSpPr/>
            <p:nvPr/>
          </p:nvSpPr>
          <p:spPr>
            <a:xfrm>
              <a:off x="239078" y="29527"/>
              <a:ext cx="93345" cy="93345"/>
            </a:xfrm>
            <a:prstGeom prst="ellipse">
              <a:avLst/>
            </a:prstGeom>
            <a:solidFill>
              <a:schemeClr val="accent3">
                <a:alpha val="55000"/>
              </a:schemeClr>
            </a:solidFill>
            <a:ln>
              <a:noFill/>
            </a:ln>
          </p:spPr>
        </p:sp>
        <p:sp>
          <p:nvSpPr>
            <p:cNvPr id="9" name="Ellipse 9"/>
            <p:cNvSpPr/>
            <p:nvPr/>
          </p:nvSpPr>
          <p:spPr>
            <a:xfrm>
              <a:off x="241935" y="241935"/>
              <a:ext cx="87630" cy="87630"/>
            </a:xfrm>
            <a:prstGeom prst="ellipse">
              <a:avLst/>
            </a:prstGeom>
            <a:solidFill>
              <a:schemeClr val="accent3">
                <a:alpha val="55000"/>
              </a:schemeClr>
            </a:solidFill>
            <a:ln>
              <a:noFill/>
            </a:ln>
          </p:spPr>
        </p:sp>
        <p:sp>
          <p:nvSpPr>
            <p:cNvPr id="10" name="Ellipse 10"/>
            <p:cNvSpPr/>
            <p:nvPr/>
          </p:nvSpPr>
          <p:spPr>
            <a:xfrm>
              <a:off x="244792" y="454342"/>
              <a:ext cx="81915" cy="81915"/>
            </a:xfrm>
            <a:prstGeom prst="ellipse">
              <a:avLst/>
            </a:prstGeom>
            <a:solidFill>
              <a:schemeClr val="accent3">
                <a:alpha val="55000"/>
              </a:schemeClr>
            </a:solidFill>
            <a:ln>
              <a:noFill/>
            </a:ln>
          </p:spPr>
        </p:sp>
        <p:sp>
          <p:nvSpPr>
            <p:cNvPr id="11" name="Ellipse 11"/>
            <p:cNvSpPr/>
            <p:nvPr/>
          </p:nvSpPr>
          <p:spPr>
            <a:xfrm>
              <a:off x="248602" y="667702"/>
              <a:ext cx="74295" cy="74295"/>
            </a:xfrm>
            <a:prstGeom prst="ellipse">
              <a:avLst/>
            </a:prstGeom>
            <a:solidFill>
              <a:schemeClr val="accent3">
                <a:alpha val="55000"/>
              </a:schemeClr>
            </a:solidFill>
            <a:ln>
              <a:noFill/>
            </a:ln>
          </p:spPr>
        </p:sp>
        <p:sp>
          <p:nvSpPr>
            <p:cNvPr id="12" name="Ellipse 12"/>
            <p:cNvSpPr/>
            <p:nvPr/>
          </p:nvSpPr>
          <p:spPr>
            <a:xfrm>
              <a:off x="252412" y="881062"/>
              <a:ext cx="66675" cy="66675"/>
            </a:xfrm>
            <a:prstGeom prst="ellipse">
              <a:avLst/>
            </a:prstGeom>
            <a:solidFill>
              <a:schemeClr val="accent3">
                <a:alpha val="55000"/>
              </a:schemeClr>
            </a:solidFill>
            <a:ln>
              <a:noFill/>
            </a:ln>
          </p:spPr>
        </p:sp>
        <p:sp>
          <p:nvSpPr>
            <p:cNvPr id="13" name="Ellipse 13"/>
            <p:cNvSpPr/>
            <p:nvPr/>
          </p:nvSpPr>
          <p:spPr>
            <a:xfrm>
              <a:off x="257175" y="1095375"/>
              <a:ext cx="57150" cy="57150"/>
            </a:xfrm>
            <a:prstGeom prst="ellipse">
              <a:avLst/>
            </a:prstGeom>
            <a:solidFill>
              <a:schemeClr val="accent3">
                <a:alpha val="55000"/>
              </a:schemeClr>
            </a:solidFill>
            <a:ln>
              <a:noFill/>
            </a:ln>
          </p:spPr>
        </p:sp>
        <p:sp>
          <p:nvSpPr>
            <p:cNvPr id="14" name="Ellipse 14"/>
            <p:cNvSpPr/>
            <p:nvPr/>
          </p:nvSpPr>
          <p:spPr>
            <a:xfrm>
              <a:off x="453390" y="34290"/>
              <a:ext cx="83820" cy="83820"/>
            </a:xfrm>
            <a:prstGeom prst="ellipse">
              <a:avLst/>
            </a:prstGeom>
            <a:solidFill>
              <a:schemeClr val="accent3">
                <a:alpha val="55000"/>
              </a:schemeClr>
            </a:solidFill>
            <a:ln>
              <a:noFill/>
            </a:ln>
          </p:spPr>
        </p:sp>
        <p:sp>
          <p:nvSpPr>
            <p:cNvPr id="15" name="Ellipse 15"/>
            <p:cNvSpPr/>
            <p:nvPr/>
          </p:nvSpPr>
          <p:spPr>
            <a:xfrm>
              <a:off x="454342" y="244792"/>
              <a:ext cx="81915" cy="81915"/>
            </a:xfrm>
            <a:prstGeom prst="ellipse">
              <a:avLst/>
            </a:prstGeom>
            <a:solidFill>
              <a:schemeClr val="accent3">
                <a:alpha val="55000"/>
              </a:schemeClr>
            </a:solidFill>
            <a:ln>
              <a:noFill/>
            </a:ln>
          </p:spPr>
        </p:sp>
        <p:sp>
          <p:nvSpPr>
            <p:cNvPr id="16" name="Ellipse 16"/>
            <p:cNvSpPr/>
            <p:nvPr/>
          </p:nvSpPr>
          <p:spPr>
            <a:xfrm>
              <a:off x="457200" y="457200"/>
              <a:ext cx="76200" cy="76200"/>
            </a:xfrm>
            <a:prstGeom prst="ellipse">
              <a:avLst/>
            </a:prstGeom>
            <a:solidFill>
              <a:schemeClr val="accent3">
                <a:alpha val="55000"/>
              </a:schemeClr>
            </a:solidFill>
            <a:ln>
              <a:noFill/>
            </a:ln>
          </p:spPr>
        </p:sp>
        <p:sp>
          <p:nvSpPr>
            <p:cNvPr id="17" name="Ellipse 17"/>
            <p:cNvSpPr/>
            <p:nvPr/>
          </p:nvSpPr>
          <p:spPr>
            <a:xfrm>
              <a:off x="460058" y="669608"/>
              <a:ext cx="70485" cy="70485"/>
            </a:xfrm>
            <a:prstGeom prst="ellipse">
              <a:avLst/>
            </a:prstGeom>
            <a:solidFill>
              <a:schemeClr val="accent3">
                <a:alpha val="55000"/>
              </a:schemeClr>
            </a:solidFill>
            <a:ln>
              <a:noFill/>
            </a:ln>
          </p:spPr>
        </p:sp>
        <p:sp>
          <p:nvSpPr>
            <p:cNvPr id="18" name="Ellipse 18"/>
            <p:cNvSpPr/>
            <p:nvPr/>
          </p:nvSpPr>
          <p:spPr>
            <a:xfrm>
              <a:off x="463868" y="882968"/>
              <a:ext cx="62865" cy="62865"/>
            </a:xfrm>
            <a:prstGeom prst="ellipse">
              <a:avLst/>
            </a:prstGeom>
            <a:solidFill>
              <a:schemeClr val="accent3">
                <a:alpha val="55000"/>
              </a:schemeClr>
            </a:solidFill>
            <a:ln>
              <a:noFill/>
            </a:ln>
          </p:spPr>
        </p:sp>
        <p:sp>
          <p:nvSpPr>
            <p:cNvPr id="19" name="Ellipse 19"/>
            <p:cNvSpPr/>
            <p:nvPr/>
          </p:nvSpPr>
          <p:spPr>
            <a:xfrm>
              <a:off x="467678" y="1096328"/>
              <a:ext cx="55245" cy="55245"/>
            </a:xfrm>
            <a:prstGeom prst="ellipse">
              <a:avLst/>
            </a:prstGeom>
            <a:solidFill>
              <a:schemeClr val="accent3">
                <a:alpha val="55000"/>
              </a:schemeClr>
            </a:solidFill>
            <a:ln>
              <a:noFill/>
            </a:ln>
          </p:spPr>
        </p:sp>
        <p:sp>
          <p:nvSpPr>
            <p:cNvPr id="20" name="Ellipse 20"/>
            <p:cNvSpPr/>
            <p:nvPr/>
          </p:nvSpPr>
          <p:spPr>
            <a:xfrm>
              <a:off x="666750" y="38100"/>
              <a:ext cx="76200" cy="76200"/>
            </a:xfrm>
            <a:prstGeom prst="ellipse">
              <a:avLst/>
            </a:prstGeom>
            <a:solidFill>
              <a:schemeClr val="accent3">
                <a:alpha val="55000"/>
              </a:schemeClr>
            </a:solidFill>
            <a:ln>
              <a:noFill/>
            </a:ln>
          </p:spPr>
        </p:sp>
        <p:sp>
          <p:nvSpPr>
            <p:cNvPr id="21" name="Ellipse 21"/>
            <p:cNvSpPr/>
            <p:nvPr/>
          </p:nvSpPr>
          <p:spPr>
            <a:xfrm>
              <a:off x="667702" y="248602"/>
              <a:ext cx="74295" cy="74295"/>
            </a:xfrm>
            <a:prstGeom prst="ellipse">
              <a:avLst/>
            </a:prstGeom>
            <a:solidFill>
              <a:schemeClr val="accent3">
                <a:alpha val="55000"/>
              </a:schemeClr>
            </a:solidFill>
            <a:ln>
              <a:noFill/>
            </a:ln>
          </p:spPr>
        </p:sp>
        <p:sp>
          <p:nvSpPr>
            <p:cNvPr id="22" name="Ellipse 22"/>
            <p:cNvSpPr/>
            <p:nvPr/>
          </p:nvSpPr>
          <p:spPr>
            <a:xfrm>
              <a:off x="669608" y="460058"/>
              <a:ext cx="70485" cy="70485"/>
            </a:xfrm>
            <a:prstGeom prst="ellipse">
              <a:avLst/>
            </a:prstGeom>
            <a:solidFill>
              <a:schemeClr val="accent3">
                <a:alpha val="55000"/>
              </a:schemeClr>
            </a:solidFill>
            <a:ln>
              <a:noFill/>
            </a:ln>
          </p:spPr>
        </p:sp>
        <p:sp>
          <p:nvSpPr>
            <p:cNvPr id="23" name="Ellipse 23"/>
            <p:cNvSpPr/>
            <p:nvPr/>
          </p:nvSpPr>
          <p:spPr>
            <a:xfrm>
              <a:off x="672465" y="672465"/>
              <a:ext cx="64770" cy="64770"/>
            </a:xfrm>
            <a:prstGeom prst="ellipse">
              <a:avLst/>
            </a:prstGeom>
            <a:solidFill>
              <a:schemeClr val="accent3">
                <a:alpha val="55000"/>
              </a:schemeClr>
            </a:solidFill>
            <a:ln>
              <a:noFill/>
            </a:ln>
          </p:spPr>
        </p:sp>
        <p:sp>
          <p:nvSpPr>
            <p:cNvPr id="24" name="Ellipse 24"/>
            <p:cNvSpPr/>
            <p:nvPr/>
          </p:nvSpPr>
          <p:spPr>
            <a:xfrm>
              <a:off x="676275" y="885825"/>
              <a:ext cx="57150" cy="57150"/>
            </a:xfrm>
            <a:prstGeom prst="ellipse">
              <a:avLst/>
            </a:prstGeom>
            <a:solidFill>
              <a:schemeClr val="accent3">
                <a:alpha val="55000"/>
              </a:schemeClr>
            </a:solidFill>
            <a:ln>
              <a:noFill/>
            </a:ln>
          </p:spPr>
        </p:sp>
        <p:sp>
          <p:nvSpPr>
            <p:cNvPr id="25" name="Ellipse 25"/>
            <p:cNvSpPr/>
            <p:nvPr/>
          </p:nvSpPr>
          <p:spPr>
            <a:xfrm>
              <a:off x="679132" y="1098232"/>
              <a:ext cx="51435" cy="51435"/>
            </a:xfrm>
            <a:prstGeom prst="ellipse">
              <a:avLst/>
            </a:prstGeom>
            <a:solidFill>
              <a:schemeClr val="accent3">
                <a:alpha val="55000"/>
              </a:schemeClr>
            </a:solidFill>
            <a:ln>
              <a:noFill/>
            </a:ln>
          </p:spPr>
        </p:sp>
        <p:sp>
          <p:nvSpPr>
            <p:cNvPr id="26" name="Ellipse 26"/>
            <p:cNvSpPr/>
            <p:nvPr/>
          </p:nvSpPr>
          <p:spPr>
            <a:xfrm>
              <a:off x="881062" y="42862"/>
              <a:ext cx="66675" cy="66675"/>
            </a:xfrm>
            <a:prstGeom prst="ellipse">
              <a:avLst/>
            </a:prstGeom>
            <a:solidFill>
              <a:schemeClr val="accent3">
                <a:alpha val="55000"/>
              </a:schemeClr>
            </a:solidFill>
            <a:ln>
              <a:noFill/>
            </a:ln>
          </p:spPr>
        </p:sp>
        <p:sp>
          <p:nvSpPr>
            <p:cNvPr id="27" name="Ellipse 27"/>
            <p:cNvSpPr/>
            <p:nvPr/>
          </p:nvSpPr>
          <p:spPr>
            <a:xfrm>
              <a:off x="881062" y="252412"/>
              <a:ext cx="66675" cy="66675"/>
            </a:xfrm>
            <a:prstGeom prst="ellipse">
              <a:avLst/>
            </a:prstGeom>
            <a:solidFill>
              <a:schemeClr val="accent3">
                <a:alpha val="55000"/>
              </a:schemeClr>
            </a:solidFill>
            <a:ln>
              <a:noFill/>
            </a:ln>
          </p:spPr>
        </p:sp>
        <p:sp>
          <p:nvSpPr>
            <p:cNvPr id="28" name="Ellipse 28"/>
            <p:cNvSpPr/>
            <p:nvPr/>
          </p:nvSpPr>
          <p:spPr>
            <a:xfrm>
              <a:off x="882968" y="463868"/>
              <a:ext cx="62865" cy="62865"/>
            </a:xfrm>
            <a:prstGeom prst="ellipse">
              <a:avLst/>
            </a:prstGeom>
            <a:solidFill>
              <a:schemeClr val="accent3">
                <a:alpha val="55000"/>
              </a:schemeClr>
            </a:solidFill>
            <a:ln>
              <a:noFill/>
            </a:ln>
          </p:spPr>
        </p:sp>
        <p:sp>
          <p:nvSpPr>
            <p:cNvPr id="29" name="Ellipse 29"/>
            <p:cNvSpPr/>
            <p:nvPr/>
          </p:nvSpPr>
          <p:spPr>
            <a:xfrm>
              <a:off x="885825" y="676275"/>
              <a:ext cx="57150" cy="57150"/>
            </a:xfrm>
            <a:prstGeom prst="ellipse">
              <a:avLst/>
            </a:prstGeom>
            <a:solidFill>
              <a:schemeClr val="accent3">
                <a:alpha val="55000"/>
              </a:schemeClr>
            </a:solidFill>
            <a:ln>
              <a:noFill/>
            </a:ln>
          </p:spPr>
        </p:sp>
        <p:sp>
          <p:nvSpPr>
            <p:cNvPr id="30" name="Ellipse 30"/>
            <p:cNvSpPr/>
            <p:nvPr/>
          </p:nvSpPr>
          <p:spPr>
            <a:xfrm>
              <a:off x="888682" y="888682"/>
              <a:ext cx="51435" cy="51435"/>
            </a:xfrm>
            <a:prstGeom prst="ellipse">
              <a:avLst/>
            </a:prstGeom>
            <a:solidFill>
              <a:schemeClr val="accent3">
                <a:alpha val="55000"/>
              </a:schemeClr>
            </a:solidFill>
            <a:ln>
              <a:noFill/>
            </a:ln>
          </p:spPr>
        </p:sp>
        <p:sp>
          <p:nvSpPr>
            <p:cNvPr id="31" name="Ellipse 31"/>
            <p:cNvSpPr/>
            <p:nvPr/>
          </p:nvSpPr>
          <p:spPr>
            <a:xfrm>
              <a:off x="891540" y="1101090"/>
              <a:ext cx="45720" cy="45720"/>
            </a:xfrm>
            <a:prstGeom prst="ellipse">
              <a:avLst/>
            </a:prstGeom>
            <a:solidFill>
              <a:schemeClr val="accent3">
                <a:alpha val="55000"/>
              </a:schemeClr>
            </a:solidFill>
            <a:ln>
              <a:noFill/>
            </a:ln>
          </p:spPr>
        </p:sp>
        <p:sp>
          <p:nvSpPr>
            <p:cNvPr id="32" name="Ellipse 32"/>
            <p:cNvSpPr/>
            <p:nvPr/>
          </p:nvSpPr>
          <p:spPr>
            <a:xfrm>
              <a:off x="1094422" y="46672"/>
              <a:ext cx="59055" cy="59055"/>
            </a:xfrm>
            <a:prstGeom prst="ellipse">
              <a:avLst/>
            </a:prstGeom>
            <a:solidFill>
              <a:schemeClr val="accent3">
                <a:alpha val="55000"/>
              </a:schemeClr>
            </a:solidFill>
            <a:ln>
              <a:noFill/>
            </a:ln>
          </p:spPr>
        </p:sp>
        <p:sp>
          <p:nvSpPr>
            <p:cNvPr id="33" name="Ellipse 33"/>
            <p:cNvSpPr/>
            <p:nvPr/>
          </p:nvSpPr>
          <p:spPr>
            <a:xfrm>
              <a:off x="1095375" y="257175"/>
              <a:ext cx="57150" cy="57150"/>
            </a:xfrm>
            <a:prstGeom prst="ellipse">
              <a:avLst/>
            </a:prstGeom>
            <a:solidFill>
              <a:schemeClr val="accent3">
                <a:alpha val="55000"/>
              </a:schemeClr>
            </a:solidFill>
            <a:ln>
              <a:noFill/>
            </a:ln>
          </p:spPr>
        </p:sp>
        <p:sp>
          <p:nvSpPr>
            <p:cNvPr id="34" name="Ellipse 34"/>
            <p:cNvSpPr/>
            <p:nvPr/>
          </p:nvSpPr>
          <p:spPr>
            <a:xfrm>
              <a:off x="1096328" y="467678"/>
              <a:ext cx="55245" cy="55245"/>
            </a:xfrm>
            <a:prstGeom prst="ellipse">
              <a:avLst/>
            </a:prstGeom>
            <a:solidFill>
              <a:schemeClr val="accent3">
                <a:alpha val="55000"/>
              </a:schemeClr>
            </a:solidFill>
            <a:ln>
              <a:noFill/>
            </a:ln>
          </p:spPr>
        </p:sp>
        <p:sp>
          <p:nvSpPr>
            <p:cNvPr id="35" name="Ellipse 35"/>
            <p:cNvSpPr/>
            <p:nvPr/>
          </p:nvSpPr>
          <p:spPr>
            <a:xfrm>
              <a:off x="1098232" y="679132"/>
              <a:ext cx="51435" cy="51435"/>
            </a:xfrm>
            <a:prstGeom prst="ellipse">
              <a:avLst/>
            </a:prstGeom>
            <a:solidFill>
              <a:schemeClr val="accent3">
                <a:alpha val="55000"/>
              </a:schemeClr>
            </a:solidFill>
            <a:ln>
              <a:noFill/>
            </a:ln>
          </p:spPr>
        </p:sp>
        <p:sp>
          <p:nvSpPr>
            <p:cNvPr id="36" name="Ellipse 36"/>
            <p:cNvSpPr/>
            <p:nvPr/>
          </p:nvSpPr>
          <p:spPr>
            <a:xfrm>
              <a:off x="1101090" y="891540"/>
              <a:ext cx="45720" cy="45720"/>
            </a:xfrm>
            <a:prstGeom prst="ellipse">
              <a:avLst/>
            </a:prstGeom>
            <a:solidFill>
              <a:schemeClr val="accent3">
                <a:alpha val="55000"/>
              </a:schemeClr>
            </a:solidFill>
            <a:ln>
              <a:noFill/>
            </a:ln>
          </p:spPr>
        </p:sp>
        <p:sp>
          <p:nvSpPr>
            <p:cNvPr id="37" name="Ellipse 37"/>
            <p:cNvSpPr/>
            <p:nvPr/>
          </p:nvSpPr>
          <p:spPr>
            <a:xfrm>
              <a:off x="1103948" y="1103948"/>
              <a:ext cx="40005" cy="40005"/>
            </a:xfrm>
            <a:prstGeom prst="ellipse">
              <a:avLst/>
            </a:prstGeom>
            <a:solidFill>
              <a:schemeClr val="accent3">
                <a:alpha val="55000"/>
              </a:schemeClr>
            </a:solidFill>
            <a:ln>
              <a:noFill/>
            </a:ln>
          </p:spPr>
        </p:sp>
        <p:sp>
          <p:nvSpPr>
            <p:cNvPr id="38" name="Ellipse 38"/>
            <p:cNvSpPr/>
            <p:nvPr/>
          </p:nvSpPr>
          <p:spPr>
            <a:xfrm>
              <a:off x="1308735" y="51435"/>
              <a:ext cx="49530" cy="49530"/>
            </a:xfrm>
            <a:prstGeom prst="ellipse">
              <a:avLst/>
            </a:prstGeom>
            <a:solidFill>
              <a:schemeClr val="accent3">
                <a:alpha val="55000"/>
              </a:schemeClr>
            </a:solidFill>
            <a:ln>
              <a:noFill/>
            </a:ln>
          </p:spPr>
        </p:sp>
        <p:sp>
          <p:nvSpPr>
            <p:cNvPr id="39" name="Ellipse 39"/>
            <p:cNvSpPr/>
            <p:nvPr/>
          </p:nvSpPr>
          <p:spPr>
            <a:xfrm>
              <a:off x="1308735" y="260985"/>
              <a:ext cx="49530" cy="49530"/>
            </a:xfrm>
            <a:prstGeom prst="ellipse">
              <a:avLst/>
            </a:prstGeom>
            <a:solidFill>
              <a:schemeClr val="accent3">
                <a:alpha val="55000"/>
              </a:schemeClr>
            </a:solidFill>
            <a:ln>
              <a:noFill/>
            </a:ln>
          </p:spPr>
        </p:sp>
        <p:sp>
          <p:nvSpPr>
            <p:cNvPr id="40" name="Ellipse 40"/>
            <p:cNvSpPr/>
            <p:nvPr/>
          </p:nvSpPr>
          <p:spPr>
            <a:xfrm>
              <a:off x="1309688" y="471488"/>
              <a:ext cx="47625" cy="47625"/>
            </a:xfrm>
            <a:prstGeom prst="ellipse">
              <a:avLst/>
            </a:prstGeom>
            <a:solidFill>
              <a:schemeClr val="accent3">
                <a:alpha val="55000"/>
              </a:schemeClr>
            </a:solidFill>
            <a:ln>
              <a:noFill/>
            </a:ln>
          </p:spPr>
        </p:sp>
        <p:sp>
          <p:nvSpPr>
            <p:cNvPr id="41" name="Ellipse 41"/>
            <p:cNvSpPr/>
            <p:nvPr/>
          </p:nvSpPr>
          <p:spPr>
            <a:xfrm>
              <a:off x="1311592" y="682942"/>
              <a:ext cx="43815" cy="43815"/>
            </a:xfrm>
            <a:prstGeom prst="ellipse">
              <a:avLst/>
            </a:prstGeom>
            <a:solidFill>
              <a:schemeClr val="accent3">
                <a:alpha val="55000"/>
              </a:schemeClr>
            </a:solidFill>
            <a:ln>
              <a:noFill/>
            </a:ln>
          </p:spPr>
        </p:sp>
        <p:sp>
          <p:nvSpPr>
            <p:cNvPr id="42" name="Ellipse 42"/>
            <p:cNvSpPr/>
            <p:nvPr/>
          </p:nvSpPr>
          <p:spPr>
            <a:xfrm>
              <a:off x="1314450" y="895350"/>
              <a:ext cx="38100" cy="38100"/>
            </a:xfrm>
            <a:prstGeom prst="ellipse">
              <a:avLst/>
            </a:prstGeom>
            <a:solidFill>
              <a:schemeClr val="accent3">
                <a:alpha val="55000"/>
              </a:schemeClr>
            </a:solidFill>
            <a:ln>
              <a:noFill/>
            </a:ln>
          </p:spPr>
        </p:sp>
        <p:sp>
          <p:nvSpPr>
            <p:cNvPr id="43" name="Ellipse 43"/>
            <p:cNvSpPr/>
            <p:nvPr/>
          </p:nvSpPr>
          <p:spPr>
            <a:xfrm>
              <a:off x="1316355" y="1106805"/>
              <a:ext cx="34290" cy="34290"/>
            </a:xfrm>
            <a:prstGeom prst="ellipse">
              <a:avLst/>
            </a:prstGeom>
            <a:solidFill>
              <a:schemeClr val="accent3">
                <a:alpha val="55000"/>
              </a:schemeClr>
            </a:solidFill>
            <a:ln>
              <a:noFill/>
            </a:ln>
          </p:spPr>
        </p:sp>
        <p:sp>
          <p:nvSpPr>
            <p:cNvPr id="44" name="Ellipse 44"/>
            <p:cNvSpPr/>
            <p:nvPr/>
          </p:nvSpPr>
          <p:spPr>
            <a:xfrm>
              <a:off x="1522095" y="55245"/>
              <a:ext cx="41910" cy="41910"/>
            </a:xfrm>
            <a:prstGeom prst="ellipse">
              <a:avLst/>
            </a:prstGeom>
            <a:solidFill>
              <a:schemeClr val="accent3">
                <a:alpha val="55000"/>
              </a:schemeClr>
            </a:solidFill>
            <a:ln>
              <a:noFill/>
            </a:ln>
          </p:spPr>
        </p:sp>
        <p:sp>
          <p:nvSpPr>
            <p:cNvPr id="45" name="Ellipse 45"/>
            <p:cNvSpPr/>
            <p:nvPr/>
          </p:nvSpPr>
          <p:spPr>
            <a:xfrm>
              <a:off x="1523048" y="265748"/>
              <a:ext cx="40005" cy="40005"/>
            </a:xfrm>
            <a:prstGeom prst="ellipse">
              <a:avLst/>
            </a:prstGeom>
            <a:solidFill>
              <a:schemeClr val="accent3">
                <a:alpha val="55000"/>
              </a:schemeClr>
            </a:solidFill>
            <a:ln>
              <a:noFill/>
            </a:ln>
          </p:spPr>
        </p:sp>
        <p:sp>
          <p:nvSpPr>
            <p:cNvPr id="46" name="Ellipse 46"/>
            <p:cNvSpPr/>
            <p:nvPr/>
          </p:nvSpPr>
          <p:spPr>
            <a:xfrm>
              <a:off x="1524000" y="476250"/>
              <a:ext cx="38100" cy="38100"/>
            </a:xfrm>
            <a:prstGeom prst="ellipse">
              <a:avLst/>
            </a:prstGeom>
            <a:solidFill>
              <a:schemeClr val="accent3">
                <a:alpha val="55000"/>
              </a:schemeClr>
            </a:solidFill>
            <a:ln>
              <a:noFill/>
            </a:ln>
          </p:spPr>
        </p:sp>
        <p:sp>
          <p:nvSpPr>
            <p:cNvPr id="47" name="Ellipse 47"/>
            <p:cNvSpPr/>
            <p:nvPr/>
          </p:nvSpPr>
          <p:spPr>
            <a:xfrm>
              <a:off x="1524952" y="686752"/>
              <a:ext cx="36195" cy="36195"/>
            </a:xfrm>
            <a:prstGeom prst="ellipse">
              <a:avLst/>
            </a:prstGeom>
            <a:solidFill>
              <a:schemeClr val="accent3">
                <a:alpha val="55000"/>
              </a:schemeClr>
            </a:solidFill>
            <a:ln>
              <a:noFill/>
            </a:ln>
          </p:spPr>
        </p:sp>
        <p:sp>
          <p:nvSpPr>
            <p:cNvPr id="48" name="Ellipse 48"/>
            <p:cNvSpPr/>
            <p:nvPr/>
          </p:nvSpPr>
          <p:spPr>
            <a:xfrm>
              <a:off x="1526858" y="898208"/>
              <a:ext cx="32385" cy="32385"/>
            </a:xfrm>
            <a:prstGeom prst="ellipse">
              <a:avLst/>
            </a:prstGeom>
            <a:solidFill>
              <a:schemeClr val="accent3">
                <a:alpha val="55000"/>
              </a:schemeClr>
            </a:solidFill>
            <a:ln>
              <a:noFill/>
            </a:ln>
          </p:spPr>
        </p:sp>
        <p:sp>
          <p:nvSpPr>
            <p:cNvPr id="49" name="Ellipse 49"/>
            <p:cNvSpPr/>
            <p:nvPr/>
          </p:nvSpPr>
          <p:spPr>
            <a:xfrm>
              <a:off x="1736408" y="60008"/>
              <a:ext cx="32385" cy="32385"/>
            </a:xfrm>
            <a:prstGeom prst="ellipse">
              <a:avLst/>
            </a:prstGeom>
            <a:solidFill>
              <a:schemeClr val="accent3">
                <a:alpha val="55000"/>
              </a:schemeClr>
            </a:solidFill>
            <a:ln>
              <a:noFill/>
            </a:ln>
          </p:spPr>
        </p:sp>
        <p:sp>
          <p:nvSpPr>
            <p:cNvPr id="50" name="Ellipse 50"/>
            <p:cNvSpPr/>
            <p:nvPr/>
          </p:nvSpPr>
          <p:spPr>
            <a:xfrm>
              <a:off x="1736408" y="269558"/>
              <a:ext cx="32385" cy="32385"/>
            </a:xfrm>
            <a:prstGeom prst="ellipse">
              <a:avLst/>
            </a:prstGeom>
            <a:solidFill>
              <a:schemeClr val="accent3">
                <a:alpha val="55000"/>
              </a:schemeClr>
            </a:solidFill>
            <a:ln>
              <a:noFill/>
            </a:ln>
          </p:spPr>
        </p:sp>
        <p:sp>
          <p:nvSpPr>
            <p:cNvPr id="51" name="Ellipse 51"/>
            <p:cNvSpPr/>
            <p:nvPr/>
          </p:nvSpPr>
          <p:spPr>
            <a:xfrm>
              <a:off x="1737360" y="480060"/>
              <a:ext cx="30480" cy="30480"/>
            </a:xfrm>
            <a:prstGeom prst="ellipse">
              <a:avLst/>
            </a:prstGeom>
            <a:solidFill>
              <a:schemeClr val="accent3">
                <a:alpha val="55000"/>
              </a:schemeClr>
            </a:solidFill>
            <a:ln>
              <a:noFill/>
            </a:ln>
          </p:spPr>
        </p:sp>
        <p:sp>
          <p:nvSpPr>
            <p:cNvPr id="52" name="Ellipse 52"/>
            <p:cNvSpPr/>
            <p:nvPr/>
          </p:nvSpPr>
          <p:spPr>
            <a:xfrm>
              <a:off x="1738312" y="690562"/>
              <a:ext cx="28575" cy="28575"/>
            </a:xfrm>
            <a:prstGeom prst="ellipse">
              <a:avLst/>
            </a:prstGeom>
            <a:solidFill>
              <a:schemeClr val="accent3">
                <a:alpha val="55000"/>
              </a:schemeClr>
            </a:solidFill>
            <a:ln>
              <a:noFill/>
            </a:ln>
          </p:spPr>
        </p:sp>
        <p:sp>
          <p:nvSpPr>
            <p:cNvPr id="53" name="Ellipse 53"/>
            <p:cNvSpPr/>
            <p:nvPr/>
          </p:nvSpPr>
          <p:spPr>
            <a:xfrm>
              <a:off x="1949768" y="63818"/>
              <a:ext cx="24765" cy="24765"/>
            </a:xfrm>
            <a:prstGeom prst="ellipse">
              <a:avLst/>
            </a:prstGeom>
            <a:solidFill>
              <a:schemeClr val="accent3">
                <a:alpha val="55000"/>
              </a:schemeClr>
            </a:solidFill>
            <a:ln>
              <a:noFill/>
            </a:ln>
          </p:spPr>
        </p:sp>
        <p:sp>
          <p:nvSpPr>
            <p:cNvPr id="54" name="Ellipse 54"/>
            <p:cNvSpPr/>
            <p:nvPr/>
          </p:nvSpPr>
          <p:spPr>
            <a:xfrm>
              <a:off x="1949768" y="273368"/>
              <a:ext cx="24765" cy="24765"/>
            </a:xfrm>
            <a:prstGeom prst="ellipse">
              <a:avLst/>
            </a:prstGeom>
            <a:solidFill>
              <a:schemeClr val="accent3">
                <a:alpha val="55000"/>
              </a:schemeClr>
            </a:solidFill>
            <a:ln>
              <a:noFill/>
            </a:ln>
          </p:spPr>
        </p:sp>
      </p:grpSp>
      <p:grpSp>
        <p:nvGrpSpPr>
          <p:cNvPr id="57" name="Group 57"/>
          <p:cNvGrpSpPr/>
          <p:nvPr/>
        </p:nvGrpSpPr>
        <p:grpSpPr>
          <a:xfrm>
            <a:off x="1057275" y="409575"/>
            <a:ext cx="10820400" cy="6038850"/>
            <a:chOff x="1057275" y="409575"/>
            <a:chExt cx="10820400" cy="6038850"/>
          </a:xfrm>
        </p:grpSpPr>
        <p:pic>
          <p:nvPicPr>
            <p:cNvPr id="56" name="Image 56"/>
            <p:cNvPicPr>
              <a:picLocks noChangeAspect="1"/>
            </p:cNvPicPr>
            <p:nvPr/>
          </p:nvPicPr>
          <p:blipFill>
            <a:blip r:embed="rId2"/>
            <a:stretch>
              <a:fillRect/>
            </a:stretch>
          </p:blipFill>
          <p:spPr>
            <a:xfrm>
              <a:off x="1057275" y="409575"/>
              <a:ext cx="10820400" cy="6038850"/>
            </a:xfrm>
            <a:custGeom>
              <a:avLst/>
              <a:gdLst/>
              <a:ahLst/>
              <a:cxnLst/>
              <a:rect l="l" t="t" r="r" b="b"/>
              <a:pathLst>
                <a:path w="10820400" h="6038850">
                  <a:moveTo>
                    <a:pt x="5724525" y="5838825"/>
                  </a:moveTo>
                  <a:lnTo>
                    <a:pt x="5724525" y="2600325"/>
                  </a:lnTo>
                  <a:cubicBezTo>
                    <a:pt x="5724525" y="1274676"/>
                    <a:pt x="6799176" y="200025"/>
                    <a:pt x="8124825" y="200025"/>
                  </a:cubicBezTo>
                  <a:cubicBezTo>
                    <a:pt x="9450474" y="200025"/>
                    <a:pt x="10525125" y="1274676"/>
                    <a:pt x="10525125" y="2600325"/>
                  </a:cubicBezTo>
                  <a:lnTo>
                    <a:pt x="10525125" y="5838825"/>
                  </a:lnTo>
                  <a:close/>
                </a:path>
              </a:pathLst>
            </a:custGeom>
          </p:spPr>
        </p:pic>
      </p:grpSp>
      <p:sp>
        <p:nvSpPr>
          <p:cNvPr id="58" name="Freeform 58"/>
          <p:cNvSpPr/>
          <p:nvPr/>
        </p:nvSpPr>
        <p:spPr>
          <a:xfrm>
            <a:off x="6648450" y="476250"/>
            <a:ext cx="5067300" cy="5905500"/>
          </a:xfrm>
          <a:prstGeom prst="round2SameRect">
            <a:avLst>
              <a:gd name="adj1" fmla="val 50000"/>
              <a:gd name="adj2" fmla="val 0"/>
            </a:avLst>
          </a:prstGeom>
          <a:noFill/>
          <a:ln w="28575">
            <a:solidFill>
              <a:schemeClr val="accent1"/>
            </a:solidFill>
          </a:ln>
        </p:spPr>
      </p:sp>
      <p:grpSp>
        <p:nvGrpSpPr>
          <p:cNvPr id="61" name="Group 61"/>
          <p:cNvGrpSpPr/>
          <p:nvPr/>
        </p:nvGrpSpPr>
        <p:grpSpPr>
          <a:xfrm>
            <a:off x="609600" y="1257300"/>
            <a:ext cx="3028950" cy="439865"/>
            <a:chOff x="609600" y="1257300"/>
            <a:chExt cx="3028950" cy="439865"/>
          </a:xfrm>
        </p:grpSpPr>
        <p:sp>
          <p:nvSpPr>
            <p:cNvPr id="59" name="Rectangle 59"/>
            <p:cNvSpPr/>
            <p:nvPr/>
          </p:nvSpPr>
          <p:spPr>
            <a:xfrm>
              <a:off x="609600" y="1257300"/>
              <a:ext cx="3028950" cy="438150"/>
            </a:xfrm>
            <a:prstGeom prst="roundRect">
              <a:avLst>
                <a:gd name="adj" fmla="val 50000"/>
              </a:avLst>
            </a:prstGeom>
            <a:solidFill>
              <a:schemeClr val="accent3"/>
            </a:solidFill>
            <a:ln>
              <a:noFill/>
            </a:ln>
          </p:spPr>
        </p:sp>
        <p:sp>
          <p:nvSpPr>
            <p:cNvPr id="60" name="TextBox 60"/>
            <p:cNvSpPr txBox="1"/>
            <p:nvPr/>
          </p:nvSpPr>
          <p:spPr>
            <a:xfrm>
              <a:off x="827102" y="1374458"/>
              <a:ext cx="2593946" cy="322707"/>
            </a:xfrm>
            <a:prstGeom prst="rect">
              <a:avLst/>
            </a:prstGeom>
            <a:noFill/>
            <a:ln>
              <a:noFill/>
            </a:ln>
          </p:spPr>
          <p:txBody>
            <a:bodyPr wrap="none" lIns="0" tIns="0" rIns="0" bIns="0" anchor="t" anchorCtr="0">
              <a:spAutoFit/>
            </a:bodyPr>
            <a:lstStyle/>
            <a:p>
              <a:pPr algn="ctr"/>
              <a:r>
                <a:rPr lang="ja-JP" sz="1650" b="1" dirty="0">
                  <a:solidFill>
                    <a:schemeClr val="accent1"/>
                  </a:solidFill>
                  <a:latin typeface="+mn-lt"/>
                  <a:ea typeface="+mn-ea"/>
                  <a:cs typeface="+mn-cs"/>
                </a:rPr>
                <a:t>1964.10.1 — 2024.10.1</a:t>
              </a:r>
            </a:p>
          </p:txBody>
        </p:sp>
      </p:grpSp>
      <p:grpSp>
        <p:nvGrpSpPr>
          <p:cNvPr id="63" name="Group 63"/>
          <p:cNvGrpSpPr/>
          <p:nvPr/>
        </p:nvGrpSpPr>
        <p:grpSpPr>
          <a:xfrm>
            <a:off x="590550" y="1985010"/>
            <a:ext cx="4838700" cy="2457450"/>
            <a:chOff x="590550" y="1985010"/>
            <a:chExt cx="4838700" cy="2457450"/>
          </a:xfrm>
        </p:grpSpPr>
        <p:sp>
          <p:nvSpPr>
            <p:cNvPr id="62" name="TextBox 62"/>
            <p:cNvSpPr txBox="1"/>
            <p:nvPr/>
          </p:nvSpPr>
          <p:spPr>
            <a:xfrm>
              <a:off x="590550" y="1985010"/>
              <a:ext cx="4838700" cy="2457450"/>
            </a:xfrm>
            <a:prstGeom prst="rect">
              <a:avLst/>
            </a:prstGeom>
            <a:noFill/>
            <a:ln>
              <a:noFill/>
            </a:ln>
          </p:spPr>
          <p:txBody>
            <a:bodyPr wrap="none" lIns="0" tIns="0" rIns="0" bIns="0" anchor="t" anchorCtr="0">
              <a:spAutoFit/>
            </a:bodyPr>
            <a:lstStyle/>
            <a:p>
              <a:pPr algn="l">
                <a:lnSpc>
                  <a:spcPts val="8400"/>
                </a:lnSpc>
              </a:pPr>
              <a:r>
                <a:rPr lang="ja-JP" sz="7200" b="1" dirty="0">
                  <a:solidFill>
                    <a:schemeClr val="accent1"/>
                  </a:solidFill>
                  <a:latin typeface="+mj-lt"/>
                  <a:ea typeface="+mj-ea"/>
                  <a:cs typeface="+mj-cs"/>
                </a:rPr>
                <a:t>東海道</a:t>
              </a:r>
              <a:br/>
              <a:r>
                <a:rPr lang="ja-JP" sz="7200" b="1" dirty="0">
                  <a:solidFill>
                    <a:schemeClr val="accent1"/>
                  </a:solidFill>
                  <a:latin typeface="+mj-lt"/>
                  <a:ea typeface="+mj-ea"/>
                  <a:cs typeface="+mj-cs"/>
                </a:rPr>
                <a:t>新幹線 60年</a:t>
              </a:r>
            </a:p>
          </p:txBody>
        </p:sp>
      </p:grpSp>
      <p:grpSp>
        <p:nvGrpSpPr>
          <p:cNvPr id="65" name="Group 65"/>
          <p:cNvGrpSpPr/>
          <p:nvPr/>
        </p:nvGrpSpPr>
        <p:grpSpPr>
          <a:xfrm>
            <a:off x="596646" y="4525328"/>
            <a:ext cx="4559808" cy="955929"/>
            <a:chOff x="596646" y="4525328"/>
            <a:chExt cx="4559808" cy="955929"/>
          </a:xfrm>
        </p:grpSpPr>
        <p:sp>
          <p:nvSpPr>
            <p:cNvPr id="64" name="TextBox 64"/>
            <p:cNvSpPr txBox="1"/>
            <p:nvPr/>
          </p:nvSpPr>
          <p:spPr>
            <a:xfrm>
              <a:off x="596646" y="4525328"/>
              <a:ext cx="4559808" cy="955929"/>
            </a:xfrm>
            <a:prstGeom prst="rect">
              <a:avLst/>
            </a:prstGeom>
            <a:noFill/>
            <a:ln>
              <a:noFill/>
            </a:ln>
          </p:spPr>
          <p:txBody>
            <a:bodyPr wrap="none" lIns="0" tIns="0" rIns="0" bIns="0" anchor="t" anchorCtr="0">
              <a:spAutoFit/>
            </a:bodyPr>
            <a:lstStyle/>
            <a:p>
              <a:pPr algn="l">
                <a:lnSpc>
                  <a:spcPts val="3600"/>
                </a:lnSpc>
              </a:pPr>
              <a:r>
                <a:rPr lang="ja-JP" sz="2550" dirty="0">
                  <a:solidFill>
                    <a:schemeClr val="dk1"/>
                  </a:solidFill>
                  <a:latin typeface="+mj-lt"/>
                  <a:ea typeface="+mj-ea"/>
                  <a:cs typeface="+mj-cs"/>
                </a:rPr>
                <a:t>速さ・本数・安全を積み上げた</a:t>
              </a:r>
              <a:br/>
              <a:r>
                <a:rPr lang="ja-JP" sz="2550" dirty="0">
                  <a:solidFill>
                    <a:schemeClr val="dk1"/>
                  </a:solidFill>
                  <a:latin typeface="+mj-lt"/>
                  <a:ea typeface="+mj-ea"/>
                  <a:cs typeface="+mj-cs"/>
                </a:rPr>
                <a:t>大動脈の60年</a:t>
              </a:r>
            </a:p>
          </p:txBody>
        </p:sp>
      </p:grpSp>
      <p:grpSp>
        <p:nvGrpSpPr>
          <p:cNvPr id="67" name="Group 67"/>
          <p:cNvGrpSpPr/>
          <p:nvPr/>
        </p:nvGrpSpPr>
        <p:grpSpPr>
          <a:xfrm>
            <a:off x="603504" y="6061710"/>
            <a:ext cx="3565093" cy="234696"/>
            <a:chOff x="603504" y="6061710"/>
            <a:chExt cx="3565093" cy="234696"/>
          </a:xfrm>
        </p:grpSpPr>
        <p:sp>
          <p:nvSpPr>
            <p:cNvPr id="66" name="TextBox 66"/>
            <p:cNvSpPr txBox="1"/>
            <p:nvPr/>
          </p:nvSpPr>
          <p:spPr>
            <a:xfrm>
              <a:off x="603504" y="6061710"/>
              <a:ext cx="3565093"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出典:JR東海 ニュースリリース(2024年2月15日)</a:t>
              </a:r>
            </a:p>
          </p:txBody>
        </p:sp>
      </p:grpSp>
      <p:grpSp>
        <p:nvGrpSpPr>
          <p:cNvPr id="70" name="Group 70"/>
          <p:cNvGrpSpPr/>
          <p:nvPr/>
        </p:nvGrpSpPr>
        <p:grpSpPr>
          <a:xfrm>
            <a:off x="0" y="6515100"/>
            <a:ext cx="12192000" cy="200025"/>
            <a:chOff x="0" y="6515100"/>
            <a:chExt cx="12192000" cy="200025"/>
          </a:xfrm>
        </p:grpSpPr>
        <p:sp>
          <p:nvSpPr>
            <p:cNvPr id="68" name="Rectangle 68"/>
            <p:cNvSpPr/>
            <p:nvPr/>
          </p:nvSpPr>
          <p:spPr>
            <a:xfrm>
              <a:off x="0" y="6515100"/>
              <a:ext cx="12192000" cy="114300"/>
            </a:xfrm>
            <a:prstGeom prst="rect">
              <a:avLst/>
            </a:prstGeom>
            <a:solidFill>
              <a:schemeClr val="accent1"/>
            </a:solidFill>
            <a:ln>
              <a:noFill/>
            </a:ln>
          </p:spPr>
        </p:sp>
        <p:sp>
          <p:nvSpPr>
            <p:cNvPr id="69" name="Line 69"/>
            <p:cNvSpPr/>
            <p:nvPr/>
          </p:nvSpPr>
          <p:spPr>
            <a:xfrm>
              <a:off x="0" y="6705600"/>
              <a:ext cx="12192000" cy="9525"/>
            </a:xfrm>
            <a:custGeom>
              <a:avLst/>
              <a:gdLst/>
              <a:ahLst/>
              <a:cxnLst/>
              <a:rect l="l" t="t" r="r" b="b"/>
              <a:pathLst>
                <a:path w="12192000" h="9525">
                  <a:moveTo>
                    <a:pt x="0" y="0"/>
                  </a:moveTo>
                  <a:lnTo>
                    <a:pt x="12192000" y="0"/>
                  </a:lnTo>
                </a:path>
              </a:pathLst>
            </a:custGeom>
            <a:noFill/>
            <a:ln w="19050">
              <a:solidFill>
                <a:schemeClr val="accent1"/>
              </a:solidFill>
            </a:ln>
          </p:spPr>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600"/>
                                        <p:tgtEl>
                                          <p:spTgt spid="63"/>
                                        </p:tgtEl>
                                      </p:cBhvr>
                                    </p:animEffect>
                                  </p:childTnLst>
                                </p:cTn>
                              </p:par>
                            </p:childTnLst>
                          </p:cTn>
                        </p:par>
                        <p:par>
                          <p:cTn id="8" fill="hold">
                            <p:stCondLst>
                              <p:cond delay="600"/>
                            </p:stCondLst>
                            <p:childTnLst>
                              <p:par>
                                <p:cTn xmlns:p="http://schemas.openxmlformats.org/presentationml/2006/main" id="9" presetID="22" presetClass="entr" presetSubtype="1" fill="hold" grpId="0" nodeType="afterEffect">
                                  <p:stCondLst>
                                    <p:cond delay="500"/>
                                  </p:stCondLst>
                                  <p:childTnLst>
                                    <p:set>
                                      <p:cBhvr>
                                        <p:cTn id="10" dur="1" fill="hold">
                                          <p:stCondLst>
                                            <p:cond delay="0"/>
                                          </p:stCondLst>
                                        </p:cTn>
                                        <p:tgtEl>
                                          <p:spTgt spid="57"/>
                                        </p:tgtEl>
                                        <p:attrNameLst>
                                          <p:attrName>style.visibility</p:attrName>
                                        </p:attrNameLst>
                                      </p:cBhvr>
                                      <p:to>
                                        <p:strVal val="visible"/>
                                      </p:to>
                                    </p:set>
                                    <p:animEffect transition="in" filter="wipe(up)">
                                      <p:cBhvr>
                                        <p:cTn id="11" dur="8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591312" y="678180"/>
            <a:ext cx="6364224" cy="704088"/>
            <a:chOff x="591312" y="678180"/>
            <a:chExt cx="6364224" cy="704088"/>
          </a:xfrm>
        </p:grpSpPr>
        <p:sp>
          <p:nvSpPr>
            <p:cNvPr id="2" name="TextBox 2"/>
            <p:cNvSpPr txBox="1"/>
            <p:nvPr/>
          </p:nvSpPr>
          <p:spPr>
            <a:xfrm>
              <a:off x="591312" y="678180"/>
              <a:ext cx="6364224"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60年は、四つの数字で語れる</a:t>
              </a:r>
            </a:p>
          </p:txBody>
        </p:sp>
      </p:grpSp>
      <p:grpSp>
        <p:nvGrpSpPr>
          <p:cNvPr id="16" name="Group 16"/>
          <p:cNvGrpSpPr/>
          <p:nvPr/>
        </p:nvGrpSpPr>
        <p:grpSpPr>
          <a:xfrm>
            <a:off x="381000" y="3438525"/>
            <a:ext cx="11430000" cy="430340"/>
            <a:chOff x="381000" y="3438525"/>
            <a:chExt cx="11430000" cy="430340"/>
          </a:xfrm>
        </p:grpSpPr>
        <p:sp>
          <p:nvSpPr>
            <p:cNvPr id="4" name="Rectangle 4"/>
            <p:cNvSpPr/>
            <p:nvPr/>
          </p:nvSpPr>
          <p:spPr>
            <a:xfrm>
              <a:off x="381000" y="3581400"/>
              <a:ext cx="11430000" cy="133350"/>
            </a:xfrm>
            <a:prstGeom prst="rect">
              <a:avLst/>
            </a:prstGeom>
            <a:solidFill>
              <a:schemeClr val="accent1"/>
            </a:solidFill>
            <a:ln>
              <a:noFill/>
            </a:ln>
          </p:spPr>
        </p:sp>
        <p:sp>
          <p:nvSpPr>
            <p:cNvPr id="5" name="Line 5"/>
            <p:cNvSpPr/>
            <p:nvPr/>
          </p:nvSpPr>
          <p:spPr>
            <a:xfrm>
              <a:off x="381000" y="38100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nvGrpSpPr>
            <p:cNvPr id="10" name="Group 10"/>
            <p:cNvGrpSpPr/>
            <p:nvPr/>
          </p:nvGrpSpPr>
          <p:grpSpPr>
            <a:xfrm>
              <a:off x="857250" y="3438525"/>
              <a:ext cx="8191500" cy="419100"/>
              <a:chOff x="857250" y="3438525"/>
              <a:chExt cx="8191500" cy="419100"/>
            </a:xfrm>
          </p:grpSpPr>
          <p:sp>
            <p:nvSpPr>
              <p:cNvPr id="6" name="Ellipse 6"/>
              <p:cNvSpPr/>
              <p:nvPr/>
            </p:nvSpPr>
            <p:spPr>
              <a:xfrm>
                <a:off x="857250" y="3438525"/>
                <a:ext cx="419100" cy="419100"/>
              </a:xfrm>
              <a:prstGeom prst="ellipse">
                <a:avLst/>
              </a:prstGeom>
              <a:solidFill>
                <a:schemeClr val="lt1"/>
              </a:solidFill>
              <a:ln w="38100">
                <a:solidFill>
                  <a:schemeClr val="accent1"/>
                </a:solidFill>
              </a:ln>
            </p:spPr>
          </p:sp>
          <p:sp>
            <p:nvSpPr>
              <p:cNvPr id="7" name="Ellipse 7"/>
              <p:cNvSpPr/>
              <p:nvPr/>
            </p:nvSpPr>
            <p:spPr>
              <a:xfrm>
                <a:off x="3448050" y="3438525"/>
                <a:ext cx="419100" cy="419100"/>
              </a:xfrm>
              <a:prstGeom prst="ellipse">
                <a:avLst/>
              </a:prstGeom>
              <a:solidFill>
                <a:schemeClr val="lt1"/>
              </a:solidFill>
              <a:ln w="38100">
                <a:solidFill>
                  <a:schemeClr val="accent1"/>
                </a:solidFill>
              </a:ln>
            </p:spPr>
          </p:sp>
          <p:sp>
            <p:nvSpPr>
              <p:cNvPr id="8" name="Ellipse 8"/>
              <p:cNvSpPr/>
              <p:nvPr/>
            </p:nvSpPr>
            <p:spPr>
              <a:xfrm>
                <a:off x="6038850" y="3438525"/>
                <a:ext cx="419100" cy="419100"/>
              </a:xfrm>
              <a:prstGeom prst="ellipse">
                <a:avLst/>
              </a:prstGeom>
              <a:solidFill>
                <a:schemeClr val="lt1"/>
              </a:solidFill>
              <a:ln w="38100">
                <a:solidFill>
                  <a:schemeClr val="accent1"/>
                </a:solidFill>
              </a:ln>
            </p:spPr>
          </p:sp>
          <p:sp>
            <p:nvSpPr>
              <p:cNvPr id="9" name="Ellipse 9"/>
              <p:cNvSpPr/>
              <p:nvPr/>
            </p:nvSpPr>
            <p:spPr>
              <a:xfrm>
                <a:off x="8629650" y="3438525"/>
                <a:ext cx="419100" cy="419100"/>
              </a:xfrm>
              <a:prstGeom prst="ellipse">
                <a:avLst/>
              </a:prstGeom>
              <a:solidFill>
                <a:schemeClr val="lt1"/>
              </a:solidFill>
              <a:ln w="38100">
                <a:solidFill>
                  <a:schemeClr val="accent2"/>
                </a:solidFill>
              </a:ln>
            </p:spPr>
          </p:sp>
        </p:grpSp>
        <p:grpSp>
          <p:nvGrpSpPr>
            <p:cNvPr id="15" name="Group 15"/>
            <p:cNvGrpSpPr/>
            <p:nvPr/>
          </p:nvGrpSpPr>
          <p:grpSpPr>
            <a:xfrm>
              <a:off x="994280" y="3546158"/>
              <a:ext cx="7917440" cy="322707"/>
              <a:chOff x="994280" y="3546158"/>
              <a:chExt cx="7917440" cy="322707"/>
            </a:xfrm>
          </p:grpSpPr>
          <p:sp>
            <p:nvSpPr>
              <p:cNvPr id="11" name="TextBox 11"/>
              <p:cNvSpPr txBox="1"/>
              <p:nvPr/>
            </p:nvSpPr>
            <p:spPr>
              <a:xfrm>
                <a:off x="994280" y="3546158"/>
                <a:ext cx="145040" cy="322707"/>
              </a:xfrm>
              <a:prstGeom prst="rect">
                <a:avLst/>
              </a:prstGeom>
              <a:noFill/>
              <a:ln>
                <a:noFill/>
              </a:ln>
            </p:spPr>
            <p:txBody>
              <a:bodyPr wrap="none" lIns="0" tIns="0" rIns="0" bIns="0" anchor="t" anchorCtr="0">
                <a:spAutoFit/>
              </a:bodyPr>
              <a:lstStyle/>
              <a:p>
                <a:pPr algn="ctr"/>
                <a:r>
                  <a:rPr lang="ja-JP" sz="1650" b="1" dirty="0">
                    <a:solidFill>
                      <a:schemeClr val="accent1"/>
                    </a:solidFill>
                    <a:latin typeface="+mn-lt"/>
                    <a:ea typeface="+mn-ea"/>
                    <a:cs typeface="+mn-cs"/>
                  </a:rPr>
                  <a:t>1</a:t>
                </a:r>
              </a:p>
            </p:txBody>
          </p:sp>
          <p:sp>
            <p:nvSpPr>
              <p:cNvPr id="12" name="TextBox 12"/>
              <p:cNvSpPr txBox="1"/>
              <p:nvPr/>
            </p:nvSpPr>
            <p:spPr>
              <a:xfrm>
                <a:off x="3585080" y="3546158"/>
                <a:ext cx="145040" cy="322707"/>
              </a:xfrm>
              <a:prstGeom prst="rect">
                <a:avLst/>
              </a:prstGeom>
              <a:noFill/>
              <a:ln>
                <a:noFill/>
              </a:ln>
            </p:spPr>
            <p:txBody>
              <a:bodyPr wrap="none" lIns="0" tIns="0" rIns="0" bIns="0" anchor="t" anchorCtr="0">
                <a:spAutoFit/>
              </a:bodyPr>
              <a:lstStyle/>
              <a:p>
                <a:pPr algn="ctr"/>
                <a:r>
                  <a:rPr lang="ja-JP" sz="1650" b="1" dirty="0">
                    <a:solidFill>
                      <a:schemeClr val="accent1"/>
                    </a:solidFill>
                    <a:latin typeface="+mn-lt"/>
                    <a:ea typeface="+mn-ea"/>
                    <a:cs typeface="+mn-cs"/>
                  </a:rPr>
                  <a:t>2</a:t>
                </a:r>
              </a:p>
            </p:txBody>
          </p:sp>
          <p:sp>
            <p:nvSpPr>
              <p:cNvPr id="13" name="TextBox 13"/>
              <p:cNvSpPr txBox="1"/>
              <p:nvPr/>
            </p:nvSpPr>
            <p:spPr>
              <a:xfrm>
                <a:off x="6175880" y="3546158"/>
                <a:ext cx="145040" cy="322707"/>
              </a:xfrm>
              <a:prstGeom prst="rect">
                <a:avLst/>
              </a:prstGeom>
              <a:noFill/>
              <a:ln>
                <a:noFill/>
              </a:ln>
            </p:spPr>
            <p:txBody>
              <a:bodyPr wrap="none" lIns="0" tIns="0" rIns="0" bIns="0" anchor="t" anchorCtr="0">
                <a:spAutoFit/>
              </a:bodyPr>
              <a:lstStyle/>
              <a:p>
                <a:pPr algn="ctr"/>
                <a:r>
                  <a:rPr lang="ja-JP" sz="1650" b="1" dirty="0">
                    <a:solidFill>
                      <a:schemeClr val="accent1"/>
                    </a:solidFill>
                    <a:latin typeface="+mn-lt"/>
                    <a:ea typeface="+mn-ea"/>
                    <a:cs typeface="+mn-cs"/>
                  </a:rPr>
                  <a:t>3</a:t>
                </a:r>
              </a:p>
            </p:txBody>
          </p:sp>
          <p:sp>
            <p:nvSpPr>
              <p:cNvPr id="14" name="TextBox 14"/>
              <p:cNvSpPr txBox="1"/>
              <p:nvPr/>
            </p:nvSpPr>
            <p:spPr>
              <a:xfrm>
                <a:off x="8766680" y="3546158"/>
                <a:ext cx="145040" cy="322707"/>
              </a:xfrm>
              <a:prstGeom prst="rect">
                <a:avLst/>
              </a:prstGeom>
              <a:noFill/>
              <a:ln>
                <a:noFill/>
              </a:ln>
            </p:spPr>
            <p:txBody>
              <a:bodyPr wrap="none" lIns="0" tIns="0" rIns="0" bIns="0" anchor="t" anchorCtr="0">
                <a:spAutoFit/>
              </a:bodyPr>
              <a:lstStyle/>
              <a:p>
                <a:pPr algn="ctr"/>
                <a:r>
                  <a:rPr lang="ja-JP" sz="1650" b="1" dirty="0">
                    <a:solidFill>
                      <a:schemeClr val="accent2"/>
                    </a:solidFill>
                    <a:latin typeface="+mn-lt"/>
                    <a:ea typeface="+mn-ea"/>
                    <a:cs typeface="+mn-cs"/>
                  </a:rPr>
                  <a:t>4</a:t>
                </a:r>
              </a:p>
            </p:txBody>
          </p:sp>
        </p:grpSp>
      </p:grpSp>
      <p:grpSp>
        <p:nvGrpSpPr>
          <p:cNvPr id="21" name="Group 21"/>
          <p:cNvGrpSpPr/>
          <p:nvPr/>
        </p:nvGrpSpPr>
        <p:grpSpPr>
          <a:xfrm>
            <a:off x="1066800" y="1809750"/>
            <a:ext cx="3535509" cy="1562100"/>
            <a:chOff x="1066800" y="1809750"/>
            <a:chExt cx="3535509" cy="1562100"/>
          </a:xfrm>
        </p:grpSpPr>
        <p:sp>
          <p:nvSpPr>
            <p:cNvPr id="17" name="Line 17"/>
            <p:cNvSpPr/>
            <p:nvPr/>
          </p:nvSpPr>
          <p:spPr>
            <a:xfrm>
              <a:off x="1066800" y="1809750"/>
              <a:ext cx="9525" cy="1562100"/>
            </a:xfrm>
            <a:custGeom>
              <a:avLst/>
              <a:gdLst/>
              <a:ahLst/>
              <a:cxnLst/>
              <a:rect l="l" t="t" r="r" b="b"/>
              <a:pathLst>
                <a:path w="9525" h="1562100">
                  <a:moveTo>
                    <a:pt x="0" y="1562100"/>
                  </a:moveTo>
                  <a:lnTo>
                    <a:pt x="0" y="0"/>
                  </a:lnTo>
                </a:path>
              </a:pathLst>
            </a:custGeom>
            <a:noFill/>
            <a:ln w="19050">
              <a:solidFill>
                <a:schemeClr val="accent1"/>
              </a:solidFill>
            </a:ln>
          </p:spPr>
        </p:sp>
        <p:sp>
          <p:nvSpPr>
            <p:cNvPr id="18" name="TextBox 18"/>
            <p:cNvSpPr txBox="1"/>
            <p:nvPr/>
          </p:nvSpPr>
          <p:spPr>
            <a:xfrm>
              <a:off x="1287018" y="1841182"/>
              <a:ext cx="461010"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速さ</a:t>
              </a:r>
            </a:p>
          </p:txBody>
        </p:sp>
        <p:sp>
          <p:nvSpPr>
            <p:cNvPr id="19" name="TextBox 19"/>
            <p:cNvSpPr txBox="1"/>
            <p:nvPr/>
          </p:nvSpPr>
          <p:spPr>
            <a:xfrm>
              <a:off x="1276350" y="2244090"/>
              <a:ext cx="3163298" cy="933450"/>
            </a:xfrm>
            <a:prstGeom prst="rect">
              <a:avLst/>
            </a:prstGeom>
            <a:noFill/>
            <a:ln>
              <a:noFill/>
            </a:ln>
          </p:spPr>
          <p:txBody>
            <a:bodyPr wrap="none" lIns="0" tIns="0" rIns="0" bIns="0" anchor="t" anchorCtr="0">
              <a:spAutoFit/>
            </a:bodyPr>
            <a:lstStyle/>
            <a:p>
              <a:pPr algn="l"/>
              <a:r>
                <a:rPr lang="ja-JP" sz="4800" b="1" dirty="0">
                  <a:solidFill>
                    <a:schemeClr val="accent1"/>
                  </a:solidFill>
                  <a:latin typeface="Arial Black"/>
                  <a:ea typeface="Yu Gothic"/>
                  <a:cs typeface="Arial Black"/>
                </a:rPr>
                <a:t>2時間21分</a:t>
              </a:r>
            </a:p>
          </p:txBody>
        </p:sp>
        <p:sp>
          <p:nvSpPr>
            <p:cNvPr id="20" name="TextBox 20"/>
            <p:cNvSpPr txBox="1"/>
            <p:nvPr/>
          </p:nvSpPr>
          <p:spPr>
            <a:xfrm>
              <a:off x="1287018" y="3003232"/>
              <a:ext cx="3315291" cy="322707"/>
            </a:xfrm>
            <a:prstGeom prst="rect">
              <a:avLst/>
            </a:prstGeom>
            <a:noFill/>
            <a:ln>
              <a:noFill/>
            </a:ln>
          </p:spPr>
          <p:txBody>
            <a:bodyPr wrap="none" lIns="0" tIns="0" rIns="0" bIns="0" anchor="t" anchorCtr="0">
              <a:spAutoFit/>
            </a:bodyPr>
            <a:lstStyle/>
            <a:p>
              <a:pPr algn="l"/>
              <a:r>
                <a:rPr lang="ja-JP" sz="1650" dirty="0">
                  <a:solidFill>
                    <a:schemeClr val="accent5"/>
                  </a:solidFill>
                  <a:latin typeface="+mn-lt"/>
                  <a:ea typeface="+mn-ea"/>
                  <a:cs typeface="+mn-cs"/>
                </a:rPr>
                <a:t>東京〜新大阪の最速(2026年3月)</a:t>
              </a:r>
            </a:p>
          </p:txBody>
        </p:sp>
      </p:grpSp>
      <p:grpSp>
        <p:nvGrpSpPr>
          <p:cNvPr id="26" name="Group 26"/>
          <p:cNvGrpSpPr/>
          <p:nvPr/>
        </p:nvGrpSpPr>
        <p:grpSpPr>
          <a:xfrm>
            <a:off x="3657600" y="3943350"/>
            <a:ext cx="3413341" cy="1676400"/>
            <a:chOff x="3657600" y="3943350"/>
            <a:chExt cx="3413341" cy="1676400"/>
          </a:xfrm>
        </p:grpSpPr>
        <p:sp>
          <p:nvSpPr>
            <p:cNvPr id="22" name="Line 22"/>
            <p:cNvSpPr/>
            <p:nvPr/>
          </p:nvSpPr>
          <p:spPr>
            <a:xfrm>
              <a:off x="3657600" y="3943350"/>
              <a:ext cx="9525" cy="1676400"/>
            </a:xfrm>
            <a:custGeom>
              <a:avLst/>
              <a:gdLst/>
              <a:ahLst/>
              <a:cxnLst/>
              <a:rect l="l" t="t" r="r" b="b"/>
              <a:pathLst>
                <a:path w="9525" h="1676400">
                  <a:moveTo>
                    <a:pt x="0" y="0"/>
                  </a:moveTo>
                  <a:lnTo>
                    <a:pt x="0" y="1676400"/>
                  </a:lnTo>
                </a:path>
              </a:pathLst>
            </a:custGeom>
            <a:noFill/>
            <a:ln w="19050">
              <a:solidFill>
                <a:schemeClr val="accent1"/>
              </a:solidFill>
            </a:ln>
          </p:spPr>
        </p:sp>
        <p:sp>
          <p:nvSpPr>
            <p:cNvPr id="23" name="TextBox 23"/>
            <p:cNvSpPr txBox="1"/>
            <p:nvPr/>
          </p:nvSpPr>
          <p:spPr>
            <a:xfrm>
              <a:off x="3877818" y="4108132"/>
              <a:ext cx="461010"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本数</a:t>
              </a:r>
            </a:p>
          </p:txBody>
        </p:sp>
        <p:sp>
          <p:nvSpPr>
            <p:cNvPr id="24" name="TextBox 24"/>
            <p:cNvSpPr txBox="1"/>
            <p:nvPr/>
          </p:nvSpPr>
          <p:spPr>
            <a:xfrm>
              <a:off x="3867150" y="4511040"/>
              <a:ext cx="2912679" cy="933450"/>
            </a:xfrm>
            <a:prstGeom prst="rect">
              <a:avLst/>
            </a:prstGeom>
            <a:noFill/>
            <a:ln>
              <a:noFill/>
            </a:ln>
          </p:spPr>
          <p:txBody>
            <a:bodyPr wrap="none" lIns="0" tIns="0" rIns="0" bIns="0" anchor="t" anchorCtr="0">
              <a:spAutoFit/>
            </a:bodyPr>
            <a:lstStyle/>
            <a:p>
              <a:pPr algn="l"/>
              <a:r>
                <a:rPr lang="ja-JP" sz="4800" b="1" dirty="0">
                  <a:solidFill>
                    <a:schemeClr val="accent1"/>
                  </a:solidFill>
                  <a:latin typeface="Arial Black"/>
                  <a:ea typeface="Yu Gothic"/>
                  <a:cs typeface="Arial Black"/>
                </a:rPr>
                <a:t>395本/日</a:t>
              </a:r>
            </a:p>
          </p:txBody>
        </p:sp>
        <p:sp>
          <p:nvSpPr>
            <p:cNvPr id="25" name="TextBox 25"/>
            <p:cNvSpPr txBox="1"/>
            <p:nvPr/>
          </p:nvSpPr>
          <p:spPr>
            <a:xfrm>
              <a:off x="3877818" y="5270182"/>
              <a:ext cx="3193123" cy="322707"/>
            </a:xfrm>
            <a:prstGeom prst="rect">
              <a:avLst/>
            </a:prstGeom>
            <a:noFill/>
            <a:ln>
              <a:noFill/>
            </a:ln>
          </p:spPr>
          <p:txBody>
            <a:bodyPr wrap="none" lIns="0" tIns="0" rIns="0" bIns="0" anchor="t" anchorCtr="0">
              <a:spAutoFit/>
            </a:bodyPr>
            <a:lstStyle/>
            <a:p>
              <a:pPr algn="l"/>
              <a:r>
                <a:rPr lang="ja-JP" sz="1650" dirty="0">
                  <a:solidFill>
                    <a:schemeClr val="accent5"/>
                  </a:solidFill>
                  <a:latin typeface="+mn-lt"/>
                  <a:ea typeface="+mn-ea"/>
                  <a:cs typeface="+mn-cs"/>
                </a:rPr>
                <a:t>列車本数(2025年度・臨時含む)</a:t>
              </a:r>
            </a:p>
          </p:txBody>
        </p:sp>
      </p:grpSp>
      <p:grpSp>
        <p:nvGrpSpPr>
          <p:cNvPr id="31" name="Group 31"/>
          <p:cNvGrpSpPr/>
          <p:nvPr/>
        </p:nvGrpSpPr>
        <p:grpSpPr>
          <a:xfrm>
            <a:off x="6248400" y="1809750"/>
            <a:ext cx="3435553" cy="1562100"/>
            <a:chOff x="6248400" y="1809750"/>
            <a:chExt cx="3435553" cy="1562100"/>
          </a:xfrm>
        </p:grpSpPr>
        <p:sp>
          <p:nvSpPr>
            <p:cNvPr id="27" name="Line 27"/>
            <p:cNvSpPr/>
            <p:nvPr/>
          </p:nvSpPr>
          <p:spPr>
            <a:xfrm>
              <a:off x="6248400" y="1809750"/>
              <a:ext cx="9525" cy="1562100"/>
            </a:xfrm>
            <a:custGeom>
              <a:avLst/>
              <a:gdLst/>
              <a:ahLst/>
              <a:cxnLst/>
              <a:rect l="l" t="t" r="r" b="b"/>
              <a:pathLst>
                <a:path w="9525" h="1562100">
                  <a:moveTo>
                    <a:pt x="0" y="1562100"/>
                  </a:moveTo>
                  <a:lnTo>
                    <a:pt x="0" y="0"/>
                  </a:lnTo>
                </a:path>
              </a:pathLst>
            </a:custGeom>
            <a:noFill/>
            <a:ln w="19050">
              <a:solidFill>
                <a:schemeClr val="accent1"/>
              </a:solidFill>
            </a:ln>
          </p:spPr>
        </p:sp>
        <p:sp>
          <p:nvSpPr>
            <p:cNvPr id="28" name="TextBox 28"/>
            <p:cNvSpPr txBox="1"/>
            <p:nvPr/>
          </p:nvSpPr>
          <p:spPr>
            <a:xfrm>
              <a:off x="6468618" y="1841182"/>
              <a:ext cx="683133"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正確さ</a:t>
              </a:r>
            </a:p>
          </p:txBody>
        </p:sp>
        <p:sp>
          <p:nvSpPr>
            <p:cNvPr id="29" name="TextBox 29"/>
            <p:cNvSpPr txBox="1"/>
            <p:nvPr/>
          </p:nvSpPr>
          <p:spPr>
            <a:xfrm>
              <a:off x="6457950" y="2244090"/>
              <a:ext cx="1870946" cy="933450"/>
            </a:xfrm>
            <a:prstGeom prst="rect">
              <a:avLst/>
            </a:prstGeom>
            <a:noFill/>
            <a:ln>
              <a:noFill/>
            </a:ln>
          </p:spPr>
          <p:txBody>
            <a:bodyPr wrap="none" lIns="0" tIns="0" rIns="0" bIns="0" anchor="t" anchorCtr="0">
              <a:spAutoFit/>
            </a:bodyPr>
            <a:lstStyle/>
            <a:p>
              <a:pPr algn="l"/>
              <a:r>
                <a:rPr lang="ja-JP" sz="4800" b="1" dirty="0">
                  <a:solidFill>
                    <a:schemeClr val="accent1"/>
                  </a:solidFill>
                  <a:latin typeface="Arial Black"/>
                  <a:ea typeface="Yu Gothic"/>
                  <a:cs typeface="Arial Black"/>
                </a:rPr>
                <a:t>1.0分</a:t>
              </a:r>
            </a:p>
          </p:txBody>
        </p:sp>
        <p:sp>
          <p:nvSpPr>
            <p:cNvPr id="30" name="TextBox 30"/>
            <p:cNvSpPr txBox="1"/>
            <p:nvPr/>
          </p:nvSpPr>
          <p:spPr>
            <a:xfrm>
              <a:off x="6468618" y="3003232"/>
              <a:ext cx="3215335" cy="322707"/>
            </a:xfrm>
            <a:prstGeom prst="rect">
              <a:avLst/>
            </a:prstGeom>
            <a:noFill/>
            <a:ln>
              <a:noFill/>
            </a:ln>
          </p:spPr>
          <p:txBody>
            <a:bodyPr wrap="none" lIns="0" tIns="0" rIns="0" bIns="0" anchor="t" anchorCtr="0">
              <a:spAutoFit/>
            </a:bodyPr>
            <a:lstStyle/>
            <a:p>
              <a:pPr algn="l"/>
              <a:r>
                <a:rPr lang="ja-JP" sz="1650" dirty="0">
                  <a:solidFill>
                    <a:schemeClr val="accent5"/>
                  </a:solidFill>
                  <a:latin typeface="+mn-lt"/>
                  <a:ea typeface="+mn-ea"/>
                  <a:cs typeface="+mn-cs"/>
                </a:rPr>
                <a:t>平均遅延/運行1列車(2025年度)</a:t>
              </a:r>
            </a:p>
          </p:txBody>
        </p:sp>
      </p:grpSp>
      <p:grpSp>
        <p:nvGrpSpPr>
          <p:cNvPr id="36" name="Group 36"/>
          <p:cNvGrpSpPr/>
          <p:nvPr/>
        </p:nvGrpSpPr>
        <p:grpSpPr>
          <a:xfrm>
            <a:off x="8839200" y="3943350"/>
            <a:ext cx="1913382" cy="1954339"/>
            <a:chOff x="8839200" y="3943350"/>
            <a:chExt cx="1913382" cy="1954339"/>
          </a:xfrm>
        </p:grpSpPr>
        <p:sp>
          <p:nvSpPr>
            <p:cNvPr id="32" name="Line 32"/>
            <p:cNvSpPr/>
            <p:nvPr/>
          </p:nvSpPr>
          <p:spPr>
            <a:xfrm>
              <a:off x="8839200" y="3943350"/>
              <a:ext cx="9525" cy="1866900"/>
            </a:xfrm>
            <a:custGeom>
              <a:avLst/>
              <a:gdLst/>
              <a:ahLst/>
              <a:cxnLst/>
              <a:rect l="l" t="t" r="r" b="b"/>
              <a:pathLst>
                <a:path w="9525" h="1866900">
                  <a:moveTo>
                    <a:pt x="0" y="0"/>
                  </a:moveTo>
                  <a:lnTo>
                    <a:pt x="0" y="1866900"/>
                  </a:lnTo>
                </a:path>
              </a:pathLst>
            </a:custGeom>
            <a:noFill/>
            <a:ln w="19050">
              <a:solidFill>
                <a:schemeClr val="accent2"/>
              </a:solidFill>
            </a:ln>
          </p:spPr>
        </p:sp>
        <p:sp>
          <p:nvSpPr>
            <p:cNvPr id="33" name="TextBox 33"/>
            <p:cNvSpPr txBox="1"/>
            <p:nvPr/>
          </p:nvSpPr>
          <p:spPr>
            <a:xfrm>
              <a:off x="9059418" y="4108132"/>
              <a:ext cx="461010" cy="322707"/>
            </a:xfrm>
            <a:prstGeom prst="rect">
              <a:avLst/>
            </a:prstGeom>
            <a:noFill/>
            <a:ln>
              <a:noFill/>
            </a:ln>
          </p:spPr>
          <p:txBody>
            <a:bodyPr wrap="none" lIns="0" tIns="0" rIns="0" bIns="0" anchor="t" anchorCtr="0">
              <a:spAutoFit/>
            </a:bodyPr>
            <a:lstStyle/>
            <a:p>
              <a:pPr algn="l"/>
              <a:r>
                <a:rPr lang="ja-JP" sz="1650" b="1" dirty="0">
                  <a:solidFill>
                    <a:schemeClr val="accent2"/>
                  </a:solidFill>
                  <a:latin typeface="+mn-lt"/>
                  <a:ea typeface="+mn-ea"/>
                  <a:cs typeface="+mn-cs"/>
                </a:rPr>
                <a:t>安全</a:t>
              </a:r>
            </a:p>
          </p:txBody>
        </p:sp>
        <p:sp>
          <p:nvSpPr>
            <p:cNvPr id="34" name="TextBox 34"/>
            <p:cNvSpPr txBox="1"/>
            <p:nvPr/>
          </p:nvSpPr>
          <p:spPr>
            <a:xfrm>
              <a:off x="9048750" y="4511040"/>
              <a:ext cx="1330452" cy="933450"/>
            </a:xfrm>
            <a:prstGeom prst="rect">
              <a:avLst/>
            </a:prstGeom>
            <a:noFill/>
            <a:ln>
              <a:noFill/>
            </a:ln>
          </p:spPr>
          <p:txBody>
            <a:bodyPr wrap="none" lIns="0" tIns="0" rIns="0" bIns="0" anchor="t" anchorCtr="0">
              <a:spAutoFit/>
            </a:bodyPr>
            <a:lstStyle/>
            <a:p>
              <a:pPr algn="l"/>
              <a:r>
                <a:rPr lang="ja-JP" sz="4800" b="1" dirty="0">
                  <a:solidFill>
                    <a:schemeClr val="accent2"/>
                  </a:solidFill>
                  <a:latin typeface="Arial Black"/>
                  <a:ea typeface="Yu Gothic"/>
                  <a:cs typeface="Arial Black"/>
                </a:rPr>
                <a:t>ゼロ</a:t>
              </a:r>
            </a:p>
          </p:txBody>
        </p:sp>
        <p:sp>
          <p:nvSpPr>
            <p:cNvPr id="35" name="TextBox 35"/>
            <p:cNvSpPr txBox="1"/>
            <p:nvPr/>
          </p:nvSpPr>
          <p:spPr>
            <a:xfrm>
              <a:off x="9059418" y="5270182"/>
              <a:ext cx="1693164" cy="627507"/>
            </a:xfrm>
            <a:prstGeom prst="rect">
              <a:avLst/>
            </a:prstGeom>
            <a:noFill/>
            <a:ln>
              <a:noFill/>
            </a:ln>
          </p:spPr>
          <p:txBody>
            <a:bodyPr wrap="none" lIns="0" tIns="0" rIns="0" bIns="0" anchor="t" anchorCtr="0">
              <a:spAutoFit/>
            </a:bodyPr>
            <a:lstStyle/>
            <a:p>
              <a:pPr algn="l">
                <a:lnSpc>
                  <a:spcPts val="2400"/>
                </a:lnSpc>
              </a:pPr>
              <a:r>
                <a:rPr lang="ja-JP" sz="1650" dirty="0">
                  <a:solidFill>
                    <a:schemeClr val="accent5"/>
                  </a:solidFill>
                  <a:latin typeface="+mn-lt"/>
                  <a:ea typeface="+mn-ea"/>
                  <a:cs typeface="+mn-cs"/>
                </a:rPr>
                <a:t>乗車中の死傷事故</a:t>
              </a:r>
              <a:br/>
              <a:r>
                <a:rPr lang="ja-JP" sz="1650" dirty="0">
                  <a:solidFill>
                    <a:schemeClr val="accent5"/>
                  </a:solidFill>
                  <a:latin typeface="+mn-lt"/>
                  <a:ea typeface="+mn-ea"/>
                  <a:cs typeface="+mn-cs"/>
                </a:rPr>
                <a:t>(開業以来)</a:t>
              </a:r>
            </a:p>
          </p:txBody>
        </p:sp>
      </p:grpSp>
      <p:grpSp>
        <p:nvGrpSpPr>
          <p:cNvPr id="39" name="Group 39"/>
          <p:cNvGrpSpPr/>
          <p:nvPr/>
        </p:nvGrpSpPr>
        <p:grpSpPr>
          <a:xfrm>
            <a:off x="603504" y="6195060"/>
            <a:ext cx="10984992" cy="444246"/>
            <a:chOff x="603504" y="6195060"/>
            <a:chExt cx="10984992" cy="444246"/>
          </a:xfrm>
        </p:grpSpPr>
        <p:sp>
          <p:nvSpPr>
            <p:cNvPr id="37" name="TextBox 37"/>
            <p:cNvSpPr txBox="1"/>
            <p:nvPr/>
          </p:nvSpPr>
          <p:spPr>
            <a:xfrm>
              <a:off x="603504" y="6195060"/>
              <a:ext cx="537667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四つの切り口は当資料による整理。</a:t>
              </a:r>
              <a:br/>
              <a:r>
                <a:rPr lang="ja-JP" sz="1200" dirty="0">
                  <a:solidFill>
                    <a:schemeClr val="accent5"/>
                  </a:solidFill>
                  <a:latin typeface="+mn-lt"/>
                  <a:ea typeface="+mn-ea"/>
                  <a:cs typeface="+mn-cs"/>
                </a:rPr>
                <a:t>出典:JR東海 ファクトシート2026(2025年度実績・2026年3月ダイヤ改正時点)</a:t>
              </a:r>
            </a:p>
          </p:txBody>
        </p:sp>
        <p:sp>
          <p:nvSpPr>
            <p:cNvPr id="38" name="TextBox 38"/>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400"/>
                                        <p:tgtEl>
                                          <p:spTgt spid="26"/>
                                        </p:tgtEl>
                                      </p:cBhvr>
                                    </p:animEffect>
                                  </p:childTnLst>
                                </p:cTn>
                              </p:par>
                            </p:childTnLst>
                          </p:cTn>
                        </p:par>
                        <p:par>
                          <p:cTn id="12" fill="hold">
                            <p:stCondLst>
                              <p:cond delay="13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400"/>
                                        <p:tgtEl>
                                          <p:spTgt spid="31"/>
                                        </p:tgtEl>
                                      </p:cBhvr>
                                    </p:animEffect>
                                  </p:childTnLst>
                                </p:cTn>
                              </p:par>
                            </p:childTnLst>
                          </p:cTn>
                        </p:par>
                        <p:par>
                          <p:cTn id="16" fill="hold">
                            <p:stCondLst>
                              <p:cond delay="22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1312" y="601980"/>
            <a:ext cx="7493813" cy="1132332"/>
            <a:chOff x="591312" y="601980"/>
            <a:chExt cx="7493813" cy="1132332"/>
          </a:xfrm>
        </p:grpSpPr>
        <p:sp>
          <p:nvSpPr>
            <p:cNvPr id="2" name="TextBox 2"/>
            <p:cNvSpPr txBox="1"/>
            <p:nvPr/>
          </p:nvSpPr>
          <p:spPr>
            <a:xfrm>
              <a:off x="591312" y="601980"/>
              <a:ext cx="6364224"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6時間の旅が、4時間になった</a:t>
              </a:r>
            </a:p>
          </p:txBody>
        </p:sp>
        <p:sp>
          <p:nvSpPr>
            <p:cNvPr id="3" name="TextBox 3"/>
            <p:cNvSpPr txBox="1"/>
            <p:nvPr/>
          </p:nvSpPr>
          <p:spPr>
            <a:xfrm>
              <a:off x="597408" y="1264920"/>
              <a:ext cx="7487717"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開業の日に約3分の2、翌年には約半分まで縮まった</a:t>
              </a:r>
            </a:p>
          </p:txBody>
        </p:sp>
      </p:grpSp>
      <p:graphicFrame>
        <p:nvGraphicFramePr>
          <p:cNvPr id="5" name="travel-time-bars"/>
          <p:cNvGraphicFramePr>
            <a:graphicFrameLocks noGrp="1"/>
          </p:cNvGraphicFramePr>
          <p:nvPr/>
        </p:nvGraphicFramePr>
        <p:xfrm>
          <a:off x="685800" y="1866900"/>
          <a:ext cx="10972800" cy="4248150"/>
        </p:xfrm>
        <a:graphic>
          <a:graphicData uri="http://schemas.openxmlformats.org/drawingml/2006/chart">
            <c:chart xmlns:c="http://schemas.openxmlformats.org/drawingml/2006/chart" r:id="rId2"/>
          </a:graphicData>
        </a:graphic>
      </p:graphicFrame>
      <p:grpSp>
        <p:nvGrpSpPr>
          <p:cNvPr id="8" name="Group 8"/>
          <p:cNvGrpSpPr/>
          <p:nvPr/>
        </p:nvGrpSpPr>
        <p:grpSpPr>
          <a:xfrm>
            <a:off x="603504" y="6195060"/>
            <a:ext cx="10984992" cy="444246"/>
            <a:chOff x="603504" y="6195060"/>
            <a:chExt cx="10984992" cy="444246"/>
          </a:xfrm>
        </p:grpSpPr>
        <p:sp>
          <p:nvSpPr>
            <p:cNvPr id="6" name="TextBox 6"/>
            <p:cNvSpPr txBox="1"/>
            <p:nvPr/>
          </p:nvSpPr>
          <p:spPr>
            <a:xfrm>
              <a:off x="603504" y="6195060"/>
              <a:ext cx="806653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在来線は「約6時間」を360分として表示。3分の2・約半分は当資料による計算。</a:t>
              </a:r>
              <a:br/>
              <a:r>
                <a:rPr lang="ja-JP" sz="1200" dirty="0">
                  <a:solidFill>
                    <a:schemeClr val="accent5"/>
                  </a:solidFill>
                  <a:latin typeface="+mn-lt"/>
                  <a:ea typeface="+mn-ea"/>
                  <a:cs typeface="+mn-cs"/>
                </a:rPr>
                <a:t>出典:上野雅之「東海道新幹線車両技術の変遷」日本機械学会誌(2017)/JR東海 ファクトシート2026(2026年3月時点)</a:t>
              </a:r>
            </a:p>
          </p:txBody>
        </p:sp>
        <p:sp>
          <p:nvSpPr>
            <p:cNvPr id="7" name="TextBox 7"/>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8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6819900" y="266700"/>
            <a:ext cx="1600200" cy="1600200"/>
          </a:xfrm>
          <a:prstGeom prst="ellipse">
            <a:avLst/>
          </a:prstGeom>
          <a:solidFill>
            <a:schemeClr val="accent2"/>
          </a:solidFill>
          <a:ln>
            <a:noFill/>
          </a:ln>
        </p:spPr>
      </p:sp>
      <p:grpSp>
        <p:nvGrpSpPr>
          <p:cNvPr id="4" name="Group 4"/>
          <p:cNvGrpSpPr/>
          <p:nvPr/>
        </p:nvGrpSpPr>
        <p:grpSpPr>
          <a:xfrm>
            <a:off x="7620000" y="609600"/>
            <a:ext cx="3962400" cy="5638800"/>
            <a:chOff x="7620000" y="609600"/>
            <a:chExt cx="3962400" cy="5638800"/>
          </a:xfrm>
        </p:grpSpPr>
        <p:pic>
          <p:nvPicPr>
            <p:cNvPr id="3" name="Image 3"/>
            <p:cNvPicPr>
              <a:picLocks noChangeAspect="1"/>
            </p:cNvPicPr>
            <p:nvPr/>
          </p:nvPicPr>
          <p:blipFill>
            <a:blip r:embed="rId2"/>
            <a:srcRect l="6394" t="0" r="6393" b="0"/>
            <a:stretch>
              <a:fillRect/>
            </a:stretch>
          </p:blipFill>
          <p:spPr>
            <a:xfrm>
              <a:off x="7620000" y="609600"/>
              <a:ext cx="3962400" cy="5638800"/>
            </a:xfrm>
            <a:prstGeom prst="roundRect">
              <a:avLst>
                <a:gd name="adj" fmla="val 5769"/>
              </a:avLst>
            </a:prstGeom>
          </p:spPr>
        </p:pic>
      </p:grpSp>
      <p:grpSp>
        <p:nvGrpSpPr>
          <p:cNvPr id="6" name="Group 6"/>
          <p:cNvGrpSpPr/>
          <p:nvPr/>
        </p:nvGrpSpPr>
        <p:grpSpPr>
          <a:xfrm>
            <a:off x="591312" y="640080"/>
            <a:ext cx="6163056" cy="704088"/>
            <a:chOff x="591312" y="640080"/>
            <a:chExt cx="6163056" cy="704088"/>
          </a:xfrm>
        </p:grpSpPr>
        <p:sp>
          <p:nvSpPr>
            <p:cNvPr id="5" name="TextBox 5"/>
            <p:cNvSpPr txBox="1"/>
            <p:nvPr/>
          </p:nvSpPr>
          <p:spPr>
            <a:xfrm>
              <a:off x="591312" y="640080"/>
              <a:ext cx="6163056"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1964年、4時間で走り出した</a:t>
              </a:r>
            </a:p>
          </p:txBody>
        </p:sp>
      </p:grpSp>
      <p:grpSp>
        <p:nvGrpSpPr>
          <p:cNvPr id="8" name="Group 8"/>
          <p:cNvGrpSpPr/>
          <p:nvPr/>
        </p:nvGrpSpPr>
        <p:grpSpPr>
          <a:xfrm>
            <a:off x="601218" y="1688782"/>
            <a:ext cx="2539526" cy="322707"/>
            <a:chOff x="601218" y="1688782"/>
            <a:chExt cx="2539526" cy="322707"/>
          </a:xfrm>
        </p:grpSpPr>
        <p:sp>
          <p:nvSpPr>
            <p:cNvPr id="7" name="TextBox 7"/>
            <p:cNvSpPr txBox="1"/>
            <p:nvPr/>
          </p:nvSpPr>
          <p:spPr>
            <a:xfrm>
              <a:off x="601218" y="1688782"/>
              <a:ext cx="2539526" cy="322707"/>
            </a:xfrm>
            <a:prstGeom prst="rect">
              <a:avLst/>
            </a:prstGeom>
            <a:noFill/>
            <a:ln>
              <a:noFill/>
            </a:ln>
          </p:spPr>
          <p:txBody>
            <a:bodyPr wrap="none" lIns="0" tIns="0" rIns="0" bIns="0" anchor="t" anchorCtr="0">
              <a:spAutoFit/>
            </a:bodyPr>
            <a:lstStyle/>
            <a:p>
              <a:pPr algn="l"/>
              <a:r>
                <a:rPr lang="ja-JP" sz="1650" b="1" dirty="0">
                  <a:solidFill>
                    <a:schemeClr val="accent2"/>
                  </a:solidFill>
                  <a:latin typeface="+mn-lt"/>
                  <a:ea typeface="+mn-ea"/>
                  <a:cs typeface="+mn-cs"/>
                </a:rPr>
                <a:t>1964年10月1日 開業の日</a:t>
              </a:r>
            </a:p>
          </p:txBody>
        </p:sp>
      </p:grpSp>
      <p:grpSp>
        <p:nvGrpSpPr>
          <p:cNvPr id="10" name="!!origin-time"/>
          <p:cNvGrpSpPr/>
          <p:nvPr/>
        </p:nvGrpSpPr>
        <p:grpSpPr>
          <a:xfrm>
            <a:off x="590550" y="2074545"/>
            <a:ext cx="3301442" cy="1905000"/>
            <a:chOff x="590550" y="2074545"/>
            <a:chExt cx="3301442" cy="1905000"/>
          </a:xfrm>
        </p:grpSpPr>
        <p:sp>
          <p:nvSpPr>
            <p:cNvPr id="9" name="TextBox 9"/>
            <p:cNvSpPr txBox="1"/>
            <p:nvPr/>
          </p:nvSpPr>
          <p:spPr>
            <a:xfrm>
              <a:off x="590550" y="2074545"/>
              <a:ext cx="3301442" cy="1905000"/>
            </a:xfrm>
            <a:prstGeom prst="rect">
              <a:avLst/>
            </a:prstGeom>
            <a:noFill/>
            <a:ln>
              <a:noFill/>
            </a:ln>
          </p:spPr>
          <p:txBody>
            <a:bodyPr wrap="none" lIns="0" tIns="0" rIns="0" bIns="0" anchor="t" anchorCtr="0">
              <a:spAutoFit/>
            </a:bodyPr>
            <a:lstStyle/>
            <a:p>
              <a:pPr algn="l"/>
              <a:r>
                <a:rPr lang="ja-JP" sz="9900" b="1" dirty="0">
                  <a:solidFill>
                    <a:schemeClr val="accent1"/>
                  </a:solidFill>
                  <a:latin typeface="Arial Black"/>
                  <a:ea typeface="Arial Black"/>
                  <a:cs typeface="Arial Black"/>
                </a:rPr>
                <a:t>4:00</a:t>
              </a:r>
            </a:p>
          </p:txBody>
        </p:sp>
      </p:grpSp>
      <p:grpSp>
        <p:nvGrpSpPr>
          <p:cNvPr id="12" name="Group 12"/>
          <p:cNvGrpSpPr/>
          <p:nvPr/>
        </p:nvGrpSpPr>
        <p:grpSpPr>
          <a:xfrm>
            <a:off x="597408" y="3760470"/>
            <a:ext cx="4870704" cy="469392"/>
            <a:chOff x="597408" y="3760470"/>
            <a:chExt cx="4870704" cy="469392"/>
          </a:xfrm>
        </p:grpSpPr>
        <p:sp>
          <p:nvSpPr>
            <p:cNvPr id="11" name="TextBox 11"/>
            <p:cNvSpPr txBox="1"/>
            <p:nvPr/>
          </p:nvSpPr>
          <p:spPr>
            <a:xfrm>
              <a:off x="597408" y="3760470"/>
              <a:ext cx="4870704"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開業時の東京〜新大阪の所要時間</a:t>
              </a:r>
            </a:p>
          </p:txBody>
        </p:sp>
      </p:grpSp>
      <p:grpSp>
        <p:nvGrpSpPr>
          <p:cNvPr id="16" name="Group 16"/>
          <p:cNvGrpSpPr/>
          <p:nvPr/>
        </p:nvGrpSpPr>
        <p:grpSpPr>
          <a:xfrm>
            <a:off x="609600" y="4400550"/>
            <a:ext cx="2019300" cy="990600"/>
            <a:chOff x="609600" y="4400550"/>
            <a:chExt cx="2019300" cy="990600"/>
          </a:xfrm>
        </p:grpSpPr>
        <p:sp>
          <p:nvSpPr>
            <p:cNvPr id="13" name="Freeform 13"/>
            <p:cNvSpPr/>
            <p:nvPr/>
          </p:nvSpPr>
          <p:spPr>
            <a:xfrm>
              <a:off x="609600" y="4400550"/>
              <a:ext cx="2019300" cy="990600"/>
            </a:xfrm>
            <a:prstGeom prst="plaque">
              <a:avLst/>
            </a:prstGeom>
            <a:solidFill>
              <a:schemeClr val="lt2"/>
            </a:solidFill>
            <a:ln>
              <a:noFill/>
            </a:ln>
          </p:spPr>
        </p:sp>
        <p:sp>
          <p:nvSpPr>
            <p:cNvPr id="14" name="TextBox 14"/>
            <p:cNvSpPr txBox="1"/>
            <p:nvPr/>
          </p:nvSpPr>
          <p:spPr>
            <a:xfrm>
              <a:off x="1352222" y="4579620"/>
              <a:ext cx="534055" cy="469392"/>
            </a:xfrm>
            <a:prstGeom prst="rect">
              <a:avLst/>
            </a:prstGeom>
            <a:noFill/>
            <a:ln>
              <a:noFill/>
            </a:ln>
          </p:spPr>
          <p:txBody>
            <a:bodyPr wrap="none" lIns="0" tIns="0" rIns="0" bIns="0" anchor="t" anchorCtr="0">
              <a:spAutoFit/>
            </a:bodyPr>
            <a:lstStyle/>
            <a:p>
              <a:pPr algn="ctr"/>
              <a:r>
                <a:rPr lang="ja-JP" sz="2400" b="1" dirty="0">
                  <a:solidFill>
                    <a:schemeClr val="accent1"/>
                  </a:solidFill>
                  <a:latin typeface="+mn-lt"/>
                  <a:ea typeface="+mn-ea"/>
                  <a:cs typeface="+mn-cs"/>
                </a:rPr>
                <a:t>0系</a:t>
              </a:r>
            </a:p>
          </p:txBody>
        </p:sp>
        <p:sp>
          <p:nvSpPr>
            <p:cNvPr id="15" name="TextBox 15"/>
            <p:cNvSpPr txBox="1"/>
            <p:nvPr/>
          </p:nvSpPr>
          <p:spPr>
            <a:xfrm>
              <a:off x="944499" y="5022532"/>
              <a:ext cx="1349502"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開業時の車両</a:t>
              </a:r>
            </a:p>
          </p:txBody>
        </p:sp>
      </p:grpSp>
      <p:grpSp>
        <p:nvGrpSpPr>
          <p:cNvPr id="20" name="Group 20"/>
          <p:cNvGrpSpPr/>
          <p:nvPr/>
        </p:nvGrpSpPr>
        <p:grpSpPr>
          <a:xfrm>
            <a:off x="2781300" y="4400550"/>
            <a:ext cx="2019300" cy="990600"/>
            <a:chOff x="2781300" y="4400550"/>
            <a:chExt cx="2019300" cy="990600"/>
          </a:xfrm>
        </p:grpSpPr>
        <p:sp>
          <p:nvSpPr>
            <p:cNvPr id="17" name="Freeform 17"/>
            <p:cNvSpPr/>
            <p:nvPr/>
          </p:nvSpPr>
          <p:spPr>
            <a:xfrm>
              <a:off x="2781300" y="4400550"/>
              <a:ext cx="2019300" cy="990600"/>
            </a:xfrm>
            <a:prstGeom prst="plaque">
              <a:avLst/>
            </a:prstGeom>
            <a:solidFill>
              <a:schemeClr val="lt2"/>
            </a:solidFill>
            <a:ln>
              <a:noFill/>
            </a:ln>
          </p:spPr>
        </p:sp>
        <p:sp>
          <p:nvSpPr>
            <p:cNvPr id="18" name="TextBox 18"/>
            <p:cNvSpPr txBox="1"/>
            <p:nvPr/>
          </p:nvSpPr>
          <p:spPr>
            <a:xfrm>
              <a:off x="3091792" y="4579620"/>
              <a:ext cx="1398316" cy="469392"/>
            </a:xfrm>
            <a:prstGeom prst="rect">
              <a:avLst/>
            </a:prstGeom>
            <a:noFill/>
            <a:ln>
              <a:noFill/>
            </a:ln>
          </p:spPr>
          <p:txBody>
            <a:bodyPr wrap="none" lIns="0" tIns="0" rIns="0" bIns="0" anchor="t" anchorCtr="0">
              <a:spAutoFit/>
            </a:bodyPr>
            <a:lstStyle/>
            <a:p>
              <a:pPr algn="ctr"/>
              <a:r>
                <a:rPr lang="ja-JP" sz="2400" b="1" dirty="0">
                  <a:solidFill>
                    <a:schemeClr val="accent1"/>
                  </a:solidFill>
                  <a:latin typeface="+mn-lt"/>
                  <a:ea typeface="+mn-ea"/>
                  <a:cs typeface="+mn-cs"/>
                </a:rPr>
                <a:t>210km/h</a:t>
              </a:r>
            </a:p>
          </p:txBody>
        </p:sp>
        <p:sp>
          <p:nvSpPr>
            <p:cNvPr id="19" name="TextBox 19"/>
            <p:cNvSpPr txBox="1"/>
            <p:nvPr/>
          </p:nvSpPr>
          <p:spPr>
            <a:xfrm>
              <a:off x="3338322" y="5022532"/>
              <a:ext cx="905256"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最高速度</a:t>
              </a:r>
            </a:p>
          </p:txBody>
        </p:sp>
      </p:grpSp>
      <p:grpSp>
        <p:nvGrpSpPr>
          <p:cNvPr id="24" name="Group 24"/>
          <p:cNvGrpSpPr/>
          <p:nvPr/>
        </p:nvGrpSpPr>
        <p:grpSpPr>
          <a:xfrm>
            <a:off x="4953000" y="4400550"/>
            <a:ext cx="2019300" cy="990600"/>
            <a:chOff x="4953000" y="4400550"/>
            <a:chExt cx="2019300" cy="990600"/>
          </a:xfrm>
        </p:grpSpPr>
        <p:sp>
          <p:nvSpPr>
            <p:cNvPr id="21" name="Freeform 21"/>
            <p:cNvSpPr/>
            <p:nvPr/>
          </p:nvSpPr>
          <p:spPr>
            <a:xfrm>
              <a:off x="4953000" y="4400550"/>
              <a:ext cx="2019300" cy="990600"/>
            </a:xfrm>
            <a:prstGeom prst="plaque">
              <a:avLst/>
            </a:prstGeom>
            <a:solidFill>
              <a:schemeClr val="lt2"/>
            </a:solidFill>
            <a:ln>
              <a:noFill/>
            </a:ln>
          </p:spPr>
        </p:sp>
        <p:sp>
          <p:nvSpPr>
            <p:cNvPr id="22" name="TextBox 22"/>
            <p:cNvSpPr txBox="1"/>
            <p:nvPr/>
          </p:nvSpPr>
          <p:spPr>
            <a:xfrm>
              <a:off x="5347495" y="4579620"/>
              <a:ext cx="1230310" cy="469392"/>
            </a:xfrm>
            <a:prstGeom prst="rect">
              <a:avLst/>
            </a:prstGeom>
            <a:noFill/>
            <a:ln>
              <a:noFill/>
            </a:ln>
          </p:spPr>
          <p:txBody>
            <a:bodyPr wrap="none" lIns="0" tIns="0" rIns="0" bIns="0" anchor="t" anchorCtr="0">
              <a:spAutoFit/>
            </a:bodyPr>
            <a:lstStyle/>
            <a:p>
              <a:pPr algn="ctr"/>
              <a:r>
                <a:rPr lang="ja-JP" sz="2400" b="1" dirty="0">
                  <a:solidFill>
                    <a:schemeClr val="accent1"/>
                  </a:solidFill>
                  <a:latin typeface="+mn-lt"/>
                  <a:ea typeface="+mn-ea"/>
                  <a:cs typeface="+mn-cs"/>
                </a:rPr>
                <a:t>60本/日</a:t>
              </a:r>
            </a:p>
          </p:txBody>
        </p:sp>
        <p:sp>
          <p:nvSpPr>
            <p:cNvPr id="23" name="TextBox 23"/>
            <p:cNvSpPr txBox="1"/>
            <p:nvPr/>
          </p:nvSpPr>
          <p:spPr>
            <a:xfrm>
              <a:off x="5115754" y="5022532"/>
              <a:ext cx="1693793"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開業時の1日平均</a:t>
              </a:r>
            </a:p>
          </p:txBody>
        </p:sp>
      </p:grpSp>
      <p:grpSp>
        <p:nvGrpSpPr>
          <p:cNvPr id="27" name="Group 27"/>
          <p:cNvGrpSpPr/>
          <p:nvPr/>
        </p:nvGrpSpPr>
        <p:grpSpPr>
          <a:xfrm>
            <a:off x="0" y="5638800"/>
            <a:ext cx="7620000" cy="200025"/>
            <a:chOff x="0" y="5638800"/>
            <a:chExt cx="7620000" cy="200025"/>
          </a:xfrm>
        </p:grpSpPr>
        <p:sp>
          <p:nvSpPr>
            <p:cNvPr id="25" name="Rectangle 25"/>
            <p:cNvSpPr/>
            <p:nvPr/>
          </p:nvSpPr>
          <p:spPr>
            <a:xfrm>
              <a:off x="0" y="5638800"/>
              <a:ext cx="7620000" cy="114300"/>
            </a:xfrm>
            <a:prstGeom prst="rect">
              <a:avLst/>
            </a:prstGeom>
            <a:solidFill>
              <a:schemeClr val="accent1"/>
            </a:solidFill>
            <a:ln>
              <a:noFill/>
            </a:ln>
          </p:spPr>
        </p:sp>
        <p:sp>
          <p:nvSpPr>
            <p:cNvPr id="26" name="Line 26"/>
            <p:cNvSpPr/>
            <p:nvPr/>
          </p:nvSpPr>
          <p:spPr>
            <a:xfrm>
              <a:off x="0" y="5829300"/>
              <a:ext cx="7620000" cy="9525"/>
            </a:xfrm>
            <a:custGeom>
              <a:avLst/>
              <a:gdLst/>
              <a:ahLst/>
              <a:cxnLst/>
              <a:rect l="l" t="t" r="r" b="b"/>
              <a:pathLst>
                <a:path w="7620000" h="9525">
                  <a:moveTo>
                    <a:pt x="0" y="0"/>
                  </a:moveTo>
                  <a:lnTo>
                    <a:pt x="7620000" y="0"/>
                  </a:lnTo>
                </a:path>
              </a:pathLst>
            </a:custGeom>
            <a:noFill/>
            <a:ln w="19050">
              <a:solidFill>
                <a:schemeClr val="accent1"/>
              </a:solidFill>
            </a:ln>
          </p:spPr>
        </p:sp>
      </p:grpSp>
      <p:grpSp>
        <p:nvGrpSpPr>
          <p:cNvPr id="30" name="Group 30"/>
          <p:cNvGrpSpPr/>
          <p:nvPr/>
        </p:nvGrpSpPr>
        <p:grpSpPr>
          <a:xfrm>
            <a:off x="603504" y="6195060"/>
            <a:ext cx="10984992" cy="444246"/>
            <a:chOff x="603504" y="6195060"/>
            <a:chExt cx="10984992" cy="444246"/>
          </a:xfrm>
        </p:grpSpPr>
        <p:sp>
          <p:nvSpPr>
            <p:cNvPr id="28" name="TextBox 28"/>
            <p:cNvSpPr txBox="1"/>
            <p:nvPr/>
          </p:nvSpPr>
          <p:spPr>
            <a:xfrm>
              <a:off x="603504" y="6195060"/>
              <a:ext cx="761695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右の図はAI生成のイメージで、特定の車両を再現したものではありません。</a:t>
              </a:r>
              <a:br/>
              <a:r>
                <a:rPr lang="ja-JP" sz="1200" dirty="0">
                  <a:solidFill>
                    <a:schemeClr val="accent5"/>
                  </a:solidFill>
                  <a:latin typeface="+mn-lt"/>
                  <a:ea typeface="+mn-ea"/>
                  <a:cs typeface="+mn-cs"/>
                </a:rPr>
                <a:t>出典:JR東海 ニュースリリース(2024年2月)/上野雅之(2017)日本機械学会誌/JR東海 採用サイト(2026年時点)</a:t>
              </a:r>
            </a:p>
          </p:txBody>
        </p:sp>
        <p:sp>
          <p:nvSpPr>
            <p:cNvPr id="29" name="TextBox 29"/>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04</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1312" y="601980"/>
            <a:ext cx="9755429" cy="1132332"/>
            <a:chOff x="591312" y="601980"/>
            <a:chExt cx="9755429" cy="1132332"/>
          </a:xfrm>
        </p:grpSpPr>
        <p:sp>
          <p:nvSpPr>
            <p:cNvPr id="2" name="TextBox 2"/>
            <p:cNvSpPr txBox="1"/>
            <p:nvPr/>
          </p:nvSpPr>
          <p:spPr>
            <a:xfrm>
              <a:off x="591312" y="601980"/>
              <a:ext cx="6647688"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7世代で、4時間は2時間21分に</a:t>
              </a:r>
            </a:p>
          </p:txBody>
        </p:sp>
        <p:sp>
          <p:nvSpPr>
            <p:cNvPr id="3" name="TextBox 3"/>
            <p:cNvSpPr txBox="1"/>
            <p:nvPr/>
          </p:nvSpPr>
          <p:spPr>
            <a:xfrm>
              <a:off x="597408" y="1264920"/>
              <a:ext cx="9749333"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型式が代わるたびに最高速度が上がり、最速所要は99分短くなった</a:t>
              </a:r>
            </a:p>
          </p:txBody>
        </p:sp>
      </p:grpSp>
      <p:grpSp>
        <p:nvGrpSpPr>
          <p:cNvPr id="12" name="Group 12"/>
          <p:cNvGrpSpPr/>
          <p:nvPr/>
        </p:nvGrpSpPr>
        <p:grpSpPr>
          <a:xfrm>
            <a:off x="1249541" y="2088832"/>
            <a:ext cx="9673868" cy="322707"/>
            <a:chOff x="1249541" y="2088832"/>
            <a:chExt cx="9673868" cy="322707"/>
          </a:xfrm>
        </p:grpSpPr>
        <p:sp>
          <p:nvSpPr>
            <p:cNvPr id="5" name="TextBox 5"/>
            <p:cNvSpPr txBox="1"/>
            <p:nvPr/>
          </p:nvSpPr>
          <p:spPr>
            <a:xfrm>
              <a:off x="1249541" y="2088832"/>
              <a:ext cx="529868" cy="322707"/>
            </a:xfrm>
            <a:prstGeom prst="rect">
              <a:avLst/>
            </a:prstGeom>
            <a:noFill/>
            <a:ln>
              <a:noFill/>
            </a:ln>
          </p:spPr>
          <p:txBody>
            <a:bodyPr wrap="none" lIns="0" tIns="0" rIns="0" bIns="0" anchor="t" anchorCtr="0">
              <a:spAutoFit/>
            </a:bodyPr>
            <a:lstStyle/>
            <a:p>
              <a:pPr algn="ctr"/>
              <a:r>
                <a:rPr lang="ja-JP" sz="1650" b="1" dirty="0">
                  <a:solidFill>
                    <a:schemeClr val="accent5"/>
                  </a:solidFill>
                  <a:latin typeface="+mn-lt"/>
                  <a:ea typeface="+mn-ea"/>
                  <a:cs typeface="+mn-cs"/>
                </a:rPr>
                <a:t>1964</a:t>
              </a:r>
            </a:p>
          </p:txBody>
        </p:sp>
        <p:sp>
          <p:nvSpPr>
            <p:cNvPr id="6" name="TextBox 6"/>
            <p:cNvSpPr txBox="1"/>
            <p:nvPr/>
          </p:nvSpPr>
          <p:spPr>
            <a:xfrm>
              <a:off x="2773541" y="2088832"/>
              <a:ext cx="529868" cy="322707"/>
            </a:xfrm>
            <a:prstGeom prst="rect">
              <a:avLst/>
            </a:prstGeom>
            <a:noFill/>
            <a:ln>
              <a:noFill/>
            </a:ln>
          </p:spPr>
          <p:txBody>
            <a:bodyPr wrap="none" lIns="0" tIns="0" rIns="0" bIns="0" anchor="t" anchorCtr="0">
              <a:spAutoFit/>
            </a:bodyPr>
            <a:lstStyle/>
            <a:p>
              <a:pPr algn="ctr"/>
              <a:r>
                <a:rPr lang="ja-JP" sz="1650" b="1" dirty="0">
                  <a:solidFill>
                    <a:schemeClr val="accent5"/>
                  </a:solidFill>
                  <a:latin typeface="+mn-lt"/>
                  <a:ea typeface="+mn-ea"/>
                  <a:cs typeface="+mn-cs"/>
                </a:rPr>
                <a:t>1985</a:t>
              </a:r>
            </a:p>
          </p:txBody>
        </p:sp>
        <p:sp>
          <p:nvSpPr>
            <p:cNvPr id="7" name="TextBox 7"/>
            <p:cNvSpPr txBox="1"/>
            <p:nvPr/>
          </p:nvSpPr>
          <p:spPr>
            <a:xfrm>
              <a:off x="4297541" y="2088832"/>
              <a:ext cx="529868" cy="322707"/>
            </a:xfrm>
            <a:prstGeom prst="rect">
              <a:avLst/>
            </a:prstGeom>
            <a:noFill/>
            <a:ln>
              <a:noFill/>
            </a:ln>
          </p:spPr>
          <p:txBody>
            <a:bodyPr wrap="none" lIns="0" tIns="0" rIns="0" bIns="0" anchor="t" anchorCtr="0">
              <a:spAutoFit/>
            </a:bodyPr>
            <a:lstStyle/>
            <a:p>
              <a:pPr algn="ctr"/>
              <a:r>
                <a:rPr lang="ja-JP" sz="1650" b="1" dirty="0">
                  <a:solidFill>
                    <a:schemeClr val="accent5"/>
                  </a:solidFill>
                  <a:latin typeface="+mn-lt"/>
                  <a:ea typeface="+mn-ea"/>
                  <a:cs typeface="+mn-cs"/>
                </a:rPr>
                <a:t>1992</a:t>
              </a:r>
            </a:p>
          </p:txBody>
        </p:sp>
        <p:sp>
          <p:nvSpPr>
            <p:cNvPr id="8" name="TextBox 8"/>
            <p:cNvSpPr txBox="1"/>
            <p:nvPr/>
          </p:nvSpPr>
          <p:spPr>
            <a:xfrm>
              <a:off x="5821541" y="2088832"/>
              <a:ext cx="529868" cy="322707"/>
            </a:xfrm>
            <a:prstGeom prst="rect">
              <a:avLst/>
            </a:prstGeom>
            <a:noFill/>
            <a:ln>
              <a:noFill/>
            </a:ln>
          </p:spPr>
          <p:txBody>
            <a:bodyPr wrap="none" lIns="0" tIns="0" rIns="0" bIns="0" anchor="t" anchorCtr="0">
              <a:spAutoFit/>
            </a:bodyPr>
            <a:lstStyle/>
            <a:p>
              <a:pPr algn="ctr"/>
              <a:r>
                <a:rPr lang="ja-JP" sz="1650" b="1" dirty="0">
                  <a:solidFill>
                    <a:schemeClr val="accent5"/>
                  </a:solidFill>
                  <a:latin typeface="+mn-lt"/>
                  <a:ea typeface="+mn-ea"/>
                  <a:cs typeface="+mn-cs"/>
                </a:rPr>
                <a:t>1999</a:t>
              </a:r>
            </a:p>
          </p:txBody>
        </p:sp>
        <p:sp>
          <p:nvSpPr>
            <p:cNvPr id="9" name="TextBox 9"/>
            <p:cNvSpPr txBox="1"/>
            <p:nvPr/>
          </p:nvSpPr>
          <p:spPr>
            <a:xfrm>
              <a:off x="7345541" y="2088832"/>
              <a:ext cx="529868" cy="322707"/>
            </a:xfrm>
            <a:prstGeom prst="rect">
              <a:avLst/>
            </a:prstGeom>
            <a:noFill/>
            <a:ln>
              <a:noFill/>
            </a:ln>
          </p:spPr>
          <p:txBody>
            <a:bodyPr wrap="none" lIns="0" tIns="0" rIns="0" bIns="0" anchor="t" anchorCtr="0">
              <a:spAutoFit/>
            </a:bodyPr>
            <a:lstStyle/>
            <a:p>
              <a:pPr algn="ctr"/>
              <a:r>
                <a:rPr lang="ja-JP" sz="1650" b="1" dirty="0">
                  <a:solidFill>
                    <a:schemeClr val="accent5"/>
                  </a:solidFill>
                  <a:latin typeface="+mn-lt"/>
                  <a:ea typeface="+mn-ea"/>
                  <a:cs typeface="+mn-cs"/>
                </a:rPr>
                <a:t>2007</a:t>
              </a:r>
            </a:p>
          </p:txBody>
        </p:sp>
        <p:sp>
          <p:nvSpPr>
            <p:cNvPr id="10" name="TextBox 10"/>
            <p:cNvSpPr txBox="1"/>
            <p:nvPr/>
          </p:nvSpPr>
          <p:spPr>
            <a:xfrm>
              <a:off x="8869541" y="2088832"/>
              <a:ext cx="529868" cy="322707"/>
            </a:xfrm>
            <a:prstGeom prst="rect">
              <a:avLst/>
            </a:prstGeom>
            <a:noFill/>
            <a:ln>
              <a:noFill/>
            </a:ln>
          </p:spPr>
          <p:txBody>
            <a:bodyPr wrap="none" lIns="0" tIns="0" rIns="0" bIns="0" anchor="t" anchorCtr="0">
              <a:spAutoFit/>
            </a:bodyPr>
            <a:lstStyle/>
            <a:p>
              <a:pPr algn="ctr"/>
              <a:r>
                <a:rPr lang="ja-JP" sz="1650" b="1" dirty="0">
                  <a:solidFill>
                    <a:schemeClr val="accent5"/>
                  </a:solidFill>
                  <a:latin typeface="+mn-lt"/>
                  <a:ea typeface="+mn-ea"/>
                  <a:cs typeface="+mn-cs"/>
                </a:rPr>
                <a:t>2013</a:t>
              </a:r>
            </a:p>
          </p:txBody>
        </p:sp>
        <p:sp>
          <p:nvSpPr>
            <p:cNvPr id="11" name="TextBox 11"/>
            <p:cNvSpPr txBox="1"/>
            <p:nvPr/>
          </p:nvSpPr>
          <p:spPr>
            <a:xfrm>
              <a:off x="10393541" y="2088832"/>
              <a:ext cx="529868" cy="322707"/>
            </a:xfrm>
            <a:prstGeom prst="rect">
              <a:avLst/>
            </a:prstGeom>
            <a:noFill/>
            <a:ln>
              <a:noFill/>
            </a:ln>
          </p:spPr>
          <p:txBody>
            <a:bodyPr wrap="none" lIns="0" tIns="0" rIns="0" bIns="0" anchor="t" anchorCtr="0">
              <a:spAutoFit/>
            </a:bodyPr>
            <a:lstStyle/>
            <a:p>
              <a:pPr algn="ctr"/>
              <a:r>
                <a:rPr lang="ja-JP" sz="1650" b="1" dirty="0">
                  <a:solidFill>
                    <a:schemeClr val="accent5"/>
                  </a:solidFill>
                  <a:latin typeface="+mn-lt"/>
                  <a:ea typeface="+mn-ea"/>
                  <a:cs typeface="+mn-cs"/>
                </a:rPr>
                <a:t>2020</a:t>
              </a:r>
            </a:p>
          </p:txBody>
        </p:sp>
      </p:grpSp>
      <p:grpSp>
        <p:nvGrpSpPr>
          <p:cNvPr id="28" name="Group 28"/>
          <p:cNvGrpSpPr/>
          <p:nvPr/>
        </p:nvGrpSpPr>
        <p:grpSpPr>
          <a:xfrm>
            <a:off x="609600" y="2438400"/>
            <a:ext cx="10953750" cy="685800"/>
            <a:chOff x="609600" y="2438400"/>
            <a:chExt cx="10953750" cy="685800"/>
          </a:xfrm>
        </p:grpSpPr>
        <p:sp>
          <p:nvSpPr>
            <p:cNvPr id="13" name="Freeform 13"/>
            <p:cNvSpPr/>
            <p:nvPr/>
          </p:nvSpPr>
          <p:spPr>
            <a:xfrm>
              <a:off x="609600" y="2438400"/>
              <a:ext cx="1809750" cy="685800"/>
            </a:xfrm>
            <a:prstGeom prst="chevron">
              <a:avLst/>
            </a:prstGeom>
            <a:solidFill>
              <a:schemeClr val="accent1"/>
            </a:solidFill>
            <a:ln>
              <a:noFill/>
            </a:ln>
          </p:spPr>
        </p:sp>
        <p:sp>
          <p:nvSpPr>
            <p:cNvPr id="14" name="Freeform 14"/>
            <p:cNvSpPr/>
            <p:nvPr/>
          </p:nvSpPr>
          <p:spPr>
            <a:xfrm>
              <a:off x="2133600" y="2438400"/>
              <a:ext cx="1809750" cy="685800"/>
            </a:xfrm>
            <a:prstGeom prst="chevron">
              <a:avLst/>
            </a:prstGeom>
            <a:solidFill>
              <a:schemeClr val="accent1"/>
            </a:solidFill>
            <a:ln>
              <a:noFill/>
            </a:ln>
          </p:spPr>
        </p:sp>
        <p:sp>
          <p:nvSpPr>
            <p:cNvPr id="15" name="Freeform 15"/>
            <p:cNvSpPr/>
            <p:nvPr/>
          </p:nvSpPr>
          <p:spPr>
            <a:xfrm>
              <a:off x="3657600" y="2438400"/>
              <a:ext cx="1809750" cy="685800"/>
            </a:xfrm>
            <a:prstGeom prst="chevron">
              <a:avLst/>
            </a:prstGeom>
            <a:solidFill>
              <a:schemeClr val="accent1"/>
            </a:solidFill>
            <a:ln>
              <a:noFill/>
            </a:ln>
          </p:spPr>
        </p:sp>
        <p:sp>
          <p:nvSpPr>
            <p:cNvPr id="16" name="Freeform 16"/>
            <p:cNvSpPr/>
            <p:nvPr/>
          </p:nvSpPr>
          <p:spPr>
            <a:xfrm>
              <a:off x="5181600" y="2438400"/>
              <a:ext cx="1809750" cy="685800"/>
            </a:xfrm>
            <a:prstGeom prst="chevron">
              <a:avLst/>
            </a:prstGeom>
            <a:solidFill>
              <a:schemeClr val="accent1"/>
            </a:solidFill>
            <a:ln>
              <a:noFill/>
            </a:ln>
          </p:spPr>
        </p:sp>
        <p:sp>
          <p:nvSpPr>
            <p:cNvPr id="17" name="Freeform 17"/>
            <p:cNvSpPr/>
            <p:nvPr/>
          </p:nvSpPr>
          <p:spPr>
            <a:xfrm>
              <a:off x="6705600" y="2438400"/>
              <a:ext cx="1809750" cy="685800"/>
            </a:xfrm>
            <a:prstGeom prst="chevron">
              <a:avLst/>
            </a:prstGeom>
            <a:solidFill>
              <a:schemeClr val="accent1"/>
            </a:solidFill>
            <a:ln>
              <a:noFill/>
            </a:ln>
          </p:spPr>
        </p:sp>
        <p:sp>
          <p:nvSpPr>
            <p:cNvPr id="18" name="Freeform 18"/>
            <p:cNvSpPr/>
            <p:nvPr/>
          </p:nvSpPr>
          <p:spPr>
            <a:xfrm>
              <a:off x="8229600" y="2438400"/>
              <a:ext cx="1809750" cy="685800"/>
            </a:xfrm>
            <a:prstGeom prst="chevron">
              <a:avLst/>
            </a:prstGeom>
            <a:solidFill>
              <a:schemeClr val="accent1"/>
            </a:solidFill>
            <a:ln>
              <a:noFill/>
            </a:ln>
          </p:spPr>
        </p:sp>
        <p:sp>
          <p:nvSpPr>
            <p:cNvPr id="19" name="Freeform 19"/>
            <p:cNvSpPr/>
            <p:nvPr/>
          </p:nvSpPr>
          <p:spPr>
            <a:xfrm>
              <a:off x="9753600" y="2438400"/>
              <a:ext cx="1809750" cy="685800"/>
            </a:xfrm>
            <a:prstGeom prst="chevron">
              <a:avLst/>
            </a:prstGeom>
            <a:solidFill>
              <a:schemeClr val="accent2"/>
            </a:solidFill>
            <a:ln>
              <a:noFill/>
            </a:ln>
          </p:spPr>
        </p:sp>
        <p:grpSp>
          <p:nvGrpSpPr>
            <p:cNvPr id="27" name="Group 27"/>
            <p:cNvGrpSpPr/>
            <p:nvPr/>
          </p:nvGrpSpPr>
          <p:grpSpPr>
            <a:xfrm>
              <a:off x="1280826" y="2649855"/>
              <a:ext cx="9819571" cy="410718"/>
              <a:chOff x="1280826" y="2649855"/>
              <a:chExt cx="9819571" cy="410718"/>
            </a:xfrm>
          </p:grpSpPr>
          <p:sp>
            <p:nvSpPr>
              <p:cNvPr id="20" name="TextBox 20"/>
              <p:cNvSpPr txBox="1"/>
              <p:nvPr/>
            </p:nvSpPr>
            <p:spPr>
              <a:xfrm>
                <a:off x="1280826" y="2649855"/>
                <a:ext cx="467298"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0系</a:t>
                </a:r>
              </a:p>
            </p:txBody>
          </p:sp>
          <p:sp>
            <p:nvSpPr>
              <p:cNvPr id="21" name="TextBox 21"/>
              <p:cNvSpPr txBox="1"/>
              <p:nvPr/>
            </p:nvSpPr>
            <p:spPr>
              <a:xfrm>
                <a:off x="2641565" y="2649855"/>
                <a:ext cx="793819"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100系</a:t>
                </a:r>
              </a:p>
            </p:txBody>
          </p:sp>
          <p:sp>
            <p:nvSpPr>
              <p:cNvPr id="22" name="TextBox 22"/>
              <p:cNvSpPr txBox="1"/>
              <p:nvPr/>
            </p:nvSpPr>
            <p:spPr>
              <a:xfrm>
                <a:off x="4165565" y="2649855"/>
                <a:ext cx="793819"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300系</a:t>
                </a:r>
              </a:p>
            </p:txBody>
          </p:sp>
          <p:sp>
            <p:nvSpPr>
              <p:cNvPr id="23" name="TextBox 23"/>
              <p:cNvSpPr txBox="1"/>
              <p:nvPr/>
            </p:nvSpPr>
            <p:spPr>
              <a:xfrm>
                <a:off x="5689565" y="2649855"/>
                <a:ext cx="793819"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700系</a:t>
                </a:r>
              </a:p>
            </p:txBody>
          </p:sp>
          <p:sp>
            <p:nvSpPr>
              <p:cNvPr id="24" name="TextBox 24"/>
              <p:cNvSpPr txBox="1"/>
              <p:nvPr/>
            </p:nvSpPr>
            <p:spPr>
              <a:xfrm>
                <a:off x="7113453" y="2649855"/>
                <a:ext cx="994044"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N700系</a:t>
                </a:r>
              </a:p>
            </p:txBody>
          </p:sp>
          <p:sp>
            <p:nvSpPr>
              <p:cNvPr id="25" name="TextBox 25"/>
              <p:cNvSpPr txBox="1"/>
              <p:nvPr/>
            </p:nvSpPr>
            <p:spPr>
              <a:xfrm>
                <a:off x="8692553" y="2649855"/>
                <a:ext cx="883844"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N700A</a:t>
                </a:r>
              </a:p>
            </p:txBody>
          </p:sp>
          <p:sp>
            <p:nvSpPr>
              <p:cNvPr id="26" name="TextBox 26"/>
              <p:cNvSpPr txBox="1"/>
              <p:nvPr/>
            </p:nvSpPr>
            <p:spPr>
              <a:xfrm>
                <a:off x="10216553" y="2649855"/>
                <a:ext cx="883844"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N700S</a:t>
                </a:r>
              </a:p>
            </p:txBody>
          </p:sp>
        </p:grpSp>
      </p:grpSp>
      <p:grpSp>
        <p:nvGrpSpPr>
          <p:cNvPr id="40" name="Group 40"/>
          <p:cNvGrpSpPr/>
          <p:nvPr/>
        </p:nvGrpSpPr>
        <p:grpSpPr>
          <a:xfrm>
            <a:off x="734216" y="3430905"/>
            <a:ext cx="10536022" cy="657034"/>
            <a:chOff x="734216" y="3430905"/>
            <a:chExt cx="10536022" cy="657034"/>
          </a:xfrm>
        </p:grpSpPr>
        <p:grpSp>
          <p:nvGrpSpPr>
            <p:cNvPr id="36" name="Group 36"/>
            <p:cNvGrpSpPr/>
            <p:nvPr/>
          </p:nvGrpSpPr>
          <p:grpSpPr>
            <a:xfrm>
              <a:off x="902712" y="3430905"/>
              <a:ext cx="10367526" cy="410718"/>
              <a:chOff x="902712" y="3430905"/>
              <a:chExt cx="10367526" cy="410718"/>
            </a:xfrm>
          </p:grpSpPr>
          <p:sp>
            <p:nvSpPr>
              <p:cNvPr id="29" name="TextBox 29"/>
              <p:cNvSpPr txBox="1"/>
              <p:nvPr/>
            </p:nvSpPr>
            <p:spPr>
              <a:xfrm>
                <a:off x="902712" y="3430905"/>
                <a:ext cx="1223526" cy="410718"/>
              </a:xfrm>
              <a:prstGeom prst="rect">
                <a:avLst/>
              </a:prstGeom>
              <a:noFill/>
              <a:ln>
                <a:noFill/>
              </a:ln>
            </p:spPr>
            <p:txBody>
              <a:bodyPr wrap="none" lIns="0" tIns="0" rIns="0" bIns="0" anchor="t" anchorCtr="0">
                <a:spAutoFit/>
              </a:bodyPr>
              <a:lstStyle/>
              <a:p>
                <a:pPr algn="ctr"/>
                <a:r>
                  <a:rPr lang="ja-JP" sz="2100" b="1" dirty="0">
                    <a:solidFill>
                      <a:schemeClr val="accent1"/>
                    </a:solidFill>
                    <a:latin typeface="+mn-lt"/>
                    <a:ea typeface="+mn-ea"/>
                    <a:cs typeface="+mn-cs"/>
                  </a:rPr>
                  <a:t>210km/h</a:t>
                </a:r>
              </a:p>
            </p:txBody>
          </p:sp>
          <p:sp>
            <p:nvSpPr>
              <p:cNvPr id="30" name="TextBox 30"/>
              <p:cNvSpPr txBox="1"/>
              <p:nvPr/>
            </p:nvSpPr>
            <p:spPr>
              <a:xfrm>
                <a:off x="2426712" y="3430905"/>
                <a:ext cx="1223526" cy="410718"/>
              </a:xfrm>
              <a:prstGeom prst="rect">
                <a:avLst/>
              </a:prstGeom>
              <a:noFill/>
              <a:ln>
                <a:noFill/>
              </a:ln>
            </p:spPr>
            <p:txBody>
              <a:bodyPr wrap="none" lIns="0" tIns="0" rIns="0" bIns="0" anchor="t" anchorCtr="0">
                <a:spAutoFit/>
              </a:bodyPr>
              <a:lstStyle/>
              <a:p>
                <a:pPr algn="ctr"/>
                <a:r>
                  <a:rPr lang="ja-JP" sz="2100" b="1" dirty="0">
                    <a:solidFill>
                      <a:schemeClr val="accent1"/>
                    </a:solidFill>
                    <a:latin typeface="+mn-lt"/>
                    <a:ea typeface="+mn-ea"/>
                    <a:cs typeface="+mn-cs"/>
                  </a:rPr>
                  <a:t>220km/h</a:t>
                </a:r>
              </a:p>
            </p:txBody>
          </p:sp>
          <p:sp>
            <p:nvSpPr>
              <p:cNvPr id="31" name="TextBox 31"/>
              <p:cNvSpPr txBox="1"/>
              <p:nvPr/>
            </p:nvSpPr>
            <p:spPr>
              <a:xfrm>
                <a:off x="3950712" y="3430905"/>
                <a:ext cx="1223526" cy="410718"/>
              </a:xfrm>
              <a:prstGeom prst="rect">
                <a:avLst/>
              </a:prstGeom>
              <a:noFill/>
              <a:ln>
                <a:noFill/>
              </a:ln>
            </p:spPr>
            <p:txBody>
              <a:bodyPr wrap="none" lIns="0" tIns="0" rIns="0" bIns="0" anchor="t" anchorCtr="0">
                <a:spAutoFit/>
              </a:bodyPr>
              <a:lstStyle/>
              <a:p>
                <a:pPr algn="ctr"/>
                <a:r>
                  <a:rPr lang="ja-JP" sz="2100" b="1" dirty="0">
                    <a:solidFill>
                      <a:schemeClr val="accent1"/>
                    </a:solidFill>
                    <a:latin typeface="+mn-lt"/>
                    <a:ea typeface="+mn-ea"/>
                    <a:cs typeface="+mn-cs"/>
                  </a:rPr>
                  <a:t>270km/h</a:t>
                </a:r>
              </a:p>
            </p:txBody>
          </p:sp>
          <p:sp>
            <p:nvSpPr>
              <p:cNvPr id="32" name="TextBox 32"/>
              <p:cNvSpPr txBox="1"/>
              <p:nvPr/>
            </p:nvSpPr>
            <p:spPr>
              <a:xfrm>
                <a:off x="5474712" y="3430905"/>
                <a:ext cx="1223526" cy="410718"/>
              </a:xfrm>
              <a:prstGeom prst="rect">
                <a:avLst/>
              </a:prstGeom>
              <a:noFill/>
              <a:ln>
                <a:noFill/>
              </a:ln>
            </p:spPr>
            <p:txBody>
              <a:bodyPr wrap="none" lIns="0" tIns="0" rIns="0" bIns="0" anchor="t" anchorCtr="0">
                <a:spAutoFit/>
              </a:bodyPr>
              <a:lstStyle/>
              <a:p>
                <a:pPr algn="ctr"/>
                <a:r>
                  <a:rPr lang="ja-JP" sz="2100" b="1" dirty="0">
                    <a:solidFill>
                      <a:schemeClr val="accent1"/>
                    </a:solidFill>
                    <a:latin typeface="+mn-lt"/>
                    <a:ea typeface="+mn-ea"/>
                    <a:cs typeface="+mn-cs"/>
                  </a:rPr>
                  <a:t>270km/h</a:t>
                </a:r>
              </a:p>
            </p:txBody>
          </p:sp>
          <p:sp>
            <p:nvSpPr>
              <p:cNvPr id="33" name="TextBox 33"/>
              <p:cNvSpPr txBox="1"/>
              <p:nvPr/>
            </p:nvSpPr>
            <p:spPr>
              <a:xfrm>
                <a:off x="6998712" y="3430905"/>
                <a:ext cx="1223526" cy="410718"/>
              </a:xfrm>
              <a:prstGeom prst="rect">
                <a:avLst/>
              </a:prstGeom>
              <a:noFill/>
              <a:ln>
                <a:noFill/>
              </a:ln>
            </p:spPr>
            <p:txBody>
              <a:bodyPr wrap="none" lIns="0" tIns="0" rIns="0" bIns="0" anchor="t" anchorCtr="0">
                <a:spAutoFit/>
              </a:bodyPr>
              <a:lstStyle/>
              <a:p>
                <a:pPr algn="ctr"/>
                <a:r>
                  <a:rPr lang="ja-JP" sz="2100" b="1" dirty="0">
                    <a:solidFill>
                      <a:schemeClr val="accent1"/>
                    </a:solidFill>
                    <a:latin typeface="+mn-lt"/>
                    <a:ea typeface="+mn-ea"/>
                    <a:cs typeface="+mn-cs"/>
                  </a:rPr>
                  <a:t>270km/h</a:t>
                </a:r>
              </a:p>
            </p:txBody>
          </p:sp>
          <p:sp>
            <p:nvSpPr>
              <p:cNvPr id="34" name="TextBox 34"/>
              <p:cNvSpPr txBox="1"/>
              <p:nvPr/>
            </p:nvSpPr>
            <p:spPr>
              <a:xfrm>
                <a:off x="8522712" y="3430905"/>
                <a:ext cx="1223526" cy="410718"/>
              </a:xfrm>
              <a:prstGeom prst="rect">
                <a:avLst/>
              </a:prstGeom>
              <a:noFill/>
              <a:ln>
                <a:noFill/>
              </a:ln>
            </p:spPr>
            <p:txBody>
              <a:bodyPr wrap="none" lIns="0" tIns="0" rIns="0" bIns="0" anchor="t" anchorCtr="0">
                <a:spAutoFit/>
              </a:bodyPr>
              <a:lstStyle/>
              <a:p>
                <a:pPr algn="ctr"/>
                <a:r>
                  <a:rPr lang="ja-JP" sz="2100" b="1" dirty="0">
                    <a:solidFill>
                      <a:schemeClr val="accent1"/>
                    </a:solidFill>
                    <a:latin typeface="+mn-lt"/>
                    <a:ea typeface="+mn-ea"/>
                    <a:cs typeface="+mn-cs"/>
                  </a:rPr>
                  <a:t>285km/h</a:t>
                </a:r>
              </a:p>
            </p:txBody>
          </p:sp>
          <p:sp>
            <p:nvSpPr>
              <p:cNvPr id="35" name="TextBox 35"/>
              <p:cNvSpPr txBox="1"/>
              <p:nvPr/>
            </p:nvSpPr>
            <p:spPr>
              <a:xfrm>
                <a:off x="10046712" y="3430905"/>
                <a:ext cx="1223526" cy="410718"/>
              </a:xfrm>
              <a:prstGeom prst="rect">
                <a:avLst/>
              </a:prstGeom>
              <a:noFill/>
              <a:ln>
                <a:noFill/>
              </a:ln>
            </p:spPr>
            <p:txBody>
              <a:bodyPr wrap="none" lIns="0" tIns="0" rIns="0" bIns="0" anchor="t" anchorCtr="0">
                <a:spAutoFit/>
              </a:bodyPr>
              <a:lstStyle/>
              <a:p>
                <a:pPr algn="ctr"/>
                <a:r>
                  <a:rPr lang="ja-JP" sz="2100" b="1" dirty="0">
                    <a:solidFill>
                      <a:schemeClr val="accent2"/>
                    </a:solidFill>
                    <a:latin typeface="+mn-lt"/>
                    <a:ea typeface="+mn-ea"/>
                    <a:cs typeface="+mn-cs"/>
                  </a:rPr>
                  <a:t>285km/h</a:t>
                </a:r>
              </a:p>
            </p:txBody>
          </p:sp>
        </p:grpSp>
        <p:grpSp>
          <p:nvGrpSpPr>
            <p:cNvPr id="39" name="Group 39"/>
            <p:cNvGrpSpPr/>
            <p:nvPr/>
          </p:nvGrpSpPr>
          <p:grpSpPr>
            <a:xfrm>
              <a:off x="734216" y="3765232"/>
              <a:ext cx="7523244" cy="322707"/>
              <a:chOff x="734216" y="3765232"/>
              <a:chExt cx="7523244" cy="322707"/>
            </a:xfrm>
          </p:grpSpPr>
          <p:sp>
            <p:nvSpPr>
              <p:cNvPr id="37" name="TextBox 37"/>
              <p:cNvSpPr txBox="1"/>
              <p:nvPr/>
            </p:nvSpPr>
            <p:spPr>
              <a:xfrm>
                <a:off x="734216" y="3765232"/>
                <a:ext cx="1560519"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(1986年に220)</a:t>
                </a:r>
              </a:p>
            </p:txBody>
          </p:sp>
          <p:sp>
            <p:nvSpPr>
              <p:cNvPr id="38" name="TextBox 38"/>
              <p:cNvSpPr txBox="1"/>
              <p:nvPr/>
            </p:nvSpPr>
            <p:spPr>
              <a:xfrm>
                <a:off x="6963489" y="3765232"/>
                <a:ext cx="1293971"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(改造後285)</a:t>
                </a:r>
              </a:p>
            </p:txBody>
          </p:sp>
        </p:grpSp>
      </p:grpSp>
      <p:grpSp>
        <p:nvGrpSpPr>
          <p:cNvPr id="51" name="Group 51"/>
          <p:cNvGrpSpPr/>
          <p:nvPr/>
        </p:nvGrpSpPr>
        <p:grpSpPr>
          <a:xfrm>
            <a:off x="381000" y="4276725"/>
            <a:ext cx="11430000" cy="247650"/>
            <a:chOff x="381000" y="4276725"/>
            <a:chExt cx="11430000" cy="247650"/>
          </a:xfrm>
        </p:grpSpPr>
        <p:sp>
          <p:nvSpPr>
            <p:cNvPr id="41" name="Rectangle 41"/>
            <p:cNvSpPr/>
            <p:nvPr/>
          </p:nvSpPr>
          <p:spPr>
            <a:xfrm>
              <a:off x="381000" y="4305300"/>
              <a:ext cx="11430000" cy="133350"/>
            </a:xfrm>
            <a:prstGeom prst="rect">
              <a:avLst/>
            </a:prstGeom>
            <a:solidFill>
              <a:schemeClr val="accent1"/>
            </a:solidFill>
            <a:ln>
              <a:noFill/>
            </a:ln>
          </p:spPr>
        </p:sp>
        <p:sp>
          <p:nvSpPr>
            <p:cNvPr id="42" name="Line 42"/>
            <p:cNvSpPr/>
            <p:nvPr/>
          </p:nvSpPr>
          <p:spPr>
            <a:xfrm>
              <a:off x="381000" y="451485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nvGrpSpPr>
            <p:cNvPr id="50" name="Group 50"/>
            <p:cNvGrpSpPr/>
            <p:nvPr/>
          </p:nvGrpSpPr>
          <p:grpSpPr>
            <a:xfrm>
              <a:off x="1419225" y="4276725"/>
              <a:ext cx="9334500" cy="190500"/>
              <a:chOff x="1419225" y="4276725"/>
              <a:chExt cx="9334500" cy="190500"/>
            </a:xfrm>
          </p:grpSpPr>
          <p:sp>
            <p:nvSpPr>
              <p:cNvPr id="43" name="Ellipse 43"/>
              <p:cNvSpPr/>
              <p:nvPr/>
            </p:nvSpPr>
            <p:spPr>
              <a:xfrm>
                <a:off x="1419225" y="4276725"/>
                <a:ext cx="190500" cy="190500"/>
              </a:xfrm>
              <a:prstGeom prst="ellipse">
                <a:avLst/>
              </a:prstGeom>
              <a:solidFill>
                <a:schemeClr val="lt1"/>
              </a:solidFill>
              <a:ln w="38100">
                <a:solidFill>
                  <a:schemeClr val="accent1"/>
                </a:solidFill>
              </a:ln>
            </p:spPr>
          </p:sp>
          <p:sp>
            <p:nvSpPr>
              <p:cNvPr id="44" name="Ellipse 44"/>
              <p:cNvSpPr/>
              <p:nvPr/>
            </p:nvSpPr>
            <p:spPr>
              <a:xfrm>
                <a:off x="2943225" y="4276725"/>
                <a:ext cx="190500" cy="190500"/>
              </a:xfrm>
              <a:prstGeom prst="ellipse">
                <a:avLst/>
              </a:prstGeom>
              <a:solidFill>
                <a:schemeClr val="lt1"/>
              </a:solidFill>
              <a:ln w="38100">
                <a:solidFill>
                  <a:schemeClr val="accent1"/>
                </a:solidFill>
              </a:ln>
            </p:spPr>
          </p:sp>
          <p:sp>
            <p:nvSpPr>
              <p:cNvPr id="45" name="Ellipse 45"/>
              <p:cNvSpPr/>
              <p:nvPr/>
            </p:nvSpPr>
            <p:spPr>
              <a:xfrm>
                <a:off x="4467225" y="4276725"/>
                <a:ext cx="190500" cy="190500"/>
              </a:xfrm>
              <a:prstGeom prst="ellipse">
                <a:avLst/>
              </a:prstGeom>
              <a:solidFill>
                <a:schemeClr val="lt1"/>
              </a:solidFill>
              <a:ln w="38100">
                <a:solidFill>
                  <a:schemeClr val="accent1"/>
                </a:solidFill>
              </a:ln>
            </p:spPr>
          </p:sp>
          <p:sp>
            <p:nvSpPr>
              <p:cNvPr id="46" name="Ellipse 46"/>
              <p:cNvSpPr/>
              <p:nvPr/>
            </p:nvSpPr>
            <p:spPr>
              <a:xfrm>
                <a:off x="5991225" y="4276725"/>
                <a:ext cx="190500" cy="190500"/>
              </a:xfrm>
              <a:prstGeom prst="ellipse">
                <a:avLst/>
              </a:prstGeom>
              <a:solidFill>
                <a:schemeClr val="lt1"/>
              </a:solidFill>
              <a:ln w="38100">
                <a:solidFill>
                  <a:schemeClr val="accent1"/>
                </a:solidFill>
              </a:ln>
            </p:spPr>
          </p:sp>
          <p:sp>
            <p:nvSpPr>
              <p:cNvPr id="47" name="Ellipse 47"/>
              <p:cNvSpPr/>
              <p:nvPr/>
            </p:nvSpPr>
            <p:spPr>
              <a:xfrm>
                <a:off x="7515225" y="4276725"/>
                <a:ext cx="190500" cy="190500"/>
              </a:xfrm>
              <a:prstGeom prst="ellipse">
                <a:avLst/>
              </a:prstGeom>
              <a:solidFill>
                <a:schemeClr val="lt1"/>
              </a:solidFill>
              <a:ln w="38100">
                <a:solidFill>
                  <a:schemeClr val="accent1"/>
                </a:solidFill>
              </a:ln>
            </p:spPr>
          </p:sp>
          <p:sp>
            <p:nvSpPr>
              <p:cNvPr id="48" name="Ellipse 48"/>
              <p:cNvSpPr/>
              <p:nvPr/>
            </p:nvSpPr>
            <p:spPr>
              <a:xfrm>
                <a:off x="9039225" y="4276725"/>
                <a:ext cx="190500" cy="190500"/>
              </a:xfrm>
              <a:prstGeom prst="ellipse">
                <a:avLst/>
              </a:prstGeom>
              <a:solidFill>
                <a:schemeClr val="lt1"/>
              </a:solidFill>
              <a:ln w="38100">
                <a:solidFill>
                  <a:schemeClr val="accent1"/>
                </a:solidFill>
              </a:ln>
            </p:spPr>
          </p:sp>
          <p:sp>
            <p:nvSpPr>
              <p:cNvPr id="49" name="Ellipse 49"/>
              <p:cNvSpPr/>
              <p:nvPr/>
            </p:nvSpPr>
            <p:spPr>
              <a:xfrm>
                <a:off x="10563225" y="4276725"/>
                <a:ext cx="190500" cy="190500"/>
              </a:xfrm>
              <a:prstGeom prst="ellipse">
                <a:avLst/>
              </a:prstGeom>
              <a:solidFill>
                <a:schemeClr val="lt1"/>
              </a:solidFill>
              <a:ln w="38100">
                <a:solidFill>
                  <a:schemeClr val="accent2"/>
                </a:solidFill>
              </a:ln>
            </p:spPr>
          </p:sp>
        </p:grpSp>
      </p:grpSp>
      <p:grpSp>
        <p:nvGrpSpPr>
          <p:cNvPr id="53" name="!!origin-time"/>
          <p:cNvGrpSpPr/>
          <p:nvPr/>
        </p:nvGrpSpPr>
        <p:grpSpPr>
          <a:xfrm>
            <a:off x="690934" y="4679632"/>
            <a:ext cx="1570882" cy="904875"/>
            <a:chOff x="690934" y="4679632"/>
            <a:chExt cx="1570882" cy="904875"/>
          </a:xfrm>
        </p:grpSpPr>
        <p:sp>
          <p:nvSpPr>
            <p:cNvPr id="52" name="TextBox 52"/>
            <p:cNvSpPr txBox="1"/>
            <p:nvPr/>
          </p:nvSpPr>
          <p:spPr>
            <a:xfrm>
              <a:off x="690934" y="4679632"/>
              <a:ext cx="1570882" cy="904875"/>
            </a:xfrm>
            <a:prstGeom prst="rect">
              <a:avLst/>
            </a:prstGeom>
            <a:noFill/>
            <a:ln>
              <a:noFill/>
            </a:ln>
          </p:spPr>
          <p:txBody>
            <a:bodyPr wrap="none" lIns="0" tIns="0" rIns="0" bIns="0" anchor="t" anchorCtr="0">
              <a:spAutoFit/>
            </a:bodyPr>
            <a:lstStyle/>
            <a:p>
              <a:pPr algn="ctr"/>
              <a:r>
                <a:rPr lang="ja-JP" sz="4650" b="1" dirty="0">
                  <a:solidFill>
                    <a:schemeClr val="accent1"/>
                  </a:solidFill>
                  <a:latin typeface="Arial Black"/>
                  <a:ea typeface="Arial Black"/>
                  <a:cs typeface="Arial Black"/>
                </a:rPr>
                <a:t>4:00</a:t>
              </a:r>
            </a:p>
          </p:txBody>
        </p:sp>
      </p:grpSp>
      <p:grpSp>
        <p:nvGrpSpPr>
          <p:cNvPr id="60" name="Group 60"/>
          <p:cNvGrpSpPr/>
          <p:nvPr/>
        </p:nvGrpSpPr>
        <p:grpSpPr>
          <a:xfrm>
            <a:off x="2272084" y="4679632"/>
            <a:ext cx="9171832" cy="904875"/>
            <a:chOff x="2272084" y="4679632"/>
            <a:chExt cx="9171832" cy="904875"/>
          </a:xfrm>
        </p:grpSpPr>
        <p:sp>
          <p:nvSpPr>
            <p:cNvPr id="54" name="TextBox 54"/>
            <p:cNvSpPr txBox="1"/>
            <p:nvPr/>
          </p:nvSpPr>
          <p:spPr>
            <a:xfrm>
              <a:off x="2272084" y="4679632"/>
              <a:ext cx="1570882" cy="904875"/>
            </a:xfrm>
            <a:prstGeom prst="rect">
              <a:avLst/>
            </a:prstGeom>
            <a:noFill/>
            <a:ln>
              <a:noFill/>
            </a:ln>
          </p:spPr>
          <p:txBody>
            <a:bodyPr wrap="none" lIns="0" tIns="0" rIns="0" bIns="0" anchor="t" anchorCtr="0">
              <a:spAutoFit/>
            </a:bodyPr>
            <a:lstStyle/>
            <a:p>
              <a:pPr algn="ctr"/>
              <a:r>
                <a:rPr lang="ja-JP" sz="4650" b="1" dirty="0">
                  <a:solidFill>
                    <a:schemeClr val="accent1"/>
                  </a:solidFill>
                  <a:latin typeface="Arial Black"/>
                  <a:ea typeface="Arial Black"/>
                  <a:cs typeface="Arial Black"/>
                </a:rPr>
                <a:t>2:52</a:t>
              </a:r>
            </a:p>
          </p:txBody>
        </p:sp>
        <p:sp>
          <p:nvSpPr>
            <p:cNvPr id="55" name="TextBox 55"/>
            <p:cNvSpPr txBox="1"/>
            <p:nvPr/>
          </p:nvSpPr>
          <p:spPr>
            <a:xfrm>
              <a:off x="3777034" y="4679632"/>
              <a:ext cx="1570882" cy="904875"/>
            </a:xfrm>
            <a:prstGeom prst="rect">
              <a:avLst/>
            </a:prstGeom>
            <a:noFill/>
            <a:ln>
              <a:noFill/>
            </a:ln>
          </p:spPr>
          <p:txBody>
            <a:bodyPr wrap="none" lIns="0" tIns="0" rIns="0" bIns="0" anchor="t" anchorCtr="0">
              <a:spAutoFit/>
            </a:bodyPr>
            <a:lstStyle/>
            <a:p>
              <a:pPr algn="ctr"/>
              <a:r>
                <a:rPr lang="ja-JP" sz="4650" b="1" dirty="0">
                  <a:solidFill>
                    <a:schemeClr val="accent1"/>
                  </a:solidFill>
                  <a:latin typeface="Arial Black"/>
                  <a:ea typeface="Arial Black"/>
                  <a:cs typeface="Arial Black"/>
                </a:rPr>
                <a:t>2:30</a:t>
              </a:r>
            </a:p>
          </p:txBody>
        </p:sp>
        <p:sp>
          <p:nvSpPr>
            <p:cNvPr id="56" name="TextBox 56"/>
            <p:cNvSpPr txBox="1"/>
            <p:nvPr/>
          </p:nvSpPr>
          <p:spPr>
            <a:xfrm>
              <a:off x="5301034" y="4679632"/>
              <a:ext cx="1570882" cy="904875"/>
            </a:xfrm>
            <a:prstGeom prst="rect">
              <a:avLst/>
            </a:prstGeom>
            <a:noFill/>
            <a:ln>
              <a:noFill/>
            </a:ln>
          </p:spPr>
          <p:txBody>
            <a:bodyPr wrap="none" lIns="0" tIns="0" rIns="0" bIns="0" anchor="t" anchorCtr="0">
              <a:spAutoFit/>
            </a:bodyPr>
            <a:lstStyle/>
            <a:p>
              <a:pPr algn="ctr"/>
              <a:r>
                <a:rPr lang="ja-JP" sz="4650" b="1" dirty="0">
                  <a:solidFill>
                    <a:srgbClr val="A69A80"/>
                  </a:solidFill>
                  <a:latin typeface="Arial Black"/>
                  <a:ea typeface="Arial Black"/>
                  <a:cs typeface="Arial Black"/>
                </a:rPr>
                <a:t>2:30</a:t>
              </a:r>
            </a:p>
          </p:txBody>
        </p:sp>
        <p:sp>
          <p:nvSpPr>
            <p:cNvPr id="57" name="TextBox 57"/>
            <p:cNvSpPr txBox="1"/>
            <p:nvPr/>
          </p:nvSpPr>
          <p:spPr>
            <a:xfrm>
              <a:off x="6825034" y="4679632"/>
              <a:ext cx="1570882" cy="904875"/>
            </a:xfrm>
            <a:prstGeom prst="rect">
              <a:avLst/>
            </a:prstGeom>
            <a:noFill/>
            <a:ln>
              <a:noFill/>
            </a:ln>
          </p:spPr>
          <p:txBody>
            <a:bodyPr wrap="none" lIns="0" tIns="0" rIns="0" bIns="0" anchor="t" anchorCtr="0">
              <a:spAutoFit/>
            </a:bodyPr>
            <a:lstStyle/>
            <a:p>
              <a:pPr algn="ctr"/>
              <a:r>
                <a:rPr lang="ja-JP" sz="4650" b="1" dirty="0">
                  <a:solidFill>
                    <a:schemeClr val="accent1"/>
                  </a:solidFill>
                  <a:latin typeface="Arial Black"/>
                  <a:ea typeface="Arial Black"/>
                  <a:cs typeface="Arial Black"/>
                </a:rPr>
                <a:t>2:25</a:t>
              </a:r>
            </a:p>
          </p:txBody>
        </p:sp>
        <p:sp>
          <p:nvSpPr>
            <p:cNvPr id="58" name="TextBox 58"/>
            <p:cNvSpPr txBox="1"/>
            <p:nvPr/>
          </p:nvSpPr>
          <p:spPr>
            <a:xfrm>
              <a:off x="8349034" y="4679632"/>
              <a:ext cx="1570882" cy="904875"/>
            </a:xfrm>
            <a:prstGeom prst="rect">
              <a:avLst/>
            </a:prstGeom>
            <a:noFill/>
            <a:ln>
              <a:noFill/>
            </a:ln>
          </p:spPr>
          <p:txBody>
            <a:bodyPr wrap="none" lIns="0" tIns="0" rIns="0" bIns="0" anchor="t" anchorCtr="0">
              <a:spAutoFit/>
            </a:bodyPr>
            <a:lstStyle/>
            <a:p>
              <a:pPr algn="ctr"/>
              <a:r>
                <a:rPr lang="ja-JP" sz="4650" b="1" dirty="0">
                  <a:solidFill>
                    <a:schemeClr val="accent1"/>
                  </a:solidFill>
                  <a:latin typeface="Arial Black"/>
                  <a:ea typeface="Arial Black"/>
                  <a:cs typeface="Arial Black"/>
                </a:rPr>
                <a:t>2:22</a:t>
              </a:r>
            </a:p>
          </p:txBody>
        </p:sp>
        <p:sp>
          <p:nvSpPr>
            <p:cNvPr id="59" name="TextBox 59"/>
            <p:cNvSpPr txBox="1"/>
            <p:nvPr/>
          </p:nvSpPr>
          <p:spPr>
            <a:xfrm>
              <a:off x="9873034" y="4679632"/>
              <a:ext cx="1570882" cy="904875"/>
            </a:xfrm>
            <a:prstGeom prst="rect">
              <a:avLst/>
            </a:prstGeom>
            <a:noFill/>
            <a:ln>
              <a:noFill/>
            </a:ln>
          </p:spPr>
          <p:txBody>
            <a:bodyPr wrap="none" lIns="0" tIns="0" rIns="0" bIns="0" anchor="t" anchorCtr="0">
              <a:spAutoFit/>
            </a:bodyPr>
            <a:lstStyle/>
            <a:p>
              <a:pPr algn="ctr"/>
              <a:r>
                <a:rPr lang="ja-JP" sz="4650" b="1" dirty="0">
                  <a:solidFill>
                    <a:schemeClr val="accent2"/>
                  </a:solidFill>
                  <a:latin typeface="Arial Black"/>
                  <a:ea typeface="Arial Black"/>
                  <a:cs typeface="Arial Black"/>
                </a:rPr>
                <a:t>2:21</a:t>
              </a:r>
            </a:p>
          </p:txBody>
        </p:sp>
      </p:grpSp>
      <p:grpSp>
        <p:nvGrpSpPr>
          <p:cNvPr id="62" name="Group 62"/>
          <p:cNvGrpSpPr/>
          <p:nvPr/>
        </p:nvGrpSpPr>
        <p:grpSpPr>
          <a:xfrm>
            <a:off x="601218" y="5594032"/>
            <a:ext cx="8657349" cy="322707"/>
            <a:chOff x="601218" y="5594032"/>
            <a:chExt cx="8657349" cy="322707"/>
          </a:xfrm>
        </p:grpSpPr>
        <p:sp>
          <p:nvSpPr>
            <p:cNvPr id="61" name="TextBox 61"/>
            <p:cNvSpPr txBox="1"/>
            <p:nvPr/>
          </p:nvSpPr>
          <p:spPr>
            <a:xfrm>
              <a:off x="601218" y="5594032"/>
              <a:ext cx="8657349" cy="322707"/>
            </a:xfrm>
            <a:prstGeom prst="rect">
              <a:avLst/>
            </a:prstGeom>
            <a:noFill/>
            <a:ln>
              <a:noFill/>
            </a:ln>
          </p:spPr>
          <p:txBody>
            <a:bodyPr wrap="none" lIns="0" tIns="0" rIns="0" bIns="0" anchor="t" anchorCtr="0">
              <a:spAutoFit/>
            </a:bodyPr>
            <a:lstStyle/>
            <a:p>
              <a:pPr algn="l"/>
              <a:r>
                <a:rPr lang="ja-JP" sz="1650" dirty="0">
                  <a:solidFill>
                    <a:schemeClr val="accent5"/>
                  </a:solidFill>
                  <a:latin typeface="+mn-lt"/>
                  <a:ea typeface="+mn-ea"/>
                  <a:cs typeface="+mn-cs"/>
                </a:rPr>
                <a:t>上から 営業開始年/型式/東海道区間の最高速度/当時の東京〜新大阪 最速所要(時:分)</a:t>
              </a:r>
            </a:p>
          </p:txBody>
        </p:sp>
      </p:grpSp>
      <p:grpSp>
        <p:nvGrpSpPr>
          <p:cNvPr id="65" name="Group 65"/>
          <p:cNvGrpSpPr/>
          <p:nvPr/>
        </p:nvGrpSpPr>
        <p:grpSpPr>
          <a:xfrm>
            <a:off x="603504" y="6195060"/>
            <a:ext cx="10984992" cy="444246"/>
            <a:chOff x="603504" y="6195060"/>
            <a:chExt cx="10984992" cy="444246"/>
          </a:xfrm>
        </p:grpSpPr>
        <p:sp>
          <p:nvSpPr>
            <p:cNvPr id="63" name="TextBox 63"/>
            <p:cNvSpPr txBox="1"/>
            <p:nvPr/>
          </p:nvSpPr>
          <p:spPr>
            <a:xfrm>
              <a:off x="603504" y="6195060"/>
              <a:ext cx="904189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年表と「99分」は当資料による整理・計算。700系登場時は最速所要の更新なし。100系の所要は1986年度改正時点。</a:t>
              </a:r>
              <a:br/>
              <a:r>
                <a:rPr lang="ja-JP" sz="1200" dirty="0">
                  <a:solidFill>
                    <a:schemeClr val="accent5"/>
                  </a:solidFill>
                  <a:latin typeface="+mn-lt"/>
                  <a:ea typeface="+mn-ea"/>
                  <a:cs typeface="+mn-cs"/>
                </a:rPr>
                <a:t>出典:JR東海 ファクトシート2026「最速列車の所要時間の変遷」/上野雅之(2017)日本機械学会誌/JR東海 採用サイト(2026年時点)</a:t>
              </a:r>
            </a:p>
          </p:txBody>
        </p:sp>
        <p:sp>
          <p:nvSpPr>
            <p:cNvPr id="64" name="TextBox 64"/>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05</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wipe(left)">
                                      <p:cBhvr>
                                        <p:cTn id="7" dur="10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1312" y="601980"/>
            <a:ext cx="9723120" cy="1132332"/>
            <a:chOff x="591312" y="601980"/>
            <a:chExt cx="9723120" cy="1132332"/>
          </a:xfrm>
        </p:grpSpPr>
        <p:sp>
          <p:nvSpPr>
            <p:cNvPr id="2" name="TextBox 2"/>
            <p:cNvSpPr txBox="1"/>
            <p:nvPr/>
          </p:nvSpPr>
          <p:spPr>
            <a:xfrm>
              <a:off x="591312" y="601980"/>
              <a:ext cx="8275320"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速さは、軽さと賢さの積み重ねだった</a:t>
              </a:r>
            </a:p>
          </p:txBody>
        </p:sp>
        <p:sp>
          <p:nvSpPr>
            <p:cNvPr id="3" name="TextBox 3"/>
            <p:cNvSpPr txBox="1"/>
            <p:nvPr/>
          </p:nvSpPr>
          <p:spPr>
            <a:xfrm>
              <a:off x="597408" y="1264920"/>
              <a:ext cx="9717024"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軽く、速く曲がり、確実に止まる。型式ごとの改良が積み重なった</a:t>
              </a:r>
            </a:p>
          </p:txBody>
        </p:sp>
      </p:grpSp>
      <p:graphicFrame>
        <p:nvGraphicFramePr>
          <p:cNvPr id="5" name="rolling-stock-table"/>
          <p:cNvGraphicFramePr>
            <a:graphicFrameLocks noGrp="1"/>
          </p:cNvGraphicFramePr>
          <p:nvPr/>
        </p:nvGraphicFramePr>
        <p:xfrm>
          <a:off x="609600" y="1809750"/>
          <a:ext cx="10972800" cy="4210050"/>
        </p:xfrm>
        <a:graphic>
          <a:graphicData uri="http://schemas.openxmlformats.org/drawingml/2006/table">
            <a:tbl>
              <a:tblPr firstRow="1" bandRow="0">
                <a:tableStyleId>{5C22544A-7EE6-4342-B048-85BDC9FD1C3A}</a:tableStyleId>
              </a:tblPr>
              <a:tblGrid>
                <a:gridCol w="1524001"/>
                <a:gridCol w="1809750"/>
                <a:gridCol w="2190750"/>
                <a:gridCol w="5448299"/>
              </a:tblGrid>
              <a:tr h="476250">
                <a:tc>
                  <a:txBody>
                    <a:bodyPr/>
                    <a:lstStyle/>
                    <a:p>
                      <a:pPr/>
                      <a:r>
                        <a:rPr lang="ja-JP" sz="1650" b="1">
                          <a:solidFill>
                            <a:srgbClr val="F3ECDD"/>
                          </a:solidFill>
                          <a:latin typeface="Yu Gothic"/>
                          <a:ea typeface="Yu Gothic"/>
                          <a:cs typeface="Yu Gothic"/>
                        </a:rPr>
                        <a:t>型式</a:t>
                      </a:r>
                    </a:p>
                  </a:txBody>
                  <a:tcPr anchor="ctr" marL="152400" marR="152400" marT="91440" marB="91440">
                    <a:lnL>
                      <a:noFill/>
                    </a:lnL>
                    <a:lnR>
                      <a:noFill/>
                    </a:lnR>
                    <a:lnT>
                      <a:noFill/>
                    </a:lnT>
                    <a:lnB w="9525">
                      <a:solidFill>
                        <a:schemeClr val="accent6"/>
                      </a:solidFill>
                      <a:prstDash val="solid"/>
                    </a:lnB>
                    <a:solidFill>
                      <a:schemeClr val="accent1"/>
                    </a:solidFill>
                  </a:tcPr>
                </a:tc>
                <a:tc>
                  <a:txBody>
                    <a:bodyPr/>
                    <a:lstStyle/>
                    <a:p>
                      <a:pPr/>
                      <a:r>
                        <a:rPr lang="ja-JP" sz="1650" b="1">
                          <a:solidFill>
                            <a:srgbClr val="F3ECDD"/>
                          </a:solidFill>
                          <a:latin typeface="Yu Gothic"/>
                          <a:ea typeface="Yu Gothic"/>
                          <a:cs typeface="Yu Gothic"/>
                        </a:rPr>
                        <a:t>営業開始</a:t>
                      </a:r>
                    </a:p>
                  </a:txBody>
                  <a:tcPr anchor="ctr" marL="152400" marR="152400" marT="91440" marB="91440">
                    <a:lnL>
                      <a:noFill/>
                    </a:lnL>
                    <a:lnR>
                      <a:noFill/>
                    </a:lnR>
                    <a:lnT>
                      <a:noFill/>
                    </a:lnT>
                    <a:lnB w="9525">
                      <a:solidFill>
                        <a:schemeClr val="accent6"/>
                      </a:solidFill>
                      <a:prstDash val="solid"/>
                    </a:lnB>
                    <a:solidFill>
                      <a:schemeClr val="accent1"/>
                    </a:solidFill>
                  </a:tcPr>
                </a:tc>
                <a:tc>
                  <a:txBody>
                    <a:bodyPr/>
                    <a:lstStyle/>
                    <a:p>
                      <a:pPr/>
                      <a:r>
                        <a:rPr lang="ja-JP" sz="1650" b="1">
                          <a:solidFill>
                            <a:srgbClr val="F3ECDD"/>
                          </a:solidFill>
                          <a:latin typeface="Yu Gothic"/>
                          <a:ea typeface="Yu Gothic"/>
                          <a:cs typeface="Yu Gothic"/>
                        </a:rPr>
                        <a:t>最高速度(東海道区間)</a:t>
                      </a:r>
                    </a:p>
                  </a:txBody>
                  <a:tcPr anchor="ctr" marL="152400" marR="152400" marT="91440" marB="91440">
                    <a:lnL>
                      <a:noFill/>
                    </a:lnL>
                    <a:lnR>
                      <a:noFill/>
                    </a:lnR>
                    <a:lnT>
                      <a:noFill/>
                    </a:lnT>
                    <a:lnB w="9525">
                      <a:solidFill>
                        <a:schemeClr val="accent6"/>
                      </a:solidFill>
                      <a:prstDash val="solid"/>
                    </a:lnB>
                    <a:solidFill>
                      <a:schemeClr val="accent1"/>
                    </a:solidFill>
                  </a:tcPr>
                </a:tc>
                <a:tc>
                  <a:txBody>
                    <a:bodyPr/>
                    <a:lstStyle/>
                    <a:p>
                      <a:pPr/>
                      <a:r>
                        <a:rPr lang="ja-JP" sz="1650" b="1">
                          <a:solidFill>
                            <a:srgbClr val="F3ECDD"/>
                          </a:solidFill>
                          <a:latin typeface="Yu Gothic"/>
                          <a:ea typeface="Yu Gothic"/>
                          <a:cs typeface="Yu Gothic"/>
                        </a:rPr>
                        <a:t>技術の要点</a:t>
                      </a:r>
                    </a:p>
                  </a:txBody>
                  <a:tcPr anchor="ctr" marL="152400" marR="152400" marT="91440" marB="91440">
                    <a:lnL>
                      <a:noFill/>
                    </a:lnL>
                    <a:lnR>
                      <a:noFill/>
                    </a:lnR>
                    <a:lnT>
                      <a:noFill/>
                    </a:lnT>
                    <a:lnB w="9525">
                      <a:solidFill>
                        <a:schemeClr val="accent6"/>
                      </a:solidFill>
                      <a:prstDash val="solid"/>
                    </a:lnB>
                    <a:solidFill>
                      <a:schemeClr val="accent1"/>
                    </a:solidFill>
                  </a:tcPr>
                </a:tc>
              </a:tr>
              <a:tr h="533400">
                <a:tc>
                  <a:txBody>
                    <a:bodyPr/>
                    <a:lstStyle/>
                    <a:p>
                      <a:pPr/>
                      <a:r>
                        <a:rPr lang="ja-JP" sz="1650" b="1">
                          <a:solidFill>
                            <a:schemeClr val="accent1"/>
                          </a:solidFill>
                          <a:latin typeface="Yu Gothic"/>
                          <a:ea typeface="Yu Gothic"/>
                          <a:cs typeface="Yu Gothic"/>
                        </a:rPr>
                        <a:t>0系</a:t>
                      </a:r>
                    </a:p>
                  </a:txBody>
                  <a:tcPr anchor="ctr" marL="152400" marR="152400" marT="120015" marB="120015">
                    <a:lnL>
                      <a:noFill/>
                    </a:lnL>
                    <a:lnR>
                      <a:noFill/>
                    </a:lnR>
                    <a:lnT>
                      <a:noFill/>
                    </a:lnT>
                    <a:lnB w="9525">
                      <a:solidFill>
                        <a:schemeClr val="accent6"/>
                      </a:solidFill>
                      <a:prstDash val="solid"/>
                    </a:lnB>
                    <a:noFill/>
                  </a:tcPr>
                </a:tc>
                <a:tc>
                  <a:txBody>
                    <a:bodyPr/>
                    <a:lstStyle/>
                    <a:p>
                      <a:pPr/>
                      <a:r>
                        <a:rPr lang="ja-JP" sz="1650" b="0">
                          <a:solidFill>
                            <a:schemeClr val="dk1"/>
                          </a:solidFill>
                          <a:latin typeface="Yu Gothic"/>
                          <a:ea typeface="Yu Gothic"/>
                          <a:cs typeface="Yu Gothic"/>
                        </a:rPr>
                        <a:t>1964年10月</a:t>
                      </a:r>
                    </a:p>
                  </a:txBody>
                  <a:tcPr anchor="ctr" marL="152400" marR="152400" marT="120015" marB="120015">
                    <a:lnL>
                      <a:noFill/>
                    </a:lnL>
                    <a:lnR>
                      <a:noFill/>
                    </a:lnR>
                    <a:lnT>
                      <a:noFill/>
                    </a:lnT>
                    <a:lnB w="9525">
                      <a:solidFill>
                        <a:schemeClr val="accent6"/>
                      </a:solidFill>
                      <a:prstDash val="solid"/>
                    </a:lnB>
                    <a:noFill/>
                  </a:tcPr>
                </a:tc>
                <a:tc>
                  <a:txBody>
                    <a:bodyPr/>
                    <a:lstStyle/>
                    <a:p>
                      <a:pPr/>
                      <a:r>
                        <a:rPr lang="ja-JP" sz="1650" b="0">
                          <a:solidFill>
                            <a:schemeClr val="dk1"/>
                          </a:solidFill>
                          <a:latin typeface="Yu Gothic"/>
                          <a:ea typeface="Yu Gothic"/>
                          <a:cs typeface="Yu Gothic"/>
                        </a:rPr>
                        <a:t>210→220km/h</a:t>
                      </a:r>
                    </a:p>
                  </a:txBody>
                  <a:tcPr anchor="ctr" marL="152400" marR="152400" marT="120015" marB="120015">
                    <a:lnL>
                      <a:noFill/>
                    </a:lnL>
                    <a:lnR>
                      <a:noFill/>
                    </a:lnR>
                    <a:lnT>
                      <a:noFill/>
                    </a:lnT>
                    <a:lnB w="9525">
                      <a:solidFill>
                        <a:schemeClr val="accent6"/>
                      </a:solidFill>
                      <a:prstDash val="solid"/>
                    </a:lnB>
                    <a:noFill/>
                  </a:tcPr>
                </a:tc>
                <a:tc>
                  <a:txBody>
                    <a:bodyPr/>
                    <a:lstStyle/>
                    <a:p>
                      <a:pPr/>
                      <a:r>
                        <a:rPr lang="ja-JP" sz="1650" b="0">
                          <a:solidFill>
                            <a:schemeClr val="dk1"/>
                          </a:solidFill>
                          <a:latin typeface="Yu Gothic"/>
                          <a:ea typeface="Yu Gothic"/>
                          <a:cs typeface="Yu Gothic"/>
                        </a:rPr>
                        <a:t>オール電動車で開業、1986年に220km/h化</a:t>
                      </a:r>
                    </a:p>
                  </a:txBody>
                  <a:tcPr anchor="ctr" marL="152400" marR="152400" marT="120015" marB="120015">
                    <a:lnL>
                      <a:noFill/>
                    </a:lnL>
                    <a:lnR>
                      <a:noFill/>
                    </a:lnR>
                    <a:lnT>
                      <a:noFill/>
                    </a:lnT>
                    <a:lnB w="9525">
                      <a:solidFill>
                        <a:schemeClr val="accent6"/>
                      </a:solidFill>
                      <a:prstDash val="solid"/>
                    </a:lnB>
                    <a:noFill/>
                  </a:tcPr>
                </a:tc>
              </a:tr>
              <a:tr h="533400">
                <a:tc>
                  <a:txBody>
                    <a:bodyPr/>
                    <a:lstStyle/>
                    <a:p>
                      <a:pPr/>
                      <a:r>
                        <a:rPr lang="ja-JP" sz="1650" b="1">
                          <a:solidFill>
                            <a:schemeClr val="accent1"/>
                          </a:solidFill>
                          <a:latin typeface="Yu Gothic"/>
                          <a:ea typeface="Yu Gothic"/>
                          <a:cs typeface="Yu Gothic"/>
                        </a:rPr>
                        <a:t>100系</a:t>
                      </a:r>
                    </a:p>
                  </a:txBody>
                  <a:tcPr anchor="ctr" marL="152400" marR="152400" marT="120015" marB="120015">
                    <a:lnL>
                      <a:noFill/>
                    </a:lnL>
                    <a:lnR>
                      <a:noFill/>
                    </a:lnR>
                    <a:lnT>
                      <a:noFill/>
                    </a:lnT>
                    <a:lnB w="9525">
                      <a:solidFill>
                        <a:schemeClr val="accent6"/>
                      </a:solidFill>
                      <a:prstDash val="solid"/>
                    </a:lnB>
                    <a:noFill/>
                  </a:tcPr>
                </a:tc>
                <a:tc>
                  <a:txBody>
                    <a:bodyPr/>
                    <a:lstStyle/>
                    <a:p>
                      <a:pPr/>
                      <a:r>
                        <a:rPr lang="ja-JP" sz="1650" b="0">
                          <a:solidFill>
                            <a:schemeClr val="dk1"/>
                          </a:solidFill>
                          <a:latin typeface="Yu Gothic"/>
                          <a:ea typeface="Yu Gothic"/>
                          <a:cs typeface="Yu Gothic"/>
                        </a:rPr>
                        <a:t>1985年10月</a:t>
                      </a:r>
                    </a:p>
                  </a:txBody>
                  <a:tcPr anchor="ctr" marL="152400" marR="152400" marT="120015" marB="120015">
                    <a:lnL>
                      <a:noFill/>
                    </a:lnL>
                    <a:lnR>
                      <a:noFill/>
                    </a:lnR>
                    <a:lnT>
                      <a:noFill/>
                    </a:lnT>
                    <a:lnB w="9525">
                      <a:solidFill>
                        <a:schemeClr val="accent6"/>
                      </a:solidFill>
                      <a:prstDash val="solid"/>
                    </a:lnB>
                    <a:noFill/>
                  </a:tcPr>
                </a:tc>
                <a:tc>
                  <a:txBody>
                    <a:bodyPr/>
                    <a:lstStyle/>
                    <a:p>
                      <a:pPr/>
                      <a:r>
                        <a:rPr lang="ja-JP" sz="1650" b="0">
                          <a:solidFill>
                            <a:schemeClr val="dk1"/>
                          </a:solidFill>
                          <a:latin typeface="Yu Gothic"/>
                          <a:ea typeface="Yu Gothic"/>
                          <a:cs typeface="Yu Gothic"/>
                        </a:rPr>
                        <a:t>220km/h</a:t>
                      </a:r>
                    </a:p>
                  </a:txBody>
                  <a:tcPr anchor="ctr" marL="152400" marR="152400" marT="120015" marB="120015">
                    <a:lnL>
                      <a:noFill/>
                    </a:lnL>
                    <a:lnR>
                      <a:noFill/>
                    </a:lnR>
                    <a:lnT>
                      <a:noFill/>
                    </a:lnT>
                    <a:lnB w="9525">
                      <a:solidFill>
                        <a:schemeClr val="accent6"/>
                      </a:solidFill>
                      <a:prstDash val="solid"/>
                    </a:lnB>
                    <a:noFill/>
                  </a:tcPr>
                </a:tc>
                <a:tc>
                  <a:txBody>
                    <a:bodyPr/>
                    <a:lstStyle/>
                    <a:p>
                      <a:pPr/>
                      <a:r>
                        <a:rPr lang="ja-JP" sz="1650" b="0">
                          <a:solidFill>
                            <a:schemeClr val="dk1"/>
                          </a:solidFill>
                          <a:latin typeface="Yu Gothic"/>
                          <a:ea typeface="Yu Gothic"/>
                          <a:cs typeface="Yu Gothic"/>
                        </a:rPr>
                        <a:t>新幹線初の2階建て車両を導入</a:t>
                      </a:r>
                    </a:p>
                  </a:txBody>
                  <a:tcPr anchor="ctr" marL="152400" marR="152400" marT="120015" marB="120015">
                    <a:lnL>
                      <a:noFill/>
                    </a:lnL>
                    <a:lnR>
                      <a:noFill/>
                    </a:lnR>
                    <a:lnT>
                      <a:noFill/>
                    </a:lnT>
                    <a:lnB w="9525">
                      <a:solidFill>
                        <a:schemeClr val="accent6"/>
                      </a:solidFill>
                      <a:prstDash val="solid"/>
                    </a:lnB>
                    <a:noFill/>
                  </a:tcPr>
                </a:tc>
              </a:tr>
              <a:tr h="533400">
                <a:tc>
                  <a:txBody>
                    <a:bodyPr/>
                    <a:lstStyle/>
                    <a:p>
                      <a:pPr/>
                      <a:r>
                        <a:rPr lang="ja-JP" sz="1650" b="1">
                          <a:solidFill>
                            <a:schemeClr val="accent1"/>
                          </a:solidFill>
                          <a:latin typeface="Yu Gothic"/>
                          <a:ea typeface="Yu Gothic"/>
                          <a:cs typeface="Yu Gothic"/>
                        </a:rPr>
                        <a:t>300系</a:t>
                      </a:r>
                    </a:p>
                  </a:txBody>
                  <a:tcPr anchor="ctr" marL="152400" marR="152400" marT="120015" marB="120015">
                    <a:lnL>
                      <a:noFill/>
                    </a:lnL>
                    <a:lnR>
                      <a:noFill/>
                    </a:lnR>
                    <a:lnT>
                      <a:noFill/>
                    </a:lnT>
                    <a:lnB w="9525">
                      <a:solidFill>
                        <a:schemeClr val="accent6"/>
                      </a:solidFill>
                      <a:prstDash val="solid"/>
                    </a:lnB>
                    <a:noFill/>
                  </a:tcPr>
                </a:tc>
                <a:tc>
                  <a:txBody>
                    <a:bodyPr/>
                    <a:lstStyle/>
                    <a:p>
                      <a:pPr/>
                      <a:r>
                        <a:rPr lang="ja-JP" sz="1650" b="0">
                          <a:solidFill>
                            <a:schemeClr val="dk1"/>
                          </a:solidFill>
                          <a:latin typeface="Yu Gothic"/>
                          <a:ea typeface="Yu Gothic"/>
                          <a:cs typeface="Yu Gothic"/>
                        </a:rPr>
                        <a:t>1992年3月</a:t>
                      </a:r>
                    </a:p>
                  </a:txBody>
                  <a:tcPr anchor="ctr" marL="152400" marR="152400" marT="120015" marB="120015">
                    <a:lnL>
                      <a:noFill/>
                    </a:lnL>
                    <a:lnR>
                      <a:noFill/>
                    </a:lnR>
                    <a:lnT>
                      <a:noFill/>
                    </a:lnT>
                    <a:lnB w="9525">
                      <a:solidFill>
                        <a:schemeClr val="accent6"/>
                      </a:solidFill>
                      <a:prstDash val="solid"/>
                    </a:lnB>
                    <a:noFill/>
                  </a:tcPr>
                </a:tc>
                <a:tc>
                  <a:txBody>
                    <a:bodyPr/>
                    <a:lstStyle/>
                    <a:p>
                      <a:pPr/>
                      <a:r>
                        <a:rPr lang="ja-JP" sz="1650" b="0">
                          <a:solidFill>
                            <a:schemeClr val="dk1"/>
                          </a:solidFill>
                          <a:latin typeface="Yu Gothic"/>
                          <a:ea typeface="Yu Gothic"/>
                          <a:cs typeface="Yu Gothic"/>
                        </a:rPr>
                        <a:t>270km/h</a:t>
                      </a:r>
                    </a:p>
                  </a:txBody>
                  <a:tcPr anchor="ctr" marL="152400" marR="152400" marT="120015" marB="120015">
                    <a:lnL>
                      <a:noFill/>
                    </a:lnL>
                    <a:lnR>
                      <a:noFill/>
                    </a:lnR>
                    <a:lnT>
                      <a:noFill/>
                    </a:lnT>
                    <a:lnB w="9525">
                      <a:solidFill>
                        <a:schemeClr val="accent6"/>
                      </a:solidFill>
                      <a:prstDash val="solid"/>
                    </a:lnB>
                    <a:noFill/>
                  </a:tcPr>
                </a:tc>
                <a:tc>
                  <a:txBody>
                    <a:bodyPr/>
                    <a:lstStyle/>
                    <a:p>
                      <a:pPr/>
                      <a:r>
                        <a:rPr lang="ja-JP" sz="1650" b="0">
                          <a:solidFill>
                            <a:schemeClr val="dk1"/>
                          </a:solidFill>
                          <a:latin typeface="Yu Gothic"/>
                          <a:ea typeface="Yu Gothic"/>
                          <a:cs typeface="Yu Gothic"/>
                        </a:rPr>
                        <a:t>アルミ合金車体と誘導電動機で0系比約30%軽量化</a:t>
                      </a:r>
                    </a:p>
                  </a:txBody>
                  <a:tcPr anchor="ctr" marL="152400" marR="152400" marT="120015" marB="120015">
                    <a:lnL>
                      <a:noFill/>
                    </a:lnL>
                    <a:lnR>
                      <a:noFill/>
                    </a:lnR>
                    <a:lnT>
                      <a:noFill/>
                    </a:lnT>
                    <a:lnB w="9525">
                      <a:solidFill>
                        <a:schemeClr val="accent6"/>
                      </a:solidFill>
                      <a:prstDash val="solid"/>
                    </a:lnB>
                    <a:noFill/>
                  </a:tcPr>
                </a:tc>
              </a:tr>
              <a:tr h="533400">
                <a:tc>
                  <a:txBody>
                    <a:bodyPr/>
                    <a:lstStyle/>
                    <a:p>
                      <a:pPr/>
                      <a:r>
                        <a:rPr lang="ja-JP" sz="1650" b="1">
                          <a:solidFill>
                            <a:schemeClr val="accent1"/>
                          </a:solidFill>
                          <a:latin typeface="Yu Gothic"/>
                          <a:ea typeface="Yu Gothic"/>
                          <a:cs typeface="Yu Gothic"/>
                        </a:rPr>
                        <a:t>700系</a:t>
                      </a:r>
                    </a:p>
                  </a:txBody>
                  <a:tcPr anchor="ctr" marL="152400" marR="152400" marT="120015" marB="120015">
                    <a:lnL>
                      <a:noFill/>
                    </a:lnL>
                    <a:lnR>
                      <a:noFill/>
                    </a:lnR>
                    <a:lnT>
                      <a:noFill/>
                    </a:lnT>
                    <a:lnB w="9525">
                      <a:solidFill>
                        <a:schemeClr val="accent6"/>
                      </a:solidFill>
                      <a:prstDash val="solid"/>
                    </a:lnB>
                    <a:noFill/>
                  </a:tcPr>
                </a:tc>
                <a:tc>
                  <a:txBody>
                    <a:bodyPr/>
                    <a:lstStyle/>
                    <a:p>
                      <a:pPr/>
                      <a:r>
                        <a:rPr lang="ja-JP" sz="1650" b="0">
                          <a:solidFill>
                            <a:schemeClr val="dk1"/>
                          </a:solidFill>
                          <a:latin typeface="Yu Gothic"/>
                          <a:ea typeface="Yu Gothic"/>
                          <a:cs typeface="Yu Gothic"/>
                        </a:rPr>
                        <a:t>1999年3月</a:t>
                      </a:r>
                    </a:p>
                  </a:txBody>
                  <a:tcPr anchor="ctr" marL="152400" marR="152400" marT="120015" marB="120015">
                    <a:lnL>
                      <a:noFill/>
                    </a:lnL>
                    <a:lnR>
                      <a:noFill/>
                    </a:lnR>
                    <a:lnT>
                      <a:noFill/>
                    </a:lnT>
                    <a:lnB w="9525">
                      <a:solidFill>
                        <a:schemeClr val="accent6"/>
                      </a:solidFill>
                      <a:prstDash val="solid"/>
                    </a:lnB>
                    <a:noFill/>
                  </a:tcPr>
                </a:tc>
                <a:tc>
                  <a:txBody>
                    <a:bodyPr/>
                    <a:lstStyle/>
                    <a:p>
                      <a:pPr/>
                      <a:r>
                        <a:rPr lang="ja-JP" sz="1650" b="0">
                          <a:solidFill>
                            <a:schemeClr val="dk1"/>
                          </a:solidFill>
                          <a:latin typeface="Yu Gothic"/>
                          <a:ea typeface="Yu Gothic"/>
                          <a:cs typeface="Yu Gothic"/>
                        </a:rPr>
                        <a:t>270km/h</a:t>
                      </a:r>
                    </a:p>
                  </a:txBody>
                  <a:tcPr anchor="ctr" marL="152400" marR="152400" marT="120015" marB="120015">
                    <a:lnL>
                      <a:noFill/>
                    </a:lnL>
                    <a:lnR>
                      <a:noFill/>
                    </a:lnR>
                    <a:lnT>
                      <a:noFill/>
                    </a:lnT>
                    <a:lnB w="9525">
                      <a:solidFill>
                        <a:schemeClr val="accent6"/>
                      </a:solidFill>
                      <a:prstDash val="solid"/>
                    </a:lnB>
                    <a:noFill/>
                  </a:tcPr>
                </a:tc>
                <a:tc>
                  <a:txBody>
                    <a:bodyPr/>
                    <a:lstStyle/>
                    <a:p>
                      <a:pPr/>
                      <a:r>
                        <a:rPr lang="ja-JP" sz="1650" b="0">
                          <a:solidFill>
                            <a:schemeClr val="dk1"/>
                          </a:solidFill>
                          <a:latin typeface="Yu Gothic"/>
                          <a:ea typeface="Yu Gothic"/>
                          <a:cs typeface="Yu Gothic"/>
                        </a:rPr>
                        <a:t>空力を改善した先頭形状(エアロストリーム形)</a:t>
                      </a:r>
                    </a:p>
                  </a:txBody>
                  <a:tcPr anchor="ctr" marL="152400" marR="152400" marT="120015" marB="120015">
                    <a:lnL>
                      <a:noFill/>
                    </a:lnL>
                    <a:lnR>
                      <a:noFill/>
                    </a:lnR>
                    <a:lnT>
                      <a:noFill/>
                    </a:lnT>
                    <a:lnB w="9525">
                      <a:solidFill>
                        <a:schemeClr val="accent6"/>
                      </a:solidFill>
                      <a:prstDash val="solid"/>
                    </a:lnB>
                    <a:noFill/>
                  </a:tcPr>
                </a:tc>
              </a:tr>
              <a:tr h="533400">
                <a:tc>
                  <a:txBody>
                    <a:bodyPr/>
                    <a:lstStyle/>
                    <a:p>
                      <a:pPr/>
                      <a:r>
                        <a:rPr lang="ja-JP" sz="1650" b="1">
                          <a:solidFill>
                            <a:schemeClr val="accent1"/>
                          </a:solidFill>
                          <a:latin typeface="Yu Gothic"/>
                          <a:ea typeface="Yu Gothic"/>
                          <a:cs typeface="Yu Gothic"/>
                        </a:rPr>
                        <a:t>N700系</a:t>
                      </a:r>
                    </a:p>
                  </a:txBody>
                  <a:tcPr anchor="ctr" marL="152400" marR="152400" marT="120015" marB="120015">
                    <a:lnL>
                      <a:noFill/>
                    </a:lnL>
                    <a:lnR>
                      <a:noFill/>
                    </a:lnR>
                    <a:lnT>
                      <a:noFill/>
                    </a:lnT>
                    <a:lnB w="9525">
                      <a:solidFill>
                        <a:schemeClr val="accent6"/>
                      </a:solidFill>
                      <a:prstDash val="solid"/>
                    </a:lnB>
                    <a:noFill/>
                  </a:tcPr>
                </a:tc>
                <a:tc>
                  <a:txBody>
                    <a:bodyPr/>
                    <a:lstStyle/>
                    <a:p>
                      <a:pPr/>
                      <a:r>
                        <a:rPr lang="ja-JP" sz="1650" b="0">
                          <a:solidFill>
                            <a:schemeClr val="dk1"/>
                          </a:solidFill>
                          <a:latin typeface="Yu Gothic"/>
                          <a:ea typeface="Yu Gothic"/>
                          <a:cs typeface="Yu Gothic"/>
                        </a:rPr>
                        <a:t>2007年7月</a:t>
                      </a:r>
                    </a:p>
                  </a:txBody>
                  <a:tcPr anchor="ctr" marL="152400" marR="152400" marT="120015" marB="120015">
                    <a:lnL>
                      <a:noFill/>
                    </a:lnL>
                    <a:lnR>
                      <a:noFill/>
                    </a:lnR>
                    <a:lnT>
                      <a:noFill/>
                    </a:lnT>
                    <a:lnB w="9525">
                      <a:solidFill>
                        <a:schemeClr val="accent6"/>
                      </a:solidFill>
                      <a:prstDash val="solid"/>
                    </a:lnB>
                    <a:noFill/>
                  </a:tcPr>
                </a:tc>
                <a:tc>
                  <a:txBody>
                    <a:bodyPr/>
                    <a:lstStyle/>
                    <a:p>
                      <a:pPr/>
                      <a:r>
                        <a:rPr lang="ja-JP" sz="1650" b="0">
                          <a:solidFill>
                            <a:schemeClr val="dk1"/>
                          </a:solidFill>
                          <a:latin typeface="Yu Gothic"/>
                          <a:ea typeface="Yu Gothic"/>
                          <a:cs typeface="Yu Gothic"/>
                        </a:rPr>
                        <a:t>270→285km/h</a:t>
                      </a:r>
                    </a:p>
                  </a:txBody>
                  <a:tcPr anchor="ctr" marL="152400" marR="152400" marT="120015" marB="120015">
                    <a:lnL>
                      <a:noFill/>
                    </a:lnL>
                    <a:lnR>
                      <a:noFill/>
                    </a:lnR>
                    <a:lnT>
                      <a:noFill/>
                    </a:lnT>
                    <a:lnB w="9525">
                      <a:solidFill>
                        <a:schemeClr val="accent6"/>
                      </a:solidFill>
                      <a:prstDash val="solid"/>
                    </a:lnB>
                    <a:noFill/>
                  </a:tcPr>
                </a:tc>
                <a:tc>
                  <a:txBody>
                    <a:bodyPr/>
                    <a:lstStyle/>
                    <a:p>
                      <a:pPr/>
                      <a:r>
                        <a:rPr lang="ja-JP" sz="1650" b="0">
                          <a:solidFill>
                            <a:schemeClr val="dk1"/>
                          </a:solidFill>
                          <a:latin typeface="Yu Gothic"/>
                          <a:ea typeface="Yu Gothic"/>
                          <a:cs typeface="Yu Gothic"/>
                        </a:rPr>
                        <a:t>新幹線初の車体傾斜システムで曲線を速く</a:t>
                      </a:r>
                    </a:p>
                  </a:txBody>
                  <a:tcPr anchor="ctr" marL="152400" marR="152400" marT="120015" marB="120015">
                    <a:lnL>
                      <a:noFill/>
                    </a:lnL>
                    <a:lnR>
                      <a:noFill/>
                    </a:lnR>
                    <a:lnT>
                      <a:noFill/>
                    </a:lnT>
                    <a:lnB w="9525">
                      <a:solidFill>
                        <a:schemeClr val="accent6"/>
                      </a:solidFill>
                      <a:prstDash val="solid"/>
                    </a:lnB>
                    <a:noFill/>
                  </a:tcPr>
                </a:tc>
              </a:tr>
              <a:tr h="533400">
                <a:tc>
                  <a:txBody>
                    <a:bodyPr/>
                    <a:lstStyle/>
                    <a:p>
                      <a:pPr/>
                      <a:r>
                        <a:rPr lang="ja-JP" sz="1650" b="1">
                          <a:solidFill>
                            <a:schemeClr val="accent1"/>
                          </a:solidFill>
                          <a:latin typeface="Yu Gothic"/>
                          <a:ea typeface="Yu Gothic"/>
                          <a:cs typeface="Yu Gothic"/>
                        </a:rPr>
                        <a:t>N700A</a:t>
                      </a:r>
                    </a:p>
                  </a:txBody>
                  <a:tcPr anchor="ctr" marL="152400" marR="152400" marT="120015" marB="120015">
                    <a:lnL>
                      <a:noFill/>
                    </a:lnL>
                    <a:lnR>
                      <a:noFill/>
                    </a:lnR>
                    <a:lnT>
                      <a:noFill/>
                    </a:lnT>
                    <a:lnB w="9525">
                      <a:solidFill>
                        <a:schemeClr val="accent6"/>
                      </a:solidFill>
                      <a:prstDash val="solid"/>
                    </a:lnB>
                    <a:noFill/>
                  </a:tcPr>
                </a:tc>
                <a:tc>
                  <a:txBody>
                    <a:bodyPr/>
                    <a:lstStyle/>
                    <a:p>
                      <a:pPr/>
                      <a:r>
                        <a:rPr lang="ja-JP" sz="1650" b="0">
                          <a:solidFill>
                            <a:schemeClr val="dk1"/>
                          </a:solidFill>
                          <a:latin typeface="Yu Gothic"/>
                          <a:ea typeface="Yu Gothic"/>
                          <a:cs typeface="Yu Gothic"/>
                        </a:rPr>
                        <a:t>2013年2月</a:t>
                      </a:r>
                    </a:p>
                  </a:txBody>
                  <a:tcPr anchor="ctr" marL="152400" marR="152400" marT="120015" marB="120015">
                    <a:lnL>
                      <a:noFill/>
                    </a:lnL>
                    <a:lnR>
                      <a:noFill/>
                    </a:lnR>
                    <a:lnT>
                      <a:noFill/>
                    </a:lnT>
                    <a:lnB w="9525">
                      <a:solidFill>
                        <a:schemeClr val="accent6"/>
                      </a:solidFill>
                      <a:prstDash val="solid"/>
                    </a:lnB>
                    <a:noFill/>
                  </a:tcPr>
                </a:tc>
                <a:tc>
                  <a:txBody>
                    <a:bodyPr/>
                    <a:lstStyle/>
                    <a:p>
                      <a:pPr/>
                      <a:r>
                        <a:rPr lang="ja-JP" sz="1650" b="0">
                          <a:solidFill>
                            <a:schemeClr val="dk1"/>
                          </a:solidFill>
                          <a:latin typeface="Yu Gothic"/>
                          <a:ea typeface="Yu Gothic"/>
                          <a:cs typeface="Yu Gothic"/>
                        </a:rPr>
                        <a:t>285km/h</a:t>
                      </a:r>
                    </a:p>
                  </a:txBody>
                  <a:tcPr anchor="ctr" marL="152400" marR="152400" marT="120015" marB="120015">
                    <a:lnL>
                      <a:noFill/>
                    </a:lnL>
                    <a:lnR>
                      <a:noFill/>
                    </a:lnR>
                    <a:lnT>
                      <a:noFill/>
                    </a:lnT>
                    <a:lnB w="9525">
                      <a:solidFill>
                        <a:schemeClr val="accent6"/>
                      </a:solidFill>
                      <a:prstDash val="solid"/>
                    </a:lnB>
                    <a:noFill/>
                  </a:tcPr>
                </a:tc>
                <a:tc>
                  <a:txBody>
                    <a:bodyPr/>
                    <a:lstStyle/>
                    <a:p>
                      <a:pPr/>
                      <a:r>
                        <a:rPr lang="ja-JP" sz="1650" b="0">
                          <a:solidFill>
                            <a:schemeClr val="dk1"/>
                          </a:solidFill>
                          <a:latin typeface="Yu Gothic"/>
                          <a:ea typeface="Yu Gothic"/>
                          <a:cs typeface="Yu Gothic"/>
                        </a:rPr>
                        <a:t>中央締結ブレーキディスクと地震ブレーキ</a:t>
                      </a:r>
                    </a:p>
                  </a:txBody>
                  <a:tcPr anchor="ctr" marL="152400" marR="152400" marT="120015" marB="120015">
                    <a:lnL>
                      <a:noFill/>
                    </a:lnL>
                    <a:lnR>
                      <a:noFill/>
                    </a:lnR>
                    <a:lnT>
                      <a:noFill/>
                    </a:lnT>
                    <a:lnB w="9525">
                      <a:solidFill>
                        <a:schemeClr val="accent6"/>
                      </a:solidFill>
                      <a:prstDash val="solid"/>
                    </a:lnB>
                    <a:noFill/>
                  </a:tcPr>
                </a:tc>
              </a:tr>
              <a:tr h="533400">
                <a:tc>
                  <a:txBody>
                    <a:bodyPr/>
                    <a:lstStyle/>
                    <a:p>
                      <a:pPr/>
                      <a:r>
                        <a:rPr lang="ja-JP" sz="1650" b="1">
                          <a:solidFill>
                            <a:schemeClr val="accent2"/>
                          </a:solidFill>
                          <a:latin typeface="Yu Gothic"/>
                          <a:ea typeface="Yu Gothic"/>
                          <a:cs typeface="Yu Gothic"/>
                        </a:rPr>
                        <a:t>N700S</a:t>
                      </a:r>
                    </a:p>
                  </a:txBody>
                  <a:tcPr anchor="ctr" marL="152400" marR="152400" marT="120015" marB="120015">
                    <a:lnL>
                      <a:noFill/>
                    </a:lnL>
                    <a:lnR>
                      <a:noFill/>
                    </a:lnR>
                    <a:lnT>
                      <a:noFill/>
                    </a:lnT>
                    <a:lnB w="9525">
                      <a:solidFill>
                        <a:schemeClr val="accent6"/>
                      </a:solidFill>
                      <a:prstDash val="solid"/>
                    </a:lnB>
                    <a:solidFill>
                      <a:schemeClr val="lt2"/>
                    </a:solidFill>
                  </a:tcPr>
                </a:tc>
                <a:tc>
                  <a:txBody>
                    <a:bodyPr/>
                    <a:lstStyle/>
                    <a:p>
                      <a:pPr/>
                      <a:r>
                        <a:rPr lang="ja-JP" sz="1650" b="0">
                          <a:solidFill>
                            <a:schemeClr val="dk1"/>
                          </a:solidFill>
                          <a:latin typeface="Yu Gothic"/>
                          <a:ea typeface="Yu Gothic"/>
                          <a:cs typeface="Yu Gothic"/>
                        </a:rPr>
                        <a:t>2020年7月</a:t>
                      </a:r>
                    </a:p>
                  </a:txBody>
                  <a:tcPr anchor="ctr" marL="152400" marR="152400" marT="120015" marB="120015">
                    <a:lnL>
                      <a:noFill/>
                    </a:lnL>
                    <a:lnR>
                      <a:noFill/>
                    </a:lnR>
                    <a:lnT>
                      <a:noFill/>
                    </a:lnT>
                    <a:lnB w="9525">
                      <a:solidFill>
                        <a:schemeClr val="accent6"/>
                      </a:solidFill>
                      <a:prstDash val="solid"/>
                    </a:lnB>
                    <a:solidFill>
                      <a:schemeClr val="lt2"/>
                    </a:solidFill>
                  </a:tcPr>
                </a:tc>
                <a:tc>
                  <a:txBody>
                    <a:bodyPr/>
                    <a:lstStyle/>
                    <a:p>
                      <a:pPr/>
                      <a:r>
                        <a:rPr lang="ja-JP" sz="1650" b="0">
                          <a:solidFill>
                            <a:schemeClr val="dk1"/>
                          </a:solidFill>
                          <a:latin typeface="Yu Gothic"/>
                          <a:ea typeface="Yu Gothic"/>
                          <a:cs typeface="Yu Gothic"/>
                        </a:rPr>
                        <a:t>285km/h</a:t>
                      </a:r>
                    </a:p>
                  </a:txBody>
                  <a:tcPr anchor="ctr" marL="152400" marR="152400" marT="120015" marB="120015">
                    <a:lnL>
                      <a:noFill/>
                    </a:lnL>
                    <a:lnR>
                      <a:noFill/>
                    </a:lnR>
                    <a:lnT>
                      <a:noFill/>
                    </a:lnT>
                    <a:lnB w="9525">
                      <a:solidFill>
                        <a:schemeClr val="accent6"/>
                      </a:solidFill>
                      <a:prstDash val="solid"/>
                    </a:lnB>
                    <a:solidFill>
                      <a:schemeClr val="lt2"/>
                    </a:solidFill>
                  </a:tcPr>
                </a:tc>
                <a:tc>
                  <a:txBody>
                    <a:bodyPr/>
                    <a:lstStyle/>
                    <a:p>
                      <a:pPr/>
                      <a:r>
                        <a:rPr lang="ja-JP" sz="1650" b="0">
                          <a:solidFill>
                            <a:schemeClr val="dk1"/>
                          </a:solidFill>
                          <a:latin typeface="Yu Gothic"/>
                          <a:ea typeface="Yu Gothic"/>
                          <a:cs typeface="Yu Gothic"/>
                        </a:rPr>
                        <a:t>高速鉄道で世界初のSiC素子を駆動システムに採用</a:t>
                      </a:r>
                    </a:p>
                  </a:txBody>
                  <a:tcPr anchor="ctr" marL="152400" marR="152400" marT="120015" marB="120015">
                    <a:lnL>
                      <a:noFill/>
                    </a:lnL>
                    <a:lnR>
                      <a:noFill/>
                    </a:lnR>
                    <a:lnT>
                      <a:noFill/>
                    </a:lnT>
                    <a:lnB w="9525">
                      <a:solidFill>
                        <a:schemeClr val="accent6"/>
                      </a:solidFill>
                      <a:prstDash val="solid"/>
                    </a:lnB>
                    <a:solidFill>
                      <a:schemeClr val="lt2"/>
                    </a:solidFill>
                  </a:tcPr>
                </a:tc>
              </a:tr>
            </a:tbl>
          </a:graphicData>
        </a:graphic>
      </p:graphicFrame>
      <p:grpSp>
        <p:nvGrpSpPr>
          <p:cNvPr id="8" name="Group 8"/>
          <p:cNvGrpSpPr/>
          <p:nvPr/>
        </p:nvGrpSpPr>
        <p:grpSpPr>
          <a:xfrm>
            <a:off x="603504" y="6195060"/>
            <a:ext cx="10984992" cy="444246"/>
            <a:chOff x="603504" y="6195060"/>
            <a:chExt cx="10984992" cy="444246"/>
          </a:xfrm>
        </p:grpSpPr>
        <p:sp>
          <p:nvSpPr>
            <p:cNvPr id="6" name="TextBox 6"/>
            <p:cNvSpPr txBox="1"/>
            <p:nvPr/>
          </p:nvSpPr>
          <p:spPr>
            <a:xfrm>
              <a:off x="603504" y="6195060"/>
              <a:ext cx="919429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「→」は途中での速度向上(0系は1986年、N700系は改造後)。</a:t>
              </a:r>
              <a:br/>
              <a:r>
                <a:rPr lang="ja-JP" sz="1200" dirty="0">
                  <a:solidFill>
                    <a:schemeClr val="accent5"/>
                  </a:solidFill>
                  <a:latin typeface="+mn-lt"/>
                  <a:ea typeface="+mn-ea"/>
                  <a:cs typeface="+mn-cs"/>
                </a:rPr>
                <a:t>出典:上野雅之「東海道新幹線車両技術の変遷」日本機械学会誌(2017)/JR東海 ファクトシート2026/JR東海 採用サイト(2026年時点)</a:t>
              </a:r>
            </a:p>
          </p:txBody>
        </p:sp>
        <p:sp>
          <p:nvSpPr>
            <p:cNvPr id="7" name="TextBox 7"/>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6000750" y="1333500"/>
            <a:ext cx="4762500" cy="4762500"/>
          </a:xfrm>
          <a:prstGeom prst="ellipse">
            <a:avLst/>
          </a:prstGeom>
          <a:solidFill>
            <a:schemeClr val="accent3"/>
          </a:solidFill>
          <a:ln>
            <a:noFill/>
          </a:ln>
        </p:spPr>
      </p:sp>
      <p:grpSp>
        <p:nvGrpSpPr>
          <p:cNvPr id="4" name="Group 4"/>
          <p:cNvGrpSpPr/>
          <p:nvPr/>
        </p:nvGrpSpPr>
        <p:grpSpPr>
          <a:xfrm>
            <a:off x="601218" y="412432"/>
            <a:ext cx="1991993" cy="322707"/>
            <a:chOff x="601218" y="412432"/>
            <a:chExt cx="1991993" cy="322707"/>
          </a:xfrm>
        </p:grpSpPr>
        <p:sp>
          <p:nvSpPr>
            <p:cNvPr id="3" name="TextBox 3"/>
            <p:cNvSpPr txBox="1"/>
            <p:nvPr/>
          </p:nvSpPr>
          <p:spPr>
            <a:xfrm>
              <a:off x="601218" y="412432"/>
              <a:ext cx="1991993" cy="322707"/>
            </a:xfrm>
            <a:prstGeom prst="rect">
              <a:avLst/>
            </a:prstGeom>
            <a:noFill/>
            <a:ln>
              <a:noFill/>
            </a:ln>
          </p:spPr>
          <p:txBody>
            <a:bodyPr wrap="none" lIns="0" tIns="0" rIns="0" bIns="0" anchor="t" anchorCtr="0">
              <a:spAutoFit/>
            </a:bodyPr>
            <a:lstStyle/>
            <a:p>
              <a:pPr algn="l"/>
              <a:r>
                <a:rPr lang="ja-JP" sz="1650" b="1" dirty="0">
                  <a:solidFill>
                    <a:schemeClr val="accent2"/>
                  </a:solidFill>
                  <a:latin typeface="+mn-lt"/>
                  <a:ea typeface="+mn-ea"/>
                  <a:cs typeface="+mn-cs"/>
                </a:rPr>
                <a:t>② 本数を積み上げる</a:t>
              </a:r>
            </a:p>
          </p:txBody>
        </p:sp>
      </p:grpSp>
      <p:grpSp>
        <p:nvGrpSpPr>
          <p:cNvPr id="6" name="Group 6"/>
          <p:cNvGrpSpPr/>
          <p:nvPr/>
        </p:nvGrpSpPr>
        <p:grpSpPr>
          <a:xfrm>
            <a:off x="591312" y="735330"/>
            <a:ext cx="5367528" cy="704088"/>
            <a:chOff x="591312" y="735330"/>
            <a:chExt cx="5367528" cy="704088"/>
          </a:xfrm>
        </p:grpSpPr>
        <p:sp>
          <p:nvSpPr>
            <p:cNvPr id="5" name="TextBox 5"/>
            <p:cNvSpPr txBox="1"/>
            <p:nvPr/>
          </p:nvSpPr>
          <p:spPr>
            <a:xfrm>
              <a:off x="591312" y="735330"/>
              <a:ext cx="5367528"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次の主役は、本数だった</a:t>
              </a:r>
            </a:p>
          </p:txBody>
        </p:sp>
      </p:grpSp>
      <p:grpSp>
        <p:nvGrpSpPr>
          <p:cNvPr id="9" name="Group 9"/>
          <p:cNvGrpSpPr/>
          <p:nvPr/>
        </p:nvGrpSpPr>
        <p:grpSpPr>
          <a:xfrm>
            <a:off x="590550" y="3006090"/>
            <a:ext cx="1704461" cy="1062799"/>
            <a:chOff x="590550" y="3006090"/>
            <a:chExt cx="1704461" cy="1062799"/>
          </a:xfrm>
        </p:grpSpPr>
        <p:sp>
          <p:nvSpPr>
            <p:cNvPr id="7" name="TextBox 7"/>
            <p:cNvSpPr txBox="1"/>
            <p:nvPr/>
          </p:nvSpPr>
          <p:spPr>
            <a:xfrm>
              <a:off x="590550" y="3006090"/>
              <a:ext cx="1673168" cy="933450"/>
            </a:xfrm>
            <a:prstGeom prst="rect">
              <a:avLst/>
            </a:prstGeom>
            <a:noFill/>
            <a:ln>
              <a:noFill/>
            </a:ln>
          </p:spPr>
          <p:txBody>
            <a:bodyPr wrap="none" lIns="0" tIns="0" rIns="0" bIns="0" anchor="t" anchorCtr="0">
              <a:spAutoFit/>
            </a:bodyPr>
            <a:lstStyle/>
            <a:p>
              <a:pPr algn="l"/>
              <a:r>
                <a:rPr lang="ja-JP" sz="4800" b="1" dirty="0">
                  <a:solidFill>
                    <a:schemeClr val="accent1"/>
                  </a:solidFill>
                  <a:latin typeface="Arial Black"/>
                  <a:ea typeface="Arial Black"/>
                  <a:cs typeface="Arial Black"/>
                </a:rPr>
                <a:t>60</a:t>
              </a:r>
              <a:r>
                <a:rPr lang="ja-JP" sz="2400" b="1" dirty="0">
                  <a:solidFill>
                    <a:schemeClr val="accent1"/>
                  </a:solidFill>
                  <a:latin typeface="Arial Black"/>
                  <a:ea typeface="Yu Gothic"/>
                  <a:cs typeface="Arial Black"/>
                </a:rPr>
                <a:t>本/日</a:t>
              </a:r>
            </a:p>
          </p:txBody>
        </p:sp>
        <p:sp>
          <p:nvSpPr>
            <p:cNvPr id="8" name="TextBox 8"/>
            <p:cNvSpPr txBox="1"/>
            <p:nvPr/>
          </p:nvSpPr>
          <p:spPr>
            <a:xfrm>
              <a:off x="601218" y="3746182"/>
              <a:ext cx="1693793" cy="322707"/>
            </a:xfrm>
            <a:prstGeom prst="rect">
              <a:avLst/>
            </a:prstGeom>
            <a:noFill/>
            <a:ln>
              <a:noFill/>
            </a:ln>
          </p:spPr>
          <p:txBody>
            <a:bodyPr wrap="none" lIns="0" tIns="0" rIns="0" bIns="0" anchor="t" anchorCtr="0">
              <a:spAutoFit/>
            </a:bodyPr>
            <a:lstStyle/>
            <a:p>
              <a:pPr algn="l"/>
              <a:r>
                <a:rPr lang="ja-JP" sz="1650" dirty="0">
                  <a:solidFill>
                    <a:schemeClr val="accent5"/>
                  </a:solidFill>
                  <a:latin typeface="+mn-lt"/>
                  <a:ea typeface="+mn-ea"/>
                  <a:cs typeface="+mn-cs"/>
                </a:rPr>
                <a:t>開業時の1日平均</a:t>
              </a:r>
            </a:p>
          </p:txBody>
        </p:sp>
      </p:grpSp>
      <p:sp>
        <p:nvSpPr>
          <p:cNvPr id="10" name="Freeform 10"/>
          <p:cNvSpPr/>
          <p:nvPr/>
        </p:nvSpPr>
        <p:spPr>
          <a:xfrm>
            <a:off x="3200400" y="3028950"/>
            <a:ext cx="2247900" cy="533400"/>
          </a:xfrm>
          <a:prstGeom prst="rightArrow">
            <a:avLst/>
          </a:prstGeom>
          <a:solidFill>
            <a:schemeClr val="accent1"/>
          </a:solidFill>
          <a:ln>
            <a:noFill/>
          </a:ln>
        </p:spPr>
      </p:sp>
      <p:grpSp>
        <p:nvGrpSpPr>
          <p:cNvPr id="13" name="Group 13"/>
          <p:cNvGrpSpPr/>
          <p:nvPr/>
        </p:nvGrpSpPr>
        <p:grpSpPr>
          <a:xfrm>
            <a:off x="3429000" y="3676650"/>
            <a:ext cx="1676400" cy="1676400"/>
            <a:chOff x="3429000" y="3676650"/>
            <a:chExt cx="1676400" cy="1676400"/>
          </a:xfrm>
        </p:grpSpPr>
        <p:sp>
          <p:nvSpPr>
            <p:cNvPr id="11" name="Freeform 11"/>
            <p:cNvSpPr/>
            <p:nvPr/>
          </p:nvSpPr>
          <p:spPr>
            <a:xfrm>
              <a:off x="3429000" y="3676650"/>
              <a:ext cx="1676400" cy="1676400"/>
            </a:xfrm>
            <a:prstGeom prst="star24">
              <a:avLst/>
            </a:prstGeom>
            <a:solidFill>
              <a:schemeClr val="accent2"/>
            </a:solidFill>
            <a:ln>
              <a:noFill/>
            </a:ln>
          </p:spPr>
        </p:sp>
        <p:sp>
          <p:nvSpPr>
            <p:cNvPr id="12" name="TextBox 12"/>
            <p:cNvSpPr txBox="1"/>
            <p:nvPr/>
          </p:nvSpPr>
          <p:spPr>
            <a:xfrm>
              <a:off x="3690492" y="4376738"/>
              <a:ext cx="1153416" cy="440055"/>
            </a:xfrm>
            <a:prstGeom prst="rect">
              <a:avLst/>
            </a:prstGeom>
            <a:noFill/>
            <a:ln>
              <a:noFill/>
            </a:ln>
          </p:spPr>
          <p:txBody>
            <a:bodyPr wrap="none" lIns="0" tIns="0" rIns="0" bIns="0" anchor="t" anchorCtr="0">
              <a:spAutoFit/>
            </a:bodyPr>
            <a:lstStyle/>
            <a:p>
              <a:pPr algn="ctr"/>
              <a:r>
                <a:rPr lang="ja-JP" sz="2250" b="1" dirty="0">
                  <a:solidFill>
                    <a:srgbClr val="F3ECDD"/>
                  </a:solidFill>
                  <a:latin typeface="+mn-lt"/>
                  <a:ea typeface="+mn-ea"/>
                  <a:cs typeface="+mn-cs"/>
                </a:rPr>
                <a:t>約6.6倍</a:t>
              </a:r>
            </a:p>
          </p:txBody>
        </p:sp>
      </p:grpSp>
      <p:grpSp>
        <p:nvGrpSpPr>
          <p:cNvPr id="15" name="!!trains-395"/>
          <p:cNvGrpSpPr/>
          <p:nvPr/>
        </p:nvGrpSpPr>
        <p:grpSpPr>
          <a:xfrm>
            <a:off x="6506231" y="2931795"/>
            <a:ext cx="3751538" cy="1905000"/>
            <a:chOff x="6506231" y="2931795"/>
            <a:chExt cx="3751538" cy="1905000"/>
          </a:xfrm>
        </p:grpSpPr>
        <p:sp>
          <p:nvSpPr>
            <p:cNvPr id="14" name="TextBox 14"/>
            <p:cNvSpPr txBox="1"/>
            <p:nvPr/>
          </p:nvSpPr>
          <p:spPr>
            <a:xfrm>
              <a:off x="6506231" y="2931795"/>
              <a:ext cx="3751538" cy="1905000"/>
            </a:xfrm>
            <a:prstGeom prst="rect">
              <a:avLst/>
            </a:prstGeom>
            <a:noFill/>
            <a:ln>
              <a:noFill/>
            </a:ln>
          </p:spPr>
          <p:txBody>
            <a:bodyPr wrap="none" lIns="0" tIns="0" rIns="0" bIns="0" anchor="t" anchorCtr="0">
              <a:spAutoFit/>
            </a:bodyPr>
            <a:lstStyle/>
            <a:p>
              <a:pPr algn="ctr"/>
              <a:r>
                <a:rPr lang="ja-JP" sz="9900" b="1" dirty="0">
                  <a:solidFill>
                    <a:schemeClr val="accent1"/>
                  </a:solidFill>
                  <a:latin typeface="Arial Black"/>
                  <a:ea typeface="Arial Black"/>
                  <a:cs typeface="Arial Black"/>
                </a:rPr>
                <a:t>395</a:t>
              </a:r>
              <a:r>
                <a:rPr lang="ja-JP" sz="3600" b="1" dirty="0">
                  <a:solidFill>
                    <a:schemeClr val="accent1"/>
                  </a:solidFill>
                  <a:latin typeface="Arial Black"/>
                  <a:ea typeface="Yu Gothic"/>
                  <a:cs typeface="Arial Black"/>
                </a:rPr>
                <a:t>本/日</a:t>
              </a:r>
            </a:p>
          </p:txBody>
        </p:sp>
      </p:grpSp>
      <p:grpSp>
        <p:nvGrpSpPr>
          <p:cNvPr id="17" name="!!trains-395-label"/>
          <p:cNvGrpSpPr/>
          <p:nvPr/>
        </p:nvGrpSpPr>
        <p:grpSpPr>
          <a:xfrm>
            <a:off x="7018668" y="4584382"/>
            <a:ext cx="2726665" cy="322707"/>
            <a:chOff x="7018668" y="4584382"/>
            <a:chExt cx="2726665" cy="322707"/>
          </a:xfrm>
        </p:grpSpPr>
        <p:sp>
          <p:nvSpPr>
            <p:cNvPr id="16" name="TextBox 16"/>
            <p:cNvSpPr txBox="1"/>
            <p:nvPr/>
          </p:nvSpPr>
          <p:spPr>
            <a:xfrm>
              <a:off x="7018668" y="4584382"/>
              <a:ext cx="2726665" cy="322707"/>
            </a:xfrm>
            <a:prstGeom prst="rect">
              <a:avLst/>
            </a:prstGeom>
            <a:noFill/>
            <a:ln>
              <a:noFill/>
            </a:ln>
          </p:spPr>
          <p:txBody>
            <a:bodyPr wrap="none" lIns="0" tIns="0" rIns="0" bIns="0" anchor="t" anchorCtr="0">
              <a:spAutoFit/>
            </a:bodyPr>
            <a:lstStyle/>
            <a:p>
              <a:pPr algn="ctr"/>
              <a:r>
                <a:rPr lang="ja-JP" sz="1650" dirty="0">
                  <a:solidFill>
                    <a:schemeClr val="accent1"/>
                  </a:solidFill>
                  <a:latin typeface="+mn-lt"/>
                  <a:ea typeface="+mn-ea"/>
                  <a:cs typeface="+mn-cs"/>
                </a:rPr>
                <a:t>2025年度・臨時列車を含む</a:t>
              </a:r>
            </a:p>
          </p:txBody>
        </p:sp>
      </p:grpSp>
      <p:grpSp>
        <p:nvGrpSpPr>
          <p:cNvPr id="20" name="Group 20"/>
          <p:cNvGrpSpPr/>
          <p:nvPr/>
        </p:nvGrpSpPr>
        <p:grpSpPr>
          <a:xfrm>
            <a:off x="603504" y="6176010"/>
            <a:ext cx="10984992" cy="234696"/>
            <a:chOff x="603504" y="6176010"/>
            <a:chExt cx="10984992" cy="234696"/>
          </a:xfrm>
        </p:grpSpPr>
        <p:sp>
          <p:nvSpPr>
            <p:cNvPr id="18" name="TextBox 18"/>
            <p:cNvSpPr txBox="1"/>
            <p:nvPr/>
          </p:nvSpPr>
          <p:spPr>
            <a:xfrm>
              <a:off x="603504" y="6176010"/>
              <a:ext cx="9562338"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倍率は当資料による計算(395÷60)。出典:JR東海 採用サイト「新幹線鉄道事業」(開業時)/JR東海 ファクトシート2026(2025年度)</a:t>
              </a:r>
            </a:p>
          </p:txBody>
        </p:sp>
        <p:sp>
          <p:nvSpPr>
            <p:cNvPr id="19" name="TextBox 19"/>
            <p:cNvSpPr txBox="1"/>
            <p:nvPr/>
          </p:nvSpPr>
          <p:spPr>
            <a:xfrm>
              <a:off x="11398606" y="61760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07</a:t>
              </a:r>
            </a:p>
          </p:txBody>
        </p:sp>
      </p:grpSp>
      <p:grpSp>
        <p:nvGrpSpPr>
          <p:cNvPr id="23" name="Group 23"/>
          <p:cNvGrpSpPr/>
          <p:nvPr/>
        </p:nvGrpSpPr>
        <p:grpSpPr>
          <a:xfrm>
            <a:off x="0" y="6515100"/>
            <a:ext cx="12192000" cy="200025"/>
            <a:chOff x="0" y="6515100"/>
            <a:chExt cx="12192000" cy="200025"/>
          </a:xfrm>
        </p:grpSpPr>
        <p:sp>
          <p:nvSpPr>
            <p:cNvPr id="21" name="Rectangle 21"/>
            <p:cNvSpPr/>
            <p:nvPr/>
          </p:nvSpPr>
          <p:spPr>
            <a:xfrm>
              <a:off x="0" y="6515100"/>
              <a:ext cx="12192000" cy="114300"/>
            </a:xfrm>
            <a:prstGeom prst="rect">
              <a:avLst/>
            </a:prstGeom>
            <a:solidFill>
              <a:schemeClr val="accent1"/>
            </a:solidFill>
            <a:ln>
              <a:noFill/>
            </a:ln>
          </p:spPr>
        </p:sp>
        <p:sp>
          <p:nvSpPr>
            <p:cNvPr id="22" name="Line 22"/>
            <p:cNvSpPr/>
            <p:nvPr/>
          </p:nvSpPr>
          <p:spPr>
            <a:xfrm>
              <a:off x="0" y="6705600"/>
              <a:ext cx="12192000" cy="9525"/>
            </a:xfrm>
            <a:custGeom>
              <a:avLst/>
              <a:gdLst/>
              <a:ahLst/>
              <a:cxnLst/>
              <a:rect l="l" t="t" r="r" b="b"/>
              <a:pathLst>
                <a:path w="12192000" h="9525">
                  <a:moveTo>
                    <a:pt x="0" y="0"/>
                  </a:moveTo>
                  <a:lnTo>
                    <a:pt x="12192000" y="0"/>
                  </a:lnTo>
                </a:path>
              </a:pathLst>
            </a:custGeom>
            <a:noFill/>
            <a:ln w="19050">
              <a:solidFill>
                <a:schemeClr val="accent1"/>
              </a:solidFill>
            </a:ln>
          </p:spPr>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childTnLst>
                          </p:cTn>
                        </p:par>
                        <p:par>
                          <p:cTn id="8" fill="hold">
                            <p:stCondLst>
                              <p:cond delay="600"/>
                            </p:stCondLst>
                            <p:childTnLst>
                              <p:par>
                                <p:cTn id="9" presetID="10" presetClass="entr" presetSubtype="0" fill="hold" grpId="0" nodeType="afterEffect">
                                  <p:stCondLst>
                                    <p:cond delay="5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1312" y="601980"/>
            <a:ext cx="8770010" cy="1132332"/>
            <a:chOff x="591312" y="601980"/>
            <a:chExt cx="8770010" cy="1132332"/>
          </a:xfrm>
        </p:grpSpPr>
        <p:sp>
          <p:nvSpPr>
            <p:cNvPr id="2" name="TextBox 2"/>
            <p:cNvSpPr txBox="1"/>
            <p:nvPr/>
          </p:nvSpPr>
          <p:spPr>
            <a:xfrm>
              <a:off x="591312" y="601980"/>
              <a:ext cx="7104888"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1時間に「のぞみ」13本の時代へ</a:t>
              </a:r>
            </a:p>
          </p:txBody>
        </p:sp>
        <p:sp>
          <p:nvSpPr>
            <p:cNvPr id="3" name="TextBox 3"/>
            <p:cNvSpPr txBox="1"/>
            <p:nvPr/>
          </p:nvSpPr>
          <p:spPr>
            <a:xfrm>
              <a:off x="597408" y="1264920"/>
              <a:ext cx="8763914"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品川駅開業と全列車270km/h化が、本数の天井を押し上げた</a:t>
              </a:r>
            </a:p>
          </p:txBody>
        </p:sp>
      </p:grpSp>
      <p:grpSp>
        <p:nvGrpSpPr>
          <p:cNvPr id="6" name="!!trains-395"/>
          <p:cNvGrpSpPr/>
          <p:nvPr/>
        </p:nvGrpSpPr>
        <p:grpSpPr>
          <a:xfrm>
            <a:off x="590550" y="2244090"/>
            <a:ext cx="2068724" cy="933450"/>
            <a:chOff x="590550" y="2244090"/>
            <a:chExt cx="2068724" cy="933450"/>
          </a:xfrm>
        </p:grpSpPr>
        <p:sp>
          <p:nvSpPr>
            <p:cNvPr id="5" name="TextBox 5"/>
            <p:cNvSpPr txBox="1"/>
            <p:nvPr/>
          </p:nvSpPr>
          <p:spPr>
            <a:xfrm>
              <a:off x="590550" y="2244090"/>
              <a:ext cx="2068724" cy="933450"/>
            </a:xfrm>
            <a:prstGeom prst="rect">
              <a:avLst/>
            </a:prstGeom>
            <a:noFill/>
            <a:ln>
              <a:noFill/>
            </a:ln>
          </p:spPr>
          <p:txBody>
            <a:bodyPr wrap="none" lIns="0" tIns="0" rIns="0" bIns="0" anchor="t" anchorCtr="0">
              <a:spAutoFit/>
            </a:bodyPr>
            <a:lstStyle/>
            <a:p>
              <a:pPr algn="l"/>
              <a:r>
                <a:rPr lang="ja-JP" sz="4800" b="1" dirty="0">
                  <a:solidFill>
                    <a:schemeClr val="accent1"/>
                  </a:solidFill>
                  <a:latin typeface="Arial Black"/>
                  <a:ea typeface="Arial Black"/>
                  <a:cs typeface="Arial Black"/>
                </a:rPr>
                <a:t>395</a:t>
              </a:r>
              <a:r>
                <a:rPr lang="ja-JP" sz="2400" b="1" dirty="0">
                  <a:solidFill>
                    <a:schemeClr val="accent1"/>
                  </a:solidFill>
                  <a:latin typeface="Arial Black"/>
                  <a:ea typeface="Yu Gothic"/>
                  <a:cs typeface="Arial Black"/>
                </a:rPr>
                <a:t>本/日</a:t>
              </a:r>
            </a:p>
          </p:txBody>
        </p:sp>
      </p:grpSp>
      <p:grpSp>
        <p:nvGrpSpPr>
          <p:cNvPr id="9" name="!!trains-395-label"/>
          <p:cNvGrpSpPr/>
          <p:nvPr/>
        </p:nvGrpSpPr>
        <p:grpSpPr>
          <a:xfrm>
            <a:off x="601218" y="3117532"/>
            <a:ext cx="2689459" cy="951357"/>
            <a:chOff x="601218" y="3117532"/>
            <a:chExt cx="2689459" cy="951357"/>
          </a:xfrm>
        </p:grpSpPr>
        <p:sp>
          <p:nvSpPr>
            <p:cNvPr id="7" name="TextBox 7"/>
            <p:cNvSpPr txBox="1"/>
            <p:nvPr/>
          </p:nvSpPr>
          <p:spPr>
            <a:xfrm>
              <a:off x="601218" y="3117532"/>
              <a:ext cx="2478976" cy="608457"/>
            </a:xfrm>
            <a:prstGeom prst="rect">
              <a:avLst/>
            </a:prstGeom>
            <a:noFill/>
            <a:ln>
              <a:noFill/>
            </a:ln>
          </p:spPr>
          <p:txBody>
            <a:bodyPr wrap="none" lIns="0" tIns="0" rIns="0" bIns="0" anchor="t" anchorCtr="0">
              <a:spAutoFit/>
            </a:bodyPr>
            <a:lstStyle/>
            <a:p>
              <a:pPr algn="l">
                <a:lnSpc>
                  <a:spcPts val="2250"/>
                </a:lnSpc>
              </a:pPr>
              <a:r>
                <a:rPr lang="ja-JP" sz="1650" dirty="0">
                  <a:solidFill>
                    <a:schemeClr val="accent5"/>
                  </a:solidFill>
                  <a:latin typeface="+mn-lt"/>
                  <a:ea typeface="+mn-ea"/>
                  <a:cs typeface="+mn-cs"/>
                </a:rPr>
                <a:t>2025年度の1日の列車本数</a:t>
              </a:r>
              <a:br/>
              <a:r>
                <a:rPr lang="ja-JP" sz="1650" dirty="0">
                  <a:solidFill>
                    <a:schemeClr val="accent5"/>
                  </a:solidFill>
                  <a:latin typeface="+mn-lt"/>
                  <a:ea typeface="+mn-ea"/>
                  <a:cs typeface="+mn-cs"/>
                </a:rPr>
                <a:t>(臨時列車を含む)</a:t>
              </a:r>
            </a:p>
          </p:txBody>
        </p:sp>
        <p:sp>
          <p:nvSpPr>
            <p:cNvPr id="8" name="TextBox 8"/>
            <p:cNvSpPr txBox="1"/>
            <p:nvPr/>
          </p:nvSpPr>
          <p:spPr>
            <a:xfrm>
              <a:off x="601218" y="3746182"/>
              <a:ext cx="2689459"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2024年度の1日平均:</a:t>
              </a:r>
              <a:r>
                <a:rPr lang="ja-JP" sz="1650" b="1" dirty="0">
                  <a:solidFill>
                    <a:schemeClr val="accent1"/>
                  </a:solidFill>
                  <a:latin typeface="+mn-lt"/>
                  <a:ea typeface="+mn-ea"/>
                  <a:cs typeface="+mn-cs"/>
                </a:rPr>
                <a:t>383本</a:t>
              </a:r>
            </a:p>
          </p:txBody>
        </p:sp>
      </p:grpSp>
      <p:grpSp>
        <p:nvGrpSpPr>
          <p:cNvPr id="12" name="Group 12"/>
          <p:cNvGrpSpPr/>
          <p:nvPr/>
        </p:nvGrpSpPr>
        <p:grpSpPr>
          <a:xfrm>
            <a:off x="3848100" y="2057400"/>
            <a:ext cx="180975" cy="3429000"/>
            <a:chOff x="3848100" y="2057400"/>
            <a:chExt cx="180975" cy="3429000"/>
          </a:xfrm>
        </p:grpSpPr>
        <p:sp>
          <p:nvSpPr>
            <p:cNvPr id="10" name="Rectangle 10"/>
            <p:cNvSpPr/>
            <p:nvPr/>
          </p:nvSpPr>
          <p:spPr>
            <a:xfrm>
              <a:off x="3848100" y="2057400"/>
              <a:ext cx="95250" cy="3429000"/>
            </a:xfrm>
            <a:prstGeom prst="rect">
              <a:avLst/>
            </a:prstGeom>
            <a:solidFill>
              <a:schemeClr val="accent1"/>
            </a:solidFill>
            <a:ln>
              <a:noFill/>
            </a:ln>
          </p:spPr>
        </p:sp>
        <p:sp>
          <p:nvSpPr>
            <p:cNvPr id="11" name="Line 11"/>
            <p:cNvSpPr/>
            <p:nvPr/>
          </p:nvSpPr>
          <p:spPr>
            <a:xfrm>
              <a:off x="4019550" y="2057400"/>
              <a:ext cx="9525" cy="3429000"/>
            </a:xfrm>
            <a:custGeom>
              <a:avLst/>
              <a:gdLst/>
              <a:ahLst/>
              <a:cxnLst/>
              <a:rect l="l" t="t" r="r" b="b"/>
              <a:pathLst>
                <a:path w="9525" h="3429000">
                  <a:moveTo>
                    <a:pt x="0" y="0"/>
                  </a:moveTo>
                  <a:lnTo>
                    <a:pt x="0" y="3429000"/>
                  </a:lnTo>
                </a:path>
              </a:pathLst>
            </a:custGeom>
            <a:noFill/>
            <a:ln w="19050">
              <a:solidFill>
                <a:schemeClr val="accent1"/>
              </a:solidFill>
            </a:ln>
          </p:spPr>
        </p:sp>
      </p:grpSp>
      <p:sp>
        <p:nvSpPr>
          <p:cNvPr id="13" name="TextBox 13"/>
          <p:cNvSpPr txBox="1"/>
          <p:nvPr/>
        </p:nvSpPr>
        <p:spPr>
          <a:xfrm>
            <a:off x="4182618" y="1745932"/>
            <a:ext cx="5895249"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「のぞみ」の1時間あたり片道最大本数(アイコン1つ=1本)</a:t>
            </a:r>
          </a:p>
        </p:txBody>
      </p:sp>
      <p:grpSp>
        <p:nvGrpSpPr>
          <p:cNvPr id="17" name="Group 17"/>
          <p:cNvGrpSpPr/>
          <p:nvPr/>
        </p:nvGrpSpPr>
        <p:grpSpPr>
          <a:xfrm>
            <a:off x="4178808" y="2126932"/>
            <a:ext cx="1869567" cy="731330"/>
            <a:chOff x="4178808" y="2126932"/>
            <a:chExt cx="1869567" cy="731330"/>
          </a:xfrm>
        </p:grpSpPr>
        <p:sp>
          <p:nvSpPr>
            <p:cNvPr id="14" name="TextBox 14"/>
            <p:cNvSpPr txBox="1"/>
            <p:nvPr/>
          </p:nvSpPr>
          <p:spPr>
            <a:xfrm>
              <a:off x="4182618" y="2126932"/>
              <a:ext cx="974114" cy="322707"/>
            </a:xfrm>
            <a:prstGeom prst="rect">
              <a:avLst/>
            </a:prstGeom>
            <a:noFill/>
            <a:ln>
              <a:noFill/>
            </a:ln>
          </p:spPr>
          <p:txBody>
            <a:bodyPr wrap="none" lIns="0" tIns="0" rIns="0" bIns="0" anchor="t" anchorCtr="0">
              <a:spAutoFit/>
            </a:bodyPr>
            <a:lstStyle/>
            <a:p>
              <a:pPr algn="l"/>
              <a:r>
                <a:rPr lang="ja-JP" sz="1650" b="1" dirty="0">
                  <a:solidFill>
                    <a:schemeClr val="accent5"/>
                  </a:solidFill>
                  <a:latin typeface="+mn-lt"/>
                  <a:ea typeface="+mn-ea"/>
                  <a:cs typeface="+mn-cs"/>
                </a:rPr>
                <a:t>1992年度</a:t>
              </a:r>
            </a:p>
          </p:txBody>
        </p:sp>
        <p:sp>
          <p:nvSpPr>
            <p:cNvPr id="15" name="TextBox 15"/>
            <p:cNvSpPr txBox="1"/>
            <p:nvPr/>
          </p:nvSpPr>
          <p:spPr>
            <a:xfrm>
              <a:off x="4178808" y="2388870"/>
              <a:ext cx="534055" cy="469392"/>
            </a:xfrm>
            <a:prstGeom prst="rect">
              <a:avLst/>
            </a:prstGeom>
            <a:noFill/>
            <a:ln>
              <a:noFill/>
            </a:ln>
          </p:spPr>
          <p:txBody>
            <a:bodyPr wrap="none" lIns="0" tIns="0" rIns="0" bIns="0" anchor="t" anchorCtr="0">
              <a:spAutoFit/>
            </a:bodyPr>
            <a:lstStyle/>
            <a:p>
              <a:pPr algn="l"/>
              <a:r>
                <a:rPr lang="ja-JP" sz="2400" b="1" dirty="0">
                  <a:solidFill>
                    <a:schemeClr val="accent1"/>
                  </a:solidFill>
                  <a:latin typeface="+mn-lt"/>
                  <a:ea typeface="+mn-ea"/>
                  <a:cs typeface="+mn-cs"/>
                </a:rPr>
                <a:t>1本</a:t>
              </a:r>
            </a:p>
          </p:txBody>
        </p:sp>
        <p:sp>
          <p:nvSpPr>
            <p:cNvPr id="16" name="Freeform 16"/>
            <p:cNvSpPr/>
            <p:nvPr/>
          </p:nvSpPr>
          <p:spPr>
            <a:xfrm>
              <a:off x="5762625" y="21907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grpSp>
      <p:grpSp>
        <p:nvGrpSpPr>
          <p:cNvPr id="29" name="Group 29"/>
          <p:cNvGrpSpPr/>
          <p:nvPr/>
        </p:nvGrpSpPr>
        <p:grpSpPr>
          <a:xfrm>
            <a:off x="4178808" y="2984182"/>
            <a:ext cx="7137273" cy="731330"/>
            <a:chOff x="4178808" y="2984182"/>
            <a:chExt cx="7137273" cy="731330"/>
          </a:xfrm>
        </p:grpSpPr>
        <p:sp>
          <p:nvSpPr>
            <p:cNvPr id="18" name="TextBox 18"/>
            <p:cNvSpPr txBox="1"/>
            <p:nvPr/>
          </p:nvSpPr>
          <p:spPr>
            <a:xfrm>
              <a:off x="4182618" y="2984182"/>
              <a:ext cx="974114" cy="322707"/>
            </a:xfrm>
            <a:prstGeom prst="rect">
              <a:avLst/>
            </a:prstGeom>
            <a:noFill/>
            <a:ln>
              <a:noFill/>
            </a:ln>
          </p:spPr>
          <p:txBody>
            <a:bodyPr wrap="none" lIns="0" tIns="0" rIns="0" bIns="0" anchor="t" anchorCtr="0">
              <a:spAutoFit/>
            </a:bodyPr>
            <a:lstStyle/>
            <a:p>
              <a:pPr algn="l"/>
              <a:r>
                <a:rPr lang="ja-JP" sz="1650" b="1" dirty="0">
                  <a:solidFill>
                    <a:schemeClr val="accent5"/>
                  </a:solidFill>
                  <a:latin typeface="+mn-lt"/>
                  <a:ea typeface="+mn-ea"/>
                  <a:cs typeface="+mn-cs"/>
                </a:rPr>
                <a:t>2003年度</a:t>
              </a:r>
            </a:p>
          </p:txBody>
        </p:sp>
        <p:sp>
          <p:nvSpPr>
            <p:cNvPr id="19" name="TextBox 19"/>
            <p:cNvSpPr txBox="1"/>
            <p:nvPr/>
          </p:nvSpPr>
          <p:spPr>
            <a:xfrm>
              <a:off x="4178808" y="3246120"/>
              <a:ext cx="534055" cy="469392"/>
            </a:xfrm>
            <a:prstGeom prst="rect">
              <a:avLst/>
            </a:prstGeom>
            <a:noFill/>
            <a:ln>
              <a:noFill/>
            </a:ln>
          </p:spPr>
          <p:txBody>
            <a:bodyPr wrap="none" lIns="0" tIns="0" rIns="0" bIns="0" anchor="t" anchorCtr="0">
              <a:spAutoFit/>
            </a:bodyPr>
            <a:lstStyle/>
            <a:p>
              <a:pPr algn="l"/>
              <a:r>
                <a:rPr lang="ja-JP" sz="2400" b="1" dirty="0">
                  <a:solidFill>
                    <a:schemeClr val="accent1"/>
                  </a:solidFill>
                  <a:latin typeface="+mn-lt"/>
                  <a:ea typeface="+mn-ea"/>
                  <a:cs typeface="+mn-cs"/>
                </a:rPr>
                <a:t>7本</a:t>
              </a:r>
            </a:p>
          </p:txBody>
        </p:sp>
        <p:sp>
          <p:nvSpPr>
            <p:cNvPr id="20" name="Freeform 20"/>
            <p:cNvSpPr/>
            <p:nvPr/>
          </p:nvSpPr>
          <p:spPr>
            <a:xfrm>
              <a:off x="5762625" y="30480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21" name="Freeform 21"/>
            <p:cNvSpPr/>
            <p:nvPr/>
          </p:nvSpPr>
          <p:spPr>
            <a:xfrm>
              <a:off x="6200775" y="30480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22" name="Freeform 22"/>
            <p:cNvSpPr/>
            <p:nvPr/>
          </p:nvSpPr>
          <p:spPr>
            <a:xfrm>
              <a:off x="6638925" y="30480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23" name="Freeform 23"/>
            <p:cNvSpPr/>
            <p:nvPr/>
          </p:nvSpPr>
          <p:spPr>
            <a:xfrm>
              <a:off x="7077075" y="30480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24" name="Freeform 24"/>
            <p:cNvSpPr/>
            <p:nvPr/>
          </p:nvSpPr>
          <p:spPr>
            <a:xfrm>
              <a:off x="7515225" y="30480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25" name="Freeform 25"/>
            <p:cNvSpPr/>
            <p:nvPr/>
          </p:nvSpPr>
          <p:spPr>
            <a:xfrm>
              <a:off x="7953375" y="30480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26" name="Freeform 26"/>
            <p:cNvSpPr/>
            <p:nvPr/>
          </p:nvSpPr>
          <p:spPr>
            <a:xfrm>
              <a:off x="8391525" y="30480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27" name="Line 27"/>
            <p:cNvSpPr/>
            <p:nvPr/>
          </p:nvSpPr>
          <p:spPr>
            <a:xfrm>
              <a:off x="8896350" y="3048000"/>
              <a:ext cx="9525" cy="533400"/>
            </a:xfrm>
            <a:custGeom>
              <a:avLst/>
              <a:gdLst/>
              <a:ahLst/>
              <a:cxnLst/>
              <a:rect l="l" t="t" r="r" b="b"/>
              <a:pathLst>
                <a:path w="9525" h="533400">
                  <a:moveTo>
                    <a:pt x="0" y="0"/>
                  </a:moveTo>
                  <a:lnTo>
                    <a:pt x="0" y="533400"/>
                  </a:lnTo>
                </a:path>
              </a:pathLst>
            </a:custGeom>
            <a:noFill/>
            <a:ln w="28575">
              <a:solidFill>
                <a:schemeClr val="accent2"/>
              </a:solidFill>
            </a:ln>
          </p:spPr>
        </p:sp>
        <p:sp>
          <p:nvSpPr>
            <p:cNvPr id="28" name="TextBox 28"/>
            <p:cNvSpPr txBox="1"/>
            <p:nvPr/>
          </p:nvSpPr>
          <p:spPr>
            <a:xfrm>
              <a:off x="9040368" y="3060382"/>
              <a:ext cx="2275713" cy="608457"/>
            </a:xfrm>
            <a:prstGeom prst="rect">
              <a:avLst/>
            </a:prstGeom>
            <a:noFill/>
            <a:ln>
              <a:noFill/>
            </a:ln>
          </p:spPr>
          <p:txBody>
            <a:bodyPr wrap="none" lIns="0" tIns="0" rIns="0" bIns="0" anchor="t" anchorCtr="0">
              <a:spAutoFit/>
            </a:bodyPr>
            <a:lstStyle/>
            <a:p>
              <a:pPr algn="l">
                <a:lnSpc>
                  <a:spcPts val="2250"/>
                </a:lnSpc>
              </a:pPr>
              <a:r>
                <a:rPr lang="ja-JP" sz="1650" b="1" dirty="0">
                  <a:solidFill>
                    <a:schemeClr val="accent2"/>
                  </a:solidFill>
                  <a:latin typeface="+mn-lt"/>
                  <a:ea typeface="+mn-ea"/>
                  <a:cs typeface="+mn-cs"/>
                </a:rPr>
                <a:t>2003年10月 品川駅開業</a:t>
              </a:r>
              <a:br/>
              <a:r>
                <a:rPr lang="ja-JP" sz="1650" dirty="0">
                  <a:solidFill>
                    <a:schemeClr val="dk1"/>
                  </a:solidFill>
                  <a:latin typeface="+mn-lt"/>
                  <a:ea typeface="+mn-ea"/>
                  <a:cs typeface="+mn-cs"/>
                </a:rPr>
                <a:t>全列車270km/h化</a:t>
              </a:r>
            </a:p>
          </p:txBody>
        </p:sp>
      </p:grpSp>
      <p:grpSp>
        <p:nvGrpSpPr>
          <p:cNvPr id="44" name="Group 44"/>
          <p:cNvGrpSpPr/>
          <p:nvPr/>
        </p:nvGrpSpPr>
        <p:grpSpPr>
          <a:xfrm>
            <a:off x="4178808" y="3841432"/>
            <a:ext cx="6689217" cy="731330"/>
            <a:chOff x="4178808" y="3841432"/>
            <a:chExt cx="6689217" cy="731330"/>
          </a:xfrm>
        </p:grpSpPr>
        <p:sp>
          <p:nvSpPr>
            <p:cNvPr id="30" name="TextBox 30"/>
            <p:cNvSpPr txBox="1"/>
            <p:nvPr/>
          </p:nvSpPr>
          <p:spPr>
            <a:xfrm>
              <a:off x="4182618" y="3841432"/>
              <a:ext cx="974114" cy="322707"/>
            </a:xfrm>
            <a:prstGeom prst="rect">
              <a:avLst/>
            </a:prstGeom>
            <a:noFill/>
            <a:ln>
              <a:noFill/>
            </a:ln>
          </p:spPr>
          <p:txBody>
            <a:bodyPr wrap="none" lIns="0" tIns="0" rIns="0" bIns="0" anchor="t" anchorCtr="0">
              <a:spAutoFit/>
            </a:bodyPr>
            <a:lstStyle/>
            <a:p>
              <a:pPr algn="l"/>
              <a:r>
                <a:rPr lang="ja-JP" sz="1650" b="1" dirty="0">
                  <a:solidFill>
                    <a:schemeClr val="accent5"/>
                  </a:solidFill>
                  <a:latin typeface="+mn-lt"/>
                  <a:ea typeface="+mn-ea"/>
                  <a:cs typeface="+mn-cs"/>
                </a:rPr>
                <a:t>2019年度</a:t>
              </a:r>
            </a:p>
          </p:txBody>
        </p:sp>
        <p:sp>
          <p:nvSpPr>
            <p:cNvPr id="31" name="TextBox 31"/>
            <p:cNvSpPr txBox="1"/>
            <p:nvPr/>
          </p:nvSpPr>
          <p:spPr>
            <a:xfrm>
              <a:off x="4178808" y="4103370"/>
              <a:ext cx="720639" cy="469392"/>
            </a:xfrm>
            <a:prstGeom prst="rect">
              <a:avLst/>
            </a:prstGeom>
            <a:noFill/>
            <a:ln>
              <a:noFill/>
            </a:ln>
          </p:spPr>
          <p:txBody>
            <a:bodyPr wrap="none" lIns="0" tIns="0" rIns="0" bIns="0" anchor="t" anchorCtr="0">
              <a:spAutoFit/>
            </a:bodyPr>
            <a:lstStyle/>
            <a:p>
              <a:pPr algn="l"/>
              <a:r>
                <a:rPr lang="ja-JP" sz="2400" b="1" dirty="0">
                  <a:solidFill>
                    <a:schemeClr val="accent1"/>
                  </a:solidFill>
                  <a:latin typeface="+mn-lt"/>
                  <a:ea typeface="+mn-ea"/>
                  <a:cs typeface="+mn-cs"/>
                </a:rPr>
                <a:t>12本</a:t>
              </a:r>
            </a:p>
          </p:txBody>
        </p:sp>
        <p:sp>
          <p:nvSpPr>
            <p:cNvPr id="32" name="Freeform 32"/>
            <p:cNvSpPr/>
            <p:nvPr/>
          </p:nvSpPr>
          <p:spPr>
            <a:xfrm>
              <a:off x="576262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33" name="Freeform 33"/>
            <p:cNvSpPr/>
            <p:nvPr/>
          </p:nvSpPr>
          <p:spPr>
            <a:xfrm>
              <a:off x="620077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34" name="Freeform 34"/>
            <p:cNvSpPr/>
            <p:nvPr/>
          </p:nvSpPr>
          <p:spPr>
            <a:xfrm>
              <a:off x="663892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35" name="Freeform 35"/>
            <p:cNvSpPr/>
            <p:nvPr/>
          </p:nvSpPr>
          <p:spPr>
            <a:xfrm>
              <a:off x="707707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36" name="Freeform 36"/>
            <p:cNvSpPr/>
            <p:nvPr/>
          </p:nvSpPr>
          <p:spPr>
            <a:xfrm>
              <a:off x="751522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37" name="Freeform 37"/>
            <p:cNvSpPr/>
            <p:nvPr/>
          </p:nvSpPr>
          <p:spPr>
            <a:xfrm>
              <a:off x="795337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38" name="Freeform 38"/>
            <p:cNvSpPr/>
            <p:nvPr/>
          </p:nvSpPr>
          <p:spPr>
            <a:xfrm>
              <a:off x="839152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39" name="Freeform 39"/>
            <p:cNvSpPr/>
            <p:nvPr/>
          </p:nvSpPr>
          <p:spPr>
            <a:xfrm>
              <a:off x="882967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40" name="Freeform 40"/>
            <p:cNvSpPr/>
            <p:nvPr/>
          </p:nvSpPr>
          <p:spPr>
            <a:xfrm>
              <a:off x="926782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41" name="Freeform 41"/>
            <p:cNvSpPr/>
            <p:nvPr/>
          </p:nvSpPr>
          <p:spPr>
            <a:xfrm>
              <a:off x="970597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42" name="Freeform 42"/>
            <p:cNvSpPr/>
            <p:nvPr/>
          </p:nvSpPr>
          <p:spPr>
            <a:xfrm>
              <a:off x="1014412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43" name="Freeform 43"/>
            <p:cNvSpPr/>
            <p:nvPr/>
          </p:nvSpPr>
          <p:spPr>
            <a:xfrm>
              <a:off x="1058227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grpSp>
      <p:grpSp>
        <p:nvGrpSpPr>
          <p:cNvPr id="60" name="Group 60"/>
          <p:cNvGrpSpPr/>
          <p:nvPr/>
        </p:nvGrpSpPr>
        <p:grpSpPr>
          <a:xfrm>
            <a:off x="4178808" y="4698682"/>
            <a:ext cx="7127367" cy="731330"/>
            <a:chOff x="4178808" y="4698682"/>
            <a:chExt cx="7127367" cy="731330"/>
          </a:xfrm>
        </p:grpSpPr>
        <p:sp>
          <p:nvSpPr>
            <p:cNvPr id="45" name="TextBox 45"/>
            <p:cNvSpPr txBox="1"/>
            <p:nvPr/>
          </p:nvSpPr>
          <p:spPr>
            <a:xfrm>
              <a:off x="4182618" y="4698682"/>
              <a:ext cx="1324513" cy="322707"/>
            </a:xfrm>
            <a:prstGeom prst="rect">
              <a:avLst/>
            </a:prstGeom>
            <a:noFill/>
            <a:ln>
              <a:noFill/>
            </a:ln>
          </p:spPr>
          <p:txBody>
            <a:bodyPr wrap="none" lIns="0" tIns="0" rIns="0" bIns="0" anchor="t" anchorCtr="0">
              <a:spAutoFit/>
            </a:bodyPr>
            <a:lstStyle/>
            <a:p>
              <a:pPr algn="l"/>
              <a:r>
                <a:rPr lang="ja-JP" sz="1650" b="1" dirty="0">
                  <a:solidFill>
                    <a:schemeClr val="accent2"/>
                  </a:solidFill>
                  <a:latin typeface="+mn-lt"/>
                  <a:ea typeface="+mn-ea"/>
                  <a:cs typeface="+mn-cs"/>
                </a:rPr>
                <a:t>2026年3月〜</a:t>
              </a:r>
            </a:p>
          </p:txBody>
        </p:sp>
        <p:sp>
          <p:nvSpPr>
            <p:cNvPr id="46" name="TextBox 46"/>
            <p:cNvSpPr txBox="1"/>
            <p:nvPr/>
          </p:nvSpPr>
          <p:spPr>
            <a:xfrm>
              <a:off x="4178808" y="4960620"/>
              <a:ext cx="720639" cy="469392"/>
            </a:xfrm>
            <a:prstGeom prst="rect">
              <a:avLst/>
            </a:prstGeom>
            <a:noFill/>
            <a:ln>
              <a:noFill/>
            </a:ln>
          </p:spPr>
          <p:txBody>
            <a:bodyPr wrap="none" lIns="0" tIns="0" rIns="0" bIns="0" anchor="t" anchorCtr="0">
              <a:spAutoFit/>
            </a:bodyPr>
            <a:lstStyle/>
            <a:p>
              <a:pPr algn="l"/>
              <a:r>
                <a:rPr lang="ja-JP" sz="2400" b="1" dirty="0">
                  <a:solidFill>
                    <a:schemeClr val="accent2"/>
                  </a:solidFill>
                  <a:latin typeface="+mn-lt"/>
                  <a:ea typeface="+mn-ea"/>
                  <a:cs typeface="+mn-cs"/>
                </a:rPr>
                <a:t>13本</a:t>
              </a:r>
            </a:p>
          </p:txBody>
        </p:sp>
        <p:sp>
          <p:nvSpPr>
            <p:cNvPr id="47" name="Freeform 47"/>
            <p:cNvSpPr/>
            <p:nvPr/>
          </p:nvSpPr>
          <p:spPr>
            <a:xfrm>
              <a:off x="576262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48" name="Freeform 48"/>
            <p:cNvSpPr/>
            <p:nvPr/>
          </p:nvSpPr>
          <p:spPr>
            <a:xfrm>
              <a:off x="620077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49" name="Freeform 49"/>
            <p:cNvSpPr/>
            <p:nvPr/>
          </p:nvSpPr>
          <p:spPr>
            <a:xfrm>
              <a:off x="663892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0" name="Freeform 50"/>
            <p:cNvSpPr/>
            <p:nvPr/>
          </p:nvSpPr>
          <p:spPr>
            <a:xfrm>
              <a:off x="707707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1" name="Freeform 51"/>
            <p:cNvSpPr/>
            <p:nvPr/>
          </p:nvSpPr>
          <p:spPr>
            <a:xfrm>
              <a:off x="751522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2" name="Freeform 52"/>
            <p:cNvSpPr/>
            <p:nvPr/>
          </p:nvSpPr>
          <p:spPr>
            <a:xfrm>
              <a:off x="795337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3" name="Freeform 53"/>
            <p:cNvSpPr/>
            <p:nvPr/>
          </p:nvSpPr>
          <p:spPr>
            <a:xfrm>
              <a:off x="839152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4" name="Freeform 54"/>
            <p:cNvSpPr/>
            <p:nvPr/>
          </p:nvSpPr>
          <p:spPr>
            <a:xfrm>
              <a:off x="882967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5" name="Freeform 55"/>
            <p:cNvSpPr/>
            <p:nvPr/>
          </p:nvSpPr>
          <p:spPr>
            <a:xfrm>
              <a:off x="926782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6" name="Freeform 56"/>
            <p:cNvSpPr/>
            <p:nvPr/>
          </p:nvSpPr>
          <p:spPr>
            <a:xfrm>
              <a:off x="970597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7" name="Freeform 57"/>
            <p:cNvSpPr/>
            <p:nvPr/>
          </p:nvSpPr>
          <p:spPr>
            <a:xfrm>
              <a:off x="1014412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8" name="Freeform 58"/>
            <p:cNvSpPr/>
            <p:nvPr/>
          </p:nvSpPr>
          <p:spPr>
            <a:xfrm>
              <a:off x="1058227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9" name="Freeform 59"/>
            <p:cNvSpPr/>
            <p:nvPr/>
          </p:nvSpPr>
          <p:spPr>
            <a:xfrm>
              <a:off x="1102042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2"/>
            </a:solidFill>
            <a:ln>
              <a:noFill/>
            </a:ln>
          </p:spPr>
        </p:sp>
      </p:grpSp>
      <p:grpSp>
        <p:nvGrpSpPr>
          <p:cNvPr id="63" name="Group 63"/>
          <p:cNvGrpSpPr/>
          <p:nvPr/>
        </p:nvGrpSpPr>
        <p:grpSpPr>
          <a:xfrm>
            <a:off x="603504" y="6195060"/>
            <a:ext cx="10984992" cy="444246"/>
            <a:chOff x="603504" y="6195060"/>
            <a:chExt cx="10984992" cy="444246"/>
          </a:xfrm>
        </p:grpSpPr>
        <p:sp>
          <p:nvSpPr>
            <p:cNvPr id="61" name="TextBox 61"/>
            <p:cNvSpPr txBox="1"/>
            <p:nvPr/>
          </p:nvSpPr>
          <p:spPr>
            <a:xfrm>
              <a:off x="603504" y="6195060"/>
              <a:ext cx="827989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「のぞみ」本数はダイヤ上の1時間あたり片道最大本数。</a:t>
              </a:r>
              <a:br/>
              <a:r>
                <a:rPr lang="ja-JP" sz="1200" dirty="0">
                  <a:solidFill>
                    <a:schemeClr val="accent5"/>
                  </a:solidFill>
                  <a:latin typeface="+mn-lt"/>
                  <a:ea typeface="+mn-ea"/>
                  <a:cs typeface="+mn-cs"/>
                </a:rPr>
                <a:t>出典:JR東海 ファクトシート2026/JR東海 採用サイト「新幹線鉄道事業」(2026年時点)/上野雅之(2017)日本機械学会誌</a:t>
              </a:r>
            </a:p>
          </p:txBody>
        </p:sp>
        <p:sp>
          <p:nvSpPr>
            <p:cNvPr id="62" name="TextBox 62"/>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08</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p:stCondLst>
                              <p:cond delay="500"/>
                            </p:stCondLst>
                            <p:childTnLst>
                              <p:par>
                                <p:cTn id="9" presetID="22" presetClass="entr" presetSubtype="8" fill="hold" grpId="0" nodeType="afterEffect">
                                  <p:stCondLst>
                                    <p:cond delay="50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500"/>
                                        <p:tgtEl>
                                          <p:spTgt spid="29"/>
                                        </p:tgtEl>
                                      </p:cBhvr>
                                    </p:animEffect>
                                  </p:childTnLst>
                                </p:cTn>
                              </p:par>
                            </p:childTnLst>
                          </p:cTn>
                        </p:par>
                        <p:par>
                          <p:cTn id="12" fill="hold">
                            <p:stCondLst>
                              <p:cond delay="1500"/>
                            </p:stCondLst>
                            <p:childTnLst>
                              <p:par>
                                <p:cTn id="13" presetID="22" presetClass="entr" presetSubtype="8" fill="hold" grpId="0" nodeType="afterEffect">
                                  <p:stCondLst>
                                    <p:cond delay="500"/>
                                  </p:stCondLst>
                                  <p:childTnLst>
                                    <p:set>
                                      <p:cBhvr>
                                        <p:cTn id="14" dur="1" fill="hold">
                                          <p:stCondLst>
                                            <p:cond delay="0"/>
                                          </p:stCondLst>
                                        </p:cTn>
                                        <p:tgtEl>
                                          <p:spTgt spid="44"/>
                                        </p:tgtEl>
                                        <p:attrNameLst>
                                          <p:attrName>style.visibility</p:attrName>
                                        </p:attrNameLst>
                                      </p:cBhvr>
                                      <p:to>
                                        <p:strVal val="visible"/>
                                      </p:to>
                                    </p:set>
                                    <p:animEffect transition="in" filter="wipe(left)">
                                      <p:cBhvr>
                                        <p:cTn id="15" dur="500"/>
                                        <p:tgtEl>
                                          <p:spTgt spid="44"/>
                                        </p:tgtEl>
                                      </p:cBhvr>
                                    </p:animEffect>
                                  </p:childTnLst>
                                </p:cTn>
                              </p:par>
                            </p:childTnLst>
                          </p:cTn>
                        </p:par>
                        <p:par>
                          <p:cTn id="16" fill="hold">
                            <p:stCondLst>
                              <p:cond delay="2500"/>
                            </p:stCondLst>
                            <p:childTnLst>
                              <p:par>
                                <p:cTn id="17" presetID="22" presetClass="entr" presetSubtype="8" fill="hold" grpId="0" nodeType="afterEffect">
                                  <p:stCondLst>
                                    <p:cond delay="500"/>
                                  </p:stCondLst>
                                  <p:childTnLst>
                                    <p:set>
                                      <p:cBhvr>
                                        <p:cTn id="18" dur="1" fill="hold">
                                          <p:stCondLst>
                                            <p:cond delay="0"/>
                                          </p:stCondLst>
                                        </p:cTn>
                                        <p:tgtEl>
                                          <p:spTgt spid="60"/>
                                        </p:tgtEl>
                                        <p:attrNameLst>
                                          <p:attrName>style.visibility</p:attrName>
                                        </p:attrNameLst>
                                      </p:cBhvr>
                                      <p:to>
                                        <p:strVal val="visible"/>
                                      </p:to>
                                    </p:set>
                                    <p:animEffect transition="in" filter="wipe(left)">
                                      <p:cBhvr>
                                        <p:cTn id="19"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1312" y="601980"/>
            <a:ext cx="9335414" cy="1132332"/>
            <a:chOff x="591312" y="601980"/>
            <a:chExt cx="9335414" cy="1132332"/>
          </a:xfrm>
        </p:grpSpPr>
        <p:sp>
          <p:nvSpPr>
            <p:cNvPr id="2" name="TextBox 2"/>
            <p:cNvSpPr txBox="1"/>
            <p:nvPr/>
          </p:nvSpPr>
          <p:spPr>
            <a:xfrm>
              <a:off x="591312" y="601980"/>
              <a:ext cx="6821424"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落ち込んでも、以前を上回った</a:t>
              </a:r>
            </a:p>
          </p:txBody>
        </p:sp>
        <p:sp>
          <p:nvSpPr>
            <p:cNvPr id="3" name="TextBox 3"/>
            <p:cNvSpPr txBox="1"/>
            <p:nvPr/>
          </p:nvSpPr>
          <p:spPr>
            <a:xfrm>
              <a:off x="597408" y="1264920"/>
              <a:ext cx="9329318"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輸送人キロは2020年度の182から、2025年度は609へ(億人キロ)</a:t>
              </a:r>
            </a:p>
          </p:txBody>
        </p:sp>
      </p:grpSp>
      <p:graphicFrame>
        <p:nvGraphicFramePr>
          <p:cNvPr id="5" name="pkm-columns"/>
          <p:cNvGraphicFramePr>
            <a:graphicFrameLocks noGrp="1"/>
          </p:cNvGraphicFramePr>
          <p:nvPr/>
        </p:nvGraphicFramePr>
        <p:xfrm>
          <a:off x="609600" y="1695450"/>
          <a:ext cx="7924800" cy="4343400"/>
        </p:xfrm>
        <a:graphic>
          <a:graphicData uri="http://schemas.openxmlformats.org/drawingml/2006/chart">
            <c:chart xmlns:c="http://schemas.openxmlformats.org/drawingml/2006/chart" r:id="rId2"/>
          </a:graphicData>
        </a:graphic>
      </p:graphicFrame>
      <p:grpSp>
        <p:nvGrpSpPr>
          <p:cNvPr id="12" name="Group 12"/>
          <p:cNvGrpSpPr/>
          <p:nvPr/>
        </p:nvGrpSpPr>
        <p:grpSpPr>
          <a:xfrm>
            <a:off x="8743950" y="1974532"/>
            <a:ext cx="2113262" cy="2684907"/>
            <a:chOff x="8743950" y="1974532"/>
            <a:chExt cx="2113262" cy="2684907"/>
          </a:xfrm>
        </p:grpSpPr>
        <p:sp>
          <p:nvSpPr>
            <p:cNvPr id="6" name="TextBox 6"/>
            <p:cNvSpPr txBox="1"/>
            <p:nvPr/>
          </p:nvSpPr>
          <p:spPr>
            <a:xfrm>
              <a:off x="8754618" y="1974532"/>
              <a:ext cx="974114" cy="322707"/>
            </a:xfrm>
            <a:prstGeom prst="rect">
              <a:avLst/>
            </a:prstGeom>
            <a:noFill/>
            <a:ln>
              <a:noFill/>
            </a:ln>
          </p:spPr>
          <p:txBody>
            <a:bodyPr wrap="none" lIns="0" tIns="0" rIns="0" bIns="0" anchor="t" anchorCtr="0">
              <a:spAutoFit/>
            </a:bodyPr>
            <a:lstStyle/>
            <a:p>
              <a:pPr algn="l"/>
              <a:r>
                <a:rPr lang="ja-JP" sz="1650" b="1" dirty="0">
                  <a:solidFill>
                    <a:schemeClr val="accent5"/>
                  </a:solidFill>
                  <a:latin typeface="+mn-lt"/>
                  <a:ea typeface="+mn-ea"/>
                  <a:cs typeface="+mn-cs"/>
                </a:rPr>
                <a:t>1987年度</a:t>
              </a:r>
            </a:p>
          </p:txBody>
        </p:sp>
        <p:sp>
          <p:nvSpPr>
            <p:cNvPr id="7" name="TextBox 7"/>
            <p:cNvSpPr txBox="1"/>
            <p:nvPr/>
          </p:nvSpPr>
          <p:spPr>
            <a:xfrm>
              <a:off x="8743950" y="2244090"/>
              <a:ext cx="2113262" cy="933450"/>
            </a:xfrm>
            <a:prstGeom prst="rect">
              <a:avLst/>
            </a:prstGeom>
            <a:noFill/>
            <a:ln>
              <a:noFill/>
            </a:ln>
          </p:spPr>
          <p:txBody>
            <a:bodyPr wrap="none" lIns="0" tIns="0" rIns="0" bIns="0" anchor="t" anchorCtr="0">
              <a:spAutoFit/>
            </a:bodyPr>
            <a:lstStyle/>
            <a:p>
              <a:pPr algn="l"/>
              <a:r>
                <a:rPr lang="ja-JP" sz="4800" b="1" dirty="0">
                  <a:solidFill>
                    <a:schemeClr val="accent1"/>
                  </a:solidFill>
                  <a:latin typeface="Arial Black"/>
                  <a:ea typeface="Arial Black"/>
                  <a:cs typeface="Arial Black"/>
                </a:rPr>
                <a:t>321</a:t>
              </a:r>
              <a:r>
                <a:rPr lang="ja-JP" sz="1650" b="1" dirty="0">
                  <a:solidFill>
                    <a:schemeClr val="accent1"/>
                  </a:solidFill>
                  <a:latin typeface="+mn-lt"/>
                  <a:ea typeface="+mn-ea"/>
                  <a:cs typeface="+mn-cs"/>
                </a:rPr>
                <a:t>億人キロ</a:t>
              </a:r>
            </a:p>
          </p:txBody>
        </p:sp>
        <p:sp>
          <p:nvSpPr>
            <p:cNvPr id="8" name="TextBox 8"/>
            <p:cNvSpPr txBox="1"/>
            <p:nvPr/>
          </p:nvSpPr>
          <p:spPr>
            <a:xfrm>
              <a:off x="8754618" y="3212782"/>
              <a:ext cx="974114" cy="322707"/>
            </a:xfrm>
            <a:prstGeom prst="rect">
              <a:avLst/>
            </a:prstGeom>
            <a:noFill/>
            <a:ln>
              <a:noFill/>
            </a:ln>
          </p:spPr>
          <p:txBody>
            <a:bodyPr wrap="none" lIns="0" tIns="0" rIns="0" bIns="0" anchor="t" anchorCtr="0">
              <a:spAutoFit/>
            </a:bodyPr>
            <a:lstStyle/>
            <a:p>
              <a:pPr algn="l"/>
              <a:r>
                <a:rPr lang="ja-JP" sz="1650" b="1" dirty="0">
                  <a:solidFill>
                    <a:schemeClr val="accent5"/>
                  </a:solidFill>
                  <a:latin typeface="+mn-lt"/>
                  <a:ea typeface="+mn-ea"/>
                  <a:cs typeface="+mn-cs"/>
                </a:rPr>
                <a:t>2025年度</a:t>
              </a:r>
            </a:p>
          </p:txBody>
        </p:sp>
        <p:sp>
          <p:nvSpPr>
            <p:cNvPr id="9" name="TextBox 9"/>
            <p:cNvSpPr txBox="1"/>
            <p:nvPr/>
          </p:nvSpPr>
          <p:spPr>
            <a:xfrm>
              <a:off x="8743950" y="3482340"/>
              <a:ext cx="2113262" cy="933450"/>
            </a:xfrm>
            <a:prstGeom prst="rect">
              <a:avLst/>
            </a:prstGeom>
            <a:noFill/>
            <a:ln>
              <a:noFill/>
            </a:ln>
          </p:spPr>
          <p:txBody>
            <a:bodyPr wrap="none" lIns="0" tIns="0" rIns="0" bIns="0" anchor="t" anchorCtr="0">
              <a:spAutoFit/>
            </a:bodyPr>
            <a:lstStyle/>
            <a:p>
              <a:pPr algn="l"/>
              <a:r>
                <a:rPr lang="ja-JP" sz="4800" b="1" dirty="0">
                  <a:solidFill>
                    <a:schemeClr val="accent2"/>
                  </a:solidFill>
                  <a:latin typeface="Arial Black"/>
                  <a:ea typeface="Arial Black"/>
                  <a:cs typeface="Arial Black"/>
                </a:rPr>
                <a:t>609</a:t>
              </a:r>
              <a:r>
                <a:rPr lang="ja-JP" sz="1650" b="1" dirty="0">
                  <a:solidFill>
                    <a:schemeClr val="accent2"/>
                  </a:solidFill>
                  <a:latin typeface="+mn-lt"/>
                  <a:ea typeface="+mn-ea"/>
                  <a:cs typeface="+mn-cs"/>
                </a:rPr>
                <a:t>億人キロ</a:t>
              </a:r>
            </a:p>
          </p:txBody>
        </p:sp>
        <p:sp>
          <p:nvSpPr>
            <p:cNvPr id="10" name="Rectangle 10"/>
            <p:cNvSpPr/>
            <p:nvPr/>
          </p:nvSpPr>
          <p:spPr>
            <a:xfrm>
              <a:off x="8763000" y="4229100"/>
              <a:ext cx="1676400" cy="419100"/>
            </a:xfrm>
            <a:prstGeom prst="roundRect">
              <a:avLst>
                <a:gd name="adj" fmla="val 50000"/>
              </a:avLst>
            </a:prstGeom>
            <a:solidFill>
              <a:schemeClr val="accent2"/>
            </a:solidFill>
            <a:ln>
              <a:noFill/>
            </a:ln>
          </p:spPr>
        </p:sp>
        <p:sp>
          <p:nvSpPr>
            <p:cNvPr id="11" name="TextBox 11"/>
            <p:cNvSpPr txBox="1"/>
            <p:nvPr/>
          </p:nvSpPr>
          <p:spPr>
            <a:xfrm>
              <a:off x="9178281" y="4336732"/>
              <a:ext cx="845838" cy="322707"/>
            </a:xfrm>
            <a:prstGeom prst="rect">
              <a:avLst/>
            </a:prstGeom>
            <a:noFill/>
            <a:ln>
              <a:noFill/>
            </a:ln>
          </p:spPr>
          <p:txBody>
            <a:bodyPr wrap="none" lIns="0" tIns="0" rIns="0" bIns="0" anchor="t" anchorCtr="0">
              <a:spAutoFit/>
            </a:bodyPr>
            <a:lstStyle/>
            <a:p>
              <a:pPr algn="ctr"/>
              <a:r>
                <a:rPr lang="ja-JP" sz="1650" b="1" dirty="0">
                  <a:solidFill>
                    <a:srgbClr val="F3ECDD"/>
                  </a:solidFill>
                  <a:latin typeface="+mn-lt"/>
                  <a:ea typeface="+mn-ea"/>
                  <a:cs typeface="+mn-cs"/>
                </a:rPr>
                <a:t>約1.9倍</a:t>
              </a:r>
            </a:p>
          </p:txBody>
        </p:sp>
      </p:grpSp>
      <p:grpSp>
        <p:nvGrpSpPr>
          <p:cNvPr id="16" name="Group 16"/>
          <p:cNvGrpSpPr/>
          <p:nvPr/>
        </p:nvGrpSpPr>
        <p:grpSpPr>
          <a:xfrm>
            <a:off x="8752332" y="4908232"/>
            <a:ext cx="2062582" cy="951357"/>
            <a:chOff x="8752332" y="4908232"/>
            <a:chExt cx="2062582" cy="951357"/>
          </a:xfrm>
        </p:grpSpPr>
        <p:sp>
          <p:nvSpPr>
            <p:cNvPr id="13" name="TextBox 13"/>
            <p:cNvSpPr txBox="1"/>
            <p:nvPr/>
          </p:nvSpPr>
          <p:spPr>
            <a:xfrm>
              <a:off x="8754618" y="4908232"/>
              <a:ext cx="2060296"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2025年度の輸送人員</a:t>
              </a:r>
            </a:p>
          </p:txBody>
        </p:sp>
        <p:sp>
          <p:nvSpPr>
            <p:cNvPr id="14" name="TextBox 14"/>
            <p:cNvSpPr txBox="1"/>
            <p:nvPr/>
          </p:nvSpPr>
          <p:spPr>
            <a:xfrm>
              <a:off x="8752332" y="5221605"/>
              <a:ext cx="1685744" cy="410718"/>
            </a:xfrm>
            <a:prstGeom prst="rect">
              <a:avLst/>
            </a:prstGeom>
            <a:noFill/>
            <a:ln>
              <a:noFill/>
            </a:ln>
          </p:spPr>
          <p:txBody>
            <a:bodyPr wrap="none" lIns="0" tIns="0" rIns="0" bIns="0" anchor="t" anchorCtr="0">
              <a:spAutoFit/>
            </a:bodyPr>
            <a:lstStyle/>
            <a:p>
              <a:pPr algn="l"/>
              <a:r>
                <a:rPr lang="ja-JP" sz="2100" b="1" dirty="0">
                  <a:solidFill>
                    <a:schemeClr val="accent1"/>
                  </a:solidFill>
                  <a:latin typeface="+mn-lt"/>
                  <a:ea typeface="+mn-ea"/>
                  <a:cs typeface="+mn-cs"/>
                </a:rPr>
                <a:t>1日50.4万人</a:t>
              </a:r>
            </a:p>
          </p:txBody>
        </p:sp>
        <p:sp>
          <p:nvSpPr>
            <p:cNvPr id="15" name="TextBox 15"/>
            <p:cNvSpPr txBox="1"/>
            <p:nvPr/>
          </p:nvSpPr>
          <p:spPr>
            <a:xfrm>
              <a:off x="8754618" y="5536882"/>
              <a:ext cx="1860385"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年間1億8,400万人</a:t>
              </a:r>
            </a:p>
          </p:txBody>
        </p:sp>
      </p:grpSp>
      <p:grpSp>
        <p:nvGrpSpPr>
          <p:cNvPr id="19" name="Group 19"/>
          <p:cNvGrpSpPr/>
          <p:nvPr/>
        </p:nvGrpSpPr>
        <p:grpSpPr>
          <a:xfrm>
            <a:off x="603504" y="6195060"/>
            <a:ext cx="10984992" cy="444246"/>
            <a:chOff x="603504" y="6195060"/>
            <a:chExt cx="10984992" cy="444246"/>
          </a:xfrm>
        </p:grpSpPr>
        <p:sp>
          <p:nvSpPr>
            <p:cNvPr id="17" name="TextBox 17"/>
            <p:cNvSpPr txBox="1"/>
            <p:nvPr/>
          </p:nvSpPr>
          <p:spPr>
            <a:xfrm>
              <a:off x="603504" y="6195060"/>
              <a:ext cx="743407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1994〜2001年度は資料に掲載がないため省略。2020〜21年度はコロナ禍の影響。倍率は当資料による計算。</a:t>
              </a:r>
              <a:br/>
              <a:r>
                <a:rPr lang="ja-JP" sz="1200" dirty="0">
                  <a:solidFill>
                    <a:schemeClr val="accent5"/>
                  </a:solidFill>
                  <a:latin typeface="+mn-lt"/>
                  <a:ea typeface="+mn-ea"/>
                  <a:cs typeface="+mn-cs"/>
                </a:rPr>
                <a:t>出典:JR東海 ファクトシート2026「東海道新幹線の輸送人キロとGDP」「東海道新幹線の特性」(2025年度)</a:t>
              </a:r>
            </a:p>
          </p:txBody>
        </p:sp>
        <p:sp>
          <p:nvSpPr>
            <p:cNvPr id="18" name="TextBox 18"/>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800"/>
                                        <p:tgtEl>
                                          <p:spTgt spid="5"/>
                                        </p:tgtEl>
                                      </p:cBhvr>
                                    </p:animEffect>
                                  </p:childTnLst>
                                </p:cTn>
                              </p:par>
                            </p:childTnLst>
                          </p:cTn>
                        </p:par>
                        <p:par>
                          <p:cTn id="8" fill="hold">
                            <p:stCondLst>
                              <p:cond delay="8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1312" y="601980"/>
            <a:ext cx="8495386" cy="1132332"/>
            <a:chOff x="591312" y="601980"/>
            <a:chExt cx="8495386" cy="1132332"/>
          </a:xfrm>
        </p:grpSpPr>
        <p:sp>
          <p:nvSpPr>
            <p:cNvPr id="2" name="TextBox 2"/>
            <p:cNvSpPr txBox="1"/>
            <p:nvPr/>
          </p:nvSpPr>
          <p:spPr>
            <a:xfrm>
              <a:off x="591312" y="601980"/>
              <a:ext cx="7946136"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たくさん走らせて、遅れは平均1.0分</a:t>
              </a:r>
            </a:p>
          </p:txBody>
        </p:sp>
        <p:sp>
          <p:nvSpPr>
            <p:cNvPr id="3" name="TextBox 3"/>
            <p:cNvSpPr txBox="1"/>
            <p:nvPr/>
          </p:nvSpPr>
          <p:spPr>
            <a:xfrm>
              <a:off x="597408" y="1264920"/>
              <a:ext cx="8489290"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1日395本を走らせながら、正確さと輸送力を両立している</a:t>
              </a:r>
            </a:p>
          </p:txBody>
        </p:sp>
      </p:grpSp>
      <p:grpSp>
        <p:nvGrpSpPr>
          <p:cNvPr id="10" name="Group 10"/>
          <p:cNvGrpSpPr/>
          <p:nvPr/>
        </p:nvGrpSpPr>
        <p:grpSpPr>
          <a:xfrm>
            <a:off x="0" y="1866900"/>
            <a:ext cx="4762500" cy="4229100"/>
            <a:chOff x="0" y="1866900"/>
            <a:chExt cx="4762500" cy="4229100"/>
          </a:xfrm>
        </p:grpSpPr>
        <p:sp>
          <p:nvSpPr>
            <p:cNvPr id="5" name="Rectangle 5"/>
            <p:cNvSpPr/>
            <p:nvPr/>
          </p:nvSpPr>
          <p:spPr>
            <a:xfrm>
              <a:off x="0" y="1866900"/>
              <a:ext cx="4762500" cy="4229100"/>
            </a:xfrm>
            <a:prstGeom prst="rect">
              <a:avLst/>
            </a:prstGeom>
            <a:solidFill>
              <a:schemeClr val="accent1"/>
            </a:solidFill>
            <a:ln>
              <a:noFill/>
            </a:ln>
          </p:spPr>
        </p:sp>
        <p:sp>
          <p:nvSpPr>
            <p:cNvPr id="6" name="TextBox 6"/>
            <p:cNvSpPr txBox="1"/>
            <p:nvPr/>
          </p:nvSpPr>
          <p:spPr>
            <a:xfrm>
              <a:off x="601218" y="2222182"/>
              <a:ext cx="881378" cy="322707"/>
            </a:xfrm>
            <a:prstGeom prst="rect">
              <a:avLst/>
            </a:prstGeom>
            <a:noFill/>
            <a:ln>
              <a:noFill/>
            </a:ln>
          </p:spPr>
          <p:txBody>
            <a:bodyPr wrap="none" lIns="0" tIns="0" rIns="0" bIns="0" anchor="t" anchorCtr="0">
              <a:spAutoFit/>
            </a:bodyPr>
            <a:lstStyle/>
            <a:p>
              <a:pPr algn="l"/>
              <a:r>
                <a:rPr lang="ja-JP" sz="1650" b="1" dirty="0">
                  <a:solidFill>
                    <a:schemeClr val="accent3"/>
                  </a:solidFill>
                  <a:latin typeface="+mn-lt"/>
                  <a:ea typeface="+mn-ea"/>
                  <a:cs typeface="+mn-cs"/>
                </a:rPr>
                <a:t>③ 正確さ</a:t>
              </a:r>
            </a:p>
          </p:txBody>
        </p:sp>
        <p:sp>
          <p:nvSpPr>
            <p:cNvPr id="7" name="TextBox 7"/>
            <p:cNvSpPr txBox="1"/>
            <p:nvPr/>
          </p:nvSpPr>
          <p:spPr>
            <a:xfrm>
              <a:off x="590550" y="2607945"/>
              <a:ext cx="2970239" cy="1905000"/>
            </a:xfrm>
            <a:prstGeom prst="rect">
              <a:avLst/>
            </a:prstGeom>
            <a:noFill/>
            <a:ln>
              <a:noFill/>
            </a:ln>
          </p:spPr>
          <p:txBody>
            <a:bodyPr wrap="none" lIns="0" tIns="0" rIns="0" bIns="0" anchor="t" anchorCtr="0">
              <a:spAutoFit/>
            </a:bodyPr>
            <a:lstStyle/>
            <a:p>
              <a:pPr algn="l"/>
              <a:r>
                <a:rPr lang="ja-JP" sz="9900" b="1" dirty="0">
                  <a:solidFill>
                    <a:srgbClr val="F3ECDD"/>
                  </a:solidFill>
                  <a:latin typeface="Arial Black"/>
                  <a:ea typeface="Arial Black"/>
                  <a:cs typeface="Arial Black"/>
                </a:rPr>
                <a:t>1.0</a:t>
              </a:r>
              <a:r>
                <a:rPr lang="ja-JP" sz="3600" b="1" dirty="0">
                  <a:solidFill>
                    <a:srgbClr val="F3ECDD"/>
                  </a:solidFill>
                  <a:latin typeface="Arial Black"/>
                  <a:ea typeface="Yu Gothic"/>
                  <a:cs typeface="Arial Black"/>
                </a:rPr>
                <a:t>分</a:t>
              </a:r>
            </a:p>
          </p:txBody>
        </p:sp>
        <p:sp>
          <p:nvSpPr>
            <p:cNvPr id="8" name="TextBox 8"/>
            <p:cNvSpPr txBox="1"/>
            <p:nvPr/>
          </p:nvSpPr>
          <p:spPr>
            <a:xfrm>
              <a:off x="601218" y="4012882"/>
              <a:ext cx="2646616" cy="627507"/>
            </a:xfrm>
            <a:prstGeom prst="rect">
              <a:avLst/>
            </a:prstGeom>
            <a:noFill/>
            <a:ln>
              <a:noFill/>
            </a:ln>
          </p:spPr>
          <p:txBody>
            <a:bodyPr wrap="none" lIns="0" tIns="0" rIns="0" bIns="0" anchor="t" anchorCtr="0">
              <a:spAutoFit/>
            </a:bodyPr>
            <a:lstStyle/>
            <a:p>
              <a:pPr algn="l">
                <a:lnSpc>
                  <a:spcPts val="2400"/>
                </a:lnSpc>
              </a:pPr>
              <a:r>
                <a:rPr lang="ja-JP" sz="1650" dirty="0">
                  <a:solidFill>
                    <a:srgbClr val="F3ECDD"/>
                  </a:solidFill>
                  <a:latin typeface="+mn-lt"/>
                  <a:ea typeface="+mn-ea"/>
                  <a:cs typeface="+mn-cs"/>
                </a:rPr>
                <a:t>運行1列車あたりの平均遅延</a:t>
              </a:r>
              <a:br/>
              <a:r>
                <a:rPr lang="ja-JP" sz="1650" dirty="0">
                  <a:solidFill>
                    <a:srgbClr val="F3ECDD"/>
                  </a:solidFill>
                  <a:latin typeface="+mn-lt"/>
                  <a:ea typeface="+mn-ea"/>
                  <a:cs typeface="+mn-cs"/>
                </a:rPr>
                <a:t>(2025年度)</a:t>
              </a:r>
            </a:p>
          </p:txBody>
        </p:sp>
        <p:sp>
          <p:nvSpPr>
            <p:cNvPr id="9" name="TextBox 9"/>
            <p:cNvSpPr txBox="1"/>
            <p:nvPr/>
          </p:nvSpPr>
          <p:spPr>
            <a:xfrm>
              <a:off x="601218" y="4965382"/>
              <a:ext cx="3126486" cy="322707"/>
            </a:xfrm>
            <a:prstGeom prst="rect">
              <a:avLst/>
            </a:prstGeom>
            <a:noFill/>
            <a:ln>
              <a:noFill/>
            </a:ln>
          </p:spPr>
          <p:txBody>
            <a:bodyPr wrap="none" lIns="0" tIns="0" rIns="0" bIns="0" anchor="t" anchorCtr="0">
              <a:spAutoFit/>
            </a:bodyPr>
            <a:lstStyle/>
            <a:p>
              <a:pPr algn="l"/>
              <a:r>
                <a:rPr lang="ja-JP" sz="1650" dirty="0">
                  <a:solidFill>
                    <a:schemeClr val="accent3"/>
                  </a:solidFill>
                  <a:latin typeface="+mn-lt"/>
                  <a:ea typeface="+mn-ea"/>
                  <a:cs typeface="+mn-cs"/>
                </a:rPr>
                <a:t>自然災害などによる遅れも含む</a:t>
              </a:r>
            </a:p>
          </p:txBody>
        </p:sp>
      </p:grpSp>
      <p:grpSp>
        <p:nvGrpSpPr>
          <p:cNvPr id="18" name="Group 18"/>
          <p:cNvGrpSpPr/>
          <p:nvPr/>
        </p:nvGrpSpPr>
        <p:grpSpPr>
          <a:xfrm>
            <a:off x="5314950" y="2050732"/>
            <a:ext cx="5610685" cy="1837183"/>
            <a:chOff x="5314950" y="2050732"/>
            <a:chExt cx="5610685" cy="1837183"/>
          </a:xfrm>
        </p:grpSpPr>
        <p:sp>
          <p:nvSpPr>
            <p:cNvPr id="11" name="TextBox 11"/>
            <p:cNvSpPr txBox="1"/>
            <p:nvPr/>
          </p:nvSpPr>
          <p:spPr>
            <a:xfrm>
              <a:off x="5325618" y="2050732"/>
              <a:ext cx="4819063" cy="322707"/>
            </a:xfrm>
            <a:prstGeom prst="rect">
              <a:avLst/>
            </a:prstGeom>
            <a:noFill/>
            <a:ln>
              <a:noFill/>
            </a:ln>
          </p:spPr>
          <p:txBody>
            <a:bodyPr wrap="none" lIns="0" tIns="0" rIns="0" bIns="0" anchor="t" anchorCtr="0">
              <a:spAutoFit/>
            </a:bodyPr>
            <a:lstStyle/>
            <a:p>
              <a:pPr algn="l"/>
              <a:r>
                <a:rPr lang="ja-JP" sz="1650" b="1" dirty="0">
                  <a:solidFill>
                    <a:schemeClr val="accent5"/>
                  </a:solidFill>
                  <a:latin typeface="+mn-lt"/>
                  <a:ea typeface="+mn-ea"/>
                  <a:cs typeface="+mn-cs"/>
                </a:rPr>
                <a:t>東京圏〜大阪圏の1日あたり輸送力(2025年4月)</a:t>
              </a:r>
            </a:p>
          </p:txBody>
        </p:sp>
        <p:sp>
          <p:nvSpPr>
            <p:cNvPr id="12" name="TextBox 12"/>
            <p:cNvSpPr txBox="1"/>
            <p:nvPr/>
          </p:nvSpPr>
          <p:spPr>
            <a:xfrm>
              <a:off x="5325618" y="2450782"/>
              <a:ext cx="683133"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新幹線</a:t>
              </a:r>
            </a:p>
          </p:txBody>
        </p:sp>
        <p:sp>
          <p:nvSpPr>
            <p:cNvPr id="13" name="TextBox 13"/>
            <p:cNvSpPr txBox="1"/>
            <p:nvPr/>
          </p:nvSpPr>
          <p:spPr>
            <a:xfrm>
              <a:off x="5314950" y="2758440"/>
              <a:ext cx="2767741" cy="933450"/>
            </a:xfrm>
            <a:prstGeom prst="rect">
              <a:avLst/>
            </a:prstGeom>
            <a:noFill/>
            <a:ln>
              <a:noFill/>
            </a:ln>
          </p:spPr>
          <p:txBody>
            <a:bodyPr wrap="none" lIns="0" tIns="0" rIns="0" bIns="0" anchor="t" anchorCtr="0">
              <a:spAutoFit/>
            </a:bodyPr>
            <a:lstStyle/>
            <a:p>
              <a:pPr algn="l"/>
              <a:r>
                <a:rPr lang="ja-JP" sz="4800" b="1" dirty="0">
                  <a:solidFill>
                    <a:schemeClr val="accent1"/>
                  </a:solidFill>
                  <a:latin typeface="Arial Black"/>
                  <a:ea typeface="Yu Gothic"/>
                  <a:cs typeface="Arial Black"/>
                </a:rPr>
                <a:t>約38万席</a:t>
              </a:r>
            </a:p>
          </p:txBody>
        </p:sp>
        <p:sp>
          <p:nvSpPr>
            <p:cNvPr id="14" name="TextBox 14"/>
            <p:cNvSpPr txBox="1"/>
            <p:nvPr/>
          </p:nvSpPr>
          <p:spPr>
            <a:xfrm>
              <a:off x="8564118" y="2450782"/>
              <a:ext cx="461010" cy="322707"/>
            </a:xfrm>
            <a:prstGeom prst="rect">
              <a:avLst/>
            </a:prstGeom>
            <a:noFill/>
            <a:ln>
              <a:noFill/>
            </a:ln>
          </p:spPr>
          <p:txBody>
            <a:bodyPr wrap="none" lIns="0" tIns="0" rIns="0" bIns="0" anchor="t" anchorCtr="0">
              <a:spAutoFit/>
            </a:bodyPr>
            <a:lstStyle/>
            <a:p>
              <a:pPr algn="l"/>
              <a:r>
                <a:rPr lang="ja-JP" sz="1650" b="1" dirty="0">
                  <a:solidFill>
                    <a:schemeClr val="accent5"/>
                  </a:solidFill>
                  <a:latin typeface="+mn-lt"/>
                  <a:ea typeface="+mn-ea"/>
                  <a:cs typeface="+mn-cs"/>
                </a:rPr>
                <a:t>航空</a:t>
              </a:r>
            </a:p>
          </p:txBody>
        </p:sp>
        <p:sp>
          <p:nvSpPr>
            <p:cNvPr id="15" name="TextBox 15"/>
            <p:cNvSpPr txBox="1"/>
            <p:nvPr/>
          </p:nvSpPr>
          <p:spPr>
            <a:xfrm>
              <a:off x="8553450" y="2758440"/>
              <a:ext cx="2372185" cy="933450"/>
            </a:xfrm>
            <a:prstGeom prst="rect">
              <a:avLst/>
            </a:prstGeom>
            <a:noFill/>
            <a:ln>
              <a:noFill/>
            </a:ln>
          </p:spPr>
          <p:txBody>
            <a:bodyPr wrap="none" lIns="0" tIns="0" rIns="0" bIns="0" anchor="t" anchorCtr="0">
              <a:spAutoFit/>
            </a:bodyPr>
            <a:lstStyle/>
            <a:p>
              <a:pPr algn="l"/>
              <a:r>
                <a:rPr lang="ja-JP" sz="4800" b="1" dirty="0">
                  <a:solidFill>
                    <a:schemeClr val="accent5"/>
                  </a:solidFill>
                  <a:latin typeface="Arial Black"/>
                  <a:ea typeface="Yu Gothic"/>
                  <a:cs typeface="Arial Black"/>
                </a:rPr>
                <a:t>約3万席</a:t>
              </a:r>
            </a:p>
          </p:txBody>
        </p:sp>
        <p:sp>
          <p:nvSpPr>
            <p:cNvPr id="16" name="Rectangle 16"/>
            <p:cNvSpPr/>
            <p:nvPr/>
          </p:nvSpPr>
          <p:spPr>
            <a:xfrm>
              <a:off x="5334000" y="3467100"/>
              <a:ext cx="2628900" cy="400050"/>
            </a:xfrm>
            <a:prstGeom prst="roundRect">
              <a:avLst>
                <a:gd name="adj" fmla="val 50000"/>
              </a:avLst>
            </a:prstGeom>
            <a:solidFill>
              <a:schemeClr val="accent2"/>
            </a:solidFill>
            <a:ln>
              <a:noFill/>
            </a:ln>
          </p:spPr>
        </p:sp>
        <p:sp>
          <p:nvSpPr>
            <p:cNvPr id="17" name="TextBox 17"/>
            <p:cNvSpPr txBox="1"/>
            <p:nvPr/>
          </p:nvSpPr>
          <p:spPr>
            <a:xfrm>
              <a:off x="5512238" y="3565208"/>
              <a:ext cx="2272423" cy="322707"/>
            </a:xfrm>
            <a:prstGeom prst="rect">
              <a:avLst/>
            </a:prstGeom>
            <a:noFill/>
            <a:ln>
              <a:noFill/>
            </a:ln>
          </p:spPr>
          <p:txBody>
            <a:bodyPr wrap="none" lIns="0" tIns="0" rIns="0" bIns="0" anchor="t" anchorCtr="0">
              <a:spAutoFit/>
            </a:bodyPr>
            <a:lstStyle/>
            <a:p>
              <a:pPr algn="ctr"/>
              <a:r>
                <a:rPr lang="ja-JP" sz="1650" b="1" dirty="0">
                  <a:solidFill>
                    <a:srgbClr val="F3ECDD"/>
                  </a:solidFill>
                  <a:latin typeface="+mn-lt"/>
                  <a:ea typeface="+mn-ea"/>
                  <a:cs typeface="+mn-cs"/>
                </a:rPr>
                <a:t>新幹線は航空の約13倍</a:t>
              </a:r>
            </a:p>
          </p:txBody>
        </p:sp>
      </p:grpSp>
      <p:grpSp>
        <p:nvGrpSpPr>
          <p:cNvPr id="25" name="Group 25"/>
          <p:cNvGrpSpPr/>
          <p:nvPr/>
        </p:nvGrpSpPr>
        <p:grpSpPr>
          <a:xfrm>
            <a:off x="5325618" y="4184332"/>
            <a:ext cx="6265164" cy="1275207"/>
            <a:chOff x="5325618" y="4184332"/>
            <a:chExt cx="6265164" cy="1275207"/>
          </a:xfrm>
        </p:grpSpPr>
        <p:sp>
          <p:nvSpPr>
            <p:cNvPr id="19" name="TextBox 19"/>
            <p:cNvSpPr txBox="1"/>
            <p:nvPr/>
          </p:nvSpPr>
          <p:spPr>
            <a:xfrm>
              <a:off x="5325618" y="4184332"/>
              <a:ext cx="4340388" cy="322707"/>
            </a:xfrm>
            <a:prstGeom prst="rect">
              <a:avLst/>
            </a:prstGeom>
            <a:noFill/>
            <a:ln>
              <a:noFill/>
            </a:ln>
          </p:spPr>
          <p:txBody>
            <a:bodyPr wrap="none" lIns="0" tIns="0" rIns="0" bIns="0" anchor="t" anchorCtr="0">
              <a:spAutoFit/>
            </a:bodyPr>
            <a:lstStyle/>
            <a:p>
              <a:pPr algn="l"/>
              <a:r>
                <a:rPr lang="ja-JP" sz="1650" b="1" dirty="0">
                  <a:solidFill>
                    <a:schemeClr val="accent5"/>
                  </a:solidFill>
                  <a:latin typeface="+mn-lt"/>
                  <a:ea typeface="+mn-ea"/>
                  <a:cs typeface="+mn-cs"/>
                </a:rPr>
                <a:t>対航空シェア(東京圏〜大阪圏、2024年度)</a:t>
              </a:r>
            </a:p>
          </p:txBody>
        </p:sp>
        <p:sp>
          <p:nvSpPr>
            <p:cNvPr id="20" name="Rectangle 20"/>
            <p:cNvSpPr/>
            <p:nvPr/>
          </p:nvSpPr>
          <p:spPr>
            <a:xfrm>
              <a:off x="5334000" y="4514850"/>
              <a:ext cx="5373624" cy="533400"/>
            </a:xfrm>
            <a:prstGeom prst="rect">
              <a:avLst/>
            </a:prstGeom>
            <a:solidFill>
              <a:schemeClr val="accent1"/>
            </a:solidFill>
            <a:ln>
              <a:noFill/>
            </a:ln>
          </p:spPr>
        </p:sp>
        <p:sp>
          <p:nvSpPr>
            <p:cNvPr id="21" name="Rectangle 21"/>
            <p:cNvSpPr/>
            <p:nvPr/>
          </p:nvSpPr>
          <p:spPr>
            <a:xfrm>
              <a:off x="10707624" y="4514850"/>
              <a:ext cx="874776" cy="533400"/>
            </a:xfrm>
            <a:prstGeom prst="rect">
              <a:avLst/>
            </a:prstGeom>
            <a:solidFill>
              <a:schemeClr val="lt2"/>
            </a:solidFill>
            <a:ln>
              <a:noFill/>
            </a:ln>
          </p:spPr>
        </p:sp>
        <p:sp>
          <p:nvSpPr>
            <p:cNvPr id="22" name="TextBox 22"/>
            <p:cNvSpPr txBox="1"/>
            <p:nvPr/>
          </p:nvSpPr>
          <p:spPr>
            <a:xfrm>
              <a:off x="5513832" y="4650105"/>
              <a:ext cx="1224940" cy="410718"/>
            </a:xfrm>
            <a:prstGeom prst="rect">
              <a:avLst/>
            </a:prstGeom>
            <a:noFill/>
            <a:ln>
              <a:noFill/>
            </a:ln>
          </p:spPr>
          <p:txBody>
            <a:bodyPr wrap="none" lIns="0" tIns="0" rIns="0" bIns="0" anchor="t" anchorCtr="0">
              <a:spAutoFit/>
            </a:bodyPr>
            <a:lstStyle/>
            <a:p>
              <a:pPr algn="l"/>
              <a:r>
                <a:rPr lang="ja-JP" sz="2100" b="1" dirty="0">
                  <a:solidFill>
                    <a:srgbClr val="F3ECDD"/>
                  </a:solidFill>
                  <a:latin typeface="+mn-lt"/>
                  <a:ea typeface="+mn-ea"/>
                  <a:cs typeface="+mn-cs"/>
                </a:rPr>
                <a:t>鉄道 86%</a:t>
              </a:r>
            </a:p>
          </p:txBody>
        </p:sp>
        <p:sp>
          <p:nvSpPr>
            <p:cNvPr id="23" name="TextBox 23"/>
            <p:cNvSpPr txBox="1"/>
            <p:nvPr/>
          </p:nvSpPr>
          <p:spPr>
            <a:xfrm>
              <a:off x="10920131" y="4679632"/>
              <a:ext cx="448238" cy="322707"/>
            </a:xfrm>
            <a:prstGeom prst="rect">
              <a:avLst/>
            </a:prstGeom>
            <a:noFill/>
            <a:ln>
              <a:noFill/>
            </a:ln>
          </p:spPr>
          <p:txBody>
            <a:bodyPr wrap="none" lIns="0" tIns="0" rIns="0" bIns="0" anchor="t" anchorCtr="0">
              <a:spAutoFit/>
            </a:bodyPr>
            <a:lstStyle/>
            <a:p>
              <a:pPr algn="ctr"/>
              <a:r>
                <a:rPr lang="ja-JP" sz="1650" b="1" dirty="0">
                  <a:solidFill>
                    <a:schemeClr val="accent1"/>
                  </a:solidFill>
                  <a:latin typeface="+mn-lt"/>
                  <a:ea typeface="+mn-ea"/>
                  <a:cs typeface="+mn-cs"/>
                </a:rPr>
                <a:t>14%</a:t>
              </a:r>
            </a:p>
          </p:txBody>
        </p:sp>
        <p:sp>
          <p:nvSpPr>
            <p:cNvPr id="24" name="TextBox 24"/>
            <p:cNvSpPr txBox="1"/>
            <p:nvPr/>
          </p:nvSpPr>
          <p:spPr>
            <a:xfrm>
              <a:off x="10652208" y="5136832"/>
              <a:ext cx="938574" cy="322707"/>
            </a:xfrm>
            <a:prstGeom prst="rect">
              <a:avLst/>
            </a:prstGeom>
            <a:noFill/>
            <a:ln>
              <a:noFill/>
            </a:ln>
          </p:spPr>
          <p:txBody>
            <a:bodyPr wrap="none" lIns="0" tIns="0" rIns="0" bIns="0" anchor="t" anchorCtr="0">
              <a:spAutoFit/>
            </a:bodyPr>
            <a:lstStyle/>
            <a:p>
              <a:pPr algn="r"/>
              <a:r>
                <a:rPr lang="ja-JP" sz="1650" dirty="0">
                  <a:solidFill>
                    <a:schemeClr val="accent5"/>
                  </a:solidFill>
                  <a:latin typeface="+mn-lt"/>
                  <a:ea typeface="+mn-ea"/>
                  <a:cs typeface="+mn-cs"/>
                </a:rPr>
                <a:t>航空 14%</a:t>
              </a:r>
            </a:p>
          </p:txBody>
        </p:sp>
      </p:grpSp>
      <p:grpSp>
        <p:nvGrpSpPr>
          <p:cNvPr id="28" name="Group 28"/>
          <p:cNvGrpSpPr/>
          <p:nvPr/>
        </p:nvGrpSpPr>
        <p:grpSpPr>
          <a:xfrm>
            <a:off x="5372100" y="5498782"/>
            <a:ext cx="4486084" cy="608457"/>
            <a:chOff x="5372100" y="5498782"/>
            <a:chExt cx="4486084" cy="608457"/>
          </a:xfrm>
        </p:grpSpPr>
        <p:sp>
          <p:nvSpPr>
            <p:cNvPr id="26" name="Freeform 26"/>
            <p:cNvSpPr/>
            <p:nvPr/>
          </p:nvSpPr>
          <p:spPr>
            <a:xfrm>
              <a:off x="5372100" y="5543550"/>
              <a:ext cx="247650" cy="285750"/>
            </a:xfrm>
            <a:custGeom>
              <a:avLst/>
              <a:gdLst/>
              <a:ahLst/>
              <a:cxnLst/>
              <a:rect l="l" t="t" r="r" b="b"/>
              <a:pathLst>
                <a:path w="247650" h="285750">
                  <a:moveTo>
                    <a:pt x="190500" y="0"/>
                  </a:moveTo>
                  <a:cubicBezTo>
                    <a:pt x="85290" y="0"/>
                    <a:pt x="0" y="76761"/>
                    <a:pt x="0" y="171450"/>
                  </a:cubicBezTo>
                  <a:lnTo>
                    <a:pt x="0" y="285750"/>
                  </a:lnTo>
                  <a:lnTo>
                    <a:pt x="38100" y="285750"/>
                  </a:lnTo>
                  <a:lnTo>
                    <a:pt x="38100" y="182609"/>
                  </a:lnTo>
                  <a:lnTo>
                    <a:pt x="119880" y="100829"/>
                  </a:lnTo>
                  <a:lnTo>
                    <a:pt x="146820" y="127770"/>
                  </a:lnTo>
                  <a:lnTo>
                    <a:pt x="76200" y="198391"/>
                  </a:lnTo>
                  <a:lnTo>
                    <a:pt x="76200" y="246804"/>
                  </a:lnTo>
                  <a:cubicBezTo>
                    <a:pt x="172465" y="238201"/>
                    <a:pt x="247650" y="165103"/>
                    <a:pt x="247650" y="76200"/>
                  </a:cubicBezTo>
                  <a:lnTo>
                    <a:pt x="247650" y="0"/>
                  </a:lnTo>
                  <a:lnTo>
                    <a:pt x="190500" y="0"/>
                  </a:lnTo>
                  <a:close/>
                </a:path>
              </a:pathLst>
            </a:custGeom>
            <a:solidFill>
              <a:schemeClr val="accent1"/>
            </a:solidFill>
            <a:ln>
              <a:noFill/>
            </a:ln>
          </p:spPr>
        </p:sp>
        <p:sp>
          <p:nvSpPr>
            <p:cNvPr id="27" name="TextBox 27"/>
            <p:cNvSpPr txBox="1"/>
            <p:nvPr/>
          </p:nvSpPr>
          <p:spPr>
            <a:xfrm>
              <a:off x="5744718" y="5498782"/>
              <a:ext cx="4113466" cy="608457"/>
            </a:xfrm>
            <a:prstGeom prst="rect">
              <a:avLst/>
            </a:prstGeom>
            <a:noFill/>
            <a:ln>
              <a:noFill/>
            </a:ln>
          </p:spPr>
          <p:txBody>
            <a:bodyPr wrap="none" lIns="0" tIns="0" rIns="0" bIns="0" anchor="t" anchorCtr="0">
              <a:spAutoFit/>
            </a:bodyPr>
            <a:lstStyle/>
            <a:p>
              <a:pPr algn="l">
                <a:lnSpc>
                  <a:spcPts val="2250"/>
                </a:lnSpc>
              </a:pPr>
              <a:r>
                <a:rPr lang="ja-JP" sz="1650" dirty="0">
                  <a:solidFill>
                    <a:schemeClr val="dk1"/>
                  </a:solidFill>
                  <a:latin typeface="+mn-lt"/>
                  <a:ea typeface="+mn-ea"/>
                  <a:cs typeface="+mn-cs"/>
                </a:rPr>
                <a:t>東京〜大阪の1座席あたり、航空機と比べて</a:t>
              </a:r>
              <a:br/>
              <a:r>
                <a:rPr lang="ja-JP" sz="1650" b="1" dirty="0">
                  <a:solidFill>
                    <a:schemeClr val="accent1"/>
                  </a:solidFill>
                  <a:latin typeface="+mn-lt"/>
                  <a:ea typeface="+mn-ea"/>
                  <a:cs typeface="+mn-cs"/>
                </a:rPr>
                <a:t>エネルギー約8分の1・CO₂約12分の1</a:t>
              </a:r>
            </a:p>
          </p:txBody>
        </p:sp>
      </p:grpSp>
      <p:grpSp>
        <p:nvGrpSpPr>
          <p:cNvPr id="31" name="Group 31"/>
          <p:cNvGrpSpPr/>
          <p:nvPr/>
        </p:nvGrpSpPr>
        <p:grpSpPr>
          <a:xfrm>
            <a:off x="603504" y="6195060"/>
            <a:ext cx="10984992" cy="444246"/>
            <a:chOff x="603504" y="6195060"/>
            <a:chExt cx="10984992" cy="444246"/>
          </a:xfrm>
        </p:grpSpPr>
        <p:sp>
          <p:nvSpPr>
            <p:cNvPr id="29" name="TextBox 29"/>
            <p:cNvSpPr txBox="1"/>
            <p:nvPr/>
          </p:nvSpPr>
          <p:spPr>
            <a:xfrm>
              <a:off x="603504" y="6195060"/>
              <a:ext cx="598627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13倍は当資料による計算。シェアは国交省の旅客地域流動調査をもとにJR東海が算出。</a:t>
              </a:r>
              <a:br/>
              <a:r>
                <a:rPr lang="ja-JP" sz="1200" dirty="0">
                  <a:solidFill>
                    <a:schemeClr val="accent5"/>
                  </a:solidFill>
                  <a:latin typeface="+mn-lt"/>
                  <a:ea typeface="+mn-ea"/>
                  <a:cs typeface="+mn-cs"/>
                </a:rPr>
                <a:t>出典:JR東海 ファクトシート2026「東海道新幹線の特性」「マーケットシェア」</a:t>
              </a:r>
            </a:p>
          </p:txBody>
        </p:sp>
        <p:sp>
          <p:nvSpPr>
            <p:cNvPr id="30" name="TextBox 30"/>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389" t="0" r="389" b="0"/>
          <a:stretch>
            <a:fillRect/>
          </a:stretch>
        </p:blipFill>
        <p:spPr>
          <a:xfrm>
            <a:off x="0" y="0"/>
            <a:ext cx="12192000" cy="6858000"/>
          </a:xfrm>
          <a:prstGeom prst="rect">
            <a:avLst/>
          </a:prstGeom>
        </p:spPr>
      </p:pic>
      <p:sp>
        <p:nvSpPr>
          <p:cNvPr id="3" name="Freeform 3"/>
          <p:cNvSpPr/>
          <p:nvPr/>
        </p:nvSpPr>
        <p:spPr>
          <a:xfrm>
            <a:off x="-1143000" y="0"/>
            <a:ext cx="6858000" cy="6858000"/>
          </a:xfrm>
          <a:prstGeom prst="parallelogram">
            <a:avLst>
              <a:gd name="adj" fmla="val 16667"/>
            </a:avLst>
          </a:prstGeom>
          <a:solidFill>
            <a:schemeClr val="accent1"/>
          </a:solidFill>
          <a:ln>
            <a:noFill/>
          </a:ln>
        </p:spPr>
      </p:sp>
      <p:grpSp>
        <p:nvGrpSpPr>
          <p:cNvPr id="5" name="Group 5"/>
          <p:cNvGrpSpPr/>
          <p:nvPr/>
        </p:nvGrpSpPr>
        <p:grpSpPr>
          <a:xfrm>
            <a:off x="601218" y="660082"/>
            <a:ext cx="1991993" cy="322707"/>
            <a:chOff x="601218" y="660082"/>
            <a:chExt cx="1991993" cy="322707"/>
          </a:xfrm>
        </p:grpSpPr>
        <p:sp>
          <p:nvSpPr>
            <p:cNvPr id="4" name="TextBox 4"/>
            <p:cNvSpPr txBox="1"/>
            <p:nvPr/>
          </p:nvSpPr>
          <p:spPr>
            <a:xfrm>
              <a:off x="601218" y="660082"/>
              <a:ext cx="1991993" cy="322707"/>
            </a:xfrm>
            <a:prstGeom prst="rect">
              <a:avLst/>
            </a:prstGeom>
            <a:noFill/>
            <a:ln>
              <a:noFill/>
            </a:ln>
          </p:spPr>
          <p:txBody>
            <a:bodyPr wrap="none" lIns="0" tIns="0" rIns="0" bIns="0" anchor="t" anchorCtr="0">
              <a:spAutoFit/>
            </a:bodyPr>
            <a:lstStyle/>
            <a:p>
              <a:pPr algn="l"/>
              <a:r>
                <a:rPr lang="ja-JP" sz="1650" b="1" dirty="0">
                  <a:solidFill>
                    <a:schemeClr val="accent3"/>
                  </a:solidFill>
                  <a:latin typeface="+mn-lt"/>
                  <a:ea typeface="+mn-ea"/>
                  <a:cs typeface="+mn-cs"/>
                </a:rPr>
                <a:t>④ 安全を積み上げる</a:t>
              </a:r>
            </a:p>
          </p:txBody>
        </p:sp>
      </p:grpSp>
      <p:grpSp>
        <p:nvGrpSpPr>
          <p:cNvPr id="7" name="Group 7"/>
          <p:cNvGrpSpPr/>
          <p:nvPr/>
        </p:nvGrpSpPr>
        <p:grpSpPr>
          <a:xfrm>
            <a:off x="591312" y="1154430"/>
            <a:ext cx="3694176" cy="1294638"/>
            <a:chOff x="591312" y="1154430"/>
            <a:chExt cx="3694176" cy="1294638"/>
          </a:xfrm>
        </p:grpSpPr>
        <p:sp>
          <p:nvSpPr>
            <p:cNvPr id="6" name="TextBox 6"/>
            <p:cNvSpPr txBox="1"/>
            <p:nvPr/>
          </p:nvSpPr>
          <p:spPr>
            <a:xfrm>
              <a:off x="591312" y="1154430"/>
              <a:ext cx="3694176" cy="1294638"/>
            </a:xfrm>
            <a:prstGeom prst="rect">
              <a:avLst/>
            </a:prstGeom>
            <a:noFill/>
            <a:ln>
              <a:noFill/>
            </a:ln>
          </p:spPr>
          <p:txBody>
            <a:bodyPr wrap="none" lIns="0" tIns="0" rIns="0" bIns="0" anchor="t" anchorCtr="0">
              <a:spAutoFit/>
            </a:bodyPr>
            <a:lstStyle/>
            <a:p>
              <a:pPr algn="l">
                <a:lnSpc>
                  <a:spcPts val="4650"/>
                </a:lnSpc>
              </a:pPr>
              <a:r>
                <a:rPr lang="ja-JP" sz="3600" b="1" dirty="0">
                  <a:solidFill>
                    <a:srgbClr val="F3ECDD"/>
                  </a:solidFill>
                  <a:latin typeface="+mj-lt"/>
                  <a:ea typeface="+mj-ea"/>
                  <a:cs typeface="+mj-cs"/>
                </a:rPr>
                <a:t>60年間、乗車中の</a:t>
              </a:r>
              <a:br/>
              <a:r>
                <a:rPr lang="ja-JP" sz="3600" b="1" dirty="0">
                  <a:solidFill>
                    <a:srgbClr val="F3ECDD"/>
                  </a:solidFill>
                  <a:latin typeface="+mj-lt"/>
                  <a:ea typeface="+mj-ea"/>
                  <a:cs typeface="+mj-cs"/>
                </a:rPr>
                <a:t>死傷事故はゼロ</a:t>
              </a:r>
            </a:p>
          </p:txBody>
        </p:sp>
      </p:grpSp>
      <p:grpSp>
        <p:nvGrpSpPr>
          <p:cNvPr id="10" name="Group 10"/>
          <p:cNvGrpSpPr/>
          <p:nvPr/>
        </p:nvGrpSpPr>
        <p:grpSpPr>
          <a:xfrm>
            <a:off x="590550" y="2781300"/>
            <a:ext cx="2751582" cy="4019550"/>
            <a:chOff x="590550" y="2781300"/>
            <a:chExt cx="2751582" cy="4019550"/>
          </a:xfrm>
        </p:grpSpPr>
        <p:sp>
          <p:nvSpPr>
            <p:cNvPr id="8" name="TextBox 8"/>
            <p:cNvSpPr txBox="1"/>
            <p:nvPr/>
          </p:nvSpPr>
          <p:spPr>
            <a:xfrm>
              <a:off x="590550" y="2781300"/>
              <a:ext cx="1768660" cy="4019550"/>
            </a:xfrm>
            <a:prstGeom prst="rect">
              <a:avLst/>
            </a:prstGeom>
            <a:noFill/>
            <a:ln>
              <a:noFill/>
            </a:ln>
          </p:spPr>
          <p:txBody>
            <a:bodyPr wrap="none" lIns="0" tIns="0" rIns="0" bIns="0" anchor="t" anchorCtr="0">
              <a:spAutoFit/>
            </a:bodyPr>
            <a:lstStyle/>
            <a:p>
              <a:pPr algn="l"/>
              <a:r>
                <a:rPr lang="ja-JP" sz="21000" b="1" dirty="0">
                  <a:solidFill>
                    <a:schemeClr val="accent3"/>
                  </a:solidFill>
                  <a:latin typeface="Arial Black"/>
                  <a:ea typeface="Arial Black"/>
                  <a:cs typeface="Arial Black"/>
                </a:rPr>
                <a:t>0</a:t>
              </a:r>
            </a:p>
          </p:txBody>
        </p:sp>
        <p:sp>
          <p:nvSpPr>
            <p:cNvPr id="9" name="TextBox 9"/>
            <p:cNvSpPr txBox="1"/>
            <p:nvPr/>
          </p:nvSpPr>
          <p:spPr>
            <a:xfrm>
              <a:off x="601218" y="5327332"/>
              <a:ext cx="2740914" cy="627507"/>
            </a:xfrm>
            <a:prstGeom prst="rect">
              <a:avLst/>
            </a:prstGeom>
            <a:noFill/>
            <a:ln>
              <a:noFill/>
            </a:ln>
          </p:spPr>
          <p:txBody>
            <a:bodyPr wrap="none" lIns="0" tIns="0" rIns="0" bIns="0" anchor="t" anchorCtr="0">
              <a:spAutoFit/>
            </a:bodyPr>
            <a:lstStyle/>
            <a:p>
              <a:pPr algn="l">
                <a:lnSpc>
                  <a:spcPts val="2400"/>
                </a:lnSpc>
              </a:pPr>
              <a:r>
                <a:rPr lang="ja-JP" sz="1650" dirty="0">
                  <a:solidFill>
                    <a:srgbClr val="F3ECDD"/>
                  </a:solidFill>
                  <a:latin typeface="+mn-lt"/>
                  <a:ea typeface="+mn-ea"/>
                  <a:cs typeface="+mn-cs"/>
                </a:rPr>
                <a:t>開業以来、乗車中のお客様が</a:t>
              </a:r>
              <a:br/>
              <a:r>
                <a:rPr lang="ja-JP" sz="1650" dirty="0">
                  <a:solidFill>
                    <a:srgbClr val="F3ECDD"/>
                  </a:solidFill>
                  <a:latin typeface="+mn-lt"/>
                  <a:ea typeface="+mn-ea"/>
                  <a:cs typeface="+mn-cs"/>
                </a:rPr>
                <a:t>死傷される列車事故はゼロ</a:t>
              </a:r>
            </a:p>
          </p:txBody>
        </p:sp>
      </p:grpSp>
      <p:sp>
        <p:nvSpPr>
          <p:cNvPr id="11" name="TextBox 11"/>
          <p:cNvSpPr txBox="1"/>
          <p:nvPr/>
        </p:nvSpPr>
        <p:spPr>
          <a:xfrm>
            <a:off x="603504" y="6309360"/>
            <a:ext cx="2474671" cy="234696"/>
          </a:xfrm>
          <a:prstGeom prst="rect">
            <a:avLst/>
          </a:prstGeom>
          <a:noFill/>
          <a:ln>
            <a:noFill/>
          </a:ln>
        </p:spPr>
        <p:txBody>
          <a:bodyPr wrap="none" lIns="0" tIns="0" rIns="0" bIns="0" anchor="t" anchorCtr="0">
            <a:spAutoFit/>
          </a:bodyPr>
          <a:lstStyle/>
          <a:p>
            <a:pPr algn="l"/>
            <a:r>
              <a:rPr lang="ja-JP" sz="1200" dirty="0">
                <a:solidFill>
                  <a:srgbClr val="F3ECDD"/>
                </a:solidFill>
                <a:latin typeface="+mn-lt"/>
                <a:ea typeface="+mn-ea"/>
                <a:cs typeface="+mn-cs"/>
              </a:rPr>
              <a:t>出典:JR東海 ファクトシート2026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1312" y="601980"/>
            <a:ext cx="8295437" cy="1132332"/>
            <a:chOff x="591312" y="601980"/>
            <a:chExt cx="8295437" cy="1132332"/>
          </a:xfrm>
        </p:grpSpPr>
        <p:sp>
          <p:nvSpPr>
            <p:cNvPr id="2" name="TextBox 2"/>
            <p:cNvSpPr txBox="1"/>
            <p:nvPr/>
          </p:nvSpPr>
          <p:spPr>
            <a:xfrm>
              <a:off x="591312" y="601980"/>
              <a:ext cx="8275320"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大きな揺れが来る前に、列車を止める</a:t>
              </a:r>
            </a:p>
          </p:txBody>
        </p:sp>
        <p:sp>
          <p:nvSpPr>
            <p:cNvPr id="3" name="TextBox 3"/>
            <p:cNvSpPr txBox="1"/>
            <p:nvPr/>
          </p:nvSpPr>
          <p:spPr>
            <a:xfrm>
              <a:off x="597408" y="1264920"/>
              <a:ext cx="8289341"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P波を捉えて送電を止め、列車を自動的に緊急停止させる</a:t>
              </a:r>
            </a:p>
          </p:txBody>
        </p:sp>
      </p:grpSp>
      <p:grpSp>
        <p:nvGrpSpPr>
          <p:cNvPr id="13" name="Group 13"/>
          <p:cNvGrpSpPr/>
          <p:nvPr/>
        </p:nvGrpSpPr>
        <p:grpSpPr>
          <a:xfrm>
            <a:off x="609600" y="2247900"/>
            <a:ext cx="2000250" cy="1905000"/>
            <a:chOff x="609600" y="2247900"/>
            <a:chExt cx="2000250" cy="1905000"/>
          </a:xfrm>
        </p:grpSpPr>
        <p:sp>
          <p:nvSpPr>
            <p:cNvPr id="5" name="Rectangle 5"/>
            <p:cNvSpPr/>
            <p:nvPr/>
          </p:nvSpPr>
          <p:spPr>
            <a:xfrm>
              <a:off x="609600" y="2247900"/>
              <a:ext cx="2000250" cy="1905000"/>
            </a:xfrm>
            <a:prstGeom prst="roundRect">
              <a:avLst>
                <a:gd name="adj" fmla="val 8000"/>
              </a:avLst>
            </a:prstGeom>
            <a:solidFill>
              <a:schemeClr val="accent1"/>
            </a:solidFill>
            <a:ln>
              <a:noFill/>
            </a:ln>
          </p:spPr>
        </p:sp>
        <p:grpSp>
          <p:nvGrpSpPr>
            <p:cNvPr id="10" name="Group 10"/>
            <p:cNvGrpSpPr/>
            <p:nvPr/>
          </p:nvGrpSpPr>
          <p:grpSpPr>
            <a:xfrm>
              <a:off x="1409700" y="2466975"/>
              <a:ext cx="400050" cy="400050"/>
              <a:chOff x="1409700" y="2466975"/>
              <a:chExt cx="400050" cy="400050"/>
            </a:xfrm>
          </p:grpSpPr>
          <p:sp>
            <p:nvSpPr>
              <p:cNvPr id="6" name="Freeform 6"/>
              <p:cNvSpPr/>
              <p:nvPr/>
            </p:nvSpPr>
            <p:spPr>
              <a:xfrm>
                <a:off x="1524000" y="2466975"/>
                <a:ext cx="57150" cy="400050"/>
              </a:xfrm>
              <a:custGeom>
                <a:avLst/>
                <a:gdLst/>
                <a:ahLst/>
                <a:cxnLst/>
                <a:rect l="l" t="t" r="r" b="b"/>
                <a:pathLst>
                  <a:path w="57150" h="400050">
                    <a:moveTo>
                      <a:pt x="0" y="0"/>
                    </a:moveTo>
                    <a:lnTo>
                      <a:pt x="0" y="400050"/>
                    </a:lnTo>
                    <a:lnTo>
                      <a:pt x="57150" y="400050"/>
                    </a:lnTo>
                    <a:lnTo>
                      <a:pt x="57150" y="0"/>
                    </a:lnTo>
                    <a:lnTo>
                      <a:pt x="0" y="0"/>
                    </a:lnTo>
                    <a:close/>
                  </a:path>
                </a:pathLst>
              </a:custGeom>
              <a:solidFill>
                <a:schemeClr val="accent3"/>
              </a:solidFill>
              <a:ln>
                <a:noFill/>
              </a:ln>
            </p:spPr>
          </p:sp>
          <p:sp>
            <p:nvSpPr>
              <p:cNvPr id="7" name="Freeform 7"/>
              <p:cNvSpPr/>
              <p:nvPr/>
            </p:nvSpPr>
            <p:spPr>
              <a:xfrm>
                <a:off x="1638300" y="2609850"/>
                <a:ext cx="57150" cy="114300"/>
              </a:xfrm>
              <a:custGeom>
                <a:avLst/>
                <a:gdLst/>
                <a:ahLst/>
                <a:cxnLst/>
                <a:rect l="l" t="t" r="r" b="b"/>
                <a:pathLst>
                  <a:path w="57150" h="114300">
                    <a:moveTo>
                      <a:pt x="0" y="0"/>
                    </a:moveTo>
                    <a:lnTo>
                      <a:pt x="0" y="114300"/>
                    </a:lnTo>
                    <a:lnTo>
                      <a:pt x="57150" y="114300"/>
                    </a:lnTo>
                    <a:lnTo>
                      <a:pt x="57150" y="0"/>
                    </a:lnTo>
                    <a:lnTo>
                      <a:pt x="0" y="0"/>
                    </a:lnTo>
                    <a:close/>
                  </a:path>
                </a:pathLst>
              </a:custGeom>
              <a:solidFill>
                <a:schemeClr val="accent3"/>
              </a:solidFill>
              <a:ln>
                <a:noFill/>
              </a:ln>
            </p:spPr>
          </p:sp>
          <p:sp>
            <p:nvSpPr>
              <p:cNvPr id="8" name="Freeform 8"/>
              <p:cNvSpPr/>
              <p:nvPr/>
            </p:nvSpPr>
            <p:spPr>
              <a:xfrm>
                <a:off x="1752600" y="2552700"/>
                <a:ext cx="57150" cy="228600"/>
              </a:xfrm>
              <a:custGeom>
                <a:avLst/>
                <a:gdLst/>
                <a:ahLst/>
                <a:cxnLst/>
                <a:rect l="l" t="t" r="r" b="b"/>
                <a:pathLst>
                  <a:path w="57150" h="228600">
                    <a:moveTo>
                      <a:pt x="0" y="228600"/>
                    </a:moveTo>
                    <a:lnTo>
                      <a:pt x="0" y="0"/>
                    </a:lnTo>
                    <a:lnTo>
                      <a:pt x="57150" y="0"/>
                    </a:lnTo>
                    <a:lnTo>
                      <a:pt x="57150" y="228600"/>
                    </a:lnTo>
                    <a:lnTo>
                      <a:pt x="0" y="228600"/>
                    </a:lnTo>
                    <a:close/>
                  </a:path>
                </a:pathLst>
              </a:custGeom>
              <a:solidFill>
                <a:schemeClr val="accent3"/>
              </a:solidFill>
              <a:ln>
                <a:noFill/>
              </a:ln>
            </p:spPr>
          </p:sp>
          <p:sp>
            <p:nvSpPr>
              <p:cNvPr id="9" name="Freeform 9"/>
              <p:cNvSpPr/>
              <p:nvPr/>
            </p:nvSpPr>
            <p:spPr>
              <a:xfrm>
                <a:off x="1409700" y="2524125"/>
                <a:ext cx="57150" cy="285750"/>
              </a:xfrm>
              <a:custGeom>
                <a:avLst/>
                <a:gdLst/>
                <a:ahLst/>
                <a:cxnLst/>
                <a:rect l="l" t="t" r="r" b="b"/>
                <a:pathLst>
                  <a:path w="57150" h="285750">
                    <a:moveTo>
                      <a:pt x="0" y="0"/>
                    </a:moveTo>
                    <a:lnTo>
                      <a:pt x="0" y="285750"/>
                    </a:lnTo>
                    <a:lnTo>
                      <a:pt x="57150" y="285750"/>
                    </a:lnTo>
                    <a:lnTo>
                      <a:pt x="57150" y="0"/>
                    </a:lnTo>
                    <a:lnTo>
                      <a:pt x="0" y="0"/>
                    </a:lnTo>
                    <a:close/>
                  </a:path>
                </a:pathLst>
              </a:custGeom>
              <a:solidFill>
                <a:schemeClr val="accent3"/>
              </a:solidFill>
              <a:ln>
                <a:noFill/>
              </a:ln>
            </p:spPr>
          </p:sp>
        </p:grpSp>
        <p:sp>
          <p:nvSpPr>
            <p:cNvPr id="11" name="TextBox 11"/>
            <p:cNvSpPr txBox="1"/>
            <p:nvPr/>
          </p:nvSpPr>
          <p:spPr>
            <a:xfrm>
              <a:off x="1033653" y="3049905"/>
              <a:ext cx="1152144"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地震発生</a:t>
              </a:r>
            </a:p>
          </p:txBody>
        </p:sp>
        <p:sp>
          <p:nvSpPr>
            <p:cNvPr id="12" name="TextBox 12"/>
            <p:cNvSpPr txBox="1"/>
            <p:nvPr/>
          </p:nvSpPr>
          <p:spPr>
            <a:xfrm>
              <a:off x="904589" y="3460432"/>
              <a:ext cx="1410272" cy="608457"/>
            </a:xfrm>
            <a:prstGeom prst="rect">
              <a:avLst/>
            </a:prstGeom>
            <a:noFill/>
            <a:ln>
              <a:noFill/>
            </a:ln>
          </p:spPr>
          <p:txBody>
            <a:bodyPr wrap="none" lIns="0" tIns="0" rIns="0" bIns="0" anchor="t" anchorCtr="0">
              <a:spAutoFit/>
            </a:bodyPr>
            <a:lstStyle/>
            <a:p>
              <a:pPr algn="ctr">
                <a:lnSpc>
                  <a:spcPts val="2250"/>
                </a:lnSpc>
              </a:pPr>
              <a:r>
                <a:rPr lang="ja-JP" sz="1650" dirty="0">
                  <a:solidFill>
                    <a:srgbClr val="F3ECDD"/>
                  </a:solidFill>
                  <a:latin typeface="+mn-lt"/>
                  <a:ea typeface="+mn-ea"/>
                  <a:cs typeface="+mn-cs"/>
                </a:rPr>
                <a:t>P波(初期微動)</a:t>
              </a:r>
              <a:br/>
              <a:r>
                <a:rPr lang="ja-JP" sz="1650" dirty="0">
                  <a:solidFill>
                    <a:srgbClr val="F3ECDD"/>
                  </a:solidFill>
                  <a:latin typeface="+mn-lt"/>
                  <a:ea typeface="+mn-ea"/>
                  <a:cs typeface="+mn-cs"/>
                </a:rPr>
                <a:t>を検知</a:t>
              </a:r>
            </a:p>
          </p:txBody>
        </p:sp>
      </p:grpSp>
      <p:sp>
        <p:nvSpPr>
          <p:cNvPr id="14" name="Freeform 14"/>
          <p:cNvSpPr/>
          <p:nvPr/>
        </p:nvSpPr>
        <p:spPr>
          <a:xfrm>
            <a:off x="2686050" y="2952750"/>
            <a:ext cx="457200" cy="495300"/>
          </a:xfrm>
          <a:prstGeom prst="rightArrow">
            <a:avLst/>
          </a:prstGeom>
          <a:solidFill>
            <a:schemeClr val="accent3"/>
          </a:solidFill>
          <a:ln>
            <a:noFill/>
          </a:ln>
        </p:spPr>
      </p:sp>
      <p:grpSp>
        <p:nvGrpSpPr>
          <p:cNvPr id="25" name="Group 25"/>
          <p:cNvGrpSpPr/>
          <p:nvPr/>
        </p:nvGrpSpPr>
        <p:grpSpPr>
          <a:xfrm>
            <a:off x="3219450" y="2247900"/>
            <a:ext cx="3086100" cy="1917573"/>
            <a:chOff x="3219450" y="2247900"/>
            <a:chExt cx="3086100" cy="1917573"/>
          </a:xfrm>
        </p:grpSpPr>
        <p:sp>
          <p:nvSpPr>
            <p:cNvPr id="15" name="Rectangle 15"/>
            <p:cNvSpPr/>
            <p:nvPr/>
          </p:nvSpPr>
          <p:spPr>
            <a:xfrm>
              <a:off x="3219450" y="2247900"/>
              <a:ext cx="3086100" cy="1905000"/>
            </a:xfrm>
            <a:prstGeom prst="roundRect">
              <a:avLst>
                <a:gd name="adj" fmla="val 8000"/>
              </a:avLst>
            </a:prstGeom>
            <a:solidFill>
              <a:schemeClr val="lt2"/>
            </a:solidFill>
            <a:ln w="28575">
              <a:solidFill>
                <a:schemeClr val="accent1"/>
              </a:solidFill>
            </a:ln>
          </p:spPr>
        </p:sp>
        <p:sp>
          <p:nvSpPr>
            <p:cNvPr id="16" name="TextBox 16"/>
            <p:cNvSpPr txBox="1"/>
            <p:nvPr/>
          </p:nvSpPr>
          <p:spPr>
            <a:xfrm>
              <a:off x="3401568" y="2431732"/>
              <a:ext cx="1571625"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地震計で捉える</a:t>
              </a:r>
            </a:p>
          </p:txBody>
        </p:sp>
        <p:grpSp>
          <p:nvGrpSpPr>
            <p:cNvPr id="20" name="Group 20"/>
            <p:cNvGrpSpPr/>
            <p:nvPr/>
          </p:nvGrpSpPr>
          <p:grpSpPr>
            <a:xfrm>
              <a:off x="3401568" y="2888932"/>
              <a:ext cx="1349502" cy="1237107"/>
              <a:chOff x="3401568" y="2888932"/>
              <a:chExt cx="1349502" cy="1237107"/>
            </a:xfrm>
          </p:grpSpPr>
          <p:sp>
            <p:nvSpPr>
              <p:cNvPr id="17" name="TextBox 17"/>
              <p:cNvSpPr txBox="1"/>
              <p:nvPr/>
            </p:nvSpPr>
            <p:spPr>
              <a:xfrm>
                <a:off x="3401568" y="2888932"/>
                <a:ext cx="1127379"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遠方地震計</a:t>
                </a:r>
              </a:p>
            </p:txBody>
          </p:sp>
          <p:sp>
            <p:nvSpPr>
              <p:cNvPr id="18" name="TextBox 18"/>
              <p:cNvSpPr txBox="1"/>
              <p:nvPr/>
            </p:nvSpPr>
            <p:spPr>
              <a:xfrm>
                <a:off x="3401568" y="3346132"/>
                <a:ext cx="1127379"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沿線地震計</a:t>
                </a:r>
              </a:p>
            </p:txBody>
          </p:sp>
          <p:sp>
            <p:nvSpPr>
              <p:cNvPr id="19" name="TextBox 19"/>
              <p:cNvSpPr txBox="1"/>
              <p:nvPr/>
            </p:nvSpPr>
            <p:spPr>
              <a:xfrm>
                <a:off x="3401568" y="3803332"/>
                <a:ext cx="1349502"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緊急地震速報</a:t>
                </a:r>
              </a:p>
            </p:txBody>
          </p:sp>
        </p:grpSp>
        <p:grpSp>
          <p:nvGrpSpPr>
            <p:cNvPr id="24" name="Group 24"/>
            <p:cNvGrpSpPr/>
            <p:nvPr/>
          </p:nvGrpSpPr>
          <p:grpSpPr>
            <a:xfrm>
              <a:off x="5024428" y="2840355"/>
              <a:ext cx="1120340" cy="1325118"/>
              <a:chOff x="5024428" y="2840355"/>
              <a:chExt cx="1120340" cy="1325118"/>
            </a:xfrm>
          </p:grpSpPr>
          <p:sp>
            <p:nvSpPr>
              <p:cNvPr id="21" name="TextBox 21"/>
              <p:cNvSpPr txBox="1"/>
              <p:nvPr/>
            </p:nvSpPr>
            <p:spPr>
              <a:xfrm>
                <a:off x="5231507" y="2840355"/>
                <a:ext cx="913261" cy="410718"/>
              </a:xfrm>
              <a:prstGeom prst="rect">
                <a:avLst/>
              </a:prstGeom>
              <a:noFill/>
              <a:ln>
                <a:noFill/>
              </a:ln>
            </p:spPr>
            <p:txBody>
              <a:bodyPr wrap="none" lIns="0" tIns="0" rIns="0" bIns="0" anchor="t" anchorCtr="0">
                <a:spAutoFit/>
              </a:bodyPr>
              <a:lstStyle/>
              <a:p>
                <a:pPr algn="r"/>
                <a:r>
                  <a:rPr lang="ja-JP" sz="2100" b="1" dirty="0">
                    <a:solidFill>
                      <a:schemeClr val="accent1"/>
                    </a:solidFill>
                    <a:latin typeface="+mn-lt"/>
                    <a:ea typeface="+mn-ea"/>
                    <a:cs typeface="+mn-cs"/>
                  </a:rPr>
                  <a:t>21箇所</a:t>
                </a:r>
              </a:p>
            </p:txBody>
          </p:sp>
          <p:sp>
            <p:nvSpPr>
              <p:cNvPr id="22" name="TextBox 22"/>
              <p:cNvSpPr txBox="1"/>
              <p:nvPr/>
            </p:nvSpPr>
            <p:spPr>
              <a:xfrm>
                <a:off x="5231507" y="3297555"/>
                <a:ext cx="913261" cy="410718"/>
              </a:xfrm>
              <a:prstGeom prst="rect">
                <a:avLst/>
              </a:prstGeom>
              <a:noFill/>
              <a:ln>
                <a:noFill/>
              </a:ln>
            </p:spPr>
            <p:txBody>
              <a:bodyPr wrap="none" lIns="0" tIns="0" rIns="0" bIns="0" anchor="t" anchorCtr="0">
                <a:spAutoFit/>
              </a:bodyPr>
              <a:lstStyle/>
              <a:p>
                <a:pPr algn="r"/>
                <a:r>
                  <a:rPr lang="ja-JP" sz="2100" b="1" dirty="0">
                    <a:solidFill>
                      <a:schemeClr val="accent1"/>
                    </a:solidFill>
                    <a:latin typeface="+mn-lt"/>
                    <a:ea typeface="+mn-ea"/>
                    <a:cs typeface="+mn-cs"/>
                  </a:rPr>
                  <a:t>50箇所</a:t>
                </a:r>
              </a:p>
            </p:txBody>
          </p:sp>
          <p:sp>
            <p:nvSpPr>
              <p:cNvPr id="23" name="TextBox 23"/>
              <p:cNvSpPr txBox="1"/>
              <p:nvPr/>
            </p:nvSpPr>
            <p:spPr>
              <a:xfrm>
                <a:off x="5024428" y="3754755"/>
                <a:ext cx="1120340" cy="410718"/>
              </a:xfrm>
              <a:prstGeom prst="rect">
                <a:avLst/>
              </a:prstGeom>
              <a:noFill/>
              <a:ln>
                <a:noFill/>
              </a:ln>
            </p:spPr>
            <p:txBody>
              <a:bodyPr wrap="none" lIns="0" tIns="0" rIns="0" bIns="0" anchor="t" anchorCtr="0">
                <a:spAutoFit/>
              </a:bodyPr>
              <a:lstStyle/>
              <a:p>
                <a:pPr algn="r"/>
                <a:r>
                  <a:rPr lang="ja-JP" sz="2100" b="1" dirty="0">
                    <a:solidFill>
                      <a:schemeClr val="accent1"/>
                    </a:solidFill>
                    <a:latin typeface="+mn-lt"/>
                    <a:ea typeface="+mn-ea"/>
                    <a:cs typeface="+mn-cs"/>
                  </a:rPr>
                  <a:t>約1,000</a:t>
                </a:r>
              </a:p>
            </p:txBody>
          </p:sp>
        </p:grpSp>
      </p:grpSp>
      <p:sp>
        <p:nvSpPr>
          <p:cNvPr id="26" name="Freeform 26"/>
          <p:cNvSpPr/>
          <p:nvPr/>
        </p:nvSpPr>
        <p:spPr>
          <a:xfrm>
            <a:off x="6381750" y="2952750"/>
            <a:ext cx="457200" cy="495300"/>
          </a:xfrm>
          <a:prstGeom prst="rightArrow">
            <a:avLst/>
          </a:prstGeom>
          <a:solidFill>
            <a:schemeClr val="accent3"/>
          </a:solidFill>
          <a:ln>
            <a:noFill/>
          </a:ln>
        </p:spPr>
      </p:sp>
      <p:grpSp>
        <p:nvGrpSpPr>
          <p:cNvPr id="31" name="Group 31"/>
          <p:cNvGrpSpPr/>
          <p:nvPr/>
        </p:nvGrpSpPr>
        <p:grpSpPr>
          <a:xfrm>
            <a:off x="6915150" y="2247900"/>
            <a:ext cx="1905000" cy="1905000"/>
            <a:chOff x="6915150" y="2247900"/>
            <a:chExt cx="1905000" cy="1905000"/>
          </a:xfrm>
        </p:grpSpPr>
        <p:sp>
          <p:nvSpPr>
            <p:cNvPr id="27" name="Rectangle 27"/>
            <p:cNvSpPr/>
            <p:nvPr/>
          </p:nvSpPr>
          <p:spPr>
            <a:xfrm>
              <a:off x="6915150" y="2247900"/>
              <a:ext cx="1905000" cy="1905000"/>
            </a:xfrm>
            <a:prstGeom prst="roundRect">
              <a:avLst>
                <a:gd name="adj" fmla="val 8000"/>
              </a:avLst>
            </a:prstGeom>
            <a:solidFill>
              <a:schemeClr val="accent1"/>
            </a:solidFill>
            <a:ln>
              <a:noFill/>
            </a:ln>
          </p:spPr>
        </p:sp>
        <p:sp>
          <p:nvSpPr>
            <p:cNvPr id="28" name="Freeform 28"/>
            <p:cNvSpPr/>
            <p:nvPr/>
          </p:nvSpPr>
          <p:spPr>
            <a:xfrm>
              <a:off x="7696200" y="2438400"/>
              <a:ext cx="342900" cy="457200"/>
            </a:xfrm>
            <a:custGeom>
              <a:avLst/>
              <a:gdLst/>
              <a:ahLst/>
              <a:cxnLst/>
              <a:rect l="l" t="t" r="r" b="b"/>
              <a:pathLst>
                <a:path w="342900" h="457200">
                  <a:moveTo>
                    <a:pt x="200025" y="200025"/>
                  </a:moveTo>
                  <a:lnTo>
                    <a:pt x="228600" y="0"/>
                  </a:lnTo>
                  <a:lnTo>
                    <a:pt x="171450" y="0"/>
                  </a:lnTo>
                  <a:lnTo>
                    <a:pt x="0" y="200025"/>
                  </a:lnTo>
                  <a:lnTo>
                    <a:pt x="0" y="257175"/>
                  </a:lnTo>
                  <a:lnTo>
                    <a:pt x="142875" y="257175"/>
                  </a:lnTo>
                  <a:lnTo>
                    <a:pt x="114300" y="457200"/>
                  </a:lnTo>
                  <a:lnTo>
                    <a:pt x="171450" y="457200"/>
                  </a:lnTo>
                  <a:lnTo>
                    <a:pt x="342900" y="257175"/>
                  </a:lnTo>
                  <a:lnTo>
                    <a:pt x="342900" y="200025"/>
                  </a:lnTo>
                  <a:lnTo>
                    <a:pt x="200025" y="200025"/>
                  </a:lnTo>
                  <a:close/>
                </a:path>
              </a:pathLst>
            </a:custGeom>
            <a:solidFill>
              <a:schemeClr val="accent3"/>
            </a:solidFill>
            <a:ln>
              <a:noFill/>
            </a:ln>
          </p:spPr>
        </p:sp>
        <p:sp>
          <p:nvSpPr>
            <p:cNvPr id="29" name="TextBox 29"/>
            <p:cNvSpPr txBox="1"/>
            <p:nvPr/>
          </p:nvSpPr>
          <p:spPr>
            <a:xfrm>
              <a:off x="7432929" y="3049905"/>
              <a:ext cx="869442"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変電所</a:t>
              </a:r>
            </a:p>
          </p:txBody>
        </p:sp>
        <p:sp>
          <p:nvSpPr>
            <p:cNvPr id="30" name="TextBox 30"/>
            <p:cNvSpPr txBox="1"/>
            <p:nvPr/>
          </p:nvSpPr>
          <p:spPr>
            <a:xfrm>
              <a:off x="7303961" y="3460432"/>
              <a:ext cx="1127379" cy="322707"/>
            </a:xfrm>
            <a:prstGeom prst="rect">
              <a:avLst/>
            </a:prstGeom>
            <a:noFill/>
            <a:ln>
              <a:noFill/>
            </a:ln>
          </p:spPr>
          <p:txBody>
            <a:bodyPr wrap="none" lIns="0" tIns="0" rIns="0" bIns="0" anchor="t" anchorCtr="0">
              <a:spAutoFit/>
            </a:bodyPr>
            <a:lstStyle/>
            <a:p>
              <a:pPr algn="ctr"/>
              <a:r>
                <a:rPr lang="ja-JP" sz="1650" dirty="0">
                  <a:solidFill>
                    <a:srgbClr val="F3ECDD"/>
                  </a:solidFill>
                  <a:latin typeface="+mn-lt"/>
                  <a:ea typeface="+mn-ea"/>
                  <a:cs typeface="+mn-cs"/>
                </a:rPr>
                <a:t>送電を停止</a:t>
              </a:r>
            </a:p>
          </p:txBody>
        </p:sp>
      </p:grpSp>
      <p:sp>
        <p:nvSpPr>
          <p:cNvPr id="32" name="Freeform 32"/>
          <p:cNvSpPr/>
          <p:nvPr/>
        </p:nvSpPr>
        <p:spPr>
          <a:xfrm>
            <a:off x="8896350" y="2952750"/>
            <a:ext cx="457200" cy="495300"/>
          </a:xfrm>
          <a:prstGeom prst="rightArrow">
            <a:avLst/>
          </a:prstGeom>
          <a:solidFill>
            <a:schemeClr val="accent3"/>
          </a:solidFill>
          <a:ln>
            <a:noFill/>
          </a:ln>
        </p:spPr>
      </p:sp>
      <p:grpSp>
        <p:nvGrpSpPr>
          <p:cNvPr id="37" name="Group 37"/>
          <p:cNvGrpSpPr/>
          <p:nvPr/>
        </p:nvGrpSpPr>
        <p:grpSpPr>
          <a:xfrm>
            <a:off x="9429750" y="2247900"/>
            <a:ext cx="2152650" cy="1905000"/>
            <a:chOff x="9429750" y="2247900"/>
            <a:chExt cx="2152650" cy="1905000"/>
          </a:xfrm>
        </p:grpSpPr>
        <p:sp>
          <p:nvSpPr>
            <p:cNvPr id="33" name="Rectangle 33"/>
            <p:cNvSpPr/>
            <p:nvPr/>
          </p:nvSpPr>
          <p:spPr>
            <a:xfrm>
              <a:off x="9429750" y="2247900"/>
              <a:ext cx="2152650" cy="1905000"/>
            </a:xfrm>
            <a:prstGeom prst="roundRect">
              <a:avLst>
                <a:gd name="adj" fmla="val 8000"/>
              </a:avLst>
            </a:prstGeom>
            <a:solidFill>
              <a:schemeClr val="accent2"/>
            </a:solidFill>
            <a:ln>
              <a:noFill/>
            </a:ln>
          </p:spPr>
        </p:sp>
        <p:sp>
          <p:nvSpPr>
            <p:cNvPr id="34" name="Freeform 34"/>
            <p:cNvSpPr/>
            <p:nvPr/>
          </p:nvSpPr>
          <p:spPr>
            <a:xfrm>
              <a:off x="10334625" y="2438400"/>
              <a:ext cx="342900" cy="457200"/>
            </a:xfrm>
            <a:custGeom>
              <a:avLst/>
              <a:gdLst/>
              <a:ahLst/>
              <a:cxnLst/>
              <a:rect l="l" t="t" r="r" b="b"/>
              <a:pathLst>
                <a:path w="342900" h="457200">
                  <a:moveTo>
                    <a:pt x="0" y="85725"/>
                  </a:moveTo>
                  <a:cubicBezTo>
                    <a:pt x="0" y="38381"/>
                    <a:pt x="38381" y="0"/>
                    <a:pt x="85725" y="0"/>
                  </a:cubicBezTo>
                  <a:lnTo>
                    <a:pt x="257175" y="0"/>
                  </a:lnTo>
                  <a:cubicBezTo>
                    <a:pt x="304521" y="0"/>
                    <a:pt x="342900" y="38381"/>
                    <a:pt x="342900" y="85725"/>
                  </a:cubicBezTo>
                  <a:lnTo>
                    <a:pt x="342900" y="314325"/>
                  </a:lnTo>
                  <a:cubicBezTo>
                    <a:pt x="342900" y="348855"/>
                    <a:pt x="322483" y="378619"/>
                    <a:pt x="293062" y="392200"/>
                  </a:cubicBezTo>
                  <a:lnTo>
                    <a:pt x="320920" y="457200"/>
                  </a:lnTo>
                  <a:lnTo>
                    <a:pt x="258744" y="457200"/>
                  </a:lnTo>
                  <a:lnTo>
                    <a:pt x="234249" y="400050"/>
                  </a:lnTo>
                  <a:lnTo>
                    <a:pt x="108649" y="400050"/>
                  </a:lnTo>
                  <a:lnTo>
                    <a:pt x="84156" y="457200"/>
                  </a:lnTo>
                  <a:lnTo>
                    <a:pt x="21979" y="457200"/>
                  </a:lnTo>
                  <a:lnTo>
                    <a:pt x="49837" y="392198"/>
                  </a:lnTo>
                  <a:cubicBezTo>
                    <a:pt x="20417" y="378619"/>
                    <a:pt x="0" y="348855"/>
                    <a:pt x="0" y="314325"/>
                  </a:cubicBezTo>
                  <a:lnTo>
                    <a:pt x="0" y="85725"/>
                  </a:lnTo>
                  <a:close/>
                  <a:moveTo>
                    <a:pt x="57150" y="85725"/>
                  </a:moveTo>
                  <a:lnTo>
                    <a:pt x="142875" y="85725"/>
                  </a:lnTo>
                  <a:lnTo>
                    <a:pt x="142875" y="200025"/>
                  </a:lnTo>
                  <a:lnTo>
                    <a:pt x="57150" y="200025"/>
                  </a:lnTo>
                  <a:lnTo>
                    <a:pt x="57150" y="85725"/>
                  </a:lnTo>
                  <a:close/>
                  <a:moveTo>
                    <a:pt x="285750" y="85725"/>
                  </a:moveTo>
                  <a:lnTo>
                    <a:pt x="200025" y="85725"/>
                  </a:lnTo>
                  <a:lnTo>
                    <a:pt x="200025" y="200025"/>
                  </a:lnTo>
                  <a:lnTo>
                    <a:pt x="285750" y="200025"/>
                  </a:lnTo>
                  <a:lnTo>
                    <a:pt x="285750" y="85725"/>
                  </a:lnTo>
                  <a:close/>
                  <a:moveTo>
                    <a:pt x="200025" y="285750"/>
                  </a:moveTo>
                  <a:cubicBezTo>
                    <a:pt x="200025" y="301532"/>
                    <a:pt x="187231" y="314325"/>
                    <a:pt x="171450" y="314325"/>
                  </a:cubicBezTo>
                  <a:cubicBezTo>
                    <a:pt x="155669" y="314325"/>
                    <a:pt x="142875" y="301532"/>
                    <a:pt x="142875" y="285750"/>
                  </a:cubicBezTo>
                  <a:cubicBezTo>
                    <a:pt x="142875" y="269968"/>
                    <a:pt x="155669" y="257175"/>
                    <a:pt x="171450" y="257175"/>
                  </a:cubicBezTo>
                  <a:cubicBezTo>
                    <a:pt x="187231" y="257175"/>
                    <a:pt x="200025" y="269968"/>
                    <a:pt x="200025" y="285750"/>
                  </a:cubicBezTo>
                  <a:close/>
                </a:path>
              </a:pathLst>
            </a:custGeom>
            <a:solidFill>
              <a:schemeClr val="lt1"/>
            </a:solidFill>
            <a:ln>
              <a:noFill/>
            </a:ln>
          </p:spPr>
        </p:sp>
        <p:sp>
          <p:nvSpPr>
            <p:cNvPr id="35" name="TextBox 35"/>
            <p:cNvSpPr txBox="1"/>
            <p:nvPr/>
          </p:nvSpPr>
          <p:spPr>
            <a:xfrm>
              <a:off x="10212705" y="3049905"/>
              <a:ext cx="586740"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列車</a:t>
              </a:r>
            </a:p>
          </p:txBody>
        </p:sp>
        <p:sp>
          <p:nvSpPr>
            <p:cNvPr id="36" name="TextBox 36"/>
            <p:cNvSpPr txBox="1"/>
            <p:nvPr/>
          </p:nvSpPr>
          <p:spPr>
            <a:xfrm>
              <a:off x="9764268" y="3460432"/>
              <a:ext cx="1483614" cy="608457"/>
            </a:xfrm>
            <a:prstGeom prst="rect">
              <a:avLst/>
            </a:prstGeom>
            <a:noFill/>
            <a:ln>
              <a:noFill/>
            </a:ln>
          </p:spPr>
          <p:txBody>
            <a:bodyPr wrap="none" lIns="0" tIns="0" rIns="0" bIns="0" anchor="t" anchorCtr="0">
              <a:spAutoFit/>
            </a:bodyPr>
            <a:lstStyle/>
            <a:p>
              <a:pPr algn="ctr">
                <a:lnSpc>
                  <a:spcPts val="2250"/>
                </a:lnSpc>
              </a:pPr>
              <a:r>
                <a:rPr lang="ja-JP" sz="1650" dirty="0">
                  <a:solidFill>
                    <a:srgbClr val="F3ECDD"/>
                  </a:solidFill>
                  <a:latin typeface="+mn-lt"/>
                  <a:ea typeface="+mn-ea"/>
                  <a:cs typeface="+mn-cs"/>
                </a:rPr>
                <a:t>非常ブレーキで</a:t>
              </a:r>
              <a:br/>
              <a:r>
                <a:rPr lang="ja-JP" sz="1650" dirty="0">
                  <a:solidFill>
                    <a:srgbClr val="F3ECDD"/>
                  </a:solidFill>
                  <a:latin typeface="+mn-lt"/>
                  <a:ea typeface="+mn-ea"/>
                  <a:cs typeface="+mn-cs"/>
                </a:rPr>
                <a:t>自動的に停止</a:t>
              </a:r>
            </a:p>
          </p:txBody>
        </p:sp>
      </p:grpSp>
      <p:grpSp>
        <p:nvGrpSpPr>
          <p:cNvPr id="49" name="Group 49"/>
          <p:cNvGrpSpPr/>
          <p:nvPr/>
        </p:nvGrpSpPr>
        <p:grpSpPr>
          <a:xfrm>
            <a:off x="609600" y="4419600"/>
            <a:ext cx="10972800" cy="1562100"/>
            <a:chOff x="609600" y="4419600"/>
            <a:chExt cx="10972800" cy="1562100"/>
          </a:xfrm>
        </p:grpSpPr>
        <p:sp>
          <p:nvSpPr>
            <p:cNvPr id="38" name="Rectangle 38"/>
            <p:cNvSpPr/>
            <p:nvPr/>
          </p:nvSpPr>
          <p:spPr>
            <a:xfrm>
              <a:off x="609600" y="4419600"/>
              <a:ext cx="10972800" cy="1562100"/>
            </a:xfrm>
            <a:prstGeom prst="roundRect">
              <a:avLst>
                <a:gd name="adj" fmla="val 9756"/>
              </a:avLst>
            </a:prstGeom>
            <a:solidFill>
              <a:schemeClr val="lt2"/>
            </a:solidFill>
            <a:ln>
              <a:noFill/>
            </a:ln>
          </p:spPr>
        </p:sp>
        <p:sp>
          <p:nvSpPr>
            <p:cNvPr id="39" name="TextBox 39"/>
            <p:cNvSpPr txBox="1"/>
            <p:nvPr/>
          </p:nvSpPr>
          <p:spPr>
            <a:xfrm>
              <a:off x="829818" y="4546282"/>
              <a:ext cx="2682240"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より早く気づくための改良</a:t>
              </a:r>
            </a:p>
          </p:txBody>
        </p:sp>
        <p:grpSp>
          <p:nvGrpSpPr>
            <p:cNvPr id="42" name="Group 42"/>
            <p:cNvGrpSpPr/>
            <p:nvPr/>
          </p:nvGrpSpPr>
          <p:grpSpPr>
            <a:xfrm>
              <a:off x="4419600" y="4914900"/>
              <a:ext cx="3743325" cy="952500"/>
              <a:chOff x="4419600" y="4914900"/>
              <a:chExt cx="3743325" cy="952500"/>
            </a:xfrm>
          </p:grpSpPr>
          <p:sp>
            <p:nvSpPr>
              <p:cNvPr id="40" name="Line 40"/>
              <p:cNvSpPr/>
              <p:nvPr/>
            </p:nvSpPr>
            <p:spPr>
              <a:xfrm>
                <a:off x="4419600" y="4914900"/>
                <a:ext cx="9525" cy="952500"/>
              </a:xfrm>
              <a:custGeom>
                <a:avLst/>
                <a:gdLst/>
                <a:ahLst/>
                <a:cxnLst/>
                <a:rect l="l" t="t" r="r" b="b"/>
                <a:pathLst>
                  <a:path w="9525" h="952500">
                    <a:moveTo>
                      <a:pt x="0" y="0"/>
                    </a:moveTo>
                    <a:lnTo>
                      <a:pt x="0" y="952500"/>
                    </a:lnTo>
                  </a:path>
                </a:pathLst>
              </a:custGeom>
              <a:noFill/>
              <a:ln w="19050">
                <a:solidFill>
                  <a:schemeClr val="accent6"/>
                </a:solidFill>
              </a:ln>
            </p:spPr>
          </p:sp>
          <p:sp>
            <p:nvSpPr>
              <p:cNvPr id="41" name="Line 41"/>
              <p:cNvSpPr/>
              <p:nvPr/>
            </p:nvSpPr>
            <p:spPr>
              <a:xfrm>
                <a:off x="8153400" y="4914900"/>
                <a:ext cx="9525" cy="952500"/>
              </a:xfrm>
              <a:custGeom>
                <a:avLst/>
                <a:gdLst/>
                <a:ahLst/>
                <a:cxnLst/>
                <a:rect l="l" t="t" r="r" b="b"/>
                <a:pathLst>
                  <a:path w="9525" h="952500">
                    <a:moveTo>
                      <a:pt x="0" y="0"/>
                    </a:moveTo>
                    <a:lnTo>
                      <a:pt x="0" y="952500"/>
                    </a:lnTo>
                  </a:path>
                </a:pathLst>
              </a:custGeom>
              <a:noFill/>
              <a:ln w="19050">
                <a:solidFill>
                  <a:schemeClr val="accent6"/>
                </a:solidFill>
              </a:ln>
            </p:spPr>
          </p:sp>
        </p:grpSp>
        <p:sp>
          <p:nvSpPr>
            <p:cNvPr id="43" name="TextBox 43"/>
            <p:cNvSpPr txBox="1"/>
            <p:nvPr/>
          </p:nvSpPr>
          <p:spPr>
            <a:xfrm>
              <a:off x="826008" y="4960620"/>
              <a:ext cx="1230310" cy="469392"/>
            </a:xfrm>
            <a:prstGeom prst="rect">
              <a:avLst/>
            </a:prstGeom>
            <a:noFill/>
            <a:ln>
              <a:noFill/>
            </a:ln>
          </p:spPr>
          <p:txBody>
            <a:bodyPr wrap="none" lIns="0" tIns="0" rIns="0" bIns="0" anchor="t" anchorCtr="0">
              <a:spAutoFit/>
            </a:bodyPr>
            <a:lstStyle/>
            <a:p>
              <a:pPr algn="l"/>
              <a:r>
                <a:rPr lang="ja-JP" sz="2400" b="1" dirty="0">
                  <a:solidFill>
                    <a:schemeClr val="accent2"/>
                  </a:solidFill>
                  <a:latin typeface="+mn-lt"/>
                  <a:ea typeface="+mn-ea"/>
                  <a:cs typeface="+mn-cs"/>
                </a:rPr>
                <a:t>2秒→1秒</a:t>
              </a:r>
            </a:p>
          </p:txBody>
        </p:sp>
        <p:sp>
          <p:nvSpPr>
            <p:cNvPr id="44" name="TextBox 44"/>
            <p:cNvSpPr txBox="1"/>
            <p:nvPr/>
          </p:nvSpPr>
          <p:spPr>
            <a:xfrm>
              <a:off x="829818" y="5384482"/>
              <a:ext cx="3160014" cy="589407"/>
            </a:xfrm>
            <a:prstGeom prst="rect">
              <a:avLst/>
            </a:prstGeom>
            <a:noFill/>
            <a:ln>
              <a:noFill/>
            </a:ln>
          </p:spPr>
          <p:txBody>
            <a:bodyPr wrap="none" lIns="0" tIns="0" rIns="0" bIns="0" anchor="t" anchorCtr="0">
              <a:spAutoFit/>
            </a:bodyPr>
            <a:lstStyle/>
            <a:p>
              <a:pPr algn="l">
                <a:lnSpc>
                  <a:spcPts val="2100"/>
                </a:lnSpc>
              </a:pPr>
              <a:r>
                <a:rPr lang="ja-JP" sz="1650" dirty="0">
                  <a:solidFill>
                    <a:schemeClr val="dk1"/>
                  </a:solidFill>
                  <a:latin typeface="+mn-lt"/>
                  <a:ea typeface="+mn-ea"/>
                  <a:cs typeface="+mn-cs"/>
                </a:rPr>
                <a:t>規模・震央の推定に必要なデータ</a:t>
              </a:r>
              <a:br/>
              <a:r>
                <a:rPr lang="ja-JP" sz="1650" dirty="0">
                  <a:solidFill>
                    <a:schemeClr val="accent5"/>
                  </a:solidFill>
                  <a:latin typeface="+mn-lt"/>
                  <a:ea typeface="+mn-ea"/>
                  <a:cs typeface="+mn-cs"/>
                </a:rPr>
                <a:t>(2017年発表の改良)</a:t>
              </a:r>
            </a:p>
          </p:txBody>
        </p:sp>
        <p:sp>
          <p:nvSpPr>
            <p:cNvPr id="45" name="TextBox 45"/>
            <p:cNvSpPr txBox="1"/>
            <p:nvPr/>
          </p:nvSpPr>
          <p:spPr>
            <a:xfrm>
              <a:off x="4559808" y="4960620"/>
              <a:ext cx="2895829" cy="469392"/>
            </a:xfrm>
            <a:prstGeom prst="rect">
              <a:avLst/>
            </a:prstGeom>
            <a:noFill/>
            <a:ln>
              <a:noFill/>
            </a:ln>
          </p:spPr>
          <p:txBody>
            <a:bodyPr wrap="none" lIns="0" tIns="0" rIns="0" bIns="0" anchor="t" anchorCtr="0">
              <a:spAutoFit/>
            </a:bodyPr>
            <a:lstStyle/>
            <a:p>
              <a:pPr algn="l"/>
              <a:r>
                <a:rPr lang="ja-JP" sz="2400" b="1" dirty="0">
                  <a:solidFill>
                    <a:schemeClr val="accent2"/>
                  </a:solidFill>
                  <a:latin typeface="+mn-lt"/>
                  <a:ea typeface="+mn-ea"/>
                  <a:cs typeface="+mn-cs"/>
                </a:rPr>
                <a:t>最大約15秒/約30秒</a:t>
              </a:r>
            </a:p>
          </p:txBody>
        </p:sp>
        <p:sp>
          <p:nvSpPr>
            <p:cNvPr id="46" name="TextBox 46"/>
            <p:cNvSpPr txBox="1"/>
            <p:nvPr/>
          </p:nvSpPr>
          <p:spPr>
            <a:xfrm>
              <a:off x="4563618" y="5384482"/>
              <a:ext cx="2531364" cy="589407"/>
            </a:xfrm>
            <a:prstGeom prst="rect">
              <a:avLst/>
            </a:prstGeom>
            <a:noFill/>
            <a:ln>
              <a:noFill/>
            </a:ln>
          </p:spPr>
          <p:txBody>
            <a:bodyPr wrap="none" lIns="0" tIns="0" rIns="0" bIns="0" anchor="t" anchorCtr="0">
              <a:spAutoFit/>
            </a:bodyPr>
            <a:lstStyle/>
            <a:p>
              <a:pPr algn="l">
                <a:lnSpc>
                  <a:spcPts val="2100"/>
                </a:lnSpc>
              </a:pPr>
              <a:r>
                <a:rPr lang="ja-JP" sz="1650" dirty="0">
                  <a:solidFill>
                    <a:schemeClr val="dk1"/>
                  </a:solidFill>
                  <a:latin typeface="+mn-lt"/>
                  <a:ea typeface="+mn-ea"/>
                  <a:cs typeface="+mn-cs"/>
                </a:rPr>
                <a:t>海底地震観測網で早く検知</a:t>
              </a:r>
              <a:br/>
              <a:r>
                <a:rPr lang="ja-JP" sz="1650" dirty="0">
                  <a:solidFill>
                    <a:schemeClr val="accent5"/>
                  </a:solidFill>
                  <a:latin typeface="+mn-lt"/>
                  <a:ea typeface="+mn-ea"/>
                  <a:cs typeface="+mn-cs"/>
                </a:rPr>
                <a:t>(南海トラフ/日本海溝)</a:t>
              </a:r>
            </a:p>
          </p:txBody>
        </p:sp>
        <p:sp>
          <p:nvSpPr>
            <p:cNvPr id="47" name="TextBox 47"/>
            <p:cNvSpPr txBox="1"/>
            <p:nvPr/>
          </p:nvSpPr>
          <p:spPr>
            <a:xfrm>
              <a:off x="8293608" y="4960620"/>
              <a:ext cx="993648" cy="469392"/>
            </a:xfrm>
            <a:prstGeom prst="rect">
              <a:avLst/>
            </a:prstGeom>
            <a:noFill/>
            <a:ln>
              <a:noFill/>
            </a:ln>
          </p:spPr>
          <p:txBody>
            <a:bodyPr wrap="none" lIns="0" tIns="0" rIns="0" bIns="0" anchor="t" anchorCtr="0">
              <a:spAutoFit/>
            </a:bodyPr>
            <a:lstStyle/>
            <a:p>
              <a:pPr algn="l"/>
              <a:r>
                <a:rPr lang="ja-JP" sz="2400" b="1" dirty="0">
                  <a:solidFill>
                    <a:schemeClr val="accent2"/>
                  </a:solidFill>
                  <a:latin typeface="+mn-lt"/>
                  <a:ea typeface="+mn-ea"/>
                  <a:cs typeface="+mn-cs"/>
                </a:rPr>
                <a:t>テラス</a:t>
              </a:r>
            </a:p>
          </p:txBody>
        </p:sp>
        <p:sp>
          <p:nvSpPr>
            <p:cNvPr id="48" name="TextBox 48"/>
            <p:cNvSpPr txBox="1"/>
            <p:nvPr/>
          </p:nvSpPr>
          <p:spPr>
            <a:xfrm>
              <a:off x="8297418" y="5384482"/>
              <a:ext cx="2992374" cy="589407"/>
            </a:xfrm>
            <a:prstGeom prst="rect">
              <a:avLst/>
            </a:prstGeom>
            <a:noFill/>
            <a:ln>
              <a:noFill/>
            </a:ln>
          </p:spPr>
          <p:txBody>
            <a:bodyPr wrap="none" lIns="0" tIns="0" rIns="0" bIns="0" anchor="t" anchorCtr="0">
              <a:spAutoFit/>
            </a:bodyPr>
            <a:lstStyle/>
            <a:p>
              <a:pPr algn="l">
                <a:lnSpc>
                  <a:spcPts val="2100"/>
                </a:lnSpc>
              </a:pPr>
              <a:r>
                <a:rPr lang="ja-JP" sz="1650" dirty="0">
                  <a:solidFill>
                    <a:schemeClr val="dk1"/>
                  </a:solidFill>
                  <a:latin typeface="+mn-lt"/>
                  <a:ea typeface="+mn-ea"/>
                  <a:cs typeface="+mn-cs"/>
                </a:rPr>
                <a:t>早期地震警報システムの通称</a:t>
              </a:r>
              <a:br/>
              <a:r>
                <a:rPr lang="ja-JP" sz="1650" dirty="0">
                  <a:solidFill>
                    <a:schemeClr val="accent5"/>
                  </a:solidFill>
                  <a:latin typeface="+mn-lt"/>
                  <a:ea typeface="+mn-ea"/>
                  <a:cs typeface="+mn-cs"/>
                </a:rPr>
                <a:t>2008年から緊急地震速報と併用</a:t>
              </a:r>
            </a:p>
          </p:txBody>
        </p:sp>
      </p:grpSp>
      <p:grpSp>
        <p:nvGrpSpPr>
          <p:cNvPr id="52" name="Group 52"/>
          <p:cNvGrpSpPr/>
          <p:nvPr/>
        </p:nvGrpSpPr>
        <p:grpSpPr>
          <a:xfrm>
            <a:off x="603504" y="6195060"/>
            <a:ext cx="10984992" cy="444246"/>
            <a:chOff x="603504" y="6195060"/>
            <a:chExt cx="10984992" cy="444246"/>
          </a:xfrm>
        </p:grpSpPr>
        <p:sp>
          <p:nvSpPr>
            <p:cNvPr id="50" name="TextBox 50"/>
            <p:cNvSpPr txBox="1"/>
            <p:nvPr/>
          </p:nvSpPr>
          <p:spPr>
            <a:xfrm>
              <a:off x="603504" y="6195060"/>
              <a:ext cx="873709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流れ図はJR東海資料をもとに当資料で整理。地震計の箇所数は2017年10月発表時点(緊急地震速報は気象庁の地震計約1,000)。</a:t>
              </a:r>
              <a:br/>
              <a:r>
                <a:rPr lang="ja-JP" sz="1200" dirty="0">
                  <a:solidFill>
                    <a:schemeClr val="accent5"/>
                  </a:solidFill>
                  <a:latin typeface="+mn-lt"/>
                  <a:ea typeface="+mn-ea"/>
                  <a:cs typeface="+mn-cs"/>
                </a:rPr>
                <a:t>出典:JR東海 ニュースリリース(2017年10月30日「地震検知の早期化」/2012年4月23日「地震防災システムの機能強化」)</a:t>
              </a:r>
            </a:p>
          </p:txBody>
        </p:sp>
        <p:sp>
          <p:nvSpPr>
            <p:cNvPr id="51" name="TextBox 51"/>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400"/>
                                        <p:tgtEl>
                                          <p:spTgt spid="13"/>
                                        </p:tgtEl>
                                      </p:cBhvr>
                                    </p:animEffect>
                                  </p:childTnLst>
                                </p:cTn>
                              </p:par>
                            </p:childTnLst>
                          </p:cTn>
                        </p:par>
                        <p:par>
                          <p:cTn id="8" fill="hold">
                            <p:stCondLst>
                              <p:cond delay="400"/>
                            </p:stCondLst>
                            <p:childTnLst>
                              <p:par>
                                <p:cTn xmlns:p="http://schemas.openxmlformats.org/presentationml/2006/main" id="9" presetID="22" presetClass="entr" presetSubtype="8" fill="hold" grpId="0" nodeType="afterEffect">
                                  <p:stCondLst>
                                    <p:cond delay="50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400"/>
                                        <p:tgtEl>
                                          <p:spTgt spid="25"/>
                                        </p:tgtEl>
                                      </p:cBhvr>
                                    </p:animEffect>
                                  </p:childTnLst>
                                </p:cTn>
                              </p:par>
                            </p:childTnLst>
                          </p:cTn>
                        </p:par>
                        <p:par>
                          <p:cTn id="12" fill="hold">
                            <p:stCondLst>
                              <p:cond delay="1300"/>
                            </p:stCondLst>
                            <p:childTnLst>
                              <p:par>
                                <p:cTn xmlns:p="http://schemas.openxmlformats.org/presentationml/2006/main" id="13" presetID="22" presetClass="entr" presetSubtype="8" fill="hold" grpId="0" nodeType="afterEffect">
                                  <p:stCondLst>
                                    <p:cond delay="500"/>
                                  </p:stCondLst>
                                  <p:childTnLst>
                                    <p:set>
                                      <p:cBhvr>
                                        <p:cTn id="14" dur="1" fill="hold">
                                          <p:stCondLst>
                                            <p:cond delay="0"/>
                                          </p:stCondLst>
                                        </p:cTn>
                                        <p:tgtEl>
                                          <p:spTgt spid="31"/>
                                        </p:tgtEl>
                                        <p:attrNameLst>
                                          <p:attrName>style.visibility</p:attrName>
                                        </p:attrNameLst>
                                      </p:cBhvr>
                                      <p:to>
                                        <p:strVal val="visible"/>
                                      </p:to>
                                    </p:set>
                                    <p:animEffect transition="in" filter="wipe(left)">
                                      <p:cBhvr>
                                        <p:cTn id="15" dur="400"/>
                                        <p:tgtEl>
                                          <p:spTgt spid="31"/>
                                        </p:tgtEl>
                                      </p:cBhvr>
                                    </p:animEffect>
                                  </p:childTnLst>
                                </p:cTn>
                              </p:par>
                            </p:childTnLst>
                          </p:cTn>
                        </p:par>
                        <p:par>
                          <p:cTn id="16" fill="hold">
                            <p:stCondLst>
                              <p:cond delay="2200"/>
                            </p:stCondLst>
                            <p:childTnLst>
                              <p:par>
                                <p:cTn xmlns:p="http://schemas.openxmlformats.org/presentationml/2006/main" id="17" presetID="22" presetClass="entr" presetSubtype="8" fill="hold" grpId="0" nodeType="afterEffect">
                                  <p:stCondLst>
                                    <p:cond delay="500"/>
                                  </p:stCondLst>
                                  <p:childTnLst>
                                    <p:set>
                                      <p:cBhvr>
                                        <p:cTn id="18" dur="1" fill="hold">
                                          <p:stCondLst>
                                            <p:cond delay="0"/>
                                          </p:stCondLst>
                                        </p:cTn>
                                        <p:tgtEl>
                                          <p:spTgt spid="37"/>
                                        </p:tgtEl>
                                        <p:attrNameLst>
                                          <p:attrName>style.visibility</p:attrName>
                                        </p:attrNameLst>
                                      </p:cBhvr>
                                      <p:to>
                                        <p:strVal val="visible"/>
                                      </p:to>
                                    </p:set>
                                    <p:animEffect transition="in" filter="wipe(left)">
                                      <p:cBhvr>
                                        <p:cTn id="19"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1312" y="601980"/>
            <a:ext cx="8753856" cy="1132332"/>
            <a:chOff x="591312" y="601980"/>
            <a:chExt cx="8753856" cy="1132332"/>
          </a:xfrm>
        </p:grpSpPr>
        <p:sp>
          <p:nvSpPr>
            <p:cNvPr id="2" name="TextBox 2"/>
            <p:cNvSpPr txBox="1"/>
            <p:nvPr/>
          </p:nvSpPr>
          <p:spPr>
            <a:xfrm>
              <a:off x="591312" y="601980"/>
              <a:ext cx="6336792"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止めたあとも、脱線させない</a:t>
              </a:r>
            </a:p>
          </p:txBody>
        </p:sp>
        <p:sp>
          <p:nvSpPr>
            <p:cNvPr id="3" name="TextBox 3"/>
            <p:cNvSpPr txBox="1"/>
            <p:nvPr/>
          </p:nvSpPr>
          <p:spPr>
            <a:xfrm>
              <a:off x="597408" y="1264920"/>
              <a:ext cx="8747760"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脱線を防ぐガード、壊れにくい構造物、長く使うための改修</a:t>
              </a:r>
            </a:p>
          </p:txBody>
        </p:sp>
      </p:grpSp>
      <p:grpSp>
        <p:nvGrpSpPr>
          <p:cNvPr id="10" name="Group 10"/>
          <p:cNvGrpSpPr/>
          <p:nvPr/>
        </p:nvGrpSpPr>
        <p:grpSpPr>
          <a:xfrm>
            <a:off x="590550" y="1974532"/>
            <a:ext cx="5746683" cy="2533841"/>
            <a:chOff x="590550" y="1974532"/>
            <a:chExt cx="5746683" cy="2533841"/>
          </a:xfrm>
        </p:grpSpPr>
        <p:sp>
          <p:nvSpPr>
            <p:cNvPr id="5" name="TextBox 5"/>
            <p:cNvSpPr txBox="1"/>
            <p:nvPr/>
          </p:nvSpPr>
          <p:spPr>
            <a:xfrm>
              <a:off x="601218" y="1974532"/>
              <a:ext cx="1571625"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脱線防止ガード</a:t>
              </a:r>
            </a:p>
          </p:txBody>
        </p:sp>
        <p:sp>
          <p:nvSpPr>
            <p:cNvPr id="6" name="TextBox 6"/>
            <p:cNvSpPr txBox="1"/>
            <p:nvPr/>
          </p:nvSpPr>
          <p:spPr>
            <a:xfrm>
              <a:off x="590550" y="2322195"/>
              <a:ext cx="5746683" cy="1905000"/>
            </a:xfrm>
            <a:prstGeom prst="rect">
              <a:avLst/>
            </a:prstGeom>
            <a:noFill/>
            <a:ln>
              <a:noFill/>
            </a:ln>
          </p:spPr>
          <p:txBody>
            <a:bodyPr wrap="none" lIns="0" tIns="0" rIns="0" bIns="0" anchor="t" anchorCtr="0">
              <a:spAutoFit/>
            </a:bodyPr>
            <a:lstStyle/>
            <a:p>
              <a:pPr algn="l"/>
              <a:r>
                <a:rPr lang="ja-JP" sz="9900" b="1" dirty="0">
                  <a:solidFill>
                    <a:schemeClr val="accent2"/>
                  </a:solidFill>
                  <a:latin typeface="Arial Black"/>
                  <a:ea typeface="Yu Gothic"/>
                  <a:cs typeface="Arial Black"/>
                </a:rPr>
                <a:t>約937km</a:t>
              </a:r>
            </a:p>
          </p:txBody>
        </p:sp>
        <p:sp>
          <p:nvSpPr>
            <p:cNvPr id="7" name="TextBox 7"/>
            <p:cNvSpPr txBox="1"/>
            <p:nvPr/>
          </p:nvSpPr>
          <p:spPr>
            <a:xfrm>
              <a:off x="601218" y="3669982"/>
              <a:ext cx="3415246" cy="322707"/>
            </a:xfrm>
            <a:prstGeom prst="rect">
              <a:avLst/>
            </a:prstGeom>
            <a:noFill/>
            <a:ln>
              <a:noFill/>
            </a:ln>
          </p:spPr>
          <p:txBody>
            <a:bodyPr wrap="none" lIns="0" tIns="0" rIns="0" bIns="0" anchor="t" anchorCtr="0">
              <a:spAutoFit/>
            </a:bodyPr>
            <a:lstStyle/>
            <a:p>
              <a:pPr algn="l"/>
              <a:r>
                <a:rPr lang="ja-JP" sz="1650" dirty="0">
                  <a:solidFill>
                    <a:schemeClr val="accent5"/>
                  </a:solidFill>
                  <a:latin typeface="+mn-lt"/>
                  <a:ea typeface="+mn-ea"/>
                  <a:cs typeface="+mn-cs"/>
                </a:rPr>
                <a:t>敷設が完了した延長(2025年度末)</a:t>
              </a:r>
            </a:p>
          </p:txBody>
        </p:sp>
        <p:sp>
          <p:nvSpPr>
            <p:cNvPr id="8" name="Freeform 8"/>
            <p:cNvSpPr/>
            <p:nvPr/>
          </p:nvSpPr>
          <p:spPr>
            <a:xfrm>
              <a:off x="631031" y="4060031"/>
              <a:ext cx="300038" cy="321469"/>
            </a:xfrm>
            <a:custGeom>
              <a:avLst/>
              <a:gdLst/>
              <a:ahLst/>
              <a:cxnLst/>
              <a:rect l="l" t="t" r="r" b="b"/>
              <a:pathLst>
                <a:path w="300038" h="321469">
                  <a:moveTo>
                    <a:pt x="0" y="0"/>
                  </a:moveTo>
                  <a:lnTo>
                    <a:pt x="0" y="321469"/>
                  </a:lnTo>
                  <a:lnTo>
                    <a:pt x="42862" y="321469"/>
                  </a:lnTo>
                  <a:lnTo>
                    <a:pt x="42862" y="192881"/>
                  </a:lnTo>
                  <a:lnTo>
                    <a:pt x="128588" y="192881"/>
                  </a:lnTo>
                  <a:lnTo>
                    <a:pt x="171450" y="235744"/>
                  </a:lnTo>
                  <a:lnTo>
                    <a:pt x="300038" y="235744"/>
                  </a:lnTo>
                  <a:lnTo>
                    <a:pt x="300038" y="42862"/>
                  </a:lnTo>
                  <a:lnTo>
                    <a:pt x="171450" y="42862"/>
                  </a:lnTo>
                  <a:lnTo>
                    <a:pt x="128588" y="0"/>
                  </a:lnTo>
                  <a:lnTo>
                    <a:pt x="0" y="0"/>
                  </a:lnTo>
                  <a:close/>
                </a:path>
              </a:pathLst>
            </a:custGeom>
            <a:solidFill>
              <a:schemeClr val="accent1"/>
            </a:solidFill>
            <a:ln>
              <a:noFill/>
            </a:ln>
          </p:spPr>
        </p:sp>
        <p:sp>
          <p:nvSpPr>
            <p:cNvPr id="9" name="TextBox 9"/>
            <p:cNvSpPr txBox="1"/>
            <p:nvPr/>
          </p:nvSpPr>
          <p:spPr>
            <a:xfrm>
              <a:off x="1037082" y="4097655"/>
              <a:ext cx="4349504" cy="410718"/>
            </a:xfrm>
            <a:prstGeom prst="rect">
              <a:avLst/>
            </a:prstGeom>
            <a:noFill/>
            <a:ln>
              <a:noFill/>
            </a:ln>
          </p:spPr>
          <p:txBody>
            <a:bodyPr wrap="none" lIns="0" tIns="0" rIns="0" bIns="0" anchor="t" anchorCtr="0">
              <a:spAutoFit/>
            </a:bodyPr>
            <a:lstStyle/>
            <a:p>
              <a:pPr algn="l"/>
              <a:r>
                <a:rPr lang="ja-JP" sz="2100" b="1" dirty="0">
                  <a:solidFill>
                    <a:schemeClr val="accent1"/>
                  </a:solidFill>
                  <a:latin typeface="+mn-lt"/>
                  <a:ea typeface="+mn-ea"/>
                  <a:cs typeface="+mn-cs"/>
                </a:rPr>
                <a:t>2028年度までに全線完了の見込み</a:t>
              </a:r>
            </a:p>
          </p:txBody>
        </p:sp>
      </p:grpSp>
      <p:grpSp>
        <p:nvGrpSpPr>
          <p:cNvPr id="14" name="Group 14"/>
          <p:cNvGrpSpPr/>
          <p:nvPr/>
        </p:nvGrpSpPr>
        <p:grpSpPr>
          <a:xfrm>
            <a:off x="633412" y="4876800"/>
            <a:ext cx="4251770" cy="1097089"/>
            <a:chOff x="633412" y="4876800"/>
            <a:chExt cx="4251770" cy="1097089"/>
          </a:xfrm>
        </p:grpSpPr>
        <p:sp>
          <p:nvSpPr>
            <p:cNvPr id="11" name="Freeform 11"/>
            <p:cNvSpPr/>
            <p:nvPr/>
          </p:nvSpPr>
          <p:spPr>
            <a:xfrm>
              <a:off x="633412" y="4876800"/>
              <a:ext cx="333375" cy="381000"/>
            </a:xfrm>
            <a:custGeom>
              <a:avLst/>
              <a:gdLst/>
              <a:ahLst/>
              <a:cxnLst/>
              <a:rect l="l" t="t" r="r" b="b"/>
              <a:pathLst>
                <a:path w="333375" h="381000">
                  <a:moveTo>
                    <a:pt x="166688" y="381000"/>
                  </a:moveTo>
                  <a:lnTo>
                    <a:pt x="79774" y="318918"/>
                  </a:lnTo>
                  <a:cubicBezTo>
                    <a:pt x="29712" y="283159"/>
                    <a:pt x="0" y="225425"/>
                    <a:pt x="0" y="163903"/>
                  </a:cubicBezTo>
                  <a:lnTo>
                    <a:pt x="0" y="71438"/>
                  </a:lnTo>
                  <a:lnTo>
                    <a:pt x="166688" y="0"/>
                  </a:lnTo>
                  <a:lnTo>
                    <a:pt x="333375" y="71438"/>
                  </a:lnTo>
                  <a:lnTo>
                    <a:pt x="333375" y="163903"/>
                  </a:lnTo>
                  <a:cubicBezTo>
                    <a:pt x="333375" y="225425"/>
                    <a:pt x="303664" y="283159"/>
                    <a:pt x="253601" y="318918"/>
                  </a:cubicBezTo>
                  <a:lnTo>
                    <a:pt x="166688" y="381000"/>
                  </a:lnTo>
                  <a:close/>
                  <a:moveTo>
                    <a:pt x="266869" y="135901"/>
                  </a:moveTo>
                  <a:lnTo>
                    <a:pt x="233193" y="102224"/>
                  </a:lnTo>
                  <a:lnTo>
                    <a:pt x="142875" y="192543"/>
                  </a:lnTo>
                  <a:lnTo>
                    <a:pt x="100182" y="149849"/>
                  </a:lnTo>
                  <a:lnTo>
                    <a:pt x="66506" y="183526"/>
                  </a:lnTo>
                  <a:lnTo>
                    <a:pt x="142875" y="259894"/>
                  </a:lnTo>
                  <a:lnTo>
                    <a:pt x="266869" y="135901"/>
                  </a:lnTo>
                  <a:close/>
                </a:path>
              </a:pathLst>
            </a:custGeom>
            <a:solidFill>
              <a:schemeClr val="accent1"/>
            </a:solidFill>
            <a:ln>
              <a:noFill/>
            </a:ln>
          </p:spPr>
        </p:sp>
        <p:sp>
          <p:nvSpPr>
            <p:cNvPr id="12" name="TextBox 12"/>
            <p:cNvSpPr txBox="1"/>
            <p:nvPr/>
          </p:nvSpPr>
          <p:spPr>
            <a:xfrm>
              <a:off x="1094232" y="4954905"/>
              <a:ext cx="2282952" cy="410718"/>
            </a:xfrm>
            <a:prstGeom prst="rect">
              <a:avLst/>
            </a:prstGeom>
            <a:noFill/>
            <a:ln>
              <a:noFill/>
            </a:ln>
          </p:spPr>
          <p:txBody>
            <a:bodyPr wrap="none" lIns="0" tIns="0" rIns="0" bIns="0" anchor="t" anchorCtr="0">
              <a:spAutoFit/>
            </a:bodyPr>
            <a:lstStyle/>
            <a:p>
              <a:pPr algn="l"/>
              <a:r>
                <a:rPr lang="ja-JP" sz="2100" b="1" dirty="0">
                  <a:solidFill>
                    <a:schemeClr val="accent1"/>
                  </a:solidFill>
                  <a:latin typeface="+mn-lt"/>
                  <a:ea typeface="+mn-ea"/>
                  <a:cs typeface="+mn-cs"/>
                </a:rPr>
                <a:t>逸脱防止ストッパ</a:t>
              </a:r>
            </a:p>
          </p:txBody>
        </p:sp>
        <p:sp>
          <p:nvSpPr>
            <p:cNvPr id="13" name="TextBox 13"/>
            <p:cNvSpPr txBox="1"/>
            <p:nvPr/>
          </p:nvSpPr>
          <p:spPr>
            <a:xfrm>
              <a:off x="1096518" y="5365432"/>
              <a:ext cx="3788664" cy="608457"/>
            </a:xfrm>
            <a:prstGeom prst="rect">
              <a:avLst/>
            </a:prstGeom>
            <a:noFill/>
            <a:ln>
              <a:noFill/>
            </a:ln>
          </p:spPr>
          <p:txBody>
            <a:bodyPr wrap="none" lIns="0" tIns="0" rIns="0" bIns="0" anchor="t" anchorCtr="0">
              <a:spAutoFit/>
            </a:bodyPr>
            <a:lstStyle/>
            <a:p>
              <a:pPr algn="l">
                <a:lnSpc>
                  <a:spcPts val="2250"/>
                </a:lnSpc>
              </a:pPr>
              <a:r>
                <a:rPr lang="ja-JP" sz="1650" dirty="0">
                  <a:solidFill>
                    <a:schemeClr val="dk1"/>
                  </a:solidFill>
                  <a:latin typeface="+mn-lt"/>
                  <a:ea typeface="+mn-ea"/>
                  <a:cs typeface="+mn-cs"/>
                </a:rPr>
                <a:t>万一脱線しても大きく逸脱しないよう、</a:t>
              </a:r>
              <a:br/>
              <a:r>
                <a:rPr lang="ja-JP" sz="1650" dirty="0">
                  <a:solidFill>
                    <a:schemeClr val="dk1"/>
                  </a:solidFill>
                  <a:latin typeface="+mn-lt"/>
                  <a:ea typeface="+mn-ea"/>
                  <a:cs typeface="+mn-cs"/>
                </a:rPr>
                <a:t>全車両に設置済み</a:t>
              </a:r>
            </a:p>
          </p:txBody>
        </p:sp>
      </p:grpSp>
      <p:grpSp>
        <p:nvGrpSpPr>
          <p:cNvPr id="17" name="Group 17"/>
          <p:cNvGrpSpPr/>
          <p:nvPr/>
        </p:nvGrpSpPr>
        <p:grpSpPr>
          <a:xfrm>
            <a:off x="6324600" y="1962150"/>
            <a:ext cx="180975" cy="3962400"/>
            <a:chOff x="6324600" y="1962150"/>
            <a:chExt cx="180975" cy="3962400"/>
          </a:xfrm>
        </p:grpSpPr>
        <p:sp>
          <p:nvSpPr>
            <p:cNvPr id="15" name="Rectangle 15"/>
            <p:cNvSpPr/>
            <p:nvPr/>
          </p:nvSpPr>
          <p:spPr>
            <a:xfrm>
              <a:off x="6324600" y="1962150"/>
              <a:ext cx="95250" cy="3962400"/>
            </a:xfrm>
            <a:prstGeom prst="rect">
              <a:avLst/>
            </a:prstGeom>
            <a:solidFill>
              <a:schemeClr val="accent1"/>
            </a:solidFill>
            <a:ln>
              <a:noFill/>
            </a:ln>
          </p:spPr>
        </p:sp>
        <p:sp>
          <p:nvSpPr>
            <p:cNvPr id="16" name="Line 16"/>
            <p:cNvSpPr/>
            <p:nvPr/>
          </p:nvSpPr>
          <p:spPr>
            <a:xfrm>
              <a:off x="6496050" y="1962150"/>
              <a:ext cx="9525" cy="3962400"/>
            </a:xfrm>
            <a:custGeom>
              <a:avLst/>
              <a:gdLst/>
              <a:ahLst/>
              <a:cxnLst/>
              <a:rect l="l" t="t" r="r" b="b"/>
              <a:pathLst>
                <a:path w="9525" h="3962400">
                  <a:moveTo>
                    <a:pt x="0" y="0"/>
                  </a:moveTo>
                  <a:lnTo>
                    <a:pt x="0" y="3962400"/>
                  </a:lnTo>
                </a:path>
              </a:pathLst>
            </a:custGeom>
            <a:noFill/>
            <a:ln w="19050">
              <a:solidFill>
                <a:schemeClr val="accent1"/>
              </a:solidFill>
            </a:ln>
          </p:spPr>
        </p:sp>
      </p:grpSp>
      <p:grpSp>
        <p:nvGrpSpPr>
          <p:cNvPr id="29" name="Group 29"/>
          <p:cNvGrpSpPr/>
          <p:nvPr/>
        </p:nvGrpSpPr>
        <p:grpSpPr>
          <a:xfrm>
            <a:off x="6781800" y="1981200"/>
            <a:ext cx="4812792" cy="2324862"/>
            <a:chOff x="6781800" y="1981200"/>
            <a:chExt cx="4812792" cy="2324862"/>
          </a:xfrm>
        </p:grpSpPr>
        <p:sp>
          <p:nvSpPr>
            <p:cNvPr id="18" name="Freeform 18"/>
            <p:cNvSpPr/>
            <p:nvPr/>
          </p:nvSpPr>
          <p:spPr>
            <a:xfrm>
              <a:off x="6781800" y="1981200"/>
              <a:ext cx="209550" cy="2324100"/>
            </a:xfrm>
            <a:prstGeom prst="leftBracket">
              <a:avLst/>
            </a:prstGeom>
            <a:noFill/>
            <a:ln w="28575">
              <a:solidFill>
                <a:schemeClr val="accent1"/>
              </a:solidFill>
            </a:ln>
          </p:spPr>
        </p:sp>
        <p:sp>
          <p:nvSpPr>
            <p:cNvPr id="19" name="TextBox 19"/>
            <p:cNvSpPr txBox="1"/>
            <p:nvPr/>
          </p:nvSpPr>
          <p:spPr>
            <a:xfrm>
              <a:off x="7152132" y="2059305"/>
              <a:ext cx="2282952" cy="410718"/>
            </a:xfrm>
            <a:prstGeom prst="rect">
              <a:avLst/>
            </a:prstGeom>
            <a:noFill/>
            <a:ln>
              <a:noFill/>
            </a:ln>
          </p:spPr>
          <p:txBody>
            <a:bodyPr wrap="none" lIns="0" tIns="0" rIns="0" bIns="0" anchor="t" anchorCtr="0">
              <a:spAutoFit/>
            </a:bodyPr>
            <a:lstStyle/>
            <a:p>
              <a:pPr algn="l"/>
              <a:r>
                <a:rPr lang="ja-JP" sz="2100" b="1" dirty="0">
                  <a:solidFill>
                    <a:schemeClr val="accent1"/>
                  </a:solidFill>
                  <a:latin typeface="+mn-lt"/>
                  <a:ea typeface="+mn-ea"/>
                  <a:cs typeface="+mn-cs"/>
                </a:rPr>
                <a:t>構造物の耐震補強</a:t>
              </a:r>
            </a:p>
          </p:txBody>
        </p:sp>
        <p:sp>
          <p:nvSpPr>
            <p:cNvPr id="20" name="TextBox 20"/>
            <p:cNvSpPr txBox="1"/>
            <p:nvPr/>
          </p:nvSpPr>
          <p:spPr>
            <a:xfrm>
              <a:off x="7154418" y="2412682"/>
              <a:ext cx="3415246" cy="322707"/>
            </a:xfrm>
            <a:prstGeom prst="rect">
              <a:avLst/>
            </a:prstGeom>
            <a:noFill/>
            <a:ln>
              <a:noFill/>
            </a:ln>
          </p:spPr>
          <p:txBody>
            <a:bodyPr wrap="none" lIns="0" tIns="0" rIns="0" bIns="0" anchor="t" anchorCtr="0">
              <a:spAutoFit/>
            </a:bodyPr>
            <a:lstStyle/>
            <a:p>
              <a:pPr algn="l"/>
              <a:r>
                <a:rPr lang="ja-JP" sz="1650" dirty="0">
                  <a:solidFill>
                    <a:schemeClr val="accent5"/>
                  </a:solidFill>
                  <a:latin typeface="+mn-lt"/>
                  <a:ea typeface="+mn-ea"/>
                  <a:cs typeface="+mn-cs"/>
                </a:rPr>
                <a:t>東海道新幹線で完了(2025年度末)</a:t>
              </a:r>
            </a:p>
          </p:txBody>
        </p:sp>
        <p:grpSp>
          <p:nvGrpSpPr>
            <p:cNvPr id="24" name="Group 24"/>
            <p:cNvGrpSpPr/>
            <p:nvPr/>
          </p:nvGrpSpPr>
          <p:grpSpPr>
            <a:xfrm>
              <a:off x="7154418" y="2965132"/>
              <a:ext cx="905256" cy="1275207"/>
              <a:chOff x="7154418" y="2965132"/>
              <a:chExt cx="905256" cy="1275207"/>
            </a:xfrm>
          </p:grpSpPr>
          <p:sp>
            <p:nvSpPr>
              <p:cNvPr id="21" name="TextBox 21"/>
              <p:cNvSpPr txBox="1"/>
              <p:nvPr/>
            </p:nvSpPr>
            <p:spPr>
              <a:xfrm>
                <a:off x="7154418" y="2965132"/>
                <a:ext cx="905256"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高架橋柱</a:t>
                </a:r>
              </a:p>
            </p:txBody>
          </p:sp>
          <p:sp>
            <p:nvSpPr>
              <p:cNvPr id="22" name="TextBox 22"/>
              <p:cNvSpPr txBox="1"/>
              <p:nvPr/>
            </p:nvSpPr>
            <p:spPr>
              <a:xfrm>
                <a:off x="7154418" y="3441382"/>
                <a:ext cx="461010"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橋脚</a:t>
                </a:r>
              </a:p>
            </p:txBody>
          </p:sp>
          <p:sp>
            <p:nvSpPr>
              <p:cNvPr id="23" name="TextBox 23"/>
              <p:cNvSpPr txBox="1"/>
              <p:nvPr/>
            </p:nvSpPr>
            <p:spPr>
              <a:xfrm>
                <a:off x="7154418" y="3917632"/>
                <a:ext cx="461010"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盛土</a:t>
                </a:r>
              </a:p>
            </p:txBody>
          </p:sp>
        </p:grpSp>
        <p:grpSp>
          <p:nvGrpSpPr>
            <p:cNvPr id="28" name="Group 28"/>
            <p:cNvGrpSpPr/>
            <p:nvPr/>
          </p:nvGrpSpPr>
          <p:grpSpPr>
            <a:xfrm>
              <a:off x="9804532" y="2884170"/>
              <a:ext cx="1790060" cy="1421892"/>
              <a:chOff x="9804532" y="2884170"/>
              <a:chExt cx="1790060" cy="1421892"/>
            </a:xfrm>
          </p:grpSpPr>
          <p:sp>
            <p:nvSpPr>
              <p:cNvPr id="25" name="TextBox 25"/>
              <p:cNvSpPr txBox="1"/>
              <p:nvPr/>
            </p:nvSpPr>
            <p:spPr>
              <a:xfrm>
                <a:off x="9804532" y="2884170"/>
                <a:ext cx="1790060" cy="469392"/>
              </a:xfrm>
              <a:prstGeom prst="rect">
                <a:avLst/>
              </a:prstGeom>
              <a:noFill/>
              <a:ln>
                <a:noFill/>
              </a:ln>
            </p:spPr>
            <p:txBody>
              <a:bodyPr wrap="none" lIns="0" tIns="0" rIns="0" bIns="0" anchor="t" anchorCtr="0">
                <a:spAutoFit/>
              </a:bodyPr>
              <a:lstStyle/>
              <a:p>
                <a:pPr algn="r"/>
                <a:r>
                  <a:rPr lang="ja-JP" sz="2400" b="1" dirty="0">
                    <a:solidFill>
                      <a:schemeClr val="accent1"/>
                    </a:solidFill>
                    <a:latin typeface="+mn-lt"/>
                    <a:ea typeface="+mn-ea"/>
                    <a:cs typeface="+mn-cs"/>
                  </a:rPr>
                  <a:t>約19,600本</a:t>
                </a:r>
              </a:p>
            </p:txBody>
          </p:sp>
          <p:sp>
            <p:nvSpPr>
              <p:cNvPr id="26" name="TextBox 26"/>
              <p:cNvSpPr txBox="1"/>
              <p:nvPr/>
            </p:nvSpPr>
            <p:spPr>
              <a:xfrm>
                <a:off x="10364282" y="3360420"/>
                <a:ext cx="1230310" cy="469392"/>
              </a:xfrm>
              <a:prstGeom prst="rect">
                <a:avLst/>
              </a:prstGeom>
              <a:noFill/>
              <a:ln>
                <a:noFill/>
              </a:ln>
            </p:spPr>
            <p:txBody>
              <a:bodyPr wrap="none" lIns="0" tIns="0" rIns="0" bIns="0" anchor="t" anchorCtr="0">
                <a:spAutoFit/>
              </a:bodyPr>
              <a:lstStyle/>
              <a:p>
                <a:pPr algn="r"/>
                <a:r>
                  <a:rPr lang="ja-JP" sz="2400" b="1" dirty="0">
                    <a:solidFill>
                      <a:schemeClr val="accent1"/>
                    </a:solidFill>
                    <a:latin typeface="+mn-lt"/>
                    <a:ea typeface="+mn-ea"/>
                    <a:cs typeface="+mn-cs"/>
                  </a:rPr>
                  <a:t>約900基</a:t>
                </a:r>
              </a:p>
            </p:txBody>
          </p:sp>
          <p:sp>
            <p:nvSpPr>
              <p:cNvPr id="27" name="TextBox 27"/>
              <p:cNvSpPr txBox="1"/>
              <p:nvPr/>
            </p:nvSpPr>
            <p:spPr>
              <a:xfrm>
                <a:off x="10246355" y="3836670"/>
                <a:ext cx="1348237" cy="469392"/>
              </a:xfrm>
              <a:prstGeom prst="rect">
                <a:avLst/>
              </a:prstGeom>
              <a:noFill/>
              <a:ln>
                <a:noFill/>
              </a:ln>
            </p:spPr>
            <p:txBody>
              <a:bodyPr wrap="none" lIns="0" tIns="0" rIns="0" bIns="0" anchor="t" anchorCtr="0">
                <a:spAutoFit/>
              </a:bodyPr>
              <a:lstStyle/>
              <a:p>
                <a:pPr algn="r"/>
                <a:r>
                  <a:rPr lang="ja-JP" sz="2400" b="1" dirty="0">
                    <a:solidFill>
                      <a:schemeClr val="accent1"/>
                    </a:solidFill>
                    <a:latin typeface="+mn-lt"/>
                    <a:ea typeface="+mn-ea"/>
                    <a:cs typeface="+mn-cs"/>
                  </a:rPr>
                  <a:t>約9.4km</a:t>
                </a:r>
              </a:p>
            </p:txBody>
          </p:sp>
        </p:grpSp>
      </p:grpSp>
      <p:grpSp>
        <p:nvGrpSpPr>
          <p:cNvPr id="34" name="Group 34"/>
          <p:cNvGrpSpPr/>
          <p:nvPr/>
        </p:nvGrpSpPr>
        <p:grpSpPr>
          <a:xfrm>
            <a:off x="6781800" y="4705350"/>
            <a:ext cx="3790085" cy="1104900"/>
            <a:chOff x="6781800" y="4705350"/>
            <a:chExt cx="3790085" cy="1104900"/>
          </a:xfrm>
        </p:grpSpPr>
        <p:sp>
          <p:nvSpPr>
            <p:cNvPr id="30" name="Freeform 30"/>
            <p:cNvSpPr/>
            <p:nvPr/>
          </p:nvSpPr>
          <p:spPr>
            <a:xfrm>
              <a:off x="6781800" y="4705350"/>
              <a:ext cx="209550" cy="1104900"/>
            </a:xfrm>
            <a:prstGeom prst="leftBracket">
              <a:avLst/>
            </a:prstGeom>
            <a:noFill/>
            <a:ln w="28575">
              <a:solidFill>
                <a:schemeClr val="accent1"/>
              </a:solidFill>
            </a:ln>
          </p:spPr>
        </p:sp>
        <p:sp>
          <p:nvSpPr>
            <p:cNvPr id="31" name="Freeform 31"/>
            <p:cNvSpPr/>
            <p:nvPr/>
          </p:nvSpPr>
          <p:spPr>
            <a:xfrm>
              <a:off x="7162800" y="4838700"/>
              <a:ext cx="342900" cy="342900"/>
            </a:xfrm>
            <a:custGeom>
              <a:avLst/>
              <a:gdLst/>
              <a:ahLst/>
              <a:cxnLst/>
              <a:rect l="l" t="t" r="r" b="b"/>
              <a:pathLst>
                <a:path w="342900" h="342900">
                  <a:moveTo>
                    <a:pt x="214312" y="75009"/>
                  </a:moveTo>
                  <a:lnTo>
                    <a:pt x="279851" y="9470"/>
                  </a:lnTo>
                  <a:cubicBezTo>
                    <a:pt x="266399" y="3387"/>
                    <a:pt x="251468" y="0"/>
                    <a:pt x="235744" y="0"/>
                  </a:cubicBezTo>
                  <a:cubicBezTo>
                    <a:pt x="176563" y="0"/>
                    <a:pt x="128588" y="47976"/>
                    <a:pt x="128588" y="107156"/>
                  </a:cubicBezTo>
                  <a:cubicBezTo>
                    <a:pt x="128588" y="116972"/>
                    <a:pt x="129907" y="126480"/>
                    <a:pt x="132379" y="135512"/>
                  </a:cubicBezTo>
                  <a:lnTo>
                    <a:pt x="0" y="267891"/>
                  </a:lnTo>
                  <a:lnTo>
                    <a:pt x="75009" y="342900"/>
                  </a:lnTo>
                  <a:lnTo>
                    <a:pt x="207388" y="210521"/>
                  </a:lnTo>
                  <a:cubicBezTo>
                    <a:pt x="216419" y="212993"/>
                    <a:pt x="225928" y="214312"/>
                    <a:pt x="235744" y="214312"/>
                  </a:cubicBezTo>
                  <a:cubicBezTo>
                    <a:pt x="294924" y="214312"/>
                    <a:pt x="342900" y="166337"/>
                    <a:pt x="342900" y="107156"/>
                  </a:cubicBezTo>
                  <a:cubicBezTo>
                    <a:pt x="342900" y="91433"/>
                    <a:pt x="339514" y="76500"/>
                    <a:pt x="333430" y="63048"/>
                  </a:cubicBezTo>
                  <a:lnTo>
                    <a:pt x="267891" y="128588"/>
                  </a:lnTo>
                  <a:lnTo>
                    <a:pt x="214312" y="128588"/>
                  </a:lnTo>
                  <a:lnTo>
                    <a:pt x="214312" y="75009"/>
                  </a:lnTo>
                  <a:close/>
                </a:path>
              </a:pathLst>
            </a:custGeom>
            <a:solidFill>
              <a:schemeClr val="accent1"/>
            </a:solidFill>
            <a:ln>
              <a:noFill/>
            </a:ln>
          </p:spPr>
        </p:sp>
        <p:sp>
          <p:nvSpPr>
            <p:cNvPr id="32" name="TextBox 32"/>
            <p:cNvSpPr txBox="1"/>
            <p:nvPr/>
          </p:nvSpPr>
          <p:spPr>
            <a:xfrm>
              <a:off x="7609332" y="4897755"/>
              <a:ext cx="2000250" cy="410718"/>
            </a:xfrm>
            <a:prstGeom prst="rect">
              <a:avLst/>
            </a:prstGeom>
            <a:noFill/>
            <a:ln>
              <a:noFill/>
            </a:ln>
          </p:spPr>
          <p:txBody>
            <a:bodyPr wrap="none" lIns="0" tIns="0" rIns="0" bIns="0" anchor="t" anchorCtr="0">
              <a:spAutoFit/>
            </a:bodyPr>
            <a:lstStyle/>
            <a:p>
              <a:pPr algn="l"/>
              <a:r>
                <a:rPr lang="ja-JP" sz="2100" b="1" dirty="0">
                  <a:solidFill>
                    <a:schemeClr val="accent1"/>
                  </a:solidFill>
                  <a:latin typeface="+mn-lt"/>
                  <a:ea typeface="+mn-ea"/>
                  <a:cs typeface="+mn-cs"/>
                </a:rPr>
                <a:t>大規模改修工事</a:t>
              </a:r>
            </a:p>
          </p:txBody>
        </p:sp>
        <p:sp>
          <p:nvSpPr>
            <p:cNvPr id="33" name="TextBox 33"/>
            <p:cNvSpPr txBox="1"/>
            <p:nvPr/>
          </p:nvSpPr>
          <p:spPr>
            <a:xfrm>
              <a:off x="7154418" y="5441632"/>
              <a:ext cx="3417467"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経年劣化に備え、</a:t>
              </a:r>
              <a:r>
                <a:rPr lang="ja-JP" sz="1650" b="1" dirty="0">
                  <a:solidFill>
                    <a:schemeClr val="accent2"/>
                  </a:solidFill>
                  <a:latin typeface="+mn-lt"/>
                  <a:ea typeface="+mn-ea"/>
                  <a:cs typeface="+mn-cs"/>
                </a:rPr>
                <a:t>2013年度</a:t>
              </a:r>
              <a:r>
                <a:rPr lang="ja-JP" sz="1650" dirty="0">
                  <a:solidFill>
                    <a:schemeClr val="dk1"/>
                  </a:solidFill>
                  <a:latin typeface="+mn-lt"/>
                  <a:ea typeface="+mn-ea"/>
                  <a:cs typeface="+mn-cs"/>
                </a:rPr>
                <a:t>に着手</a:t>
              </a:r>
            </a:p>
          </p:txBody>
        </p:sp>
      </p:grpSp>
      <p:grpSp>
        <p:nvGrpSpPr>
          <p:cNvPr id="37" name="Group 37"/>
          <p:cNvGrpSpPr/>
          <p:nvPr/>
        </p:nvGrpSpPr>
        <p:grpSpPr>
          <a:xfrm>
            <a:off x="603504" y="6195060"/>
            <a:ext cx="10984992" cy="444246"/>
            <a:chOff x="603504" y="6195060"/>
            <a:chExt cx="10984992" cy="444246"/>
          </a:xfrm>
        </p:grpSpPr>
        <p:sp>
          <p:nvSpPr>
            <p:cNvPr id="35" name="TextBox 35"/>
            <p:cNvSpPr txBox="1"/>
            <p:nvPr/>
          </p:nvSpPr>
          <p:spPr>
            <a:xfrm>
              <a:off x="603504" y="6195060"/>
              <a:ext cx="597865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脱線防止・耐震補強の数値は東海道新幹線の2025年度末時点。</a:t>
              </a:r>
              <a:br/>
              <a:r>
                <a:rPr lang="ja-JP" sz="1200" dirty="0">
                  <a:solidFill>
                    <a:schemeClr val="accent5"/>
                  </a:solidFill>
                  <a:latin typeface="+mn-lt"/>
                  <a:ea typeface="+mn-ea"/>
                  <a:cs typeface="+mn-cs"/>
                </a:rPr>
                <a:t>出典:JR東海 ファクトシート2026「地震対策」「東海道新幹線大規模改修工事の概要」</a:t>
              </a:r>
            </a:p>
          </p:txBody>
        </p:sp>
        <p:sp>
          <p:nvSpPr>
            <p:cNvPr id="36" name="TextBox 36"/>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1312" y="601980"/>
            <a:ext cx="8107680" cy="1132332"/>
            <a:chOff x="591312" y="601980"/>
            <a:chExt cx="8107680" cy="1132332"/>
          </a:xfrm>
        </p:grpSpPr>
        <p:sp>
          <p:nvSpPr>
            <p:cNvPr id="2" name="TextBox 2"/>
            <p:cNvSpPr txBox="1"/>
            <p:nvPr/>
          </p:nvSpPr>
          <p:spPr>
            <a:xfrm>
              <a:off x="591312" y="601980"/>
              <a:ext cx="7333488"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次の60年は、大動脈を二重にする</a:t>
              </a:r>
            </a:p>
          </p:txBody>
        </p:sp>
        <p:sp>
          <p:nvSpPr>
            <p:cNvPr id="3" name="TextBox 3"/>
            <p:cNvSpPr txBox="1"/>
            <p:nvPr/>
          </p:nvSpPr>
          <p:spPr>
            <a:xfrm>
              <a:off x="597408" y="1264920"/>
              <a:ext cx="8101584"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目的は、経年劣化と巨大地震に備えた大動脈の二重系化</a:t>
              </a:r>
            </a:p>
          </p:txBody>
        </p:sp>
      </p:grpSp>
      <p:sp>
        <p:nvSpPr>
          <p:cNvPr id="5" name="Ellipse 5"/>
          <p:cNvSpPr/>
          <p:nvPr/>
        </p:nvSpPr>
        <p:spPr>
          <a:xfrm>
            <a:off x="7943850" y="1771650"/>
            <a:ext cx="3543300" cy="3543300"/>
          </a:xfrm>
          <a:prstGeom prst="ellipse">
            <a:avLst/>
          </a:prstGeom>
          <a:solidFill>
            <a:schemeClr val="accent2"/>
          </a:solidFill>
          <a:ln>
            <a:noFill/>
          </a:ln>
        </p:spPr>
      </p:sp>
      <p:grpSp>
        <p:nvGrpSpPr>
          <p:cNvPr id="7" name="Group 7"/>
          <p:cNvGrpSpPr/>
          <p:nvPr/>
        </p:nvGrpSpPr>
        <p:grpSpPr>
          <a:xfrm>
            <a:off x="8077200" y="1905000"/>
            <a:ext cx="3276600" cy="3276600"/>
            <a:chOff x="8077200" y="1905000"/>
            <a:chExt cx="3276600" cy="3276600"/>
          </a:xfrm>
        </p:grpSpPr>
        <p:pic>
          <p:nvPicPr>
            <p:cNvPr id="6" name="Image 6"/>
            <p:cNvPicPr>
              <a:picLocks noChangeAspect="1"/>
            </p:cNvPicPr>
            <p:nvPr/>
          </p:nvPicPr>
          <p:blipFill>
            <a:blip r:embed="rId2"/>
            <a:srcRect l="22084" t="0" r="22083" b="0"/>
            <a:stretch>
              <a:fillRect/>
            </a:stretch>
          </p:blipFill>
          <p:spPr>
            <a:xfrm>
              <a:off x="8077200" y="1905000"/>
              <a:ext cx="3276600" cy="3276600"/>
            </a:xfrm>
            <a:prstGeom prst="ellipse">
              <a:avLst/>
            </a:prstGeom>
          </p:spPr>
        </p:pic>
      </p:grpSp>
      <p:grpSp>
        <p:nvGrpSpPr>
          <p:cNvPr id="18" name="Group 18"/>
          <p:cNvGrpSpPr/>
          <p:nvPr/>
        </p:nvGrpSpPr>
        <p:grpSpPr>
          <a:xfrm>
            <a:off x="601218" y="1977390"/>
            <a:ext cx="6042279" cy="1939099"/>
            <a:chOff x="601218" y="1977390"/>
            <a:chExt cx="6042279" cy="1939099"/>
          </a:xfrm>
        </p:grpSpPr>
        <p:sp>
          <p:nvSpPr>
            <p:cNvPr id="8" name="TextBox 8"/>
            <p:cNvSpPr txBox="1"/>
            <p:nvPr/>
          </p:nvSpPr>
          <p:spPr>
            <a:xfrm>
              <a:off x="601218" y="2165032"/>
              <a:ext cx="1349502" cy="322707"/>
            </a:xfrm>
            <a:prstGeom prst="rect">
              <a:avLst/>
            </a:prstGeom>
            <a:noFill/>
            <a:ln>
              <a:noFill/>
            </a:ln>
          </p:spPr>
          <p:txBody>
            <a:bodyPr wrap="none" lIns="0" tIns="0" rIns="0" bIns="0" anchor="t" anchorCtr="0">
              <a:spAutoFit/>
            </a:bodyPr>
            <a:lstStyle/>
            <a:p>
              <a:pPr algn="l"/>
              <a:r>
                <a:rPr lang="ja-JP" sz="1650" b="1" dirty="0">
                  <a:solidFill>
                    <a:schemeClr val="dk1"/>
                  </a:solidFill>
                  <a:latin typeface="+mn-lt"/>
                  <a:ea typeface="+mn-ea"/>
                  <a:cs typeface="+mn-cs"/>
                </a:rPr>
                <a:t>品川〜名古屋</a:t>
              </a:r>
            </a:p>
          </p:txBody>
        </p:sp>
        <p:sp>
          <p:nvSpPr>
            <p:cNvPr id="9" name="TextBox 9"/>
            <p:cNvSpPr txBox="1"/>
            <p:nvPr/>
          </p:nvSpPr>
          <p:spPr>
            <a:xfrm>
              <a:off x="2083308" y="2122170"/>
              <a:ext cx="702869" cy="469392"/>
            </a:xfrm>
            <a:prstGeom prst="rect">
              <a:avLst/>
            </a:prstGeom>
            <a:noFill/>
            <a:ln>
              <a:noFill/>
            </a:ln>
          </p:spPr>
          <p:txBody>
            <a:bodyPr wrap="none" lIns="0" tIns="0" rIns="0" bIns="0" anchor="t" anchorCtr="0">
              <a:spAutoFit/>
            </a:bodyPr>
            <a:lstStyle/>
            <a:p>
              <a:pPr algn="l"/>
              <a:r>
                <a:rPr lang="ja-JP" sz="2400" dirty="0">
                  <a:solidFill>
                    <a:schemeClr val="accent5"/>
                  </a:solidFill>
                  <a:latin typeface="+mn-lt"/>
                  <a:ea typeface="+mn-ea"/>
                  <a:cs typeface="+mn-cs"/>
                </a:rPr>
                <a:t>86分</a:t>
              </a:r>
            </a:p>
          </p:txBody>
        </p:sp>
        <p:sp>
          <p:nvSpPr>
            <p:cNvPr id="10" name="Freeform 10"/>
            <p:cNvSpPr/>
            <p:nvPr/>
          </p:nvSpPr>
          <p:spPr>
            <a:xfrm>
              <a:off x="3067050" y="2114550"/>
              <a:ext cx="495300" cy="304800"/>
            </a:xfrm>
            <a:prstGeom prst="rightArrow">
              <a:avLst/>
            </a:prstGeom>
            <a:solidFill>
              <a:schemeClr val="accent3"/>
            </a:solidFill>
            <a:ln>
              <a:noFill/>
            </a:ln>
          </p:spPr>
        </p:sp>
        <p:sp>
          <p:nvSpPr>
            <p:cNvPr id="11" name="TextBox 11"/>
            <p:cNvSpPr txBox="1"/>
            <p:nvPr/>
          </p:nvSpPr>
          <p:spPr>
            <a:xfrm>
              <a:off x="3714750" y="1977390"/>
              <a:ext cx="1475389" cy="933450"/>
            </a:xfrm>
            <a:prstGeom prst="rect">
              <a:avLst/>
            </a:prstGeom>
            <a:noFill/>
            <a:ln>
              <a:noFill/>
            </a:ln>
          </p:spPr>
          <p:txBody>
            <a:bodyPr wrap="none" lIns="0" tIns="0" rIns="0" bIns="0" anchor="t" anchorCtr="0">
              <a:spAutoFit/>
            </a:bodyPr>
            <a:lstStyle/>
            <a:p>
              <a:pPr algn="l"/>
              <a:r>
                <a:rPr lang="ja-JP" sz="4800" b="1" dirty="0">
                  <a:solidFill>
                    <a:schemeClr val="accent2"/>
                  </a:solidFill>
                  <a:latin typeface="Arial Black"/>
                  <a:ea typeface="Yu Gothic"/>
                  <a:cs typeface="Arial Black"/>
                </a:rPr>
                <a:t>40分</a:t>
              </a:r>
            </a:p>
          </p:txBody>
        </p:sp>
        <p:sp>
          <p:nvSpPr>
            <p:cNvPr id="12" name="TextBox 12"/>
            <p:cNvSpPr txBox="1"/>
            <p:nvPr/>
          </p:nvSpPr>
          <p:spPr>
            <a:xfrm>
              <a:off x="601218" y="2927032"/>
              <a:ext cx="1127379" cy="322707"/>
            </a:xfrm>
            <a:prstGeom prst="rect">
              <a:avLst/>
            </a:prstGeom>
            <a:noFill/>
            <a:ln>
              <a:noFill/>
            </a:ln>
          </p:spPr>
          <p:txBody>
            <a:bodyPr wrap="none" lIns="0" tIns="0" rIns="0" bIns="0" anchor="t" anchorCtr="0">
              <a:spAutoFit/>
            </a:bodyPr>
            <a:lstStyle/>
            <a:p>
              <a:pPr algn="l"/>
              <a:r>
                <a:rPr lang="ja-JP" sz="1650" b="1" dirty="0">
                  <a:solidFill>
                    <a:schemeClr val="dk1"/>
                  </a:solidFill>
                  <a:latin typeface="+mn-lt"/>
                  <a:ea typeface="+mn-ea"/>
                  <a:cs typeface="+mn-cs"/>
                </a:rPr>
                <a:t>品川〜大阪</a:t>
              </a:r>
            </a:p>
          </p:txBody>
        </p:sp>
        <p:sp>
          <p:nvSpPr>
            <p:cNvPr id="13" name="TextBox 13"/>
            <p:cNvSpPr txBox="1"/>
            <p:nvPr/>
          </p:nvSpPr>
          <p:spPr>
            <a:xfrm>
              <a:off x="2083308" y="2884170"/>
              <a:ext cx="880567" cy="469392"/>
            </a:xfrm>
            <a:prstGeom prst="rect">
              <a:avLst/>
            </a:prstGeom>
            <a:noFill/>
            <a:ln>
              <a:noFill/>
            </a:ln>
          </p:spPr>
          <p:txBody>
            <a:bodyPr wrap="none" lIns="0" tIns="0" rIns="0" bIns="0" anchor="t" anchorCtr="0">
              <a:spAutoFit/>
            </a:bodyPr>
            <a:lstStyle/>
            <a:p>
              <a:pPr algn="l"/>
              <a:r>
                <a:rPr lang="ja-JP" sz="2400" dirty="0">
                  <a:solidFill>
                    <a:schemeClr val="accent5"/>
                  </a:solidFill>
                  <a:latin typeface="+mn-lt"/>
                  <a:ea typeface="+mn-ea"/>
                  <a:cs typeface="+mn-cs"/>
                </a:rPr>
                <a:t>134分</a:t>
              </a:r>
            </a:p>
          </p:txBody>
        </p:sp>
        <p:sp>
          <p:nvSpPr>
            <p:cNvPr id="14" name="Freeform 14"/>
            <p:cNvSpPr/>
            <p:nvPr/>
          </p:nvSpPr>
          <p:spPr>
            <a:xfrm>
              <a:off x="3067050" y="2876550"/>
              <a:ext cx="495300" cy="304800"/>
            </a:xfrm>
            <a:prstGeom prst="rightArrow">
              <a:avLst/>
            </a:prstGeom>
            <a:solidFill>
              <a:schemeClr val="accent3"/>
            </a:solidFill>
            <a:ln>
              <a:noFill/>
            </a:ln>
          </p:spPr>
        </p:sp>
        <p:sp>
          <p:nvSpPr>
            <p:cNvPr id="15" name="TextBox 15"/>
            <p:cNvSpPr txBox="1"/>
            <p:nvPr/>
          </p:nvSpPr>
          <p:spPr>
            <a:xfrm>
              <a:off x="3714750" y="2739390"/>
              <a:ext cx="1475389" cy="933450"/>
            </a:xfrm>
            <a:prstGeom prst="rect">
              <a:avLst/>
            </a:prstGeom>
            <a:noFill/>
            <a:ln>
              <a:noFill/>
            </a:ln>
          </p:spPr>
          <p:txBody>
            <a:bodyPr wrap="none" lIns="0" tIns="0" rIns="0" bIns="0" anchor="t" anchorCtr="0">
              <a:spAutoFit/>
            </a:bodyPr>
            <a:lstStyle/>
            <a:p>
              <a:pPr algn="l"/>
              <a:r>
                <a:rPr lang="ja-JP" sz="4800" b="1" dirty="0">
                  <a:solidFill>
                    <a:schemeClr val="accent2"/>
                  </a:solidFill>
                  <a:latin typeface="Arial Black"/>
                  <a:ea typeface="Yu Gothic"/>
                  <a:cs typeface="Arial Black"/>
                </a:rPr>
                <a:t>67分</a:t>
              </a:r>
            </a:p>
          </p:txBody>
        </p:sp>
        <p:sp>
          <p:nvSpPr>
            <p:cNvPr id="16" name="TextBox 16"/>
            <p:cNvSpPr txBox="1"/>
            <p:nvPr/>
          </p:nvSpPr>
          <p:spPr>
            <a:xfrm>
              <a:off x="5516118" y="2317432"/>
              <a:ext cx="1127379" cy="322707"/>
            </a:xfrm>
            <a:prstGeom prst="rect">
              <a:avLst/>
            </a:prstGeom>
            <a:noFill/>
            <a:ln>
              <a:noFill/>
            </a:ln>
          </p:spPr>
          <p:txBody>
            <a:bodyPr wrap="none" lIns="0" tIns="0" rIns="0" bIns="0" anchor="t" anchorCtr="0">
              <a:spAutoFit/>
            </a:bodyPr>
            <a:lstStyle/>
            <a:p>
              <a:pPr algn="l"/>
              <a:r>
                <a:rPr lang="ja-JP" sz="1650" dirty="0">
                  <a:solidFill>
                    <a:schemeClr val="accent5"/>
                  </a:solidFill>
                  <a:latin typeface="+mn-lt"/>
                  <a:ea typeface="+mn-ea"/>
                  <a:cs typeface="+mn-cs"/>
                </a:rPr>
                <a:t>最速・計画</a:t>
              </a:r>
            </a:p>
          </p:txBody>
        </p:sp>
        <p:sp>
          <p:nvSpPr>
            <p:cNvPr id="17" name="TextBox 17"/>
            <p:cNvSpPr txBox="1"/>
            <p:nvPr/>
          </p:nvSpPr>
          <p:spPr>
            <a:xfrm>
              <a:off x="601218" y="3593782"/>
              <a:ext cx="3474664"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超電導リニアの営業速度 500km/h</a:t>
              </a:r>
            </a:p>
          </p:txBody>
        </p:sp>
      </p:grpSp>
      <p:grpSp>
        <p:nvGrpSpPr>
          <p:cNvPr id="22" name="Group 22"/>
          <p:cNvGrpSpPr/>
          <p:nvPr/>
        </p:nvGrpSpPr>
        <p:grpSpPr>
          <a:xfrm>
            <a:off x="609600" y="3981450"/>
            <a:ext cx="6629400" cy="1268539"/>
            <a:chOff x="609600" y="3981450"/>
            <a:chExt cx="6629400" cy="1268539"/>
          </a:xfrm>
        </p:grpSpPr>
        <p:sp>
          <p:nvSpPr>
            <p:cNvPr id="19" name="Rectangle 19"/>
            <p:cNvSpPr/>
            <p:nvPr/>
          </p:nvSpPr>
          <p:spPr>
            <a:xfrm>
              <a:off x="609600" y="3981450"/>
              <a:ext cx="6629400" cy="1219200"/>
            </a:xfrm>
            <a:prstGeom prst="roundRect">
              <a:avLst>
                <a:gd name="adj" fmla="val 12500"/>
              </a:avLst>
            </a:prstGeom>
            <a:noFill/>
            <a:ln w="19050">
              <a:solidFill>
                <a:schemeClr val="accent1"/>
              </a:solidFill>
            </a:ln>
          </p:spPr>
        </p:sp>
        <p:sp>
          <p:nvSpPr>
            <p:cNvPr id="20" name="TextBox 20"/>
            <p:cNvSpPr txBox="1"/>
            <p:nvPr/>
          </p:nvSpPr>
          <p:spPr>
            <a:xfrm>
              <a:off x="829818" y="4089082"/>
              <a:ext cx="1793748"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決まっていること</a:t>
              </a:r>
            </a:p>
          </p:txBody>
        </p:sp>
        <p:sp>
          <p:nvSpPr>
            <p:cNvPr id="21" name="TextBox 21"/>
            <p:cNvSpPr txBox="1"/>
            <p:nvPr/>
          </p:nvSpPr>
          <p:spPr>
            <a:xfrm>
              <a:off x="829818" y="4393882"/>
              <a:ext cx="4857369" cy="856107"/>
            </a:xfrm>
            <a:prstGeom prst="rect">
              <a:avLst/>
            </a:prstGeom>
            <a:noFill/>
            <a:ln>
              <a:noFill/>
            </a:ln>
          </p:spPr>
          <p:txBody>
            <a:bodyPr wrap="none" lIns="0" tIns="0" rIns="0" bIns="0" anchor="t" anchorCtr="0">
              <a:spAutoFit/>
            </a:bodyPr>
            <a:lstStyle/>
            <a:p>
              <a:pPr algn="l">
                <a:lnSpc>
                  <a:spcPts val="2100"/>
                </a:lnSpc>
              </a:pPr>
              <a:r>
                <a:rPr lang="ja-JP" sz="1650" dirty="0">
                  <a:solidFill>
                    <a:schemeClr val="dk1"/>
                  </a:solidFill>
                  <a:latin typeface="+mn-lt"/>
                  <a:ea typeface="+mn-ea"/>
                  <a:cs typeface="+mn-cs"/>
                </a:rPr>
                <a:t>・技術開発は「完了」と評価(国交省の評価委員会)</a:t>
              </a:r>
            </a:p>
            <a:p>
              <a:pPr algn="l">
                <a:lnSpc>
                  <a:spcPts val="2100"/>
                </a:lnSpc>
              </a:pPr>
              <a:r>
                <a:rPr lang="ja-JP" sz="1650" dirty="0">
                  <a:solidFill>
                    <a:schemeClr val="dk1"/>
                  </a:solidFill>
                  <a:latin typeface="+mn-lt"/>
                  <a:ea typeface="+mn-ea"/>
                  <a:cs typeface="+mn-cs"/>
                </a:rPr>
                <a:t>・工事契約82件(品川〜名古屋 約286kmの約9割)</a:t>
              </a:r>
            </a:p>
            <a:p>
              <a:pPr algn="l">
                <a:lnSpc>
                  <a:spcPts val="2100"/>
                </a:lnSpc>
              </a:pPr>
              <a:r>
                <a:rPr lang="ja-JP" sz="1650" dirty="0">
                  <a:solidFill>
                    <a:schemeClr val="dk1"/>
                  </a:solidFill>
                  <a:latin typeface="+mn-lt"/>
                  <a:ea typeface="+mn-ea"/>
                  <a:cs typeface="+mn-cs"/>
                </a:rPr>
                <a:t>・用地取得 約85%(2026年3月末)</a:t>
              </a:r>
            </a:p>
          </p:txBody>
        </p:sp>
      </p:grpSp>
      <p:grpSp>
        <p:nvGrpSpPr>
          <p:cNvPr id="26" name="Group 26"/>
          <p:cNvGrpSpPr/>
          <p:nvPr/>
        </p:nvGrpSpPr>
        <p:grpSpPr>
          <a:xfrm>
            <a:off x="609600" y="5334000"/>
            <a:ext cx="10972800" cy="723900"/>
            <a:chOff x="609600" y="5334000"/>
            <a:chExt cx="10972800" cy="723900"/>
          </a:xfrm>
        </p:grpSpPr>
        <p:sp>
          <p:nvSpPr>
            <p:cNvPr id="23" name="Rectangle 23"/>
            <p:cNvSpPr/>
            <p:nvPr/>
          </p:nvSpPr>
          <p:spPr>
            <a:xfrm>
              <a:off x="609600" y="5334000"/>
              <a:ext cx="10972800" cy="723900"/>
            </a:xfrm>
            <a:prstGeom prst="roundRect">
              <a:avLst>
                <a:gd name="adj" fmla="val 21053"/>
              </a:avLst>
            </a:prstGeom>
            <a:solidFill>
              <a:schemeClr val="lt2"/>
            </a:solidFill>
            <a:ln w="19050">
              <a:solidFill>
                <a:schemeClr val="accent2"/>
              </a:solidFill>
              <a:prstDash val="lgDash"/>
            </a:ln>
          </p:spPr>
        </p:sp>
        <p:sp>
          <p:nvSpPr>
            <p:cNvPr id="24" name="TextBox 24"/>
            <p:cNvSpPr txBox="1"/>
            <p:nvPr/>
          </p:nvSpPr>
          <p:spPr>
            <a:xfrm>
              <a:off x="829818" y="5574982"/>
              <a:ext cx="2015871" cy="322707"/>
            </a:xfrm>
            <a:prstGeom prst="rect">
              <a:avLst/>
            </a:prstGeom>
            <a:noFill/>
            <a:ln>
              <a:noFill/>
            </a:ln>
          </p:spPr>
          <p:txBody>
            <a:bodyPr wrap="none" lIns="0" tIns="0" rIns="0" bIns="0" anchor="t" anchorCtr="0">
              <a:spAutoFit/>
            </a:bodyPr>
            <a:lstStyle/>
            <a:p>
              <a:pPr algn="l"/>
              <a:r>
                <a:rPr lang="ja-JP" sz="1650" b="1" dirty="0">
                  <a:solidFill>
                    <a:schemeClr val="accent2"/>
                  </a:solidFill>
                  <a:latin typeface="+mn-lt"/>
                  <a:ea typeface="+mn-ea"/>
                  <a:cs typeface="+mn-cs"/>
                </a:rPr>
                <a:t>まだ見通せないこと</a:t>
              </a:r>
            </a:p>
          </p:txBody>
        </p:sp>
        <p:sp>
          <p:nvSpPr>
            <p:cNvPr id="25" name="TextBox 25"/>
            <p:cNvSpPr txBox="1"/>
            <p:nvPr/>
          </p:nvSpPr>
          <p:spPr>
            <a:xfrm>
              <a:off x="3134868" y="5441632"/>
              <a:ext cx="7466266" cy="608457"/>
            </a:xfrm>
            <a:prstGeom prst="rect">
              <a:avLst/>
            </a:prstGeom>
            <a:noFill/>
            <a:ln>
              <a:noFill/>
            </a:ln>
          </p:spPr>
          <p:txBody>
            <a:bodyPr wrap="none" lIns="0" tIns="0" rIns="0" bIns="0" anchor="t" anchorCtr="0">
              <a:spAutoFit/>
            </a:bodyPr>
            <a:lstStyle/>
            <a:p>
              <a:pPr algn="l">
                <a:lnSpc>
                  <a:spcPts val="2250"/>
                </a:lnSpc>
              </a:pPr>
              <a:r>
                <a:rPr lang="ja-JP" sz="1650" dirty="0">
                  <a:solidFill>
                    <a:schemeClr val="dk1"/>
                  </a:solidFill>
                  <a:latin typeface="+mn-lt"/>
                  <a:ea typeface="+mn-ea"/>
                  <a:cs typeface="+mn-cs"/>
                </a:rPr>
                <a:t>開業時期:静岡工区の掘削着手の見込みが立たず、新たな開業時期は見通せない</a:t>
              </a:r>
              <a:br/>
              <a:r>
                <a:rPr lang="ja-JP" sz="1650" dirty="0">
                  <a:solidFill>
                    <a:schemeClr val="dk1"/>
                  </a:solidFill>
                  <a:latin typeface="+mn-lt"/>
                  <a:ea typeface="+mn-ea"/>
                  <a:cs typeface="+mn-cs"/>
                </a:rPr>
                <a:t>総工事費:7.04兆円から11.0兆円となる見通し(2025年10月発表)</a:t>
              </a:r>
            </a:p>
          </p:txBody>
        </p:sp>
      </p:grpSp>
      <p:grpSp>
        <p:nvGrpSpPr>
          <p:cNvPr id="29" name="Group 29"/>
          <p:cNvGrpSpPr/>
          <p:nvPr/>
        </p:nvGrpSpPr>
        <p:grpSpPr>
          <a:xfrm>
            <a:off x="603504" y="6195060"/>
            <a:ext cx="10984992" cy="444246"/>
            <a:chOff x="603504" y="6195060"/>
            <a:chExt cx="10984992" cy="444246"/>
          </a:xfrm>
        </p:grpSpPr>
        <p:sp>
          <p:nvSpPr>
            <p:cNvPr id="27" name="TextBox 27"/>
            <p:cNvSpPr txBox="1"/>
            <p:nvPr/>
          </p:nvSpPr>
          <p:spPr>
            <a:xfrm>
              <a:off x="603504" y="6195060"/>
              <a:ext cx="966673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右の図はAI生成のイメージ。品川〜名古屋間の工事完了予定は2023年12月認可で「2027年以降」。所要時間は最速、東海道新幹線との比較。</a:t>
              </a:r>
              <a:br/>
              <a:r>
                <a:rPr lang="ja-JP" sz="1200" dirty="0">
                  <a:solidFill>
                    <a:schemeClr val="accent5"/>
                  </a:solidFill>
                  <a:latin typeface="+mn-lt"/>
                  <a:ea typeface="+mn-ea"/>
                  <a:cs typeface="+mn-cs"/>
                </a:rPr>
                <a:t>出典:JR東海 ファクトシート2026「超電導リニアによる中央新幹線計画」(2026年3月末時点)</a:t>
              </a:r>
            </a:p>
          </p:txBody>
        </p:sp>
        <p:sp>
          <p:nvSpPr>
            <p:cNvPr id="28" name="TextBox 28"/>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6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01218" y="431482"/>
            <a:ext cx="683133" cy="322707"/>
            <a:chOff x="601218" y="431482"/>
            <a:chExt cx="683133" cy="322707"/>
          </a:xfrm>
        </p:grpSpPr>
        <p:sp>
          <p:nvSpPr>
            <p:cNvPr id="2" name="TextBox 2"/>
            <p:cNvSpPr txBox="1"/>
            <p:nvPr/>
          </p:nvSpPr>
          <p:spPr>
            <a:xfrm>
              <a:off x="601218" y="431482"/>
              <a:ext cx="683133" cy="322707"/>
            </a:xfrm>
            <a:prstGeom prst="rect">
              <a:avLst/>
            </a:prstGeom>
            <a:noFill/>
            <a:ln>
              <a:noFill/>
            </a:ln>
          </p:spPr>
          <p:txBody>
            <a:bodyPr wrap="none" lIns="0" tIns="0" rIns="0" bIns="0" anchor="t" anchorCtr="0">
              <a:spAutoFit/>
            </a:bodyPr>
            <a:lstStyle/>
            <a:p>
              <a:pPr algn="l"/>
              <a:r>
                <a:rPr lang="ja-JP" sz="1650" b="1" dirty="0">
                  <a:solidFill>
                    <a:schemeClr val="accent2"/>
                  </a:solidFill>
                  <a:latin typeface="+mn-lt"/>
                  <a:ea typeface="+mn-ea"/>
                  <a:cs typeface="+mn-cs"/>
                </a:rPr>
                <a:t>まとめ</a:t>
              </a:r>
            </a:p>
          </p:txBody>
        </p:sp>
      </p:grpSp>
      <p:grpSp>
        <p:nvGrpSpPr>
          <p:cNvPr id="5" name="Group 5"/>
          <p:cNvGrpSpPr/>
          <p:nvPr/>
        </p:nvGrpSpPr>
        <p:grpSpPr>
          <a:xfrm>
            <a:off x="591312" y="792480"/>
            <a:ext cx="6437376" cy="1294638"/>
            <a:chOff x="591312" y="792480"/>
            <a:chExt cx="6437376" cy="1294638"/>
          </a:xfrm>
        </p:grpSpPr>
        <p:sp>
          <p:nvSpPr>
            <p:cNvPr id="4" name="TextBox 4"/>
            <p:cNvSpPr txBox="1"/>
            <p:nvPr/>
          </p:nvSpPr>
          <p:spPr>
            <a:xfrm>
              <a:off x="591312" y="792480"/>
              <a:ext cx="6437376" cy="1294638"/>
            </a:xfrm>
            <a:prstGeom prst="rect">
              <a:avLst/>
            </a:prstGeom>
            <a:noFill/>
            <a:ln>
              <a:noFill/>
            </a:ln>
          </p:spPr>
          <p:txBody>
            <a:bodyPr wrap="none" lIns="0" tIns="0" rIns="0" bIns="0" anchor="t" anchorCtr="0">
              <a:spAutoFit/>
            </a:bodyPr>
            <a:lstStyle/>
            <a:p>
              <a:pPr algn="l">
                <a:lnSpc>
                  <a:spcPts val="4650"/>
                </a:lnSpc>
              </a:pPr>
              <a:r>
                <a:rPr lang="ja-JP" sz="3600" b="1" dirty="0">
                  <a:solidFill>
                    <a:schemeClr val="accent1"/>
                  </a:solidFill>
                  <a:latin typeface="+mj-lt"/>
                  <a:ea typeface="+mj-ea"/>
                  <a:cs typeface="+mj-cs"/>
                </a:rPr>
                <a:t>速さ・本数・正確さ・安全を、</a:t>
              </a:r>
              <a:br/>
              <a:r>
                <a:rPr lang="ja-JP" sz="3600" b="1" dirty="0">
                  <a:solidFill>
                    <a:schemeClr val="accent1"/>
                  </a:solidFill>
                  <a:latin typeface="+mj-lt"/>
                  <a:ea typeface="+mj-ea"/>
                  <a:cs typeface="+mj-cs"/>
                </a:rPr>
                <a:t>同時に積み上げた60年。</a:t>
              </a:r>
            </a:p>
          </p:txBody>
        </p:sp>
      </p:grpSp>
      <p:grpSp>
        <p:nvGrpSpPr>
          <p:cNvPr id="7" name="Group 7"/>
          <p:cNvGrpSpPr/>
          <p:nvPr/>
        </p:nvGrpSpPr>
        <p:grpSpPr>
          <a:xfrm>
            <a:off x="596646" y="2086928"/>
            <a:ext cx="6224397" cy="498729"/>
            <a:chOff x="596646" y="2086928"/>
            <a:chExt cx="6224397" cy="498729"/>
          </a:xfrm>
        </p:grpSpPr>
        <p:sp>
          <p:nvSpPr>
            <p:cNvPr id="6" name="TextBox 6"/>
            <p:cNvSpPr txBox="1"/>
            <p:nvPr/>
          </p:nvSpPr>
          <p:spPr>
            <a:xfrm>
              <a:off x="596646" y="2086928"/>
              <a:ext cx="6224397" cy="498729"/>
            </a:xfrm>
            <a:prstGeom prst="rect">
              <a:avLst/>
            </a:prstGeom>
            <a:noFill/>
            <a:ln>
              <a:noFill/>
            </a:ln>
          </p:spPr>
          <p:txBody>
            <a:bodyPr wrap="none" lIns="0" tIns="0" rIns="0" bIns="0" anchor="t" anchorCtr="0">
              <a:spAutoFit/>
            </a:bodyPr>
            <a:lstStyle/>
            <a:p>
              <a:pPr algn="l"/>
              <a:r>
                <a:rPr lang="ja-JP" sz="2550" b="1" dirty="0">
                  <a:solidFill>
                    <a:schemeClr val="accent2"/>
                  </a:solidFill>
                  <a:latin typeface="+mj-lt"/>
                  <a:ea typeface="+mj-ea"/>
                  <a:cs typeface="+mj-cs"/>
                </a:rPr>
                <a:t>次の60年は、大動脈を二重にして守る。</a:t>
              </a:r>
            </a:p>
          </p:txBody>
        </p:sp>
      </p:grpSp>
      <p:grpSp>
        <p:nvGrpSpPr>
          <p:cNvPr id="25" name="Group 25"/>
          <p:cNvGrpSpPr/>
          <p:nvPr/>
        </p:nvGrpSpPr>
        <p:grpSpPr>
          <a:xfrm>
            <a:off x="381000" y="2686050"/>
            <a:ext cx="11430000" cy="1154239"/>
            <a:chOff x="381000" y="2686050"/>
            <a:chExt cx="11430000" cy="1154239"/>
          </a:xfrm>
        </p:grpSpPr>
        <p:sp>
          <p:nvSpPr>
            <p:cNvPr id="8" name="Rectangle 8"/>
            <p:cNvSpPr/>
            <p:nvPr/>
          </p:nvSpPr>
          <p:spPr>
            <a:xfrm>
              <a:off x="381000" y="2762250"/>
              <a:ext cx="11430000" cy="114300"/>
            </a:xfrm>
            <a:prstGeom prst="rect">
              <a:avLst/>
            </a:prstGeom>
            <a:solidFill>
              <a:schemeClr val="accent1"/>
            </a:solidFill>
            <a:ln>
              <a:noFill/>
            </a:ln>
          </p:spPr>
        </p:sp>
        <p:sp>
          <p:nvSpPr>
            <p:cNvPr id="9" name="Line 9"/>
            <p:cNvSpPr/>
            <p:nvPr/>
          </p:nvSpPr>
          <p:spPr>
            <a:xfrm>
              <a:off x="381000" y="295275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nvGrpSpPr>
            <p:cNvPr id="14" name="Group 14"/>
            <p:cNvGrpSpPr/>
            <p:nvPr/>
          </p:nvGrpSpPr>
          <p:grpSpPr>
            <a:xfrm>
              <a:off x="1771650" y="2686050"/>
              <a:ext cx="8267700" cy="266700"/>
              <a:chOff x="1771650" y="2686050"/>
              <a:chExt cx="8267700" cy="266700"/>
            </a:xfrm>
          </p:grpSpPr>
          <p:sp>
            <p:nvSpPr>
              <p:cNvPr id="10" name="Ellipse 10"/>
              <p:cNvSpPr/>
              <p:nvPr/>
            </p:nvSpPr>
            <p:spPr>
              <a:xfrm>
                <a:off x="1771650" y="2686050"/>
                <a:ext cx="266700" cy="266700"/>
              </a:xfrm>
              <a:prstGeom prst="ellipse">
                <a:avLst/>
              </a:prstGeom>
              <a:solidFill>
                <a:schemeClr val="lt1"/>
              </a:solidFill>
              <a:ln w="38100">
                <a:solidFill>
                  <a:schemeClr val="accent1"/>
                </a:solidFill>
              </a:ln>
            </p:spPr>
          </p:sp>
          <p:sp>
            <p:nvSpPr>
              <p:cNvPr id="11" name="Ellipse 11"/>
              <p:cNvSpPr/>
              <p:nvPr/>
            </p:nvSpPr>
            <p:spPr>
              <a:xfrm>
                <a:off x="4438650" y="2686050"/>
                <a:ext cx="266700" cy="266700"/>
              </a:xfrm>
              <a:prstGeom prst="ellipse">
                <a:avLst/>
              </a:prstGeom>
              <a:solidFill>
                <a:schemeClr val="lt1"/>
              </a:solidFill>
              <a:ln w="38100">
                <a:solidFill>
                  <a:schemeClr val="accent1"/>
                </a:solidFill>
              </a:ln>
            </p:spPr>
          </p:sp>
          <p:sp>
            <p:nvSpPr>
              <p:cNvPr id="12" name="Ellipse 12"/>
              <p:cNvSpPr/>
              <p:nvPr/>
            </p:nvSpPr>
            <p:spPr>
              <a:xfrm>
                <a:off x="7105650" y="2686050"/>
                <a:ext cx="266700" cy="266700"/>
              </a:xfrm>
              <a:prstGeom prst="ellipse">
                <a:avLst/>
              </a:prstGeom>
              <a:solidFill>
                <a:schemeClr val="lt1"/>
              </a:solidFill>
              <a:ln w="38100">
                <a:solidFill>
                  <a:schemeClr val="accent1"/>
                </a:solidFill>
              </a:ln>
            </p:spPr>
          </p:sp>
          <p:sp>
            <p:nvSpPr>
              <p:cNvPr id="13" name="Ellipse 13"/>
              <p:cNvSpPr/>
              <p:nvPr/>
            </p:nvSpPr>
            <p:spPr>
              <a:xfrm>
                <a:off x="9772650" y="2686050"/>
                <a:ext cx="266700" cy="266700"/>
              </a:xfrm>
              <a:prstGeom prst="ellipse">
                <a:avLst/>
              </a:prstGeom>
              <a:solidFill>
                <a:schemeClr val="lt1"/>
              </a:solidFill>
              <a:ln w="38100">
                <a:solidFill>
                  <a:schemeClr val="accent2"/>
                </a:solidFill>
              </a:ln>
            </p:spPr>
          </p:sp>
        </p:grpSp>
        <p:grpSp>
          <p:nvGrpSpPr>
            <p:cNvPr id="19" name="Group 19"/>
            <p:cNvGrpSpPr/>
            <p:nvPr/>
          </p:nvGrpSpPr>
          <p:grpSpPr>
            <a:xfrm>
              <a:off x="1128301" y="3131820"/>
              <a:ext cx="9112979" cy="469392"/>
              <a:chOff x="1128301" y="3131820"/>
              <a:chExt cx="9112979" cy="469392"/>
            </a:xfrm>
          </p:grpSpPr>
          <p:sp>
            <p:nvSpPr>
              <p:cNvPr id="15" name="TextBox 15"/>
              <p:cNvSpPr txBox="1"/>
              <p:nvPr/>
            </p:nvSpPr>
            <p:spPr>
              <a:xfrm>
                <a:off x="1128301" y="3131820"/>
                <a:ext cx="1553398" cy="469392"/>
              </a:xfrm>
              <a:prstGeom prst="rect">
                <a:avLst/>
              </a:prstGeom>
              <a:noFill/>
              <a:ln>
                <a:noFill/>
              </a:ln>
            </p:spPr>
            <p:txBody>
              <a:bodyPr wrap="none" lIns="0" tIns="0" rIns="0" bIns="0" anchor="t" anchorCtr="0">
                <a:spAutoFit/>
              </a:bodyPr>
              <a:lstStyle/>
              <a:p>
                <a:pPr algn="ctr"/>
                <a:r>
                  <a:rPr lang="ja-JP" sz="2400" b="1" dirty="0">
                    <a:solidFill>
                      <a:schemeClr val="accent1"/>
                    </a:solidFill>
                    <a:latin typeface="+mn-lt"/>
                    <a:ea typeface="+mn-ea"/>
                    <a:cs typeface="+mn-cs"/>
                  </a:rPr>
                  <a:t>2時間21分</a:t>
                </a:r>
              </a:p>
            </p:txBody>
          </p:sp>
          <p:sp>
            <p:nvSpPr>
              <p:cNvPr id="16" name="TextBox 16"/>
              <p:cNvSpPr txBox="1"/>
              <p:nvPr/>
            </p:nvSpPr>
            <p:spPr>
              <a:xfrm>
                <a:off x="3863553" y="3131820"/>
                <a:ext cx="1416893" cy="469392"/>
              </a:xfrm>
              <a:prstGeom prst="rect">
                <a:avLst/>
              </a:prstGeom>
              <a:noFill/>
              <a:ln>
                <a:noFill/>
              </a:ln>
            </p:spPr>
            <p:txBody>
              <a:bodyPr wrap="none" lIns="0" tIns="0" rIns="0" bIns="0" anchor="t" anchorCtr="0">
                <a:spAutoFit/>
              </a:bodyPr>
              <a:lstStyle/>
              <a:p>
                <a:pPr algn="ctr"/>
                <a:r>
                  <a:rPr lang="ja-JP" sz="2400" b="1" dirty="0">
                    <a:solidFill>
                      <a:schemeClr val="accent1"/>
                    </a:solidFill>
                    <a:latin typeface="+mn-lt"/>
                    <a:ea typeface="+mn-ea"/>
                    <a:cs typeface="+mn-cs"/>
                  </a:rPr>
                  <a:t>395本/日</a:t>
                </a:r>
              </a:p>
            </p:txBody>
          </p:sp>
          <p:sp>
            <p:nvSpPr>
              <p:cNvPr id="17" name="TextBox 17"/>
              <p:cNvSpPr txBox="1"/>
              <p:nvPr/>
            </p:nvSpPr>
            <p:spPr>
              <a:xfrm>
                <a:off x="6785389" y="3131820"/>
                <a:ext cx="907222" cy="469392"/>
              </a:xfrm>
              <a:prstGeom prst="rect">
                <a:avLst/>
              </a:prstGeom>
              <a:noFill/>
              <a:ln>
                <a:noFill/>
              </a:ln>
            </p:spPr>
            <p:txBody>
              <a:bodyPr wrap="none" lIns="0" tIns="0" rIns="0" bIns="0" anchor="t" anchorCtr="0">
                <a:spAutoFit/>
              </a:bodyPr>
              <a:lstStyle/>
              <a:p>
                <a:pPr algn="ctr"/>
                <a:r>
                  <a:rPr lang="ja-JP" sz="2400" b="1" dirty="0">
                    <a:solidFill>
                      <a:schemeClr val="accent1"/>
                    </a:solidFill>
                    <a:latin typeface="+mn-lt"/>
                    <a:ea typeface="+mn-ea"/>
                    <a:cs typeface="+mn-cs"/>
                  </a:rPr>
                  <a:t>1.0分</a:t>
                </a:r>
              </a:p>
            </p:txBody>
          </p:sp>
          <p:sp>
            <p:nvSpPr>
              <p:cNvPr id="18" name="TextBox 18"/>
              <p:cNvSpPr txBox="1"/>
              <p:nvPr/>
            </p:nvSpPr>
            <p:spPr>
              <a:xfrm>
                <a:off x="9570720" y="3131820"/>
                <a:ext cx="670560" cy="469392"/>
              </a:xfrm>
              <a:prstGeom prst="rect">
                <a:avLst/>
              </a:prstGeom>
              <a:noFill/>
              <a:ln>
                <a:noFill/>
              </a:ln>
            </p:spPr>
            <p:txBody>
              <a:bodyPr wrap="none" lIns="0" tIns="0" rIns="0" bIns="0" anchor="t" anchorCtr="0">
                <a:spAutoFit/>
              </a:bodyPr>
              <a:lstStyle/>
              <a:p>
                <a:pPr algn="ctr"/>
                <a:r>
                  <a:rPr lang="ja-JP" sz="2400" b="1" dirty="0">
                    <a:solidFill>
                      <a:schemeClr val="accent2"/>
                    </a:solidFill>
                    <a:latin typeface="+mn-lt"/>
                    <a:ea typeface="+mn-ea"/>
                    <a:cs typeface="+mn-cs"/>
                  </a:rPr>
                  <a:t>ゼロ</a:t>
                </a:r>
              </a:p>
            </p:txBody>
          </p:sp>
        </p:grpSp>
        <p:grpSp>
          <p:nvGrpSpPr>
            <p:cNvPr id="24" name="Group 24"/>
            <p:cNvGrpSpPr/>
            <p:nvPr/>
          </p:nvGrpSpPr>
          <p:grpSpPr>
            <a:xfrm>
              <a:off x="885958" y="3517582"/>
              <a:ext cx="9916916" cy="322707"/>
              <a:chOff x="885958" y="3517582"/>
              <a:chExt cx="9916916" cy="322707"/>
            </a:xfrm>
          </p:grpSpPr>
          <p:sp>
            <p:nvSpPr>
              <p:cNvPr id="20" name="TextBox 20"/>
              <p:cNvSpPr txBox="1"/>
              <p:nvPr/>
            </p:nvSpPr>
            <p:spPr>
              <a:xfrm>
                <a:off x="885958" y="3517582"/>
                <a:ext cx="2038083"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速さ(東京〜新大阪)</a:t>
                </a:r>
              </a:p>
            </p:txBody>
          </p:sp>
          <p:sp>
            <p:nvSpPr>
              <p:cNvPr id="21" name="TextBox 21"/>
              <p:cNvSpPr txBox="1"/>
              <p:nvPr/>
            </p:nvSpPr>
            <p:spPr>
              <a:xfrm>
                <a:off x="3752869" y="3517582"/>
                <a:ext cx="1638262"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本数(2025年度)</a:t>
                </a:r>
              </a:p>
            </p:txBody>
          </p:sp>
          <p:sp>
            <p:nvSpPr>
              <p:cNvPr id="22" name="TextBox 22"/>
              <p:cNvSpPr txBox="1"/>
              <p:nvPr/>
            </p:nvSpPr>
            <p:spPr>
              <a:xfrm>
                <a:off x="6197746" y="3517582"/>
                <a:ext cx="2082508"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平均遅延(2025年度)</a:t>
                </a:r>
              </a:p>
            </p:txBody>
          </p:sp>
          <p:sp>
            <p:nvSpPr>
              <p:cNvPr id="23" name="TextBox 23"/>
              <p:cNvSpPr txBox="1"/>
              <p:nvPr/>
            </p:nvSpPr>
            <p:spPr>
              <a:xfrm>
                <a:off x="9009126" y="3517582"/>
                <a:ext cx="1793748"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乗車中の死傷事故</a:t>
                </a:r>
              </a:p>
            </p:txBody>
          </p:sp>
        </p:grpSp>
      </p:grpSp>
      <p:grpSp>
        <p:nvGrpSpPr>
          <p:cNvPr id="36" name="Group 36"/>
          <p:cNvGrpSpPr/>
          <p:nvPr/>
        </p:nvGrpSpPr>
        <p:grpSpPr>
          <a:xfrm>
            <a:off x="601218" y="4012882"/>
            <a:ext cx="10757916" cy="1673924"/>
            <a:chOff x="601218" y="4012882"/>
            <a:chExt cx="10757916" cy="1673924"/>
          </a:xfrm>
        </p:grpSpPr>
        <p:sp>
          <p:nvSpPr>
            <p:cNvPr id="26" name="TextBox 26"/>
            <p:cNvSpPr txBox="1"/>
            <p:nvPr/>
          </p:nvSpPr>
          <p:spPr>
            <a:xfrm>
              <a:off x="601218" y="4012882"/>
              <a:ext cx="3160915"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主要出典(クリックで開きます)</a:t>
              </a:r>
            </a:p>
          </p:txBody>
        </p:sp>
        <p:sp>
          <p:nvSpPr>
            <p:cNvPr id="27" name="TextBox 27"/>
            <p:cNvSpPr txBox="1"/>
            <p:nvPr/>
          </p:nvSpPr>
          <p:spPr>
            <a:xfrm>
              <a:off x="603504" y="4385310"/>
              <a:ext cx="3350057" cy="234696"/>
            </a:xfrm>
            <a:prstGeom prst="rect">
              <a:avLst/>
            </a:prstGeom>
            <a:noFill/>
            <a:ln>
              <a:noFill/>
            </a:ln>
          </p:spPr>
          <p:txBody>
            <a:bodyPr wrap="none" lIns="0" tIns="0" rIns="0" bIns="0" anchor="t" anchorCtr="0">
              <a:spAutoFit/>
            </a:bodyPr>
            <a:lstStyle/>
            <a:p>
              <a:pPr algn="l"/>
              <a:r>
                <a:rPr lang="ja-JP" sz="1200" u="sng" dirty="0">
                  <a:solidFill>
                    <a:schemeClr val="accent1"/>
                  </a:solidFill>
                  <a:latin typeface="+mn-lt"/>
                  <a:ea typeface="+mn-ea"/>
                  <a:cs typeface="+mn-cs"/>
                  <a:hlinkClick r:id="rId2"/>
                </a:rPr>
                <a:t>JR東海 ファクトシート2026「東海道新幹線」</a:t>
              </a:r>
            </a:p>
          </p:txBody>
        </p:sp>
        <p:sp>
          <p:nvSpPr>
            <p:cNvPr id="28" name="TextBox 28"/>
            <p:cNvSpPr txBox="1"/>
            <p:nvPr/>
          </p:nvSpPr>
          <p:spPr>
            <a:xfrm>
              <a:off x="603504" y="4652010"/>
              <a:ext cx="3026969" cy="234696"/>
            </a:xfrm>
            <a:prstGeom prst="rect">
              <a:avLst/>
            </a:prstGeom>
            <a:noFill/>
            <a:ln>
              <a:noFill/>
            </a:ln>
          </p:spPr>
          <p:txBody>
            <a:bodyPr wrap="none" lIns="0" tIns="0" rIns="0" bIns="0" anchor="t" anchorCtr="0">
              <a:spAutoFit/>
            </a:bodyPr>
            <a:lstStyle/>
            <a:p>
              <a:pPr algn="l"/>
              <a:r>
                <a:rPr lang="ja-JP" sz="1200" u="sng" dirty="0">
                  <a:solidFill>
                    <a:schemeClr val="accent1"/>
                  </a:solidFill>
                  <a:latin typeface="+mn-lt"/>
                  <a:ea typeface="+mn-ea"/>
                  <a:cs typeface="+mn-cs"/>
                  <a:hlinkClick r:id="rId3"/>
                </a:rPr>
                <a:t>JR東海 ファクトシート2026「地震対策」</a:t>
              </a:r>
            </a:p>
          </p:txBody>
        </p:sp>
        <p:sp>
          <p:nvSpPr>
            <p:cNvPr id="29" name="TextBox 29"/>
            <p:cNvSpPr txBox="1"/>
            <p:nvPr/>
          </p:nvSpPr>
          <p:spPr>
            <a:xfrm>
              <a:off x="603504" y="4918710"/>
              <a:ext cx="4965497" cy="234696"/>
            </a:xfrm>
            <a:prstGeom prst="rect">
              <a:avLst/>
            </a:prstGeom>
            <a:noFill/>
            <a:ln>
              <a:noFill/>
            </a:ln>
          </p:spPr>
          <p:txBody>
            <a:bodyPr wrap="none" lIns="0" tIns="0" rIns="0" bIns="0" anchor="t" anchorCtr="0">
              <a:spAutoFit/>
            </a:bodyPr>
            <a:lstStyle/>
            <a:p>
              <a:pPr algn="l"/>
              <a:r>
                <a:rPr lang="ja-JP" sz="1200" u="sng" dirty="0">
                  <a:solidFill>
                    <a:schemeClr val="accent1"/>
                  </a:solidFill>
                  <a:latin typeface="+mn-lt"/>
                  <a:ea typeface="+mn-ea"/>
                  <a:cs typeface="+mn-cs"/>
                  <a:hlinkClick r:id="rId4"/>
                </a:rPr>
                <a:t>JR東海 ファクトシート2026「超電導リニアによる中央新幹線計画」</a:t>
              </a:r>
            </a:p>
          </p:txBody>
        </p:sp>
        <p:sp>
          <p:nvSpPr>
            <p:cNvPr id="30" name="TextBox 30"/>
            <p:cNvSpPr txBox="1"/>
            <p:nvPr/>
          </p:nvSpPr>
          <p:spPr>
            <a:xfrm>
              <a:off x="603504" y="5185410"/>
              <a:ext cx="2833116" cy="234696"/>
            </a:xfrm>
            <a:prstGeom prst="rect">
              <a:avLst/>
            </a:prstGeom>
            <a:noFill/>
            <a:ln>
              <a:noFill/>
            </a:ln>
          </p:spPr>
          <p:txBody>
            <a:bodyPr wrap="none" lIns="0" tIns="0" rIns="0" bIns="0" anchor="t" anchorCtr="0">
              <a:spAutoFit/>
            </a:bodyPr>
            <a:lstStyle/>
            <a:p>
              <a:pPr algn="l"/>
              <a:r>
                <a:rPr lang="ja-JP" sz="1200" u="sng" dirty="0">
                  <a:solidFill>
                    <a:schemeClr val="accent1"/>
                  </a:solidFill>
                  <a:latin typeface="+mn-lt"/>
                  <a:ea typeface="+mn-ea"/>
                  <a:cs typeface="+mn-cs"/>
                  <a:hlinkClick r:id="rId5"/>
                </a:rPr>
                <a:t>JR東海 採用サイト「新幹線鉄道事業」</a:t>
              </a:r>
            </a:p>
          </p:txBody>
        </p:sp>
        <p:sp>
          <p:nvSpPr>
            <p:cNvPr id="31" name="TextBox 31"/>
            <p:cNvSpPr txBox="1"/>
            <p:nvPr/>
          </p:nvSpPr>
          <p:spPr>
            <a:xfrm>
              <a:off x="603504" y="5452110"/>
              <a:ext cx="2335987" cy="234696"/>
            </a:xfrm>
            <a:prstGeom prst="rect">
              <a:avLst/>
            </a:prstGeom>
            <a:noFill/>
            <a:ln>
              <a:noFill/>
            </a:ln>
          </p:spPr>
          <p:txBody>
            <a:bodyPr wrap="none" lIns="0" tIns="0" rIns="0" bIns="0" anchor="t" anchorCtr="0">
              <a:spAutoFit/>
            </a:bodyPr>
            <a:lstStyle/>
            <a:p>
              <a:pPr algn="l"/>
              <a:r>
                <a:rPr lang="ja-JP" sz="1200" u="sng" dirty="0">
                  <a:solidFill>
                    <a:schemeClr val="accent1"/>
                  </a:solidFill>
                  <a:latin typeface="+mn-lt"/>
                  <a:ea typeface="+mn-ea"/>
                  <a:cs typeface="+mn-cs"/>
                  <a:hlinkClick r:id="rId6"/>
                </a:rPr>
                <a:t>JR東海「N700S 車両のご案内」</a:t>
              </a:r>
            </a:p>
          </p:txBody>
        </p:sp>
        <p:sp>
          <p:nvSpPr>
            <p:cNvPr id="32" name="TextBox 32"/>
            <p:cNvSpPr txBox="1"/>
            <p:nvPr/>
          </p:nvSpPr>
          <p:spPr>
            <a:xfrm>
              <a:off x="5975604" y="4385310"/>
              <a:ext cx="4513174" cy="234696"/>
            </a:xfrm>
            <a:prstGeom prst="rect">
              <a:avLst/>
            </a:prstGeom>
            <a:noFill/>
            <a:ln>
              <a:noFill/>
            </a:ln>
          </p:spPr>
          <p:txBody>
            <a:bodyPr wrap="none" lIns="0" tIns="0" rIns="0" bIns="0" anchor="t" anchorCtr="0">
              <a:spAutoFit/>
            </a:bodyPr>
            <a:lstStyle/>
            <a:p>
              <a:pPr algn="l"/>
              <a:r>
                <a:rPr lang="ja-JP" sz="1200" u="sng" dirty="0">
                  <a:solidFill>
                    <a:schemeClr val="accent1"/>
                  </a:solidFill>
                  <a:latin typeface="+mn-lt"/>
                  <a:ea typeface="+mn-ea"/>
                  <a:cs typeface="+mn-cs"/>
                  <a:hlinkClick r:id="rId7"/>
                </a:rPr>
                <a:t>JR東海 ニュースリリース「開業60周年にあたって」(2024年)</a:t>
              </a:r>
            </a:p>
          </p:txBody>
        </p:sp>
        <p:sp>
          <p:nvSpPr>
            <p:cNvPr id="33" name="TextBox 33"/>
            <p:cNvSpPr txBox="1"/>
            <p:nvPr/>
          </p:nvSpPr>
          <p:spPr>
            <a:xfrm>
              <a:off x="5975604" y="4652010"/>
              <a:ext cx="4820107" cy="234696"/>
            </a:xfrm>
            <a:prstGeom prst="rect">
              <a:avLst/>
            </a:prstGeom>
            <a:noFill/>
            <a:ln>
              <a:noFill/>
            </a:ln>
          </p:spPr>
          <p:txBody>
            <a:bodyPr wrap="none" lIns="0" tIns="0" rIns="0" bIns="0" anchor="t" anchorCtr="0">
              <a:spAutoFit/>
            </a:bodyPr>
            <a:lstStyle/>
            <a:p>
              <a:pPr algn="l"/>
              <a:r>
                <a:rPr lang="ja-JP" sz="1200" u="sng" dirty="0">
                  <a:solidFill>
                    <a:schemeClr val="accent1"/>
                  </a:solidFill>
                  <a:latin typeface="+mn-lt"/>
                  <a:ea typeface="+mn-ea"/>
                  <a:cs typeface="+mn-cs"/>
                  <a:hlinkClick r:id="rId8"/>
                </a:rPr>
                <a:t>JR東海 ニュースリリース「地震検知の早期化について」(2017年)</a:t>
              </a:r>
            </a:p>
          </p:txBody>
        </p:sp>
        <p:sp>
          <p:nvSpPr>
            <p:cNvPr id="34" name="TextBox 34"/>
            <p:cNvSpPr txBox="1"/>
            <p:nvPr/>
          </p:nvSpPr>
          <p:spPr>
            <a:xfrm>
              <a:off x="5975604" y="4918710"/>
              <a:ext cx="4981651" cy="234696"/>
            </a:xfrm>
            <a:prstGeom prst="rect">
              <a:avLst/>
            </a:prstGeom>
            <a:noFill/>
            <a:ln>
              <a:noFill/>
            </a:ln>
          </p:spPr>
          <p:txBody>
            <a:bodyPr wrap="none" lIns="0" tIns="0" rIns="0" bIns="0" anchor="t" anchorCtr="0">
              <a:spAutoFit/>
            </a:bodyPr>
            <a:lstStyle/>
            <a:p>
              <a:pPr algn="l"/>
              <a:r>
                <a:rPr lang="ja-JP" sz="1200" u="sng" dirty="0">
                  <a:solidFill>
                    <a:schemeClr val="accent1"/>
                  </a:solidFill>
                  <a:latin typeface="+mn-lt"/>
                  <a:ea typeface="+mn-ea"/>
                  <a:cs typeface="+mn-cs"/>
                  <a:hlinkClick r:id="rId9"/>
                </a:rPr>
                <a:t>JR東海 ニュースリリース「地震防災システムの機能強化」(2012年)</a:t>
              </a:r>
            </a:p>
          </p:txBody>
        </p:sp>
        <p:sp>
          <p:nvSpPr>
            <p:cNvPr id="35" name="TextBox 35"/>
            <p:cNvSpPr txBox="1"/>
            <p:nvPr/>
          </p:nvSpPr>
          <p:spPr>
            <a:xfrm>
              <a:off x="5975604" y="5185410"/>
              <a:ext cx="5383530" cy="234696"/>
            </a:xfrm>
            <a:prstGeom prst="rect">
              <a:avLst/>
            </a:prstGeom>
            <a:noFill/>
            <a:ln>
              <a:noFill/>
            </a:ln>
          </p:spPr>
          <p:txBody>
            <a:bodyPr wrap="none" lIns="0" tIns="0" rIns="0" bIns="0" anchor="t" anchorCtr="0">
              <a:spAutoFit/>
            </a:bodyPr>
            <a:lstStyle/>
            <a:p>
              <a:pPr algn="l"/>
              <a:r>
                <a:rPr lang="ja-JP" sz="1200" u="sng" dirty="0">
                  <a:solidFill>
                    <a:schemeClr val="accent1"/>
                  </a:solidFill>
                  <a:latin typeface="+mn-lt"/>
                  <a:ea typeface="+mn-ea"/>
                  <a:cs typeface="+mn-cs"/>
                  <a:hlinkClick r:id="rId10"/>
                </a:rPr>
                <a:t>上野雅之「東海道新幹線車両技術の変遷」日本機械学会誌 120巻(2017年)</a:t>
              </a:r>
            </a:p>
          </p:txBody>
        </p:sp>
      </p:grpSp>
      <p:grpSp>
        <p:nvGrpSpPr>
          <p:cNvPr id="39" name="Group 39"/>
          <p:cNvGrpSpPr/>
          <p:nvPr/>
        </p:nvGrpSpPr>
        <p:grpSpPr>
          <a:xfrm>
            <a:off x="603504" y="5966460"/>
            <a:ext cx="10984992" cy="444246"/>
            <a:chOff x="603504" y="5966460"/>
            <a:chExt cx="10984992" cy="444246"/>
          </a:xfrm>
        </p:grpSpPr>
        <p:sp>
          <p:nvSpPr>
            <p:cNvPr id="37" name="TextBox 37"/>
            <p:cNvSpPr txBox="1"/>
            <p:nvPr/>
          </p:nvSpPr>
          <p:spPr>
            <a:xfrm>
              <a:off x="603504" y="5966460"/>
              <a:ext cx="626059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結論とまとめの四つの切り口は当資料による整理。数値は各出典の記載年度・時点のもの。</a:t>
              </a:r>
              <a:br/>
              <a:r>
                <a:rPr lang="ja-JP" sz="1200" dirty="0">
                  <a:solidFill>
                    <a:schemeClr val="accent5"/>
                  </a:solidFill>
                  <a:latin typeface="+mn-lt"/>
                  <a:ea typeface="+mn-ea"/>
                  <a:cs typeface="+mn-cs"/>
                </a:rPr>
                <a:t>AI生成の図はすべてイメージで、特定の車両・場所を再現したものではありません。</a:t>
              </a:r>
            </a:p>
          </p:txBody>
        </p:sp>
        <p:sp>
          <p:nvSpPr>
            <p:cNvPr id="38" name="TextBox 38"/>
            <p:cNvSpPr txBox="1"/>
            <p:nvPr/>
          </p:nvSpPr>
          <p:spPr>
            <a:xfrm>
              <a:off x="11398606" y="61760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15</a:t>
              </a:r>
            </a:p>
          </p:txBody>
        </p:sp>
      </p:grpSp>
      <p:grpSp>
        <p:nvGrpSpPr>
          <p:cNvPr id="42" name="Group 42"/>
          <p:cNvGrpSpPr/>
          <p:nvPr/>
        </p:nvGrpSpPr>
        <p:grpSpPr>
          <a:xfrm>
            <a:off x="0" y="6515100"/>
            <a:ext cx="12192000" cy="200025"/>
            <a:chOff x="0" y="6515100"/>
            <a:chExt cx="12192000" cy="200025"/>
          </a:xfrm>
        </p:grpSpPr>
        <p:sp>
          <p:nvSpPr>
            <p:cNvPr id="40" name="Rectangle 40"/>
            <p:cNvSpPr/>
            <p:nvPr/>
          </p:nvSpPr>
          <p:spPr>
            <a:xfrm>
              <a:off x="0" y="6515100"/>
              <a:ext cx="12192000" cy="114300"/>
            </a:xfrm>
            <a:prstGeom prst="rect">
              <a:avLst/>
            </a:prstGeom>
            <a:solidFill>
              <a:schemeClr val="accent1"/>
            </a:solidFill>
            <a:ln>
              <a:noFill/>
            </a:ln>
          </p:spPr>
        </p:sp>
        <p:sp>
          <p:nvSpPr>
            <p:cNvPr id="41" name="Line 41"/>
            <p:cNvSpPr/>
            <p:nvPr/>
          </p:nvSpPr>
          <p:spPr>
            <a:xfrm>
              <a:off x="0" y="6705600"/>
              <a:ext cx="12192000" cy="9525"/>
            </a:xfrm>
            <a:custGeom>
              <a:avLst/>
              <a:gdLst/>
              <a:ahLst/>
              <a:cxnLst/>
              <a:rect l="l" t="t" r="r" b="b"/>
              <a:pathLst>
                <a:path w="12192000" h="9525">
                  <a:moveTo>
                    <a:pt x="0" y="0"/>
                  </a:moveTo>
                  <a:lnTo>
                    <a:pt x="12192000" y="0"/>
                  </a:lnTo>
                </a:path>
              </a:pathLst>
            </a:custGeom>
            <a:noFill/>
            <a:ln w="19050">
              <a:solidFill>
                <a:schemeClr val="accent1"/>
              </a:solidFill>
            </a:ln>
          </p:spPr>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par>
                          <p:cTn id="8" fill="hold">
                            <p:stCondLst>
                              <p:cond delay="6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tokaido_shinkansen_60_ja">
  <a:themeElements>
    <a:clrScheme name="ppt169_tokaido_shinkansen_60_ja">
      <a:dk1>
        <a:srgbClr val="22262E"/>
      </a:dk1>
      <a:lt1>
        <a:srgbClr val="F3ECDD"/>
      </a:lt1>
      <a:dk2>
        <a:srgbClr val="1F497D"/>
      </a:dk2>
      <a:lt2>
        <a:srgbClr val="E6DCC6"/>
      </a:lt2>
      <a:accent1>
        <a:srgbClr val="1F3F74"/>
      </a:accent1>
      <a:accent2>
        <a:srgbClr val="C8442C"/>
      </a:accent2>
      <a:accent3>
        <a:srgbClr val="D9A33A"/>
      </a:accent3>
      <a:accent4>
        <a:srgbClr val="1F3F74"/>
      </a:accent4>
      <a:accent5>
        <a:srgbClr val="5E5A52"/>
      </a:accent5>
      <a:accent6>
        <a:srgbClr val="C7B99D"/>
      </a:accent6>
      <a:hlink>
        <a:srgbClr val="C8442C"/>
      </a:hlink>
      <a:folHlink>
        <a:srgbClr val="D9A33A"/>
      </a:folHlink>
    </a:clrScheme>
    <a:fontScheme name="ppt169_tokaido_shinkansen_60_ja">
      <a:majorFont>
        <a:latin typeface="Times New Roman"/>
        <a:ea typeface="Yu Mincho"/>
        <a:cs typeface="Times New Roman"/>
        <a:font script="Jpan" typeface="Yu Mincho"/>
        <a:font script="Hang" typeface="Yu Mincho"/>
        <a:font script="Hans" typeface="Yu Mincho"/>
        <a:font script="Hant" typeface="Yu Mincho"/>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Yu Gothic"/>
        <a:cs typeface="Segoe UI"/>
        <a:font script="Jpan" typeface="Yu Gothic"/>
        <a:font script="Hang" typeface="Yu Gothic"/>
        <a:font script="Hans" typeface="Yu Gothic"/>
        <a:font script="Hant" typeface="Yu Gothi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tokaido_shinkansen_60_j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tokaido_shinkansen_60_ja">
  <a:themeElements>
    <a:clrScheme name="ppt169_tokaido_shinkansen_60_ja">
      <a:dk1>
        <a:srgbClr val="22262E"/>
      </a:dk1>
      <a:lt1>
        <a:srgbClr val="F3ECDD"/>
      </a:lt1>
      <a:dk2>
        <a:srgbClr val="1F497D"/>
      </a:dk2>
      <a:lt2>
        <a:srgbClr val="E6DCC6"/>
      </a:lt2>
      <a:accent1>
        <a:srgbClr val="1F3F74"/>
      </a:accent1>
      <a:accent2>
        <a:srgbClr val="C8442C"/>
      </a:accent2>
      <a:accent3>
        <a:srgbClr val="D9A33A"/>
      </a:accent3>
      <a:accent4>
        <a:srgbClr val="1F3F74"/>
      </a:accent4>
      <a:accent5>
        <a:srgbClr val="5E5A52"/>
      </a:accent5>
      <a:accent6>
        <a:srgbClr val="C7B99D"/>
      </a:accent6>
      <a:hlink>
        <a:srgbClr val="C8442C"/>
      </a:hlink>
      <a:folHlink>
        <a:srgbClr val="D9A33A"/>
      </a:folHlink>
    </a:clrScheme>
    <a:fontScheme name="ppt169_tokaido_shinkansen_60_ja">
      <a:majorFont>
        <a:latin typeface="Times New Roman"/>
        <a:ea typeface="Yu Mincho"/>
        <a:cs typeface="Times New Roman"/>
        <a:font script="Jpan" typeface="Yu Mincho"/>
        <a:font script="Hang" typeface="Yu Mincho"/>
        <a:font script="Hans" typeface="Yu Mincho"/>
        <a:font script="Hant" typeface="Yu Mincho"/>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Yu Gothic"/>
        <a:cs typeface="Segoe UI"/>
        <a:font script="Jpan" typeface="Yu Gothic"/>
        <a:font script="Hang" typeface="Yu Gothic"/>
        <a:font script="Hans" typeface="Yu Gothic"/>
        <a:font script="Hant" typeface="Yu Gothi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tokaido_shinkansen_60_j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ja-JP</dc:language>
  <cp:lastModifiedBy/>
  <cp:revision>1</cp:revision>
  <dcterms:created xsi:type="dcterms:W3CDTF">2026-09-11T11:27:17Z</dcterms:created>
  <dcterms:modified xsi:type="dcterms:W3CDTF">2026-09-11T11:27:17Z</dcterms:modified>
  <cp:category/>
  <cp:contentStatus/>
</cp:coreProperties>
</file>