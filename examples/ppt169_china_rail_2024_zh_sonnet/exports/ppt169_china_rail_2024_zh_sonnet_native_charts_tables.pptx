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1201.xml" ContentType="application/vnd.openxmlformats-officedocument.drawingml.chart+xml"/>
  <Override PartName="/ppt/charts/chart1401.xml" ContentType="application/vnd.openxmlformats-officedocument.drawingml.chart+xml"/>
  <Override PartName="/ppt/charts/chart1402.xml" ContentType="application/vnd.openxmlformats-officedocument.drawingml.chart+xml"/>
  <Override PartName="/ppt/charts/chart1403.xml" ContentType="application/vnd.openxmlformats-officedocument.drawingml.chart+xml"/>
  <Override PartName="/ppt/charts/chart6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charts/_rels/chart601.xml.rels><?xml version="1.0" encoding="UTF-8" standalone="yes"?>
<Relationships xmlns="http://schemas.openxmlformats.org/package/2006/relationships">
<Relationship Id="rId1" Type="http://schemas.openxmlformats.org/officeDocument/2006/relationships/package" Target="../embeddings/Microsoft_Excel_Sheet601.xlsx"/>
</Relationships>
</file>

<file path=ppt/charts/_rels/chart1201.xml.rels><?xml version="1.0" encoding="UTF-8" standalone="yes"?>
<Relationships xmlns="http://schemas.openxmlformats.org/package/2006/relationships">
<Relationship Id="rId1" Type="http://schemas.openxmlformats.org/officeDocument/2006/relationships/package" Target="../embeddings/Microsoft_Excel_Sheet1201.xlsx"/>
</Relationships>
</file>

<file path=ppt/charts/_rels/chart1401.xml.rels><?xml version="1.0" encoding="UTF-8" standalone="yes"?>
<Relationships xmlns="http://schemas.openxmlformats.org/package/2006/relationships">
<Relationship Id="rId1" Type="http://schemas.openxmlformats.org/officeDocument/2006/relationships/package" Target="../embeddings/Microsoft_Excel_Sheet1401.xlsx"/>
</Relationships>
</file>

<file path=ppt/charts/_rels/chart1402.xml.rels><?xml version="1.0" encoding="UTF-8" standalone="yes"?>
<Relationships xmlns="http://schemas.openxmlformats.org/package/2006/relationships">
<Relationship Id="rId1" Type="http://schemas.openxmlformats.org/officeDocument/2006/relationships/package" Target="../embeddings/Microsoft_Excel_Sheet1402.xlsx"/>
</Relationships>
</file>

<file path=ppt/charts/_rels/chart1403.xml.rels><?xml version="1.0" encoding="UTF-8" standalone="yes"?>
<Relationships xmlns="http://schemas.openxmlformats.org/package/2006/relationships">
<Relationship Id="rId1" Type="http://schemas.openxmlformats.org/officeDocument/2006/relationships/package" Target="../embeddings/Microsoft_Excel_Sheet1403.xlsx"/>
</Relationships>
</file>

<file path=ppt/charts/chart6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B36"/>
                </a:solidFill>
                <a:latin typeface="Microsoft YaHei"/>
                <a:ea typeface="Microsoft YaHei"/>
                <a:cs typeface="Microsoft YaHei"/>
              </a:rPr>
              <a:t>全国铁路主要品类运量(2024年,亿吨)</a:t>
            </a:r>
          </a:p>
        </c:rich>
      </c:tx>
      <c:layout/>
      <c:overlay val="0"/>
    </c:title>
    <c:autoTitleDeleted val="0"/>
    <c:plotArea>
      <c:layout>
        <c:manualLayout>
          <c:layoutTarget val="inner"/>
          <c:xMode val="edge"/>
          <c:yMode val="edge"/>
          <c:wMode val="factor"/>
          <c:hMode val="factor"/>
          <c:x val="0.0823529411765"/>
          <c:y val="0.0571428571429"/>
          <c:w val="0.838235294118"/>
          <c:h val="0.857142857143"/>
        </c:manualLayout>
      </c:layout>
      <c:barChart>
        <c:barDir val="col"/>
        <c:grouping val="clustered"/>
        <c:varyColors val="0"/>
        <c:ser>
          <c:idx val="0"/>
          <c:order val="0"/>
          <c:tx>
            <c:strRef>
              <c:f>Sheet1!$B$1</c:f>
              <c:strCache>
                <c:ptCount val="1"/>
                <c:pt idx="0">
                  <c:v>运量(亿吨)</c:v>
                </c:pt>
              </c:strCache>
            </c:strRef>
          </c:tx>
          <c:spPr>
            <a:solidFill>
              <a:srgbClr val="4472C4"/>
            </a:solidFill>
            <a:ln>
              <a:solidFill>
                <a:srgbClr val="4472C4"/>
              </a:solidFill>
            </a:ln>
          </c:spPr>
          <c:invertIfNegative val="0"/>
          <c:cat>
            <c:strRef>
              <c:f>Sheet1!$A$2:$A$7</c:f>
              <c:strCache>
                <c:ptCount val="6"/>
                <c:pt idx="0">
                  <c:v>煤</c:v>
                </c:pt>
                <c:pt idx="1">
                  <c:v>冶炼物资</c:v>
                </c:pt>
                <c:pt idx="2">
                  <c:v>石油</c:v>
                </c:pt>
                <c:pt idx="3">
                  <c:v>粮食</c:v>
                </c:pt>
                <c:pt idx="4">
                  <c:v>化肥及农药</c:v>
                </c:pt>
                <c:pt idx="5">
                  <c:v>集装箱</c:v>
                </c:pt>
              </c:strCache>
            </c:strRef>
          </c:cat>
          <c:val>
            <c:numRef>
              <c:f>Sheet1!$B$2:$B$7</c:f>
              <c:numCache>
                <c:formatCode>General</c:formatCode>
                <c:ptCount val="6"/>
                <c:pt idx="0">
                  <c:v>28.24</c:v>
                </c:pt>
                <c:pt idx="1">
                  <c:v>8.77</c:v>
                </c:pt>
                <c:pt idx="2">
                  <c:v>1.33</c:v>
                </c:pt>
                <c:pt idx="3">
                  <c:v>0.56</c:v>
                </c:pt>
                <c:pt idx="4">
                  <c:v>0.48</c:v>
                </c:pt>
                <c:pt idx="5">
                  <c:v>9.14</c:v>
                </c:pt>
              </c:numCache>
            </c:numRef>
          </c:val>
        </c:ser>
        <c:dLbls>
          <c:numFmt formatCode="0.00" sourceLinked="0"/>
          <c:txPr>
            <a:bodyPr/>
            <a:lstStyle/>
            <a:p>
              <a:pPr>
                <a:defRPr lang="zh-CN" sz="1200">
                  <a:solidFill>
                    <a:srgbClr val="232B36"/>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73"/>
        <c:axId val="2068027336"/>
        <c:axId val="2113994440"/>
      </c:barChart>
      <c:catAx>
        <c:axId val="2068027336"/>
        <c:scaling>
          <c:orientation val="minMax"/>
        </c:scaling>
        <c:delete val="0"/>
        <c:axPos val="b"/>
        <c:majorTickMark val="none"/>
        <c:minorTickMark val="none"/>
        <c:tickLblPos val="nextTo"/>
        <c:spPr>
          <a:ln w="9525" cap="flat" cmpd="sng" algn="ctr">
            <a:solidFill>
              <a:srgbClr val="5B6472"/>
            </a:solidFill>
            <a:round/>
          </a:ln>
        </c:spPr>
        <c:txPr>
          <a:bodyPr/>
          <a:lstStyle/>
          <a:p>
            <a:pPr>
              <a:defRPr lang="zh-CN" sz="1200">
                <a:solidFill>
                  <a:srgbClr val="232B36"/>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scaling>
        <c:delete val="1"/>
        <c:axPos val="l"/>
        <c:majorGridlines>
          <c:spPr>
            <a:ln w="6350" cap="flat" cmpd="sng" algn="ctr">
              <a:solidFill>
                <a:srgbClr val="5B6472"/>
              </a:solidFill>
              <a:round/>
            </a:ln>
          </c:spPr>
        </c:majorGridlines>
        <c:majorTickMark val="none"/>
        <c:minorTickMark val="none"/>
        <c:tickLblPos val="nextTo"/>
        <c:spPr>
          <a:ln w="9525" cap="flat" cmpd="sng" algn="ctr">
            <a:solidFill>
              <a:srgbClr val="5B6472"/>
            </a:solidFill>
            <a:round/>
          </a:ln>
        </c:spPr>
        <c:txPr>
          <a:bodyPr/>
          <a:lstStyle/>
          <a:p>
            <a:pPr>
              <a:defRPr lang="zh-CN" sz="1200">
                <a:solidFill>
                  <a:srgbClr val="232B36"/>
                </a:solidFill>
                <a:latin typeface="Microsoft YaHei"/>
                <a:ea typeface="Microsoft YaHei"/>
                <a:cs typeface="Microsoft YaHei"/>
              </a:defRPr>
            </a:pPr>
            <a:endParaRPr lang="zh-CN"/>
          </a:p>
        </c:txPr>
        <c:crossAx val="2068027336"/>
        <c:crosses val="autoZero"/>
        <c:crossBetween val="between"/>
      </c:valAx>
      <c:spPr>
        <a:noFill/>
        <a:ln>
          <a:noFill/>
        </a:ln>
      </c:spPr>
    </c:plotArea>
    <c:plotVisOnly val="1"/>
    <c:dispBlanksAs val="gap"/>
  </c:chart>
  <c:spPr>
    <a:noFill/>
    <a:ln>
      <a:noFill/>
    </a:ln>
  </c:spPr>
  <c:txPr>
    <a:bodyPr/>
    <a:lstStyle/>
    <a:p>
      <a:pPr>
        <a:defRPr lang="zh-CN" sz="1200">
          <a:solidFill>
            <a:srgbClr val="232B36"/>
          </a:solidFill>
          <a:latin typeface="Microsoft YaHei"/>
          <a:ea typeface="Microsoft YaHei"/>
          <a:cs typeface="Microsoft YaHei"/>
        </a:defRPr>
      </a:pPr>
      <a:endParaRPr lang="zh-CN"/>
    </a:p>
  </c:txPr>
  <c:externalData r:id="rId1">
    <c:autoUpdate val="0"/>
  </c:externalData>
</c:chartSpace>
</file>

<file path=ppt/charts/chart12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5B6472"/>
                </a:solidFill>
                <a:latin typeface="Microsoft YaHei"/>
                <a:ea typeface="Microsoft YaHei"/>
                <a:cs typeface="Microsoft YaHei"/>
              </a:rPr>
              <a:t>全国铁路营业里程 vs 六国(2000-2021,公里)</a:t>
            </a:r>
          </a:p>
        </c:rich>
      </c:tx>
      <c:layout/>
      <c:overlay val="0"/>
    </c:title>
    <c:autoTitleDeleted val="0"/>
    <c:plotArea>
      <c:layout>
        <c:manualLayout>
          <c:layoutTarget val="inner"/>
          <c:xMode val="edge"/>
          <c:yMode val="edge"/>
          <c:wMode val="factor"/>
          <c:hMode val="factor"/>
          <c:x val="0.0659722222222"/>
          <c:y val="0.0571428571429"/>
          <c:w val="0.815972222222"/>
          <c:h val="0.857142857143"/>
        </c:manualLayout>
      </c:layout>
      <c:lineChart>
        <c:grouping val="standard"/>
        <c:varyColors val="0"/>
        <c:ser>
          <c:idx val="0"/>
          <c:order val="0"/>
          <c:tx>
            <c:strRef>
              <c:f>Sheet1!$B$1</c:f>
              <c:strCache>
                <c:ptCount val="1"/>
                <c:pt idx="0">
                  <c:v>中国</c:v>
                </c:pt>
              </c:strCache>
            </c:strRef>
          </c:tx>
          <c:spPr>
            <a:solidFill>
              <a:schemeClr val="accent2"/>
            </a:solidFill>
            <a:ln>
              <a:solidFill>
                <a:schemeClr val="accent2"/>
              </a:solidFill>
            </a:ln>
          </c:spPr>
          <c:marker>
            <c:symbol val="none"/>
          </c:marker>
          <c:cat>
            <c:strRef>
              <c:f>Sheet1!$A$2:$A$23</c:f>
              <c:strCach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strCache>
            </c:strRef>
          </c:cat>
          <c:val>
            <c:numRef>
              <c:f>Sheet1!$B$2:$B$23</c:f>
              <c:numCache>
                <c:formatCode>General</c:formatCode>
                <c:ptCount val="22"/>
                <c:pt idx="0">
                  <c:v>58656</c:v>
                </c:pt>
                <c:pt idx="1">
                  <c:v>59079</c:v>
                </c:pt>
                <c:pt idx="2">
                  <c:v>59530</c:v>
                </c:pt>
                <c:pt idx="3">
                  <c:v>60446</c:v>
                </c:pt>
                <c:pt idx="4">
                  <c:v>61015</c:v>
                </c:pt>
                <c:pt idx="5">
                  <c:v>62200</c:v>
                </c:pt>
                <c:pt idx="6">
                  <c:v>63411.7</c:v>
                </c:pt>
                <c:pt idx="7">
                  <c:v>63636.5</c:v>
                </c:pt>
                <c:pt idx="8">
                  <c:v>60809</c:v>
                </c:pt>
                <c:pt idx="9">
                  <c:v>65491</c:v>
                </c:pt>
                <c:pt idx="10">
                  <c:v>66239</c:v>
                </c:pt>
                <c:pt idx="11">
                  <c:v>72487</c:v>
                </c:pt>
                <c:pt idx="12">
                  <c:v>85843</c:v>
                </c:pt>
                <c:pt idx="13">
                  <c:v>79306</c:v>
                </c:pt>
                <c:pt idx="14">
                  <c:v>85320</c:v>
                </c:pt>
                <c:pt idx="15">
                  <c:v>89966</c:v>
                </c:pt>
                <c:pt idx="16">
                  <c:v>91675</c:v>
                </c:pt>
                <c:pt idx="17">
                  <c:v>93742</c:v>
                </c:pt>
                <c:pt idx="18">
                  <c:v>96353</c:v>
                </c:pt>
                <c:pt idx="19">
                  <c:v>102462</c:v>
                </c:pt>
                <c:pt idx="20">
                  <c:v>106235</c:v>
                </c:pt>
                <c:pt idx="21">
                  <c:v>109767</c:v>
                </c:pt>
              </c:numCache>
            </c:numRef>
          </c:val>
          <c:smooth val="0"/>
        </c:ser>
        <c:ser>
          <c:idx val="1"/>
          <c:order val="1"/>
          <c:tx>
            <c:strRef>
              <c:f>Sheet1!$C$1</c:f>
              <c:strCache>
                <c:ptCount val="1"/>
                <c:pt idx="0">
                  <c:v>美国</c:v>
                </c:pt>
              </c:strCache>
            </c:strRef>
          </c:tx>
          <c:spPr>
            <a:solidFill>
              <a:schemeClr val="accent1"/>
            </a:solidFill>
            <a:ln>
              <a:solidFill>
                <a:schemeClr val="accent1"/>
              </a:solidFill>
            </a:ln>
          </c:spPr>
          <c:marker>
            <c:symbol val="none"/>
          </c:marker>
          <c:cat>
            <c:strRef>
              <c:f>Sheet1!$A$2:$A$23</c:f>
              <c:strCach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strCache>
            </c:strRef>
          </c:cat>
          <c:val>
            <c:numRef>
              <c:f>Sheet1!$C$2:$C$23</c:f>
              <c:numCache>
                <c:formatCode>General</c:formatCode>
                <c:ptCount val="22"/>
                <c:pt idx="0">
                  <c:v>194077</c:v>
                </c:pt>
                <c:pt idx="1">
                  <c:v>194746</c:v>
                </c:pt>
                <c:pt idx="2">
                  <c:v>198057</c:v>
                </c:pt>
                <c:pt idx="3">
                  <c:v>196806</c:v>
                </c:pt>
                <c:pt idx="4">
                  <c:v>195369</c:v>
                </c:pt>
                <c:pt idx="5">
                  <c:v>194025</c:v>
                </c:pt>
                <c:pt idx="6">
                  <c:v>191771</c:v>
                </c:pt>
                <c:pt idx="7">
                  <c:v>192508</c:v>
                </c:pt>
                <c:pt idx="8">
                  <c:v>192123</c:v>
                </c:pt>
                <c:pt idx="9">
                  <c:v>191785</c:v>
                </c:pt>
                <c:pt idx="10">
                  <c:v>194431</c:v>
                </c:pt>
                <c:pt idx="11">
                  <c:v>194136</c:v>
                </c:pt>
                <c:pt idx="12">
                  <c:v>153516.6</c:v>
                </c:pt>
                <c:pt idx="13">
                  <c:v>154321.5</c:v>
                </c:pt>
                <c:pt idx="14">
                  <c:v>152932.6</c:v>
                </c:pt>
                <c:pt idx="15">
                  <c:v>151735</c:v>
                </c:pt>
                <c:pt idx="16">
                  <c:v>151270</c:v>
                </c:pt>
                <c:pt idx="17">
                  <c:v>150966</c:v>
                </c:pt>
                <c:pt idx="18">
                  <c:v>150462.2976</c:v>
                </c:pt>
                <c:pt idx="19">
                  <c:v>149488.6469</c:v>
                </c:pt>
                <c:pt idx="20">
                  <c:v>148749.68684</c:v>
                </c:pt>
                <c:pt idx="21">
                  <c:v>148553.34734</c:v>
                </c:pt>
              </c:numCache>
            </c:numRef>
          </c:val>
          <c:smooth val="0"/>
        </c:ser>
        <c:ser>
          <c:idx val="2"/>
          <c:order val="2"/>
          <c:tx>
            <c:strRef>
              <c:f>Sheet1!$D$1</c:f>
              <c:strCache>
                <c:ptCount val="1"/>
                <c:pt idx="0">
                  <c:v>俄罗斯</c:v>
                </c:pt>
              </c:strCache>
            </c:strRef>
          </c:tx>
          <c:spPr>
            <a:solidFill>
              <a:schemeClr val="accent3"/>
            </a:solidFill>
            <a:ln>
              <a:solidFill>
                <a:schemeClr val="accent3"/>
              </a:solidFill>
            </a:ln>
          </c:spPr>
          <c:marker>
            <c:symbol val="none"/>
          </c:marker>
          <c:cat>
            <c:strRef>
              <c:f>Sheet1!$A$2:$A$23</c:f>
              <c:strCach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strCache>
            </c:strRef>
          </c:cat>
          <c:val>
            <c:numRef>
              <c:f>Sheet1!$D$2:$D$23</c:f>
              <c:numCache>
                <c:formatCode>General</c:formatCode>
                <c:ptCount val="22"/>
                <c:pt idx="0">
                  <c:v>86075</c:v>
                </c:pt>
                <c:pt idx="1">
                  <c:v>85835</c:v>
                </c:pt>
                <c:pt idx="2">
                  <c:v>85542</c:v>
                </c:pt>
                <c:pt idx="3">
                  <c:v>85394</c:v>
                </c:pt>
                <c:pt idx="4">
                  <c:v>85286</c:v>
                </c:pt>
                <c:pt idx="5">
                  <c:v>85542</c:v>
                </c:pt>
                <c:pt idx="6">
                  <c:v>85253</c:v>
                </c:pt>
                <c:pt idx="7">
                  <c:v>84158</c:v>
                </c:pt>
                <c:pt idx="8">
                  <c:v>85194</c:v>
                </c:pt>
                <c:pt idx="9">
                  <c:v>85281</c:v>
                </c:pt>
                <c:pt idx="10">
                  <c:v>85292</c:v>
                </c:pt>
                <c:pt idx="11">
                  <c:v>85166</c:v>
                </c:pt>
                <c:pt idx="12">
                  <c:v>85248</c:v>
                </c:pt>
                <c:pt idx="13">
                  <c:v>85266</c:v>
                </c:pt>
                <c:pt idx="14">
                  <c:v>84581</c:v>
                </c:pt>
                <c:pt idx="15">
                  <c:v>85262</c:v>
                </c:pt>
                <c:pt idx="16">
                  <c:v>85375</c:v>
                </c:pt>
                <c:pt idx="17">
                  <c:v>85545</c:v>
                </c:pt>
                <c:pt idx="18">
                  <c:v>85626</c:v>
                </c:pt>
                <c:pt idx="19">
                  <c:v>85494</c:v>
                </c:pt>
                <c:pt idx="20">
                  <c:v>85555</c:v>
                </c:pt>
                <c:pt idx="21">
                  <c:v>85544</c:v>
                </c:pt>
              </c:numCache>
            </c:numRef>
          </c:val>
          <c:smooth val="0"/>
        </c:ser>
        <c:ser>
          <c:idx val="3"/>
          <c:order val="3"/>
          <c:tx>
            <c:strRef>
              <c:f>Sheet1!$E$1</c:f>
              <c:strCache>
                <c:ptCount val="1"/>
                <c:pt idx="0">
                  <c:v>印度</c:v>
                </c:pt>
              </c:strCache>
            </c:strRef>
          </c:tx>
          <c:spPr>
            <a:solidFill>
              <a:srgbClr val="9AA5B1"/>
            </a:solidFill>
            <a:ln>
              <a:solidFill>
                <a:srgbClr val="9AA5B1"/>
              </a:solidFill>
            </a:ln>
          </c:spPr>
          <c:marker>
            <c:symbol val="none"/>
          </c:marker>
          <c:cat>
            <c:strRef>
              <c:f>Sheet1!$A$2:$A$23</c:f>
              <c:strCach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strCache>
            </c:strRef>
          </c:cat>
          <c:val>
            <c:numRef>
              <c:f>Sheet1!$E$2:$E$23</c:f>
              <c:numCache>
                <c:formatCode>General</c:formatCode>
                <c:ptCount val="22"/>
                <c:pt idx="0">
                  <c:v>62759</c:v>
                </c:pt>
                <c:pt idx="1">
                  <c:v>63028</c:v>
                </c:pt>
                <c:pt idx="2">
                  <c:v>63140</c:v>
                </c:pt>
                <c:pt idx="3">
                  <c:v>63122</c:v>
                </c:pt>
                <c:pt idx="4">
                  <c:v>63221</c:v>
                </c:pt>
                <c:pt idx="5">
                  <c:v>63485</c:v>
                </c:pt>
                <c:pt idx="6">
                  <c:v>63332</c:v>
                </c:pt>
                <c:pt idx="7">
                  <c:v>63327</c:v>
                </c:pt>
                <c:pt idx="8">
                  <c:v>63273</c:v>
                </c:pt>
                <c:pt idx="9">
                  <c:v>64015</c:v>
                </c:pt>
                <c:pt idx="10">
                  <c:v>63974</c:v>
                </c:pt>
                <c:pt idx="11">
                  <c:v>64460</c:v>
                </c:pt>
                <c:pt idx="12">
                  <c:v>64600</c:v>
                </c:pt>
                <c:pt idx="13">
                  <c:v>65436</c:v>
                </c:pt>
                <c:pt idx="14">
                  <c:v>65808</c:v>
                </c:pt>
                <c:pt idx="15">
                  <c:v>66030</c:v>
                </c:pt>
                <c:pt idx="16">
                  <c:v>66687</c:v>
                </c:pt>
                <c:pt idx="17">
                  <c:v>67368</c:v>
                </c:pt>
                <c:pt idx="18">
                  <c:v>69249</c:v>
                </c:pt>
                <c:pt idx="19">
                  <c:v>67414.07</c:v>
                </c:pt>
                <c:pt idx="20">
                  <c:v>67955.63</c:v>
                </c:pt>
                <c:pt idx="21">
                  <c:v>68102.73</c:v>
                </c:pt>
              </c:numCache>
            </c:numRef>
          </c:val>
          <c:smooth val="0"/>
        </c:ser>
        <c:ser>
          <c:idx val="4"/>
          <c:order val="4"/>
          <c:tx>
            <c:strRef>
              <c:f>Sheet1!$F$1</c:f>
              <c:strCache>
                <c:ptCount val="1"/>
                <c:pt idx="0">
                  <c:v>德国</c:v>
                </c:pt>
              </c:strCache>
            </c:strRef>
          </c:tx>
          <c:spPr>
            <a:solidFill>
              <a:srgbClr val="9AA5B1"/>
            </a:solidFill>
            <a:ln>
              <a:solidFill>
                <a:srgbClr val="9AA5B1"/>
              </a:solidFill>
            </a:ln>
          </c:spPr>
          <c:marker>
            <c:symbol val="none"/>
          </c:marker>
          <c:cat>
            <c:strRef>
              <c:f>Sheet1!$A$2:$A$23</c:f>
              <c:strCach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strCache>
            </c:strRef>
          </c:cat>
          <c:val>
            <c:numRef>
              <c:f>Sheet1!$F$2:$F$23</c:f>
              <c:numCache>
                <c:formatCode>General</c:formatCode>
                <c:ptCount val="22"/>
                <c:pt idx="0">
                  <c:v>36642</c:v>
                </c:pt>
                <c:pt idx="1">
                  <c:v>36050</c:v>
                </c:pt>
                <c:pt idx="2">
                  <c:v>35868</c:v>
                </c:pt>
                <c:pt idx="3">
                  <c:v>36054</c:v>
                </c:pt>
                <c:pt idx="4">
                  <c:v>34724.575</c:v>
                </c:pt>
                <c:pt idx="5">
                  <c:v>34228.19</c:v>
                </c:pt>
                <c:pt idx="6">
                  <c:v>34128.4</c:v>
                </c:pt>
                <c:pt idx="7">
                  <c:v>33977.603</c:v>
                </c:pt>
                <c:pt idx="8">
                  <c:v>33862.3</c:v>
                </c:pt>
                <c:pt idx="9">
                  <c:v>33721.305</c:v>
                </c:pt>
                <c:pt idx="10">
                  <c:v>33714.093</c:v>
                </c:pt>
                <c:pt idx="11">
                  <c:v>33575.872</c:v>
                </c:pt>
                <c:pt idx="12">
                  <c:v>33506</c:v>
                </c:pt>
                <c:pt idx="13">
                  <c:v>33449</c:v>
                </c:pt>
                <c:pt idx="14">
                  <c:v>33426</c:v>
                </c:pt>
                <c:pt idx="15">
                  <c:v>33332</c:v>
                </c:pt>
                <c:pt idx="16">
                  <c:v>33380</c:v>
                </c:pt>
                <c:pt idx="17">
                  <c:v>33488</c:v>
                </c:pt>
                <c:pt idx="18">
                  <c:v>33440</c:v>
                </c:pt>
                <c:pt idx="19">
                  <c:v>33423</c:v>
                </c:pt>
                <c:pt idx="20">
                  <c:v>33399</c:v>
                </c:pt>
                <c:pt idx="21">
                  <c:v>33401</c:v>
                </c:pt>
              </c:numCache>
            </c:numRef>
          </c:val>
          <c:smooth val="0"/>
        </c:ser>
        <c:ser>
          <c:idx val="5"/>
          <c:order val="5"/>
          <c:tx>
            <c:strRef>
              <c:f>Sheet1!$G$1</c:f>
              <c:strCache>
                <c:ptCount val="1"/>
                <c:pt idx="0">
                  <c:v>法国</c:v>
                </c:pt>
              </c:strCache>
            </c:strRef>
          </c:tx>
          <c:spPr>
            <a:solidFill>
              <a:srgbClr val="9AA5B1"/>
            </a:solidFill>
            <a:ln>
              <a:solidFill>
                <a:srgbClr val="9AA5B1"/>
              </a:solidFill>
            </a:ln>
          </c:spPr>
          <c:marker>
            <c:symbol val="none"/>
          </c:marker>
          <c:cat>
            <c:strRef>
              <c:f>Sheet1!$A$2:$A$23</c:f>
              <c:strCach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strCache>
            </c:strRef>
          </c:cat>
          <c:val>
            <c:numRef>
              <c:f>Sheet1!$G$2:$G$23</c:f>
              <c:numCache>
                <c:formatCode>General</c:formatCode>
                <c:ptCount val="22"/>
                <c:pt idx="0">
                  <c:v>29330</c:v>
                </c:pt>
                <c:pt idx="1">
                  <c:v>29503</c:v>
                </c:pt>
                <c:pt idx="2">
                  <c:v>29410</c:v>
                </c:pt>
                <c:pt idx="3">
                  <c:v>29327</c:v>
                </c:pt>
                <c:pt idx="4">
                  <c:v>29304</c:v>
                </c:pt>
                <c:pt idx="5">
                  <c:v>28470</c:v>
                </c:pt>
                <c:pt idx="6">
                  <c:v>29620</c:v>
                </c:pt>
                <c:pt idx="7">
                  <c:v>29976</c:v>
                </c:pt>
                <c:pt idx="8">
                  <c:v>29959</c:v>
                </c:pt>
                <c:pt idx="9">
                  <c:v>33698</c:v>
                </c:pt>
                <c:pt idx="10">
                  <c:v>29929</c:v>
                </c:pt>
                <c:pt idx="11">
                  <c:v>30071</c:v>
                </c:pt>
                <c:pt idx="12">
                  <c:v>29406</c:v>
                </c:pt>
                <c:pt idx="13">
                  <c:v>29979</c:v>
                </c:pt>
                <c:pt idx="15">
                  <c:v>28866</c:v>
                </c:pt>
                <c:pt idx="16">
                  <c:v>29236.65</c:v>
                </c:pt>
                <c:pt idx="17">
                  <c:v>29248.142</c:v>
                </c:pt>
                <c:pt idx="18">
                  <c:v>28241</c:v>
                </c:pt>
                <c:pt idx="19">
                  <c:v>28157</c:v>
                </c:pt>
                <c:pt idx="20">
                  <c:v>27872</c:v>
                </c:pt>
                <c:pt idx="21">
                  <c:v>27716</c:v>
                </c:pt>
              </c:numCache>
            </c:numRef>
          </c:val>
          <c:smooth val="0"/>
        </c:ser>
        <c:ser>
          <c:idx val="6"/>
          <c:order val="6"/>
          <c:tx>
            <c:strRef>
              <c:f>Sheet1!$H$1</c:f>
              <c:strCache>
                <c:ptCount val="1"/>
                <c:pt idx="0">
                  <c:v>西班牙</c:v>
                </c:pt>
              </c:strCache>
            </c:strRef>
          </c:tx>
          <c:spPr>
            <a:solidFill>
              <a:srgbClr val="9AA5B1"/>
            </a:solidFill>
            <a:ln>
              <a:solidFill>
                <a:srgbClr val="9AA5B1"/>
              </a:solidFill>
            </a:ln>
          </c:spPr>
          <c:marker>
            <c:symbol val="none"/>
          </c:marker>
          <c:cat>
            <c:strRef>
              <c:f>Sheet1!$A$2:$A$23</c:f>
              <c:strCache>
                <c:ptCount val="22"/>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strCache>
            </c:strRef>
          </c:cat>
          <c:val>
            <c:numRef>
              <c:f>Sheet1!$H$2:$H$23</c:f>
              <c:numCache>
                <c:formatCode>General</c:formatCode>
                <c:ptCount val="22"/>
                <c:pt idx="0">
                  <c:v>13868</c:v>
                </c:pt>
                <c:pt idx="1">
                  <c:v>13868</c:v>
                </c:pt>
                <c:pt idx="2">
                  <c:v>13856</c:v>
                </c:pt>
                <c:pt idx="3">
                  <c:v>14387</c:v>
                </c:pt>
                <c:pt idx="4">
                  <c:v>14395</c:v>
                </c:pt>
                <c:pt idx="5">
                  <c:v>14272</c:v>
                </c:pt>
                <c:pt idx="6">
                  <c:v>14472</c:v>
                </c:pt>
                <c:pt idx="7">
                  <c:v>15011.52</c:v>
                </c:pt>
                <c:pt idx="8">
                  <c:v>15041</c:v>
                </c:pt>
                <c:pt idx="9">
                  <c:v>15044</c:v>
                </c:pt>
                <c:pt idx="10">
                  <c:v>15590.12</c:v>
                </c:pt>
                <c:pt idx="11">
                  <c:v>15680.563</c:v>
                </c:pt>
                <c:pt idx="12">
                  <c:v>15438</c:v>
                </c:pt>
                <c:pt idx="13">
                  <c:v>15582</c:v>
                </c:pt>
                <c:pt idx="14">
                  <c:v>15506</c:v>
                </c:pt>
                <c:pt idx="15">
                  <c:v>15711</c:v>
                </c:pt>
                <c:pt idx="16">
                  <c:v>15650</c:v>
                </c:pt>
                <c:pt idx="17">
                  <c:v>15559</c:v>
                </c:pt>
                <c:pt idx="18">
                  <c:v>15618</c:v>
                </c:pt>
                <c:pt idx="19">
                  <c:v>15718</c:v>
                </c:pt>
                <c:pt idx="20">
                  <c:v>15848</c:v>
                </c:pt>
                <c:pt idx="21">
                  <c:v>15963</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5B6472"/>
            </a:solidFill>
            <a:round/>
          </a:ln>
        </c:spPr>
        <c:txPr>
          <a:bodyPr/>
          <a:lstStyle/>
          <a:p>
            <a:pPr>
              <a:defRPr lang="zh-CN" sz="1050">
                <a:solidFill>
                  <a:srgbClr val="5B6472"/>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200000"/>
          <c:min val="0"/>
        </c:scaling>
        <c:delete val="1"/>
        <c:axPos val="l"/>
        <c:majorGridlines>
          <c:spPr>
            <a:ln w="6350" cap="flat" cmpd="sng" algn="ctr">
              <a:solidFill>
                <a:srgbClr val="D7DBE3"/>
              </a:solidFill>
              <a:round/>
            </a:ln>
          </c:spPr>
        </c:majorGridlines>
        <c:majorTickMark val="none"/>
        <c:minorTickMark val="none"/>
        <c:tickLblPos val="nextTo"/>
        <c:spPr>
          <a:ln w="9525" cap="flat" cmpd="sng" algn="ctr">
            <a:solidFill>
              <a:srgbClr val="5B6472"/>
            </a:solidFill>
            <a:round/>
          </a:ln>
        </c:spPr>
        <c:txPr>
          <a:bodyPr/>
          <a:lstStyle/>
          <a:p>
            <a:pPr>
              <a:defRPr lang="zh-CN" sz="1050">
                <a:solidFill>
                  <a:srgbClr val="5B6472"/>
                </a:solidFill>
                <a:latin typeface="Microsoft YaHei"/>
                <a:ea typeface="Microsoft YaHei"/>
                <a:cs typeface="Microsoft YaHei"/>
              </a:defRPr>
            </a:pPr>
            <a:endParaRPr lang="zh-CN"/>
          </a:p>
        </c:txPr>
        <c:crossAx val="2068027336"/>
        <c:crosses val="autoZero"/>
        <c:crossBetween val="midCat"/>
        <c:majorUnit val="50000"/>
      </c:valAx>
      <c:spPr>
        <a:noFill/>
        <a:ln>
          <a:noFill/>
        </a:ln>
      </c:spPr>
    </c:plotArea>
    <c:plotVisOnly val="1"/>
    <c:dispBlanksAs val="gap"/>
  </c:chart>
  <c:spPr>
    <a:noFill/>
    <a:ln>
      <a:noFill/>
    </a:ln>
  </c:spPr>
  <c:txPr>
    <a:bodyPr/>
    <a:lstStyle/>
    <a:p>
      <a:pPr>
        <a:defRPr lang="zh-CN" sz="1050">
          <a:solidFill>
            <a:srgbClr val="5B6472"/>
          </a:solidFill>
          <a:latin typeface="Microsoft YaHei"/>
          <a:ea typeface="Microsoft YaHei"/>
          <a:cs typeface="Microsoft YaHei"/>
        </a:defRPr>
      </a:pPr>
      <a:endParaRPr lang="zh-CN"/>
    </a:p>
  </c:txPr>
  <c:externalData r:id="rId1">
    <c:autoUpdate val="0"/>
  </c:externalData>
</c:chartSpace>
</file>

<file path=ppt/charts/chart1401.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B36"/>
                </a:solidFill>
                <a:latin typeface="Microsoft YaHei"/>
                <a:ea typeface="Microsoft YaHei"/>
                <a:cs typeface="Microsoft YaHei"/>
              </a:rPr>
              <a:t>综合能耗(万吨标准煤)</a:t>
            </a:r>
          </a:p>
        </c:rich>
      </c:tx>
      <c:layout/>
      <c:overlay val="0"/>
    </c:title>
    <c:autoTitleDeleted val="0"/>
    <c:plotArea>
      <c:layout>
        <c:manualLayout>
          <c:layoutTarget val="inner"/>
          <c:xMode val="edge"/>
          <c:yMode val="edge"/>
          <c:wMode val="factor"/>
          <c:hMode val="factor"/>
          <c:x val="0"/>
          <c:y val="0.196428571429"/>
          <c:w val="1"/>
          <c:h val="0.669642857143"/>
        </c:manualLayout>
      </c:layout>
      <c:barChart>
        <c:barDir val="col"/>
        <c:grouping val="clustered"/>
        <c:varyColors val="0"/>
        <c:ser>
          <c:idx val="0"/>
          <c:order val="0"/>
          <c:tx>
            <c:strRef>
              <c:f>Sheet1!$B$1</c:f>
              <c:strCache>
                <c:ptCount val="1"/>
                <c:pt idx="0">
                  <c:v>综合能耗</c:v>
                </c:pt>
              </c:strCache>
            </c:strRef>
          </c:tx>
          <c:spPr>
            <a:solidFill>
              <a:srgbClr val="9AA5B1"/>
            </a:solidFill>
            <a:ln>
              <a:solidFill>
                <a:srgbClr val="9AA5B1"/>
              </a:solidFill>
            </a:ln>
          </c:spPr>
          <c:invertIfNegative val="0"/>
          <c:cat>
            <c:strRef>
              <c:f>Sheet1!$A$2:$A$3</c:f>
              <c:strCache>
                <c:ptCount val="2"/>
                <c:pt idx="0">
                  <c:v>上年</c:v>
                </c:pt>
                <c:pt idx="1">
                  <c:v>本年</c:v>
                </c:pt>
              </c:strCache>
            </c:strRef>
          </c:cat>
          <c:val>
            <c:numRef>
              <c:f>Sheet1!$B$2:$B$3</c:f>
              <c:numCache>
                <c:formatCode>General</c:formatCode>
                <c:ptCount val="2"/>
                <c:pt idx="0">
                  <c:v>1752.7</c:v>
                </c:pt>
                <c:pt idx="1">
                  <c:v>1801.2</c:v>
                </c:pt>
              </c:numCache>
            </c:numRef>
          </c:val>
        </c:ser>
        <c:dLbls>
          <c:numFmt formatCode="0.0" sourceLinked="0"/>
          <c:txPr>
            <a:bodyPr/>
            <a:lstStyle/>
            <a:p>
              <a:pPr>
                <a:defRPr lang="zh-CN" sz="1120">
                  <a:solidFill>
                    <a:srgbClr val="232B36"/>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43"/>
        <c:axId val="2068027336"/>
        <c:axId val="2113994440"/>
      </c:barChart>
      <c:catAx>
        <c:axId val="2068027336"/>
        <c:scaling>
          <c:orientation val="minMax"/>
        </c:scaling>
        <c:delete val="0"/>
        <c:axPos val="b"/>
        <c:majorTickMark val="none"/>
        <c:minorTickMark val="none"/>
        <c:tickLblPos val="nextTo"/>
        <c:spPr>
          <a:ln w="9525" cap="flat" cmpd="sng" algn="ctr">
            <a:solidFill>
              <a:srgbClr val="5B6472"/>
            </a:solidFill>
            <a:round/>
          </a:ln>
        </c:spPr>
        <c:txPr>
          <a:bodyPr/>
          <a:lstStyle/>
          <a:p>
            <a:pPr>
              <a:defRPr lang="zh-CN" sz="1120">
                <a:solidFill>
                  <a:srgbClr val="232B36"/>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scaling>
        <c:delete val="1"/>
        <c:axPos val="l"/>
        <c:majorGridlines>
          <c:spPr>
            <a:ln w="6350" cap="flat" cmpd="sng" algn="ctr">
              <a:solidFill>
                <a:srgbClr val="5B6472"/>
              </a:solidFill>
              <a:round/>
            </a:ln>
          </c:spPr>
        </c:majorGridlines>
        <c:majorTickMark val="none"/>
        <c:minorTickMark val="none"/>
        <c:tickLblPos val="nextTo"/>
        <c:spPr>
          <a:ln w="9525" cap="flat" cmpd="sng" algn="ctr">
            <a:solidFill>
              <a:srgbClr val="5B6472"/>
            </a:solidFill>
            <a:round/>
          </a:ln>
        </c:spPr>
        <c:txPr>
          <a:bodyPr/>
          <a:lstStyle/>
          <a:p>
            <a:pPr>
              <a:defRPr lang="zh-CN" sz="1120">
                <a:solidFill>
                  <a:srgbClr val="232B36"/>
                </a:solidFill>
                <a:latin typeface="Microsoft YaHei"/>
                <a:ea typeface="Microsoft YaHei"/>
                <a:cs typeface="Microsoft YaHei"/>
              </a:defRPr>
            </a:pPr>
            <a:endParaRPr lang="zh-CN"/>
          </a:p>
        </c:txPr>
        <c:crossAx val="2068027336"/>
        <c:crosses val="autoZero"/>
        <c:crossBetween val="between"/>
      </c:valAx>
      <c:spPr>
        <a:noFill/>
        <a:ln>
          <a:noFill/>
        </a:ln>
      </c:spPr>
    </c:plotArea>
    <c:plotVisOnly val="1"/>
    <c:dispBlanksAs val="gap"/>
  </c:chart>
  <c:spPr>
    <a:noFill/>
    <a:ln>
      <a:noFill/>
    </a:ln>
  </c:spPr>
  <c:txPr>
    <a:bodyPr/>
    <a:lstStyle/>
    <a:p>
      <a:pPr>
        <a:defRPr lang="zh-CN" sz="1120">
          <a:solidFill>
            <a:srgbClr val="232B36"/>
          </a:solidFill>
          <a:latin typeface="Microsoft YaHei"/>
          <a:ea typeface="Microsoft YaHei"/>
          <a:cs typeface="Microsoft YaHei"/>
        </a:defRPr>
      </a:pPr>
      <a:endParaRPr lang="zh-CN"/>
    </a:p>
  </c:txPr>
  <c:externalData r:id="rId1">
    <c:autoUpdate val="0"/>
  </c:externalData>
</c:chartSpace>
</file>

<file path=ppt/charts/chart1402.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B36"/>
                </a:solidFill>
                <a:latin typeface="Microsoft YaHei"/>
                <a:ea typeface="Microsoft YaHei"/>
                <a:cs typeface="Microsoft YaHei"/>
              </a:rPr>
              <a:t>化学需氧量排放量(吨)</a:t>
            </a:r>
          </a:p>
        </c:rich>
      </c:tx>
      <c:layout/>
      <c:overlay val="0"/>
    </c:title>
    <c:autoTitleDeleted val="0"/>
    <c:plotArea>
      <c:layout>
        <c:manualLayout>
          <c:layoutTarget val="inner"/>
          <c:xMode val="edge"/>
          <c:yMode val="edge"/>
          <c:wMode val="factor"/>
          <c:hMode val="factor"/>
          <c:x val="0"/>
          <c:y val="0.196428571429"/>
          <c:w val="1"/>
          <c:h val="0.669642857143"/>
        </c:manualLayout>
      </c:layout>
      <c:barChart>
        <c:barDir val="col"/>
        <c:grouping val="clustered"/>
        <c:varyColors val="0"/>
        <c:ser>
          <c:idx val="0"/>
          <c:order val="0"/>
          <c:tx>
            <c:strRef>
              <c:f>Sheet1!$B$1</c:f>
              <c:strCache>
                <c:ptCount val="1"/>
                <c:pt idx="0">
                  <c:v>化学需氧量</c:v>
                </c:pt>
              </c:strCache>
            </c:strRef>
          </c:tx>
          <c:spPr>
            <a:solidFill>
              <a:srgbClr val="9AA5B1"/>
            </a:solidFill>
            <a:ln>
              <a:solidFill>
                <a:srgbClr val="9AA5B1"/>
              </a:solidFill>
            </a:ln>
          </c:spPr>
          <c:invertIfNegative val="0"/>
          <c:cat>
            <c:strRef>
              <c:f>Sheet1!$A$2:$A$3</c:f>
              <c:strCache>
                <c:ptCount val="2"/>
                <c:pt idx="0">
                  <c:v>上年</c:v>
                </c:pt>
                <c:pt idx="1">
                  <c:v>本年</c:v>
                </c:pt>
              </c:strCache>
            </c:strRef>
          </c:cat>
          <c:val>
            <c:numRef>
              <c:f>Sheet1!$B$2:$B$3</c:f>
              <c:numCache>
                <c:formatCode>General</c:formatCode>
                <c:ptCount val="2"/>
                <c:pt idx="0">
                  <c:v>1467</c:v>
                </c:pt>
                <c:pt idx="1">
                  <c:v>1337</c:v>
                </c:pt>
              </c:numCache>
            </c:numRef>
          </c:val>
        </c:ser>
        <c:dLbls>
          <c:numFmt formatCode="0" sourceLinked="0"/>
          <c:txPr>
            <a:bodyPr/>
            <a:lstStyle/>
            <a:p>
              <a:pPr>
                <a:defRPr lang="zh-CN" sz="1120">
                  <a:solidFill>
                    <a:srgbClr val="232B36"/>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43"/>
        <c:axId val="2068027336"/>
        <c:axId val="2113994440"/>
      </c:barChart>
      <c:catAx>
        <c:axId val="2068027336"/>
        <c:scaling>
          <c:orientation val="minMax"/>
        </c:scaling>
        <c:delete val="0"/>
        <c:axPos val="b"/>
        <c:majorTickMark val="none"/>
        <c:minorTickMark val="none"/>
        <c:tickLblPos val="nextTo"/>
        <c:spPr>
          <a:ln w="9525" cap="flat" cmpd="sng" algn="ctr">
            <a:solidFill>
              <a:srgbClr val="5B6472"/>
            </a:solidFill>
            <a:round/>
          </a:ln>
        </c:spPr>
        <c:txPr>
          <a:bodyPr/>
          <a:lstStyle/>
          <a:p>
            <a:pPr>
              <a:defRPr lang="zh-CN" sz="1120">
                <a:solidFill>
                  <a:srgbClr val="232B36"/>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scaling>
        <c:delete val="1"/>
        <c:axPos val="l"/>
        <c:majorGridlines>
          <c:spPr>
            <a:ln w="6350" cap="flat" cmpd="sng" algn="ctr">
              <a:solidFill>
                <a:srgbClr val="5B6472"/>
              </a:solidFill>
              <a:round/>
            </a:ln>
          </c:spPr>
        </c:majorGridlines>
        <c:majorTickMark val="none"/>
        <c:minorTickMark val="none"/>
        <c:tickLblPos val="nextTo"/>
        <c:spPr>
          <a:ln w="9525" cap="flat" cmpd="sng" algn="ctr">
            <a:solidFill>
              <a:srgbClr val="5B6472"/>
            </a:solidFill>
            <a:round/>
          </a:ln>
        </c:spPr>
        <c:txPr>
          <a:bodyPr/>
          <a:lstStyle/>
          <a:p>
            <a:pPr>
              <a:defRPr lang="zh-CN" sz="1120">
                <a:solidFill>
                  <a:srgbClr val="232B36"/>
                </a:solidFill>
                <a:latin typeface="Microsoft YaHei"/>
                <a:ea typeface="Microsoft YaHei"/>
                <a:cs typeface="Microsoft YaHei"/>
              </a:defRPr>
            </a:pPr>
            <a:endParaRPr lang="zh-CN"/>
          </a:p>
        </c:txPr>
        <c:crossAx val="2068027336"/>
        <c:crosses val="autoZero"/>
        <c:crossBetween val="between"/>
      </c:valAx>
      <c:spPr>
        <a:noFill/>
        <a:ln>
          <a:noFill/>
        </a:ln>
      </c:spPr>
    </c:plotArea>
    <c:plotVisOnly val="1"/>
    <c:dispBlanksAs val="gap"/>
  </c:chart>
  <c:spPr>
    <a:noFill/>
    <a:ln>
      <a:noFill/>
    </a:ln>
  </c:spPr>
  <c:txPr>
    <a:bodyPr/>
    <a:lstStyle/>
    <a:p>
      <a:pPr>
        <a:defRPr lang="zh-CN" sz="1120">
          <a:solidFill>
            <a:srgbClr val="232B36"/>
          </a:solidFill>
          <a:latin typeface="Microsoft YaHei"/>
          <a:ea typeface="Microsoft YaHei"/>
          <a:cs typeface="Microsoft YaHei"/>
        </a:defRPr>
      </a:pPr>
      <a:endParaRPr lang="zh-CN"/>
    </a:p>
  </c:txPr>
  <c:externalData r:id="rId1">
    <c:autoUpdate val="0"/>
  </c:externalData>
</c:chartSpace>
</file>

<file path=ppt/charts/chart1403.xml><?xml version="1.0" encoding="utf-8"?>
<c:chartSpace xmlns:c="http://schemas.openxmlformats.org/drawingml/2006/chart" xmlns:a="http://schemas.openxmlformats.org/drawingml/2006/main" xmlns:r="http://schemas.openxmlformats.org/officeDocument/2006/relationships">
  <c:date1904 val="0"/>
  <c:lang val="zh-CN"/>
  <c:chart>
    <c:title>
      <c:tx>
        <c:rich>
          <a:bodyPr/>
          <a:lstStyle/>
          <a:p>
            <a:pPr/>
            <a:r>
              <a:rPr lang="zh-CN" sz="1200">
                <a:solidFill>
                  <a:srgbClr val="232B36"/>
                </a:solidFill>
                <a:latin typeface="Microsoft YaHei"/>
                <a:ea typeface="Microsoft YaHei"/>
                <a:cs typeface="Microsoft YaHei"/>
              </a:rPr>
              <a:t>二氧化硫排放量(吨)</a:t>
            </a:r>
          </a:p>
        </c:rich>
      </c:tx>
      <c:layout/>
      <c:overlay val="0"/>
    </c:title>
    <c:autoTitleDeleted val="0"/>
    <c:plotArea>
      <c:layout>
        <c:manualLayout>
          <c:layoutTarget val="inner"/>
          <c:xMode val="edge"/>
          <c:yMode val="edge"/>
          <c:wMode val="factor"/>
          <c:hMode val="factor"/>
          <c:x val="0"/>
          <c:y val="0.196428571429"/>
          <c:w val="1"/>
          <c:h val="0.669642857143"/>
        </c:manualLayout>
      </c:layout>
      <c:barChart>
        <c:barDir val="col"/>
        <c:grouping val="clustered"/>
        <c:varyColors val="0"/>
        <c:ser>
          <c:idx val="0"/>
          <c:order val="0"/>
          <c:tx>
            <c:strRef>
              <c:f>Sheet1!$B$1</c:f>
              <c:strCache>
                <c:ptCount val="1"/>
                <c:pt idx="0">
                  <c:v>二氧化硫</c:v>
                </c:pt>
              </c:strCache>
            </c:strRef>
          </c:tx>
          <c:spPr>
            <a:solidFill>
              <a:srgbClr val="9AA5B1"/>
            </a:solidFill>
            <a:ln>
              <a:solidFill>
                <a:srgbClr val="9AA5B1"/>
              </a:solidFill>
            </a:ln>
          </c:spPr>
          <c:invertIfNegative val="0"/>
          <c:cat>
            <c:strRef>
              <c:f>Sheet1!$A$2:$A$3</c:f>
              <c:strCache>
                <c:ptCount val="2"/>
                <c:pt idx="0">
                  <c:v>上年</c:v>
                </c:pt>
                <c:pt idx="1">
                  <c:v>本年</c:v>
                </c:pt>
              </c:strCache>
            </c:strRef>
          </c:cat>
          <c:val>
            <c:numRef>
              <c:f>Sheet1!$B$2:$B$3</c:f>
              <c:numCache>
                <c:formatCode>General</c:formatCode>
                <c:ptCount val="2"/>
                <c:pt idx="0">
                  <c:v>652</c:v>
                </c:pt>
                <c:pt idx="1">
                  <c:v>456</c:v>
                </c:pt>
              </c:numCache>
            </c:numRef>
          </c:val>
        </c:ser>
        <c:dLbls>
          <c:numFmt formatCode="0" sourceLinked="0"/>
          <c:txPr>
            <a:bodyPr/>
            <a:lstStyle/>
            <a:p>
              <a:pPr>
                <a:defRPr lang="zh-CN" sz="1120">
                  <a:solidFill>
                    <a:srgbClr val="232B36"/>
                  </a:solidFill>
                  <a:latin typeface="Microsoft YaHei"/>
                  <a:ea typeface="Microsoft YaHei"/>
                  <a:cs typeface="Microsoft YaHei"/>
                </a:defRPr>
              </a:pPr>
              <a:endParaRPr lang="zh-CN"/>
            </a:p>
          </c:txPr>
          <c:dLblPos val="outEnd"/>
          <c:showLegendKey val="0"/>
          <c:showVal val="1"/>
          <c:showCatName val="0"/>
          <c:showSerName val="0"/>
          <c:showPercent val="0"/>
          <c:showBubbleSize val="0"/>
          <c:showLeaderLines val="0"/>
        </c:dLbls>
        <c:gapWidth val="143"/>
        <c:axId val="2068027336"/>
        <c:axId val="2113994440"/>
      </c:barChart>
      <c:catAx>
        <c:axId val="2068027336"/>
        <c:scaling>
          <c:orientation val="minMax"/>
        </c:scaling>
        <c:delete val="0"/>
        <c:axPos val="b"/>
        <c:majorTickMark val="none"/>
        <c:minorTickMark val="none"/>
        <c:tickLblPos val="nextTo"/>
        <c:spPr>
          <a:ln w="9525" cap="flat" cmpd="sng" algn="ctr">
            <a:solidFill>
              <a:srgbClr val="5B6472"/>
            </a:solidFill>
            <a:round/>
          </a:ln>
        </c:spPr>
        <c:txPr>
          <a:bodyPr/>
          <a:lstStyle/>
          <a:p>
            <a:pPr>
              <a:defRPr lang="zh-CN" sz="1120">
                <a:solidFill>
                  <a:srgbClr val="232B36"/>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scaling>
        <c:delete val="1"/>
        <c:axPos val="l"/>
        <c:majorGridlines>
          <c:spPr>
            <a:ln w="6350" cap="flat" cmpd="sng" algn="ctr">
              <a:solidFill>
                <a:srgbClr val="5B6472"/>
              </a:solidFill>
              <a:round/>
            </a:ln>
          </c:spPr>
        </c:majorGridlines>
        <c:majorTickMark val="none"/>
        <c:minorTickMark val="none"/>
        <c:tickLblPos val="nextTo"/>
        <c:spPr>
          <a:ln w="9525" cap="flat" cmpd="sng" algn="ctr">
            <a:solidFill>
              <a:srgbClr val="5B6472"/>
            </a:solidFill>
            <a:round/>
          </a:ln>
        </c:spPr>
        <c:txPr>
          <a:bodyPr/>
          <a:lstStyle/>
          <a:p>
            <a:pPr>
              <a:defRPr lang="zh-CN" sz="1120">
                <a:solidFill>
                  <a:srgbClr val="232B36"/>
                </a:solidFill>
                <a:latin typeface="Microsoft YaHei"/>
                <a:ea typeface="Microsoft YaHei"/>
                <a:cs typeface="Microsoft YaHei"/>
              </a:defRPr>
            </a:pPr>
            <a:endParaRPr lang="zh-CN"/>
          </a:p>
        </c:txPr>
        <c:crossAx val="2068027336"/>
        <c:crosses val="autoZero"/>
        <c:crossBetween val="between"/>
      </c:valAx>
      <c:spPr>
        <a:noFill/>
        <a:ln>
          <a:noFill/>
        </a:ln>
      </c:spPr>
    </c:plotArea>
    <c:plotVisOnly val="1"/>
    <c:dispBlanksAs val="gap"/>
  </c:chart>
  <c:spPr>
    <a:noFill/>
    <a:ln>
      <a:noFill/>
    </a:ln>
  </c:spPr>
  <c:txPr>
    <a:bodyPr/>
    <a:lstStyle/>
    <a:p>
      <a:pPr>
        <a:defRPr lang="zh-CN" sz="1120">
          <a:solidFill>
            <a:srgbClr val="232B36"/>
          </a:solidFill>
          <a:latin typeface="Microsoft YaHei"/>
          <a:ea typeface="Microsoft YaHei"/>
          <a:cs typeface="Microsoft YaHei"/>
        </a:defRPr>
      </a:pPr>
      <a:endParaRPr lang="zh-CN"/>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领导、各位同事,欢迎参加中国铁路2024年度汇报。先看一个数字:全国铁路旅客发送量达到四十三点一二亿人次,比上年增长百分之十一点九,这个数字出自国家铁路局《2024年铁道统计公报》第一页。这一年,铁路运输生产、建设投资、装备升级、科技创新和绿色治理都取得了新的进展,接下来我们逐一汇报。</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的汇报按十二个板块展开:先看总览的核心指标,再依次汇报客运、货运、换算周转量与运输安全;之后进入建设投资与路网、装备与两组现场影像;再看国际对照、科技创新与技术标准、绿色低碳与行业监管;最后以结语收尾。背景图是北京南站站台,象征铁路网络的枢纽规模。</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四项最核心的年度指标。全国铁路旅客发送量四十三点一二亿人次,同比增长百分之十一点九;货运总发送量五十一点七五亿吨,增长百分之二点八;全国铁路总换算周转量五点一六六一万亿吨公里,增长百分之零点九;全国铁路固定资产投资完成八千五百零六亿元,公报没有披露这项投资的同比幅度,我们如实呈现绝对值,不做臆测。这四个数字共同说明,今年铁路运输生产实现了量质齐升。</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客运方面,国家铁路仍然挑大梁。全国铁路旅客发送量四十三点一二亿人次中,国家铁路占四十点八五亿人次,占比约百分之九十四点七;其他铁路虽然体量小,只有二点二七亿人次,但同比增速达到百分之三十四,是今年客运增长的一个亮点。旅客周转量方面,全国合计一万五千七百九十九点一亿人公里,国家铁路增长百分之七点二,其他铁路增速更高,达到百分之八十五点九。图中的上海虹桥站候车厅照片,呼应了客运量的现场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货运方面出现了一个值得注意的反差:全国铁路货运总发送量五十一点七五亿吨,同比增长百分之二点八,但货运总周转量三点五八六一九万亿吨公里,反而下降百分之一点六。这说明平均运距在缩短,短途运输占比正在上升。国家铁路和其他铁路两个口径的发送量都在增长,但国家铁路的周转量基本持平、其他铁路周转量下降明显,反映出运输结构的调整。</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重点物资运输中,集装箱运量表现最突出,同比增长百分之十五点五,达到九点一四亿吨;煤炭、石油小幅增长;而粮食运量下降百分之十七点六,降幅最大;冶炼物资和化肥及农药运量也小幅下降。国际物流通道方面,中欧班列全年开行一点九万列,发送货物二百零七万标箱,分别增长百分之十和百分之九;西部陆海新通道班列发送货物九十六万标箱,增长百分之十一。这两条通道共同构成了铁路对外开放的重要窗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国铁路总换算周转量五点一六六一万亿吨公里,同比增长百分之零点九,其中国家铁路增长百分之二点一,其他铁路下降百分之十三点八。与此同时,安全形势保持稳定:全年没有发生铁路交通特别重大、重大事故,较大事故两件,与上年持平,交通事故死亡人数下降百分之十八。效率提升和安全底线守住,是同一份答卷的两个方面。</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建设方面,全国铁路固定资产投资完成八千五百零六亿元,全年投产新线三千一百一十三公里,其中高速铁路二千四百五十七公里。路网质量同步提升:全国铁路营业里程达到十六点二万公里,其中高速铁路四点八万公里,复线率百分之六十点八,电化率百分之七十六点二,西部地区铁路营业里程六点六万公里,路网密度每万平方公里一百六十八点五公里。背景照片是丹昆特大桥,是高铁网络建设成果的一个缩影。</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这是丹昆特大桥的结构特写。作为京沪高铁的代表性工程之一,它曾是世界最长的高铁桥梁之一,这一背景资料并非公报数字,只是帮助大家建立对建设成就的直观印象。数字背后,是这样具体的工程现场。</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装备方面,全国铁路机车拥有量二点二五万台,其中内燃机车零点七八万台、电力机车一点四七万台;客车拥有量八点一万辆,其中动车组保有量达到四千八百零六标准组、三万八千四百四十八辆;货车拥有量一百零一点九万辆。动车组数量的持续增长,是这几年铁路装备现代化最直观的体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机车数字回到真实的乘坐体验:这是复兴号商务座车厢的内饰。装备升级最终要落到每一次出行的感受上——车辆更新、线路更快、车厢更舒适。角标是同一列复兴号动车组的外观照片,呼应上一页装备数据中的动车组数字。</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视野放到国际坐标系:世界银行数据显示,中国铁路营业里程从二〇〇〇年的五点八七万公里增长到二〇二一年的十点九八万公里,增速在美国、俄罗斯、印度、德国、法国、西班牙六国中最快。同期美国营业里程从十九点四万公里下降到约十四点九万公里,俄罗斯基本持平在八点五万公里左右。需要说明的是,世界银行这项指标的公开数据只覆盖到二〇二一年,二〇二二年至二〇二四年尚未发布数值,因此这里的年份区间是二〇〇〇年到二〇二一年;日本的数据仅在二〇一〇年和二〇一一年有记录,样本不足,没有绘入趋势线。</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技术标准体系持续扩容:全年发布国家标准二十项、行业标准九十五项,国家和行业计量规程规范各四项,我国主持制定的国际标准七项,标准外文译本二十六项。两名专家获得国际标准化组织"卓越贡献奖",一名专家获得国际电工委员会"1906奖",这是我国第六次获得这一奖项。科技创新方面,二〇二四年度国家科学技术奖铁路领域共有六个项目获奖,其中"复兴号高速列车"项目获得国家科学技术进步奖特等奖,另有多个项目获得技术发明奖和自然科学奖二等奖。全年重大科技创新成果库入库三百三十五项,包括科技项目五十项、专利六十一项、技术标准二十四项、科技论文两百篇。</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节能减排方面,国家铁路能源消耗折算标准煤一千八百零一点二万吨,同比增长百分之二点八,这与运量增长基本同步。但主要污染物排放量同比下降:化学需氧量排放量一千三百三十七吨,减少一百三十吨;二氧化硫排放量四百五十六吨,减少一百九十六吨。这说明在总量增长的同时,排放强度得到了有效控制。行业监管方面,全年公布一部规章、七件行政规范性文件,行政许可决定书六百二十二件,铁路运输、设备生产、进口、无线电台站等各类企业持续增加,机车车辆驾驶人员累计二十二万零三百零八人,全年实施行政处罚一百九十八起。</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回顾这一年:客运货运两旺,换算周转量增长百分之零点九;新线投产三千一百一十三公里,路网质量稳步提升;全年没有发生重特大事故,主要污染物排放同比下降。这些数字共同指向一个判断——二〇二四年铁路运输生产量质齐升、建设装备持续扩能、安全绿色底线守住,为经济持续回升向好提供了坚实支撑。也期待今天之后,能与在座的省交通部门在路网规划、多式联运等领域进一步深化协同,这句展望是我们的整理性表述,不是公报原文。以上是本次汇报的全部内容,谢谢大家。</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china_rail_2024_zh_sonne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china_rail_2024_zh_sonne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71750fffc39975b.jpg"/>
  <Relationship Id="rId3" Type="http://schemas.openxmlformats.org/officeDocument/2006/relationships/hyperlink" Target="https://commons.wikimedia.org/wiki/File:CR400AF-2007_at_Guangnan_(20181107092901).jpg" TargetMode="External"/>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909ab269ccf51ba.jpg"/>
  <Relationship Id="rId3" Type="http://schemas.openxmlformats.org/officeDocument/2006/relationships/hyperlink" Target="https://commons.wikimedia.org/wiki/File:Beijing_South_Railway_Station_Platform_20141111.JPG" TargetMode="External"/>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28e41951d937f84.jpg"/>
  <Relationship Id="rId3" Type="http://schemas.openxmlformats.org/officeDocument/2006/relationships/hyperlink" Target="https://commons.wikimedia.org/wiki/File:2010-07-22_Shanghai_Hongqiao_Railway_Station_waiting_hall.jpg" TargetMode="External"/>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601.xml"/>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631d2b9ada081d5.jpg"/>
  <Relationship Id="rId3" Type="http://schemas.openxmlformats.org/officeDocument/2006/relationships/hyperlink" Target="https://commons.wikimedia.org/wiki/File:201603_Danyang-Kunshan_grand_bridge_(wuxi).JPG" TargetMode="External"/>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c8ce04610eac4b8.jpg"/>
  <Relationship Id="rId3" Type="http://schemas.openxmlformats.org/officeDocument/2006/relationships/hyperlink" Target="https://commons.wikimedia.org/wiki/File:201603_Danyang-Kunshan_grand_bridge_(wuxi).JPG" TargetMode="External"/>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ec60437f13a78d7.jpg"/>
  <Relationship Id="rId3" Type="http://schemas.openxmlformats.org/officeDocument/2006/relationships/hyperlink" Target="https://commons.wikimedia.org/wiki/File:CR400AF-2007_at_Guangnan_(20181107092901).jpg" TargetMode="External"/>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6adbbb035acfc01.jpg"/>
  <Relationship Id="rId3" Type="http://schemas.openxmlformats.org/officeDocument/2006/relationships/hyperlink" Target="https://commons.wikimedia.org/wiki/File:Car_16_premium_class_interior_of_CR400AF-AE-2399_(20260810101430).jpg" TargetMode="External"/>
  <Relationship Id="rId4" Type="http://schemas.openxmlformats.org/officeDocument/2006/relationships/image" Target="../media/image_cec60437f13a78d7.jpg"/>
  <Relationship Id="rId5" Type="http://schemas.openxmlformats.org/officeDocument/2006/relationships/hyperlink" Target="https://commons.wikimedia.org/wiki/File:CR400AF-2007_at_Guangnan_(20181107092901).jpg" TargetMode="External"/>
  <Relationship Id="rId6"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201.xml"/>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1401.xml"/>
  <Relationship Id="rId3" Type="http://schemas.openxmlformats.org/officeDocument/2006/relationships/chart" Target="../charts/chart1402.xml"/>
  <Relationship Id="rId4" Type="http://schemas.openxmlformats.org/officeDocument/2006/relationships/chart" Target="../charts/chart1403.xml"/>
  <Relationship Id="rId5" Type="http://schemas.openxmlformats.org/officeDocument/2006/relationships/image" Target="../media/image_b245ab8380c33f1d.jpg"/>
  <Relationship Id="rId6" Type="http://schemas.openxmlformats.org/officeDocument/2006/relationships/hyperlink" Target="https://commons.wikimedia.org/wiki/File:Compartment_Qinghai_Tibet_Railway_Xining_Qinghai_China_%E9%9D%92%E6%B5%B7_%E9%9D%92%E8%97%8F%E9%93%81%E8%B7%AF_-_panoramio.jpg" TargetMode="External"/>
  <Relationship Id="rId7"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ver-bg-image"/>
          <p:cNvPicPr>
            <a:picLocks noChangeAspect="1"/>
          </p:cNvPicPr>
          <p:nvPr/>
        </p:nvPicPr>
        <p:blipFill>
          <a:blip r:embed="rId2"/>
          <a:srcRect l="0" t="7812" r="0" b="7813"/>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rgbClr val="08152A">
                  <a:alpha val="92000"/>
                </a:srgbClr>
              </a:gs>
              <a:gs pos="46000">
                <a:srgbClr val="0B1B32">
                  <a:alpha val="62000"/>
                </a:srgbClr>
              </a:gs>
              <a:gs pos="100000">
                <a:srgbClr val="0B1B32">
                  <a:alpha val="4000"/>
                </a:srgbClr>
              </a:gs>
            </a:gsLst>
            <a:lin ang="0" scaled="1"/>
          </a:gradFill>
          <a:ln>
            <a:noFill/>
          </a:ln>
        </p:spPr>
      </p:sp>
      <p:grpSp>
        <p:nvGrpSpPr>
          <p:cNvPr id="5" name="cover-kicker"/>
          <p:cNvGrpSpPr/>
          <p:nvPr/>
        </p:nvGrpSpPr>
        <p:grpSpPr>
          <a:xfrm>
            <a:off x="602742" y="616268"/>
            <a:ext cx="6019742" cy="264033"/>
            <a:chOff x="602742" y="616268"/>
            <a:chExt cx="6019742" cy="264033"/>
          </a:xfrm>
        </p:grpSpPr>
        <p:sp>
          <p:nvSpPr>
            <p:cNvPr id="4" name="TextBox 4"/>
            <p:cNvSpPr txBox="1"/>
            <p:nvPr/>
          </p:nvSpPr>
          <p:spPr>
            <a:xfrm>
              <a:off x="602742" y="616268"/>
              <a:ext cx="6019742" cy="264033"/>
            </a:xfrm>
            <a:prstGeom prst="rect">
              <a:avLst/>
            </a:prstGeom>
            <a:noFill/>
            <a:ln>
              <a:noFill/>
            </a:ln>
          </p:spPr>
          <p:txBody>
            <a:bodyPr wrap="none" lIns="0" tIns="0" rIns="0" bIns="0" anchor="t" anchorCtr="0">
              <a:spAutoFit/>
            </a:bodyPr>
            <a:lstStyle/>
            <a:p>
              <a:pPr algn="l"/>
              <a:r>
                <a:rPr lang="zh-CN" sz="1350" b="1" spc="150" dirty="0">
                  <a:solidFill>
                    <a:srgbClr val="CFE3D5"/>
                  </a:solidFill>
                  <a:latin typeface="+mn-lt"/>
                  <a:ea typeface="+mn-ea"/>
                  <a:cs typeface="+mn-cs"/>
                </a:rPr>
                <a:t>国家铁路局《2024年铁道统计公报》 · 面向省交通部门的年度汇报</a:t>
              </a:r>
            </a:p>
          </p:txBody>
        </p:sp>
      </p:grpSp>
      <p:grpSp>
        <p:nvGrpSpPr>
          <p:cNvPr id="9" name="cover-title"/>
          <p:cNvGrpSpPr/>
          <p:nvPr/>
        </p:nvGrpSpPr>
        <p:grpSpPr>
          <a:xfrm>
            <a:off x="590550" y="2145030"/>
            <a:ext cx="5961827" cy="1455420"/>
            <a:chOff x="590550" y="2145030"/>
            <a:chExt cx="5961827" cy="1455420"/>
          </a:xfrm>
        </p:grpSpPr>
        <p:sp>
          <p:nvSpPr>
            <p:cNvPr id="6" name="TextBox 6"/>
            <p:cNvSpPr txBox="1"/>
            <p:nvPr/>
          </p:nvSpPr>
          <p:spPr>
            <a:xfrm>
              <a:off x="590550" y="2145030"/>
              <a:ext cx="5961827" cy="1276350"/>
            </a:xfrm>
            <a:prstGeom prst="rect">
              <a:avLst/>
            </a:prstGeom>
            <a:noFill/>
            <a:ln>
              <a:noFill/>
            </a:ln>
          </p:spPr>
          <p:txBody>
            <a:bodyPr wrap="none" lIns="0" tIns="0" rIns="0" bIns="0" anchor="t" anchorCtr="0">
              <a:spAutoFit/>
            </a:bodyPr>
            <a:lstStyle/>
            <a:p>
              <a:pPr algn="l"/>
              <a:r>
                <a:rPr lang="zh-CN" sz="6600" b="1" dirty="0">
                  <a:solidFill>
                    <a:srgbClr val="FFFFFF"/>
                  </a:solidFill>
                  <a:latin typeface="+mj-lt"/>
                  <a:ea typeface="+mj-ea"/>
                  <a:cs typeface="+mj-cs"/>
                </a:rPr>
                <a:t>中国铁路2024</a:t>
              </a:r>
            </a:p>
          </p:txBody>
        </p:sp>
        <p:sp>
          <p:nvSpPr>
            <p:cNvPr id="7" name="TextBox 7"/>
            <p:cNvSpPr txBox="1"/>
            <p:nvPr/>
          </p:nvSpPr>
          <p:spPr>
            <a:xfrm>
              <a:off x="598170" y="3109912"/>
              <a:ext cx="1623060" cy="440055"/>
            </a:xfrm>
            <a:prstGeom prst="rect">
              <a:avLst/>
            </a:prstGeom>
            <a:noFill/>
            <a:ln>
              <a:noFill/>
            </a:ln>
          </p:spPr>
          <p:txBody>
            <a:bodyPr wrap="none" lIns="0" tIns="0" rIns="0" bIns="0" anchor="t" anchorCtr="0">
              <a:spAutoFit/>
            </a:bodyPr>
            <a:lstStyle/>
            <a:p>
              <a:pPr algn="l"/>
              <a:r>
                <a:rPr lang="zh-CN" sz="2250" dirty="0">
                  <a:solidFill>
                    <a:srgbClr val="E7EAF1"/>
                  </a:solidFill>
                  <a:latin typeface="+mj-lt"/>
                  <a:ea typeface="+mj-ea"/>
                  <a:cs typeface="+mj-cs"/>
                </a:rPr>
                <a:t>数据与现场</a:t>
              </a:r>
            </a:p>
          </p:txBody>
        </p:sp>
        <p:sp>
          <p:nvSpPr>
            <p:cNvPr id="8" name="Rectangle 8"/>
            <p:cNvSpPr/>
            <p:nvPr/>
          </p:nvSpPr>
          <p:spPr>
            <a:xfrm>
              <a:off x="609600" y="3543300"/>
              <a:ext cx="2095500" cy="57150"/>
            </a:xfrm>
            <a:prstGeom prst="rect">
              <a:avLst/>
            </a:prstGeom>
            <a:gradFill>
              <a:gsLst>
                <a:gs pos="0">
                  <a:schemeClr val="accent1"/>
                </a:gs>
                <a:gs pos="100000">
                  <a:schemeClr val="accent2"/>
                </a:gs>
              </a:gsLst>
              <a:lin ang="0" scaled="1"/>
            </a:gradFill>
            <a:ln>
              <a:noFill/>
            </a:ln>
          </p:spPr>
        </p:sp>
      </p:grpSp>
      <p:grpSp>
        <p:nvGrpSpPr>
          <p:cNvPr id="13" name="cover-hook"/>
          <p:cNvGrpSpPr/>
          <p:nvPr/>
        </p:nvGrpSpPr>
        <p:grpSpPr>
          <a:xfrm>
            <a:off x="590550" y="4358640"/>
            <a:ext cx="3862845" cy="1271016"/>
            <a:chOff x="590550" y="4358640"/>
            <a:chExt cx="3862845" cy="1271016"/>
          </a:xfrm>
        </p:grpSpPr>
        <p:sp>
          <p:nvSpPr>
            <p:cNvPr id="10" name="TextBox 10"/>
            <p:cNvSpPr txBox="1"/>
            <p:nvPr/>
          </p:nvSpPr>
          <p:spPr>
            <a:xfrm>
              <a:off x="590550" y="4358640"/>
              <a:ext cx="2844927"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Consolas"/>
                  <a:ea typeface="Consolas"/>
                  <a:cs typeface="Consolas"/>
                </a:rPr>
                <a:t>43.12</a:t>
              </a:r>
              <a:r>
                <a:rPr lang="zh-CN" sz="2550" b="1" dirty="0">
                  <a:solidFill>
                    <a:srgbClr val="E7EAF1"/>
                  </a:solidFill>
                  <a:latin typeface="+mn-lt"/>
                  <a:ea typeface="+mn-ea"/>
                  <a:cs typeface="+mn-cs"/>
                </a:rPr>
                <a:t>亿人次</a:t>
              </a:r>
            </a:p>
          </p:txBody>
        </p:sp>
        <p:sp>
          <p:nvSpPr>
            <p:cNvPr id="11" name="TextBox 11"/>
            <p:cNvSpPr txBox="1"/>
            <p:nvPr/>
          </p:nvSpPr>
          <p:spPr>
            <a:xfrm>
              <a:off x="600456" y="5025390"/>
              <a:ext cx="3852939" cy="352044"/>
            </a:xfrm>
            <a:prstGeom prst="rect">
              <a:avLst/>
            </a:prstGeom>
            <a:noFill/>
            <a:ln>
              <a:noFill/>
            </a:ln>
          </p:spPr>
          <p:txBody>
            <a:bodyPr wrap="none" lIns="0" tIns="0" rIns="0" bIns="0" anchor="t" anchorCtr="0">
              <a:spAutoFit/>
            </a:bodyPr>
            <a:lstStyle/>
            <a:p>
              <a:pPr algn="l"/>
              <a:r>
                <a:rPr lang="zh-CN" sz="1800" dirty="0">
                  <a:solidFill>
                    <a:srgbClr val="E7EAF1"/>
                  </a:solidFill>
                  <a:latin typeface="+mn-lt"/>
                  <a:ea typeface="+mn-ea"/>
                  <a:cs typeface="+mn-cs"/>
                </a:rPr>
                <a:t>全国铁路旅客发送量 · 同比</a:t>
              </a:r>
              <a:r>
                <a:rPr lang="zh-CN" sz="1800" b="1" dirty="0">
                  <a:solidFill>
                    <a:srgbClr val="7BD68A"/>
                  </a:solidFill>
                  <a:latin typeface="+mn-lt"/>
                  <a:ea typeface="+mn-ea"/>
                  <a:cs typeface="+mn-cs"/>
                </a:rPr>
                <a:t>+11.9%</a:t>
              </a:r>
            </a:p>
          </p:txBody>
        </p:sp>
        <p:sp>
          <p:nvSpPr>
            <p:cNvPr id="12" name="TextBox 12"/>
            <p:cNvSpPr txBox="1"/>
            <p:nvPr/>
          </p:nvSpPr>
          <p:spPr>
            <a:xfrm>
              <a:off x="603504" y="5394960"/>
              <a:ext cx="3453079" cy="234696"/>
            </a:xfrm>
            <a:prstGeom prst="rect">
              <a:avLst/>
            </a:prstGeom>
            <a:noFill/>
            <a:ln>
              <a:noFill/>
            </a:ln>
          </p:spPr>
          <p:txBody>
            <a:bodyPr wrap="none" lIns="0" tIns="0" rIns="0" bIns="0" anchor="t" anchorCtr="0">
              <a:spAutoFit/>
            </a:bodyPr>
            <a:lstStyle/>
            <a:p>
              <a:pPr algn="l"/>
              <a:r>
                <a:rPr lang="zh-CN" sz="1200" dirty="0">
                  <a:solidFill>
                    <a:srgbClr val="B7C2D0"/>
                  </a:solidFill>
                  <a:latin typeface="+mn-lt"/>
                  <a:ea typeface="+mn-ea"/>
                  <a:cs typeface="+mn-cs"/>
                </a:rPr>
                <a:t>来源:国家铁路局《2024年铁道统计公报》第1页</a:t>
              </a:r>
            </a:p>
          </p:txBody>
        </p:sp>
      </p:grpSp>
      <p:sp>
        <p:nvSpPr>
          <p:cNvPr id="14" name="TextBox 14"/>
          <p:cNvSpPr txBox="1"/>
          <p:nvPr/>
        </p:nvSpPr>
        <p:spPr>
          <a:xfrm>
            <a:off x="8062987" y="6584156"/>
            <a:ext cx="3525128" cy="220028"/>
          </a:xfrm>
          <a:prstGeom prst="rect">
            <a:avLst/>
          </a:prstGeom>
          <a:noFill/>
          <a:ln>
            <a:noFill/>
          </a:ln>
        </p:spPr>
        <p:txBody>
          <a:bodyPr wrap="none" lIns="0" tIns="0" rIns="0" bIns="0" anchor="t" anchorCtr="0">
            <a:spAutoFit/>
          </a:bodyPr>
          <a:lstStyle/>
          <a:p>
            <a:pPr algn="r"/>
            <a:r>
              <a:rPr lang="zh-CN" sz="1120" dirty="0">
                <a:solidFill>
                  <a:schemeClr val="accent6"/>
                </a:solidFill>
                <a:latin typeface="+mn-lt"/>
                <a:ea typeface="+mn-ea"/>
                <a:cs typeface="+mn-cs"/>
              </a:rPr>
              <a:t>图片:</a:t>
            </a:r>
            <a:r>
              <a:rPr lang="en-US" sz="1120" u="sng" dirty="0">
                <a:solidFill>
                  <a:schemeClr val="accent6"/>
                </a:solidFill>
                <a:latin typeface="+mn-lt"/>
                <a:ea typeface="+mn-ea"/>
                <a:cs typeface="+mn-cs"/>
                <a:hlinkClick r:id="rId3"/>
              </a:rPr>
              <a:t>N509FZ, CC BY-SA 4.0, Wikimedia Commons</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5956554" cy="846772"/>
            <a:chOff x="594360" y="501968"/>
            <a:chExt cx="5956554" cy="846772"/>
          </a:xfrm>
        </p:grpSpPr>
        <p:sp>
          <p:nvSpPr>
            <p:cNvPr id="2" name="TextBox 2"/>
            <p:cNvSpPr txBox="1"/>
            <p:nvPr/>
          </p:nvSpPr>
          <p:spPr>
            <a:xfrm>
              <a:off x="602742" y="501968"/>
              <a:ext cx="801243"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汇报导览</a:t>
              </a:r>
            </a:p>
          </p:txBody>
        </p:sp>
        <p:sp>
          <p:nvSpPr>
            <p:cNvPr id="3" name="TextBox 3"/>
            <p:cNvSpPr txBox="1"/>
            <p:nvPr/>
          </p:nvSpPr>
          <p:spPr>
            <a:xfrm>
              <a:off x="594360" y="762000"/>
              <a:ext cx="595655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十二个板块,读懂中国铁路2024</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54" name="agenda-list"/>
          <p:cNvGrpSpPr/>
          <p:nvPr/>
        </p:nvGrpSpPr>
        <p:grpSpPr>
          <a:xfrm>
            <a:off x="609600" y="1685925"/>
            <a:ext cx="2905264" cy="4345114"/>
            <a:chOff x="609600" y="1685925"/>
            <a:chExt cx="2905264" cy="4345114"/>
          </a:xfrm>
        </p:grpSpPr>
        <p:grpSp>
          <p:nvGrpSpPr>
            <p:cNvPr id="9" name="agenda-01"/>
            <p:cNvGrpSpPr/>
            <p:nvPr/>
          </p:nvGrpSpPr>
          <p:grpSpPr>
            <a:xfrm>
              <a:off x="609600" y="1685925"/>
              <a:ext cx="2593181" cy="363664"/>
              <a:chOff x="609600" y="1685925"/>
              <a:chExt cx="2593181" cy="363664"/>
            </a:xfrm>
          </p:grpSpPr>
          <p:sp>
            <p:nvSpPr>
              <p:cNvPr id="6" name="Ellipse 6"/>
              <p:cNvSpPr/>
              <p:nvPr/>
            </p:nvSpPr>
            <p:spPr>
              <a:xfrm>
                <a:off x="609600" y="1685925"/>
                <a:ext cx="285750" cy="285750"/>
              </a:xfrm>
              <a:prstGeom prst="ellipse">
                <a:avLst/>
              </a:prstGeom>
              <a:solidFill>
                <a:schemeClr val="accent1"/>
              </a:solidFill>
              <a:ln>
                <a:noFill/>
              </a:ln>
            </p:spPr>
          </p:sp>
          <p:sp>
            <p:nvSpPr>
              <p:cNvPr id="7" name="TextBox 7"/>
              <p:cNvSpPr txBox="1"/>
              <p:nvPr/>
            </p:nvSpPr>
            <p:spPr>
              <a:xfrm>
                <a:off x="663834" y="17645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01</a:t>
                </a:r>
              </a:p>
            </p:txBody>
          </p:sp>
          <p:sp>
            <p:nvSpPr>
              <p:cNvPr id="8" name="TextBox 8"/>
              <p:cNvSpPr txBox="1"/>
              <p:nvPr/>
            </p:nvSpPr>
            <p:spPr>
              <a:xfrm>
                <a:off x="1020318" y="1726882"/>
                <a:ext cx="218246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总览:2024年核心指标</a:t>
                </a:r>
              </a:p>
            </p:txBody>
          </p:sp>
        </p:grpSp>
        <p:grpSp>
          <p:nvGrpSpPr>
            <p:cNvPr id="13" name="agenda-02"/>
            <p:cNvGrpSpPr/>
            <p:nvPr/>
          </p:nvGrpSpPr>
          <p:grpSpPr>
            <a:xfrm>
              <a:off x="609600" y="2047875"/>
              <a:ext cx="2104511" cy="363664"/>
              <a:chOff x="609600" y="2047875"/>
              <a:chExt cx="2104511" cy="363664"/>
            </a:xfrm>
          </p:grpSpPr>
          <p:sp>
            <p:nvSpPr>
              <p:cNvPr id="10" name="Ellipse 10"/>
              <p:cNvSpPr/>
              <p:nvPr/>
            </p:nvSpPr>
            <p:spPr>
              <a:xfrm>
                <a:off x="609600" y="2047875"/>
                <a:ext cx="285750" cy="285750"/>
              </a:xfrm>
              <a:prstGeom prst="ellipse">
                <a:avLst/>
              </a:prstGeom>
              <a:solidFill>
                <a:schemeClr val="accent1"/>
              </a:solidFill>
              <a:ln>
                <a:noFill/>
              </a:ln>
            </p:spPr>
          </p:sp>
          <p:sp>
            <p:nvSpPr>
              <p:cNvPr id="11" name="TextBox 11"/>
              <p:cNvSpPr txBox="1"/>
              <p:nvPr/>
            </p:nvSpPr>
            <p:spPr>
              <a:xfrm>
                <a:off x="663834" y="21264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02</a:t>
                </a:r>
              </a:p>
            </p:txBody>
          </p:sp>
          <p:sp>
            <p:nvSpPr>
              <p:cNvPr id="12" name="TextBox 12"/>
              <p:cNvSpPr txBox="1"/>
              <p:nvPr/>
            </p:nvSpPr>
            <p:spPr>
              <a:xfrm>
                <a:off x="1020318" y="208883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客运:结构与增长</a:t>
                </a:r>
              </a:p>
            </p:txBody>
          </p:sp>
        </p:grpSp>
        <p:grpSp>
          <p:nvGrpSpPr>
            <p:cNvPr id="17" name="agenda-03"/>
            <p:cNvGrpSpPr/>
            <p:nvPr/>
          </p:nvGrpSpPr>
          <p:grpSpPr>
            <a:xfrm>
              <a:off x="609600" y="2409825"/>
              <a:ext cx="2104511" cy="363664"/>
              <a:chOff x="609600" y="2409825"/>
              <a:chExt cx="2104511" cy="363664"/>
            </a:xfrm>
          </p:grpSpPr>
          <p:sp>
            <p:nvSpPr>
              <p:cNvPr id="14" name="Ellipse 14"/>
              <p:cNvSpPr/>
              <p:nvPr/>
            </p:nvSpPr>
            <p:spPr>
              <a:xfrm>
                <a:off x="609600" y="2409825"/>
                <a:ext cx="285750" cy="285750"/>
              </a:xfrm>
              <a:prstGeom prst="ellipse">
                <a:avLst/>
              </a:prstGeom>
              <a:solidFill>
                <a:schemeClr val="accent1"/>
              </a:solidFill>
              <a:ln>
                <a:noFill/>
              </a:ln>
            </p:spPr>
          </p:sp>
          <p:sp>
            <p:nvSpPr>
              <p:cNvPr id="15" name="TextBox 15"/>
              <p:cNvSpPr txBox="1"/>
              <p:nvPr/>
            </p:nvSpPr>
            <p:spPr>
              <a:xfrm>
                <a:off x="663834" y="24884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03</a:t>
                </a:r>
              </a:p>
            </p:txBody>
          </p:sp>
          <p:sp>
            <p:nvSpPr>
              <p:cNvPr id="16" name="TextBox 16"/>
              <p:cNvSpPr txBox="1"/>
              <p:nvPr/>
            </p:nvSpPr>
            <p:spPr>
              <a:xfrm>
                <a:off x="1020318" y="245078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货运:总量与品类</a:t>
                </a:r>
              </a:p>
            </p:txBody>
          </p:sp>
        </p:grpSp>
        <p:grpSp>
          <p:nvGrpSpPr>
            <p:cNvPr id="21" name="agenda-04"/>
            <p:cNvGrpSpPr/>
            <p:nvPr/>
          </p:nvGrpSpPr>
          <p:grpSpPr>
            <a:xfrm>
              <a:off x="609600" y="2771775"/>
              <a:ext cx="2648712" cy="363664"/>
              <a:chOff x="609600" y="2771775"/>
              <a:chExt cx="2648712" cy="363664"/>
            </a:xfrm>
          </p:grpSpPr>
          <p:sp>
            <p:nvSpPr>
              <p:cNvPr id="18" name="Ellipse 18"/>
              <p:cNvSpPr/>
              <p:nvPr/>
            </p:nvSpPr>
            <p:spPr>
              <a:xfrm>
                <a:off x="609600" y="2771775"/>
                <a:ext cx="285750" cy="285750"/>
              </a:xfrm>
              <a:prstGeom prst="ellipse">
                <a:avLst/>
              </a:prstGeom>
              <a:solidFill>
                <a:schemeClr val="accent1"/>
              </a:solidFill>
              <a:ln>
                <a:noFill/>
              </a:ln>
            </p:spPr>
          </p:sp>
          <p:sp>
            <p:nvSpPr>
              <p:cNvPr id="19" name="TextBox 19"/>
              <p:cNvSpPr txBox="1"/>
              <p:nvPr/>
            </p:nvSpPr>
            <p:spPr>
              <a:xfrm>
                <a:off x="663834" y="28503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04</a:t>
                </a:r>
              </a:p>
            </p:txBody>
          </p:sp>
          <p:sp>
            <p:nvSpPr>
              <p:cNvPr id="20" name="TextBox 20"/>
              <p:cNvSpPr txBox="1"/>
              <p:nvPr/>
            </p:nvSpPr>
            <p:spPr>
              <a:xfrm>
                <a:off x="1020318" y="2812732"/>
                <a:ext cx="223799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换算周转量与运输安全</a:t>
                </a:r>
              </a:p>
            </p:txBody>
          </p:sp>
        </p:grpSp>
        <p:grpSp>
          <p:nvGrpSpPr>
            <p:cNvPr id="25" name="agenda-05"/>
            <p:cNvGrpSpPr/>
            <p:nvPr/>
          </p:nvGrpSpPr>
          <p:grpSpPr>
            <a:xfrm>
              <a:off x="609600" y="3133725"/>
              <a:ext cx="2104511" cy="363664"/>
              <a:chOff x="609600" y="3133725"/>
              <a:chExt cx="2104511" cy="363664"/>
            </a:xfrm>
          </p:grpSpPr>
          <p:sp>
            <p:nvSpPr>
              <p:cNvPr id="22" name="Ellipse 22"/>
              <p:cNvSpPr/>
              <p:nvPr/>
            </p:nvSpPr>
            <p:spPr>
              <a:xfrm>
                <a:off x="609600" y="3133725"/>
                <a:ext cx="285750" cy="285750"/>
              </a:xfrm>
              <a:prstGeom prst="ellipse">
                <a:avLst/>
              </a:prstGeom>
              <a:solidFill>
                <a:schemeClr val="accent1"/>
              </a:solidFill>
              <a:ln>
                <a:noFill/>
              </a:ln>
            </p:spPr>
          </p:sp>
          <p:sp>
            <p:nvSpPr>
              <p:cNvPr id="23" name="TextBox 23"/>
              <p:cNvSpPr txBox="1"/>
              <p:nvPr/>
            </p:nvSpPr>
            <p:spPr>
              <a:xfrm>
                <a:off x="663834" y="32123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05</a:t>
                </a:r>
              </a:p>
            </p:txBody>
          </p:sp>
          <p:sp>
            <p:nvSpPr>
              <p:cNvPr id="24" name="TextBox 24"/>
              <p:cNvSpPr txBox="1"/>
              <p:nvPr/>
            </p:nvSpPr>
            <p:spPr>
              <a:xfrm>
                <a:off x="1020318" y="317468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建设:投资与路网</a:t>
                </a:r>
              </a:p>
            </p:txBody>
          </p:sp>
        </p:grpSp>
        <p:grpSp>
          <p:nvGrpSpPr>
            <p:cNvPr id="29" name="agenda-06"/>
            <p:cNvGrpSpPr/>
            <p:nvPr/>
          </p:nvGrpSpPr>
          <p:grpSpPr>
            <a:xfrm>
              <a:off x="609600" y="3495675"/>
              <a:ext cx="2104511" cy="363664"/>
              <a:chOff x="609600" y="3495675"/>
              <a:chExt cx="2104511" cy="363664"/>
            </a:xfrm>
          </p:grpSpPr>
          <p:sp>
            <p:nvSpPr>
              <p:cNvPr id="26" name="Ellipse 26"/>
              <p:cNvSpPr/>
              <p:nvPr/>
            </p:nvSpPr>
            <p:spPr>
              <a:xfrm>
                <a:off x="609600" y="3495675"/>
                <a:ext cx="285750" cy="285750"/>
              </a:xfrm>
              <a:prstGeom prst="ellipse">
                <a:avLst/>
              </a:prstGeom>
              <a:solidFill>
                <a:schemeClr val="accent3"/>
              </a:solidFill>
              <a:ln>
                <a:noFill/>
              </a:ln>
            </p:spPr>
          </p:sp>
          <p:sp>
            <p:nvSpPr>
              <p:cNvPr id="27" name="TextBox 27"/>
              <p:cNvSpPr txBox="1"/>
              <p:nvPr/>
            </p:nvSpPr>
            <p:spPr>
              <a:xfrm>
                <a:off x="663834" y="35742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06</a:t>
                </a:r>
              </a:p>
            </p:txBody>
          </p:sp>
          <p:sp>
            <p:nvSpPr>
              <p:cNvPr id="28" name="TextBox 28"/>
              <p:cNvSpPr txBox="1"/>
              <p:nvPr/>
            </p:nvSpPr>
            <p:spPr>
              <a:xfrm>
                <a:off x="1020318" y="3536632"/>
                <a:ext cx="169379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现场:丹昆特大桥</a:t>
                </a:r>
              </a:p>
            </p:txBody>
          </p:sp>
        </p:grpSp>
        <p:grpSp>
          <p:nvGrpSpPr>
            <p:cNvPr id="33" name="agenda-07"/>
            <p:cNvGrpSpPr/>
            <p:nvPr/>
          </p:nvGrpSpPr>
          <p:grpSpPr>
            <a:xfrm>
              <a:off x="609600" y="3857625"/>
              <a:ext cx="1882388" cy="363664"/>
              <a:chOff x="609600" y="3857625"/>
              <a:chExt cx="1882388" cy="363664"/>
            </a:xfrm>
          </p:grpSpPr>
          <p:sp>
            <p:nvSpPr>
              <p:cNvPr id="30" name="Ellipse 30"/>
              <p:cNvSpPr/>
              <p:nvPr/>
            </p:nvSpPr>
            <p:spPr>
              <a:xfrm>
                <a:off x="609600" y="3857625"/>
                <a:ext cx="285750" cy="285750"/>
              </a:xfrm>
              <a:prstGeom prst="ellipse">
                <a:avLst/>
              </a:prstGeom>
              <a:solidFill>
                <a:schemeClr val="accent1"/>
              </a:solidFill>
              <a:ln>
                <a:noFill/>
              </a:ln>
            </p:spPr>
          </p:sp>
          <p:sp>
            <p:nvSpPr>
              <p:cNvPr id="31" name="TextBox 31"/>
              <p:cNvSpPr txBox="1"/>
              <p:nvPr/>
            </p:nvSpPr>
            <p:spPr>
              <a:xfrm>
                <a:off x="663834" y="39362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07</a:t>
                </a:r>
              </a:p>
            </p:txBody>
          </p:sp>
          <p:sp>
            <p:nvSpPr>
              <p:cNvPr id="32" name="TextBox 32"/>
              <p:cNvSpPr txBox="1"/>
              <p:nvPr/>
            </p:nvSpPr>
            <p:spPr>
              <a:xfrm>
                <a:off x="1020318" y="3898582"/>
                <a:ext cx="147167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装备:机车车辆</a:t>
                </a:r>
              </a:p>
            </p:txBody>
          </p:sp>
        </p:grpSp>
        <p:grpSp>
          <p:nvGrpSpPr>
            <p:cNvPr id="37" name="agenda-08"/>
            <p:cNvGrpSpPr/>
            <p:nvPr/>
          </p:nvGrpSpPr>
          <p:grpSpPr>
            <a:xfrm>
              <a:off x="609600" y="4219575"/>
              <a:ext cx="2326634" cy="363664"/>
              <a:chOff x="609600" y="4219575"/>
              <a:chExt cx="2326634" cy="363664"/>
            </a:xfrm>
          </p:grpSpPr>
          <p:sp>
            <p:nvSpPr>
              <p:cNvPr id="34" name="Ellipse 34"/>
              <p:cNvSpPr/>
              <p:nvPr/>
            </p:nvSpPr>
            <p:spPr>
              <a:xfrm>
                <a:off x="609600" y="4219575"/>
                <a:ext cx="285750" cy="285750"/>
              </a:xfrm>
              <a:prstGeom prst="ellipse">
                <a:avLst/>
              </a:prstGeom>
              <a:solidFill>
                <a:schemeClr val="accent3"/>
              </a:solidFill>
              <a:ln>
                <a:noFill/>
              </a:ln>
            </p:spPr>
          </p:sp>
          <p:sp>
            <p:nvSpPr>
              <p:cNvPr id="35" name="TextBox 35"/>
              <p:cNvSpPr txBox="1"/>
              <p:nvPr/>
            </p:nvSpPr>
            <p:spPr>
              <a:xfrm>
                <a:off x="663834" y="42981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08</a:t>
                </a:r>
              </a:p>
            </p:txBody>
          </p:sp>
          <p:sp>
            <p:nvSpPr>
              <p:cNvPr id="36" name="TextBox 36"/>
              <p:cNvSpPr txBox="1"/>
              <p:nvPr/>
            </p:nvSpPr>
            <p:spPr>
              <a:xfrm>
                <a:off x="1020318" y="4260532"/>
                <a:ext cx="191591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现场:复兴号与车站</a:t>
                </a:r>
              </a:p>
            </p:txBody>
          </p:sp>
        </p:grpSp>
        <p:grpSp>
          <p:nvGrpSpPr>
            <p:cNvPr id="41" name="agenda-09"/>
            <p:cNvGrpSpPr/>
            <p:nvPr/>
          </p:nvGrpSpPr>
          <p:grpSpPr>
            <a:xfrm>
              <a:off x="609600" y="4581525"/>
              <a:ext cx="2670924" cy="363664"/>
              <a:chOff x="609600" y="4581525"/>
              <a:chExt cx="2670924" cy="363664"/>
            </a:xfrm>
          </p:grpSpPr>
          <p:sp>
            <p:nvSpPr>
              <p:cNvPr id="38" name="Ellipse 38"/>
              <p:cNvSpPr/>
              <p:nvPr/>
            </p:nvSpPr>
            <p:spPr>
              <a:xfrm>
                <a:off x="609600" y="4581525"/>
                <a:ext cx="285750" cy="285750"/>
              </a:xfrm>
              <a:prstGeom prst="ellipse">
                <a:avLst/>
              </a:prstGeom>
              <a:solidFill>
                <a:schemeClr val="accent1"/>
              </a:solidFill>
              <a:ln>
                <a:noFill/>
              </a:ln>
            </p:spPr>
          </p:sp>
          <p:sp>
            <p:nvSpPr>
              <p:cNvPr id="39" name="TextBox 39"/>
              <p:cNvSpPr txBox="1"/>
              <p:nvPr/>
            </p:nvSpPr>
            <p:spPr>
              <a:xfrm>
                <a:off x="663834" y="46601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09</a:t>
                </a:r>
              </a:p>
            </p:txBody>
          </p:sp>
          <p:sp>
            <p:nvSpPr>
              <p:cNvPr id="40" name="TextBox 40"/>
              <p:cNvSpPr txBox="1"/>
              <p:nvPr/>
            </p:nvSpPr>
            <p:spPr>
              <a:xfrm>
                <a:off x="1020318" y="4622482"/>
                <a:ext cx="226020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国际对照:8国营业里程</a:t>
                </a:r>
              </a:p>
            </p:txBody>
          </p:sp>
        </p:grpSp>
        <p:grpSp>
          <p:nvGrpSpPr>
            <p:cNvPr id="45" name="agenda-10"/>
            <p:cNvGrpSpPr/>
            <p:nvPr/>
          </p:nvGrpSpPr>
          <p:grpSpPr>
            <a:xfrm>
              <a:off x="609600" y="4943475"/>
              <a:ext cx="2426589" cy="363664"/>
              <a:chOff x="609600" y="4943475"/>
              <a:chExt cx="2426589" cy="363664"/>
            </a:xfrm>
          </p:grpSpPr>
          <p:sp>
            <p:nvSpPr>
              <p:cNvPr id="42" name="Ellipse 42"/>
              <p:cNvSpPr/>
              <p:nvPr/>
            </p:nvSpPr>
            <p:spPr>
              <a:xfrm>
                <a:off x="609600" y="4943475"/>
                <a:ext cx="285750" cy="285750"/>
              </a:xfrm>
              <a:prstGeom prst="ellipse">
                <a:avLst/>
              </a:prstGeom>
              <a:solidFill>
                <a:schemeClr val="accent1"/>
              </a:solidFill>
              <a:ln>
                <a:noFill/>
              </a:ln>
            </p:spPr>
          </p:sp>
          <p:sp>
            <p:nvSpPr>
              <p:cNvPr id="43" name="TextBox 43"/>
              <p:cNvSpPr txBox="1"/>
              <p:nvPr/>
            </p:nvSpPr>
            <p:spPr>
              <a:xfrm>
                <a:off x="663834" y="50220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10</a:t>
                </a:r>
              </a:p>
            </p:txBody>
          </p:sp>
          <p:sp>
            <p:nvSpPr>
              <p:cNvPr id="44" name="TextBox 44"/>
              <p:cNvSpPr txBox="1"/>
              <p:nvPr/>
            </p:nvSpPr>
            <p:spPr>
              <a:xfrm>
                <a:off x="1020318" y="4984432"/>
                <a:ext cx="2015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科技创新与技术标准</a:t>
                </a:r>
              </a:p>
            </p:txBody>
          </p:sp>
        </p:grpSp>
        <p:grpSp>
          <p:nvGrpSpPr>
            <p:cNvPr id="49" name="agenda-11"/>
            <p:cNvGrpSpPr/>
            <p:nvPr/>
          </p:nvGrpSpPr>
          <p:grpSpPr>
            <a:xfrm>
              <a:off x="609600" y="5305425"/>
              <a:ext cx="2426589" cy="363664"/>
              <a:chOff x="609600" y="5305425"/>
              <a:chExt cx="2426589" cy="363664"/>
            </a:xfrm>
          </p:grpSpPr>
          <p:sp>
            <p:nvSpPr>
              <p:cNvPr id="46" name="Ellipse 46"/>
              <p:cNvSpPr/>
              <p:nvPr/>
            </p:nvSpPr>
            <p:spPr>
              <a:xfrm>
                <a:off x="609600" y="5305425"/>
                <a:ext cx="285750" cy="285750"/>
              </a:xfrm>
              <a:prstGeom prst="ellipse">
                <a:avLst/>
              </a:prstGeom>
              <a:solidFill>
                <a:schemeClr val="accent1"/>
              </a:solidFill>
              <a:ln>
                <a:noFill/>
              </a:ln>
            </p:spPr>
          </p:sp>
          <p:sp>
            <p:nvSpPr>
              <p:cNvPr id="47" name="TextBox 47"/>
              <p:cNvSpPr txBox="1"/>
              <p:nvPr/>
            </p:nvSpPr>
            <p:spPr>
              <a:xfrm>
                <a:off x="663834" y="538400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11</a:t>
                </a:r>
              </a:p>
            </p:txBody>
          </p:sp>
          <p:sp>
            <p:nvSpPr>
              <p:cNvPr id="48" name="TextBox 48"/>
              <p:cNvSpPr txBox="1"/>
              <p:nvPr/>
            </p:nvSpPr>
            <p:spPr>
              <a:xfrm>
                <a:off x="1020318" y="5346382"/>
                <a:ext cx="2015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绿色低碳与行业监管</a:t>
                </a:r>
              </a:p>
            </p:txBody>
          </p:sp>
        </p:grpSp>
        <p:grpSp>
          <p:nvGrpSpPr>
            <p:cNvPr id="53" name="agenda-12"/>
            <p:cNvGrpSpPr/>
            <p:nvPr/>
          </p:nvGrpSpPr>
          <p:grpSpPr>
            <a:xfrm>
              <a:off x="609600" y="5667375"/>
              <a:ext cx="2905264" cy="363664"/>
              <a:chOff x="609600" y="5667375"/>
              <a:chExt cx="2905264" cy="363664"/>
            </a:xfrm>
          </p:grpSpPr>
          <p:sp>
            <p:nvSpPr>
              <p:cNvPr id="50" name="Ellipse 50"/>
              <p:cNvSpPr/>
              <p:nvPr/>
            </p:nvSpPr>
            <p:spPr>
              <a:xfrm>
                <a:off x="609600" y="5667375"/>
                <a:ext cx="285750" cy="285750"/>
              </a:xfrm>
              <a:prstGeom prst="ellipse">
                <a:avLst/>
              </a:prstGeom>
              <a:solidFill>
                <a:schemeClr val="accent2"/>
              </a:solidFill>
              <a:ln>
                <a:noFill/>
              </a:ln>
            </p:spPr>
          </p:sp>
          <p:sp>
            <p:nvSpPr>
              <p:cNvPr id="51" name="TextBox 51"/>
              <p:cNvSpPr txBox="1"/>
              <p:nvPr/>
            </p:nvSpPr>
            <p:spPr>
              <a:xfrm>
                <a:off x="663834" y="5745956"/>
                <a:ext cx="177282"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Consolas"/>
                    <a:ea typeface="Consolas"/>
                    <a:cs typeface="Consolas"/>
                  </a:rPr>
                  <a:t>12</a:t>
                </a:r>
              </a:p>
            </p:txBody>
          </p:sp>
          <p:sp>
            <p:nvSpPr>
              <p:cNvPr id="52" name="TextBox 52"/>
              <p:cNvSpPr txBox="1"/>
              <p:nvPr/>
            </p:nvSpPr>
            <p:spPr>
              <a:xfrm>
                <a:off x="1020318" y="5708332"/>
                <a:ext cx="249454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结语:量质齐升,支撑发展</a:t>
                </a:r>
              </a:p>
            </p:txBody>
          </p:sp>
        </p:grpSp>
      </p:grpSp>
      <p:grpSp>
        <p:nvGrpSpPr>
          <p:cNvPr id="59" name="agenda-photo"/>
          <p:cNvGrpSpPr/>
          <p:nvPr/>
        </p:nvGrpSpPr>
        <p:grpSpPr>
          <a:xfrm>
            <a:off x="7010400" y="1333500"/>
            <a:ext cx="4572000" cy="4918234"/>
            <a:chOff x="7010400" y="1333500"/>
            <a:chExt cx="4572000" cy="4918234"/>
          </a:xfrm>
        </p:grpSpPr>
        <p:pic>
          <p:nvPicPr>
            <p:cNvPr id="55" name="Image 55"/>
            <p:cNvPicPr>
              <a:picLocks noChangeAspect="1"/>
            </p:cNvPicPr>
            <p:nvPr/>
          </p:nvPicPr>
          <p:blipFill>
            <a:blip r:embed="rId2"/>
            <a:srcRect l="20930" t="0" r="20930" b="0"/>
            <a:stretch>
              <a:fillRect/>
            </a:stretch>
          </p:blipFill>
          <p:spPr>
            <a:xfrm>
              <a:off x="7010400" y="1333500"/>
              <a:ext cx="4572000" cy="4914900"/>
            </a:xfrm>
            <a:prstGeom prst="roundRect">
              <a:avLst>
                <a:gd name="adj" fmla="val 3333"/>
              </a:avLst>
            </a:prstGeom>
          </p:spPr>
        </p:pic>
        <p:sp>
          <p:nvSpPr>
            <p:cNvPr id="56" name="Rectangle 56"/>
            <p:cNvSpPr/>
            <p:nvPr/>
          </p:nvSpPr>
          <p:spPr>
            <a:xfrm>
              <a:off x="7010400" y="1333500"/>
              <a:ext cx="4572000" cy="4914900"/>
            </a:xfrm>
            <a:prstGeom prst="roundRect">
              <a:avLst>
                <a:gd name="adj" fmla="val 3333"/>
              </a:avLst>
            </a:prstGeom>
            <a:gradFill>
              <a:gsLst>
                <a:gs pos="0">
                  <a:srgbClr val="08152A">
                    <a:alpha val="0"/>
                  </a:srgbClr>
                </a:gs>
                <a:gs pos="72000">
                  <a:srgbClr val="08152A">
                    <a:alpha val="18000"/>
                  </a:srgbClr>
                </a:gs>
                <a:gs pos="100000">
                  <a:srgbClr val="08152A">
                    <a:alpha val="74000"/>
                  </a:srgbClr>
                </a:gs>
              </a:gsLst>
              <a:lin ang="5400000" scaled="1"/>
            </a:gradFill>
            <a:ln>
              <a:noFill/>
            </a:ln>
          </p:spPr>
        </p:sp>
        <p:sp>
          <p:nvSpPr>
            <p:cNvPr id="57" name="TextBox 57"/>
            <p:cNvSpPr txBox="1"/>
            <p:nvPr/>
          </p:nvSpPr>
          <p:spPr>
            <a:xfrm>
              <a:off x="7231380" y="5762625"/>
              <a:ext cx="82296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北京南站</a:t>
              </a:r>
            </a:p>
          </p:txBody>
        </p:sp>
        <p:sp>
          <p:nvSpPr>
            <p:cNvPr id="58" name="TextBox 58"/>
            <p:cNvSpPr txBox="1"/>
            <p:nvPr/>
          </p:nvSpPr>
          <p:spPr>
            <a:xfrm>
              <a:off x="7233285" y="6031706"/>
              <a:ext cx="3607231" cy="220028"/>
            </a:xfrm>
            <a:prstGeom prst="rect">
              <a:avLst/>
            </a:prstGeom>
            <a:noFill/>
            <a:ln>
              <a:noFill/>
            </a:ln>
          </p:spPr>
          <p:txBody>
            <a:bodyPr wrap="none" lIns="0" tIns="0" rIns="0" bIns="0" anchor="t" anchorCtr="0">
              <a:spAutoFit/>
            </a:bodyPr>
            <a:lstStyle/>
            <a:p>
              <a:pPr algn="l"/>
              <a:r>
                <a:rPr lang="zh-CN" sz="1120" dirty="0">
                  <a:solidFill>
                    <a:srgbClr val="E7EAF1"/>
                  </a:solidFill>
                  <a:latin typeface="+mn-lt"/>
                  <a:ea typeface="+mn-ea"/>
                  <a:cs typeface="+mn-cs"/>
                </a:rPr>
                <a:t>图片:</a:t>
              </a:r>
              <a:r>
                <a:rPr lang="zh-CN" sz="1120" u="sng" dirty="0">
                  <a:solidFill>
                    <a:srgbClr val="E7EAF1"/>
                  </a:solidFill>
                  <a:latin typeface="+mn-lt"/>
                  <a:ea typeface="+mn-ea"/>
                  <a:cs typeface="+mn-cs"/>
                  <a:hlinkClick r:id="rId3"/>
                </a:rPr>
                <a:t>颐园新居, CC BY-SA 4.0, Wikimedia Commons</a:t>
              </a:r>
            </a:p>
          </p:txBody>
        </p:sp>
      </p:grpSp>
      <p:grpSp>
        <p:nvGrpSpPr>
          <p:cNvPr id="63" name="footer"/>
          <p:cNvGrpSpPr/>
          <p:nvPr/>
        </p:nvGrpSpPr>
        <p:grpSpPr>
          <a:xfrm>
            <a:off x="603504" y="6438900"/>
            <a:ext cx="10984992" cy="333756"/>
            <a:chOff x="603504" y="6438900"/>
            <a:chExt cx="10984992" cy="333756"/>
          </a:xfrm>
        </p:grpSpPr>
        <p:sp>
          <p:nvSpPr>
            <p:cNvPr id="60" name="Line 60"/>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1" name="TextBox 61"/>
            <p:cNvSpPr txBox="1"/>
            <p:nvPr/>
          </p:nvSpPr>
          <p:spPr>
            <a:xfrm>
              <a:off x="603504" y="653796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62" name="TextBox 62"/>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6250991" cy="846772"/>
            <a:chOff x="594360" y="501968"/>
            <a:chExt cx="6250991"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01 · 总览</a:t>
              </a:r>
            </a:p>
          </p:txBody>
        </p:sp>
        <p:sp>
          <p:nvSpPr>
            <p:cNvPr id="3" name="TextBox 3"/>
            <p:cNvSpPr txBox="1"/>
            <p:nvPr/>
          </p:nvSpPr>
          <p:spPr>
            <a:xfrm>
              <a:off x="594360" y="762000"/>
              <a:ext cx="625099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四项核心指标同步增长,量质齐升</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19" name="kpi-passenger"/>
          <p:cNvGrpSpPr/>
          <p:nvPr/>
        </p:nvGrpSpPr>
        <p:grpSpPr>
          <a:xfrm>
            <a:off x="609600" y="1714500"/>
            <a:ext cx="2571750" cy="2857500"/>
            <a:chOff x="609600" y="1714500"/>
            <a:chExt cx="2571750" cy="2857500"/>
          </a:xfrm>
        </p:grpSpPr>
        <p:sp>
          <p:nvSpPr>
            <p:cNvPr id="6" name="Rectangle 6"/>
            <p:cNvSpPr/>
            <p:nvPr/>
          </p:nvSpPr>
          <p:spPr>
            <a:xfrm>
              <a:off x="609600" y="1714500"/>
              <a:ext cx="2571750" cy="2857500"/>
            </a:xfrm>
            <a:prstGeom prst="roundRect">
              <a:avLst>
                <a:gd name="adj" fmla="val 5926"/>
              </a:avLst>
            </a:prstGeom>
            <a:solidFill>
              <a:schemeClr val="lt2"/>
            </a:solidFill>
            <a:ln>
              <a:noFill/>
            </a:ln>
          </p:spPr>
        </p:sp>
        <p:grpSp>
          <p:nvGrpSpPr>
            <p:cNvPr id="11" name="Group 11"/>
            <p:cNvGrpSpPr/>
            <p:nvPr/>
          </p:nvGrpSpPr>
          <p:grpSpPr>
            <a:xfrm>
              <a:off x="876300" y="1981200"/>
              <a:ext cx="228599" cy="228600"/>
              <a:chOff x="876300" y="1981200"/>
              <a:chExt cx="228599" cy="228600"/>
            </a:xfrm>
          </p:grpSpPr>
          <p:sp>
            <p:nvSpPr>
              <p:cNvPr id="7" name="Freeform 7"/>
              <p:cNvSpPr/>
              <p:nvPr/>
            </p:nvSpPr>
            <p:spPr>
              <a:xfrm>
                <a:off x="901700" y="1981200"/>
                <a:ext cx="101600" cy="101600"/>
              </a:xfrm>
              <a:custGeom>
                <a:avLst/>
                <a:gdLst/>
                <a:ahLst/>
                <a:cxnLst/>
                <a:rect l="l" t="t" r="r" b="b"/>
                <a:pathLst>
                  <a:path w="101600" h="101600">
                    <a:moveTo>
                      <a:pt x="0" y="50800"/>
                    </a:moveTo>
                    <a:cubicBezTo>
                      <a:pt x="0" y="78856"/>
                      <a:pt x="22744" y="101600"/>
                      <a:pt x="50800" y="101600"/>
                    </a:cubicBezTo>
                    <a:cubicBezTo>
                      <a:pt x="78856" y="101600"/>
                      <a:pt x="101600" y="78856"/>
                      <a:pt x="101600" y="50800"/>
                    </a:cubicBezTo>
                    <a:cubicBezTo>
                      <a:pt x="101600" y="22744"/>
                      <a:pt x="78856" y="0"/>
                      <a:pt x="50800" y="0"/>
                    </a:cubicBezTo>
                    <a:cubicBezTo>
                      <a:pt x="22744" y="0"/>
                      <a:pt x="0" y="22744"/>
                      <a:pt x="0" y="50800"/>
                    </a:cubicBezTo>
                  </a:path>
                </a:pathLst>
              </a:custGeom>
              <a:noFill/>
              <a:ln w="25400">
                <a:solidFill>
                  <a:schemeClr val="accent1"/>
                </a:solidFill>
              </a:ln>
            </p:spPr>
          </p:sp>
          <p:sp>
            <p:nvSpPr>
              <p:cNvPr id="8" name="Freeform 8"/>
              <p:cNvSpPr/>
              <p:nvPr/>
            </p:nvSpPr>
            <p:spPr>
              <a:xfrm>
                <a:off x="876300" y="2133600"/>
                <a:ext cx="152400" cy="76200"/>
              </a:xfrm>
              <a:custGeom>
                <a:avLst/>
                <a:gdLst/>
                <a:ahLst/>
                <a:cxnLst/>
                <a:rect l="l" t="t" r="r" b="b"/>
                <a:pathLst>
                  <a:path w="152400" h="76200">
                    <a:moveTo>
                      <a:pt x="0" y="76200"/>
                    </a:moveTo>
                    <a:lnTo>
                      <a:pt x="0" y="50800"/>
                    </a:lnTo>
                    <a:cubicBezTo>
                      <a:pt x="0" y="22744"/>
                      <a:pt x="22744" y="0"/>
                      <a:pt x="50800" y="0"/>
                    </a:cubicBezTo>
                    <a:lnTo>
                      <a:pt x="101600" y="0"/>
                    </a:lnTo>
                    <a:cubicBezTo>
                      <a:pt x="129656" y="0"/>
                      <a:pt x="152400" y="22744"/>
                      <a:pt x="152400" y="50800"/>
                    </a:cubicBezTo>
                    <a:lnTo>
                      <a:pt x="152400" y="76200"/>
                    </a:lnTo>
                  </a:path>
                </a:pathLst>
              </a:custGeom>
              <a:noFill/>
              <a:ln w="25400">
                <a:solidFill>
                  <a:schemeClr val="accent1"/>
                </a:solidFill>
              </a:ln>
            </p:spPr>
          </p:sp>
          <p:sp>
            <p:nvSpPr>
              <p:cNvPr id="9" name="Freeform 9"/>
              <p:cNvSpPr/>
              <p:nvPr/>
            </p:nvSpPr>
            <p:spPr>
              <a:xfrm>
                <a:off x="1041399" y="1982851"/>
                <a:ext cx="38200" cy="98425"/>
              </a:xfrm>
              <a:custGeom>
                <a:avLst/>
                <a:gdLst/>
                <a:ahLst/>
                <a:cxnLst/>
                <a:rect l="l" t="t" r="r" b="b"/>
                <a:pathLst>
                  <a:path w="38200" h="98425">
                    <a:moveTo>
                      <a:pt x="0" y="0"/>
                    </a:moveTo>
                    <a:cubicBezTo>
                      <a:pt x="22478" y="5755"/>
                      <a:pt x="38200" y="26009"/>
                      <a:pt x="38200" y="49212"/>
                    </a:cubicBezTo>
                    <a:cubicBezTo>
                      <a:pt x="38200" y="72415"/>
                      <a:pt x="22478" y="92670"/>
                      <a:pt x="0" y="98425"/>
                    </a:cubicBezTo>
                  </a:path>
                </a:pathLst>
              </a:custGeom>
              <a:noFill/>
              <a:ln w="25400">
                <a:solidFill>
                  <a:schemeClr val="accent1"/>
                </a:solidFill>
              </a:ln>
            </p:spPr>
          </p:sp>
          <p:sp>
            <p:nvSpPr>
              <p:cNvPr id="10" name="Freeform 10"/>
              <p:cNvSpPr/>
              <p:nvPr/>
            </p:nvSpPr>
            <p:spPr>
              <a:xfrm>
                <a:off x="1066799" y="2135505"/>
                <a:ext cx="38100" cy="74295"/>
              </a:xfrm>
              <a:custGeom>
                <a:avLst/>
                <a:gdLst/>
                <a:ahLst/>
                <a:cxnLst/>
                <a:rect l="l" t="t" r="r" b="b"/>
                <a:pathLst>
                  <a:path w="38100" h="74295">
                    <a:moveTo>
                      <a:pt x="38100" y="74295"/>
                    </a:moveTo>
                    <a:lnTo>
                      <a:pt x="38100" y="48895"/>
                    </a:lnTo>
                    <a:cubicBezTo>
                      <a:pt x="37967" y="25839"/>
                      <a:pt x="22324" y="5764"/>
                      <a:pt x="0" y="0"/>
                    </a:cubicBezTo>
                  </a:path>
                </a:pathLst>
              </a:custGeom>
              <a:noFill/>
              <a:ln w="25400">
                <a:solidFill>
                  <a:schemeClr val="accent1"/>
                </a:solidFill>
              </a:ln>
            </p:spPr>
          </p:sp>
        </p:grpSp>
        <p:sp>
          <p:nvSpPr>
            <p:cNvPr id="12" name="TextBox 12"/>
            <p:cNvSpPr txBox="1"/>
            <p:nvPr/>
          </p:nvSpPr>
          <p:spPr>
            <a:xfrm>
              <a:off x="123215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13" name="TextBox 13"/>
            <p:cNvSpPr txBox="1"/>
            <p:nvPr/>
          </p:nvSpPr>
          <p:spPr>
            <a:xfrm>
              <a:off x="819150" y="2339340"/>
              <a:ext cx="1815084"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43.12</a:t>
              </a:r>
            </a:p>
          </p:txBody>
        </p:sp>
        <p:sp>
          <p:nvSpPr>
            <p:cNvPr id="14" name="TextBox 14"/>
            <p:cNvSpPr txBox="1"/>
            <p:nvPr/>
          </p:nvSpPr>
          <p:spPr>
            <a:xfrm>
              <a:off x="829818" y="2965132"/>
              <a:ext cx="204918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亿人次 · 旅客发送量</a:t>
              </a:r>
            </a:p>
          </p:txBody>
        </p:sp>
        <p:sp>
          <p:nvSpPr>
            <p:cNvPr id="15" name="Freeform 15"/>
            <p:cNvSpPr/>
            <p:nvPr/>
          </p:nvSpPr>
          <p:spPr>
            <a:xfrm>
              <a:off x="838200" y="3333750"/>
              <a:ext cx="190500" cy="190500"/>
            </a:xfrm>
            <a:prstGeom prst="upArrow">
              <a:avLst/>
            </a:prstGeom>
            <a:solidFill>
              <a:srgbClr val="2E7D32"/>
            </a:solidFill>
            <a:ln>
              <a:noFill/>
            </a:ln>
          </p:spPr>
        </p:sp>
        <p:sp>
          <p:nvSpPr>
            <p:cNvPr id="16" name="TextBox 16"/>
            <p:cNvSpPr txBox="1"/>
            <p:nvPr/>
          </p:nvSpPr>
          <p:spPr>
            <a:xfrm>
              <a:off x="1096518" y="3327082"/>
              <a:ext cx="1527705"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+11.9%</a:t>
              </a:r>
              <a:r>
                <a:rPr lang="zh-CN" sz="1200" dirty="0">
                  <a:solidFill>
                    <a:schemeClr val="accent5"/>
                  </a:solidFill>
                  <a:latin typeface="+mn-lt"/>
                  <a:ea typeface="+mn-ea"/>
                  <a:cs typeface="+mn-cs"/>
                </a:rPr>
                <a:t xml:space="preserve"> 同比上年</a:t>
              </a:r>
            </a:p>
          </p:txBody>
        </p:sp>
        <p:sp>
          <p:nvSpPr>
            <p:cNvPr id="17" name="Line 17"/>
            <p:cNvSpPr/>
            <p:nvPr/>
          </p:nvSpPr>
          <p:spPr>
            <a:xfrm>
              <a:off x="83820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18" name="TextBox 18"/>
            <p:cNvSpPr txBox="1"/>
            <p:nvPr/>
          </p:nvSpPr>
          <p:spPr>
            <a:xfrm>
              <a:off x="83248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来源:公报第1页</a:t>
              </a:r>
            </a:p>
          </p:txBody>
        </p:sp>
      </p:grpSp>
      <p:grpSp>
        <p:nvGrpSpPr>
          <p:cNvPr id="32" name="kpi-freight"/>
          <p:cNvGrpSpPr/>
          <p:nvPr/>
        </p:nvGrpSpPr>
        <p:grpSpPr>
          <a:xfrm>
            <a:off x="3409950" y="1714500"/>
            <a:ext cx="2571750" cy="2857500"/>
            <a:chOff x="3409950" y="1714500"/>
            <a:chExt cx="2571750" cy="2857500"/>
          </a:xfrm>
        </p:grpSpPr>
        <p:sp>
          <p:nvSpPr>
            <p:cNvPr id="20" name="Rectangle 20"/>
            <p:cNvSpPr/>
            <p:nvPr/>
          </p:nvSpPr>
          <p:spPr>
            <a:xfrm>
              <a:off x="3409950" y="1714500"/>
              <a:ext cx="2571750" cy="2857500"/>
            </a:xfrm>
            <a:prstGeom prst="roundRect">
              <a:avLst>
                <a:gd name="adj" fmla="val 5926"/>
              </a:avLst>
            </a:prstGeom>
            <a:solidFill>
              <a:schemeClr val="lt2"/>
            </a:solidFill>
            <a:ln>
              <a:noFill/>
            </a:ln>
          </p:spPr>
        </p:sp>
        <p:grpSp>
          <p:nvGrpSpPr>
            <p:cNvPr id="24" name="Group 24"/>
            <p:cNvGrpSpPr/>
            <p:nvPr/>
          </p:nvGrpSpPr>
          <p:grpSpPr>
            <a:xfrm>
              <a:off x="3676650" y="2006600"/>
              <a:ext cx="228599" cy="177800"/>
              <a:chOff x="3676650" y="2006600"/>
              <a:chExt cx="228599" cy="177800"/>
            </a:xfrm>
          </p:grpSpPr>
          <p:sp>
            <p:nvSpPr>
              <p:cNvPr id="21" name="Freeform 21"/>
              <p:cNvSpPr/>
              <p:nvPr/>
            </p:nvSpPr>
            <p:spPr>
              <a:xfrm>
                <a:off x="3702050" y="2133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22" name="Freeform 22"/>
              <p:cNvSpPr/>
              <p:nvPr/>
            </p:nvSpPr>
            <p:spPr>
              <a:xfrm>
                <a:off x="3829050" y="21336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23" name="Freeform 23"/>
              <p:cNvSpPr/>
              <p:nvPr/>
            </p:nvSpPr>
            <p:spPr>
              <a:xfrm>
                <a:off x="3676650" y="2006600"/>
                <a:ext cx="228599" cy="152400"/>
              </a:xfrm>
              <a:custGeom>
                <a:avLst/>
                <a:gdLst/>
                <a:ahLst/>
                <a:cxnLst/>
                <a:rect l="l" t="t" r="r" b="b"/>
                <a:pathLst>
                  <a:path w="228599" h="152400">
                    <a:moveTo>
                      <a:pt x="25400" y="152400"/>
                    </a:moveTo>
                    <a:lnTo>
                      <a:pt x="0" y="152400"/>
                    </a:lnTo>
                    <a:lnTo>
                      <a:pt x="0" y="12700"/>
                    </a:lnTo>
                    <a:cubicBezTo>
                      <a:pt x="0" y="5686"/>
                      <a:pt x="5686" y="0"/>
                      <a:pt x="12700" y="0"/>
                    </a:cubicBezTo>
                    <a:lnTo>
                      <a:pt x="127000" y="0"/>
                    </a:lnTo>
                    <a:lnTo>
                      <a:pt x="127000" y="152400"/>
                    </a:lnTo>
                    <a:moveTo>
                      <a:pt x="76200" y="152400"/>
                    </a:moveTo>
                    <a:lnTo>
                      <a:pt x="152400" y="152400"/>
                    </a:lnTo>
                    <a:moveTo>
                      <a:pt x="203199" y="152400"/>
                    </a:moveTo>
                    <a:lnTo>
                      <a:pt x="228599" y="152400"/>
                    </a:lnTo>
                    <a:lnTo>
                      <a:pt x="228599" y="76200"/>
                    </a:lnTo>
                    <a:lnTo>
                      <a:pt x="127000" y="76200"/>
                    </a:lnTo>
                    <a:moveTo>
                      <a:pt x="127000" y="12700"/>
                    </a:moveTo>
                    <a:lnTo>
                      <a:pt x="190500" y="12700"/>
                    </a:lnTo>
                    <a:lnTo>
                      <a:pt x="228599" y="76200"/>
                    </a:lnTo>
                  </a:path>
                </a:pathLst>
              </a:custGeom>
              <a:noFill/>
              <a:ln w="25400">
                <a:solidFill>
                  <a:schemeClr val="accent1"/>
                </a:solidFill>
              </a:ln>
            </p:spPr>
          </p:sp>
        </p:grpSp>
        <p:sp>
          <p:nvSpPr>
            <p:cNvPr id="25" name="TextBox 25"/>
            <p:cNvSpPr txBox="1"/>
            <p:nvPr/>
          </p:nvSpPr>
          <p:spPr>
            <a:xfrm>
              <a:off x="403250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26" name="TextBox 26"/>
            <p:cNvSpPr txBox="1"/>
            <p:nvPr/>
          </p:nvSpPr>
          <p:spPr>
            <a:xfrm>
              <a:off x="3619500" y="2339340"/>
              <a:ext cx="1815084"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51.75</a:t>
              </a:r>
            </a:p>
          </p:txBody>
        </p:sp>
        <p:sp>
          <p:nvSpPr>
            <p:cNvPr id="27" name="TextBox 27"/>
            <p:cNvSpPr txBox="1"/>
            <p:nvPr/>
          </p:nvSpPr>
          <p:spPr>
            <a:xfrm>
              <a:off x="3630168" y="2965132"/>
              <a:ext cx="204918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亿吨 · 货运总发送量</a:t>
              </a:r>
            </a:p>
          </p:txBody>
        </p:sp>
        <p:sp>
          <p:nvSpPr>
            <p:cNvPr id="28" name="Freeform 28"/>
            <p:cNvSpPr/>
            <p:nvPr/>
          </p:nvSpPr>
          <p:spPr>
            <a:xfrm>
              <a:off x="3638550" y="3333750"/>
              <a:ext cx="190500" cy="190500"/>
            </a:xfrm>
            <a:prstGeom prst="upArrow">
              <a:avLst/>
            </a:prstGeom>
            <a:solidFill>
              <a:srgbClr val="2E7D32"/>
            </a:solidFill>
            <a:ln>
              <a:noFill/>
            </a:ln>
          </p:spPr>
        </p:sp>
        <p:sp>
          <p:nvSpPr>
            <p:cNvPr id="29" name="TextBox 29"/>
            <p:cNvSpPr txBox="1"/>
            <p:nvPr/>
          </p:nvSpPr>
          <p:spPr>
            <a:xfrm>
              <a:off x="3896868" y="3327082"/>
              <a:ext cx="1399429"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+2.8%</a:t>
              </a:r>
              <a:r>
                <a:rPr lang="zh-CN" sz="1200" dirty="0">
                  <a:solidFill>
                    <a:schemeClr val="accent5"/>
                  </a:solidFill>
                  <a:latin typeface="+mn-lt"/>
                  <a:ea typeface="+mn-ea"/>
                  <a:cs typeface="+mn-cs"/>
                </a:rPr>
                <a:t xml:space="preserve"> 同比上年</a:t>
              </a:r>
            </a:p>
          </p:txBody>
        </p:sp>
        <p:sp>
          <p:nvSpPr>
            <p:cNvPr id="30" name="Line 30"/>
            <p:cNvSpPr/>
            <p:nvPr/>
          </p:nvSpPr>
          <p:spPr>
            <a:xfrm>
              <a:off x="363855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31" name="TextBox 31"/>
            <p:cNvSpPr txBox="1"/>
            <p:nvPr/>
          </p:nvSpPr>
          <p:spPr>
            <a:xfrm>
              <a:off x="363283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来源:公报第3页</a:t>
              </a:r>
            </a:p>
          </p:txBody>
        </p:sp>
      </p:grpSp>
      <p:grpSp>
        <p:nvGrpSpPr>
          <p:cNvPr id="46" name="kpi-turnover"/>
          <p:cNvGrpSpPr/>
          <p:nvPr/>
        </p:nvGrpSpPr>
        <p:grpSpPr>
          <a:xfrm>
            <a:off x="6210300" y="1714500"/>
            <a:ext cx="2571750" cy="2857500"/>
            <a:chOff x="6210300" y="1714500"/>
            <a:chExt cx="2571750" cy="2857500"/>
          </a:xfrm>
        </p:grpSpPr>
        <p:sp>
          <p:nvSpPr>
            <p:cNvPr id="33" name="Rectangle 33"/>
            <p:cNvSpPr/>
            <p:nvPr/>
          </p:nvSpPr>
          <p:spPr>
            <a:xfrm>
              <a:off x="6210300" y="1714500"/>
              <a:ext cx="2571750" cy="2857500"/>
            </a:xfrm>
            <a:prstGeom prst="roundRect">
              <a:avLst>
                <a:gd name="adj" fmla="val 5926"/>
              </a:avLst>
            </a:prstGeom>
            <a:solidFill>
              <a:schemeClr val="lt2"/>
            </a:solidFill>
            <a:ln>
              <a:noFill/>
            </a:ln>
          </p:spPr>
        </p:sp>
        <p:grpSp>
          <p:nvGrpSpPr>
            <p:cNvPr id="37" name="Group 37"/>
            <p:cNvGrpSpPr/>
            <p:nvPr/>
          </p:nvGrpSpPr>
          <p:grpSpPr>
            <a:xfrm>
              <a:off x="6477000" y="1981200"/>
              <a:ext cx="228599" cy="228599"/>
              <a:chOff x="6477000" y="1981200"/>
              <a:chExt cx="228599" cy="228599"/>
            </a:xfrm>
          </p:grpSpPr>
          <p:sp>
            <p:nvSpPr>
              <p:cNvPr id="34" name="Freeform 34"/>
              <p:cNvSpPr/>
              <p:nvPr/>
            </p:nvSpPr>
            <p:spPr>
              <a:xfrm>
                <a:off x="6477000" y="21589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35" name="Freeform 35"/>
              <p:cNvSpPr/>
              <p:nvPr/>
            </p:nvSpPr>
            <p:spPr>
              <a:xfrm>
                <a:off x="6654799" y="19812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1"/>
                </a:solidFill>
              </a:ln>
            </p:spPr>
          </p:sp>
          <p:sp>
            <p:nvSpPr>
              <p:cNvPr id="36" name="Freeform 36"/>
              <p:cNvSpPr/>
              <p:nvPr/>
            </p:nvSpPr>
            <p:spPr>
              <a:xfrm>
                <a:off x="6502400" y="20066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1"/>
                </a:solidFill>
              </a:ln>
            </p:spPr>
          </p:sp>
        </p:grpSp>
        <p:sp>
          <p:nvSpPr>
            <p:cNvPr id="38" name="TextBox 38"/>
            <p:cNvSpPr txBox="1"/>
            <p:nvPr/>
          </p:nvSpPr>
          <p:spPr>
            <a:xfrm>
              <a:off x="683285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39" name="TextBox 39"/>
            <p:cNvSpPr txBox="1"/>
            <p:nvPr/>
          </p:nvSpPr>
          <p:spPr>
            <a:xfrm>
              <a:off x="6419850" y="2404110"/>
              <a:ext cx="1592961" cy="819150"/>
            </a:xfrm>
            <a:prstGeom prst="rect">
              <a:avLst/>
            </a:prstGeom>
            <a:noFill/>
            <a:ln>
              <a:noFill/>
            </a:ln>
          </p:spPr>
          <p:txBody>
            <a:bodyPr wrap="none" lIns="0" tIns="0" rIns="0" bIns="0" anchor="t" anchorCtr="0">
              <a:spAutoFit/>
            </a:bodyPr>
            <a:lstStyle/>
            <a:p>
              <a:pPr algn="l"/>
              <a:r>
                <a:rPr lang="zh-CN" sz="4200" b="1" dirty="0">
                  <a:solidFill>
                    <a:schemeClr val="accent1"/>
                  </a:solidFill>
                  <a:latin typeface="Consolas"/>
                  <a:ea typeface="Consolas"/>
                  <a:cs typeface="Consolas"/>
                </a:rPr>
                <a:t>51661</a:t>
              </a:r>
            </a:p>
          </p:txBody>
        </p:sp>
        <p:sp>
          <p:nvSpPr>
            <p:cNvPr id="40" name="TextBox 40"/>
            <p:cNvSpPr txBox="1"/>
            <p:nvPr/>
          </p:nvSpPr>
          <p:spPr>
            <a:xfrm>
              <a:off x="6431280" y="2905125"/>
              <a:ext cx="8229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亿吨公里</a:t>
              </a:r>
            </a:p>
          </p:txBody>
        </p:sp>
        <p:sp>
          <p:nvSpPr>
            <p:cNvPr id="41" name="TextBox 41"/>
            <p:cNvSpPr txBox="1"/>
            <p:nvPr/>
          </p:nvSpPr>
          <p:spPr>
            <a:xfrm>
              <a:off x="6431280" y="3114675"/>
              <a:ext cx="12268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总换算周转量</a:t>
              </a:r>
            </a:p>
          </p:txBody>
        </p:sp>
        <p:sp>
          <p:nvSpPr>
            <p:cNvPr id="42" name="Freeform 42"/>
            <p:cNvSpPr/>
            <p:nvPr/>
          </p:nvSpPr>
          <p:spPr>
            <a:xfrm>
              <a:off x="6438900" y="3333750"/>
              <a:ext cx="190500" cy="190500"/>
            </a:xfrm>
            <a:prstGeom prst="upArrow">
              <a:avLst/>
            </a:prstGeom>
            <a:solidFill>
              <a:srgbClr val="2E7D32"/>
            </a:solidFill>
            <a:ln>
              <a:noFill/>
            </a:ln>
          </p:spPr>
        </p:sp>
        <p:sp>
          <p:nvSpPr>
            <p:cNvPr id="43" name="TextBox 43"/>
            <p:cNvSpPr txBox="1"/>
            <p:nvPr/>
          </p:nvSpPr>
          <p:spPr>
            <a:xfrm>
              <a:off x="6697218" y="3327082"/>
              <a:ext cx="1399429"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+0.9%</a:t>
              </a:r>
              <a:r>
                <a:rPr lang="zh-CN" sz="1200" dirty="0">
                  <a:solidFill>
                    <a:schemeClr val="accent5"/>
                  </a:solidFill>
                  <a:latin typeface="+mn-lt"/>
                  <a:ea typeface="+mn-ea"/>
                  <a:cs typeface="+mn-cs"/>
                </a:rPr>
                <a:t xml:space="preserve"> 同比上年</a:t>
              </a:r>
            </a:p>
          </p:txBody>
        </p:sp>
        <p:sp>
          <p:nvSpPr>
            <p:cNvPr id="44" name="Line 44"/>
            <p:cNvSpPr/>
            <p:nvPr/>
          </p:nvSpPr>
          <p:spPr>
            <a:xfrm>
              <a:off x="643890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45" name="TextBox 45"/>
            <p:cNvSpPr txBox="1"/>
            <p:nvPr/>
          </p:nvSpPr>
          <p:spPr>
            <a:xfrm>
              <a:off x="643318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来源:公报第5页</a:t>
              </a:r>
            </a:p>
          </p:txBody>
        </p:sp>
      </p:grpSp>
      <p:grpSp>
        <p:nvGrpSpPr>
          <p:cNvPr id="58" name="kpi-investment"/>
          <p:cNvGrpSpPr/>
          <p:nvPr/>
        </p:nvGrpSpPr>
        <p:grpSpPr>
          <a:xfrm>
            <a:off x="9010650" y="1714500"/>
            <a:ext cx="2571750" cy="2857500"/>
            <a:chOff x="9010650" y="1714500"/>
            <a:chExt cx="2571750" cy="2857500"/>
          </a:xfrm>
        </p:grpSpPr>
        <p:sp>
          <p:nvSpPr>
            <p:cNvPr id="47" name="Rectangle 47"/>
            <p:cNvSpPr/>
            <p:nvPr/>
          </p:nvSpPr>
          <p:spPr>
            <a:xfrm>
              <a:off x="9010650" y="1714500"/>
              <a:ext cx="2571750" cy="2857500"/>
            </a:xfrm>
            <a:prstGeom prst="roundRect">
              <a:avLst>
                <a:gd name="adj" fmla="val 5926"/>
              </a:avLst>
            </a:prstGeom>
            <a:solidFill>
              <a:schemeClr val="lt2"/>
            </a:solidFill>
            <a:ln>
              <a:noFill/>
            </a:ln>
          </p:spPr>
        </p:sp>
        <p:grpSp>
          <p:nvGrpSpPr>
            <p:cNvPr id="51" name="Group 51"/>
            <p:cNvGrpSpPr/>
            <p:nvPr/>
          </p:nvGrpSpPr>
          <p:grpSpPr>
            <a:xfrm>
              <a:off x="9277350" y="1981200"/>
              <a:ext cx="228599" cy="228599"/>
              <a:chOff x="9277350" y="1981200"/>
              <a:chExt cx="228599" cy="228599"/>
            </a:xfrm>
          </p:grpSpPr>
          <p:sp>
            <p:nvSpPr>
              <p:cNvPr id="48" name="Freeform 48"/>
              <p:cNvSpPr/>
              <p:nvPr/>
            </p:nvSpPr>
            <p:spPr>
              <a:xfrm>
                <a:off x="9277350" y="19812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chemeClr val="accent1"/>
                </a:solidFill>
              </a:ln>
            </p:spPr>
          </p:sp>
          <p:sp>
            <p:nvSpPr>
              <p:cNvPr id="49" name="Freeform 49"/>
              <p:cNvSpPr/>
              <p:nvPr/>
            </p:nvSpPr>
            <p:spPr>
              <a:xfrm>
                <a:off x="9353550" y="2044384"/>
                <a:ext cx="76200" cy="102231"/>
              </a:xfrm>
              <a:custGeom>
                <a:avLst/>
                <a:gdLst/>
                <a:ahLst/>
                <a:cxnLst/>
                <a:rect l="l" t="t" r="r" b="b"/>
                <a:pathLst>
                  <a:path w="76200" h="102231">
                    <a:moveTo>
                      <a:pt x="73660" y="13016"/>
                    </a:moveTo>
                    <a:cubicBezTo>
                      <a:pt x="68972" y="4884"/>
                      <a:pt x="60181" y="0"/>
                      <a:pt x="50800" y="316"/>
                    </a:cubicBezTo>
                    <a:lnTo>
                      <a:pt x="25400" y="316"/>
                    </a:lnTo>
                    <a:cubicBezTo>
                      <a:pt x="11372" y="316"/>
                      <a:pt x="0" y="11688"/>
                      <a:pt x="0" y="25716"/>
                    </a:cubicBezTo>
                    <a:cubicBezTo>
                      <a:pt x="0" y="39744"/>
                      <a:pt x="11372" y="51116"/>
                      <a:pt x="25400" y="51116"/>
                    </a:cubicBezTo>
                    <a:lnTo>
                      <a:pt x="50800" y="51116"/>
                    </a:lnTo>
                    <a:cubicBezTo>
                      <a:pt x="64828" y="51116"/>
                      <a:pt x="76200" y="62488"/>
                      <a:pt x="76200" y="76516"/>
                    </a:cubicBezTo>
                    <a:cubicBezTo>
                      <a:pt x="76200" y="90544"/>
                      <a:pt x="64828" y="101916"/>
                      <a:pt x="50800" y="101916"/>
                    </a:cubicBezTo>
                    <a:lnTo>
                      <a:pt x="25400" y="101916"/>
                    </a:lnTo>
                    <a:cubicBezTo>
                      <a:pt x="16019" y="102231"/>
                      <a:pt x="7228" y="97348"/>
                      <a:pt x="2540" y="89216"/>
                    </a:cubicBezTo>
                  </a:path>
                </a:pathLst>
              </a:custGeom>
              <a:noFill/>
              <a:ln w="25400">
                <a:solidFill>
                  <a:schemeClr val="accent1"/>
                </a:solidFill>
              </a:ln>
            </p:spPr>
          </p:sp>
          <p:sp>
            <p:nvSpPr>
              <p:cNvPr id="50" name="Freeform 50"/>
              <p:cNvSpPr/>
              <p:nvPr/>
            </p:nvSpPr>
            <p:spPr>
              <a:xfrm>
                <a:off x="9391650" y="2032000"/>
                <a:ext cx="9525" cy="127000"/>
              </a:xfrm>
              <a:custGeom>
                <a:avLst/>
                <a:gdLst/>
                <a:ahLst/>
                <a:cxnLst/>
                <a:rect l="l" t="t" r="r" b="b"/>
                <a:pathLst>
                  <a:path w="9525" h="127000">
                    <a:moveTo>
                      <a:pt x="0" y="0"/>
                    </a:moveTo>
                    <a:lnTo>
                      <a:pt x="0" y="127000"/>
                    </a:lnTo>
                  </a:path>
                </a:pathLst>
              </a:custGeom>
              <a:noFill/>
              <a:ln w="25400">
                <a:solidFill>
                  <a:schemeClr val="accent1"/>
                </a:solidFill>
              </a:ln>
            </p:spPr>
          </p:sp>
        </p:grpSp>
        <p:sp>
          <p:nvSpPr>
            <p:cNvPr id="52" name="TextBox 52"/>
            <p:cNvSpPr txBox="1"/>
            <p:nvPr/>
          </p:nvSpPr>
          <p:spPr>
            <a:xfrm>
              <a:off x="9633204" y="202311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全国铁路</a:t>
              </a:r>
            </a:p>
          </p:txBody>
        </p:sp>
        <p:sp>
          <p:nvSpPr>
            <p:cNvPr id="53" name="TextBox 53"/>
            <p:cNvSpPr txBox="1"/>
            <p:nvPr/>
          </p:nvSpPr>
          <p:spPr>
            <a:xfrm>
              <a:off x="9220200" y="2339340"/>
              <a:ext cx="1459687"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8506</a:t>
              </a:r>
            </a:p>
          </p:txBody>
        </p:sp>
        <p:sp>
          <p:nvSpPr>
            <p:cNvPr id="54" name="TextBox 54"/>
            <p:cNvSpPr txBox="1"/>
            <p:nvPr/>
          </p:nvSpPr>
          <p:spPr>
            <a:xfrm>
              <a:off x="9230868" y="2965132"/>
              <a:ext cx="2049189"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亿元 · 固定资产投资</a:t>
              </a:r>
            </a:p>
          </p:txBody>
        </p:sp>
        <p:sp>
          <p:nvSpPr>
            <p:cNvPr id="55" name="TextBox 55"/>
            <p:cNvSpPr txBox="1"/>
            <p:nvPr/>
          </p:nvSpPr>
          <p:spPr>
            <a:xfrm>
              <a:off x="9232392" y="3359468"/>
              <a:ext cx="1849260" cy="264033"/>
            </a:xfrm>
            <a:prstGeom prst="rect">
              <a:avLst/>
            </a:prstGeom>
            <a:noFill/>
            <a:ln>
              <a:noFill/>
            </a:ln>
          </p:spPr>
          <p:txBody>
            <a:bodyPr wrap="none" lIns="0" tIns="0" rIns="0" bIns="0" anchor="t" anchorCtr="0">
              <a:spAutoFit/>
            </a:bodyPr>
            <a:lstStyle/>
            <a:p>
              <a:pPr algn="l"/>
              <a:r>
                <a:rPr lang="zh-CN" sz="1350" i="1" dirty="0">
                  <a:solidFill>
                    <a:schemeClr val="accent5"/>
                  </a:solidFill>
                  <a:latin typeface="+mn-lt"/>
                  <a:ea typeface="+mn-ea"/>
                  <a:cs typeface="+mn-cs"/>
                </a:rPr>
                <a:t>(公报未披露同比幅度)</a:t>
              </a:r>
            </a:p>
          </p:txBody>
        </p:sp>
        <p:sp>
          <p:nvSpPr>
            <p:cNvPr id="56" name="Line 56"/>
            <p:cNvSpPr/>
            <p:nvPr/>
          </p:nvSpPr>
          <p:spPr>
            <a:xfrm>
              <a:off x="9239250" y="4038600"/>
              <a:ext cx="2114550" cy="9525"/>
            </a:xfrm>
            <a:custGeom>
              <a:avLst/>
              <a:gdLst/>
              <a:ahLst/>
              <a:cxnLst/>
              <a:rect l="l" t="t" r="r" b="b"/>
              <a:pathLst>
                <a:path w="2114550" h="9525">
                  <a:moveTo>
                    <a:pt x="0" y="0"/>
                  </a:moveTo>
                  <a:lnTo>
                    <a:pt x="2114550" y="0"/>
                  </a:lnTo>
                </a:path>
              </a:pathLst>
            </a:custGeom>
            <a:noFill/>
            <a:ln w="9525">
              <a:solidFill>
                <a:schemeClr val="accent6"/>
              </a:solidFill>
            </a:ln>
          </p:spPr>
        </p:sp>
        <p:sp>
          <p:nvSpPr>
            <p:cNvPr id="57" name="TextBox 57"/>
            <p:cNvSpPr txBox="1"/>
            <p:nvPr/>
          </p:nvSpPr>
          <p:spPr>
            <a:xfrm>
              <a:off x="9233535" y="416480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来源:公报第5页</a:t>
              </a:r>
            </a:p>
          </p:txBody>
        </p:sp>
      </p:grpSp>
      <p:grpSp>
        <p:nvGrpSpPr>
          <p:cNvPr id="62" name="footer"/>
          <p:cNvGrpSpPr/>
          <p:nvPr/>
        </p:nvGrpSpPr>
        <p:grpSpPr>
          <a:xfrm>
            <a:off x="603504" y="6438900"/>
            <a:ext cx="10984992" cy="333756"/>
            <a:chOff x="603504" y="6438900"/>
            <a:chExt cx="10984992" cy="333756"/>
          </a:xfrm>
        </p:grpSpPr>
        <p:sp>
          <p:nvSpPr>
            <p:cNvPr id="59" name="Line 59"/>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0" name="TextBox 60"/>
            <p:cNvSpPr txBox="1"/>
            <p:nvPr/>
          </p:nvSpPr>
          <p:spPr>
            <a:xfrm>
              <a:off x="603504" y="6537960"/>
              <a:ext cx="304114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a:t>
              </a:r>
            </a:p>
          </p:txBody>
        </p:sp>
        <p:sp>
          <p:nvSpPr>
            <p:cNvPr id="61" name="TextBox 61"/>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300"/>
                                        <p:tgtEl>
                                          <p:spTgt spid="32"/>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00"/>
                                        <p:tgtEl>
                                          <p:spTgt spid="46"/>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3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6677711" cy="846772"/>
            <a:chOff x="594360" y="501968"/>
            <a:chExt cx="6677711"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02 · 客运</a:t>
              </a:r>
            </a:p>
          </p:txBody>
        </p:sp>
        <p:sp>
          <p:nvSpPr>
            <p:cNvPr id="3" name="TextBox 3"/>
            <p:cNvSpPr txBox="1"/>
            <p:nvPr/>
          </p:nvSpPr>
          <p:spPr>
            <a:xfrm>
              <a:off x="594360" y="762000"/>
              <a:ext cx="667771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国家铁路挑大梁,其他铁路增速更猛</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aphicFrame>
        <p:nvGraphicFramePr>
          <p:cNvPr id="6" name="passenger-table"/>
          <p:cNvGraphicFramePr>
            <a:graphicFrameLocks noGrp="1"/>
          </p:cNvGraphicFramePr>
          <p:nvPr/>
        </p:nvGraphicFramePr>
        <p:xfrm>
          <a:off x="609600" y="1676400"/>
          <a:ext cx="5334000" cy="2667000"/>
        </p:xfrm>
        <a:graphic>
          <a:graphicData uri="http://schemas.openxmlformats.org/drawingml/2006/table">
            <a:tbl>
              <a:tblPr firstRow="1" bandRow="1">
                <a:tableStyleId>{5C22544A-7EE6-4342-B048-85BDC9FD1C3A}</a:tableStyleId>
              </a:tblPr>
              <a:tblGrid>
                <a:gridCol w="1333500"/>
                <a:gridCol w="1333500"/>
                <a:gridCol w="1333500"/>
                <a:gridCol w="1333500"/>
              </a:tblGrid>
              <a:tr h="381000">
                <a:tc>
                  <a:txBody>
                    <a:bodyPr/>
                    <a:lstStyle/>
                    <a:p>
                      <a:pPr/>
                      <a:r>
                        <a:rPr lang="zh-CN" sz="1350" b="1">
                          <a:solidFill>
                            <a:srgbClr val="FFFFFF"/>
                          </a:solidFill>
                          <a:latin typeface="Microsoft YaHei"/>
                          <a:ea typeface="Microsoft YaHei"/>
                          <a:cs typeface="Microsoft YaHei"/>
                        </a:rPr>
                        <a:t>指标</a:t>
                      </a:r>
                    </a:p>
                  </a:txBody>
                  <a:tcPr anchor="ctr" marL="76200" marR="76200" marT="70485" marB="70485">
                    <a:solidFill>
                      <a:schemeClr val="accent1"/>
                    </a:solidFill>
                  </a:tcPr>
                </a:tc>
                <a:tc>
                  <a:txBody>
                    <a:bodyPr/>
                    <a:lstStyle/>
                    <a:p>
                      <a:pPr algn="ctr"/>
                      <a:r>
                        <a:rPr lang="zh-CN" sz="1350" b="1">
                          <a:solidFill>
                            <a:srgbClr val="FFFFFF"/>
                          </a:solidFill>
                          <a:latin typeface="Microsoft YaHei"/>
                          <a:ea typeface="Microsoft YaHei"/>
                          <a:cs typeface="Microsoft YaHei"/>
                        </a:rPr>
                        <a:t>单位</a:t>
                      </a:r>
                    </a:p>
                  </a:txBody>
                  <a:tcPr anchor="ctr" marL="76200" marR="76200" marT="70485" marB="70485">
                    <a:solidFill>
                      <a:schemeClr val="accent1"/>
                    </a:solidFill>
                  </a:tcPr>
                </a:tc>
                <a:tc>
                  <a:txBody>
                    <a:bodyPr/>
                    <a:lstStyle/>
                    <a:p>
                      <a:pPr algn="r"/>
                      <a:r>
                        <a:rPr lang="zh-CN" sz="1350" b="1">
                          <a:solidFill>
                            <a:srgbClr val="FFFFFF"/>
                          </a:solidFill>
                          <a:latin typeface="Microsoft YaHei"/>
                          <a:ea typeface="Microsoft YaHei"/>
                          <a:cs typeface="Microsoft YaHei"/>
                        </a:rPr>
                        <a:t>2024年</a:t>
                      </a:r>
                    </a:p>
                  </a:txBody>
                  <a:tcPr anchor="ctr" marL="76200" marR="76200" marT="70485" marB="70485">
                    <a:solidFill>
                      <a:schemeClr val="accent1"/>
                    </a:solidFill>
                  </a:tcPr>
                </a:tc>
                <a:tc>
                  <a:txBody>
                    <a:bodyPr/>
                    <a:lstStyle/>
                    <a:p>
                      <a:pPr algn="r"/>
                      <a:r>
                        <a:rPr lang="zh-CN" sz="1350" b="1">
                          <a:solidFill>
                            <a:srgbClr val="FFFFFF"/>
                          </a:solidFill>
                          <a:latin typeface="Microsoft YaHei"/>
                          <a:ea typeface="Microsoft YaHei"/>
                          <a:cs typeface="Microsoft YaHei"/>
                        </a:rPr>
                        <a:t>比上年±%</a:t>
                      </a:r>
                    </a:p>
                  </a:txBody>
                  <a:tcPr anchor="ctr" marL="76200" marR="76200" marT="70485" marB="70485">
                    <a:solidFill>
                      <a:schemeClr val="accent1"/>
                    </a:solidFill>
                  </a:tcPr>
                </a:tc>
              </a:tr>
              <a:tr h="381000">
                <a:tc>
                  <a:txBody>
                    <a:bodyPr/>
                    <a:lstStyle/>
                    <a:p>
                      <a:pPr/>
                      <a:r>
                        <a:rPr lang="zh-CN" sz="1350" b="1">
                          <a:solidFill>
                            <a:srgbClr val="1F2937"/>
                          </a:solidFill>
                          <a:latin typeface="Microsoft YaHei"/>
                          <a:ea typeface="Microsoft YaHei"/>
                          <a:cs typeface="Microsoft YaHei"/>
                        </a:rPr>
                        <a:t>旅客发送量</a:t>
                      </a:r>
                    </a:p>
                  </a:txBody>
                  <a:tcPr anchor="ctr" marL="76200" marR="76200" marT="70485" marB="70485">
                    <a:noFill/>
                  </a:tcPr>
                </a:tc>
                <a:tc>
                  <a:txBody>
                    <a:bodyPr/>
                    <a:lstStyle/>
                    <a:p>
                      <a:pPr algn="ctr"/>
                      <a:r>
                        <a:rPr lang="zh-CN" sz="1350" b="0">
                          <a:solidFill>
                            <a:srgbClr val="1F2937"/>
                          </a:solidFill>
                          <a:latin typeface="Microsoft YaHei"/>
                          <a:ea typeface="Microsoft YaHei"/>
                          <a:cs typeface="Microsoft YaHei"/>
                        </a:rPr>
                        <a:t>万人</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431240</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+11.9%</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国家铁路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万人</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408516</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+10.9%</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其他铁路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万人</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22724</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+34.0%</a:t>
                      </a:r>
                    </a:p>
                  </a:txBody>
                  <a:tcPr anchor="ctr" marL="76200" marR="76200" marT="70485" marB="70485">
                    <a:noFill/>
                  </a:tcPr>
                </a:tc>
              </a:tr>
              <a:tr h="381000">
                <a:tc>
                  <a:txBody>
                    <a:bodyPr/>
                    <a:lstStyle/>
                    <a:p>
                      <a:pPr/>
                      <a:r>
                        <a:rPr lang="zh-CN" sz="1350" b="1">
                          <a:solidFill>
                            <a:srgbClr val="1F2937"/>
                          </a:solidFill>
                          <a:latin typeface="Microsoft YaHei"/>
                          <a:ea typeface="Microsoft YaHei"/>
                          <a:cs typeface="Microsoft YaHei"/>
                        </a:rPr>
                        <a:t>旅客周转量</a:t>
                      </a:r>
                    </a:p>
                  </a:txBody>
                  <a:tcPr anchor="ctr" marL="76200" marR="76200" marT="70485" marB="70485">
                    <a:noFill/>
                  </a:tcPr>
                </a:tc>
                <a:tc>
                  <a:txBody>
                    <a:bodyPr/>
                    <a:lstStyle/>
                    <a:p>
                      <a:pPr algn="ctr"/>
                      <a:r>
                        <a:rPr lang="zh-CN" sz="1350" b="0">
                          <a:solidFill>
                            <a:srgbClr val="1F2937"/>
                          </a:solidFill>
                          <a:latin typeface="Microsoft YaHei"/>
                          <a:ea typeface="Microsoft YaHei"/>
                          <a:cs typeface="Microsoft YaHei"/>
                        </a:rPr>
                        <a:t>亿人公里</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15799.10</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+7.3%</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国家铁路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亿人公里</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15776.35</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+7.2%</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其他铁路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亿人公里</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22.74</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+85.9%</a:t>
                      </a:r>
                    </a:p>
                  </a:txBody>
                  <a:tcPr anchor="ctr" marL="76200" marR="76200" marT="70485" marB="70485">
                    <a:noFill/>
                  </a:tcPr>
                </a:tc>
              </a:tr>
            </a:tbl>
          </a:graphicData>
        </a:graphic>
      </p:graphicFrame>
      <p:grpSp>
        <p:nvGrpSpPr>
          <p:cNvPr id="16" name="passenger-split"/>
          <p:cNvGrpSpPr/>
          <p:nvPr/>
        </p:nvGrpSpPr>
        <p:grpSpPr>
          <a:xfrm>
            <a:off x="6240780" y="1704975"/>
            <a:ext cx="4732020" cy="2362581"/>
            <a:chOff x="6240780" y="1704975"/>
            <a:chExt cx="4732020" cy="2362581"/>
          </a:xfrm>
        </p:grpSpPr>
        <p:sp>
          <p:nvSpPr>
            <p:cNvPr id="7" name="TextBox 7"/>
            <p:cNvSpPr txBox="1"/>
            <p:nvPr/>
          </p:nvSpPr>
          <p:spPr>
            <a:xfrm>
              <a:off x="6240780" y="1704975"/>
              <a:ext cx="379789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客运结构占比(按发送量,依表格数字换算)</a:t>
              </a:r>
            </a:p>
          </p:txBody>
        </p:sp>
        <p:sp>
          <p:nvSpPr>
            <p:cNvPr id="8" name="Rectangle 8"/>
            <p:cNvSpPr/>
            <p:nvPr/>
          </p:nvSpPr>
          <p:spPr>
            <a:xfrm>
              <a:off x="6248400" y="2343150"/>
              <a:ext cx="4724400" cy="381000"/>
            </a:xfrm>
            <a:prstGeom prst="rect">
              <a:avLst/>
            </a:prstGeom>
            <a:solidFill>
              <a:schemeClr val="lt2"/>
            </a:solidFill>
            <a:ln>
              <a:noFill/>
            </a:ln>
          </p:spPr>
        </p:sp>
        <p:sp>
          <p:nvSpPr>
            <p:cNvPr id="9" name="Rectangle 9"/>
            <p:cNvSpPr/>
            <p:nvPr/>
          </p:nvSpPr>
          <p:spPr>
            <a:xfrm>
              <a:off x="6248400" y="2343150"/>
              <a:ext cx="4476750" cy="381000"/>
            </a:xfrm>
            <a:prstGeom prst="rect">
              <a:avLst/>
            </a:prstGeom>
            <a:solidFill>
              <a:schemeClr val="accent1"/>
            </a:solidFill>
            <a:ln>
              <a:noFill/>
            </a:ln>
          </p:spPr>
        </p:sp>
        <p:sp>
          <p:nvSpPr>
            <p:cNvPr id="10" name="Rectangle 10"/>
            <p:cNvSpPr/>
            <p:nvPr/>
          </p:nvSpPr>
          <p:spPr>
            <a:xfrm>
              <a:off x="10725150" y="2343150"/>
              <a:ext cx="247650" cy="381000"/>
            </a:xfrm>
            <a:prstGeom prst="rect">
              <a:avLst/>
            </a:prstGeom>
            <a:solidFill>
              <a:schemeClr val="accent3"/>
            </a:solidFill>
            <a:ln>
              <a:noFill/>
            </a:ln>
          </p:spPr>
        </p:sp>
        <p:sp>
          <p:nvSpPr>
            <p:cNvPr id="11" name="Rectangle 11"/>
            <p:cNvSpPr/>
            <p:nvPr/>
          </p:nvSpPr>
          <p:spPr>
            <a:xfrm>
              <a:off x="6248400" y="3143250"/>
              <a:ext cx="133350" cy="133350"/>
            </a:xfrm>
            <a:prstGeom prst="rect">
              <a:avLst/>
            </a:prstGeom>
            <a:solidFill>
              <a:schemeClr val="accent1"/>
            </a:solidFill>
            <a:ln>
              <a:noFill/>
            </a:ln>
          </p:spPr>
        </p:sp>
        <p:sp>
          <p:nvSpPr>
            <p:cNvPr id="12" name="TextBox 12"/>
            <p:cNvSpPr txBox="1"/>
            <p:nvPr/>
          </p:nvSpPr>
          <p:spPr>
            <a:xfrm>
              <a:off x="6450330" y="3095625"/>
              <a:ext cx="150901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国家铁路 </a:t>
              </a:r>
              <a:r>
                <a:rPr lang="zh-CN" sz="1500" b="1" dirty="0">
                  <a:solidFill>
                    <a:schemeClr val="dk1"/>
                  </a:solidFill>
                  <a:latin typeface="+mn-lt"/>
                  <a:ea typeface="+mn-ea"/>
                  <a:cs typeface="+mn-cs"/>
                </a:rPr>
                <a:t>94.7%</a:t>
              </a:r>
            </a:p>
          </p:txBody>
        </p:sp>
        <p:sp>
          <p:nvSpPr>
            <p:cNvPr id="13" name="Rectangle 13"/>
            <p:cNvSpPr/>
            <p:nvPr/>
          </p:nvSpPr>
          <p:spPr>
            <a:xfrm>
              <a:off x="6248400" y="3429000"/>
              <a:ext cx="133350" cy="133350"/>
            </a:xfrm>
            <a:prstGeom prst="rect">
              <a:avLst/>
            </a:prstGeom>
            <a:solidFill>
              <a:schemeClr val="accent3"/>
            </a:solidFill>
            <a:ln>
              <a:noFill/>
            </a:ln>
          </p:spPr>
        </p:sp>
        <p:sp>
          <p:nvSpPr>
            <p:cNvPr id="14" name="TextBox 14"/>
            <p:cNvSpPr txBox="1"/>
            <p:nvPr/>
          </p:nvSpPr>
          <p:spPr>
            <a:xfrm>
              <a:off x="6450330" y="3381375"/>
              <a:ext cx="342684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其他铁路 </a:t>
              </a:r>
              <a:r>
                <a:rPr lang="zh-CN" sz="1500" b="1" dirty="0">
                  <a:solidFill>
                    <a:schemeClr val="dk1"/>
                  </a:solidFill>
                  <a:latin typeface="+mn-lt"/>
                  <a:ea typeface="+mn-ea"/>
                  <a:cs typeface="+mn-cs"/>
                </a:rPr>
                <a:t>5.3%</a:t>
              </a:r>
              <a:r>
                <a:rPr lang="zh-CN" sz="1500" dirty="0">
                  <a:solidFill>
                    <a:schemeClr val="dk1"/>
                  </a:solidFill>
                  <a:latin typeface="+mn-lt"/>
                  <a:ea typeface="+mn-ea"/>
                  <a:cs typeface="+mn-cs"/>
                </a:rPr>
                <a:t xml:space="preserve">(发送量增速 </a:t>
              </a:r>
              <a:r>
                <a:rPr lang="zh-CN" sz="1500" b="1" dirty="0">
                  <a:solidFill>
                    <a:srgbClr val="2E7D32"/>
                  </a:solidFill>
                  <a:latin typeface="+mn-lt"/>
                  <a:ea typeface="+mn-ea"/>
                  <a:cs typeface="+mn-cs"/>
                </a:rPr>
                <a:t>+34.0%</a:t>
              </a:r>
              <a:r>
                <a:rPr lang="zh-CN" sz="1500" dirty="0">
                  <a:solidFill>
                    <a:schemeClr val="dk1"/>
                  </a:solidFill>
                  <a:latin typeface="+mn-lt"/>
                  <a:ea typeface="+mn-ea"/>
                  <a:cs typeface="+mn-cs"/>
                </a:rPr>
                <a:t>)</a:t>
              </a:r>
            </a:p>
          </p:txBody>
        </p:sp>
        <p:sp>
          <p:nvSpPr>
            <p:cNvPr id="15" name="TextBox 15"/>
            <p:cNvSpPr txBox="1"/>
            <p:nvPr/>
          </p:nvSpPr>
          <p:spPr>
            <a:xfrm>
              <a:off x="6242304" y="3832860"/>
              <a:ext cx="381655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占比按公报表格万人数字直接换算,非公报原文披露值</a:t>
              </a:r>
            </a:p>
          </p:txBody>
        </p:sp>
      </p:grpSp>
      <p:grpSp>
        <p:nvGrpSpPr>
          <p:cNvPr id="21" name="passenger-photo"/>
          <p:cNvGrpSpPr/>
          <p:nvPr/>
        </p:nvGrpSpPr>
        <p:grpSpPr>
          <a:xfrm>
            <a:off x="609600" y="4629150"/>
            <a:ext cx="10972800" cy="1428750"/>
            <a:chOff x="609600" y="4629150"/>
            <a:chExt cx="10972800" cy="1428750"/>
          </a:xfrm>
        </p:grpSpPr>
        <p:pic>
          <p:nvPicPr>
            <p:cNvPr id="17" name="Image 17"/>
            <p:cNvPicPr>
              <a:picLocks noChangeAspect="1"/>
            </p:cNvPicPr>
            <p:nvPr/>
          </p:nvPicPr>
          <p:blipFill>
            <a:blip r:embed="rId2"/>
            <a:srcRect l="0" t="40226" r="0" b="40227"/>
            <a:stretch>
              <a:fillRect/>
            </a:stretch>
          </p:blipFill>
          <p:spPr>
            <a:xfrm>
              <a:off x="609600" y="4629150"/>
              <a:ext cx="10972800" cy="1428750"/>
            </a:xfrm>
            <a:prstGeom prst="roundRect">
              <a:avLst>
                <a:gd name="adj" fmla="val 8000"/>
              </a:avLst>
            </a:prstGeom>
          </p:spPr>
        </p:pic>
        <p:sp>
          <p:nvSpPr>
            <p:cNvPr id="18" name="Rectangle 18"/>
            <p:cNvSpPr/>
            <p:nvPr/>
          </p:nvSpPr>
          <p:spPr>
            <a:xfrm>
              <a:off x="609600" y="4629150"/>
              <a:ext cx="10972800" cy="1428750"/>
            </a:xfrm>
            <a:prstGeom prst="roundRect">
              <a:avLst>
                <a:gd name="adj" fmla="val 8000"/>
              </a:avLst>
            </a:prstGeom>
            <a:gradFill>
              <a:gsLst>
                <a:gs pos="0">
                  <a:srgbClr val="08152A">
                    <a:alpha val="0"/>
                  </a:srgbClr>
                </a:gs>
                <a:gs pos="60000">
                  <a:srgbClr val="08152A">
                    <a:alpha val="10000"/>
                  </a:srgbClr>
                </a:gs>
                <a:gs pos="100000">
                  <a:srgbClr val="08152A">
                    <a:alpha val="62000"/>
                  </a:srgbClr>
                </a:gs>
              </a:gsLst>
              <a:lin ang="5400000" scaled="1"/>
            </a:gradFill>
            <a:ln>
              <a:noFill/>
            </a:ln>
          </p:spPr>
        </p:sp>
        <p:sp>
          <p:nvSpPr>
            <p:cNvPr id="19" name="TextBox 19"/>
            <p:cNvSpPr txBox="1"/>
            <p:nvPr/>
          </p:nvSpPr>
          <p:spPr>
            <a:xfrm>
              <a:off x="830580" y="5686425"/>
              <a:ext cx="163068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上海虹桥站候车厅</a:t>
              </a:r>
            </a:p>
          </p:txBody>
        </p:sp>
        <p:sp>
          <p:nvSpPr>
            <p:cNvPr id="20" name="TextBox 20"/>
            <p:cNvSpPr txBox="1"/>
            <p:nvPr/>
          </p:nvSpPr>
          <p:spPr>
            <a:xfrm>
              <a:off x="8900135" y="5784056"/>
              <a:ext cx="2459380" cy="220028"/>
            </a:xfrm>
            <a:prstGeom prst="rect">
              <a:avLst/>
            </a:prstGeom>
            <a:noFill/>
            <a:ln>
              <a:noFill/>
            </a:ln>
          </p:spPr>
          <p:txBody>
            <a:bodyPr wrap="none" lIns="0" tIns="0" rIns="0" bIns="0" anchor="t" anchorCtr="0">
              <a:spAutoFit/>
            </a:bodyPr>
            <a:lstStyle/>
            <a:p>
              <a:pPr algn="r"/>
              <a:r>
                <a:rPr lang="zh-CN" sz="1120" dirty="0">
                  <a:solidFill>
                    <a:srgbClr val="E7EAF1"/>
                  </a:solidFill>
                  <a:latin typeface="+mn-lt"/>
                  <a:ea typeface="+mn-ea"/>
                  <a:cs typeface="+mn-cs"/>
                </a:rPr>
                <a:t>图片:</a:t>
              </a:r>
              <a:r>
                <a:rPr lang="en-US" sz="1120" u="sng" dirty="0">
                  <a:solidFill>
                    <a:srgbClr val="E7EAF1"/>
                  </a:solidFill>
                  <a:latin typeface="+mn-lt"/>
                  <a:ea typeface="+mn-ea"/>
                  <a:cs typeface="+mn-cs"/>
                  <a:hlinkClick r:id="rId3"/>
                </a:rPr>
                <a:t>Patrick Nagel, CC BY-SA 3.0</a:t>
              </a:r>
            </a:p>
          </p:txBody>
        </p:sp>
      </p:grpSp>
      <p:grpSp>
        <p:nvGrpSpPr>
          <p:cNvPr id="25" name="footer"/>
          <p:cNvGrpSpPr/>
          <p:nvPr/>
        </p:nvGrpSpPr>
        <p:grpSpPr>
          <a:xfrm>
            <a:off x="603504" y="6305550"/>
            <a:ext cx="10984992" cy="333756"/>
            <a:chOff x="603504" y="6305550"/>
            <a:chExt cx="10984992" cy="333756"/>
          </a:xfrm>
        </p:grpSpPr>
        <p:sp>
          <p:nvSpPr>
            <p:cNvPr id="22" name="Line 22"/>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3504" y="640461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来源:国家铁路局《2024年铁道统计公报》第2页</a:t>
              </a:r>
            </a:p>
          </p:txBody>
        </p:sp>
        <p:sp>
          <p:nvSpPr>
            <p:cNvPr id="24" name="TextBox 24"/>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350"/>
                                        <p:tgtEl>
                                          <p:spTgt spid="16"/>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170572" cy="846772"/>
            <a:chOff x="594360" y="501968"/>
            <a:chExt cx="7170572"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03 · 货运</a:t>
              </a:r>
            </a:p>
          </p:txBody>
        </p:sp>
        <p:sp>
          <p:nvSpPr>
            <p:cNvPr id="3" name="TextBox 3"/>
            <p:cNvSpPr txBox="1"/>
            <p:nvPr/>
          </p:nvSpPr>
          <p:spPr>
            <a:xfrm>
              <a:off x="594360" y="762000"/>
              <a:ext cx="717057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总发送量增,总周转量降——运距在缩短</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aphicFrame>
        <p:nvGraphicFramePr>
          <p:cNvPr id="6" name="freight-table"/>
          <p:cNvGraphicFramePr>
            <a:graphicFrameLocks noGrp="1"/>
          </p:cNvGraphicFramePr>
          <p:nvPr/>
        </p:nvGraphicFramePr>
        <p:xfrm>
          <a:off x="609600" y="1809750"/>
          <a:ext cx="5715000" cy="2667000"/>
        </p:xfrm>
        <a:graphic>
          <a:graphicData uri="http://schemas.openxmlformats.org/drawingml/2006/table">
            <a:tbl>
              <a:tblPr firstRow="1" bandRow="1">
                <a:tableStyleId>{5C22544A-7EE6-4342-B048-85BDC9FD1C3A}</a:tableStyleId>
              </a:tblPr>
              <a:tblGrid>
                <a:gridCol w="1428750"/>
                <a:gridCol w="1428750"/>
                <a:gridCol w="1428750"/>
                <a:gridCol w="1428750"/>
              </a:tblGrid>
              <a:tr h="381000">
                <a:tc>
                  <a:txBody>
                    <a:bodyPr/>
                    <a:lstStyle/>
                    <a:p>
                      <a:pPr/>
                      <a:r>
                        <a:rPr lang="zh-CN" sz="1350" b="1">
                          <a:solidFill>
                            <a:srgbClr val="FFFFFF"/>
                          </a:solidFill>
                          <a:latin typeface="Microsoft YaHei"/>
                          <a:ea typeface="Microsoft YaHei"/>
                          <a:cs typeface="Microsoft YaHei"/>
                        </a:rPr>
                        <a:t>指标</a:t>
                      </a:r>
                    </a:p>
                  </a:txBody>
                  <a:tcPr anchor="ctr" marL="76200" marR="76200" marT="70485" marB="70485">
                    <a:solidFill>
                      <a:schemeClr val="accent1"/>
                    </a:solidFill>
                  </a:tcPr>
                </a:tc>
                <a:tc>
                  <a:txBody>
                    <a:bodyPr/>
                    <a:lstStyle/>
                    <a:p>
                      <a:pPr algn="ctr"/>
                      <a:r>
                        <a:rPr lang="zh-CN" sz="1350" b="1">
                          <a:solidFill>
                            <a:srgbClr val="FFFFFF"/>
                          </a:solidFill>
                          <a:latin typeface="Microsoft YaHei"/>
                          <a:ea typeface="Microsoft YaHei"/>
                          <a:cs typeface="Microsoft YaHei"/>
                        </a:rPr>
                        <a:t>单位</a:t>
                      </a:r>
                    </a:p>
                  </a:txBody>
                  <a:tcPr anchor="ctr" marL="76200" marR="76200" marT="70485" marB="70485">
                    <a:solidFill>
                      <a:schemeClr val="accent1"/>
                    </a:solidFill>
                  </a:tcPr>
                </a:tc>
                <a:tc>
                  <a:txBody>
                    <a:bodyPr/>
                    <a:lstStyle/>
                    <a:p>
                      <a:pPr algn="r"/>
                      <a:r>
                        <a:rPr lang="zh-CN" sz="1350" b="1">
                          <a:solidFill>
                            <a:srgbClr val="FFFFFF"/>
                          </a:solidFill>
                          <a:latin typeface="Microsoft YaHei"/>
                          <a:ea typeface="Microsoft YaHei"/>
                          <a:cs typeface="Microsoft YaHei"/>
                        </a:rPr>
                        <a:t>2024年</a:t>
                      </a:r>
                    </a:p>
                  </a:txBody>
                  <a:tcPr anchor="ctr" marL="76200" marR="76200" marT="70485" marB="70485">
                    <a:solidFill>
                      <a:schemeClr val="accent1"/>
                    </a:solidFill>
                  </a:tcPr>
                </a:tc>
                <a:tc>
                  <a:txBody>
                    <a:bodyPr/>
                    <a:lstStyle/>
                    <a:p>
                      <a:pPr algn="r"/>
                      <a:r>
                        <a:rPr lang="zh-CN" sz="1350" b="1">
                          <a:solidFill>
                            <a:srgbClr val="FFFFFF"/>
                          </a:solidFill>
                          <a:latin typeface="Microsoft YaHei"/>
                          <a:ea typeface="Microsoft YaHei"/>
                          <a:cs typeface="Microsoft YaHei"/>
                        </a:rPr>
                        <a:t>比上年±%</a:t>
                      </a:r>
                    </a:p>
                  </a:txBody>
                  <a:tcPr anchor="ctr" marL="76200" marR="76200" marT="70485" marB="70485">
                    <a:solidFill>
                      <a:schemeClr val="accent1"/>
                    </a:solidFill>
                  </a:tcPr>
                </a:tc>
              </a:tr>
              <a:tr h="381000">
                <a:tc>
                  <a:txBody>
                    <a:bodyPr/>
                    <a:lstStyle/>
                    <a:p>
                      <a:pPr/>
                      <a:r>
                        <a:rPr lang="zh-CN" sz="1350" b="1">
                          <a:solidFill>
                            <a:srgbClr val="1F2937"/>
                          </a:solidFill>
                          <a:latin typeface="Microsoft YaHei"/>
                          <a:ea typeface="Microsoft YaHei"/>
                          <a:cs typeface="Microsoft YaHei"/>
                        </a:rPr>
                        <a:t>货运总发送量</a:t>
                      </a:r>
                    </a:p>
                  </a:txBody>
                  <a:tcPr anchor="ctr" marL="76200" marR="76200" marT="70485" marB="70485">
                    <a:noFill/>
                  </a:tcPr>
                </a:tc>
                <a:tc>
                  <a:txBody>
                    <a:bodyPr/>
                    <a:lstStyle/>
                    <a:p>
                      <a:pPr algn="ctr"/>
                      <a:r>
                        <a:rPr lang="zh-CN" sz="1350" b="0">
                          <a:solidFill>
                            <a:srgbClr val="1F2937"/>
                          </a:solidFill>
                          <a:latin typeface="Microsoft YaHei"/>
                          <a:ea typeface="Microsoft YaHei"/>
                          <a:cs typeface="Microsoft YaHei"/>
                        </a:rPr>
                        <a:t>万吨</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517477</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+2.8%</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国家铁路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万吨</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398531</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+1.9%</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其他铁路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万吨</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118946</a:t>
                      </a:r>
                    </a:p>
                  </a:txBody>
                  <a:tcPr anchor="ctr" marL="76200" marR="76200" marT="70485" marB="70485">
                    <a:noFill/>
                  </a:tcPr>
                </a:tc>
                <a:tc>
                  <a:txBody>
                    <a:bodyPr/>
                    <a:lstStyle/>
                    <a:p>
                      <a:pPr algn="r"/>
                      <a:r>
                        <a:rPr lang="zh-CN" sz="1350" b="0">
                          <a:solidFill>
                            <a:srgbClr val="2E7D32"/>
                          </a:solidFill>
                          <a:latin typeface="Microsoft YaHei"/>
                          <a:ea typeface="Microsoft YaHei"/>
                          <a:cs typeface="Microsoft YaHei"/>
                        </a:rPr>
                        <a:t>+5.8%</a:t>
                      </a:r>
                    </a:p>
                  </a:txBody>
                  <a:tcPr anchor="ctr" marL="76200" marR="76200" marT="70485" marB="70485">
                    <a:noFill/>
                  </a:tcPr>
                </a:tc>
              </a:tr>
              <a:tr h="381000">
                <a:tc>
                  <a:txBody>
                    <a:bodyPr/>
                    <a:lstStyle/>
                    <a:p>
                      <a:pPr/>
                      <a:r>
                        <a:rPr lang="zh-CN" sz="1350" b="1">
                          <a:solidFill>
                            <a:srgbClr val="1F2937"/>
                          </a:solidFill>
                          <a:latin typeface="Microsoft YaHei"/>
                          <a:ea typeface="Microsoft YaHei"/>
                          <a:cs typeface="Microsoft YaHei"/>
                        </a:rPr>
                        <a:t>货运总周转量</a:t>
                      </a:r>
                    </a:p>
                  </a:txBody>
                  <a:tcPr anchor="ctr" marL="76200" marR="76200" marT="70485" marB="70485">
                    <a:noFill/>
                  </a:tcPr>
                </a:tc>
                <a:tc>
                  <a:txBody>
                    <a:bodyPr/>
                    <a:lstStyle/>
                    <a:p>
                      <a:pPr algn="ctr"/>
                      <a:r>
                        <a:rPr lang="zh-CN" sz="1350" b="0">
                          <a:solidFill>
                            <a:srgbClr val="1F2937"/>
                          </a:solidFill>
                          <a:latin typeface="Microsoft YaHei"/>
                          <a:ea typeface="Microsoft YaHei"/>
                          <a:cs typeface="Microsoft YaHei"/>
                        </a:rPr>
                        <a:t>亿吨公里</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35861.90</a:t>
                      </a:r>
                    </a:p>
                  </a:txBody>
                  <a:tcPr anchor="ctr" marL="76200" marR="76200" marT="70485" marB="70485">
                    <a:noFill/>
                  </a:tcPr>
                </a:tc>
                <a:tc>
                  <a:txBody>
                    <a:bodyPr/>
                    <a:lstStyle/>
                    <a:p>
                      <a:pPr algn="r"/>
                      <a:r>
                        <a:rPr lang="zh-CN" sz="1350" b="0">
                          <a:solidFill>
                            <a:srgbClr val="C62828"/>
                          </a:solidFill>
                          <a:latin typeface="Microsoft YaHei"/>
                          <a:ea typeface="Microsoft YaHei"/>
                          <a:cs typeface="Microsoft YaHei"/>
                        </a:rPr>
                        <a:t>-1.6%</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国家铁路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亿吨公里</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32580.63</a:t>
                      </a:r>
                    </a:p>
                  </a:txBody>
                  <a:tcPr anchor="ctr" marL="76200" marR="76200" marT="70485" marB="70485">
                    <a:noFill/>
                  </a:tcPr>
                </a:tc>
                <a:tc>
                  <a:txBody>
                    <a:bodyPr/>
                    <a:lstStyle/>
                    <a:p>
                      <a:pPr algn="r"/>
                      <a:r>
                        <a:rPr lang="zh-CN" sz="1350" b="0">
                          <a:solidFill>
                            <a:srgbClr val="C62828"/>
                          </a:solidFill>
                          <a:latin typeface="Microsoft YaHei"/>
                          <a:ea typeface="Microsoft YaHei"/>
                          <a:cs typeface="Microsoft YaHei"/>
                        </a:rPr>
                        <a:t>-0.2%</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其他铁路</a:t>
                      </a:r>
                    </a:p>
                  </a:txBody>
                  <a:tcPr anchor="ctr" marL="76200" marR="76200" marT="70485" marB="70485">
                    <a:noFill/>
                  </a:tcPr>
                </a:tc>
                <a:tc>
                  <a:txBody>
                    <a:bodyPr/>
                    <a:lstStyle/>
                    <a:p>
                      <a:pPr algn="ctr"/>
                      <a:r>
                        <a:rPr lang="zh-CN" sz="1350" b="0">
                          <a:solidFill>
                            <a:schemeClr val="accent5"/>
                          </a:solidFill>
                          <a:latin typeface="Microsoft YaHei"/>
                          <a:ea typeface="Microsoft YaHei"/>
                          <a:cs typeface="Microsoft YaHei"/>
                        </a:rPr>
                        <a:t>亿吨公里</a:t>
                      </a:r>
                    </a:p>
                  </a:txBody>
                  <a:tcPr anchor="ctr" marL="76200" marR="76200" marT="70485" marB="70485">
                    <a:noFill/>
                  </a:tcPr>
                </a:tc>
                <a:tc>
                  <a:txBody>
                    <a:bodyPr/>
                    <a:lstStyle/>
                    <a:p>
                      <a:pPr algn="r"/>
                      <a:r>
                        <a:rPr lang="zh-CN" sz="1350" b="0">
                          <a:solidFill>
                            <a:srgbClr val="1F2937"/>
                          </a:solidFill>
                          <a:latin typeface="Microsoft YaHei"/>
                          <a:ea typeface="Microsoft YaHei"/>
                          <a:cs typeface="Microsoft YaHei"/>
                        </a:rPr>
                        <a:t>3281.26</a:t>
                      </a:r>
                    </a:p>
                  </a:txBody>
                  <a:tcPr anchor="ctr" marL="76200" marR="76200" marT="70485" marB="70485">
                    <a:noFill/>
                  </a:tcPr>
                </a:tc>
                <a:tc>
                  <a:txBody>
                    <a:bodyPr/>
                    <a:lstStyle/>
                    <a:p>
                      <a:pPr algn="r"/>
                      <a:r>
                        <a:rPr lang="zh-CN" sz="1350" b="0">
                          <a:solidFill>
                            <a:srgbClr val="C62828"/>
                          </a:solidFill>
                          <a:latin typeface="Microsoft YaHei"/>
                          <a:ea typeface="Microsoft YaHei"/>
                          <a:cs typeface="Microsoft YaHei"/>
                        </a:rPr>
                        <a:t>-14.1%</a:t>
                      </a:r>
                    </a:p>
                  </a:txBody>
                  <a:tcPr anchor="ctr" marL="76200" marR="76200" marT="70485" marB="70485">
                    <a:noFill/>
                  </a:tcPr>
                </a:tc>
              </a:tr>
            </a:tbl>
          </a:graphicData>
        </a:graphic>
      </p:graphicFrame>
      <p:grpSp>
        <p:nvGrpSpPr>
          <p:cNvPr id="14" name="freight-callout"/>
          <p:cNvGrpSpPr/>
          <p:nvPr/>
        </p:nvGrpSpPr>
        <p:grpSpPr>
          <a:xfrm>
            <a:off x="6781800" y="2000250"/>
            <a:ext cx="4343400" cy="1809750"/>
            <a:chOff x="6781800" y="2000250"/>
            <a:chExt cx="4343400" cy="1809750"/>
          </a:xfrm>
        </p:grpSpPr>
        <p:sp>
          <p:nvSpPr>
            <p:cNvPr id="7" name="Freeform 7"/>
            <p:cNvSpPr/>
            <p:nvPr/>
          </p:nvSpPr>
          <p:spPr>
            <a:xfrm>
              <a:off x="6781800" y="2000250"/>
              <a:ext cx="4343400" cy="1809750"/>
            </a:xfrm>
            <a:prstGeom prst="wedgeRoundRectCallout">
              <a:avLst/>
            </a:prstGeom>
            <a:solidFill>
              <a:srgbClr val="FFFFFF"/>
            </a:solidFill>
            <a:ln w="19050">
              <a:solidFill>
                <a:schemeClr val="accent1"/>
              </a:solidFill>
            </a:ln>
          </p:spPr>
        </p:sp>
        <p:grpSp>
          <p:nvGrpSpPr>
            <p:cNvPr id="11" name="Group 11"/>
            <p:cNvGrpSpPr/>
            <p:nvPr/>
          </p:nvGrpSpPr>
          <p:grpSpPr>
            <a:xfrm>
              <a:off x="7122319" y="2307431"/>
              <a:ext cx="214312" cy="166688"/>
              <a:chOff x="7122319" y="2307431"/>
              <a:chExt cx="214312" cy="166688"/>
            </a:xfrm>
          </p:grpSpPr>
          <p:sp>
            <p:nvSpPr>
              <p:cNvPr id="8" name="Freeform 8"/>
              <p:cNvSpPr/>
              <p:nvPr/>
            </p:nvSpPr>
            <p:spPr>
              <a:xfrm>
                <a:off x="7146131" y="242649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1"/>
                </a:solidFill>
              </a:ln>
            </p:spPr>
          </p:sp>
          <p:sp>
            <p:nvSpPr>
              <p:cNvPr id="9" name="Freeform 9"/>
              <p:cNvSpPr/>
              <p:nvPr/>
            </p:nvSpPr>
            <p:spPr>
              <a:xfrm>
                <a:off x="7265194" y="2426494"/>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chemeClr val="accent1"/>
                </a:solidFill>
              </a:ln>
            </p:spPr>
          </p:sp>
          <p:sp>
            <p:nvSpPr>
              <p:cNvPr id="10" name="Freeform 10"/>
              <p:cNvSpPr/>
              <p:nvPr/>
            </p:nvSpPr>
            <p:spPr>
              <a:xfrm>
                <a:off x="7122319" y="2307431"/>
                <a:ext cx="214312" cy="142875"/>
              </a:xfrm>
              <a:custGeom>
                <a:avLst/>
                <a:gdLst/>
                <a:ahLst/>
                <a:cxnLst/>
                <a:rect l="l" t="t" r="r" b="b"/>
                <a:pathLst>
                  <a:path w="214312" h="142875">
                    <a:moveTo>
                      <a:pt x="23812" y="142875"/>
                    </a:moveTo>
                    <a:lnTo>
                      <a:pt x="0" y="142875"/>
                    </a:lnTo>
                    <a:lnTo>
                      <a:pt x="0" y="11906"/>
                    </a:lnTo>
                    <a:cubicBezTo>
                      <a:pt x="0" y="5331"/>
                      <a:pt x="5331" y="0"/>
                      <a:pt x="11906" y="0"/>
                    </a:cubicBezTo>
                    <a:lnTo>
                      <a:pt x="119062" y="0"/>
                    </a:lnTo>
                    <a:lnTo>
                      <a:pt x="119062" y="142875"/>
                    </a:lnTo>
                    <a:moveTo>
                      <a:pt x="71438" y="142875"/>
                    </a:moveTo>
                    <a:lnTo>
                      <a:pt x="142875" y="142875"/>
                    </a:lnTo>
                    <a:moveTo>
                      <a:pt x="190500" y="142875"/>
                    </a:moveTo>
                    <a:lnTo>
                      <a:pt x="214312" y="142875"/>
                    </a:lnTo>
                    <a:lnTo>
                      <a:pt x="214312" y="71438"/>
                    </a:lnTo>
                    <a:lnTo>
                      <a:pt x="119062" y="71438"/>
                    </a:lnTo>
                    <a:moveTo>
                      <a:pt x="119062" y="11906"/>
                    </a:moveTo>
                    <a:lnTo>
                      <a:pt x="178594" y="11906"/>
                    </a:lnTo>
                    <a:lnTo>
                      <a:pt x="214312" y="71438"/>
                    </a:lnTo>
                  </a:path>
                </a:pathLst>
              </a:custGeom>
              <a:noFill/>
              <a:ln w="23812">
                <a:solidFill>
                  <a:schemeClr val="accent1"/>
                </a:solidFill>
              </a:ln>
            </p:spPr>
          </p:sp>
        </p:grpSp>
        <p:sp>
          <p:nvSpPr>
            <p:cNvPr id="12" name="TextBox 12"/>
            <p:cNvSpPr txBox="1"/>
            <p:nvPr/>
          </p:nvSpPr>
          <p:spPr>
            <a:xfrm>
              <a:off x="7478268" y="227933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量升距降</a:t>
              </a:r>
            </a:p>
          </p:txBody>
        </p:sp>
        <p:sp>
          <p:nvSpPr>
            <p:cNvPr id="13" name="TextBox 13"/>
            <p:cNvSpPr txBox="1"/>
            <p:nvPr/>
          </p:nvSpPr>
          <p:spPr>
            <a:xfrm>
              <a:off x="7079742" y="2673668"/>
              <a:ext cx="1667780"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总发送量同比</a:t>
              </a:r>
              <a:r>
                <a:rPr lang="zh-CN" sz="1350" b="1" dirty="0">
                  <a:solidFill>
                    <a:srgbClr val="2E7D32"/>
                  </a:solidFill>
                  <a:latin typeface="+mn-lt"/>
                  <a:ea typeface="+mn-ea"/>
                  <a:cs typeface="+mn-cs"/>
                </a:rPr>
                <a:t>+2.8%</a:t>
              </a:r>
              <a:r>
                <a:rPr lang="zh-CN" sz="1350" dirty="0">
                  <a:solidFill>
                    <a:schemeClr val="dk1"/>
                  </a:solidFill>
                  <a:latin typeface="+mn-lt"/>
                  <a:ea typeface="+mn-ea"/>
                  <a:cs typeface="+mn-cs"/>
                </a:rPr>
                <a:t>,</a:t>
              </a:r>
              <a:br/>
              <a:r>
                <a:rPr lang="zh-CN" sz="1350" dirty="0">
                  <a:solidFill>
                    <a:schemeClr val="dk1"/>
                  </a:solidFill>
                  <a:latin typeface="+mn-lt"/>
                  <a:ea typeface="+mn-ea"/>
                  <a:cs typeface="+mn-cs"/>
                </a:rPr>
                <a:t>总周转量却</a:t>
              </a:r>
              <a:r>
                <a:rPr lang="zh-CN" sz="1350" b="1" dirty="0">
                  <a:solidFill>
                    <a:srgbClr val="C62828"/>
                  </a:solidFill>
                  <a:latin typeface="+mn-lt"/>
                  <a:ea typeface="+mn-ea"/>
                  <a:cs typeface="+mn-cs"/>
                </a:rPr>
                <a:t>-1.6%</a:t>
              </a:r>
              <a:r>
                <a:rPr lang="zh-CN" sz="1350" dirty="0">
                  <a:solidFill>
                    <a:schemeClr val="dk1"/>
                  </a:solidFill>
                  <a:latin typeface="+mn-lt"/>
                  <a:ea typeface="+mn-ea"/>
                  <a:cs typeface="+mn-cs"/>
                </a:rPr>
                <a:t>,</a:t>
              </a:r>
              <a:br/>
              <a:r>
                <a:rPr lang="zh-CN" sz="1350" dirty="0">
                  <a:solidFill>
                    <a:schemeClr val="dk1"/>
                  </a:solidFill>
                  <a:latin typeface="+mn-lt"/>
                  <a:ea typeface="+mn-ea"/>
                  <a:cs typeface="+mn-cs"/>
                </a:rPr>
                <a:t>反映平均运距缩短、</a:t>
              </a:r>
              <a:br/>
              <a:r>
                <a:rPr lang="zh-CN" sz="1350" dirty="0">
                  <a:solidFill>
                    <a:schemeClr val="dk1"/>
                  </a:solidFill>
                  <a:latin typeface="+mn-lt"/>
                  <a:ea typeface="+mn-ea"/>
                  <a:cs typeface="+mn-cs"/>
                </a:rPr>
                <a:t>短途运输占比上升。</a:t>
              </a:r>
            </a:p>
          </p:txBody>
        </p:sp>
      </p:grpSp>
      <p:grpSp>
        <p:nvGrpSpPr>
          <p:cNvPr id="18" name="footer"/>
          <p:cNvGrpSpPr/>
          <p:nvPr/>
        </p:nvGrpSpPr>
        <p:grpSpPr>
          <a:xfrm>
            <a:off x="603504" y="6305550"/>
            <a:ext cx="10984992" cy="333756"/>
            <a:chOff x="603504" y="6305550"/>
            <a:chExt cx="10984992" cy="333756"/>
          </a:xfrm>
        </p:grpSpPr>
        <p:sp>
          <p:nvSpPr>
            <p:cNvPr id="15" name="Line 15"/>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603504" y="640461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来源:国家铁路局《2024年铁道统计公报》第3页</a:t>
              </a:r>
            </a:p>
          </p:txBody>
        </p:sp>
        <p:sp>
          <p:nvSpPr>
            <p:cNvPr id="17" name="TextBox 17"/>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531151" cy="846772"/>
            <a:chOff x="594360" y="501968"/>
            <a:chExt cx="7531151"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03 · 货运</a:t>
              </a:r>
            </a:p>
          </p:txBody>
        </p:sp>
        <p:sp>
          <p:nvSpPr>
            <p:cNvPr id="3" name="TextBox 3"/>
            <p:cNvSpPr txBox="1"/>
            <p:nvPr/>
          </p:nvSpPr>
          <p:spPr>
            <a:xfrm>
              <a:off x="594360" y="762000"/>
              <a:ext cx="753115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集装箱运量增速最快,粮食运量降幅最大</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aphicFrame>
        <p:nvGraphicFramePr>
          <p:cNvPr id="6" name="category-freight"/>
          <p:cNvGraphicFramePr>
            <a:graphicFrameLocks noGrp="1"/>
          </p:cNvGraphicFramePr>
          <p:nvPr/>
        </p:nvGraphicFramePr>
        <p:xfrm>
          <a:off x="609600" y="1676400"/>
          <a:ext cx="6477000" cy="4000500"/>
        </p:xfrm>
        <a:graphic>
          <a:graphicData uri="http://schemas.openxmlformats.org/drawingml/2006/chart">
            <c:chart xmlns:c="http://schemas.openxmlformats.org/drawingml/2006/chart" r:id="rId2"/>
          </a:graphicData>
        </a:graphic>
      </p:graphicFrame>
      <p:grpSp>
        <p:nvGrpSpPr>
          <p:cNvPr id="8" name="freight-deltas"/>
          <p:cNvGrpSpPr/>
          <p:nvPr/>
        </p:nvGrpSpPr>
        <p:grpSpPr>
          <a:xfrm>
            <a:off x="603504" y="5795010"/>
            <a:ext cx="7326097" cy="234696"/>
            <a:chOff x="603504" y="5795010"/>
            <a:chExt cx="7326097" cy="234696"/>
          </a:xfrm>
        </p:grpSpPr>
        <p:sp>
          <p:nvSpPr>
            <p:cNvPr id="7" name="TextBox 7"/>
            <p:cNvSpPr txBox="1"/>
            <p:nvPr/>
          </p:nvSpPr>
          <p:spPr>
            <a:xfrm>
              <a:off x="603504" y="5795010"/>
              <a:ext cx="732609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同比:煤炭</a:t>
              </a:r>
              <a:r>
                <a:rPr lang="zh-CN" sz="1200" dirty="0">
                  <a:solidFill>
                    <a:srgbClr val="2E7D32"/>
                  </a:solidFill>
                  <a:latin typeface="+mn-lt"/>
                  <a:ea typeface="+mn-ea"/>
                  <a:cs typeface="+mn-cs"/>
                </a:rPr>
                <a:t>+1.5%</a:t>
              </a:r>
              <a:r>
                <a:rPr lang="zh-CN" sz="1200" dirty="0">
                  <a:solidFill>
                    <a:schemeClr val="accent5"/>
                  </a:solidFill>
                  <a:latin typeface="+mn-lt"/>
                  <a:ea typeface="+mn-ea"/>
                  <a:cs typeface="+mn-cs"/>
                </a:rPr>
                <a:t xml:space="preserve"> · 冶炼物资</a:t>
              </a:r>
              <a:r>
                <a:rPr lang="zh-CN" sz="1200" dirty="0">
                  <a:solidFill>
                    <a:srgbClr val="C62828"/>
                  </a:solidFill>
                  <a:latin typeface="+mn-lt"/>
                  <a:ea typeface="+mn-ea"/>
                  <a:cs typeface="+mn-cs"/>
                </a:rPr>
                <a:t>-3.6%</a:t>
              </a:r>
              <a:r>
                <a:rPr lang="zh-CN" sz="1200" dirty="0">
                  <a:solidFill>
                    <a:schemeClr val="accent5"/>
                  </a:solidFill>
                  <a:latin typeface="+mn-lt"/>
                  <a:ea typeface="+mn-ea"/>
                  <a:cs typeface="+mn-cs"/>
                </a:rPr>
                <a:t xml:space="preserve"> · 石油</a:t>
              </a:r>
              <a:r>
                <a:rPr lang="zh-CN" sz="1200" dirty="0">
                  <a:solidFill>
                    <a:srgbClr val="2E7D32"/>
                  </a:solidFill>
                  <a:latin typeface="+mn-lt"/>
                  <a:ea typeface="+mn-ea"/>
                  <a:cs typeface="+mn-cs"/>
                </a:rPr>
                <a:t>+2.1%</a:t>
              </a:r>
              <a:r>
                <a:rPr lang="zh-CN" sz="1200" dirty="0">
                  <a:solidFill>
                    <a:schemeClr val="accent5"/>
                  </a:solidFill>
                  <a:latin typeface="+mn-lt"/>
                  <a:ea typeface="+mn-ea"/>
                  <a:cs typeface="+mn-cs"/>
                </a:rPr>
                <a:t xml:space="preserve"> · 粮食</a:t>
              </a:r>
              <a:r>
                <a:rPr lang="zh-CN" sz="1200" dirty="0">
                  <a:solidFill>
                    <a:srgbClr val="C62828"/>
                  </a:solidFill>
                  <a:latin typeface="+mn-lt"/>
                  <a:ea typeface="+mn-ea"/>
                  <a:cs typeface="+mn-cs"/>
                </a:rPr>
                <a:t>-17.6%</a:t>
              </a:r>
              <a:r>
                <a:rPr lang="zh-CN" sz="1200" dirty="0">
                  <a:solidFill>
                    <a:schemeClr val="accent5"/>
                  </a:solidFill>
                  <a:latin typeface="+mn-lt"/>
                  <a:ea typeface="+mn-ea"/>
                  <a:cs typeface="+mn-cs"/>
                </a:rPr>
                <a:t xml:space="preserve"> · 化肥及农药</a:t>
              </a:r>
              <a:r>
                <a:rPr lang="zh-CN" sz="1200" dirty="0">
                  <a:solidFill>
                    <a:srgbClr val="C62828"/>
                  </a:solidFill>
                  <a:latin typeface="+mn-lt"/>
                  <a:ea typeface="+mn-ea"/>
                  <a:cs typeface="+mn-cs"/>
                </a:rPr>
                <a:t>-5.2%</a:t>
              </a:r>
              <a:r>
                <a:rPr lang="zh-CN" sz="1200" dirty="0">
                  <a:solidFill>
                    <a:schemeClr val="accent5"/>
                  </a:solidFill>
                  <a:latin typeface="+mn-lt"/>
                  <a:ea typeface="+mn-ea"/>
                  <a:cs typeface="+mn-cs"/>
                </a:rPr>
                <a:t xml:space="preserve"> · 集装箱</a:t>
              </a:r>
              <a:r>
                <a:rPr lang="zh-CN" sz="1200" b="1" dirty="0">
                  <a:solidFill>
                    <a:srgbClr val="2E7D32"/>
                  </a:solidFill>
                  <a:latin typeface="+mn-lt"/>
                  <a:ea typeface="+mn-ea"/>
                  <a:cs typeface="+mn-cs"/>
                </a:rPr>
                <a:t>+15.5%</a:t>
              </a:r>
            </a:p>
          </p:txBody>
        </p:sp>
      </p:grpSp>
      <p:grpSp>
        <p:nvGrpSpPr>
          <p:cNvPr id="18" name="corridor-ceurail"/>
          <p:cNvGrpSpPr/>
          <p:nvPr/>
        </p:nvGrpSpPr>
        <p:grpSpPr>
          <a:xfrm>
            <a:off x="7143750" y="1905000"/>
            <a:ext cx="4095750" cy="1524000"/>
            <a:chOff x="7143750" y="1905000"/>
            <a:chExt cx="4095750" cy="1524000"/>
          </a:xfrm>
        </p:grpSpPr>
        <p:sp>
          <p:nvSpPr>
            <p:cNvPr id="9" name="Rectangle 9"/>
            <p:cNvSpPr/>
            <p:nvPr/>
          </p:nvSpPr>
          <p:spPr>
            <a:xfrm>
              <a:off x="7143750" y="1905000"/>
              <a:ext cx="4095750" cy="1524000"/>
            </a:xfrm>
            <a:prstGeom prst="roundRect">
              <a:avLst>
                <a:gd name="adj" fmla="val 10000"/>
              </a:avLst>
            </a:prstGeom>
            <a:solidFill>
              <a:schemeClr val="lt2"/>
            </a:solidFill>
            <a:ln>
              <a:noFill/>
            </a:ln>
          </p:spPr>
        </p:sp>
        <p:grpSp>
          <p:nvGrpSpPr>
            <p:cNvPr id="13" name="Group 13"/>
            <p:cNvGrpSpPr/>
            <p:nvPr/>
          </p:nvGrpSpPr>
          <p:grpSpPr>
            <a:xfrm>
              <a:off x="7410450" y="2171700"/>
              <a:ext cx="228599" cy="228599"/>
              <a:chOff x="7410450" y="2171700"/>
              <a:chExt cx="228599" cy="228599"/>
            </a:xfrm>
          </p:grpSpPr>
          <p:sp>
            <p:nvSpPr>
              <p:cNvPr id="10" name="Freeform 10"/>
              <p:cNvSpPr/>
              <p:nvPr/>
            </p:nvSpPr>
            <p:spPr>
              <a:xfrm>
                <a:off x="7410450" y="23494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1"/>
                </a:solidFill>
              </a:ln>
            </p:spPr>
          </p:sp>
          <p:sp>
            <p:nvSpPr>
              <p:cNvPr id="11" name="Freeform 11"/>
              <p:cNvSpPr/>
              <p:nvPr/>
            </p:nvSpPr>
            <p:spPr>
              <a:xfrm>
                <a:off x="7588249" y="21717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1"/>
                </a:solidFill>
              </a:ln>
            </p:spPr>
          </p:sp>
          <p:sp>
            <p:nvSpPr>
              <p:cNvPr id="12" name="Freeform 12"/>
              <p:cNvSpPr/>
              <p:nvPr/>
            </p:nvSpPr>
            <p:spPr>
              <a:xfrm>
                <a:off x="7435850" y="21971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1"/>
                </a:solidFill>
              </a:ln>
            </p:spPr>
          </p:sp>
        </p:grpSp>
        <p:sp>
          <p:nvSpPr>
            <p:cNvPr id="14" name="TextBox 14"/>
            <p:cNvSpPr txBox="1"/>
            <p:nvPr/>
          </p:nvSpPr>
          <p:spPr>
            <a:xfrm>
              <a:off x="7783068" y="2184082"/>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中欧班列</a:t>
              </a:r>
            </a:p>
          </p:txBody>
        </p:sp>
        <p:sp>
          <p:nvSpPr>
            <p:cNvPr id="15" name="TextBox 15"/>
            <p:cNvSpPr txBox="1"/>
            <p:nvPr/>
          </p:nvSpPr>
          <p:spPr>
            <a:xfrm>
              <a:off x="7357110" y="2495550"/>
              <a:ext cx="110070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Consolas"/>
                  <a:ea typeface="Consolas"/>
                  <a:cs typeface="Consolas"/>
                </a:rPr>
                <a:t>1.9</a:t>
              </a:r>
              <a:r>
                <a:rPr lang="zh-CN" sz="1500" b="1" dirty="0">
                  <a:solidFill>
                    <a:schemeClr val="dk1"/>
                  </a:solidFill>
                  <a:latin typeface="+mn-lt"/>
                  <a:ea typeface="+mn-ea"/>
                  <a:cs typeface="+mn-cs"/>
                </a:rPr>
                <a:t>万列</a:t>
              </a:r>
            </a:p>
          </p:txBody>
        </p:sp>
        <p:sp>
          <p:nvSpPr>
            <p:cNvPr id="16" name="TextBox 16"/>
            <p:cNvSpPr txBox="1"/>
            <p:nvPr/>
          </p:nvSpPr>
          <p:spPr>
            <a:xfrm>
              <a:off x="7365492" y="2959418"/>
              <a:ext cx="31782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发送货物207万标箱 · 同比</a:t>
              </a:r>
              <a:r>
                <a:rPr lang="zh-CN" sz="1350" b="1" dirty="0">
                  <a:solidFill>
                    <a:srgbClr val="2E7D32"/>
                  </a:solidFill>
                  <a:latin typeface="+mn-lt"/>
                  <a:ea typeface="+mn-ea"/>
                  <a:cs typeface="+mn-cs"/>
                </a:rPr>
                <a:t>+10%</a:t>
              </a:r>
              <a:r>
                <a:rPr lang="zh-CN" sz="1350" dirty="0">
                  <a:solidFill>
                    <a:schemeClr val="dk1"/>
                  </a:solidFill>
                  <a:latin typeface="+mn-lt"/>
                  <a:ea typeface="+mn-ea"/>
                  <a:cs typeface="+mn-cs"/>
                </a:rPr>
                <a:t xml:space="preserve"> / </a:t>
              </a:r>
              <a:r>
                <a:rPr lang="zh-CN" sz="1350" b="1" dirty="0">
                  <a:solidFill>
                    <a:srgbClr val="2E7D32"/>
                  </a:solidFill>
                  <a:latin typeface="+mn-lt"/>
                  <a:ea typeface="+mn-ea"/>
                  <a:cs typeface="+mn-cs"/>
                </a:rPr>
                <a:t>+9%</a:t>
              </a:r>
            </a:p>
          </p:txBody>
        </p:sp>
        <p:sp>
          <p:nvSpPr>
            <p:cNvPr id="17" name="TextBox 17"/>
            <p:cNvSpPr txBox="1"/>
            <p:nvPr/>
          </p:nvSpPr>
          <p:spPr>
            <a:xfrm>
              <a:off x="7366635" y="319325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来源:公报第4页</a:t>
              </a:r>
            </a:p>
          </p:txBody>
        </p:sp>
      </p:grpSp>
      <p:cxnSp>
        <p:nvCxnSpPr>
          <p:cNvPr id="19" name="Freeform 19"/>
          <p:cNvCxnSpPr/>
          <p:nvPr/>
        </p:nvCxnSpPr>
        <p:spPr>
          <a:xfrm>
            <a:off x="9191625" y="3429000"/>
            <a:ext cx="0" cy="228600"/>
          </a:xfrm>
          <a:prstGeom prst="bentConnector2">
            <a:avLst/>
          </a:prstGeom>
          <a:noFill/>
          <a:ln w="19050">
            <a:solidFill>
              <a:srgbClr val="5B6472"/>
            </a:solidFill>
          </a:ln>
        </p:spPr>
      </p:cxnSp>
      <p:grpSp>
        <p:nvGrpSpPr>
          <p:cNvPr id="29" name="corridor-westland"/>
          <p:cNvGrpSpPr/>
          <p:nvPr/>
        </p:nvGrpSpPr>
        <p:grpSpPr>
          <a:xfrm>
            <a:off x="7143750" y="3657600"/>
            <a:ext cx="4095750" cy="1524000"/>
            <a:chOff x="7143750" y="3657600"/>
            <a:chExt cx="4095750" cy="1524000"/>
          </a:xfrm>
        </p:grpSpPr>
        <p:sp>
          <p:nvSpPr>
            <p:cNvPr id="20" name="Rectangle 20"/>
            <p:cNvSpPr/>
            <p:nvPr/>
          </p:nvSpPr>
          <p:spPr>
            <a:xfrm>
              <a:off x="7143750" y="3657600"/>
              <a:ext cx="4095750" cy="1524000"/>
            </a:xfrm>
            <a:prstGeom prst="roundRect">
              <a:avLst>
                <a:gd name="adj" fmla="val 10000"/>
              </a:avLst>
            </a:prstGeom>
            <a:solidFill>
              <a:schemeClr val="lt2"/>
            </a:solidFill>
            <a:ln>
              <a:noFill/>
            </a:ln>
          </p:spPr>
        </p:sp>
        <p:grpSp>
          <p:nvGrpSpPr>
            <p:cNvPr id="24" name="Group 24"/>
            <p:cNvGrpSpPr/>
            <p:nvPr/>
          </p:nvGrpSpPr>
          <p:grpSpPr>
            <a:xfrm>
              <a:off x="7410450" y="3924300"/>
              <a:ext cx="228599" cy="228599"/>
              <a:chOff x="7410450" y="3924300"/>
              <a:chExt cx="228599" cy="228599"/>
            </a:xfrm>
          </p:grpSpPr>
          <p:sp>
            <p:nvSpPr>
              <p:cNvPr id="21" name="Freeform 21"/>
              <p:cNvSpPr/>
              <p:nvPr/>
            </p:nvSpPr>
            <p:spPr>
              <a:xfrm>
                <a:off x="7410450" y="41020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chemeClr val="accent3"/>
                </a:solidFill>
              </a:ln>
            </p:spPr>
          </p:sp>
          <p:sp>
            <p:nvSpPr>
              <p:cNvPr id="22" name="Freeform 22"/>
              <p:cNvSpPr/>
              <p:nvPr/>
            </p:nvSpPr>
            <p:spPr>
              <a:xfrm>
                <a:off x="7588249" y="39243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25400">
                <a:solidFill>
                  <a:schemeClr val="accent3"/>
                </a:solidFill>
              </a:ln>
            </p:spPr>
          </p:sp>
          <p:sp>
            <p:nvSpPr>
              <p:cNvPr id="23" name="Freeform 23"/>
              <p:cNvSpPr/>
              <p:nvPr/>
            </p:nvSpPr>
            <p:spPr>
              <a:xfrm>
                <a:off x="7435850" y="39497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25400">
                <a:solidFill>
                  <a:schemeClr val="accent3"/>
                </a:solidFill>
              </a:ln>
            </p:spPr>
          </p:sp>
        </p:grpSp>
        <p:sp>
          <p:nvSpPr>
            <p:cNvPr id="25" name="TextBox 25"/>
            <p:cNvSpPr txBox="1"/>
            <p:nvPr/>
          </p:nvSpPr>
          <p:spPr>
            <a:xfrm>
              <a:off x="7783068" y="3936682"/>
              <a:ext cx="1571625"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西部陆海新通道</a:t>
              </a:r>
            </a:p>
          </p:txBody>
        </p:sp>
        <p:sp>
          <p:nvSpPr>
            <p:cNvPr id="26" name="TextBox 26"/>
            <p:cNvSpPr txBox="1"/>
            <p:nvPr/>
          </p:nvSpPr>
          <p:spPr>
            <a:xfrm>
              <a:off x="7357110" y="4248150"/>
              <a:ext cx="1080516"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Consolas"/>
                  <a:ea typeface="Consolas"/>
                  <a:cs typeface="Consolas"/>
                </a:rPr>
                <a:t>96</a:t>
              </a:r>
              <a:r>
                <a:rPr lang="zh-CN" sz="1500" b="1" dirty="0">
                  <a:solidFill>
                    <a:schemeClr val="dk1"/>
                  </a:solidFill>
                  <a:latin typeface="+mn-lt"/>
                  <a:ea typeface="+mn-ea"/>
                  <a:cs typeface="+mn-cs"/>
                </a:rPr>
                <a:t>万标箱</a:t>
              </a:r>
            </a:p>
          </p:txBody>
        </p:sp>
        <p:sp>
          <p:nvSpPr>
            <p:cNvPr id="27" name="TextBox 27"/>
            <p:cNvSpPr txBox="1"/>
            <p:nvPr/>
          </p:nvSpPr>
          <p:spPr>
            <a:xfrm>
              <a:off x="7365492" y="4712018"/>
              <a:ext cx="21345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班列发送货物 · 同比</a:t>
              </a:r>
              <a:r>
                <a:rPr lang="zh-CN" sz="1350" b="1" dirty="0">
                  <a:solidFill>
                    <a:srgbClr val="2E7D32"/>
                  </a:solidFill>
                  <a:latin typeface="+mn-lt"/>
                  <a:ea typeface="+mn-ea"/>
                  <a:cs typeface="+mn-cs"/>
                </a:rPr>
                <a:t>+11%</a:t>
              </a:r>
            </a:p>
          </p:txBody>
        </p:sp>
        <p:sp>
          <p:nvSpPr>
            <p:cNvPr id="28" name="TextBox 28"/>
            <p:cNvSpPr txBox="1"/>
            <p:nvPr/>
          </p:nvSpPr>
          <p:spPr>
            <a:xfrm>
              <a:off x="7366635" y="4945856"/>
              <a:ext cx="108192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来源:公报第4页</a:t>
              </a:r>
            </a:p>
          </p:txBody>
        </p:sp>
      </p:grpSp>
      <p:grpSp>
        <p:nvGrpSpPr>
          <p:cNvPr id="33" name="footer"/>
          <p:cNvGrpSpPr/>
          <p:nvPr/>
        </p:nvGrpSpPr>
        <p:grpSpPr>
          <a:xfrm>
            <a:off x="603504" y="6305550"/>
            <a:ext cx="10984992" cy="333756"/>
            <a:chOff x="603504" y="6305550"/>
            <a:chExt cx="10984992" cy="333756"/>
          </a:xfrm>
        </p:grpSpPr>
        <p:sp>
          <p:nvSpPr>
            <p:cNvPr id="30" name="Line 30"/>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603504" y="640461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来源:国家铁路局《2024年铁道统计公报》第4页</a:t>
              </a:r>
            </a:p>
          </p:txBody>
        </p:sp>
        <p:sp>
          <p:nvSpPr>
            <p:cNvPr id="32" name="TextBox 32"/>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300"/>
                                        <p:tgtEl>
                                          <p:spTgt spid="18"/>
                                        </p:tgtEl>
                                      </p:cBhvr>
                                    </p:animEffect>
                                  </p:childTnLst>
                                </p:cTn>
                              </p:par>
                            </p:childTnLst>
                          </p:cTn>
                        </p:par>
                        <p:par>
                          <p:cTn id="16" fill="hold">
                            <p:stCondLst>
                              <p:cond delay="20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957871" cy="846772"/>
            <a:chOff x="594360" y="501968"/>
            <a:chExt cx="7957871" cy="846772"/>
          </a:xfrm>
        </p:grpSpPr>
        <p:sp>
          <p:nvSpPr>
            <p:cNvPr id="2" name="TextBox 2"/>
            <p:cNvSpPr txBox="1"/>
            <p:nvPr/>
          </p:nvSpPr>
          <p:spPr>
            <a:xfrm>
              <a:off x="602742" y="501968"/>
              <a:ext cx="193620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04 · 综合效率与安全</a:t>
              </a:r>
            </a:p>
          </p:txBody>
        </p:sp>
        <p:sp>
          <p:nvSpPr>
            <p:cNvPr id="3" name="TextBox 3"/>
            <p:cNvSpPr txBox="1"/>
            <p:nvPr/>
          </p:nvSpPr>
          <p:spPr>
            <a:xfrm>
              <a:off x="594360" y="762000"/>
              <a:ext cx="795787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综合运能稳步提升,全年未发生重特大事故</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20" name="turnover-stats"/>
          <p:cNvGrpSpPr/>
          <p:nvPr/>
        </p:nvGrpSpPr>
        <p:grpSpPr>
          <a:xfrm>
            <a:off x="590550" y="2009775"/>
            <a:ext cx="5360670" cy="2857881"/>
            <a:chOff x="590550" y="2009775"/>
            <a:chExt cx="5360670" cy="2857881"/>
          </a:xfrm>
        </p:grpSpPr>
        <p:sp>
          <p:nvSpPr>
            <p:cNvPr id="6" name="TextBox 6"/>
            <p:cNvSpPr txBox="1"/>
            <p:nvPr/>
          </p:nvSpPr>
          <p:spPr>
            <a:xfrm>
              <a:off x="601980" y="2009775"/>
              <a:ext cx="203454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全国铁路总换算周转量</a:t>
              </a:r>
            </a:p>
          </p:txBody>
        </p:sp>
        <p:sp>
          <p:nvSpPr>
            <p:cNvPr id="7" name="TextBox 7"/>
            <p:cNvSpPr txBox="1"/>
            <p:nvPr/>
          </p:nvSpPr>
          <p:spPr>
            <a:xfrm>
              <a:off x="590550" y="2339340"/>
              <a:ext cx="2881274" cy="933450"/>
            </a:xfrm>
            <a:prstGeom prst="rect">
              <a:avLst/>
            </a:prstGeom>
            <a:noFill/>
            <a:ln>
              <a:noFill/>
            </a:ln>
          </p:spPr>
          <p:txBody>
            <a:bodyPr wrap="none" lIns="0" tIns="0" rIns="0" bIns="0" anchor="t" anchorCtr="0">
              <a:spAutoFit/>
            </a:bodyPr>
            <a:lstStyle/>
            <a:p>
              <a:pPr algn="l"/>
              <a:r>
                <a:rPr lang="zh-CN" sz="4800" b="1" dirty="0">
                  <a:solidFill>
                    <a:schemeClr val="accent1"/>
                  </a:solidFill>
                  <a:latin typeface="Consolas"/>
                  <a:ea typeface="Consolas"/>
                  <a:cs typeface="Consolas"/>
                </a:rPr>
                <a:t>51661.00</a:t>
              </a:r>
            </a:p>
          </p:txBody>
        </p:sp>
        <p:sp>
          <p:nvSpPr>
            <p:cNvPr id="8" name="TextBox 8"/>
            <p:cNvSpPr txBox="1"/>
            <p:nvPr/>
          </p:nvSpPr>
          <p:spPr>
            <a:xfrm>
              <a:off x="3724656" y="266319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亿吨公里</a:t>
              </a:r>
            </a:p>
          </p:txBody>
        </p:sp>
        <p:sp>
          <p:nvSpPr>
            <p:cNvPr id="9" name="TextBox 9"/>
            <p:cNvSpPr txBox="1"/>
            <p:nvPr/>
          </p:nvSpPr>
          <p:spPr>
            <a:xfrm>
              <a:off x="601218" y="2984182"/>
              <a:ext cx="1219005" cy="322707"/>
            </a:xfrm>
            <a:prstGeom prst="rect">
              <a:avLst/>
            </a:prstGeom>
            <a:noFill/>
            <a:ln>
              <a:noFill/>
            </a:ln>
          </p:spPr>
          <p:txBody>
            <a:bodyPr wrap="none" lIns="0" tIns="0" rIns="0" bIns="0" anchor="t" anchorCtr="0">
              <a:spAutoFit/>
            </a:bodyPr>
            <a:lstStyle/>
            <a:p>
              <a:pPr algn="l"/>
              <a:r>
                <a:rPr lang="zh-CN" sz="1650" b="1" dirty="0">
                  <a:solidFill>
                    <a:srgbClr val="2E7D32"/>
                  </a:solidFill>
                  <a:latin typeface="+mn-lt"/>
                  <a:ea typeface="+mn-ea"/>
                  <a:cs typeface="+mn-cs"/>
                </a:rPr>
                <a:t>同比 +0.9%</a:t>
              </a:r>
            </a:p>
          </p:txBody>
        </p:sp>
        <p:sp>
          <p:nvSpPr>
            <p:cNvPr id="10" name="Line 10"/>
            <p:cNvSpPr/>
            <p:nvPr/>
          </p:nvSpPr>
          <p:spPr>
            <a:xfrm>
              <a:off x="609600" y="3505200"/>
              <a:ext cx="4953000" cy="9525"/>
            </a:xfrm>
            <a:custGeom>
              <a:avLst/>
              <a:gdLst/>
              <a:ahLst/>
              <a:cxnLst/>
              <a:rect l="l" t="t" r="r" b="b"/>
              <a:pathLst>
                <a:path w="4953000" h="9525">
                  <a:moveTo>
                    <a:pt x="0" y="0"/>
                  </a:moveTo>
                  <a:lnTo>
                    <a:pt x="4953000" y="0"/>
                  </a:lnTo>
                </a:path>
              </a:pathLst>
            </a:custGeom>
            <a:noFill/>
            <a:ln w="9525">
              <a:solidFill>
                <a:schemeClr val="accent6"/>
              </a:solidFill>
            </a:ln>
          </p:spPr>
        </p:sp>
        <p:sp>
          <p:nvSpPr>
            <p:cNvPr id="11" name="TextBox 11"/>
            <p:cNvSpPr txBox="1"/>
            <p:nvPr/>
          </p:nvSpPr>
          <p:spPr>
            <a:xfrm>
              <a:off x="601980" y="3686175"/>
              <a:ext cx="1287399"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其中 国家铁路</a:t>
              </a:r>
            </a:p>
          </p:txBody>
        </p:sp>
        <p:sp>
          <p:nvSpPr>
            <p:cNvPr id="12" name="TextBox 12"/>
            <p:cNvSpPr txBox="1"/>
            <p:nvPr/>
          </p:nvSpPr>
          <p:spPr>
            <a:xfrm>
              <a:off x="3401416" y="3653790"/>
              <a:ext cx="1084478"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Consolas"/>
                  <a:ea typeface="Consolas"/>
                  <a:cs typeface="Consolas"/>
                </a:rPr>
                <a:t>48356.99</a:t>
              </a:r>
            </a:p>
          </p:txBody>
        </p:sp>
        <p:sp>
          <p:nvSpPr>
            <p:cNvPr id="13" name="TextBox 13"/>
            <p:cNvSpPr txBox="1"/>
            <p:nvPr/>
          </p:nvSpPr>
          <p:spPr>
            <a:xfrm>
              <a:off x="4584954" y="371856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亿吨公里</a:t>
              </a:r>
            </a:p>
          </p:txBody>
        </p:sp>
        <p:sp>
          <p:nvSpPr>
            <p:cNvPr id="14" name="TextBox 14"/>
            <p:cNvSpPr txBox="1"/>
            <p:nvPr/>
          </p:nvSpPr>
          <p:spPr>
            <a:xfrm>
              <a:off x="5310502" y="3686175"/>
              <a:ext cx="640718" cy="293370"/>
            </a:xfrm>
            <a:prstGeom prst="rect">
              <a:avLst/>
            </a:prstGeom>
            <a:noFill/>
            <a:ln>
              <a:noFill/>
            </a:ln>
          </p:spPr>
          <p:txBody>
            <a:bodyPr wrap="none" lIns="0" tIns="0" rIns="0" bIns="0" anchor="t" anchorCtr="0">
              <a:spAutoFit/>
            </a:bodyPr>
            <a:lstStyle/>
            <a:p>
              <a:pPr algn="r"/>
              <a:r>
                <a:rPr lang="zh-CN" sz="1500" b="1" dirty="0">
                  <a:solidFill>
                    <a:srgbClr val="2E7D32"/>
                  </a:solidFill>
                  <a:latin typeface="+mn-lt"/>
                  <a:ea typeface="+mn-ea"/>
                  <a:cs typeface="+mn-cs"/>
                </a:rPr>
                <a:t>+2.1%</a:t>
              </a:r>
            </a:p>
          </p:txBody>
        </p:sp>
        <p:sp>
          <p:nvSpPr>
            <p:cNvPr id="15" name="TextBox 15"/>
            <p:cNvSpPr txBox="1"/>
            <p:nvPr/>
          </p:nvSpPr>
          <p:spPr>
            <a:xfrm>
              <a:off x="601980" y="4105275"/>
              <a:ext cx="1287399"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其中 其他铁路</a:t>
              </a:r>
            </a:p>
          </p:txBody>
        </p:sp>
        <p:sp>
          <p:nvSpPr>
            <p:cNvPr id="16" name="TextBox 16"/>
            <p:cNvSpPr txBox="1"/>
            <p:nvPr/>
          </p:nvSpPr>
          <p:spPr>
            <a:xfrm>
              <a:off x="3534689" y="4072890"/>
              <a:ext cx="951205" cy="352044"/>
            </a:xfrm>
            <a:prstGeom prst="rect">
              <a:avLst/>
            </a:prstGeom>
            <a:noFill/>
            <a:ln>
              <a:noFill/>
            </a:ln>
          </p:spPr>
          <p:txBody>
            <a:bodyPr wrap="none" lIns="0" tIns="0" rIns="0" bIns="0" anchor="t" anchorCtr="0">
              <a:spAutoFit/>
            </a:bodyPr>
            <a:lstStyle/>
            <a:p>
              <a:pPr algn="r"/>
              <a:r>
                <a:rPr lang="zh-CN" sz="1800" b="1" dirty="0">
                  <a:solidFill>
                    <a:schemeClr val="accent1"/>
                  </a:solidFill>
                  <a:latin typeface="Consolas"/>
                  <a:ea typeface="Consolas"/>
                  <a:cs typeface="Consolas"/>
                </a:rPr>
                <a:t>3304.01</a:t>
              </a:r>
            </a:p>
          </p:txBody>
        </p:sp>
        <p:sp>
          <p:nvSpPr>
            <p:cNvPr id="17" name="TextBox 17"/>
            <p:cNvSpPr txBox="1"/>
            <p:nvPr/>
          </p:nvSpPr>
          <p:spPr>
            <a:xfrm>
              <a:off x="4584954" y="4137660"/>
              <a:ext cx="65836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亿吨公里</a:t>
              </a:r>
            </a:p>
          </p:txBody>
        </p:sp>
        <p:sp>
          <p:nvSpPr>
            <p:cNvPr id="18" name="TextBox 18"/>
            <p:cNvSpPr txBox="1"/>
            <p:nvPr/>
          </p:nvSpPr>
          <p:spPr>
            <a:xfrm>
              <a:off x="5193887" y="4105275"/>
              <a:ext cx="757333" cy="293370"/>
            </a:xfrm>
            <a:prstGeom prst="rect">
              <a:avLst/>
            </a:prstGeom>
            <a:noFill/>
            <a:ln>
              <a:noFill/>
            </a:ln>
          </p:spPr>
          <p:txBody>
            <a:bodyPr wrap="none" lIns="0" tIns="0" rIns="0" bIns="0" anchor="t" anchorCtr="0">
              <a:spAutoFit/>
            </a:bodyPr>
            <a:lstStyle/>
            <a:p>
              <a:pPr algn="r"/>
              <a:r>
                <a:rPr lang="zh-CN" sz="1500" b="1" dirty="0">
                  <a:solidFill>
                    <a:srgbClr val="C62828"/>
                  </a:solidFill>
                  <a:latin typeface="+mn-lt"/>
                  <a:ea typeface="+mn-ea"/>
                  <a:cs typeface="+mn-cs"/>
                </a:rPr>
                <a:t>-13.8%</a:t>
              </a:r>
            </a:p>
          </p:txBody>
        </p:sp>
        <p:sp>
          <p:nvSpPr>
            <p:cNvPr id="19" name="TextBox 19"/>
            <p:cNvSpPr txBox="1"/>
            <p:nvPr/>
          </p:nvSpPr>
          <p:spPr>
            <a:xfrm>
              <a:off x="603504" y="463296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来源:国家铁路局《2024年铁道统计公报》第5页</a:t>
              </a:r>
            </a:p>
          </p:txBody>
        </p:sp>
      </p:grpSp>
      <p:sp>
        <p:nvSpPr>
          <p:cNvPr id="21" name="Line 21"/>
          <p:cNvSpPr/>
          <p:nvPr/>
        </p:nvSpPr>
        <p:spPr>
          <a:xfrm>
            <a:off x="6019800" y="1905000"/>
            <a:ext cx="9525" cy="3429000"/>
          </a:xfrm>
          <a:custGeom>
            <a:avLst/>
            <a:gdLst/>
            <a:ahLst/>
            <a:cxnLst/>
            <a:rect l="l" t="t" r="r" b="b"/>
            <a:pathLst>
              <a:path w="9525" h="3429000">
                <a:moveTo>
                  <a:pt x="0" y="0"/>
                </a:moveTo>
                <a:lnTo>
                  <a:pt x="0" y="3429000"/>
                </a:lnTo>
              </a:path>
            </a:pathLst>
          </a:custGeom>
          <a:noFill/>
          <a:ln w="9525">
            <a:solidFill>
              <a:schemeClr val="accent6"/>
            </a:solidFill>
          </a:ln>
        </p:spPr>
      </p:sp>
      <p:grpSp>
        <p:nvGrpSpPr>
          <p:cNvPr id="29" name="safety-panel"/>
          <p:cNvGrpSpPr/>
          <p:nvPr/>
        </p:nvGrpSpPr>
        <p:grpSpPr>
          <a:xfrm>
            <a:off x="6466332" y="1990725"/>
            <a:ext cx="3457651" cy="2724531"/>
            <a:chOff x="6466332" y="1990725"/>
            <a:chExt cx="3457651" cy="2724531"/>
          </a:xfrm>
        </p:grpSpPr>
        <p:grpSp>
          <p:nvGrpSpPr>
            <p:cNvPr id="24" name="Group 24"/>
            <p:cNvGrpSpPr/>
            <p:nvPr/>
          </p:nvGrpSpPr>
          <p:grpSpPr>
            <a:xfrm>
              <a:off x="6524162" y="1990725"/>
              <a:ext cx="558019" cy="514350"/>
              <a:chOff x="6524162" y="1990725"/>
              <a:chExt cx="558019" cy="514350"/>
            </a:xfrm>
          </p:grpSpPr>
          <p:sp>
            <p:nvSpPr>
              <p:cNvPr id="22" name="Freeform 22"/>
              <p:cNvSpPr/>
              <p:nvPr/>
            </p:nvSpPr>
            <p:spPr>
              <a:xfrm>
                <a:off x="6524162" y="1990725"/>
                <a:ext cx="558019" cy="509949"/>
              </a:xfrm>
              <a:custGeom>
                <a:avLst/>
                <a:gdLst/>
                <a:ahLst/>
                <a:cxnLst/>
                <a:rect l="l" t="t" r="r" b="b"/>
                <a:pathLst>
                  <a:path w="558019" h="509949">
                    <a:moveTo>
                      <a:pt x="280308" y="509949"/>
                    </a:moveTo>
                    <a:cubicBezTo>
                      <a:pt x="101299" y="454460"/>
                      <a:pt x="0" y="265531"/>
                      <a:pt x="52851" y="85725"/>
                    </a:cubicBezTo>
                    <a:cubicBezTo>
                      <a:pt x="141877" y="89799"/>
                      <a:pt x="228992" y="59052"/>
                      <a:pt x="295738" y="0"/>
                    </a:cubicBezTo>
                    <a:cubicBezTo>
                      <a:pt x="362485" y="59052"/>
                      <a:pt x="449600" y="89799"/>
                      <a:pt x="538626" y="85725"/>
                    </a:cubicBezTo>
                    <a:cubicBezTo>
                      <a:pt x="558019" y="151708"/>
                      <a:pt x="557123" y="221998"/>
                      <a:pt x="536054" y="287465"/>
                    </a:cubicBezTo>
                  </a:path>
                </a:pathLst>
              </a:custGeom>
              <a:noFill/>
              <a:ln w="57150">
                <a:solidFill>
                  <a:srgbClr val="2E7D32"/>
                </a:solidFill>
              </a:ln>
            </p:spPr>
          </p:sp>
          <p:sp>
            <p:nvSpPr>
              <p:cNvPr id="23" name="Freeform 23"/>
              <p:cNvSpPr/>
              <p:nvPr/>
            </p:nvSpPr>
            <p:spPr>
              <a:xfrm>
                <a:off x="6905625" y="2390775"/>
                <a:ext cx="171450" cy="114300"/>
              </a:xfrm>
              <a:custGeom>
                <a:avLst/>
                <a:gdLst/>
                <a:ahLst/>
                <a:cxnLst/>
                <a:rect l="l" t="t" r="r" b="b"/>
                <a:pathLst>
                  <a:path w="171450" h="114300">
                    <a:moveTo>
                      <a:pt x="0" y="57150"/>
                    </a:moveTo>
                    <a:lnTo>
                      <a:pt x="57150" y="114300"/>
                    </a:lnTo>
                    <a:lnTo>
                      <a:pt x="171450" y="0"/>
                    </a:lnTo>
                  </a:path>
                </a:pathLst>
              </a:custGeom>
              <a:noFill/>
              <a:ln w="57150">
                <a:solidFill>
                  <a:srgbClr val="2E7D32"/>
                </a:solidFill>
              </a:ln>
            </p:spPr>
          </p:sp>
        </p:grpSp>
        <p:sp>
          <p:nvSpPr>
            <p:cNvPr id="25" name="TextBox 25"/>
            <p:cNvSpPr txBox="1"/>
            <p:nvPr/>
          </p:nvSpPr>
          <p:spPr>
            <a:xfrm>
              <a:off x="6466332" y="2783205"/>
              <a:ext cx="2421636" cy="753618"/>
            </a:xfrm>
            <a:prstGeom prst="rect">
              <a:avLst/>
            </a:prstGeom>
            <a:noFill/>
            <a:ln>
              <a:noFill/>
            </a:ln>
          </p:spPr>
          <p:txBody>
            <a:bodyPr wrap="none" lIns="0" tIns="0" rIns="0" bIns="0" anchor="t" anchorCtr="0">
              <a:spAutoFit/>
            </a:bodyPr>
            <a:lstStyle/>
            <a:p>
              <a:pPr algn="l">
                <a:lnSpc>
                  <a:spcPts val="2700"/>
                </a:lnSpc>
              </a:pPr>
              <a:r>
                <a:rPr lang="zh-CN" sz="2100" b="1" dirty="0">
                  <a:solidFill>
                    <a:schemeClr val="accent1"/>
                  </a:solidFill>
                  <a:latin typeface="+mn-lt"/>
                  <a:ea typeface="+mn-ea"/>
                  <a:cs typeface="+mn-cs"/>
                </a:rPr>
                <a:t>全年未发生铁路交通</a:t>
              </a:r>
              <a:br/>
              <a:r>
                <a:rPr lang="zh-CN" sz="2100" b="1" dirty="0">
                  <a:solidFill>
                    <a:schemeClr val="accent1"/>
                  </a:solidFill>
                  <a:latin typeface="+mn-lt"/>
                  <a:ea typeface="+mn-ea"/>
                  <a:cs typeface="+mn-cs"/>
                </a:rPr>
                <a:t>特别重大、重大事故</a:t>
              </a:r>
            </a:p>
          </p:txBody>
        </p:sp>
        <p:sp>
          <p:nvSpPr>
            <p:cNvPr id="26" name="TextBox 26"/>
            <p:cNvSpPr txBox="1"/>
            <p:nvPr/>
          </p:nvSpPr>
          <p:spPr>
            <a:xfrm>
              <a:off x="6469380" y="3686175"/>
              <a:ext cx="226221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较大事故</a:t>
              </a:r>
              <a:r>
                <a:rPr lang="zh-CN" sz="1500" b="1" dirty="0">
                  <a:solidFill>
                    <a:schemeClr val="dk1"/>
                  </a:solidFill>
                  <a:latin typeface="+mn-lt"/>
                  <a:ea typeface="+mn-ea"/>
                  <a:cs typeface="+mn-cs"/>
                </a:rPr>
                <a:t>2件</a:t>
              </a:r>
              <a:r>
                <a:rPr lang="zh-CN" sz="1500" dirty="0">
                  <a:solidFill>
                    <a:schemeClr val="dk1"/>
                  </a:solidFill>
                  <a:latin typeface="+mn-lt"/>
                  <a:ea typeface="+mn-ea"/>
                  <a:cs typeface="+mn-cs"/>
                </a:rPr>
                <a:t>,与上年持平</a:t>
              </a:r>
            </a:p>
          </p:txBody>
        </p:sp>
        <p:sp>
          <p:nvSpPr>
            <p:cNvPr id="27" name="TextBox 27"/>
            <p:cNvSpPr txBox="1"/>
            <p:nvPr/>
          </p:nvSpPr>
          <p:spPr>
            <a:xfrm>
              <a:off x="6469380" y="4029075"/>
              <a:ext cx="306387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铁路交通事故死亡人数</a:t>
              </a:r>
              <a:r>
                <a:rPr lang="zh-CN" sz="1500" b="1" dirty="0">
                  <a:solidFill>
                    <a:srgbClr val="2E7D32"/>
                  </a:solidFill>
                  <a:latin typeface="+mn-lt"/>
                  <a:ea typeface="+mn-ea"/>
                  <a:cs typeface="+mn-cs"/>
                </a:rPr>
                <a:t>下降18.0%</a:t>
              </a:r>
            </a:p>
          </p:txBody>
        </p:sp>
        <p:sp>
          <p:nvSpPr>
            <p:cNvPr id="28" name="TextBox 28"/>
            <p:cNvSpPr txBox="1"/>
            <p:nvPr/>
          </p:nvSpPr>
          <p:spPr>
            <a:xfrm>
              <a:off x="6470904" y="4480560"/>
              <a:ext cx="34530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来源:国家铁路局《2024年铁道统计公报》第5页</a:t>
              </a:r>
            </a:p>
          </p:txBody>
        </p:sp>
      </p:grpSp>
      <p:grpSp>
        <p:nvGrpSpPr>
          <p:cNvPr id="33" name="footer"/>
          <p:cNvGrpSpPr/>
          <p:nvPr/>
        </p:nvGrpSpPr>
        <p:grpSpPr>
          <a:xfrm>
            <a:off x="603504" y="6438900"/>
            <a:ext cx="10984992" cy="333756"/>
            <a:chOff x="603504" y="6438900"/>
            <a:chExt cx="10984992" cy="333756"/>
          </a:xfrm>
        </p:grpSpPr>
        <p:sp>
          <p:nvSpPr>
            <p:cNvPr id="30" name="Line 30"/>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1" name="TextBox 31"/>
            <p:cNvSpPr txBox="1"/>
            <p:nvPr/>
          </p:nvSpPr>
          <p:spPr>
            <a:xfrm>
              <a:off x="603504" y="653796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32" name="TextBox 32"/>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350"/>
                                        <p:tgtEl>
                                          <p:spTgt spid="20"/>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grpSp>
        <p:nvGrpSpPr>
          <p:cNvPr id="29" name="!!bridge-photo"/>
          <p:cNvGrpSpPr/>
          <p:nvPr/>
        </p:nvGrpSpPr>
        <p:grpSpPr>
          <a:xfrm>
            <a:off x="0" y="0"/>
            <a:ext cx="12192000" cy="6858000"/>
            <a:chOff x="0" y="0"/>
            <a:chExt cx="12192000" cy="6858000"/>
          </a:xfrm>
        </p:grpSpPr>
        <p:pic>
          <p:nvPicPr>
            <p:cNvPr id="2" name="Image 2"/>
            <p:cNvPicPr>
              <a:picLocks noChangeAspect="1"/>
            </p:cNvPicPr>
            <p:nvPr/>
          </p:nvPicPr>
          <p:blipFill>
            <a:blip r:embed="rId2"/>
            <a:srcRect l="46" t="0" r="47" b="0"/>
            <a:stretch>
              <a:fillRect/>
            </a:stretch>
          </p:blipFill>
          <p:spPr>
            <a:xfrm>
              <a:off x="0" y="0"/>
              <a:ext cx="12192000" cy="6858000"/>
            </a:xfrm>
            <a:prstGeom prst="rect">
              <a:avLst/>
            </a:prstGeom>
          </p:spPr>
        </p:pic>
        <p:sp>
          <p:nvSpPr>
            <p:cNvPr id="3" name="p08-scrim-rect"/>
            <p:cNvSpPr/>
            <p:nvPr/>
          </p:nvSpPr>
          <p:spPr>
            <a:xfrm>
              <a:off x="0" y="0"/>
              <a:ext cx="12192000" cy="6858000"/>
            </a:xfrm>
            <a:prstGeom prst="rect">
              <a:avLst/>
            </a:prstGeom>
            <a:gradFill>
              <a:gsLst>
                <a:gs pos="0">
                  <a:srgbClr val="0A2A3D">
                    <a:alpha val="0"/>
                  </a:srgbClr>
                </a:gs>
                <a:gs pos="42000">
                  <a:srgbClr val="0A2A3D">
                    <a:alpha val="20000"/>
                  </a:srgbClr>
                </a:gs>
                <a:gs pos="100000">
                  <a:srgbClr val="0A2A3D">
                    <a:alpha val="86000"/>
                  </a:srgbClr>
                </a:gs>
              </a:gsLst>
              <a:lin ang="5400000" scaled="1"/>
            </a:gradFill>
            <a:ln>
              <a:noFill/>
            </a:ln>
          </p:spPr>
        </p:sp>
        <p:grpSp>
          <p:nvGrpSpPr>
            <p:cNvPr id="7" name="header"/>
            <p:cNvGrpSpPr/>
            <p:nvPr/>
          </p:nvGrpSpPr>
          <p:grpSpPr>
            <a:xfrm>
              <a:off x="594360" y="501968"/>
              <a:ext cx="7236714" cy="846772"/>
              <a:chOff x="594360" y="501968"/>
              <a:chExt cx="7236714" cy="846772"/>
            </a:xfrm>
          </p:grpSpPr>
          <p:sp>
            <p:nvSpPr>
              <p:cNvPr id="4" name="TextBox 4"/>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rgbClr val="E7EAF1"/>
                    </a:solidFill>
                    <a:latin typeface="+mn-lt"/>
                    <a:ea typeface="+mn-ea"/>
                    <a:cs typeface="+mn-cs"/>
                  </a:rPr>
                  <a:t>05 · 建设</a:t>
                </a:r>
              </a:p>
            </p:txBody>
          </p:sp>
          <p:sp>
            <p:nvSpPr>
              <p:cNvPr id="5" name="TextBox 5"/>
              <p:cNvSpPr txBox="1"/>
              <p:nvPr/>
            </p:nvSpPr>
            <p:spPr>
              <a:xfrm>
                <a:off x="594360" y="762000"/>
                <a:ext cx="7236714"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mj-lt"/>
                    <a:ea typeface="+mj-ea"/>
                    <a:cs typeface="+mj-cs"/>
                  </a:rPr>
                  <a:t>新线投产3113公里,路网质量同步提升</a:t>
                </a:r>
              </a:p>
            </p:txBody>
          </p:sp>
          <p:sp>
            <p:nvSpPr>
              <p:cNvPr id="6" name="Rectangle 6"/>
              <p:cNvSpPr/>
              <p:nvPr/>
            </p:nvSpPr>
            <p:spPr>
              <a:xfrm>
                <a:off x="609600" y="1219200"/>
                <a:ext cx="1333500" cy="47625"/>
              </a:xfrm>
              <a:prstGeom prst="rect">
                <a:avLst/>
              </a:prstGeom>
              <a:solidFill>
                <a:schemeClr val="accent2"/>
              </a:solidFill>
              <a:ln>
                <a:noFill/>
              </a:ln>
            </p:spPr>
          </p:sp>
        </p:grpSp>
        <p:grpSp>
          <p:nvGrpSpPr>
            <p:cNvPr id="16" name="construction-kpi"/>
            <p:cNvGrpSpPr/>
            <p:nvPr/>
          </p:nvGrpSpPr>
          <p:grpSpPr>
            <a:xfrm>
              <a:off x="590550" y="4260532"/>
              <a:ext cx="5898166" cy="1902524"/>
              <a:chOff x="590550" y="4260532"/>
              <a:chExt cx="5898166" cy="1902524"/>
            </a:xfrm>
          </p:grpSpPr>
          <p:sp>
            <p:nvSpPr>
              <p:cNvPr id="8" name="TextBox 8"/>
              <p:cNvSpPr txBox="1"/>
              <p:nvPr/>
            </p:nvSpPr>
            <p:spPr>
              <a:xfrm>
                <a:off x="601218" y="4260532"/>
                <a:ext cx="4225995"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投产新线3113公里,其中高速铁路2457公里</a:t>
                </a:r>
              </a:p>
            </p:txBody>
          </p:sp>
          <p:sp>
            <p:nvSpPr>
              <p:cNvPr id="9" name="TextBox 9"/>
              <p:cNvSpPr txBox="1"/>
              <p:nvPr/>
            </p:nvSpPr>
            <p:spPr>
              <a:xfrm>
                <a:off x="590550" y="4701540"/>
                <a:ext cx="1459687"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Consolas"/>
                    <a:ea typeface="Consolas"/>
                    <a:cs typeface="Consolas"/>
                  </a:rPr>
                  <a:t>8506</a:t>
                </a:r>
              </a:p>
            </p:txBody>
          </p:sp>
          <p:sp>
            <p:nvSpPr>
              <p:cNvPr id="10" name="TextBox 10"/>
              <p:cNvSpPr txBox="1"/>
              <p:nvPr/>
            </p:nvSpPr>
            <p:spPr>
              <a:xfrm>
                <a:off x="2430018" y="5041582"/>
                <a:ext cx="461010"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亿元</a:t>
                </a:r>
              </a:p>
            </p:txBody>
          </p:sp>
          <p:sp>
            <p:nvSpPr>
              <p:cNvPr id="11" name="TextBox 11"/>
              <p:cNvSpPr txBox="1"/>
              <p:nvPr/>
            </p:nvSpPr>
            <p:spPr>
              <a:xfrm>
                <a:off x="602742" y="5340668"/>
                <a:ext cx="2376297" cy="264033"/>
              </a:xfrm>
              <a:prstGeom prst="rect">
                <a:avLst/>
              </a:prstGeom>
              <a:noFill/>
              <a:ln>
                <a:noFill/>
              </a:ln>
            </p:spPr>
            <p:txBody>
              <a:bodyPr wrap="none" lIns="0" tIns="0" rIns="0" bIns="0" anchor="t" anchorCtr="0">
                <a:spAutoFit/>
              </a:bodyPr>
              <a:lstStyle/>
              <a:p>
                <a:pPr algn="l"/>
                <a:r>
                  <a:rPr lang="zh-CN" sz="1350" dirty="0">
                    <a:solidFill>
                      <a:srgbClr val="CFE3D5"/>
                    </a:solidFill>
                    <a:latin typeface="+mn-lt"/>
                    <a:ea typeface="+mn-ea"/>
                    <a:cs typeface="+mn-cs"/>
                  </a:rPr>
                  <a:t>全国铁路固定资产投资完成额</a:t>
                </a:r>
              </a:p>
            </p:txBody>
          </p:sp>
          <p:sp>
            <p:nvSpPr>
              <p:cNvPr id="12" name="TextBox 12"/>
              <p:cNvSpPr txBox="1"/>
              <p:nvPr/>
            </p:nvSpPr>
            <p:spPr>
              <a:xfrm>
                <a:off x="3600450" y="4701540"/>
                <a:ext cx="1459687"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Consolas"/>
                    <a:ea typeface="Consolas"/>
                    <a:cs typeface="Consolas"/>
                  </a:rPr>
                  <a:t>16.2</a:t>
                </a:r>
              </a:p>
            </p:txBody>
          </p:sp>
          <p:sp>
            <p:nvSpPr>
              <p:cNvPr id="13" name="TextBox 13"/>
              <p:cNvSpPr txBox="1"/>
              <p:nvPr/>
            </p:nvSpPr>
            <p:spPr>
              <a:xfrm>
                <a:off x="5439918" y="5041582"/>
                <a:ext cx="683133"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万公里</a:t>
                </a:r>
              </a:p>
            </p:txBody>
          </p:sp>
          <p:sp>
            <p:nvSpPr>
              <p:cNvPr id="14" name="TextBox 14"/>
              <p:cNvSpPr txBox="1"/>
              <p:nvPr/>
            </p:nvSpPr>
            <p:spPr>
              <a:xfrm>
                <a:off x="3612642" y="5340668"/>
                <a:ext cx="2876074" cy="264033"/>
              </a:xfrm>
              <a:prstGeom prst="rect">
                <a:avLst/>
              </a:prstGeom>
              <a:noFill/>
              <a:ln>
                <a:noFill/>
              </a:ln>
            </p:spPr>
            <p:txBody>
              <a:bodyPr wrap="none" lIns="0" tIns="0" rIns="0" bIns="0" anchor="t" anchorCtr="0">
                <a:spAutoFit/>
              </a:bodyPr>
              <a:lstStyle/>
              <a:p>
                <a:pPr algn="l"/>
                <a:r>
                  <a:rPr lang="zh-CN" sz="1350" dirty="0">
                    <a:solidFill>
                      <a:srgbClr val="CFE3D5"/>
                    </a:solidFill>
                    <a:latin typeface="+mn-lt"/>
                    <a:ea typeface="+mn-ea"/>
                    <a:cs typeface="+mn-cs"/>
                  </a:rPr>
                  <a:t>全国铁路营业里程(高铁4.8万公里)</a:t>
                </a:r>
              </a:p>
            </p:txBody>
          </p:sp>
          <p:sp>
            <p:nvSpPr>
              <p:cNvPr id="15" name="TextBox 15"/>
              <p:cNvSpPr txBox="1"/>
              <p:nvPr/>
            </p:nvSpPr>
            <p:spPr>
              <a:xfrm>
                <a:off x="603504" y="5928360"/>
                <a:ext cx="4874666" cy="234696"/>
              </a:xfrm>
              <a:prstGeom prst="rect">
                <a:avLst/>
              </a:prstGeom>
              <a:noFill/>
              <a:ln>
                <a:noFill/>
              </a:ln>
            </p:spPr>
            <p:txBody>
              <a:bodyPr wrap="none" lIns="0" tIns="0" rIns="0" bIns="0" anchor="t" anchorCtr="0">
                <a:spAutoFit/>
              </a:bodyPr>
              <a:lstStyle/>
              <a:p>
                <a:pPr algn="l"/>
                <a:r>
                  <a:rPr lang="zh-CN" sz="1200" dirty="0">
                    <a:solidFill>
                      <a:srgbClr val="CFE3D5"/>
                    </a:solidFill>
                    <a:latin typeface="+mn-lt"/>
                    <a:ea typeface="+mn-ea"/>
                    <a:cs typeface="+mn-cs"/>
                  </a:rPr>
                  <a:t>西部地区铁路营业里程6.6万公里 · 路网密度168.5公里/万平方公里</a:t>
                </a:r>
              </a:p>
            </p:txBody>
          </p:sp>
        </p:grpSp>
        <p:grpSp>
          <p:nvGrpSpPr>
            <p:cNvPr id="27" name="network-quality"/>
            <p:cNvGrpSpPr/>
            <p:nvPr/>
          </p:nvGrpSpPr>
          <p:grpSpPr>
            <a:xfrm>
              <a:off x="7231380" y="4254818"/>
              <a:ext cx="4358640" cy="1558766"/>
              <a:chOff x="7231380" y="4254818"/>
              <a:chExt cx="4358640" cy="1558766"/>
            </a:xfrm>
          </p:grpSpPr>
          <p:sp>
            <p:nvSpPr>
              <p:cNvPr id="17" name="TextBox 17"/>
              <p:cNvSpPr txBox="1"/>
              <p:nvPr/>
            </p:nvSpPr>
            <p:spPr>
              <a:xfrm>
                <a:off x="7232142" y="4254818"/>
                <a:ext cx="1849260" cy="264033"/>
              </a:xfrm>
              <a:prstGeom prst="rect">
                <a:avLst/>
              </a:prstGeom>
              <a:noFill/>
              <a:ln>
                <a:noFill/>
              </a:ln>
            </p:spPr>
            <p:txBody>
              <a:bodyPr wrap="none" lIns="0" tIns="0" rIns="0" bIns="0" anchor="t" anchorCtr="0">
                <a:spAutoFit/>
              </a:bodyPr>
              <a:lstStyle/>
              <a:p>
                <a:pPr algn="l"/>
                <a:r>
                  <a:rPr lang="zh-CN" sz="1350" dirty="0">
                    <a:solidFill>
                      <a:srgbClr val="CFE3D5"/>
                    </a:solidFill>
                    <a:latin typeface="+mn-lt"/>
                    <a:ea typeface="+mn-ea"/>
                    <a:cs typeface="+mn-cs"/>
                  </a:rPr>
                  <a:t>路网质量(依公报数字)</a:t>
                </a:r>
              </a:p>
            </p:txBody>
          </p:sp>
          <p:sp>
            <p:nvSpPr>
              <p:cNvPr id="18" name="TextBox 18"/>
              <p:cNvSpPr txBox="1"/>
              <p:nvPr/>
            </p:nvSpPr>
            <p:spPr>
              <a:xfrm>
                <a:off x="7231380" y="4600575"/>
                <a:ext cx="62103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复线率</a:t>
                </a:r>
              </a:p>
            </p:txBody>
          </p:sp>
          <p:sp>
            <p:nvSpPr>
              <p:cNvPr id="19" name="Rectangle 19"/>
              <p:cNvSpPr/>
              <p:nvPr/>
            </p:nvSpPr>
            <p:spPr>
              <a:xfrm>
                <a:off x="8191500" y="4610100"/>
                <a:ext cx="3390900" cy="228600"/>
              </a:xfrm>
              <a:prstGeom prst="roundRect">
                <a:avLst>
                  <a:gd name="adj" fmla="val 16667"/>
                </a:avLst>
              </a:prstGeom>
              <a:solidFill>
                <a:srgbClr val="FFFFFF">
                  <a:alpha val="20000"/>
                </a:srgbClr>
              </a:solidFill>
              <a:ln>
                <a:noFill/>
              </a:ln>
            </p:spPr>
          </p:sp>
          <p:sp>
            <p:nvSpPr>
              <p:cNvPr id="20" name="Rectangle 20"/>
              <p:cNvSpPr/>
              <p:nvPr/>
            </p:nvSpPr>
            <p:spPr>
              <a:xfrm>
                <a:off x="8191500" y="4610100"/>
                <a:ext cx="2061210" cy="228600"/>
              </a:xfrm>
              <a:prstGeom prst="roundRect">
                <a:avLst>
                  <a:gd name="adj" fmla="val 16667"/>
                </a:avLst>
              </a:prstGeom>
              <a:solidFill>
                <a:schemeClr val="accent3"/>
              </a:solidFill>
              <a:ln>
                <a:noFill/>
              </a:ln>
            </p:spPr>
          </p:sp>
          <p:sp>
            <p:nvSpPr>
              <p:cNvPr id="21" name="TextBox 21"/>
              <p:cNvSpPr txBox="1"/>
              <p:nvPr/>
            </p:nvSpPr>
            <p:spPr>
              <a:xfrm>
                <a:off x="10949302" y="4619625"/>
                <a:ext cx="640718"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60.8%</a:t>
                </a:r>
              </a:p>
            </p:txBody>
          </p:sp>
          <p:sp>
            <p:nvSpPr>
              <p:cNvPr id="22" name="TextBox 22"/>
              <p:cNvSpPr txBox="1"/>
              <p:nvPr/>
            </p:nvSpPr>
            <p:spPr>
              <a:xfrm>
                <a:off x="7231380" y="5095875"/>
                <a:ext cx="62103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电化率</a:t>
                </a:r>
              </a:p>
            </p:txBody>
          </p:sp>
          <p:sp>
            <p:nvSpPr>
              <p:cNvPr id="23" name="Rectangle 23"/>
              <p:cNvSpPr/>
              <p:nvPr/>
            </p:nvSpPr>
            <p:spPr>
              <a:xfrm>
                <a:off x="8191500" y="5105400"/>
                <a:ext cx="3390900" cy="228600"/>
              </a:xfrm>
              <a:prstGeom prst="roundRect">
                <a:avLst>
                  <a:gd name="adj" fmla="val 16667"/>
                </a:avLst>
              </a:prstGeom>
              <a:solidFill>
                <a:srgbClr val="FFFFFF">
                  <a:alpha val="20000"/>
                </a:srgbClr>
              </a:solidFill>
              <a:ln>
                <a:noFill/>
              </a:ln>
            </p:spPr>
          </p:sp>
          <p:sp>
            <p:nvSpPr>
              <p:cNvPr id="24" name="Rectangle 24"/>
              <p:cNvSpPr/>
              <p:nvPr/>
            </p:nvSpPr>
            <p:spPr>
              <a:xfrm>
                <a:off x="8191500" y="5105400"/>
                <a:ext cx="2585085" cy="228600"/>
              </a:xfrm>
              <a:prstGeom prst="roundRect">
                <a:avLst>
                  <a:gd name="adj" fmla="val 16667"/>
                </a:avLst>
              </a:prstGeom>
              <a:solidFill>
                <a:schemeClr val="accent2"/>
              </a:solidFill>
              <a:ln>
                <a:noFill/>
              </a:ln>
            </p:spPr>
          </p:sp>
          <p:sp>
            <p:nvSpPr>
              <p:cNvPr id="25" name="TextBox 25"/>
              <p:cNvSpPr txBox="1"/>
              <p:nvPr/>
            </p:nvSpPr>
            <p:spPr>
              <a:xfrm>
                <a:off x="10949302" y="5114925"/>
                <a:ext cx="640718"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76.2%</a:t>
                </a:r>
              </a:p>
            </p:txBody>
          </p:sp>
          <p:sp>
            <p:nvSpPr>
              <p:cNvPr id="26" name="TextBox 26"/>
              <p:cNvSpPr txBox="1"/>
              <p:nvPr/>
            </p:nvSpPr>
            <p:spPr>
              <a:xfrm>
                <a:off x="7233285" y="5593556"/>
                <a:ext cx="3222925" cy="220028"/>
              </a:xfrm>
              <a:prstGeom prst="rect">
                <a:avLst/>
              </a:prstGeom>
              <a:noFill/>
              <a:ln>
                <a:noFill/>
              </a:ln>
            </p:spPr>
            <p:txBody>
              <a:bodyPr wrap="none" lIns="0" tIns="0" rIns="0" bIns="0" anchor="t" anchorCtr="0">
                <a:spAutoFit/>
              </a:bodyPr>
              <a:lstStyle/>
              <a:p>
                <a:pPr algn="l"/>
                <a:r>
                  <a:rPr lang="zh-CN" sz="1120" dirty="0">
                    <a:solidFill>
                      <a:srgbClr val="CFE3D5"/>
                    </a:solidFill>
                    <a:latin typeface="+mn-lt"/>
                    <a:ea typeface="+mn-ea"/>
                    <a:cs typeface="+mn-cs"/>
                  </a:rPr>
                  <a:t>来源:国家铁路局《2024年铁道统计公报》第5页</a:t>
                </a:r>
              </a:p>
            </p:txBody>
          </p:sp>
        </p:grpSp>
        <p:sp>
          <p:nvSpPr>
            <p:cNvPr id="28" name="TextBox 28"/>
            <p:cNvSpPr txBox="1"/>
            <p:nvPr/>
          </p:nvSpPr>
          <p:spPr>
            <a:xfrm>
              <a:off x="8021610" y="6584156"/>
              <a:ext cx="3566505" cy="220028"/>
            </a:xfrm>
            <a:prstGeom prst="rect">
              <a:avLst/>
            </a:prstGeom>
            <a:noFill/>
            <a:ln>
              <a:noFill/>
            </a:ln>
          </p:spPr>
          <p:txBody>
            <a:bodyPr wrap="none" lIns="0" tIns="0" rIns="0" bIns="0" anchor="t" anchorCtr="0">
              <a:spAutoFit/>
            </a:bodyPr>
            <a:lstStyle/>
            <a:p>
              <a:pPr algn="r"/>
              <a:r>
                <a:rPr lang="zh-CN" sz="1120" dirty="0">
                  <a:solidFill>
                    <a:schemeClr val="accent6"/>
                  </a:solidFill>
                  <a:latin typeface="+mn-lt"/>
                  <a:ea typeface="+mn-ea"/>
                  <a:cs typeface="+mn-cs"/>
                </a:rPr>
                <a:t>图片:</a:t>
              </a:r>
              <a:r>
                <a:rPr lang="en-US" sz="1120" u="sng" dirty="0">
                  <a:solidFill>
                    <a:schemeClr val="accent6"/>
                  </a:solidFill>
                  <a:latin typeface="+mn-lt"/>
                  <a:ea typeface="+mn-ea"/>
                  <a:cs typeface="+mn-cs"/>
                  <a:hlinkClick r:id="rId3"/>
                </a:rPr>
                <a:t>MNXANL, CC BY-SA 4.0, Wikimedia Commons</a:t>
              </a:r>
            </a:p>
          </p:txBody>
        </p:sp>
      </p:grpSp>
    </p:spTree>
  </p:cSld>
  <p:clrMapOvr>
    <a:masterClrMapping/>
  </p:clrMapOvr>
  <p:transition p14:dur="400">
    <p:fade/>
  </p:transition>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3431838" y="616268"/>
            <a:ext cx="5328323" cy="647699"/>
            <a:chOff x="3431838" y="616268"/>
            <a:chExt cx="5328323" cy="647699"/>
          </a:xfrm>
        </p:grpSpPr>
        <p:sp>
          <p:nvSpPr>
            <p:cNvPr id="2" name="TextBox 2"/>
            <p:cNvSpPr txBox="1"/>
            <p:nvPr/>
          </p:nvSpPr>
          <p:spPr>
            <a:xfrm>
              <a:off x="5632721" y="616268"/>
              <a:ext cx="926559" cy="264033"/>
            </a:xfrm>
            <a:prstGeom prst="rect">
              <a:avLst/>
            </a:prstGeom>
            <a:noFill/>
            <a:ln>
              <a:noFill/>
            </a:ln>
          </p:spPr>
          <p:txBody>
            <a:bodyPr wrap="none" lIns="0" tIns="0" rIns="0" bIns="0" anchor="t" anchorCtr="0">
              <a:spAutoFit/>
            </a:bodyPr>
            <a:lstStyle/>
            <a:p>
              <a:pPr algn="ctr"/>
              <a:r>
                <a:rPr lang="zh-CN" sz="1350" b="1" spc="150" dirty="0">
                  <a:solidFill>
                    <a:schemeClr val="accent2"/>
                  </a:solidFill>
                  <a:latin typeface="+mn-lt"/>
                  <a:ea typeface="+mn-ea"/>
                  <a:cs typeface="+mn-cs"/>
                </a:rPr>
                <a:t>06 · 现场</a:t>
              </a:r>
            </a:p>
          </p:txBody>
        </p:sp>
        <p:sp>
          <p:nvSpPr>
            <p:cNvPr id="3" name="TextBox 3"/>
            <p:cNvSpPr txBox="1"/>
            <p:nvPr/>
          </p:nvSpPr>
          <p:spPr>
            <a:xfrm>
              <a:off x="3431838" y="823912"/>
              <a:ext cx="5328323" cy="440055"/>
            </a:xfrm>
            <a:prstGeom prst="rect">
              <a:avLst/>
            </a:prstGeom>
            <a:noFill/>
            <a:ln>
              <a:noFill/>
            </a:ln>
          </p:spPr>
          <p:txBody>
            <a:bodyPr wrap="none" lIns="0" tIns="0" rIns="0" bIns="0" anchor="t" anchorCtr="0">
              <a:spAutoFit/>
            </a:bodyPr>
            <a:lstStyle/>
            <a:p>
              <a:pPr algn="ctr"/>
              <a:r>
                <a:rPr lang="zh-CN" sz="2250" b="1" dirty="0">
                  <a:solidFill>
                    <a:schemeClr val="accent1"/>
                  </a:solidFill>
                  <a:latin typeface="+mj-lt"/>
                  <a:ea typeface="+mj-ea"/>
                  <a:cs typeface="+mj-cs"/>
                </a:rPr>
                <a:t>丹昆特大桥:高铁网络建设的一处剖面</a:t>
              </a:r>
            </a:p>
          </p:txBody>
        </p:sp>
      </p:grpSp>
      <p:grpSp>
        <p:nvGrpSpPr>
          <p:cNvPr id="9" name="!!bridge-photo"/>
          <p:cNvGrpSpPr/>
          <p:nvPr/>
        </p:nvGrpSpPr>
        <p:grpSpPr>
          <a:xfrm>
            <a:off x="3009900" y="1409700"/>
            <a:ext cx="6172200" cy="4305300"/>
            <a:chOff x="3009900" y="1409700"/>
            <a:chExt cx="6172200" cy="4305300"/>
          </a:xfrm>
        </p:grpSpPr>
        <p:sp>
          <p:nvSpPr>
            <p:cNvPr id="5" name="Rectangle 5"/>
            <p:cNvSpPr/>
            <p:nvPr/>
          </p:nvSpPr>
          <p:spPr>
            <a:xfrm>
              <a:off x="3009900" y="1409700"/>
              <a:ext cx="6172200" cy="4305300"/>
            </a:xfrm>
            <a:prstGeom prst="rect">
              <a:avLst/>
            </a:prstGeom>
            <a:solidFill>
              <a:srgbClr val="0A2A3D"/>
            </a:solidFill>
            <a:ln>
              <a:noFill/>
            </a:ln>
          </p:spPr>
        </p:sp>
        <p:pic>
          <p:nvPicPr>
            <p:cNvPr id="6" name="Image 6"/>
            <p:cNvPicPr>
              <a:picLocks noChangeAspect="1"/>
            </p:cNvPicPr>
            <p:nvPr/>
          </p:nvPicPr>
          <p:blipFill>
            <a:blip r:embed="rId2"/>
            <a:srcRect l="9716" t="0" r="9717" b="0"/>
            <a:stretch>
              <a:fillRect/>
            </a:stretch>
          </p:blipFill>
          <p:spPr>
            <a:xfrm>
              <a:off x="3009900" y="1409700"/>
              <a:ext cx="6172200" cy="4305300"/>
            </a:xfrm>
            <a:prstGeom prst="rect">
              <a:avLst/>
            </a:prstGeom>
          </p:spPr>
        </p:pic>
        <p:sp>
          <p:nvSpPr>
            <p:cNvPr id="7" name="Rectangle 7"/>
            <p:cNvSpPr/>
            <p:nvPr/>
          </p:nvSpPr>
          <p:spPr>
            <a:xfrm>
              <a:off x="3009900" y="1409700"/>
              <a:ext cx="6172200" cy="4305300"/>
            </a:xfrm>
            <a:prstGeom prst="rect">
              <a:avLst/>
            </a:prstGeom>
            <a:gradFill>
              <a:gsLst>
                <a:gs pos="0">
                  <a:srgbClr val="08152A">
                    <a:alpha val="0"/>
                  </a:srgbClr>
                </a:gs>
                <a:gs pos="70000">
                  <a:srgbClr val="08152A">
                    <a:alpha val="6000"/>
                  </a:srgbClr>
                </a:gs>
                <a:gs pos="100000">
                  <a:srgbClr val="08152A">
                    <a:alpha val="55000"/>
                  </a:srgbClr>
                </a:gs>
              </a:gsLst>
              <a:lin ang="5400000" scaled="1"/>
            </a:gradFill>
            <a:ln>
              <a:noFill/>
            </a:ln>
          </p:spPr>
        </p:sp>
        <p:sp>
          <p:nvSpPr>
            <p:cNvPr id="8" name="TextBox 8"/>
            <p:cNvSpPr txBox="1"/>
            <p:nvPr/>
          </p:nvSpPr>
          <p:spPr>
            <a:xfrm>
              <a:off x="3231642" y="5207318"/>
              <a:ext cx="186879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京沪高铁 · 丹昆特大桥</a:t>
              </a:r>
            </a:p>
          </p:txBody>
        </p:sp>
      </p:grpSp>
      <p:grpSp>
        <p:nvGrpSpPr>
          <p:cNvPr id="11" name="bridge-caption"/>
          <p:cNvGrpSpPr/>
          <p:nvPr/>
        </p:nvGrpSpPr>
        <p:grpSpPr>
          <a:xfrm>
            <a:off x="3581933" y="5947410"/>
            <a:ext cx="5028133" cy="234696"/>
            <a:chOff x="3581933" y="5947410"/>
            <a:chExt cx="5028133" cy="234696"/>
          </a:xfrm>
        </p:grpSpPr>
        <p:sp>
          <p:nvSpPr>
            <p:cNvPr id="10" name="TextBox 10"/>
            <p:cNvSpPr txBox="1"/>
            <p:nvPr/>
          </p:nvSpPr>
          <p:spPr>
            <a:xfrm>
              <a:off x="3581933" y="5947410"/>
              <a:ext cx="5028133"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背景资料(非公报数字):全长164.851公里,曾为世界最长高铁桥梁之一</a:t>
              </a:r>
            </a:p>
          </p:txBody>
        </p:sp>
      </p:grpSp>
      <p:sp>
        <p:nvSpPr>
          <p:cNvPr id="12" name="TextBox 12"/>
          <p:cNvSpPr txBox="1"/>
          <p:nvPr/>
        </p:nvSpPr>
        <p:spPr>
          <a:xfrm>
            <a:off x="8021610" y="6584156"/>
            <a:ext cx="3566505"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图片:</a:t>
            </a:r>
            <a:r>
              <a:rPr lang="en-US" sz="1120" u="sng" dirty="0">
                <a:solidFill>
                  <a:schemeClr val="accent5"/>
                </a:solidFill>
                <a:latin typeface="+mn-lt"/>
                <a:ea typeface="+mn-ea"/>
                <a:cs typeface="+mn-cs"/>
                <a:hlinkClick r:id="rId3"/>
              </a:rPr>
              <a:t>MNXANL, CC BY-SA 4.0, Wikimedia Commons</a:t>
            </a:r>
          </a:p>
        </p:txBody>
      </p:sp>
    </p:spTree>
  </p:cSld>
  <p:clrMapOvr>
    <a:masterClrMapping/>
  </p:clrMapOvr>
  <mc:AlternateContent>
    <mc:Choice Requires="p159">
      <p:transition p14:dur="800">
        <p159:morph option="byObject"/>
      </p:transition>
    </mc:Choice>
    <mc:Fallback>
      <p:transition>
        <p:fade/>
      </p:transition>
    </mc:Fallback>
  </mc:AlternateContent>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7368997" cy="846772"/>
            <a:chOff x="594360" y="501968"/>
            <a:chExt cx="7368997" cy="846772"/>
          </a:xfrm>
        </p:grpSpPr>
        <p:sp>
          <p:nvSpPr>
            <p:cNvPr id="2" name="TextBox 2"/>
            <p:cNvSpPr txBox="1"/>
            <p:nvPr/>
          </p:nvSpPr>
          <p:spPr>
            <a:xfrm>
              <a:off x="602742" y="5019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07 · 装备</a:t>
              </a:r>
            </a:p>
          </p:txBody>
        </p:sp>
        <p:sp>
          <p:nvSpPr>
            <p:cNvPr id="3" name="TextBox 3"/>
            <p:cNvSpPr txBox="1"/>
            <p:nvPr/>
          </p:nvSpPr>
          <p:spPr>
            <a:xfrm>
              <a:off x="594360" y="762000"/>
              <a:ext cx="736899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动车组保有量达4806标准组、38448辆</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aphicFrame>
        <p:nvGraphicFramePr>
          <p:cNvPr id="6" name="fleet-table"/>
          <p:cNvGraphicFramePr>
            <a:graphicFrameLocks noGrp="1"/>
          </p:cNvGraphicFramePr>
          <p:nvPr/>
        </p:nvGraphicFramePr>
        <p:xfrm>
          <a:off x="609600" y="1809750"/>
          <a:ext cx="5334000" cy="2667000"/>
        </p:xfrm>
        <a:graphic>
          <a:graphicData uri="http://schemas.openxmlformats.org/drawingml/2006/table">
            <a:tbl>
              <a:tblPr firstRow="1" bandRow="1">
                <a:tableStyleId>{5C22544A-7EE6-4342-B048-85BDC9FD1C3A}</a:tableStyleId>
              </a:tblPr>
              <a:tblGrid>
                <a:gridCol w="2667000"/>
                <a:gridCol w="2667000"/>
              </a:tblGrid>
              <a:tr h="381000">
                <a:tc>
                  <a:txBody>
                    <a:bodyPr/>
                    <a:lstStyle/>
                    <a:p>
                      <a:pPr/>
                      <a:r>
                        <a:rPr lang="zh-CN" sz="1350" b="1">
                          <a:solidFill>
                            <a:srgbClr val="FFFFFF"/>
                          </a:solidFill>
                          <a:latin typeface="Microsoft YaHei"/>
                          <a:ea typeface="Microsoft YaHei"/>
                          <a:cs typeface="Microsoft YaHei"/>
                        </a:rPr>
                        <a:t>指标</a:t>
                      </a:r>
                    </a:p>
                  </a:txBody>
                  <a:tcPr anchor="ctr" marL="76200" marR="76200" marT="70485" marB="70485">
                    <a:solidFill>
                      <a:schemeClr val="accent1"/>
                    </a:solidFill>
                  </a:tcPr>
                </a:tc>
                <a:tc>
                  <a:txBody>
                    <a:bodyPr/>
                    <a:lstStyle/>
                    <a:p>
                      <a:pPr algn="r"/>
                      <a:r>
                        <a:rPr lang="zh-CN" sz="1350" b="1">
                          <a:solidFill>
                            <a:srgbClr val="FFFFFF"/>
                          </a:solidFill>
                          <a:latin typeface="Microsoft YaHei"/>
                          <a:ea typeface="Microsoft YaHei"/>
                          <a:cs typeface="Microsoft YaHei"/>
                        </a:rPr>
                        <a:t>数值</a:t>
                      </a:r>
                    </a:p>
                  </a:txBody>
                  <a:tcPr anchor="ctr" marL="76200" marR="76200" marT="70485" marB="70485">
                    <a:solidFill>
                      <a:schemeClr val="accent1"/>
                    </a:solidFill>
                  </a:tcPr>
                </a:tc>
              </a:tr>
              <a:tr h="381000">
                <a:tc>
                  <a:txBody>
                    <a:bodyPr/>
                    <a:lstStyle/>
                    <a:p>
                      <a:pPr/>
                      <a:r>
                        <a:rPr lang="zh-CN" sz="1350" b="1">
                          <a:solidFill>
                            <a:srgbClr val="1F2937"/>
                          </a:solidFill>
                          <a:latin typeface="Microsoft YaHei"/>
                          <a:ea typeface="Microsoft YaHei"/>
                          <a:cs typeface="Microsoft YaHei"/>
                        </a:rPr>
                        <a:t>机车拥有量</a:t>
                      </a:r>
                    </a:p>
                  </a:txBody>
                  <a:tcPr anchor="ctr" marL="76200" marR="76200" marT="70485" marB="70485">
                    <a:noFill/>
                  </a:tcPr>
                </a:tc>
                <a:tc>
                  <a:txBody>
                    <a:bodyPr/>
                    <a:lstStyle/>
                    <a:p>
                      <a:pPr algn="r"/>
                      <a:r>
                        <a:rPr lang="zh-CN" sz="1350" b="1">
                          <a:solidFill>
                            <a:srgbClr val="1F2937"/>
                          </a:solidFill>
                          <a:latin typeface="Microsoft YaHei"/>
                          <a:ea typeface="Microsoft YaHei"/>
                          <a:cs typeface="Microsoft YaHei"/>
                        </a:rPr>
                        <a:t>2.25万台</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其中 内燃机车</a:t>
                      </a:r>
                    </a:p>
                  </a:txBody>
                  <a:tcPr anchor="ctr" marL="76200" marR="76200" marT="70485" marB="70485">
                    <a:noFill/>
                  </a:tcPr>
                </a:tc>
                <a:tc>
                  <a:txBody>
                    <a:bodyPr/>
                    <a:lstStyle/>
                    <a:p>
                      <a:pPr algn="r"/>
                      <a:r>
                        <a:rPr lang="zh-CN" sz="1350" b="0">
                          <a:solidFill>
                            <a:schemeClr val="accent5"/>
                          </a:solidFill>
                          <a:latin typeface="Microsoft YaHei"/>
                          <a:ea typeface="Microsoft YaHei"/>
                          <a:cs typeface="Microsoft YaHei"/>
                        </a:rPr>
                        <a:t>0.78万台</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其中 电力机车</a:t>
                      </a:r>
                    </a:p>
                  </a:txBody>
                  <a:tcPr anchor="ctr" marL="76200" marR="76200" marT="70485" marB="70485">
                    <a:noFill/>
                  </a:tcPr>
                </a:tc>
                <a:tc>
                  <a:txBody>
                    <a:bodyPr/>
                    <a:lstStyle/>
                    <a:p>
                      <a:pPr algn="r"/>
                      <a:r>
                        <a:rPr lang="zh-CN" sz="1350" b="0">
                          <a:solidFill>
                            <a:schemeClr val="accent5"/>
                          </a:solidFill>
                          <a:latin typeface="Microsoft YaHei"/>
                          <a:ea typeface="Microsoft YaHei"/>
                          <a:cs typeface="Microsoft YaHei"/>
                        </a:rPr>
                        <a:t>1.47万台</a:t>
                      </a:r>
                    </a:p>
                  </a:txBody>
                  <a:tcPr anchor="ctr" marL="76200" marR="76200" marT="70485" marB="70485">
                    <a:noFill/>
                  </a:tcPr>
                </a:tc>
              </a:tr>
              <a:tr h="381000">
                <a:tc>
                  <a:txBody>
                    <a:bodyPr/>
                    <a:lstStyle/>
                    <a:p>
                      <a:pPr/>
                      <a:r>
                        <a:rPr lang="zh-CN" sz="1350" b="1">
                          <a:solidFill>
                            <a:srgbClr val="1F2937"/>
                          </a:solidFill>
                          <a:latin typeface="Microsoft YaHei"/>
                          <a:ea typeface="Microsoft YaHei"/>
                          <a:cs typeface="Microsoft YaHei"/>
                        </a:rPr>
                        <a:t>客车拥有量</a:t>
                      </a:r>
                    </a:p>
                  </a:txBody>
                  <a:tcPr anchor="ctr" marL="76200" marR="76200" marT="70485" marB="70485">
                    <a:noFill/>
                  </a:tcPr>
                </a:tc>
                <a:tc>
                  <a:txBody>
                    <a:bodyPr/>
                    <a:lstStyle/>
                    <a:p>
                      <a:pPr algn="r"/>
                      <a:r>
                        <a:rPr lang="zh-CN" sz="1350" b="1">
                          <a:solidFill>
                            <a:srgbClr val="1F2937"/>
                          </a:solidFill>
                          <a:latin typeface="Microsoft YaHei"/>
                          <a:ea typeface="Microsoft YaHei"/>
                          <a:cs typeface="Microsoft YaHei"/>
                        </a:rPr>
                        <a:t>8.1万辆</a:t>
                      </a:r>
                    </a:p>
                  </a:txBody>
                  <a:tcPr anchor="ctr" marL="76200" marR="76200" marT="70485" marB="70485">
                    <a:noFill/>
                  </a:tcPr>
                </a:tc>
              </a:tr>
              <a:tr h="381000">
                <a:tc>
                  <a:txBody>
                    <a:bodyPr/>
                    <a:lstStyle/>
                    <a:p>
                      <a:pPr/>
                      <a:r>
                        <a:rPr lang="zh-CN" sz="1350" b="0">
                          <a:solidFill>
                            <a:schemeClr val="accent5"/>
                          </a:solidFill>
                          <a:latin typeface="Microsoft YaHei"/>
                          <a:ea typeface="Microsoft YaHei"/>
                          <a:cs typeface="Microsoft YaHei"/>
                        </a:rPr>
                        <a:t>其中 动车组</a:t>
                      </a:r>
                    </a:p>
                  </a:txBody>
                  <a:tcPr anchor="ctr" marL="76200" marR="76200" marT="70485" marB="70485">
                    <a:noFill/>
                  </a:tcPr>
                </a:tc>
                <a:tc>
                  <a:txBody>
                    <a:bodyPr/>
                    <a:lstStyle/>
                    <a:p>
                      <a:pPr algn="r"/>
                      <a:r>
                        <a:rPr lang="zh-CN" sz="1350" b="0">
                          <a:solidFill>
                            <a:schemeClr val="accent5"/>
                          </a:solidFill>
                          <a:latin typeface="Microsoft YaHei"/>
                          <a:ea typeface="Microsoft YaHei"/>
                          <a:cs typeface="Microsoft YaHei"/>
                        </a:rPr>
                        <a:t>4806标准组、38448辆</a:t>
                      </a:r>
                    </a:p>
                  </a:txBody>
                  <a:tcPr anchor="ctr" marL="76200" marR="76200" marT="70485" marB="70485">
                    <a:noFill/>
                  </a:tcPr>
                </a:tc>
              </a:tr>
              <a:tr h="381000">
                <a:tc>
                  <a:txBody>
                    <a:bodyPr/>
                    <a:lstStyle/>
                    <a:p>
                      <a:pPr/>
                      <a:r>
                        <a:rPr lang="zh-CN" sz="1350" b="1">
                          <a:solidFill>
                            <a:srgbClr val="1F2937"/>
                          </a:solidFill>
                          <a:latin typeface="Microsoft YaHei"/>
                          <a:ea typeface="Microsoft YaHei"/>
                          <a:cs typeface="Microsoft YaHei"/>
                        </a:rPr>
                        <a:t>货车拥有量</a:t>
                      </a:r>
                    </a:p>
                  </a:txBody>
                  <a:tcPr anchor="ctr" marL="76200" marR="76200" marT="70485" marB="70485">
                    <a:noFill/>
                  </a:tcPr>
                </a:tc>
                <a:tc>
                  <a:txBody>
                    <a:bodyPr/>
                    <a:lstStyle/>
                    <a:p>
                      <a:pPr algn="r"/>
                      <a:r>
                        <a:rPr lang="zh-CN" sz="1350" b="1">
                          <a:solidFill>
                            <a:srgbClr val="1F2937"/>
                          </a:solidFill>
                          <a:latin typeface="Microsoft YaHei"/>
                          <a:ea typeface="Microsoft YaHei"/>
                          <a:cs typeface="Microsoft YaHei"/>
                        </a:rPr>
                        <a:t>101.9万辆</a:t>
                      </a:r>
                    </a:p>
                  </a:txBody>
                  <a:tcPr anchor="ctr" marL="76200" marR="76200" marT="70485" marB="70485">
                    <a:noFill/>
                  </a:tcPr>
                </a:tc>
              </a:tr>
            </a:tbl>
          </a:graphicData>
        </a:graphic>
      </p:graphicFrame>
      <p:sp>
        <p:nvSpPr>
          <p:cNvPr id="7" name="Freeform 7"/>
          <p:cNvSpPr/>
          <p:nvPr/>
        </p:nvSpPr>
        <p:spPr>
          <a:xfrm>
            <a:off x="5943600" y="2571750"/>
            <a:ext cx="228600" cy="762000"/>
          </a:xfrm>
          <a:prstGeom prst="leftBrace">
            <a:avLst/>
          </a:prstGeom>
          <a:noFill/>
          <a:ln w="19050">
            <a:solidFill>
              <a:schemeClr val="accent1"/>
            </a:solidFill>
          </a:ln>
        </p:spPr>
      </p:sp>
      <p:grpSp>
        <p:nvGrpSpPr>
          <p:cNvPr id="9" name="brace-label"/>
          <p:cNvGrpSpPr/>
          <p:nvPr/>
        </p:nvGrpSpPr>
        <p:grpSpPr>
          <a:xfrm>
            <a:off x="6243066" y="2896552"/>
            <a:ext cx="576072" cy="205359"/>
            <a:chOff x="6243066" y="2896552"/>
            <a:chExt cx="576072" cy="205359"/>
          </a:xfrm>
        </p:grpSpPr>
        <p:sp>
          <p:nvSpPr>
            <p:cNvPr id="8" name="TextBox 8"/>
            <p:cNvSpPr txBox="1"/>
            <p:nvPr/>
          </p:nvSpPr>
          <p:spPr>
            <a:xfrm>
              <a:off x="6243066" y="2896552"/>
              <a:ext cx="57607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机车合计</a:t>
              </a:r>
            </a:p>
          </p:txBody>
        </p:sp>
      </p:grpSp>
      <p:grpSp>
        <p:nvGrpSpPr>
          <p:cNvPr id="14" name="!!train-badge"/>
          <p:cNvGrpSpPr/>
          <p:nvPr/>
        </p:nvGrpSpPr>
        <p:grpSpPr>
          <a:xfrm>
            <a:off x="6858000" y="1809750"/>
            <a:ext cx="4114800" cy="3260884"/>
            <a:chOff x="6858000" y="1809750"/>
            <a:chExt cx="4114800" cy="3260884"/>
          </a:xfrm>
        </p:grpSpPr>
        <p:pic>
          <p:nvPicPr>
            <p:cNvPr id="10" name="Image 10"/>
            <p:cNvPicPr>
              <a:picLocks noChangeAspect="1"/>
            </p:cNvPicPr>
            <p:nvPr/>
          </p:nvPicPr>
          <p:blipFill>
            <a:blip r:embed="rId2"/>
            <a:srcRect l="7647" t="0" r="7647" b="0"/>
            <a:stretch>
              <a:fillRect/>
            </a:stretch>
          </p:blipFill>
          <p:spPr>
            <a:xfrm>
              <a:off x="6858000" y="1809750"/>
              <a:ext cx="4114800" cy="3238500"/>
            </a:xfrm>
            <a:prstGeom prst="roundRect">
              <a:avLst>
                <a:gd name="adj" fmla="val 4705"/>
              </a:avLst>
            </a:prstGeom>
          </p:spPr>
        </p:pic>
        <p:sp>
          <p:nvSpPr>
            <p:cNvPr id="11" name="Rectangle 11"/>
            <p:cNvSpPr/>
            <p:nvPr/>
          </p:nvSpPr>
          <p:spPr>
            <a:xfrm>
              <a:off x="6858000" y="1809750"/>
              <a:ext cx="4114800" cy="3238500"/>
            </a:xfrm>
            <a:prstGeom prst="roundRect">
              <a:avLst>
                <a:gd name="adj" fmla="val 4706"/>
              </a:avLst>
            </a:prstGeom>
            <a:gradFill>
              <a:gsLst>
                <a:gs pos="0">
                  <a:srgbClr val="08152A">
                    <a:alpha val="0"/>
                  </a:srgbClr>
                </a:gs>
                <a:gs pos="65000">
                  <a:srgbClr val="08152A">
                    <a:alpha val="8000"/>
                  </a:srgbClr>
                </a:gs>
                <a:gs pos="100000">
                  <a:srgbClr val="08152A">
                    <a:alpha val="60000"/>
                  </a:srgbClr>
                </a:gs>
              </a:gsLst>
              <a:lin ang="5400000" scaled="1"/>
            </a:gradFill>
            <a:ln>
              <a:noFill/>
            </a:ln>
          </p:spPr>
        </p:sp>
        <p:sp>
          <p:nvSpPr>
            <p:cNvPr id="12" name="TextBox 12"/>
            <p:cNvSpPr txBox="1"/>
            <p:nvPr/>
          </p:nvSpPr>
          <p:spPr>
            <a:xfrm>
              <a:off x="7079742" y="4616768"/>
              <a:ext cx="110413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复兴号动车组</a:t>
              </a:r>
            </a:p>
          </p:txBody>
        </p:sp>
        <p:sp>
          <p:nvSpPr>
            <p:cNvPr id="13" name="TextBox 13"/>
            <p:cNvSpPr txBox="1"/>
            <p:nvPr/>
          </p:nvSpPr>
          <p:spPr>
            <a:xfrm>
              <a:off x="7080885" y="4850606"/>
              <a:ext cx="2028820" cy="220028"/>
            </a:xfrm>
            <a:prstGeom prst="rect">
              <a:avLst/>
            </a:prstGeom>
            <a:noFill/>
            <a:ln>
              <a:noFill/>
            </a:ln>
          </p:spPr>
          <p:txBody>
            <a:bodyPr wrap="none" lIns="0" tIns="0" rIns="0" bIns="0" anchor="t" anchorCtr="0">
              <a:spAutoFit/>
            </a:bodyPr>
            <a:lstStyle/>
            <a:p>
              <a:pPr algn="l"/>
              <a:r>
                <a:rPr lang="zh-CN" sz="1120" dirty="0">
                  <a:solidFill>
                    <a:srgbClr val="E7EAF1"/>
                  </a:solidFill>
                  <a:latin typeface="+mn-lt"/>
                  <a:ea typeface="+mn-ea"/>
                  <a:cs typeface="+mn-cs"/>
                </a:rPr>
                <a:t>图片:</a:t>
              </a:r>
              <a:r>
                <a:rPr lang="en-US" sz="1120" u="sng" dirty="0">
                  <a:solidFill>
                    <a:srgbClr val="E7EAF1"/>
                  </a:solidFill>
                  <a:latin typeface="+mn-lt"/>
                  <a:ea typeface="+mn-ea"/>
                  <a:cs typeface="+mn-cs"/>
                  <a:hlinkClick r:id="rId3"/>
                </a:rPr>
                <a:t>N509FZ, CC BY-SA 4.0</a:t>
              </a:r>
            </a:p>
          </p:txBody>
        </p:sp>
      </p:grpSp>
      <p:grpSp>
        <p:nvGrpSpPr>
          <p:cNvPr id="18" name="footer"/>
          <p:cNvGrpSpPr/>
          <p:nvPr/>
        </p:nvGrpSpPr>
        <p:grpSpPr>
          <a:xfrm>
            <a:off x="603504" y="6305550"/>
            <a:ext cx="10984992" cy="333756"/>
            <a:chOff x="603504" y="6305550"/>
            <a:chExt cx="10984992" cy="333756"/>
          </a:xfrm>
        </p:grpSpPr>
        <p:sp>
          <p:nvSpPr>
            <p:cNvPr id="15" name="Line 15"/>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TextBox 16"/>
            <p:cNvSpPr txBox="1"/>
            <p:nvPr/>
          </p:nvSpPr>
          <p:spPr>
            <a:xfrm>
              <a:off x="603504" y="6404610"/>
              <a:ext cx="363077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来源:国家铁路局《2024年铁道统计公报》第5-6页</a:t>
              </a:r>
            </a:p>
          </p:txBody>
        </p:sp>
        <p:sp>
          <p:nvSpPr>
            <p:cNvPr id="17" name="TextBox 17"/>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childTnLst>
                          </p:cTn>
                        </p:par>
                        <p:par>
                          <p:cTn id="8" fill="hold">
                            <p:stCondLst>
                              <p:cond delay="350"/>
                            </p:stCondLst>
                            <p:childTnLst>
                              <p:par>
                                <p:cT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1100"/>
                            </p:stCondLst>
                            <p:childTnLst>
                              <p:par>
                                <p:cTn id="13" presetID="10" presetClass="entr" presetSubtype="0" fill="hold" grpId="0" nodeType="after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childTnLst>
                          </p:cTn>
                        </p:par>
                        <p:par>
                          <p:cTn id="16" fill="hold">
                            <p:stCondLst>
                              <p:cond delay="1850"/>
                            </p:stCondLst>
                            <p:childTnLst>
                              <p:par>
                                <p:cTn id="17" presetID="10" presetClass="entr" presetSubtype="0" fill="hold" grpId="0" nodeType="after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header"/>
          <p:cNvGrpSpPr/>
          <p:nvPr/>
        </p:nvGrpSpPr>
        <p:grpSpPr>
          <a:xfrm>
            <a:off x="598170" y="578168"/>
            <a:ext cx="4688243" cy="685799"/>
            <a:chOff x="598170" y="578168"/>
            <a:chExt cx="4688243" cy="685799"/>
          </a:xfrm>
        </p:grpSpPr>
        <p:sp>
          <p:nvSpPr>
            <p:cNvPr id="2" name="TextBox 2"/>
            <p:cNvSpPr txBox="1"/>
            <p:nvPr/>
          </p:nvSpPr>
          <p:spPr>
            <a:xfrm>
              <a:off x="602742" y="578168"/>
              <a:ext cx="92655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08 · 现场</a:t>
              </a:r>
            </a:p>
          </p:txBody>
        </p:sp>
        <p:sp>
          <p:nvSpPr>
            <p:cNvPr id="3" name="TextBox 3"/>
            <p:cNvSpPr txBox="1"/>
            <p:nvPr/>
          </p:nvSpPr>
          <p:spPr>
            <a:xfrm>
              <a:off x="598170" y="823912"/>
              <a:ext cx="4688243"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j-lt"/>
                  <a:ea typeface="+mj-ea"/>
                  <a:cs typeface="+mj-cs"/>
                </a:rPr>
                <a:t>从冰冷的数字,到真实的乘坐体验</a:t>
              </a:r>
            </a:p>
          </p:txBody>
        </p:sp>
      </p:grpSp>
      <p:grpSp>
        <p:nvGrpSpPr>
          <p:cNvPr id="9" name="onboard-main"/>
          <p:cNvGrpSpPr/>
          <p:nvPr/>
        </p:nvGrpSpPr>
        <p:grpSpPr>
          <a:xfrm>
            <a:off x="609600" y="1619250"/>
            <a:ext cx="7239000" cy="4572000"/>
            <a:chOff x="609600" y="1619250"/>
            <a:chExt cx="7239000" cy="4572000"/>
          </a:xfrm>
        </p:grpSpPr>
        <p:pic>
          <p:nvPicPr>
            <p:cNvPr id="5" name="Image 5"/>
            <p:cNvPicPr>
              <a:picLocks noChangeAspect="1"/>
            </p:cNvPicPr>
            <p:nvPr/>
          </p:nvPicPr>
          <p:blipFill>
            <a:blip r:embed="rId2"/>
            <a:srcRect l="0" t="2632" r="0" b="2631"/>
            <a:stretch>
              <a:fillRect/>
            </a:stretch>
          </p:blipFill>
          <p:spPr>
            <a:xfrm>
              <a:off x="609600" y="1619250"/>
              <a:ext cx="7239000" cy="4572000"/>
            </a:xfrm>
            <a:prstGeom prst="roundRect">
              <a:avLst>
                <a:gd name="adj" fmla="val 3333"/>
              </a:avLst>
            </a:prstGeom>
          </p:spPr>
        </p:pic>
        <p:sp>
          <p:nvSpPr>
            <p:cNvPr id="6" name="Rectangle 6"/>
            <p:cNvSpPr/>
            <p:nvPr/>
          </p:nvSpPr>
          <p:spPr>
            <a:xfrm>
              <a:off x="609600" y="1619250"/>
              <a:ext cx="7239000" cy="4572000"/>
            </a:xfrm>
            <a:prstGeom prst="roundRect">
              <a:avLst>
                <a:gd name="adj" fmla="val 3333"/>
              </a:avLst>
            </a:prstGeom>
            <a:gradFill>
              <a:gsLst>
                <a:gs pos="0">
                  <a:srgbClr val="08152A">
                    <a:alpha val="0"/>
                  </a:srgbClr>
                </a:gs>
                <a:gs pos="68000">
                  <a:srgbClr val="08152A">
                    <a:alpha val="6000"/>
                  </a:srgbClr>
                </a:gs>
                <a:gs pos="100000">
                  <a:srgbClr val="08152A">
                    <a:alpha val="58000"/>
                  </a:srgbClr>
                </a:gs>
              </a:gsLst>
              <a:lin ang="5400000" scaled="1"/>
            </a:gradFill>
            <a:ln>
              <a:noFill/>
            </a:ln>
          </p:spPr>
        </p:sp>
        <p:sp>
          <p:nvSpPr>
            <p:cNvPr id="7" name="TextBox 7"/>
            <p:cNvSpPr txBox="1"/>
            <p:nvPr/>
          </p:nvSpPr>
          <p:spPr>
            <a:xfrm>
              <a:off x="830580" y="5610225"/>
              <a:ext cx="203454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复兴号商务座车厢内饰</a:t>
              </a:r>
            </a:p>
          </p:txBody>
        </p:sp>
        <p:sp>
          <p:nvSpPr>
            <p:cNvPr id="8" name="TextBox 8"/>
            <p:cNvSpPr txBox="1"/>
            <p:nvPr/>
          </p:nvSpPr>
          <p:spPr>
            <a:xfrm>
              <a:off x="832485" y="5879306"/>
              <a:ext cx="2028820" cy="220028"/>
            </a:xfrm>
            <a:prstGeom prst="rect">
              <a:avLst/>
            </a:prstGeom>
            <a:noFill/>
            <a:ln>
              <a:noFill/>
            </a:ln>
          </p:spPr>
          <p:txBody>
            <a:bodyPr wrap="none" lIns="0" tIns="0" rIns="0" bIns="0" anchor="t" anchorCtr="0">
              <a:spAutoFit/>
            </a:bodyPr>
            <a:lstStyle/>
            <a:p>
              <a:pPr algn="l"/>
              <a:r>
                <a:rPr lang="zh-CN" sz="1120" dirty="0">
                  <a:solidFill>
                    <a:srgbClr val="E7EAF1"/>
                  </a:solidFill>
                  <a:latin typeface="+mn-lt"/>
                  <a:ea typeface="+mn-ea"/>
                  <a:cs typeface="+mn-cs"/>
                </a:rPr>
                <a:t>图片:</a:t>
              </a:r>
              <a:r>
                <a:rPr lang="en-US" sz="1120" u="sng" dirty="0">
                  <a:solidFill>
                    <a:srgbClr val="E7EAF1"/>
                  </a:solidFill>
                  <a:latin typeface="+mn-lt"/>
                  <a:ea typeface="+mn-ea"/>
                  <a:cs typeface="+mn-cs"/>
                  <a:hlinkClick r:id="rId3"/>
                </a:rPr>
                <a:t>N509FZ, CC BY-SA 4.0</a:t>
              </a:r>
            </a:p>
          </p:txBody>
        </p:sp>
      </p:grpSp>
      <p:grpSp>
        <p:nvGrpSpPr>
          <p:cNvPr id="12" name="!!train-badge"/>
          <p:cNvGrpSpPr/>
          <p:nvPr/>
        </p:nvGrpSpPr>
        <p:grpSpPr>
          <a:xfrm>
            <a:off x="8572500" y="1619250"/>
            <a:ext cx="2667000" cy="1809750"/>
            <a:chOff x="8572500" y="1619250"/>
            <a:chExt cx="2667000" cy="1809750"/>
          </a:xfrm>
        </p:grpSpPr>
        <p:pic>
          <p:nvPicPr>
            <p:cNvPr id="10" name="Image 10"/>
            <p:cNvPicPr>
              <a:picLocks noChangeAspect="1"/>
            </p:cNvPicPr>
            <p:nvPr/>
          </p:nvPicPr>
          <p:blipFill>
            <a:blip r:embed="rId4"/>
            <a:srcRect l="877" t="0" r="877" b="0"/>
            <a:stretch>
              <a:fillRect/>
            </a:stretch>
          </p:blipFill>
          <p:spPr>
            <a:xfrm>
              <a:off x="8572500" y="1619250"/>
              <a:ext cx="2667000" cy="1809750"/>
            </a:xfrm>
            <a:prstGeom prst="roundRect">
              <a:avLst>
                <a:gd name="adj" fmla="val 6315"/>
              </a:avLst>
            </a:prstGeom>
          </p:spPr>
        </p:pic>
        <p:sp>
          <p:nvSpPr>
            <p:cNvPr id="11" name="Rectangle 11"/>
            <p:cNvSpPr/>
            <p:nvPr/>
          </p:nvSpPr>
          <p:spPr>
            <a:xfrm>
              <a:off x="8572500" y="1619250"/>
              <a:ext cx="2667000" cy="1809750"/>
            </a:xfrm>
            <a:prstGeom prst="roundRect">
              <a:avLst>
                <a:gd name="adj" fmla="val 6316"/>
              </a:avLst>
            </a:prstGeom>
            <a:noFill/>
            <a:ln w="19050">
              <a:solidFill>
                <a:schemeClr val="accent1"/>
              </a:solidFill>
            </a:ln>
          </p:spPr>
        </p:sp>
      </p:grpSp>
      <p:grpSp>
        <p:nvGrpSpPr>
          <p:cNvPr id="18" name="onboard-side-text"/>
          <p:cNvGrpSpPr/>
          <p:nvPr/>
        </p:nvGrpSpPr>
        <p:grpSpPr>
          <a:xfrm>
            <a:off x="8565642" y="3759518"/>
            <a:ext cx="2673858" cy="1634966"/>
            <a:chOff x="8565642" y="3759518"/>
            <a:chExt cx="2673858" cy="1634966"/>
          </a:xfrm>
        </p:grpSpPr>
        <p:sp>
          <p:nvSpPr>
            <p:cNvPr id="13" name="TextBox 13"/>
            <p:cNvSpPr txBox="1"/>
            <p:nvPr/>
          </p:nvSpPr>
          <p:spPr>
            <a:xfrm>
              <a:off x="8565642" y="3759518"/>
              <a:ext cx="128587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装备升级的落点</a:t>
              </a:r>
            </a:p>
          </p:txBody>
        </p:sp>
        <p:sp>
          <p:nvSpPr>
            <p:cNvPr id="14" name="TextBox 14"/>
            <p:cNvSpPr txBox="1"/>
            <p:nvPr/>
          </p:nvSpPr>
          <p:spPr>
            <a:xfrm>
              <a:off x="8566404" y="4061460"/>
              <a:ext cx="1840992" cy="653796"/>
            </a:xfrm>
            <a:prstGeom prst="rect">
              <a:avLst/>
            </a:prstGeom>
            <a:noFill/>
            <a:ln>
              <a:noFill/>
            </a:ln>
          </p:spPr>
          <p:txBody>
            <a:bodyPr wrap="none" lIns="0" tIns="0" rIns="0" bIns="0" anchor="t" anchorCtr="0">
              <a:spAutoFit/>
            </a:bodyPr>
            <a:lstStyle/>
            <a:p>
              <a:pPr algn="l">
                <a:lnSpc>
                  <a:spcPts val="1650"/>
                </a:lnSpc>
              </a:pPr>
              <a:r>
                <a:rPr lang="zh-CN" sz="1200" dirty="0">
                  <a:solidFill>
                    <a:schemeClr val="dk1"/>
                  </a:solidFill>
                  <a:latin typeface="+mn-lt"/>
                  <a:ea typeface="+mn-ea"/>
                  <a:cs typeface="+mn-cs"/>
                </a:rPr>
                <a:t>机车、动车组、货车的</a:t>
              </a:r>
              <a:br/>
              <a:r>
                <a:rPr lang="zh-CN" sz="1200" dirty="0">
                  <a:solidFill>
                    <a:schemeClr val="dk1"/>
                  </a:solidFill>
                  <a:latin typeface="+mn-lt"/>
                  <a:ea typeface="+mn-ea"/>
                  <a:cs typeface="+mn-cs"/>
                </a:rPr>
                <a:t>数字增长,最终体现在</a:t>
              </a:r>
              <a:br/>
              <a:r>
                <a:rPr lang="zh-CN" sz="1200" dirty="0">
                  <a:solidFill>
                    <a:schemeClr val="dk1"/>
                  </a:solidFill>
                  <a:latin typeface="+mn-lt"/>
                  <a:ea typeface="+mn-ea"/>
                  <a:cs typeface="+mn-cs"/>
                </a:rPr>
                <a:t>每一次真实的出行体验上。</a:t>
              </a:r>
            </a:p>
          </p:txBody>
        </p:sp>
        <p:sp>
          <p:nvSpPr>
            <p:cNvPr id="15" name="Line 15"/>
            <p:cNvSpPr/>
            <p:nvPr/>
          </p:nvSpPr>
          <p:spPr>
            <a:xfrm>
              <a:off x="8572500" y="4876800"/>
              <a:ext cx="2667000" cy="9525"/>
            </a:xfrm>
            <a:custGeom>
              <a:avLst/>
              <a:gdLst/>
              <a:ahLst/>
              <a:cxnLst/>
              <a:rect l="l" t="t" r="r" b="b"/>
              <a:pathLst>
                <a:path w="2667000" h="9525">
                  <a:moveTo>
                    <a:pt x="0" y="0"/>
                  </a:moveTo>
                  <a:lnTo>
                    <a:pt x="2667000" y="0"/>
                  </a:lnTo>
                </a:path>
              </a:pathLst>
            </a:custGeom>
            <a:noFill/>
            <a:ln w="9525">
              <a:solidFill>
                <a:schemeClr val="accent6"/>
              </a:solidFill>
            </a:ln>
          </p:spPr>
        </p:sp>
        <p:sp>
          <p:nvSpPr>
            <p:cNvPr id="16" name="TextBox 16"/>
            <p:cNvSpPr txBox="1"/>
            <p:nvPr/>
          </p:nvSpPr>
          <p:spPr>
            <a:xfrm>
              <a:off x="8566785" y="4983956"/>
              <a:ext cx="2028820"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图片:</a:t>
              </a:r>
              <a:r>
                <a:rPr lang="en-US" sz="1120" u="sng" dirty="0">
                  <a:solidFill>
                    <a:schemeClr val="accent5"/>
                  </a:solidFill>
                  <a:latin typeface="+mn-lt"/>
                  <a:ea typeface="+mn-ea"/>
                  <a:cs typeface="+mn-cs"/>
                  <a:hlinkClick r:id="rId5"/>
                </a:rPr>
                <a:t>N509FZ, CC BY-SA 4.0</a:t>
              </a:r>
            </a:p>
          </p:txBody>
        </p:sp>
        <p:sp>
          <p:nvSpPr>
            <p:cNvPr id="17" name="TextBox 17"/>
            <p:cNvSpPr txBox="1"/>
            <p:nvPr/>
          </p:nvSpPr>
          <p:spPr>
            <a:xfrm>
              <a:off x="8566785" y="5174456"/>
              <a:ext cx="1400777" cy="220028"/>
            </a:xfrm>
            <a:prstGeom prst="rect">
              <a:avLst/>
            </a:prstGeom>
            <a:noFill/>
            <a:ln>
              <a:noFill/>
            </a:ln>
          </p:spPr>
          <p:txBody>
            <a:bodyPr wrap="none" lIns="0" tIns="0" rIns="0" bIns="0" anchor="t" anchorCtr="0">
              <a:spAutoFit/>
            </a:bodyPr>
            <a:lstStyle/>
            <a:p>
              <a:pPr algn="l"/>
              <a:r>
                <a:rPr lang="en-US" sz="1120" dirty="0">
                  <a:solidFill>
                    <a:schemeClr val="accent5"/>
                  </a:solidFill>
                  <a:latin typeface="+mn-lt"/>
                  <a:ea typeface="+mn-ea"/>
                  <a:cs typeface="+mn-cs"/>
                </a:rPr>
                <a:t>Wikimedia Commons</a:t>
              </a:r>
            </a:p>
          </p:txBody>
        </p:sp>
      </p:grpSp>
      <p:grpSp>
        <p:nvGrpSpPr>
          <p:cNvPr id="22" name="footer"/>
          <p:cNvGrpSpPr/>
          <p:nvPr/>
        </p:nvGrpSpPr>
        <p:grpSpPr>
          <a:xfrm>
            <a:off x="603504" y="6438900"/>
            <a:ext cx="10984992" cy="333756"/>
            <a:chOff x="603504" y="6438900"/>
            <a:chExt cx="10984992" cy="333756"/>
          </a:xfrm>
        </p:grpSpPr>
        <p:sp>
          <p:nvSpPr>
            <p:cNvPr id="19" name="Line 19"/>
            <p:cNvSpPr/>
            <p:nvPr/>
          </p:nvSpPr>
          <p:spPr>
            <a:xfrm>
              <a:off x="609600" y="643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TextBox 20"/>
            <p:cNvSpPr txBox="1"/>
            <p:nvPr/>
          </p:nvSpPr>
          <p:spPr>
            <a:xfrm>
              <a:off x="603504" y="653796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21" name="TextBox 21"/>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15</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501968"/>
            <a:ext cx="5824271" cy="846772"/>
            <a:chOff x="594360" y="501968"/>
            <a:chExt cx="5824271" cy="846772"/>
          </a:xfrm>
        </p:grpSpPr>
        <p:sp>
          <p:nvSpPr>
            <p:cNvPr id="2" name="TextBox 2"/>
            <p:cNvSpPr txBox="1"/>
            <p:nvPr/>
          </p:nvSpPr>
          <p:spPr>
            <a:xfrm>
              <a:off x="602742" y="501968"/>
              <a:ext cx="133041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09 · 国际对照</a:t>
              </a:r>
            </a:p>
          </p:txBody>
        </p:sp>
        <p:sp>
          <p:nvSpPr>
            <p:cNvPr id="3" name="TextBox 3"/>
            <p:cNvSpPr txBox="1"/>
            <p:nvPr/>
          </p:nvSpPr>
          <p:spPr>
            <a:xfrm>
              <a:off x="594360" y="762000"/>
              <a:ext cx="5824271"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j-lt"/>
                  <a:ea typeface="+mj-ea"/>
                  <a:cs typeface="+mj-cs"/>
                </a:rPr>
                <a:t>中国铁路里程增速,六国中最快</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21" name="rail-km-intl"/>
          <p:cNvGrpSpPr/>
          <p:nvPr/>
        </p:nvGrpSpPr>
        <p:grpSpPr>
          <a:xfrm>
            <a:off x="609600" y="1676400"/>
            <a:ext cx="10972800" cy="4000500"/>
            <a:chOff x="609600" y="1676400"/>
            <a:chExt cx="10972800" cy="4000500"/>
          </a:xfrm>
        </p:grpSpPr>
        <p:graphicFrame>
          <p:nvGraphicFramePr>
            <p:cNvPr id="6" name="rail-km-intl"/>
            <p:cNvGraphicFramePr>
              <a:graphicFrameLocks noGrp="1"/>
            </p:cNvGraphicFramePr>
            <p:nvPr/>
          </p:nvGraphicFramePr>
          <p:xfrm>
            <a:off x="609600" y="1676400"/>
            <a:ext cx="10972800" cy="4000500"/>
          </p:xfrm>
          <a:graphic>
            <a:graphicData uri="http://schemas.openxmlformats.org/drawingml/2006/chart">
              <c:chart xmlns:c="http://schemas.openxmlformats.org/drawingml/2006/chart" r:id="rId2"/>
            </a:graphicData>
          </a:graphic>
        </p:graphicFrame>
        <p:sp>
          <p:nvSpPr>
            <p:cNvPr id="7" name="Chart Note 7"/>
            <p:cNvSpPr txBox="1"/>
            <p:nvPr/>
          </p:nvSpPr>
          <p:spPr>
            <a:xfrm>
              <a:off x="857250" y="1763078"/>
              <a:ext cx="323850" cy="213360"/>
            </a:xfrm>
            <a:prstGeom prst="rect">
              <a:avLst/>
            </a:prstGeom>
            <a:noFill/>
            <a:ln>
              <a:noFill/>
            </a:ln>
          </p:spPr>
          <p:txBody>
            <a:bodyPr wrap="square" lIns="0" tIns="0" rIns="0" bIns="0" anchor="b" anchorCtr="0"/>
            <a:lstStyle/>
            <a:p>
              <a:pPr algn="r"/>
              <a:r>
                <a:rPr lang="zh-CN" sz="1050">
                  <a:solidFill>
                    <a:srgbClr val="5B6472"/>
                  </a:solidFill>
                  <a:latin typeface="Microsoft YaHei"/>
                  <a:ea typeface="Microsoft YaHei"/>
                  <a:cs typeface="Microsoft YaHei"/>
                </a:rPr>
                <a:t>20万</a:t>
              </a:r>
            </a:p>
          </p:txBody>
        </p:sp>
        <p:sp>
          <p:nvSpPr>
            <p:cNvPr id="8" name="Chart Note 8"/>
            <p:cNvSpPr txBox="1"/>
            <p:nvPr/>
          </p:nvSpPr>
          <p:spPr>
            <a:xfrm>
              <a:off x="857250" y="2620328"/>
              <a:ext cx="323850" cy="213360"/>
            </a:xfrm>
            <a:prstGeom prst="rect">
              <a:avLst/>
            </a:prstGeom>
            <a:noFill/>
            <a:ln>
              <a:noFill/>
            </a:ln>
          </p:spPr>
          <p:txBody>
            <a:bodyPr wrap="square" lIns="0" tIns="0" rIns="0" bIns="0" anchor="b" anchorCtr="0"/>
            <a:lstStyle/>
            <a:p>
              <a:pPr algn="r"/>
              <a:r>
                <a:rPr lang="zh-CN" sz="1050">
                  <a:solidFill>
                    <a:srgbClr val="5B6472"/>
                  </a:solidFill>
                  <a:latin typeface="Microsoft YaHei"/>
                  <a:ea typeface="Microsoft YaHei"/>
                  <a:cs typeface="Microsoft YaHei"/>
                </a:rPr>
                <a:t>15万</a:t>
              </a:r>
            </a:p>
          </p:txBody>
        </p:sp>
        <p:sp>
          <p:nvSpPr>
            <p:cNvPr id="9" name="Chart Note 9"/>
            <p:cNvSpPr txBox="1"/>
            <p:nvPr/>
          </p:nvSpPr>
          <p:spPr>
            <a:xfrm>
              <a:off x="857250" y="3477578"/>
              <a:ext cx="323850" cy="213360"/>
            </a:xfrm>
            <a:prstGeom prst="rect">
              <a:avLst/>
            </a:prstGeom>
            <a:noFill/>
            <a:ln>
              <a:noFill/>
            </a:ln>
          </p:spPr>
          <p:txBody>
            <a:bodyPr wrap="square" lIns="0" tIns="0" rIns="0" bIns="0" anchor="b" anchorCtr="0"/>
            <a:lstStyle/>
            <a:p>
              <a:pPr algn="r"/>
              <a:r>
                <a:rPr lang="zh-CN" sz="1050">
                  <a:solidFill>
                    <a:srgbClr val="5B6472"/>
                  </a:solidFill>
                  <a:latin typeface="Microsoft YaHei"/>
                  <a:ea typeface="Microsoft YaHei"/>
                  <a:cs typeface="Microsoft YaHei"/>
                </a:rPr>
                <a:t>10万</a:t>
              </a:r>
            </a:p>
          </p:txBody>
        </p:sp>
        <p:sp>
          <p:nvSpPr>
            <p:cNvPr id="10" name="Chart Note 10"/>
            <p:cNvSpPr txBox="1"/>
            <p:nvPr/>
          </p:nvSpPr>
          <p:spPr>
            <a:xfrm>
              <a:off x="952500" y="4334828"/>
              <a:ext cx="228600" cy="213360"/>
            </a:xfrm>
            <a:prstGeom prst="rect">
              <a:avLst/>
            </a:prstGeom>
            <a:noFill/>
            <a:ln>
              <a:noFill/>
            </a:ln>
          </p:spPr>
          <p:txBody>
            <a:bodyPr wrap="square" lIns="0" tIns="0" rIns="0" bIns="0" anchor="b" anchorCtr="0"/>
            <a:lstStyle/>
            <a:p>
              <a:pPr algn="r"/>
              <a:r>
                <a:rPr lang="zh-CN" sz="1050">
                  <a:solidFill>
                    <a:srgbClr val="5B6472"/>
                  </a:solidFill>
                  <a:latin typeface="Microsoft YaHei"/>
                  <a:ea typeface="Microsoft YaHei"/>
                  <a:cs typeface="Microsoft YaHei"/>
                </a:rPr>
                <a:t>5万</a:t>
              </a:r>
            </a:p>
          </p:txBody>
        </p:sp>
        <p:sp>
          <p:nvSpPr>
            <p:cNvPr id="11" name="Chart Note 11"/>
            <p:cNvSpPr txBox="1"/>
            <p:nvPr/>
          </p:nvSpPr>
          <p:spPr>
            <a:xfrm>
              <a:off x="1085850" y="5192078"/>
              <a:ext cx="95250" cy="213360"/>
            </a:xfrm>
            <a:prstGeom prst="rect">
              <a:avLst/>
            </a:prstGeom>
            <a:noFill/>
            <a:ln>
              <a:noFill/>
            </a:ln>
          </p:spPr>
          <p:txBody>
            <a:bodyPr wrap="square" lIns="0" tIns="0" rIns="0" bIns="0" anchor="b" anchorCtr="0"/>
            <a:lstStyle/>
            <a:p>
              <a:pPr algn="r"/>
              <a:r>
                <a:rPr lang="zh-CN" sz="1050">
                  <a:solidFill>
                    <a:srgbClr val="5B6472"/>
                  </a:solidFill>
                  <a:latin typeface="Microsoft YaHei"/>
                  <a:ea typeface="Microsoft YaHei"/>
                  <a:cs typeface="Microsoft YaHei"/>
                </a:rPr>
                <a:t>0</a:t>
              </a:r>
            </a:p>
          </p:txBody>
        </p:sp>
        <p:sp>
          <p:nvSpPr>
            <p:cNvPr id="12" name="Chart Note 12"/>
            <p:cNvSpPr txBox="1"/>
            <p:nvPr/>
          </p:nvSpPr>
          <p:spPr>
            <a:xfrm>
              <a:off x="10382250" y="3306128"/>
              <a:ext cx="857250" cy="213360"/>
            </a:xfrm>
            <a:prstGeom prst="rect">
              <a:avLst/>
            </a:prstGeom>
            <a:noFill/>
            <a:ln>
              <a:noFill/>
            </a:ln>
          </p:spPr>
          <p:txBody>
            <a:bodyPr wrap="square" lIns="0" tIns="0" rIns="0" bIns="0" anchor="b" anchorCtr="0"/>
            <a:lstStyle/>
            <a:p>
              <a:pPr algn="l"/>
              <a:r>
                <a:rPr lang="zh-CN" sz="1050" b="1">
                  <a:solidFill>
                    <a:srgbClr val="C81E3A"/>
                  </a:solidFill>
                  <a:latin typeface="Microsoft YaHei"/>
                  <a:ea typeface="Microsoft YaHei"/>
                  <a:cs typeface="Microsoft YaHei"/>
                </a:rPr>
                <a:t>中国</a:t>
              </a:r>
            </a:p>
          </p:txBody>
        </p:sp>
        <p:sp>
          <p:nvSpPr>
            <p:cNvPr id="13" name="Chart Note 13"/>
            <p:cNvSpPr txBox="1"/>
            <p:nvPr/>
          </p:nvSpPr>
          <p:spPr>
            <a:xfrm>
              <a:off x="10382250" y="2639378"/>
              <a:ext cx="857250" cy="213360"/>
            </a:xfrm>
            <a:prstGeom prst="rect">
              <a:avLst/>
            </a:prstGeom>
            <a:noFill/>
            <a:ln>
              <a:noFill/>
            </a:ln>
          </p:spPr>
          <p:txBody>
            <a:bodyPr wrap="square" lIns="0" tIns="0" rIns="0" bIns="0" anchor="b" anchorCtr="0"/>
            <a:lstStyle/>
            <a:p>
              <a:pPr algn="l"/>
              <a:r>
                <a:rPr lang="zh-CN" sz="1050">
                  <a:solidFill>
                    <a:srgbClr val="14335C"/>
                  </a:solidFill>
                  <a:latin typeface="Microsoft YaHei"/>
                  <a:ea typeface="Microsoft YaHei"/>
                  <a:cs typeface="Microsoft YaHei"/>
                </a:rPr>
                <a:t>美国</a:t>
              </a:r>
            </a:p>
          </p:txBody>
        </p:sp>
        <p:sp>
          <p:nvSpPr>
            <p:cNvPr id="14" name="Chart Note 14"/>
            <p:cNvSpPr txBox="1"/>
            <p:nvPr/>
          </p:nvSpPr>
          <p:spPr>
            <a:xfrm>
              <a:off x="10382250" y="3725228"/>
              <a:ext cx="857250" cy="213360"/>
            </a:xfrm>
            <a:prstGeom prst="rect">
              <a:avLst/>
            </a:prstGeom>
            <a:noFill/>
            <a:ln>
              <a:noFill/>
            </a:ln>
          </p:spPr>
          <p:txBody>
            <a:bodyPr wrap="square" lIns="0" tIns="0" rIns="0" bIns="0" anchor="b" anchorCtr="0"/>
            <a:lstStyle/>
            <a:p>
              <a:pPr algn="l"/>
              <a:r>
                <a:rPr lang="zh-CN" sz="1050">
                  <a:solidFill>
                    <a:srgbClr val="1D7A8C"/>
                  </a:solidFill>
                  <a:latin typeface="Microsoft YaHei"/>
                  <a:ea typeface="Microsoft YaHei"/>
                  <a:cs typeface="Microsoft YaHei"/>
                </a:rPr>
                <a:t>俄罗斯</a:t>
              </a:r>
            </a:p>
          </p:txBody>
        </p:sp>
        <p:sp>
          <p:nvSpPr>
            <p:cNvPr id="15" name="Chart Note 15"/>
            <p:cNvSpPr txBox="1"/>
            <p:nvPr/>
          </p:nvSpPr>
          <p:spPr>
            <a:xfrm>
              <a:off x="10382250" y="4020502"/>
              <a:ext cx="857250" cy="213360"/>
            </a:xfrm>
            <a:prstGeom prst="rect">
              <a:avLst/>
            </a:prstGeom>
            <a:noFill/>
            <a:ln>
              <a:noFill/>
            </a:ln>
          </p:spPr>
          <p:txBody>
            <a:bodyPr wrap="square" lIns="0" tIns="0" rIns="0" bIns="0" anchor="b" anchorCtr="0"/>
            <a:lstStyle/>
            <a:p>
              <a:pPr algn="l"/>
              <a:r>
                <a:rPr lang="zh-CN" sz="1050">
                  <a:solidFill>
                    <a:srgbClr val="9AA5B1"/>
                  </a:solidFill>
                  <a:latin typeface="Microsoft YaHei"/>
                  <a:ea typeface="Microsoft YaHei"/>
                  <a:cs typeface="Microsoft YaHei"/>
                </a:rPr>
                <a:t>印度</a:t>
              </a:r>
            </a:p>
          </p:txBody>
        </p:sp>
        <p:sp>
          <p:nvSpPr>
            <p:cNvPr id="16" name="Chart Note 16"/>
            <p:cNvSpPr txBox="1"/>
            <p:nvPr/>
          </p:nvSpPr>
          <p:spPr>
            <a:xfrm>
              <a:off x="10382250" y="4582478"/>
              <a:ext cx="857250" cy="213360"/>
            </a:xfrm>
            <a:prstGeom prst="rect">
              <a:avLst/>
            </a:prstGeom>
            <a:noFill/>
            <a:ln>
              <a:noFill/>
            </a:ln>
          </p:spPr>
          <p:txBody>
            <a:bodyPr wrap="square" lIns="0" tIns="0" rIns="0" bIns="0" anchor="b" anchorCtr="0"/>
            <a:lstStyle/>
            <a:p>
              <a:pPr algn="l"/>
              <a:r>
                <a:rPr lang="zh-CN" sz="1050">
                  <a:solidFill>
                    <a:srgbClr val="9AA5B1"/>
                  </a:solidFill>
                  <a:latin typeface="Microsoft YaHei"/>
                  <a:ea typeface="Microsoft YaHei"/>
                  <a:cs typeface="Microsoft YaHei"/>
                </a:rPr>
                <a:t>德国</a:t>
              </a:r>
            </a:p>
          </p:txBody>
        </p:sp>
        <p:sp>
          <p:nvSpPr>
            <p:cNvPr id="17" name="Chart Note 17"/>
            <p:cNvSpPr txBox="1"/>
            <p:nvPr/>
          </p:nvSpPr>
          <p:spPr>
            <a:xfrm>
              <a:off x="10382250" y="4753928"/>
              <a:ext cx="857250" cy="213360"/>
            </a:xfrm>
            <a:prstGeom prst="rect">
              <a:avLst/>
            </a:prstGeom>
            <a:noFill/>
            <a:ln>
              <a:noFill/>
            </a:ln>
          </p:spPr>
          <p:txBody>
            <a:bodyPr wrap="square" lIns="0" tIns="0" rIns="0" bIns="0" anchor="b" anchorCtr="0"/>
            <a:lstStyle/>
            <a:p>
              <a:pPr algn="l"/>
              <a:r>
                <a:rPr lang="zh-CN" sz="1050">
                  <a:solidFill>
                    <a:srgbClr val="9AA5B1"/>
                  </a:solidFill>
                  <a:latin typeface="Microsoft YaHei"/>
                  <a:ea typeface="Microsoft YaHei"/>
                  <a:cs typeface="Microsoft YaHei"/>
                </a:rPr>
                <a:t>法国</a:t>
              </a:r>
            </a:p>
          </p:txBody>
        </p:sp>
        <p:sp>
          <p:nvSpPr>
            <p:cNvPr id="18" name="Chart Note 18"/>
            <p:cNvSpPr txBox="1"/>
            <p:nvPr/>
          </p:nvSpPr>
          <p:spPr>
            <a:xfrm>
              <a:off x="10382250" y="4915852"/>
              <a:ext cx="857250" cy="213360"/>
            </a:xfrm>
            <a:prstGeom prst="rect">
              <a:avLst/>
            </a:prstGeom>
            <a:noFill/>
            <a:ln>
              <a:noFill/>
            </a:ln>
          </p:spPr>
          <p:txBody>
            <a:bodyPr wrap="square" lIns="0" tIns="0" rIns="0" bIns="0" anchor="b" anchorCtr="0"/>
            <a:lstStyle/>
            <a:p>
              <a:pPr algn="l"/>
              <a:r>
                <a:rPr lang="zh-CN" sz="1050">
                  <a:solidFill>
                    <a:srgbClr val="9AA5B1"/>
                  </a:solidFill>
                  <a:latin typeface="Microsoft YaHei"/>
                  <a:ea typeface="Microsoft YaHei"/>
                  <a:cs typeface="Microsoft YaHei"/>
                </a:rPr>
                <a:t>西班牙</a:t>
              </a:r>
            </a:p>
          </p:txBody>
        </p:sp>
        <p:sp>
          <p:nvSpPr>
            <p:cNvPr id="19" name="Chart Note 19"/>
            <p:cNvSpPr txBox="1"/>
            <p:nvPr/>
          </p:nvSpPr>
          <p:spPr>
            <a:xfrm>
              <a:off x="7543800" y="2010728"/>
              <a:ext cx="3810000" cy="213360"/>
            </a:xfrm>
            <a:prstGeom prst="rect">
              <a:avLst/>
            </a:prstGeom>
            <a:noFill/>
            <a:ln>
              <a:noFill/>
            </a:ln>
          </p:spPr>
          <p:txBody>
            <a:bodyPr wrap="square" lIns="0" tIns="0" rIns="0" bIns="0" anchor="b" anchorCtr="0"/>
            <a:lstStyle/>
            <a:p>
              <a:pPr algn="l"/>
              <a:r>
                <a:rPr lang="zh-CN" sz="1050">
                  <a:solidFill>
                    <a:srgbClr val="5B6472"/>
                  </a:solidFill>
                  <a:latin typeface="Microsoft YaHei"/>
                  <a:ea typeface="Microsoft YaHei"/>
                  <a:cs typeface="Microsoft YaHei"/>
                </a:rPr>
                <a:t>日本:仅2010-2011年有记录(20140→20087公里),</a:t>
              </a:r>
            </a:p>
          </p:txBody>
        </p:sp>
        <p:sp>
          <p:nvSpPr>
            <p:cNvPr id="20" name="Chart Note 20"/>
            <p:cNvSpPr txBox="1"/>
            <p:nvPr/>
          </p:nvSpPr>
          <p:spPr>
            <a:xfrm>
              <a:off x="7543800" y="2125028"/>
              <a:ext cx="3810000" cy="213360"/>
            </a:xfrm>
            <a:prstGeom prst="rect">
              <a:avLst/>
            </a:prstGeom>
            <a:noFill/>
            <a:ln>
              <a:noFill/>
            </a:ln>
          </p:spPr>
          <p:txBody>
            <a:bodyPr wrap="square" lIns="0" tIns="0" rIns="0" bIns="0" anchor="b" anchorCtr="0"/>
            <a:lstStyle/>
            <a:p>
              <a:pPr algn="l"/>
              <a:r>
                <a:rPr lang="zh-CN" sz="1050">
                  <a:solidFill>
                    <a:srgbClr val="5B6472"/>
                  </a:solidFill>
                  <a:latin typeface="Microsoft YaHei"/>
                  <a:ea typeface="Microsoft YaHei"/>
                  <a:cs typeface="Microsoft YaHei"/>
                </a:rPr>
                <a:t>样本不足未绘入趋势线</a:t>
              </a:r>
            </a:p>
          </p:txBody>
        </p:sp>
      </p:grpSp>
      <p:grpSp>
        <p:nvGrpSpPr>
          <p:cNvPr id="25" name="footer"/>
          <p:cNvGrpSpPr/>
          <p:nvPr/>
        </p:nvGrpSpPr>
        <p:grpSpPr>
          <a:xfrm>
            <a:off x="603504" y="6305550"/>
            <a:ext cx="10984992" cy="333756"/>
            <a:chOff x="603504" y="6305550"/>
            <a:chExt cx="10984992" cy="333756"/>
          </a:xfrm>
        </p:grpSpPr>
        <p:sp>
          <p:nvSpPr>
            <p:cNvPr id="22" name="Line 22"/>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TextBox 23"/>
            <p:cNvSpPr txBox="1"/>
            <p:nvPr/>
          </p:nvSpPr>
          <p:spPr>
            <a:xfrm>
              <a:off x="603504" y="6404610"/>
              <a:ext cx="7580833"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来源:World Bank, IS.RRS.TOTL.KM(下载于2026-09-12);数据公开至2021年,2022-2024年尚无发布值</a:t>
              </a:r>
            </a:p>
          </p:txBody>
        </p:sp>
        <p:sp>
          <p:nvSpPr>
            <p:cNvPr id="24" name="TextBox 24"/>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5122" y="501968"/>
            <a:ext cx="9992281" cy="833627"/>
            <a:chOff x="595122" y="501968"/>
            <a:chExt cx="9992281" cy="833627"/>
          </a:xfrm>
        </p:grpSpPr>
        <p:sp>
          <p:nvSpPr>
            <p:cNvPr id="2" name="TextBox 2"/>
            <p:cNvSpPr txBox="1"/>
            <p:nvPr/>
          </p:nvSpPr>
          <p:spPr>
            <a:xfrm>
              <a:off x="602742" y="501968"/>
              <a:ext cx="133041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10 · 科技创新</a:t>
              </a:r>
            </a:p>
          </p:txBody>
        </p:sp>
        <p:sp>
          <p:nvSpPr>
            <p:cNvPr id="3" name="TextBox 3"/>
            <p:cNvSpPr txBox="1"/>
            <p:nvPr/>
          </p:nvSpPr>
          <p:spPr>
            <a:xfrm>
              <a:off x="595122" y="778192"/>
              <a:ext cx="9992281" cy="557403"/>
            </a:xfrm>
            <a:prstGeom prst="rect">
              <a:avLst/>
            </a:prstGeom>
            <a:noFill/>
            <a:ln>
              <a:noFill/>
            </a:ln>
          </p:spPr>
          <p:txBody>
            <a:bodyPr wrap="none" lIns="0" tIns="0" rIns="0" bIns="0" anchor="t" anchorCtr="0">
              <a:spAutoFit/>
            </a:bodyPr>
            <a:lstStyle/>
            <a:p>
              <a:pPr algn="l"/>
              <a:r>
                <a:rPr lang="zh-CN" sz="2850" b="1" dirty="0">
                  <a:solidFill>
                    <a:schemeClr val="accent1"/>
                  </a:solidFill>
                  <a:latin typeface="+mj-lt"/>
                  <a:ea typeface="+mj-ea"/>
                  <a:cs typeface="+mj-cs"/>
                </a:rPr>
                <a:t>标准供给持续扩容,复兴号项目摘得国家科技进步特等奖</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pSp>
        <p:nvGrpSpPr>
          <p:cNvPr id="37" name="standards-list"/>
          <p:cNvGrpSpPr/>
          <p:nvPr/>
        </p:nvGrpSpPr>
        <p:grpSpPr>
          <a:xfrm>
            <a:off x="601980" y="1724025"/>
            <a:ext cx="6294120" cy="3594259"/>
            <a:chOff x="601980" y="1724025"/>
            <a:chExt cx="6294120" cy="3594259"/>
          </a:xfrm>
        </p:grpSpPr>
        <p:sp>
          <p:nvSpPr>
            <p:cNvPr id="6" name="TextBox 6"/>
            <p:cNvSpPr txBox="1"/>
            <p:nvPr/>
          </p:nvSpPr>
          <p:spPr>
            <a:xfrm>
              <a:off x="601980" y="1724025"/>
              <a:ext cx="122682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技术标准体系</a:t>
              </a:r>
            </a:p>
          </p:txBody>
        </p:sp>
        <p:grpSp>
          <p:nvGrpSpPr>
            <p:cNvPr id="10" name="Group 10"/>
            <p:cNvGrpSpPr/>
            <p:nvPr/>
          </p:nvGrpSpPr>
          <p:grpSpPr>
            <a:xfrm>
              <a:off x="650105" y="2093119"/>
              <a:ext cx="204716" cy="213003"/>
              <a:chOff x="650105" y="2093119"/>
              <a:chExt cx="204716" cy="213003"/>
            </a:xfrm>
          </p:grpSpPr>
          <p:sp>
            <p:nvSpPr>
              <p:cNvPr id="7" name="Freeform 7"/>
              <p:cNvSpPr/>
              <p:nvPr/>
            </p:nvSpPr>
            <p:spPr>
              <a:xfrm>
                <a:off x="681038" y="209311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8" name="Freeform 8"/>
              <p:cNvSpPr/>
              <p:nvPr/>
            </p:nvSpPr>
            <p:spPr>
              <a:xfrm>
                <a:off x="752475" y="220027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9" name="Freeform 9"/>
              <p:cNvSpPr/>
              <p:nvPr/>
            </p:nvSpPr>
            <p:spPr>
              <a:xfrm>
                <a:off x="650105" y="220027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11" name="TextBox 11"/>
            <p:cNvSpPr txBox="1"/>
            <p:nvPr/>
          </p:nvSpPr>
          <p:spPr>
            <a:xfrm>
              <a:off x="1020318" y="2088832"/>
              <a:ext cx="143835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20</a:t>
              </a:r>
              <a:r>
                <a:rPr lang="zh-CN" sz="1650" dirty="0">
                  <a:solidFill>
                    <a:schemeClr val="dk1"/>
                  </a:solidFill>
                  <a:latin typeface="+mn-lt"/>
                  <a:ea typeface="+mn-ea"/>
                  <a:cs typeface="+mn-cs"/>
                </a:rPr>
                <a:t xml:space="preserve"> 项国家标准</a:t>
              </a:r>
            </a:p>
          </p:txBody>
        </p:sp>
        <p:grpSp>
          <p:nvGrpSpPr>
            <p:cNvPr id="15" name="Group 15"/>
            <p:cNvGrpSpPr/>
            <p:nvPr/>
          </p:nvGrpSpPr>
          <p:grpSpPr>
            <a:xfrm>
              <a:off x="650105" y="2474119"/>
              <a:ext cx="204716" cy="213003"/>
              <a:chOff x="650105" y="2474119"/>
              <a:chExt cx="204716" cy="213003"/>
            </a:xfrm>
          </p:grpSpPr>
          <p:sp>
            <p:nvSpPr>
              <p:cNvPr id="12" name="Freeform 12"/>
              <p:cNvSpPr/>
              <p:nvPr/>
            </p:nvSpPr>
            <p:spPr>
              <a:xfrm>
                <a:off x="681038" y="247411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13" name="Freeform 13"/>
              <p:cNvSpPr/>
              <p:nvPr/>
            </p:nvSpPr>
            <p:spPr>
              <a:xfrm>
                <a:off x="752475" y="258127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14" name="Freeform 14"/>
              <p:cNvSpPr/>
              <p:nvPr/>
            </p:nvSpPr>
            <p:spPr>
              <a:xfrm>
                <a:off x="650105" y="258127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16" name="TextBox 16"/>
            <p:cNvSpPr txBox="1"/>
            <p:nvPr/>
          </p:nvSpPr>
          <p:spPr>
            <a:xfrm>
              <a:off x="1020318" y="2469832"/>
              <a:ext cx="143835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95</a:t>
              </a:r>
              <a:r>
                <a:rPr lang="zh-CN" sz="1650" dirty="0">
                  <a:solidFill>
                    <a:schemeClr val="dk1"/>
                  </a:solidFill>
                  <a:latin typeface="+mn-lt"/>
                  <a:ea typeface="+mn-ea"/>
                  <a:cs typeface="+mn-cs"/>
                </a:rPr>
                <a:t xml:space="preserve"> 项行业标准</a:t>
              </a:r>
            </a:p>
          </p:txBody>
        </p:sp>
        <p:grpSp>
          <p:nvGrpSpPr>
            <p:cNvPr id="20" name="Group 20"/>
            <p:cNvGrpSpPr/>
            <p:nvPr/>
          </p:nvGrpSpPr>
          <p:grpSpPr>
            <a:xfrm>
              <a:off x="650105" y="2855119"/>
              <a:ext cx="204716" cy="213003"/>
              <a:chOff x="650105" y="2855119"/>
              <a:chExt cx="204716" cy="213003"/>
            </a:xfrm>
          </p:grpSpPr>
          <p:sp>
            <p:nvSpPr>
              <p:cNvPr id="17" name="Freeform 17"/>
              <p:cNvSpPr/>
              <p:nvPr/>
            </p:nvSpPr>
            <p:spPr>
              <a:xfrm>
                <a:off x="681038" y="285511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18" name="Freeform 18"/>
              <p:cNvSpPr/>
              <p:nvPr/>
            </p:nvSpPr>
            <p:spPr>
              <a:xfrm>
                <a:off x="752475" y="296227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19" name="Freeform 19"/>
              <p:cNvSpPr/>
              <p:nvPr/>
            </p:nvSpPr>
            <p:spPr>
              <a:xfrm>
                <a:off x="650105" y="296227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21" name="TextBox 21"/>
            <p:cNvSpPr txBox="1"/>
            <p:nvPr/>
          </p:nvSpPr>
          <p:spPr>
            <a:xfrm>
              <a:off x="1020318" y="2850832"/>
              <a:ext cx="301542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4+4</a:t>
              </a:r>
              <a:r>
                <a:rPr lang="zh-CN" sz="1650" dirty="0">
                  <a:solidFill>
                    <a:schemeClr val="dk1"/>
                  </a:solidFill>
                  <a:latin typeface="+mn-lt"/>
                  <a:ea typeface="+mn-ea"/>
                  <a:cs typeface="+mn-cs"/>
                </a:rPr>
                <a:t xml:space="preserve"> 项国家/行业计量规程规范</a:t>
              </a:r>
            </a:p>
          </p:txBody>
        </p:sp>
        <p:grpSp>
          <p:nvGrpSpPr>
            <p:cNvPr id="26" name="Group 26"/>
            <p:cNvGrpSpPr/>
            <p:nvPr/>
          </p:nvGrpSpPr>
          <p:grpSpPr>
            <a:xfrm>
              <a:off x="678061" y="3224212"/>
              <a:ext cx="160090" cy="235744"/>
              <a:chOff x="678061" y="3224212"/>
              <a:chExt cx="160090" cy="235744"/>
            </a:xfrm>
          </p:grpSpPr>
          <p:sp>
            <p:nvSpPr>
              <p:cNvPr id="22" name="Freeform 22"/>
              <p:cNvSpPr/>
              <p:nvPr/>
            </p:nvSpPr>
            <p:spPr>
              <a:xfrm>
                <a:off x="692944" y="3259931"/>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chemeClr val="accent3"/>
                </a:solidFill>
              </a:ln>
            </p:spPr>
          </p:sp>
          <p:sp>
            <p:nvSpPr>
              <p:cNvPr id="23" name="Freeform 23"/>
              <p:cNvSpPr/>
              <p:nvPr/>
            </p:nvSpPr>
            <p:spPr>
              <a:xfrm>
                <a:off x="678061" y="3224212"/>
                <a:ext cx="160090" cy="184780"/>
              </a:xfrm>
              <a:custGeom>
                <a:avLst/>
                <a:gdLst/>
                <a:ahLst/>
                <a:cxnLst/>
                <a:rect l="l" t="t" r="r" b="b"/>
                <a:pathLst>
                  <a:path w="160090" h="184780">
                    <a:moveTo>
                      <a:pt x="0" y="154781"/>
                    </a:moveTo>
                    <a:cubicBezTo>
                      <a:pt x="27407" y="178587"/>
                      <a:pt x="65948" y="184780"/>
                      <a:pt x="99433" y="170760"/>
                    </a:cubicBezTo>
                    <a:cubicBezTo>
                      <a:pt x="132919" y="156740"/>
                      <a:pt x="155550" y="124935"/>
                      <a:pt x="157820" y="88703"/>
                    </a:cubicBezTo>
                    <a:cubicBezTo>
                      <a:pt x="160090" y="52472"/>
                      <a:pt x="141607" y="18090"/>
                      <a:pt x="110133" y="0"/>
                    </a:cubicBezTo>
                  </a:path>
                </a:pathLst>
              </a:custGeom>
              <a:noFill/>
              <a:ln w="23812">
                <a:solidFill>
                  <a:schemeClr val="accent3"/>
                </a:solidFill>
              </a:ln>
            </p:spPr>
          </p:sp>
          <p:sp>
            <p:nvSpPr>
              <p:cNvPr id="24" name="Freeform 24"/>
              <p:cNvSpPr/>
              <p:nvPr/>
            </p:nvSpPr>
            <p:spPr>
              <a:xfrm>
                <a:off x="740569" y="3402806"/>
                <a:ext cx="9525" cy="47625"/>
              </a:xfrm>
              <a:custGeom>
                <a:avLst/>
                <a:gdLst/>
                <a:ahLst/>
                <a:cxnLst/>
                <a:rect l="l" t="t" r="r" b="b"/>
                <a:pathLst>
                  <a:path w="9525" h="47625">
                    <a:moveTo>
                      <a:pt x="0" y="0"/>
                    </a:moveTo>
                    <a:lnTo>
                      <a:pt x="0" y="47625"/>
                    </a:lnTo>
                  </a:path>
                </a:pathLst>
              </a:custGeom>
              <a:noFill/>
              <a:ln w="23812">
                <a:solidFill>
                  <a:schemeClr val="accent3"/>
                </a:solidFill>
              </a:ln>
            </p:spPr>
          </p:sp>
          <p:sp>
            <p:nvSpPr>
              <p:cNvPr id="25" name="Freeform 25"/>
              <p:cNvSpPr/>
              <p:nvPr/>
            </p:nvSpPr>
            <p:spPr>
              <a:xfrm>
                <a:off x="692944" y="3450431"/>
                <a:ext cx="95250" cy="9525"/>
              </a:xfrm>
              <a:custGeom>
                <a:avLst/>
                <a:gdLst/>
                <a:ahLst/>
                <a:cxnLst/>
                <a:rect l="l" t="t" r="r" b="b"/>
                <a:pathLst>
                  <a:path w="95250" h="9525">
                    <a:moveTo>
                      <a:pt x="0" y="0"/>
                    </a:moveTo>
                    <a:lnTo>
                      <a:pt x="95250" y="0"/>
                    </a:lnTo>
                  </a:path>
                </a:pathLst>
              </a:custGeom>
              <a:noFill/>
              <a:ln w="23812">
                <a:solidFill>
                  <a:schemeClr val="accent3"/>
                </a:solidFill>
              </a:ln>
            </p:spPr>
          </p:sp>
        </p:grpSp>
        <p:sp>
          <p:nvSpPr>
            <p:cNvPr id="27" name="TextBox 27"/>
            <p:cNvSpPr txBox="1"/>
            <p:nvPr/>
          </p:nvSpPr>
          <p:spPr>
            <a:xfrm>
              <a:off x="1020318" y="3231832"/>
              <a:ext cx="287104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7</a:t>
              </a:r>
              <a:r>
                <a:rPr lang="zh-CN" sz="1650" dirty="0">
                  <a:solidFill>
                    <a:schemeClr val="dk1"/>
                  </a:solidFill>
                  <a:latin typeface="+mn-lt"/>
                  <a:ea typeface="+mn-ea"/>
                  <a:cs typeface="+mn-cs"/>
                </a:rPr>
                <a:t xml:space="preserve"> 项我国主持制定的国际标准</a:t>
              </a:r>
            </a:p>
          </p:txBody>
        </p:sp>
        <p:sp>
          <p:nvSpPr>
            <p:cNvPr id="28" name="TextBox 28"/>
            <p:cNvSpPr txBox="1"/>
            <p:nvPr/>
          </p:nvSpPr>
          <p:spPr>
            <a:xfrm>
              <a:off x="1022604" y="3509010"/>
              <a:ext cx="14374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(ISO / UIC / IEEE)</a:t>
              </a:r>
            </a:p>
          </p:txBody>
        </p:sp>
        <p:grpSp>
          <p:nvGrpSpPr>
            <p:cNvPr id="32" name="Group 32"/>
            <p:cNvGrpSpPr/>
            <p:nvPr/>
          </p:nvGrpSpPr>
          <p:grpSpPr>
            <a:xfrm>
              <a:off x="650105" y="3864769"/>
              <a:ext cx="204716" cy="213003"/>
              <a:chOff x="650105" y="3864769"/>
              <a:chExt cx="204716" cy="213003"/>
            </a:xfrm>
          </p:grpSpPr>
          <p:sp>
            <p:nvSpPr>
              <p:cNvPr id="29" name="Freeform 29"/>
              <p:cNvSpPr/>
              <p:nvPr/>
            </p:nvSpPr>
            <p:spPr>
              <a:xfrm>
                <a:off x="681038" y="3864769"/>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23812">
                <a:solidFill>
                  <a:schemeClr val="accent1"/>
                </a:solidFill>
              </a:ln>
            </p:spPr>
          </p:sp>
          <p:sp>
            <p:nvSpPr>
              <p:cNvPr id="30" name="Freeform 30"/>
              <p:cNvSpPr/>
              <p:nvPr/>
            </p:nvSpPr>
            <p:spPr>
              <a:xfrm>
                <a:off x="752475" y="3971925"/>
                <a:ext cx="102346" cy="105847"/>
              </a:xfrm>
              <a:custGeom>
                <a:avLst/>
                <a:gdLst/>
                <a:ahLst/>
                <a:cxnLst/>
                <a:rect l="l" t="t" r="r" b="b"/>
                <a:pathLst>
                  <a:path w="102346" h="105847">
                    <a:moveTo>
                      <a:pt x="0" y="35719"/>
                    </a:moveTo>
                    <a:lnTo>
                      <a:pt x="40481" y="105847"/>
                    </a:lnTo>
                    <a:lnTo>
                      <a:pt x="59507" y="67354"/>
                    </a:lnTo>
                    <a:lnTo>
                      <a:pt x="102346" y="70116"/>
                    </a:lnTo>
                    <a:lnTo>
                      <a:pt x="61865" y="0"/>
                    </a:lnTo>
                  </a:path>
                </a:pathLst>
              </a:custGeom>
              <a:noFill/>
              <a:ln w="23812">
                <a:solidFill>
                  <a:schemeClr val="accent1"/>
                </a:solidFill>
              </a:ln>
            </p:spPr>
          </p:sp>
          <p:sp>
            <p:nvSpPr>
              <p:cNvPr id="31" name="Freeform 31"/>
              <p:cNvSpPr/>
              <p:nvPr/>
            </p:nvSpPr>
            <p:spPr>
              <a:xfrm>
                <a:off x="650105" y="3971925"/>
                <a:ext cx="102346" cy="105835"/>
              </a:xfrm>
              <a:custGeom>
                <a:avLst/>
                <a:gdLst/>
                <a:ahLst/>
                <a:cxnLst/>
                <a:rect l="l" t="t" r="r" b="b"/>
                <a:pathLst>
                  <a:path w="102346" h="105835">
                    <a:moveTo>
                      <a:pt x="40481" y="0"/>
                    </a:moveTo>
                    <a:lnTo>
                      <a:pt x="0" y="70128"/>
                    </a:lnTo>
                    <a:lnTo>
                      <a:pt x="42839" y="67354"/>
                    </a:lnTo>
                    <a:lnTo>
                      <a:pt x="61865" y="105835"/>
                    </a:lnTo>
                    <a:lnTo>
                      <a:pt x="102346" y="35719"/>
                    </a:lnTo>
                  </a:path>
                </a:pathLst>
              </a:custGeom>
              <a:noFill/>
              <a:ln w="23812">
                <a:solidFill>
                  <a:schemeClr val="accent1"/>
                </a:solidFill>
              </a:ln>
            </p:spPr>
          </p:sp>
        </p:grpSp>
        <p:sp>
          <p:nvSpPr>
            <p:cNvPr id="33" name="TextBox 33"/>
            <p:cNvSpPr txBox="1"/>
            <p:nvPr/>
          </p:nvSpPr>
          <p:spPr>
            <a:xfrm>
              <a:off x="1020318" y="3860482"/>
              <a:ext cx="212693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Consolas"/>
                  <a:ea typeface="Consolas"/>
                  <a:cs typeface="Consolas"/>
                </a:rPr>
                <a:t>21+5</a:t>
              </a:r>
              <a:r>
                <a:rPr lang="zh-CN" sz="1650" dirty="0">
                  <a:solidFill>
                    <a:schemeClr val="dk1"/>
                  </a:solidFill>
                  <a:latin typeface="+mn-lt"/>
                  <a:ea typeface="+mn-ea"/>
                  <a:cs typeface="+mn-cs"/>
                </a:rPr>
                <a:t xml:space="preserve"> 项标准外文译本</a:t>
              </a:r>
            </a:p>
          </p:txBody>
        </p:sp>
        <p:sp>
          <p:nvSpPr>
            <p:cNvPr id="34" name="Line 34"/>
            <p:cNvSpPr/>
            <p:nvPr/>
          </p:nvSpPr>
          <p:spPr>
            <a:xfrm>
              <a:off x="609600" y="4324350"/>
              <a:ext cx="6286500" cy="9525"/>
            </a:xfrm>
            <a:custGeom>
              <a:avLst/>
              <a:gdLst/>
              <a:ahLst/>
              <a:cxnLst/>
              <a:rect l="l" t="t" r="r" b="b"/>
              <a:pathLst>
                <a:path w="6286500" h="9525">
                  <a:moveTo>
                    <a:pt x="0" y="0"/>
                  </a:moveTo>
                  <a:lnTo>
                    <a:pt x="6286500" y="0"/>
                  </a:lnTo>
                </a:path>
              </a:pathLst>
            </a:custGeom>
            <a:noFill/>
            <a:ln w="9525">
              <a:solidFill>
                <a:schemeClr val="accent6"/>
              </a:solidFill>
            </a:ln>
          </p:spPr>
        </p:sp>
        <p:sp>
          <p:nvSpPr>
            <p:cNvPr id="35" name="TextBox 35"/>
            <p:cNvSpPr txBox="1"/>
            <p:nvPr/>
          </p:nvSpPr>
          <p:spPr>
            <a:xfrm>
              <a:off x="603504" y="4442460"/>
              <a:ext cx="4957572" cy="615696"/>
            </a:xfrm>
            <a:prstGeom prst="rect">
              <a:avLst/>
            </a:prstGeom>
            <a:noFill/>
            <a:ln>
              <a:noFill/>
            </a:ln>
          </p:spPr>
          <p:txBody>
            <a:bodyPr wrap="none" lIns="0" tIns="0" rIns="0" bIns="0" anchor="t" anchorCtr="0">
              <a:spAutoFit/>
            </a:bodyPr>
            <a:lstStyle/>
            <a:p>
              <a:pPr algn="l">
                <a:lnSpc>
                  <a:spcPts val="1500"/>
                </a:lnSpc>
              </a:pPr>
              <a:r>
                <a:rPr lang="zh-CN" sz="1200" dirty="0">
                  <a:solidFill>
                    <a:schemeClr val="accent5"/>
                  </a:solidFill>
                  <a:latin typeface="+mn-lt"/>
                  <a:ea typeface="+mn-ea"/>
                  <a:cs typeface="+mn-cs"/>
                </a:rPr>
                <a:t>2名专家获国际标准化组织(ISO)"卓越贡献奖";1名专家获国际电工委员会</a:t>
              </a:r>
              <a:br/>
              <a:r>
                <a:rPr lang="zh-CN" sz="1200" dirty="0">
                  <a:solidFill>
                    <a:schemeClr val="accent5"/>
                  </a:solidFill>
                  <a:latin typeface="+mn-lt"/>
                  <a:ea typeface="+mn-ea"/>
                  <a:cs typeface="+mn-cs"/>
                </a:rPr>
                <a:t>(IEC)"1906奖"(我国第6次获此奖项);3项标准获中国工程建设标准化</a:t>
              </a:r>
              <a:br/>
              <a:r>
                <a:rPr lang="zh-CN" sz="1200" dirty="0">
                  <a:solidFill>
                    <a:schemeClr val="accent5"/>
                  </a:solidFill>
                  <a:latin typeface="+mn-lt"/>
                  <a:ea typeface="+mn-ea"/>
                  <a:cs typeface="+mn-cs"/>
                </a:rPr>
                <a:t>协会标准科技创新奖。</a:t>
              </a:r>
            </a:p>
          </p:txBody>
        </p:sp>
        <p:sp>
          <p:nvSpPr>
            <p:cNvPr id="36" name="TextBox 36"/>
            <p:cNvSpPr txBox="1"/>
            <p:nvPr/>
          </p:nvSpPr>
          <p:spPr>
            <a:xfrm>
              <a:off x="603885" y="5098256"/>
              <a:ext cx="322292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来源:国家铁路局《2024年铁道统计公报》第6页</a:t>
              </a:r>
            </a:p>
          </p:txBody>
        </p:sp>
      </p:grpSp>
      <p:sp>
        <p:nvSpPr>
          <p:cNvPr id="38" name="Line 38"/>
          <p:cNvSpPr/>
          <p:nvPr/>
        </p:nvSpPr>
        <p:spPr>
          <a:xfrm>
            <a:off x="6781800" y="1676400"/>
            <a:ext cx="9525" cy="4572000"/>
          </a:xfrm>
          <a:custGeom>
            <a:avLst/>
            <a:gdLst/>
            <a:ahLst/>
            <a:cxnLst/>
            <a:rect l="l" t="t" r="r" b="b"/>
            <a:pathLst>
              <a:path w="9525" h="4572000">
                <a:moveTo>
                  <a:pt x="0" y="0"/>
                </a:moveTo>
                <a:lnTo>
                  <a:pt x="0" y="4572000"/>
                </a:lnTo>
              </a:path>
            </a:pathLst>
          </a:custGeom>
          <a:noFill/>
          <a:ln w="9525">
            <a:solidFill>
              <a:schemeClr val="accent6"/>
            </a:solidFill>
          </a:ln>
        </p:spPr>
      </p:sp>
      <p:grpSp>
        <p:nvGrpSpPr>
          <p:cNvPr id="42" name="award-highlight"/>
          <p:cNvGrpSpPr/>
          <p:nvPr/>
        </p:nvGrpSpPr>
        <p:grpSpPr>
          <a:xfrm>
            <a:off x="7086600" y="1905000"/>
            <a:ext cx="3810000" cy="571500"/>
            <a:chOff x="7086600" y="1905000"/>
            <a:chExt cx="3810000" cy="571500"/>
          </a:xfrm>
        </p:grpSpPr>
        <p:sp>
          <p:nvSpPr>
            <p:cNvPr id="39" name="Freeform 39"/>
            <p:cNvSpPr/>
            <p:nvPr/>
          </p:nvSpPr>
          <p:spPr>
            <a:xfrm>
              <a:off x="7086600" y="1905000"/>
              <a:ext cx="3810000" cy="571500"/>
            </a:xfrm>
            <a:prstGeom prst="ribbon2">
              <a:avLst/>
            </a:prstGeom>
            <a:solidFill>
              <a:schemeClr val="accent2"/>
            </a:solidFill>
            <a:ln>
              <a:noFill/>
            </a:ln>
          </p:spPr>
        </p:sp>
        <p:sp>
          <p:nvSpPr>
            <p:cNvPr id="40" name="TextBox 40"/>
            <p:cNvSpPr txBox="1"/>
            <p:nvPr/>
          </p:nvSpPr>
          <p:spPr>
            <a:xfrm>
              <a:off x="8348662" y="2045018"/>
              <a:ext cx="128587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复兴号高速列车</a:t>
              </a:r>
            </a:p>
          </p:txBody>
        </p:sp>
        <p:sp>
          <p:nvSpPr>
            <p:cNvPr id="41" name="TextBox 41"/>
            <p:cNvSpPr txBox="1"/>
            <p:nvPr/>
          </p:nvSpPr>
          <p:spPr>
            <a:xfrm>
              <a:off x="8175292" y="2256949"/>
              <a:ext cx="1632615" cy="190690"/>
            </a:xfrm>
            <a:prstGeom prst="rect">
              <a:avLst/>
            </a:prstGeom>
            <a:noFill/>
            <a:ln>
              <a:noFill/>
            </a:ln>
          </p:spPr>
          <p:txBody>
            <a:bodyPr wrap="none" lIns="0" tIns="0" rIns="0" bIns="0" anchor="t" anchorCtr="0">
              <a:spAutoFit/>
            </a:bodyPr>
            <a:lstStyle/>
            <a:p>
              <a:pPr algn="ctr"/>
              <a:r>
                <a:rPr lang="zh-CN" sz="980" dirty="0">
                  <a:solidFill>
                    <a:srgbClr val="FFE3E7"/>
                  </a:solidFill>
                  <a:latin typeface="+mn-lt"/>
                  <a:ea typeface="+mn-ea"/>
                  <a:cs typeface="+mn-cs"/>
                </a:rPr>
                <a:t>国家科学技术进步奖 特等奖</a:t>
              </a:r>
            </a:p>
          </p:txBody>
        </p:sp>
      </p:grpSp>
      <p:grpSp>
        <p:nvGrpSpPr>
          <p:cNvPr id="52" name="award-others"/>
          <p:cNvGrpSpPr/>
          <p:nvPr/>
        </p:nvGrpSpPr>
        <p:grpSpPr>
          <a:xfrm>
            <a:off x="7079742" y="2902268"/>
            <a:ext cx="4502658" cy="3387566"/>
            <a:chOff x="7079742" y="2902268"/>
            <a:chExt cx="4502658" cy="3387566"/>
          </a:xfrm>
        </p:grpSpPr>
        <p:sp>
          <p:nvSpPr>
            <p:cNvPr id="43" name="TextBox 43"/>
            <p:cNvSpPr txBox="1"/>
            <p:nvPr/>
          </p:nvSpPr>
          <p:spPr>
            <a:xfrm>
              <a:off x="7079742" y="2902268"/>
              <a:ext cx="293877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2024年度国家科学技术奖 · 铁路6项</a:t>
              </a:r>
            </a:p>
          </p:txBody>
        </p:sp>
        <p:sp>
          <p:nvSpPr>
            <p:cNvPr id="44" name="TextBox 44"/>
            <p:cNvSpPr txBox="1"/>
            <p:nvPr/>
          </p:nvSpPr>
          <p:spPr>
            <a:xfrm>
              <a:off x="7080123" y="3215164"/>
              <a:ext cx="275209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永磁电涡流阻尼减振缓冲耗能新技术</a:t>
              </a:r>
              <a:br/>
              <a:r>
                <a:rPr lang="zh-CN" sz="1280" dirty="0">
                  <a:solidFill>
                    <a:schemeClr val="dk1"/>
                  </a:solidFill>
                  <a:latin typeface="+mn-lt"/>
                  <a:ea typeface="+mn-ea"/>
                  <a:cs typeface="+mn-cs"/>
                </a:rPr>
                <a:t>—— 技术发明奖</a:t>
              </a:r>
              <a:r>
                <a:rPr lang="zh-CN" sz="1280" b="1" dirty="0">
                  <a:solidFill>
                    <a:schemeClr val="dk1"/>
                  </a:solidFill>
                  <a:latin typeface="+mn-lt"/>
                  <a:ea typeface="+mn-ea"/>
                  <a:cs typeface="+mn-cs"/>
                </a:rPr>
                <a:t>一等奖</a:t>
              </a:r>
            </a:p>
          </p:txBody>
        </p:sp>
        <p:sp>
          <p:nvSpPr>
            <p:cNvPr id="45" name="TextBox 45"/>
            <p:cNvSpPr txBox="1"/>
            <p:nvPr/>
          </p:nvSpPr>
          <p:spPr>
            <a:xfrm>
              <a:off x="7080123" y="3691414"/>
              <a:ext cx="291465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复杂运营条件下高铁轨道系统状态演化</a:t>
              </a:r>
              <a:br/>
              <a:r>
                <a:rPr lang="zh-CN" sz="1280" dirty="0">
                  <a:solidFill>
                    <a:schemeClr val="dk1"/>
                  </a:solidFill>
                  <a:latin typeface="+mn-lt"/>
                  <a:ea typeface="+mn-ea"/>
                  <a:cs typeface="+mn-cs"/>
                </a:rPr>
                <a:t>—— 进步奖</a:t>
              </a:r>
              <a:r>
                <a:rPr lang="zh-CN" sz="1280" b="1" dirty="0">
                  <a:solidFill>
                    <a:schemeClr val="dk1"/>
                  </a:solidFill>
                  <a:latin typeface="+mn-lt"/>
                  <a:ea typeface="+mn-ea"/>
                  <a:cs typeface="+mn-cs"/>
                </a:rPr>
                <a:t>二等奖</a:t>
              </a:r>
            </a:p>
          </p:txBody>
        </p:sp>
        <p:sp>
          <p:nvSpPr>
            <p:cNvPr id="46" name="TextBox 46"/>
            <p:cNvSpPr txBox="1"/>
            <p:nvPr/>
          </p:nvSpPr>
          <p:spPr>
            <a:xfrm>
              <a:off x="7080123" y="4167664"/>
              <a:ext cx="2435098"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350km/h高铁道岔结构关键技术</a:t>
              </a:r>
              <a:br/>
              <a:r>
                <a:rPr lang="zh-CN" sz="1280" dirty="0">
                  <a:solidFill>
                    <a:schemeClr val="dk1"/>
                  </a:solidFill>
                  <a:latin typeface="+mn-lt"/>
                  <a:ea typeface="+mn-ea"/>
                  <a:cs typeface="+mn-cs"/>
                </a:rPr>
                <a:t>—— 技术发明奖</a:t>
              </a:r>
              <a:r>
                <a:rPr lang="zh-CN" sz="1280" b="1" dirty="0">
                  <a:solidFill>
                    <a:schemeClr val="dk1"/>
                  </a:solidFill>
                  <a:latin typeface="+mn-lt"/>
                  <a:ea typeface="+mn-ea"/>
                  <a:cs typeface="+mn-cs"/>
                </a:rPr>
                <a:t>二等奖</a:t>
              </a:r>
            </a:p>
          </p:txBody>
        </p:sp>
        <p:sp>
          <p:nvSpPr>
            <p:cNvPr id="47" name="TextBox 47"/>
            <p:cNvSpPr txBox="1"/>
            <p:nvPr/>
          </p:nvSpPr>
          <p:spPr>
            <a:xfrm>
              <a:off x="7080123" y="4643914"/>
              <a:ext cx="291465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软弱土基坑工程安全控制绿色高效技术</a:t>
              </a:r>
              <a:br/>
              <a:r>
                <a:rPr lang="zh-CN" sz="1280" dirty="0">
                  <a:solidFill>
                    <a:schemeClr val="dk1"/>
                  </a:solidFill>
                  <a:latin typeface="+mn-lt"/>
                  <a:ea typeface="+mn-ea"/>
                  <a:cs typeface="+mn-cs"/>
                </a:rPr>
                <a:t>—— 技术发明奖</a:t>
              </a:r>
              <a:r>
                <a:rPr lang="zh-CN" sz="1280" b="1" dirty="0">
                  <a:solidFill>
                    <a:schemeClr val="dk1"/>
                  </a:solidFill>
                  <a:latin typeface="+mn-lt"/>
                  <a:ea typeface="+mn-ea"/>
                  <a:cs typeface="+mn-cs"/>
                </a:rPr>
                <a:t>二等奖</a:t>
              </a:r>
            </a:p>
          </p:txBody>
        </p:sp>
        <p:sp>
          <p:nvSpPr>
            <p:cNvPr id="48" name="TextBox 48"/>
            <p:cNvSpPr txBox="1"/>
            <p:nvPr/>
          </p:nvSpPr>
          <p:spPr>
            <a:xfrm>
              <a:off x="7080123" y="5120164"/>
              <a:ext cx="2914650" cy="439864"/>
            </a:xfrm>
            <a:prstGeom prst="rect">
              <a:avLst/>
            </a:prstGeom>
            <a:noFill/>
            <a:ln>
              <a:noFill/>
            </a:ln>
          </p:spPr>
          <p:txBody>
            <a:bodyPr wrap="none" lIns="0" tIns="0" rIns="0" bIns="0" anchor="t" anchorCtr="0">
              <a:spAutoFit/>
            </a:bodyPr>
            <a:lstStyle/>
            <a:p>
              <a:pPr algn="l" marL="138176" indent="-138176">
                <a:lnSpc>
                  <a:spcPts val="1500"/>
                </a:lnSpc>
                <a:buClr>
                  <a:schemeClr val="dk1"/>
                </a:buClr>
                <a:buSzTx/>
                <a:buFontTx/>
                <a:buChar char="•"/>
              </a:pPr>
              <a:r>
                <a:rPr lang="zh-CN" sz="1280" dirty="0">
                  <a:solidFill>
                    <a:schemeClr val="dk1"/>
                  </a:solidFill>
                  <a:latin typeface="+mn-lt"/>
                  <a:ea typeface="+mn-ea"/>
                  <a:cs typeface="+mn-cs"/>
                </a:rPr>
                <a:t>高速移动复杂场景信道特征及传输理论</a:t>
              </a:r>
              <a:br/>
              <a:r>
                <a:rPr lang="zh-CN" sz="1280" dirty="0">
                  <a:solidFill>
                    <a:schemeClr val="dk1"/>
                  </a:solidFill>
                  <a:latin typeface="+mn-lt"/>
                  <a:ea typeface="+mn-ea"/>
                  <a:cs typeface="+mn-cs"/>
                </a:rPr>
                <a:t>—— 自然科学奖</a:t>
              </a:r>
              <a:r>
                <a:rPr lang="zh-CN" sz="1280" b="1" dirty="0">
                  <a:solidFill>
                    <a:schemeClr val="dk1"/>
                  </a:solidFill>
                  <a:latin typeface="+mn-lt"/>
                  <a:ea typeface="+mn-ea"/>
                  <a:cs typeface="+mn-cs"/>
                </a:rPr>
                <a:t>二等奖</a:t>
              </a:r>
            </a:p>
          </p:txBody>
        </p:sp>
        <p:sp>
          <p:nvSpPr>
            <p:cNvPr id="49" name="Line 49"/>
            <p:cNvSpPr/>
            <p:nvPr/>
          </p:nvSpPr>
          <p:spPr>
            <a:xfrm>
              <a:off x="7086600" y="5600700"/>
              <a:ext cx="4495800" cy="9525"/>
            </a:xfrm>
            <a:custGeom>
              <a:avLst/>
              <a:gdLst/>
              <a:ahLst/>
              <a:cxnLst/>
              <a:rect l="l" t="t" r="r" b="b"/>
              <a:pathLst>
                <a:path w="4495800" h="9525">
                  <a:moveTo>
                    <a:pt x="0" y="0"/>
                  </a:moveTo>
                  <a:lnTo>
                    <a:pt x="4495800" y="0"/>
                  </a:lnTo>
                </a:path>
              </a:pathLst>
            </a:custGeom>
            <a:noFill/>
            <a:ln w="9525">
              <a:solidFill>
                <a:schemeClr val="accent6"/>
              </a:solidFill>
            </a:ln>
          </p:spPr>
        </p:sp>
        <p:sp>
          <p:nvSpPr>
            <p:cNvPr id="50" name="TextBox 50"/>
            <p:cNvSpPr txBox="1"/>
            <p:nvPr/>
          </p:nvSpPr>
          <p:spPr>
            <a:xfrm>
              <a:off x="7080123" y="5672614"/>
              <a:ext cx="308875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重大科技创新成果库2024年度入库</a:t>
              </a:r>
              <a:r>
                <a:rPr lang="zh-CN" sz="1280" b="1" dirty="0">
                  <a:solidFill>
                    <a:schemeClr val="dk1"/>
                  </a:solidFill>
                  <a:latin typeface="Consolas"/>
                  <a:ea typeface="Consolas"/>
                  <a:cs typeface="Consolas"/>
                </a:rPr>
                <a:t>335</a:t>
              </a:r>
              <a:r>
                <a:rPr lang="zh-CN" sz="1280" dirty="0">
                  <a:solidFill>
                    <a:schemeClr val="dk1"/>
                  </a:solidFill>
                  <a:latin typeface="+mn-lt"/>
                  <a:ea typeface="+mn-ea"/>
                  <a:cs typeface="+mn-cs"/>
                </a:rPr>
                <a:t>项</a:t>
              </a:r>
            </a:p>
          </p:txBody>
        </p:sp>
        <p:sp>
          <p:nvSpPr>
            <p:cNvPr id="51" name="TextBox 51"/>
            <p:cNvSpPr txBox="1"/>
            <p:nvPr/>
          </p:nvSpPr>
          <p:spPr>
            <a:xfrm>
              <a:off x="7080885" y="5898356"/>
              <a:ext cx="3339846" cy="391478"/>
            </a:xfrm>
            <a:prstGeom prst="rect">
              <a:avLst/>
            </a:prstGeom>
            <a:noFill/>
            <a:ln>
              <a:noFill/>
            </a:ln>
          </p:spPr>
          <p:txBody>
            <a:bodyPr wrap="none" lIns="0" tIns="0" rIns="0" bIns="0" anchor="t" anchorCtr="0">
              <a:spAutoFit/>
            </a:bodyPr>
            <a:lstStyle/>
            <a:p>
              <a:pPr algn="l">
                <a:lnSpc>
                  <a:spcPts val="1350"/>
                </a:lnSpc>
              </a:pPr>
              <a:r>
                <a:rPr lang="zh-CN" sz="1120" dirty="0">
                  <a:solidFill>
                    <a:schemeClr val="accent5"/>
                  </a:solidFill>
                  <a:latin typeface="+mn-lt"/>
                  <a:ea typeface="+mn-ea"/>
                  <a:cs typeface="+mn-cs"/>
                </a:rPr>
                <a:t>科技项目50 · 专利61 · 技术标准24 · 科技论文200篇</a:t>
              </a:r>
              <a:br/>
              <a:r>
                <a:rPr lang="zh-CN" sz="1120" dirty="0">
                  <a:solidFill>
                    <a:schemeClr val="accent5"/>
                  </a:solidFill>
                  <a:latin typeface="+mn-lt"/>
                  <a:ea typeface="+mn-ea"/>
                  <a:cs typeface="+mn-cs"/>
                </a:rPr>
                <a:t>来源:国家铁路局《2024年铁道统计公报》第6-7页</a:t>
              </a:r>
            </a:p>
          </p:txBody>
        </p:sp>
      </p:grpSp>
      <p:grpSp>
        <p:nvGrpSpPr>
          <p:cNvPr id="56" name="footer"/>
          <p:cNvGrpSpPr/>
          <p:nvPr/>
        </p:nvGrpSpPr>
        <p:grpSpPr>
          <a:xfrm>
            <a:off x="603504" y="6305550"/>
            <a:ext cx="10984992" cy="333756"/>
            <a:chOff x="603504" y="6305550"/>
            <a:chExt cx="10984992" cy="333756"/>
          </a:xfrm>
        </p:grpSpPr>
        <p:sp>
          <p:nvSpPr>
            <p:cNvPr id="53" name="Line 53"/>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4" name="TextBox 54"/>
            <p:cNvSpPr txBox="1"/>
            <p:nvPr/>
          </p:nvSpPr>
          <p:spPr>
            <a:xfrm>
              <a:off x="603504" y="6404610"/>
              <a:ext cx="191033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中国铁路2024:数据与现场</a:t>
              </a:r>
            </a:p>
          </p:txBody>
        </p:sp>
        <p:sp>
          <p:nvSpPr>
            <p:cNvPr id="55" name="TextBox 55"/>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350"/>
                                        <p:tgtEl>
                                          <p:spTgt spid="37"/>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350"/>
                                        <p:tgtEl>
                                          <p:spTgt spid="42"/>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3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5884" y="501968"/>
            <a:ext cx="7546132" cy="820483"/>
            <a:chOff x="595884" y="501968"/>
            <a:chExt cx="7546132" cy="820483"/>
          </a:xfrm>
        </p:grpSpPr>
        <p:sp>
          <p:nvSpPr>
            <p:cNvPr id="2" name="TextBox 2"/>
            <p:cNvSpPr txBox="1"/>
            <p:nvPr/>
          </p:nvSpPr>
          <p:spPr>
            <a:xfrm>
              <a:off x="602742" y="501968"/>
              <a:ext cx="1936209" cy="264033"/>
            </a:xfrm>
            <a:prstGeom prst="rect">
              <a:avLst/>
            </a:prstGeom>
            <a:noFill/>
            <a:ln>
              <a:noFill/>
            </a:ln>
          </p:spPr>
          <p:txBody>
            <a:bodyPr wrap="none" lIns="0" tIns="0" rIns="0" bIns="0" anchor="t" anchorCtr="0">
              <a:spAutoFit/>
            </a:bodyPr>
            <a:lstStyle/>
            <a:p>
              <a:pPr algn="l"/>
              <a:r>
                <a:rPr lang="zh-CN" sz="1350" b="1" spc="150" dirty="0">
                  <a:solidFill>
                    <a:schemeClr val="accent2"/>
                  </a:solidFill>
                  <a:latin typeface="+mn-lt"/>
                  <a:ea typeface="+mn-ea"/>
                  <a:cs typeface="+mn-cs"/>
                </a:rPr>
                <a:t>11 · 绿色低碳与监管</a:t>
              </a:r>
            </a:p>
          </p:txBody>
        </p:sp>
        <p:sp>
          <p:nvSpPr>
            <p:cNvPr id="3" name="TextBox 3"/>
            <p:cNvSpPr txBox="1"/>
            <p:nvPr/>
          </p:nvSpPr>
          <p:spPr>
            <a:xfrm>
              <a:off x="595884" y="794385"/>
              <a:ext cx="7546132" cy="528066"/>
            </a:xfrm>
            <a:prstGeom prst="rect">
              <a:avLst/>
            </a:prstGeom>
            <a:noFill/>
            <a:ln>
              <a:noFill/>
            </a:ln>
          </p:spPr>
          <p:txBody>
            <a:bodyPr wrap="none" lIns="0" tIns="0" rIns="0" bIns="0" anchor="t" anchorCtr="0">
              <a:spAutoFit/>
            </a:bodyPr>
            <a:lstStyle/>
            <a:p>
              <a:pPr algn="l"/>
              <a:r>
                <a:rPr lang="zh-CN" sz="2700" b="1" dirty="0">
                  <a:solidFill>
                    <a:schemeClr val="accent1"/>
                  </a:solidFill>
                  <a:latin typeface="+mj-lt"/>
                  <a:ea typeface="+mj-ea"/>
                  <a:cs typeface="+mj-cs"/>
                </a:rPr>
                <a:t>总能耗随运量增长,主要污染物排放同比下降</a:t>
              </a:r>
            </a:p>
          </p:txBody>
        </p:sp>
        <p:sp>
          <p:nvSpPr>
            <p:cNvPr id="4" name="Rectangle 4"/>
            <p:cNvSpPr/>
            <p:nvPr/>
          </p:nvSpPr>
          <p:spPr>
            <a:xfrm>
              <a:off x="609600" y="1219200"/>
              <a:ext cx="1333500" cy="47625"/>
            </a:xfrm>
            <a:prstGeom prst="rect">
              <a:avLst/>
            </a:prstGeom>
            <a:gradFill>
              <a:gsLst>
                <a:gs pos="0">
                  <a:schemeClr val="accent1"/>
                </a:gs>
                <a:gs pos="100000">
                  <a:schemeClr val="accent2"/>
                </a:gs>
              </a:gsLst>
              <a:lin ang="0" scaled="1"/>
            </a:gradFill>
            <a:ln>
              <a:noFill/>
            </a:ln>
          </p:spPr>
        </p:sp>
      </p:grpSp>
      <p:graphicFrame>
        <p:nvGraphicFramePr>
          <p:cNvPr id="6" name="energy-yoy"/>
          <p:cNvGraphicFramePr>
            <a:graphicFrameLocks noGrp="1"/>
          </p:cNvGraphicFramePr>
          <p:nvPr/>
        </p:nvGraphicFramePr>
        <p:xfrm>
          <a:off x="609600" y="1676400"/>
          <a:ext cx="3238500" cy="2133600"/>
        </p:xfrm>
        <a:graphic>
          <a:graphicData uri="http://schemas.openxmlformats.org/drawingml/2006/chart">
            <c:chart xmlns:c="http://schemas.openxmlformats.org/drawingml/2006/chart" r:id="rId2"/>
          </a:graphicData>
        </a:graphic>
      </p:graphicFrame>
      <p:graphicFrame>
        <p:nvGraphicFramePr>
          <p:cNvPr id="7" name="cod-yoy"/>
          <p:cNvGraphicFramePr>
            <a:graphicFrameLocks noGrp="1"/>
          </p:cNvGraphicFramePr>
          <p:nvPr/>
        </p:nvGraphicFramePr>
        <p:xfrm>
          <a:off x="4038600" y="1676400"/>
          <a:ext cx="3238500" cy="2133600"/>
        </p:xfrm>
        <a:graphic>
          <a:graphicData uri="http://schemas.openxmlformats.org/drawingml/2006/chart">
            <c:chart xmlns:c="http://schemas.openxmlformats.org/drawingml/2006/chart" r:id="rId3"/>
          </a:graphicData>
        </a:graphic>
      </p:graphicFrame>
      <p:graphicFrame>
        <p:nvGraphicFramePr>
          <p:cNvPr id="8" name="so2-yoy"/>
          <p:cNvGraphicFramePr>
            <a:graphicFrameLocks noGrp="1"/>
          </p:cNvGraphicFramePr>
          <p:nvPr/>
        </p:nvGraphicFramePr>
        <p:xfrm>
          <a:off x="7467600" y="1676400"/>
          <a:ext cx="3238500" cy="2133600"/>
        </p:xfrm>
        <a:graphic>
          <a:graphicData uri="http://schemas.openxmlformats.org/drawingml/2006/chart">
            <c:chart xmlns:c="http://schemas.openxmlformats.org/drawingml/2006/chart" r:id="rId4"/>
          </a:graphicData>
        </a:graphic>
      </p:graphicFrame>
      <p:grpSp>
        <p:nvGrpSpPr>
          <p:cNvPr id="13" name="green-photo"/>
          <p:cNvGrpSpPr/>
          <p:nvPr/>
        </p:nvGrpSpPr>
        <p:grpSpPr>
          <a:xfrm>
            <a:off x="609600" y="4095750"/>
            <a:ext cx="3238500" cy="1838039"/>
            <a:chOff x="609600" y="4095750"/>
            <a:chExt cx="3238500" cy="1838039"/>
          </a:xfrm>
        </p:grpSpPr>
        <p:pic>
          <p:nvPicPr>
            <p:cNvPr id="9" name="Image 9"/>
            <p:cNvPicPr>
              <a:picLocks noChangeAspect="1"/>
            </p:cNvPicPr>
            <p:nvPr/>
          </p:nvPicPr>
          <p:blipFill>
            <a:blip r:embed="rId5"/>
            <a:srcRect l="0" t="12353" r="0" b="12353"/>
            <a:stretch>
              <a:fillRect/>
            </a:stretch>
          </p:blipFill>
          <p:spPr>
            <a:xfrm>
              <a:off x="609600" y="4095750"/>
              <a:ext cx="3238500" cy="1828800"/>
            </a:xfrm>
            <a:prstGeom prst="roundRect">
              <a:avLst>
                <a:gd name="adj" fmla="val 7291"/>
              </a:avLst>
            </a:prstGeom>
          </p:spPr>
        </p:pic>
        <p:sp>
          <p:nvSpPr>
            <p:cNvPr id="10" name="Rectangle 10"/>
            <p:cNvSpPr/>
            <p:nvPr/>
          </p:nvSpPr>
          <p:spPr>
            <a:xfrm>
              <a:off x="609600" y="4095750"/>
              <a:ext cx="3238500" cy="1828800"/>
            </a:xfrm>
            <a:prstGeom prst="roundRect">
              <a:avLst>
                <a:gd name="adj" fmla="val 7292"/>
              </a:avLst>
            </a:prstGeom>
            <a:gradFill>
              <a:gsLst>
                <a:gs pos="0">
                  <a:srgbClr val="08152A">
                    <a:alpha val="0"/>
                  </a:srgbClr>
                </a:gs>
                <a:gs pos="60000">
                  <a:srgbClr val="08152A">
                    <a:alpha val="10000"/>
                  </a:srgbClr>
                </a:gs>
                <a:gs pos="100000">
                  <a:srgbClr val="08152A">
                    <a:alpha val="62000"/>
                  </a:srgbClr>
                </a:gs>
              </a:gsLst>
              <a:lin ang="5400000" scaled="1"/>
            </a:gradFill>
            <a:ln>
              <a:noFill/>
            </a:ln>
          </p:spPr>
        </p:sp>
        <p:sp>
          <p:nvSpPr>
            <p:cNvPr id="11" name="TextBox 11"/>
            <p:cNvSpPr txBox="1"/>
            <p:nvPr/>
          </p:nvSpPr>
          <p:spPr>
            <a:xfrm>
              <a:off x="794004" y="5547360"/>
              <a:ext cx="981456" cy="234696"/>
            </a:xfrm>
            <a:prstGeom prst="rect">
              <a:avLst/>
            </a:prstGeom>
            <a:noFill/>
            <a:ln>
              <a:noFill/>
            </a:ln>
          </p:spPr>
          <p:txBody>
            <a:bodyPr wrap="none" lIns="0" tIns="0" rIns="0" bIns="0" anchor="t" anchorCtr="0">
              <a:spAutoFit/>
            </a:bodyPr>
            <a:lstStyle/>
            <a:p>
              <a:pPr algn="l"/>
              <a:r>
                <a:rPr lang="zh-CN" sz="1200" b="1" dirty="0">
                  <a:solidFill>
                    <a:srgbClr val="FFFFFF"/>
                  </a:solidFill>
                  <a:latin typeface="+mn-lt"/>
                  <a:ea typeface="+mn-ea"/>
                  <a:cs typeface="+mn-cs"/>
                </a:rPr>
                <a:t>青藏铁路车窗</a:t>
              </a:r>
            </a:p>
          </p:txBody>
        </p:sp>
        <p:sp>
          <p:nvSpPr>
            <p:cNvPr id="12" name="TextBox 12"/>
            <p:cNvSpPr txBox="1"/>
            <p:nvPr/>
          </p:nvSpPr>
          <p:spPr>
            <a:xfrm>
              <a:off x="795147" y="5743099"/>
              <a:ext cx="1904585" cy="190690"/>
            </a:xfrm>
            <a:prstGeom prst="rect">
              <a:avLst/>
            </a:prstGeom>
            <a:noFill/>
            <a:ln>
              <a:noFill/>
            </a:ln>
          </p:spPr>
          <p:txBody>
            <a:bodyPr wrap="none" lIns="0" tIns="0" rIns="0" bIns="0" anchor="t" anchorCtr="0">
              <a:spAutoFit/>
            </a:bodyPr>
            <a:lstStyle/>
            <a:p>
              <a:pPr algn="l"/>
              <a:r>
                <a:rPr lang="zh-CN" sz="980" dirty="0">
                  <a:solidFill>
                    <a:srgbClr val="E7EAF1"/>
                  </a:solidFill>
                  <a:latin typeface="+mn-lt"/>
                  <a:ea typeface="+mn-ea"/>
                  <a:cs typeface="+mn-cs"/>
                </a:rPr>
                <a:t>图片:</a:t>
              </a:r>
              <a:r>
                <a:rPr lang="en-US" sz="980" u="sng" dirty="0">
                  <a:solidFill>
                    <a:srgbClr val="E7EAF1"/>
                  </a:solidFill>
                  <a:latin typeface="+mn-lt"/>
                  <a:ea typeface="+mn-ea"/>
                  <a:cs typeface="+mn-cs"/>
                  <a:hlinkClick r:id="rId6"/>
                </a:rPr>
                <a:t>Hiroki Ogawa, CC BY 3.0</a:t>
              </a:r>
            </a:p>
          </p:txBody>
        </p:sp>
      </p:grpSp>
      <p:grpSp>
        <p:nvGrpSpPr>
          <p:cNvPr id="20" name="regulation-stats"/>
          <p:cNvGrpSpPr/>
          <p:nvPr/>
        </p:nvGrpSpPr>
        <p:grpSpPr>
          <a:xfrm>
            <a:off x="4031742" y="4140518"/>
            <a:ext cx="7250529" cy="1482566"/>
            <a:chOff x="4031742" y="4140518"/>
            <a:chExt cx="7250529" cy="1482566"/>
          </a:xfrm>
        </p:grpSpPr>
        <p:sp>
          <p:nvSpPr>
            <p:cNvPr id="14" name="TextBox 14"/>
            <p:cNvSpPr txBox="1"/>
            <p:nvPr/>
          </p:nvSpPr>
          <p:spPr>
            <a:xfrm>
              <a:off x="4031742" y="414051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行业监管</a:t>
              </a:r>
            </a:p>
          </p:txBody>
        </p:sp>
        <p:sp>
          <p:nvSpPr>
            <p:cNvPr id="15" name="TextBox 15"/>
            <p:cNvSpPr txBox="1"/>
            <p:nvPr/>
          </p:nvSpPr>
          <p:spPr>
            <a:xfrm>
              <a:off x="4032504" y="4404360"/>
              <a:ext cx="523006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1部规章、7件行政规范性文件完成制定修订并公布;行政许可决定书</a:t>
              </a:r>
              <a:r>
                <a:rPr lang="zh-CN" sz="1200" b="1" dirty="0">
                  <a:solidFill>
                    <a:schemeClr val="dk1"/>
                  </a:solidFill>
                  <a:latin typeface="Consolas"/>
                  <a:ea typeface="Consolas"/>
                  <a:cs typeface="Consolas"/>
                </a:rPr>
                <a:t>622</a:t>
              </a:r>
              <a:r>
                <a:rPr lang="zh-CN" sz="1200" dirty="0">
                  <a:solidFill>
                    <a:schemeClr val="dk1"/>
                  </a:solidFill>
                  <a:latin typeface="+mn-lt"/>
                  <a:ea typeface="+mn-ea"/>
                  <a:cs typeface="+mn-cs"/>
                </a:rPr>
                <a:t>件</a:t>
              </a:r>
            </a:p>
          </p:txBody>
        </p:sp>
        <p:sp>
          <p:nvSpPr>
            <p:cNvPr id="16" name="TextBox 16"/>
            <p:cNvSpPr txBox="1"/>
            <p:nvPr/>
          </p:nvSpPr>
          <p:spPr>
            <a:xfrm>
              <a:off x="4032504" y="4632960"/>
              <a:ext cx="7249767"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运输企业累计</a:t>
              </a:r>
              <a:r>
                <a:rPr lang="zh-CN" sz="1200" b="1" dirty="0">
                  <a:solidFill>
                    <a:schemeClr val="dk1"/>
                  </a:solidFill>
                  <a:latin typeface="+mn-lt"/>
                  <a:ea typeface="+mn-ea"/>
                  <a:cs typeface="+mn-cs"/>
                </a:rPr>
                <a:t>81</a:t>
              </a:r>
              <a:r>
                <a:rPr lang="zh-CN" sz="1200" dirty="0">
                  <a:solidFill>
                    <a:schemeClr val="dk1"/>
                  </a:solidFill>
                  <a:latin typeface="+mn-lt"/>
                  <a:ea typeface="+mn-ea"/>
                  <a:cs typeface="+mn-cs"/>
                </a:rPr>
                <a:t>家 · 基础设备生产企业累计</a:t>
              </a:r>
              <a:r>
                <a:rPr lang="zh-CN" sz="1200" b="1" dirty="0">
                  <a:solidFill>
                    <a:schemeClr val="dk1"/>
                  </a:solidFill>
                  <a:latin typeface="+mn-lt"/>
                  <a:ea typeface="+mn-ea"/>
                  <a:cs typeface="+mn-cs"/>
                </a:rPr>
                <a:t>116</a:t>
              </a:r>
              <a:r>
                <a:rPr lang="zh-CN" sz="1200" dirty="0">
                  <a:solidFill>
                    <a:schemeClr val="dk1"/>
                  </a:solidFill>
                  <a:latin typeface="+mn-lt"/>
                  <a:ea typeface="+mn-ea"/>
                  <a:cs typeface="+mn-cs"/>
                </a:rPr>
                <a:t>家 · 进口企业累计</a:t>
              </a:r>
              <a:r>
                <a:rPr lang="zh-CN" sz="1200" b="1" dirty="0">
                  <a:solidFill>
                    <a:schemeClr val="dk1"/>
                  </a:solidFill>
                  <a:latin typeface="+mn-lt"/>
                  <a:ea typeface="+mn-ea"/>
                  <a:cs typeface="+mn-cs"/>
                </a:rPr>
                <a:t>124</a:t>
              </a:r>
              <a:r>
                <a:rPr lang="zh-CN" sz="1200" dirty="0">
                  <a:solidFill>
                    <a:schemeClr val="dk1"/>
                  </a:solidFill>
                  <a:latin typeface="+mn-lt"/>
                  <a:ea typeface="+mn-ea"/>
                  <a:cs typeface="+mn-cs"/>
                </a:rPr>
                <a:t>家 · 无线电台站企业累计</a:t>
              </a:r>
              <a:r>
                <a:rPr lang="zh-CN" sz="1200" b="1" dirty="0">
                  <a:solidFill>
                    <a:schemeClr val="dk1"/>
                  </a:solidFill>
                  <a:latin typeface="+mn-lt"/>
                  <a:ea typeface="+mn-ea"/>
                  <a:cs typeface="+mn-cs"/>
                </a:rPr>
                <a:t>336</a:t>
              </a:r>
              <a:r>
                <a:rPr lang="zh-CN" sz="1200" dirty="0">
                  <a:solidFill>
                    <a:schemeClr val="dk1"/>
                  </a:solidFill>
                  <a:latin typeface="+mn-lt"/>
                  <a:ea typeface="+mn-ea"/>
                  <a:cs typeface="+mn-cs"/>
                </a:rPr>
                <a:t>家</a:t>
              </a:r>
            </a:p>
          </p:txBody>
        </p:sp>
        <p:sp>
          <p:nvSpPr>
            <p:cNvPr id="17" name="TextBox 17"/>
            <p:cNvSpPr txBox="1"/>
            <p:nvPr/>
          </p:nvSpPr>
          <p:spPr>
            <a:xfrm>
              <a:off x="4032504" y="4861560"/>
              <a:ext cx="375193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机车车辆驾驶人员累计</a:t>
              </a:r>
              <a:r>
                <a:rPr lang="zh-CN" sz="1200" b="1" dirty="0">
                  <a:solidFill>
                    <a:schemeClr val="dk1"/>
                  </a:solidFill>
                  <a:latin typeface="Consolas"/>
                  <a:ea typeface="Consolas"/>
                  <a:cs typeface="Consolas"/>
                </a:rPr>
                <a:t>220308</a:t>
              </a:r>
              <a:r>
                <a:rPr lang="zh-CN" sz="1200" dirty="0">
                  <a:solidFill>
                    <a:schemeClr val="dk1"/>
                  </a:solidFill>
                  <a:latin typeface="+mn-lt"/>
                  <a:ea typeface="+mn-ea"/>
                  <a:cs typeface="+mn-cs"/>
                </a:rPr>
                <a:t>人(全年新增10933人)</a:t>
              </a:r>
            </a:p>
          </p:txBody>
        </p:sp>
        <p:sp>
          <p:nvSpPr>
            <p:cNvPr id="18" name="TextBox 18"/>
            <p:cNvSpPr txBox="1"/>
            <p:nvPr/>
          </p:nvSpPr>
          <p:spPr>
            <a:xfrm>
              <a:off x="4032504" y="5090160"/>
              <a:ext cx="6395603"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行政处罚</a:t>
              </a:r>
              <a:r>
                <a:rPr lang="zh-CN" sz="1200" b="1" dirty="0">
                  <a:solidFill>
                    <a:schemeClr val="dk1"/>
                  </a:solidFill>
                  <a:latin typeface="+mn-lt"/>
                  <a:ea typeface="+mn-ea"/>
                  <a:cs typeface="+mn-cs"/>
                </a:rPr>
                <a:t>198</a:t>
              </a:r>
              <a:r>
                <a:rPr lang="zh-CN" sz="1200" dirty="0">
                  <a:solidFill>
                    <a:schemeClr val="dk1"/>
                  </a:solidFill>
                  <a:latin typeface="+mn-lt"/>
                  <a:ea typeface="+mn-ea"/>
                  <a:cs typeface="+mn-cs"/>
                </a:rPr>
                <a:t>起,作出处罚决定</a:t>
              </a:r>
              <a:r>
                <a:rPr lang="zh-CN" sz="1200" b="1" dirty="0">
                  <a:solidFill>
                    <a:schemeClr val="dk1"/>
                  </a:solidFill>
                  <a:latin typeface="+mn-lt"/>
                  <a:ea typeface="+mn-ea"/>
                  <a:cs typeface="+mn-cs"/>
                </a:rPr>
                <a:t>383</a:t>
              </a:r>
              <a:r>
                <a:rPr lang="zh-CN" sz="1200" dirty="0">
                  <a:solidFill>
                    <a:schemeClr val="dk1"/>
                  </a:solidFill>
                  <a:latin typeface="+mn-lt"/>
                  <a:ea typeface="+mn-ea"/>
                  <a:cs typeface="+mn-cs"/>
                </a:rPr>
                <a:t>个;预警262次 · 通报333次 · 约谈68次 · 挂牌督办24次</a:t>
              </a:r>
            </a:p>
          </p:txBody>
        </p:sp>
        <p:sp>
          <p:nvSpPr>
            <p:cNvPr id="19" name="TextBox 19"/>
            <p:cNvSpPr txBox="1"/>
            <p:nvPr/>
          </p:nvSpPr>
          <p:spPr>
            <a:xfrm>
              <a:off x="4032885" y="5403056"/>
              <a:ext cx="322292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来源:国家铁路局《2024年铁道统计公报》第9页</a:t>
              </a:r>
            </a:p>
          </p:txBody>
        </p:sp>
      </p:grpSp>
      <p:grpSp>
        <p:nvGrpSpPr>
          <p:cNvPr id="24" name="footer"/>
          <p:cNvGrpSpPr/>
          <p:nvPr/>
        </p:nvGrpSpPr>
        <p:grpSpPr>
          <a:xfrm>
            <a:off x="603504" y="6305550"/>
            <a:ext cx="10984992" cy="333756"/>
            <a:chOff x="603504" y="6305550"/>
            <a:chExt cx="10984992" cy="333756"/>
          </a:xfrm>
        </p:grpSpPr>
        <p:sp>
          <p:nvSpPr>
            <p:cNvPr id="21" name="Line 21"/>
            <p:cNvSpPr/>
            <p:nvPr/>
          </p:nvSpPr>
          <p:spPr>
            <a:xfrm>
              <a:off x="609600" y="6305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TextBox 22"/>
            <p:cNvSpPr txBox="1"/>
            <p:nvPr/>
          </p:nvSpPr>
          <p:spPr>
            <a:xfrm>
              <a:off x="603504" y="6404610"/>
              <a:ext cx="363077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来源:国家铁路局《2024年铁道统计公报》第7-9页</a:t>
              </a:r>
            </a:p>
          </p:txBody>
        </p:sp>
        <p:sp>
          <p:nvSpPr>
            <p:cNvPr id="23" name="TextBox 23"/>
            <p:cNvSpPr txBox="1"/>
            <p:nvPr/>
          </p:nvSpPr>
          <p:spPr>
            <a:xfrm>
              <a:off x="11035132" y="6404610"/>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p:tgtEl>
                                          <p:spTgt spid="6"/>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300"/>
                                        <p:tgtEl>
                                          <p:spTgt spid="7"/>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00"/>
                                        <p:tgtEl>
                                          <p:spTgt spid="8"/>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350"/>
                                        <p:tgtEl>
                                          <p:spTgt spid="13"/>
                                        </p:tgtEl>
                                      </p:cBhvr>
                                    </p:animEffect>
                                  </p:childTnLst>
                                </p:cTn>
                              </p:par>
                            </p:childTnLst>
                          </p:cTn>
                        </p:par>
                        <p:par>
                          <p:cTn id="20" fill="hold">
                            <p:stCondLst>
                              <p:cond delay="275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0B2340"/>
            </a:gs>
          </a:gsLst>
          <a:lin ang="2700000" scaled="1"/>
        </a:gradFill>
        <a:effectLst/>
      </p:bgPr>
    </p:bg>
    <p:spTree>
      <p:nvGrpSpPr>
        <p:cNvPr id="1" name=""/>
        <p:cNvGrpSpPr/>
        <p:nvPr/>
      </p:nvGrpSpPr>
      <p:grpSpPr>
        <a:xfrm>
          <a:off x="0" y="0"/>
          <a:ext cx="0" cy="0"/>
          <a:chOff x="0" y="0"/>
          <a:chExt cx="0" cy="0"/>
        </a:xfrm>
      </p:grpSpPr>
      <p:sp>
        <p:nvSpPr>
          <p:cNvPr id="2" name="Freeform 2"/>
          <p:cNvSpPr/>
          <p:nvPr/>
        </p:nvSpPr>
        <p:spPr>
          <a:xfrm>
            <a:off x="8572500" y="4572000"/>
            <a:ext cx="2667000" cy="1333500"/>
          </a:xfrm>
          <a:prstGeom prst="swooshArrow">
            <a:avLst/>
          </a:prstGeom>
          <a:solidFill>
            <a:schemeClr val="accent2">
              <a:alpha val="85000"/>
            </a:schemeClr>
          </a:solidFill>
          <a:ln>
            <a:noFill/>
          </a:ln>
        </p:spPr>
      </p:sp>
      <p:grpSp>
        <p:nvGrpSpPr>
          <p:cNvPr id="6" name="closing-header"/>
          <p:cNvGrpSpPr/>
          <p:nvPr/>
        </p:nvGrpSpPr>
        <p:grpSpPr>
          <a:xfrm>
            <a:off x="590550" y="1073468"/>
            <a:ext cx="4796348" cy="1020127"/>
            <a:chOff x="590550" y="1073468"/>
            <a:chExt cx="4796348" cy="1020127"/>
          </a:xfrm>
        </p:grpSpPr>
        <p:sp>
          <p:nvSpPr>
            <p:cNvPr id="3" name="TextBox 3"/>
            <p:cNvSpPr txBox="1"/>
            <p:nvPr/>
          </p:nvSpPr>
          <p:spPr>
            <a:xfrm>
              <a:off x="602742" y="1073468"/>
              <a:ext cx="926559" cy="264033"/>
            </a:xfrm>
            <a:prstGeom prst="rect">
              <a:avLst/>
            </a:prstGeom>
            <a:noFill/>
            <a:ln>
              <a:noFill/>
            </a:ln>
          </p:spPr>
          <p:txBody>
            <a:bodyPr wrap="none" lIns="0" tIns="0" rIns="0" bIns="0" anchor="t" anchorCtr="0">
              <a:spAutoFit/>
            </a:bodyPr>
            <a:lstStyle/>
            <a:p>
              <a:pPr algn="l"/>
              <a:r>
                <a:rPr lang="zh-CN" sz="1350" b="1" spc="150" dirty="0">
                  <a:solidFill>
                    <a:srgbClr val="E7EAF1"/>
                  </a:solidFill>
                  <a:latin typeface="+mn-lt"/>
                  <a:ea typeface="+mn-ea"/>
                  <a:cs typeface="+mn-cs"/>
                </a:rPr>
                <a:t>12 · 结语</a:t>
              </a:r>
            </a:p>
          </p:txBody>
        </p:sp>
        <p:sp>
          <p:nvSpPr>
            <p:cNvPr id="4" name="TextBox 4"/>
            <p:cNvSpPr txBox="1"/>
            <p:nvPr/>
          </p:nvSpPr>
          <p:spPr>
            <a:xfrm>
              <a:off x="590550" y="1331595"/>
              <a:ext cx="4796348" cy="762000"/>
            </a:xfrm>
            <a:prstGeom prst="rect">
              <a:avLst/>
            </a:prstGeom>
            <a:noFill/>
            <a:ln>
              <a:noFill/>
            </a:ln>
          </p:spPr>
          <p:txBody>
            <a:bodyPr wrap="none" lIns="0" tIns="0" rIns="0" bIns="0" anchor="t" anchorCtr="0">
              <a:spAutoFit/>
            </a:bodyPr>
            <a:lstStyle/>
            <a:p>
              <a:pPr algn="l"/>
              <a:r>
                <a:rPr lang="zh-CN" sz="3900" b="1" dirty="0">
                  <a:solidFill>
                    <a:srgbClr val="FFFFFF"/>
                  </a:solidFill>
                  <a:latin typeface="+mj-lt"/>
                  <a:ea typeface="+mj-ea"/>
                  <a:cs typeface="+mj-cs"/>
                </a:rPr>
                <a:t>量质齐升,支撑发展</a:t>
              </a:r>
            </a:p>
          </p:txBody>
        </p:sp>
        <p:sp>
          <p:nvSpPr>
            <p:cNvPr id="5" name="Rectangle 5"/>
            <p:cNvSpPr/>
            <p:nvPr/>
          </p:nvSpPr>
          <p:spPr>
            <a:xfrm>
              <a:off x="609600" y="1905000"/>
              <a:ext cx="2095500" cy="57150"/>
            </a:xfrm>
            <a:prstGeom prst="rect">
              <a:avLst/>
            </a:prstGeom>
            <a:solidFill>
              <a:schemeClr val="accent2"/>
            </a:solidFill>
            <a:ln>
              <a:noFill/>
            </a:ln>
          </p:spPr>
        </p:sp>
      </p:grpSp>
      <p:grpSp>
        <p:nvGrpSpPr>
          <p:cNvPr id="26" name="closing-points"/>
          <p:cNvGrpSpPr/>
          <p:nvPr/>
        </p:nvGrpSpPr>
        <p:grpSpPr>
          <a:xfrm>
            <a:off x="600456" y="2550319"/>
            <a:ext cx="7210044" cy="3244215"/>
            <a:chOff x="600456" y="2550319"/>
            <a:chExt cx="7210044" cy="3244215"/>
          </a:xfrm>
        </p:grpSpPr>
        <p:grpSp>
          <p:nvGrpSpPr>
            <p:cNvPr id="11" name="Group 11"/>
            <p:cNvGrpSpPr/>
            <p:nvPr/>
          </p:nvGrpSpPr>
          <p:grpSpPr>
            <a:xfrm>
              <a:off x="645319" y="2550319"/>
              <a:ext cx="214313" cy="214313"/>
              <a:chOff x="645319" y="2550319"/>
              <a:chExt cx="214313" cy="214313"/>
            </a:xfrm>
          </p:grpSpPr>
          <p:sp>
            <p:nvSpPr>
              <p:cNvPr id="7" name="Freeform 7"/>
              <p:cNvSpPr/>
              <p:nvPr/>
            </p:nvSpPr>
            <p:spPr>
              <a:xfrm>
                <a:off x="669131" y="25503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rgbClr val="7BD68A"/>
                </a:solidFill>
              </a:ln>
            </p:spPr>
          </p:sp>
          <p:sp>
            <p:nvSpPr>
              <p:cNvPr id="8" name="Freeform 8"/>
              <p:cNvSpPr/>
              <p:nvPr/>
            </p:nvSpPr>
            <p:spPr>
              <a:xfrm>
                <a:off x="645319" y="26931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23812">
                <a:solidFill>
                  <a:srgbClr val="7BD68A"/>
                </a:solidFill>
              </a:ln>
            </p:spPr>
          </p:sp>
          <p:sp>
            <p:nvSpPr>
              <p:cNvPr id="9" name="Freeform 9"/>
              <p:cNvSpPr/>
              <p:nvPr/>
            </p:nvSpPr>
            <p:spPr>
              <a:xfrm>
                <a:off x="800100" y="25518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23812">
                <a:solidFill>
                  <a:srgbClr val="7BD68A"/>
                </a:solidFill>
              </a:ln>
            </p:spPr>
          </p:sp>
          <p:sp>
            <p:nvSpPr>
              <p:cNvPr id="10" name="Freeform 10"/>
              <p:cNvSpPr/>
              <p:nvPr/>
            </p:nvSpPr>
            <p:spPr>
              <a:xfrm>
                <a:off x="823913" y="26949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23812">
                <a:solidFill>
                  <a:srgbClr val="7BD68A"/>
                </a:solidFill>
              </a:ln>
            </p:spPr>
          </p:sp>
        </p:grpSp>
        <p:sp>
          <p:nvSpPr>
            <p:cNvPr id="12" name="TextBox 12"/>
            <p:cNvSpPr txBox="1"/>
            <p:nvPr/>
          </p:nvSpPr>
          <p:spPr>
            <a:xfrm>
              <a:off x="1020318" y="2565082"/>
              <a:ext cx="3586281"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客运货运两旺,换算周转量增长</a:t>
              </a:r>
              <a:r>
                <a:rPr lang="zh-CN" sz="1650" b="1" dirty="0">
                  <a:solidFill>
                    <a:srgbClr val="7BD68A"/>
                  </a:solidFill>
                  <a:latin typeface="+mn-lt"/>
                  <a:ea typeface="+mn-ea"/>
                  <a:cs typeface="+mn-cs"/>
                </a:rPr>
                <a:t>0.9%</a:t>
              </a:r>
            </a:p>
          </p:txBody>
        </p:sp>
        <p:grpSp>
          <p:nvGrpSpPr>
            <p:cNvPr id="16" name="Group 16"/>
            <p:cNvGrpSpPr/>
            <p:nvPr/>
          </p:nvGrpSpPr>
          <p:grpSpPr>
            <a:xfrm>
              <a:off x="645319" y="3045619"/>
              <a:ext cx="214312" cy="214312"/>
              <a:chOff x="645319" y="3045619"/>
              <a:chExt cx="214312" cy="214312"/>
            </a:xfrm>
          </p:grpSpPr>
          <p:sp>
            <p:nvSpPr>
              <p:cNvPr id="13" name="Freeform 13"/>
              <p:cNvSpPr/>
              <p:nvPr/>
            </p:nvSpPr>
            <p:spPr>
              <a:xfrm>
                <a:off x="645319" y="3212306"/>
                <a:ext cx="47625" cy="47625"/>
              </a:xfrm>
              <a:custGeom>
                <a:avLst/>
                <a:gdLst/>
                <a:ahLst/>
                <a:cxnLst/>
                <a:rect l="l" t="t" r="r" b="b"/>
                <a:pathLst>
                  <a:path w="47625" h="47625">
                    <a:moveTo>
                      <a:pt x="0" y="23812"/>
                    </a:moveTo>
                    <a:cubicBezTo>
                      <a:pt x="0" y="36964"/>
                      <a:pt x="10661" y="47625"/>
                      <a:pt x="23812" y="47625"/>
                    </a:cubicBezTo>
                    <a:cubicBezTo>
                      <a:pt x="36964" y="47625"/>
                      <a:pt x="47625" y="36964"/>
                      <a:pt x="47625" y="23812"/>
                    </a:cubicBezTo>
                    <a:cubicBezTo>
                      <a:pt x="47625" y="10661"/>
                      <a:pt x="36964" y="0"/>
                      <a:pt x="23812" y="0"/>
                    </a:cubicBezTo>
                    <a:cubicBezTo>
                      <a:pt x="10661" y="0"/>
                      <a:pt x="0" y="10661"/>
                      <a:pt x="0" y="23812"/>
                    </a:cubicBezTo>
                  </a:path>
                </a:pathLst>
              </a:custGeom>
              <a:noFill/>
              <a:ln w="23812">
                <a:solidFill>
                  <a:srgbClr val="7BD68A"/>
                </a:solidFill>
              </a:ln>
            </p:spPr>
          </p:sp>
          <p:sp>
            <p:nvSpPr>
              <p:cNvPr id="14" name="Freeform 14"/>
              <p:cNvSpPr/>
              <p:nvPr/>
            </p:nvSpPr>
            <p:spPr>
              <a:xfrm>
                <a:off x="812006" y="3045619"/>
                <a:ext cx="47625" cy="47625"/>
              </a:xfrm>
              <a:custGeom>
                <a:avLst/>
                <a:gdLst/>
                <a:ahLst/>
                <a:cxnLst/>
                <a:rect l="l" t="t" r="r" b="b"/>
                <a:pathLst>
                  <a:path w="47625" h="47625">
                    <a:moveTo>
                      <a:pt x="23812" y="47625"/>
                    </a:moveTo>
                    <a:cubicBezTo>
                      <a:pt x="36964" y="47625"/>
                      <a:pt x="47625" y="36964"/>
                      <a:pt x="47625" y="23812"/>
                    </a:cubicBezTo>
                    <a:cubicBezTo>
                      <a:pt x="47625" y="10661"/>
                      <a:pt x="36964" y="0"/>
                      <a:pt x="23812" y="0"/>
                    </a:cubicBezTo>
                    <a:cubicBezTo>
                      <a:pt x="10661" y="0"/>
                      <a:pt x="0" y="10661"/>
                      <a:pt x="0" y="23812"/>
                    </a:cubicBezTo>
                    <a:cubicBezTo>
                      <a:pt x="0" y="36964"/>
                      <a:pt x="10661" y="47625"/>
                      <a:pt x="23812" y="47625"/>
                    </a:cubicBezTo>
                  </a:path>
                </a:pathLst>
              </a:custGeom>
              <a:noFill/>
              <a:ln w="23812">
                <a:solidFill>
                  <a:srgbClr val="7BD68A"/>
                </a:solidFill>
              </a:ln>
            </p:spPr>
          </p:sp>
          <p:sp>
            <p:nvSpPr>
              <p:cNvPr id="15" name="Freeform 15"/>
              <p:cNvSpPr/>
              <p:nvPr/>
            </p:nvSpPr>
            <p:spPr>
              <a:xfrm>
                <a:off x="669131" y="3069431"/>
                <a:ext cx="178594" cy="166688"/>
              </a:xfrm>
              <a:custGeom>
                <a:avLst/>
                <a:gdLst/>
                <a:ahLst/>
                <a:cxnLst/>
                <a:rect l="l" t="t" r="r" b="b"/>
                <a:pathLst>
                  <a:path w="178594" h="166688">
                    <a:moveTo>
                      <a:pt x="71438" y="166688"/>
                    </a:moveTo>
                    <a:lnTo>
                      <a:pt x="136922" y="166688"/>
                    </a:lnTo>
                    <a:cubicBezTo>
                      <a:pt x="159937" y="166688"/>
                      <a:pt x="178594" y="148030"/>
                      <a:pt x="178594" y="125016"/>
                    </a:cubicBezTo>
                    <a:cubicBezTo>
                      <a:pt x="178594" y="102001"/>
                      <a:pt x="159937" y="83344"/>
                      <a:pt x="136922" y="83344"/>
                    </a:cubicBezTo>
                    <a:lnTo>
                      <a:pt x="41672" y="83344"/>
                    </a:lnTo>
                    <a:cubicBezTo>
                      <a:pt x="18657" y="83344"/>
                      <a:pt x="0" y="64687"/>
                      <a:pt x="0" y="41672"/>
                    </a:cubicBezTo>
                    <a:cubicBezTo>
                      <a:pt x="0" y="18657"/>
                      <a:pt x="18657" y="0"/>
                      <a:pt x="41672" y="0"/>
                    </a:cubicBezTo>
                    <a:lnTo>
                      <a:pt x="95250" y="0"/>
                    </a:lnTo>
                  </a:path>
                </a:pathLst>
              </a:custGeom>
              <a:noFill/>
              <a:ln w="23812">
                <a:solidFill>
                  <a:srgbClr val="7BD68A"/>
                </a:solidFill>
              </a:ln>
            </p:spPr>
          </p:sp>
        </p:grpSp>
        <p:sp>
          <p:nvSpPr>
            <p:cNvPr id="17" name="TextBox 17"/>
            <p:cNvSpPr txBox="1"/>
            <p:nvPr/>
          </p:nvSpPr>
          <p:spPr>
            <a:xfrm>
              <a:off x="1020318" y="3060382"/>
              <a:ext cx="3761758"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新线投产</a:t>
              </a:r>
              <a:r>
                <a:rPr lang="zh-CN" sz="1650" b="1" dirty="0">
                  <a:solidFill>
                    <a:srgbClr val="FFFFFF"/>
                  </a:solidFill>
                  <a:latin typeface="+mn-lt"/>
                  <a:ea typeface="+mn-ea"/>
                  <a:cs typeface="+mn-cs"/>
                </a:rPr>
                <a:t>3113</a:t>
              </a:r>
              <a:r>
                <a:rPr lang="zh-CN" sz="1650" dirty="0">
                  <a:solidFill>
                    <a:srgbClr val="FFFFFF"/>
                  </a:solidFill>
                  <a:latin typeface="+mn-lt"/>
                  <a:ea typeface="+mn-ea"/>
                  <a:cs typeface="+mn-cs"/>
                </a:rPr>
                <a:t>公里,路网质量稳步提升</a:t>
              </a:r>
            </a:p>
          </p:txBody>
        </p:sp>
        <p:grpSp>
          <p:nvGrpSpPr>
            <p:cNvPr id="20" name="Group 20"/>
            <p:cNvGrpSpPr/>
            <p:nvPr/>
          </p:nvGrpSpPr>
          <p:grpSpPr>
            <a:xfrm>
              <a:off x="629251" y="3540919"/>
              <a:ext cx="232508" cy="214312"/>
              <a:chOff x="629251" y="3540919"/>
              <a:chExt cx="232508" cy="214312"/>
            </a:xfrm>
          </p:grpSpPr>
          <p:sp>
            <p:nvSpPr>
              <p:cNvPr id="18" name="Freeform 18"/>
              <p:cNvSpPr/>
              <p:nvPr/>
            </p:nvSpPr>
            <p:spPr>
              <a:xfrm>
                <a:off x="629251" y="3540919"/>
                <a:ext cx="232508" cy="212479"/>
              </a:xfrm>
              <a:custGeom>
                <a:avLst/>
                <a:gdLst/>
                <a:ahLst/>
                <a:cxnLst/>
                <a:rect l="l" t="t" r="r" b="b"/>
                <a:pathLst>
                  <a:path w="232508" h="212479">
                    <a:moveTo>
                      <a:pt x="116795" y="212479"/>
                    </a:moveTo>
                    <a:cubicBezTo>
                      <a:pt x="42208" y="189358"/>
                      <a:pt x="0" y="110638"/>
                      <a:pt x="22021" y="35719"/>
                    </a:cubicBezTo>
                    <a:cubicBezTo>
                      <a:pt x="59115" y="37416"/>
                      <a:pt x="95413" y="24605"/>
                      <a:pt x="123224" y="0"/>
                    </a:cubicBezTo>
                    <a:cubicBezTo>
                      <a:pt x="151035" y="24605"/>
                      <a:pt x="187333" y="37416"/>
                      <a:pt x="224427" y="35719"/>
                    </a:cubicBezTo>
                    <a:cubicBezTo>
                      <a:pt x="232508" y="63212"/>
                      <a:pt x="232135" y="92499"/>
                      <a:pt x="223356" y="119777"/>
                    </a:cubicBezTo>
                  </a:path>
                </a:pathLst>
              </a:custGeom>
              <a:noFill/>
              <a:ln w="23812">
                <a:solidFill>
                  <a:srgbClr val="7BD68A"/>
                </a:solidFill>
              </a:ln>
            </p:spPr>
          </p:sp>
          <p:sp>
            <p:nvSpPr>
              <p:cNvPr id="19" name="Freeform 19"/>
              <p:cNvSpPr/>
              <p:nvPr/>
            </p:nvSpPr>
            <p:spPr>
              <a:xfrm>
                <a:off x="788194" y="3707606"/>
                <a:ext cx="71438" cy="47625"/>
              </a:xfrm>
              <a:custGeom>
                <a:avLst/>
                <a:gdLst/>
                <a:ahLst/>
                <a:cxnLst/>
                <a:rect l="l" t="t" r="r" b="b"/>
                <a:pathLst>
                  <a:path w="71438" h="47625">
                    <a:moveTo>
                      <a:pt x="0" y="23812"/>
                    </a:moveTo>
                    <a:lnTo>
                      <a:pt x="23812" y="47625"/>
                    </a:lnTo>
                    <a:lnTo>
                      <a:pt x="71438" y="0"/>
                    </a:lnTo>
                  </a:path>
                </a:pathLst>
              </a:custGeom>
              <a:noFill/>
              <a:ln w="23812">
                <a:solidFill>
                  <a:srgbClr val="7BD68A"/>
                </a:solidFill>
              </a:ln>
            </p:spPr>
          </p:sp>
        </p:grpSp>
        <p:sp>
          <p:nvSpPr>
            <p:cNvPr id="21" name="TextBox 21"/>
            <p:cNvSpPr txBox="1"/>
            <p:nvPr/>
          </p:nvSpPr>
          <p:spPr>
            <a:xfrm>
              <a:off x="1020318" y="3555682"/>
              <a:ext cx="4359269" cy="322707"/>
            </a:xfrm>
            <a:prstGeom prst="rect">
              <a:avLst/>
            </a:prstGeom>
            <a:noFill/>
            <a:ln>
              <a:noFill/>
            </a:ln>
          </p:spPr>
          <p:txBody>
            <a:bodyPr wrap="none" lIns="0" tIns="0" rIns="0" bIns="0" anchor="t" anchorCtr="0">
              <a:spAutoFit/>
            </a:bodyPr>
            <a:lstStyle/>
            <a:p>
              <a:pPr algn="l"/>
              <a:r>
                <a:rPr lang="zh-CN" sz="1650" dirty="0">
                  <a:solidFill>
                    <a:srgbClr val="FFFFFF"/>
                  </a:solidFill>
                  <a:latin typeface="+mn-lt"/>
                  <a:ea typeface="+mn-ea"/>
                  <a:cs typeface="+mn-cs"/>
                </a:rPr>
                <a:t>未发生重特大事故,主要污染物排放同比下降</a:t>
              </a:r>
            </a:p>
          </p:txBody>
        </p:sp>
        <p:sp>
          <p:nvSpPr>
            <p:cNvPr id="22" name="Line 22"/>
            <p:cNvSpPr/>
            <p:nvPr/>
          </p:nvSpPr>
          <p:spPr>
            <a:xfrm>
              <a:off x="609600" y="4191000"/>
              <a:ext cx="7200900" cy="9525"/>
            </a:xfrm>
            <a:custGeom>
              <a:avLst/>
              <a:gdLst/>
              <a:ahLst/>
              <a:cxnLst/>
              <a:rect l="l" t="t" r="r" b="b"/>
              <a:pathLst>
                <a:path w="7200900" h="9525">
                  <a:moveTo>
                    <a:pt x="0" y="0"/>
                  </a:moveTo>
                  <a:lnTo>
                    <a:pt x="7200900" y="0"/>
                  </a:lnTo>
                </a:path>
              </a:pathLst>
            </a:custGeom>
            <a:noFill/>
            <a:ln w="9525">
              <a:solidFill>
                <a:srgbClr val="3A5478"/>
              </a:solidFill>
            </a:ln>
          </p:spPr>
        </p:sp>
        <p:sp>
          <p:nvSpPr>
            <p:cNvPr id="23" name="TextBox 23"/>
            <p:cNvSpPr txBox="1"/>
            <p:nvPr/>
          </p:nvSpPr>
          <p:spPr>
            <a:xfrm>
              <a:off x="600456" y="4320540"/>
              <a:ext cx="4203954" cy="923544"/>
            </a:xfrm>
            <a:prstGeom prst="rect">
              <a:avLst/>
            </a:prstGeom>
            <a:noFill/>
            <a:ln>
              <a:noFill/>
            </a:ln>
          </p:spPr>
          <p:txBody>
            <a:bodyPr wrap="none" lIns="0" tIns="0" rIns="0" bIns="0" anchor="t" anchorCtr="0">
              <a:spAutoFit/>
            </a:bodyPr>
            <a:lstStyle/>
            <a:p>
              <a:pPr algn="l">
                <a:lnSpc>
                  <a:spcPts val="2250"/>
                </a:lnSpc>
              </a:pPr>
              <a:r>
                <a:rPr lang="zh-CN" sz="1800" b="1" dirty="0">
                  <a:solidFill>
                    <a:srgbClr val="FFFFFF"/>
                  </a:solidFill>
                  <a:latin typeface="+mn-lt"/>
                  <a:ea typeface="+mn-ea"/>
                  <a:cs typeface="+mn-cs"/>
                </a:rPr>
                <a:t>2024年铁路运输生产量质齐升、建设装备</a:t>
              </a:r>
              <a:br/>
              <a:r>
                <a:rPr lang="zh-CN" sz="1800" b="1" dirty="0">
                  <a:solidFill>
                    <a:srgbClr val="FFFFFF"/>
                  </a:solidFill>
                  <a:latin typeface="+mn-lt"/>
                  <a:ea typeface="+mn-ea"/>
                  <a:cs typeface="+mn-cs"/>
                </a:rPr>
                <a:t>持续扩能、安全绿色底线守住,支撑经济</a:t>
              </a:r>
              <a:br/>
              <a:r>
                <a:rPr lang="zh-CN" sz="1800" b="1" dirty="0">
                  <a:solidFill>
                    <a:srgbClr val="FFFFFF"/>
                  </a:solidFill>
                  <a:latin typeface="+mn-lt"/>
                  <a:ea typeface="+mn-ea"/>
                  <a:cs typeface="+mn-cs"/>
                </a:rPr>
                <a:t>持续回升向好。</a:t>
              </a:r>
            </a:p>
          </p:txBody>
        </p:sp>
        <p:sp>
          <p:nvSpPr>
            <p:cNvPr id="24" name="TextBox 24"/>
            <p:cNvSpPr txBox="1"/>
            <p:nvPr/>
          </p:nvSpPr>
          <p:spPr>
            <a:xfrm>
              <a:off x="602742" y="5340668"/>
              <a:ext cx="4738878" cy="264033"/>
            </a:xfrm>
            <a:prstGeom prst="rect">
              <a:avLst/>
            </a:prstGeom>
            <a:noFill/>
            <a:ln>
              <a:noFill/>
            </a:ln>
          </p:spPr>
          <p:txBody>
            <a:bodyPr wrap="none" lIns="0" tIns="0" rIns="0" bIns="0" anchor="t" anchorCtr="0">
              <a:spAutoFit/>
            </a:bodyPr>
            <a:lstStyle/>
            <a:p>
              <a:pPr algn="l"/>
              <a:r>
                <a:rPr lang="zh-CN" sz="1350" dirty="0">
                  <a:solidFill>
                    <a:srgbClr val="B7C2D0"/>
                  </a:solidFill>
                  <a:latin typeface="+mn-lt"/>
                  <a:ea typeface="+mn-ea"/>
                  <a:cs typeface="+mn-cs"/>
                </a:rPr>
                <a:t>期待与省交通部门在路网规划、多式联运等领域深化协同。</a:t>
              </a:r>
            </a:p>
          </p:txBody>
        </p:sp>
        <p:sp>
          <p:nvSpPr>
            <p:cNvPr id="25" name="TextBox 25"/>
            <p:cNvSpPr txBox="1"/>
            <p:nvPr/>
          </p:nvSpPr>
          <p:spPr>
            <a:xfrm>
              <a:off x="603885" y="5574506"/>
              <a:ext cx="1767952" cy="220028"/>
            </a:xfrm>
            <a:prstGeom prst="rect">
              <a:avLst/>
            </a:prstGeom>
            <a:noFill/>
            <a:ln>
              <a:noFill/>
            </a:ln>
          </p:spPr>
          <p:txBody>
            <a:bodyPr wrap="none" lIns="0" tIns="0" rIns="0" bIns="0" anchor="t" anchorCtr="0">
              <a:spAutoFit/>
            </a:bodyPr>
            <a:lstStyle/>
            <a:p>
              <a:pPr algn="l"/>
              <a:r>
                <a:rPr lang="zh-CN" sz="1120" dirty="0">
                  <a:solidFill>
                    <a:srgbClr val="8FA0B8"/>
                  </a:solidFill>
                  <a:latin typeface="+mn-lt"/>
                  <a:ea typeface="+mn-ea"/>
                  <a:cs typeface="+mn-cs"/>
                </a:rPr>
                <a:t>(整理性表述,非公报原文)</a:t>
              </a:r>
            </a:p>
          </p:txBody>
        </p:sp>
      </p:grpSp>
      <p:grpSp>
        <p:nvGrpSpPr>
          <p:cNvPr id="29" name="footer"/>
          <p:cNvGrpSpPr/>
          <p:nvPr/>
        </p:nvGrpSpPr>
        <p:grpSpPr>
          <a:xfrm>
            <a:off x="603504" y="6537960"/>
            <a:ext cx="10984992" cy="234696"/>
            <a:chOff x="603504" y="6537960"/>
            <a:chExt cx="10984992" cy="234696"/>
          </a:xfrm>
        </p:grpSpPr>
        <p:sp>
          <p:nvSpPr>
            <p:cNvPr id="27" name="TextBox 27"/>
            <p:cNvSpPr txBox="1"/>
            <p:nvPr/>
          </p:nvSpPr>
          <p:spPr>
            <a:xfrm>
              <a:off x="603504" y="6537960"/>
              <a:ext cx="4713122" cy="234696"/>
            </a:xfrm>
            <a:prstGeom prst="rect">
              <a:avLst/>
            </a:prstGeom>
            <a:noFill/>
            <a:ln>
              <a:noFill/>
            </a:ln>
          </p:spPr>
          <p:txBody>
            <a:bodyPr wrap="none" lIns="0" tIns="0" rIns="0" bIns="0" anchor="t" anchorCtr="0">
              <a:spAutoFit/>
            </a:bodyPr>
            <a:lstStyle/>
            <a:p>
              <a:pPr algn="l"/>
              <a:r>
                <a:rPr lang="zh-CN" sz="1200" dirty="0">
                  <a:solidFill>
                    <a:srgbClr val="8FA0B8"/>
                  </a:solidFill>
                  <a:latin typeface="+mn-lt"/>
                  <a:ea typeface="+mn-ea"/>
                  <a:cs typeface="+mn-cs"/>
                </a:rPr>
                <a:t>中国铁路2024:数据与现场 · 国家铁路局《2024年铁道统计公报》</a:t>
              </a:r>
            </a:p>
          </p:txBody>
        </p:sp>
        <p:sp>
          <p:nvSpPr>
            <p:cNvPr id="28" name="TextBox 28"/>
            <p:cNvSpPr txBox="1"/>
            <p:nvPr/>
          </p:nvSpPr>
          <p:spPr>
            <a:xfrm>
              <a:off x="11035132" y="6537960"/>
              <a:ext cx="553364" cy="234696"/>
            </a:xfrm>
            <a:prstGeom prst="rect">
              <a:avLst/>
            </a:prstGeom>
            <a:noFill/>
            <a:ln>
              <a:noFill/>
            </a:ln>
          </p:spPr>
          <p:txBody>
            <a:bodyPr wrap="none" lIns="0" tIns="0" rIns="0" bIns="0" anchor="t" anchorCtr="0">
              <a:spAutoFit/>
            </a:bodyPr>
            <a:lstStyle/>
            <a:p>
              <a:pPr algn="r"/>
              <a:r>
                <a:rPr lang="zh-CN" sz="1200" dirty="0">
                  <a:solidFill>
                    <a:srgbClr val="8FA0B8"/>
                  </a:solidFill>
                  <a:latin typeface="+mn-lt"/>
                  <a:ea typeface="+mn-ea"/>
                  <a:cs typeface="+mn-cs"/>
                </a:rPr>
                <a:t>15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china_rail_2024_zh_sonnet">
  <a:themeElements>
    <a:clrScheme name="ppt169_china_rail_2024_zh_sonnet">
      <a:dk1>
        <a:srgbClr val="232B36"/>
      </a:dk1>
      <a:lt1>
        <a:srgbClr val="F6F7FA"/>
      </a:lt1>
      <a:dk2>
        <a:srgbClr val="1F497D"/>
      </a:dk2>
      <a:lt2>
        <a:srgbClr val="E7EAF1"/>
      </a:lt2>
      <a:accent1>
        <a:srgbClr val="14335C"/>
      </a:accent1>
      <a:accent2>
        <a:srgbClr val="C81E3A"/>
      </a:accent2>
      <a:accent3>
        <a:srgbClr val="1D7A8C"/>
      </a:accent3>
      <a:accent4>
        <a:srgbClr val="14335C"/>
      </a:accent4>
      <a:accent5>
        <a:srgbClr val="5B6472"/>
      </a:accent5>
      <a:accent6>
        <a:srgbClr val="D7DBE3"/>
      </a:accent6>
      <a:hlink>
        <a:srgbClr val="C81E3A"/>
      </a:hlink>
      <a:folHlink>
        <a:srgbClr val="1D7A8C"/>
      </a:folHlink>
    </a:clrScheme>
    <a:fontScheme name="ppt169_china_rail_2024_zh_sonnet">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rail_2024_zh_sonn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china_rail_2024_zh_sonnet">
  <a:themeElements>
    <a:clrScheme name="ppt169_china_rail_2024_zh_sonnet">
      <a:dk1>
        <a:srgbClr val="232B36"/>
      </a:dk1>
      <a:lt1>
        <a:srgbClr val="F6F7FA"/>
      </a:lt1>
      <a:dk2>
        <a:srgbClr val="1F497D"/>
      </a:dk2>
      <a:lt2>
        <a:srgbClr val="E7EAF1"/>
      </a:lt2>
      <a:accent1>
        <a:srgbClr val="14335C"/>
      </a:accent1>
      <a:accent2>
        <a:srgbClr val="C81E3A"/>
      </a:accent2>
      <a:accent3>
        <a:srgbClr val="1D7A8C"/>
      </a:accent3>
      <a:accent4>
        <a:srgbClr val="14335C"/>
      </a:accent4>
      <a:accent5>
        <a:srgbClr val="5B6472"/>
      </a:accent5>
      <a:accent6>
        <a:srgbClr val="D7DBE3"/>
      </a:accent6>
      <a:hlink>
        <a:srgbClr val="C81E3A"/>
      </a:hlink>
      <a:folHlink>
        <a:srgbClr val="1D7A8C"/>
      </a:folHlink>
    </a:clrScheme>
    <a:fontScheme name="ppt169_china_rail_2024_zh_sonnet">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rail_2024_zh_sonne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2026-09-12T13:36:51Z</dcterms:created>
  <dcterms:modified xsi:type="dcterms:W3CDTF">2026-09-12T13:36:51Z</dcterms:modified>
  <cp:category/>
  <cp:contentStatus/>
</cp:coreProperties>
</file>