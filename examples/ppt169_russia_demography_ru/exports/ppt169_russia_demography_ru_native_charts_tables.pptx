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jpg" ContentType="image/jpeg"/>
  <Default Extension="xlsx" ContentType="application/vnd.openxmlformats-officedocument.spreadsheetml.sheet"/>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charts/chart1001.xml" ContentType="application/vnd.openxmlformats-officedocument.drawingml.chart+xml"/>
  <Override PartName="/ppt/charts/chart1201.xml" ContentType="application/vnd.openxmlformats-officedocument.drawingml.chart+xml"/>
  <Override PartName="/ppt/charts/chart1401.xml" ContentType="application/vnd.openxmlformats-officedocument.drawingml.chart+xml"/>
  <Override PartName="/ppt/charts/chart301.xml" ContentType="application/vnd.openxmlformats-officedocument.drawingml.chart+xml"/>
  <Override PartName="/ppt/charts/chart401.xml" ContentType="application/vnd.openxmlformats-officedocument.drawingml.chart+xml"/>
  <Override PartName="/ppt/charts/chart501.xml" ContentType="application/vnd.openxmlformats-officedocument.drawingml.chart+xml"/>
  <Override PartName="/ppt/charts/chart601.xml" ContentType="application/vnd.openxmlformats-officedocument.drawingml.chart+xml"/>
  <Override PartName="/ppt/charts/chart701.xml" ContentType="application/vnd.openxmlformats-officedocument.drawingml.chart+xml"/>
  <Override PartName="/ppt/charts/chart801.xml" ContentType="application/vnd.openxmlformats-officedocument.drawingml.chart+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22"/>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2000" cy="6858000" type="screen16x9"/>
  <p:notesSz cx="6858000" cy="9144000"/>
  <p:defaultTextStyle>
    <a:defPPr>
      <a:defRPr lang="ru-RU"/>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  <Relationship Id="rId22" Type="http://schemas.openxmlformats.org/officeDocument/2006/relationships/notesMaster" Target="notesMasters/notesMaster1.xml"/>
</Relationships>
</file>

<file path=ppt/charts/_rels/chart301.xml.rels><?xml version="1.0" encoding="UTF-8" standalone="yes"?>
<Relationships xmlns="http://schemas.openxmlformats.org/package/2006/relationships">
<Relationship Id="rId1" Type="http://schemas.openxmlformats.org/officeDocument/2006/relationships/package" Target="../embeddings/Microsoft_Excel_Sheet301.xlsx"/>
</Relationships>
</file>

<file path=ppt/charts/_rels/chart401.xml.rels><?xml version="1.0" encoding="UTF-8" standalone="yes"?>
<Relationships xmlns="http://schemas.openxmlformats.org/package/2006/relationships">
<Relationship Id="rId1" Type="http://schemas.openxmlformats.org/officeDocument/2006/relationships/package" Target="../embeddings/Microsoft_Excel_Sheet401.xlsx"/>
</Relationships>
</file>

<file path=ppt/charts/_rels/chart501.xml.rels><?xml version="1.0" encoding="UTF-8" standalone="yes"?>
<Relationships xmlns="http://schemas.openxmlformats.org/package/2006/relationships">
<Relationship Id="rId1" Type="http://schemas.openxmlformats.org/officeDocument/2006/relationships/package" Target="../embeddings/Microsoft_Excel_Sheet501.xlsx"/>
</Relationships>
</file>

<file path=ppt/charts/_rels/chart601.xml.rels><?xml version="1.0" encoding="UTF-8" standalone="yes"?>
<Relationships xmlns="http://schemas.openxmlformats.org/package/2006/relationships">
<Relationship Id="rId1" Type="http://schemas.openxmlformats.org/officeDocument/2006/relationships/package" Target="../embeddings/Microsoft_Excel_Sheet601.xlsx"/>
</Relationships>
</file>

<file path=ppt/charts/_rels/chart701.xml.rels><?xml version="1.0" encoding="UTF-8" standalone="yes"?>
<Relationships xmlns="http://schemas.openxmlformats.org/package/2006/relationships">
<Relationship Id="rId1" Type="http://schemas.openxmlformats.org/officeDocument/2006/relationships/package" Target="../embeddings/Microsoft_Excel_Sheet701.xlsx"/>
</Relationships>
</file>

<file path=ppt/charts/_rels/chart801.xml.rels><?xml version="1.0" encoding="UTF-8" standalone="yes"?>
<Relationships xmlns="http://schemas.openxmlformats.org/package/2006/relationships">
<Relationship Id="rId1" Type="http://schemas.openxmlformats.org/officeDocument/2006/relationships/package" Target="../embeddings/Microsoft_Excel_Sheet801.xlsx"/>
</Relationships>
</file>

<file path=ppt/charts/_rels/chart1001.xml.rels><?xml version="1.0" encoding="UTF-8" standalone="yes"?>
<Relationships xmlns="http://schemas.openxmlformats.org/package/2006/relationships">
<Relationship Id="rId1" Type="http://schemas.openxmlformats.org/officeDocument/2006/relationships/package" Target="../embeddings/Microsoft_Excel_Sheet1001.xlsx"/>
</Relationships>
</file>

<file path=ppt/charts/_rels/chart1201.xml.rels><?xml version="1.0" encoding="UTF-8" standalone="yes"?>
<Relationships xmlns="http://schemas.openxmlformats.org/package/2006/relationships">
<Relationship Id="rId1" Type="http://schemas.openxmlformats.org/officeDocument/2006/relationships/package" Target="../embeddings/Microsoft_Excel_Sheet1201.xlsx"/>
</Relationships>
</file>

<file path=ppt/charts/_rels/chart1401.xml.rels><?xml version="1.0" encoding="UTF-8" standalone="yes"?>
<Relationships xmlns="http://schemas.openxmlformats.org/package/2006/relationships">
<Relationship Id="rId1" Type="http://schemas.openxmlformats.org/officeDocument/2006/relationships/package" Target="../embeddings/Microsoft_Excel_Sheet1401.xlsx"/>
</Relationships>
</file>

<file path=ppt/charts/chart301.xml><?xml version="1.0" encoding="utf-8"?>
<c:chartSpace xmlns:c="http://schemas.openxmlformats.org/drawingml/2006/chart" xmlns:a="http://schemas.openxmlformats.org/drawingml/2006/main" xmlns:r="http://schemas.openxmlformats.org/officeDocument/2006/relationships">
  <c:date1904 val="0"/>
  <c:lang val="ru-RU"/>
  <c:chart>
    <c:autoTitleDeleted val="1"/>
    <c:plotArea>
      <c:layout>
        <c:manualLayout>
          <c:layoutTarget val="inner"/>
          <c:xMode val="edge"/>
          <c:yMode val="edge"/>
          <c:wMode val="factor"/>
          <c:hMode val="factor"/>
          <c:x val="0.0926365795724"/>
          <c:y val="0.06"/>
          <c:w val="0.878859857482"/>
          <c:h val="0.85"/>
        </c:manualLayout>
      </c:layout>
      <c:lineChart>
        <c:grouping val="standard"/>
        <c:varyColors val="0"/>
        <c:ser>
          <c:idx val="0"/>
          <c:order val="0"/>
          <c:tx>
            <c:strRef>
              <c:f>Sheet1!$B$1</c:f>
              <c:strCache>
                <c:ptCount val="1"/>
                <c:pt idx="0">
                  <c:v>Численность населения, млн человек</c:v>
                </c:pt>
              </c:strCache>
            </c:strRef>
          </c:tx>
          <c:spPr>
            <a:solidFill>
              <a:schemeClr val="accent3"/>
            </a:solidFill>
            <a:ln w="28575">
              <a:solidFill>
                <a:schemeClr val="accent3"/>
              </a:solidFill>
            </a:ln>
          </c:spPr>
          <c:marker>
            <c:symbol val="none"/>
          </c:marker>
          <c:dPt>
            <c:idx val="0"/>
            <c:marker>
              <c:symbol val="circle"/>
              <c:size val="8"/>
              <c:spPr>
                <a:solidFill>
                  <a:schemeClr val="accent1"/>
                </a:solidFill>
                <a:ln>
                  <a:solidFill>
                    <a:schemeClr val="accent1"/>
                  </a:solidFill>
                </a:ln>
              </c:spPr>
            </c:marker>
          </c:dPt>
          <c:dPt>
            <c:idx val="1"/>
            <c:marker>
              <c:symbol val="none"/>
            </c:marker>
          </c:dPt>
          <c:dPt>
            <c:idx val="2"/>
            <c:marker>
              <c:symbol val="none"/>
            </c:marker>
          </c:dPt>
          <c:dPt>
            <c:idx val="3"/>
            <c:marker>
              <c:symbol val="none"/>
            </c:marker>
          </c:dPt>
          <c:dPt>
            <c:idx val="4"/>
            <c:marker>
              <c:symbol val="none"/>
            </c:marker>
          </c:dPt>
          <c:dPt>
            <c:idx val="5"/>
            <c:marker>
              <c:symbol val="none"/>
            </c:marker>
          </c:dPt>
          <c:dPt>
            <c:idx val="6"/>
            <c:marker>
              <c:symbol val="none"/>
            </c:marker>
          </c:dPt>
          <c:dPt>
            <c:idx val="7"/>
            <c:marker>
              <c:symbol val="none"/>
            </c:marker>
          </c:dPt>
          <c:dPt>
            <c:idx val="8"/>
            <c:marker>
              <c:symbol val="none"/>
            </c:marker>
          </c:dPt>
          <c:dPt>
            <c:idx val="9"/>
            <c:marker>
              <c:symbol val="none"/>
            </c:marker>
          </c:dPt>
          <c:dPt>
            <c:idx val="10"/>
            <c:marker>
              <c:symbol val="none"/>
            </c:marker>
          </c:dPt>
          <c:dPt>
            <c:idx val="11"/>
            <c:marker>
              <c:symbol val="none"/>
            </c:marker>
          </c:dPt>
          <c:dPt>
            <c:idx val="12"/>
            <c:marker>
              <c:symbol val="none"/>
            </c:marker>
          </c:dPt>
          <c:dPt>
            <c:idx val="13"/>
            <c:marker>
              <c:symbol val="none"/>
            </c:marker>
          </c:dPt>
          <c:dPt>
            <c:idx val="14"/>
            <c:marker>
              <c:symbol val="none"/>
            </c:marker>
          </c:dPt>
          <c:dPt>
            <c:idx val="15"/>
            <c:marker>
              <c:symbol val="none"/>
            </c:marker>
          </c:dPt>
          <c:dPt>
            <c:idx val="16"/>
            <c:marker>
              <c:symbol val="none"/>
            </c:marker>
          </c:dPt>
          <c:dPt>
            <c:idx val="17"/>
            <c:marker>
              <c:symbol val="circle"/>
              <c:size val="8"/>
              <c:spPr>
                <a:solidFill>
                  <a:schemeClr val="accent1"/>
                </a:solidFill>
                <a:ln>
                  <a:solidFill>
                    <a:schemeClr val="accent1"/>
                  </a:solidFill>
                </a:ln>
              </c:spPr>
            </c:marker>
          </c:dPt>
          <c:dPt>
            <c:idx val="18"/>
            <c:marker>
              <c:symbol val="none"/>
            </c:marker>
          </c:dPt>
          <c:dPt>
            <c:idx val="19"/>
            <c:marker>
              <c:symbol val="none"/>
            </c:marker>
          </c:dPt>
          <c:dPt>
            <c:idx val="20"/>
            <c:marker>
              <c:symbol val="none"/>
            </c:marker>
          </c:dPt>
          <c:dPt>
            <c:idx val="21"/>
            <c:marker>
              <c:symbol val="none"/>
            </c:marker>
          </c:dPt>
          <c:dPt>
            <c:idx val="22"/>
            <c:marker>
              <c:symbol val="none"/>
            </c:marker>
          </c:dPt>
          <c:dPt>
            <c:idx val="23"/>
            <c:marker>
              <c:symbol val="none"/>
            </c:marker>
          </c:dPt>
          <c:dPt>
            <c:idx val="24"/>
            <c:marker>
              <c:symbol val="none"/>
            </c:marker>
          </c:dPt>
          <c:dPt>
            <c:idx val="25"/>
            <c:marker>
              <c:symbol val="none"/>
            </c:marker>
          </c:dPt>
          <c:dPt>
            <c:idx val="26"/>
            <c:marker>
              <c:symbol val="none"/>
            </c:marker>
          </c:dPt>
          <c:dPt>
            <c:idx val="27"/>
            <c:marker>
              <c:symbol val="none"/>
            </c:marker>
          </c:dPt>
          <c:dPt>
            <c:idx val="28"/>
            <c:marker>
              <c:symbol val="circle"/>
              <c:size val="8"/>
              <c:spPr>
                <a:solidFill>
                  <a:schemeClr val="accent1"/>
                </a:solidFill>
                <a:ln>
                  <a:solidFill>
                    <a:schemeClr val="accent1"/>
                  </a:solidFill>
                </a:ln>
              </c:spPr>
            </c:marker>
          </c:dPt>
          <c:dPt>
            <c:idx val="29"/>
            <c:marker>
              <c:symbol val="none"/>
            </c:marker>
          </c:dPt>
          <c:dPt>
            <c:idx val="30"/>
            <c:marker>
              <c:symbol val="none"/>
            </c:marker>
          </c:dPt>
          <c:dPt>
            <c:idx val="31"/>
            <c:marker>
              <c:symbol val="none"/>
            </c:marker>
          </c:dPt>
          <c:dPt>
            <c:idx val="32"/>
            <c:marker>
              <c:symbol val="none"/>
            </c:marker>
          </c:dPt>
          <c:dPt>
            <c:idx val="33"/>
            <c:marker>
              <c:symbol val="circle"/>
              <c:size val="8"/>
              <c:spPr>
                <a:solidFill>
                  <a:schemeClr val="accent1"/>
                </a:solidFill>
                <a:ln>
                  <a:solidFill>
                    <a:schemeClr val="accent1"/>
                  </a:solidFill>
                </a:ln>
              </c:spPr>
            </c:marker>
          </c:dPt>
          <c:cat>
            <c:strRef>
              <c:f>Sheet1!$A$2:$A$35</c:f>
              <c:strCache>
                <c:ptCount val="34"/>
                <c:pt idx="0">
                  <c:v>1991</c:v>
                </c:pt>
                <c:pt idx="1">
                  <c:v>1992</c:v>
                </c:pt>
                <c:pt idx="2">
                  <c:v>1993</c:v>
                </c:pt>
                <c:pt idx="3">
                  <c:v>1994</c:v>
                </c:pt>
                <c:pt idx="4">
                  <c:v>1995</c:v>
                </c:pt>
                <c:pt idx="5">
                  <c:v>1996</c:v>
                </c:pt>
                <c:pt idx="6">
                  <c:v>1997</c:v>
                </c:pt>
                <c:pt idx="7">
                  <c:v>1998</c:v>
                </c:pt>
                <c:pt idx="8">
                  <c:v>1999</c:v>
                </c:pt>
                <c:pt idx="9">
                  <c:v>2000</c:v>
                </c:pt>
                <c:pt idx="10">
                  <c:v>2001</c:v>
                </c:pt>
                <c:pt idx="11">
                  <c:v>2002</c:v>
                </c:pt>
                <c:pt idx="12">
                  <c:v>2003</c:v>
                </c:pt>
                <c:pt idx="13">
                  <c:v>2004</c:v>
                </c:pt>
                <c:pt idx="14">
                  <c:v>2005</c:v>
                </c:pt>
                <c:pt idx="15">
                  <c:v>2006</c:v>
                </c:pt>
                <c:pt idx="16">
                  <c:v>2007</c:v>
                </c:pt>
                <c:pt idx="17">
                  <c:v>2008</c:v>
                </c:pt>
                <c:pt idx="18">
                  <c:v>2009</c:v>
                </c:pt>
                <c:pt idx="19">
                  <c:v>2010</c:v>
                </c:pt>
                <c:pt idx="20">
                  <c:v>2011</c:v>
                </c:pt>
                <c:pt idx="21">
                  <c:v>2012</c:v>
                </c:pt>
                <c:pt idx="22">
                  <c:v>2013</c:v>
                </c:pt>
                <c:pt idx="23">
                  <c:v>2014</c:v>
                </c:pt>
                <c:pt idx="24">
                  <c:v>2015</c:v>
                </c:pt>
                <c:pt idx="25">
                  <c:v>2016</c:v>
                </c:pt>
                <c:pt idx="26">
                  <c:v>2017</c:v>
                </c:pt>
                <c:pt idx="27">
                  <c:v>2018</c:v>
                </c:pt>
                <c:pt idx="28">
                  <c:v>2019</c:v>
                </c:pt>
                <c:pt idx="29">
                  <c:v>2020</c:v>
                </c:pt>
                <c:pt idx="30">
                  <c:v>2021</c:v>
                </c:pt>
                <c:pt idx="31">
                  <c:v>2022</c:v>
                </c:pt>
                <c:pt idx="32">
                  <c:v>2023</c:v>
                </c:pt>
                <c:pt idx="33">
                  <c:v>2024</c:v>
                </c:pt>
              </c:strCache>
            </c:strRef>
          </c:cat>
          <c:val>
            <c:numRef>
              <c:f>Sheet1!$B$2:$B$35</c:f>
              <c:numCache>
                <c:formatCode>General</c:formatCode>
                <c:ptCount val="34"/>
                <c:pt idx="0">
                  <c:v>148.39</c:v>
                </c:pt>
                <c:pt idx="1">
                  <c:v>148.54</c:v>
                </c:pt>
                <c:pt idx="2">
                  <c:v>148.46</c:v>
                </c:pt>
                <c:pt idx="3">
                  <c:v>148.41</c:v>
                </c:pt>
                <c:pt idx="4">
                  <c:v>148.38</c:v>
                </c:pt>
                <c:pt idx="5">
                  <c:v>148.16</c:v>
                </c:pt>
                <c:pt idx="6">
                  <c:v>147.92</c:v>
                </c:pt>
                <c:pt idx="7">
                  <c:v>147.67</c:v>
                </c:pt>
                <c:pt idx="8">
                  <c:v>147.21</c:v>
                </c:pt>
                <c:pt idx="9">
                  <c:v>146.6</c:v>
                </c:pt>
                <c:pt idx="10">
                  <c:v>145.98</c:v>
                </c:pt>
                <c:pt idx="11">
                  <c:v>145.31</c:v>
                </c:pt>
                <c:pt idx="12">
                  <c:v>144.65</c:v>
                </c:pt>
                <c:pt idx="13">
                  <c:v>144.07</c:v>
                </c:pt>
                <c:pt idx="14">
                  <c:v>143.52</c:v>
                </c:pt>
                <c:pt idx="15">
                  <c:v>143.05</c:v>
                </c:pt>
                <c:pt idx="16">
                  <c:v>142.81</c:v>
                </c:pt>
                <c:pt idx="17">
                  <c:v>142.74</c:v>
                </c:pt>
                <c:pt idx="18">
                  <c:v>142.79</c:v>
                </c:pt>
                <c:pt idx="19">
                  <c:v>142.85</c:v>
                </c:pt>
                <c:pt idx="20">
                  <c:v>143.02</c:v>
                </c:pt>
                <c:pt idx="21">
                  <c:v>143.38</c:v>
                </c:pt>
                <c:pt idx="22">
                  <c:v>143.81</c:v>
                </c:pt>
                <c:pt idx="23">
                  <c:v>144.24</c:v>
                </c:pt>
                <c:pt idx="24">
                  <c:v>144.64</c:v>
                </c:pt>
                <c:pt idx="25">
                  <c:v>145.02</c:v>
                </c:pt>
                <c:pt idx="26">
                  <c:v>145.29</c:v>
                </c:pt>
                <c:pt idx="27">
                  <c:v>145.4</c:v>
                </c:pt>
                <c:pt idx="28">
                  <c:v>145.45</c:v>
                </c:pt>
                <c:pt idx="29">
                  <c:v>145.25</c:v>
                </c:pt>
                <c:pt idx="30">
                  <c:v>144.75</c:v>
                </c:pt>
                <c:pt idx="31">
                  <c:v>144.24</c:v>
                </c:pt>
                <c:pt idx="32">
                  <c:v>143.83</c:v>
                </c:pt>
                <c:pt idx="33">
                  <c:v>143.67</c:v>
                </c:pt>
              </c:numCache>
            </c:numRef>
          </c:val>
          <c:smooth val="0"/>
        </c:ser>
        <c:marker val="1"/>
        <c:smooth val="0"/>
        <c:axId val="2068027336"/>
        <c:axId val="2113994440"/>
      </c:lineChart>
      <c:catAx>
        <c:axId val="2068027336"/>
        <c:scaling>
          <c:orientation val="minMax"/>
        </c:scaling>
        <c:delete val="0"/>
        <c:axPos val="b"/>
        <c:majorTickMark val="none"/>
        <c:minorTickMark val="none"/>
        <c:tickLblPos val="nextTo"/>
        <c:spPr>
          <a:ln w="9525" cap="flat" cmpd="sng" algn="ctr">
            <a:solidFill>
              <a:srgbClr val="5B6670"/>
            </a:solidFill>
            <a:round/>
          </a:ln>
        </c:spPr>
        <c:txPr>
          <a:bodyPr/>
          <a:lstStyle/>
          <a:p>
            <a:pPr>
              <a:defRPr lang="ru-RU" sz="1350">
                <a:solidFill>
                  <a:srgbClr val="5B6670"/>
                </a:solidFill>
                <a:latin typeface="Arial"/>
                <a:ea typeface="Microsoft YaHei"/>
                <a:cs typeface="Arial"/>
              </a:defRPr>
            </a:pPr>
            <a:endParaRPr lang="ru-RU"/>
          </a:p>
        </c:txPr>
        <c:crossAx val="2113994440"/>
        <c:crosses val="autoZero"/>
        <c:auto val="1"/>
        <c:lblAlgn val="ctr"/>
        <c:lblOffset val="100"/>
        <c:noMultiLvlLbl val="0"/>
      </c:catAx>
      <c:valAx>
        <c:axId val="2113994440"/>
        <c:scaling>
          <c:orientation val="minMax"/>
          <c:max val="149"/>
          <c:min val="142"/>
        </c:scaling>
        <c:delete val="0"/>
        <c:axPos val="l"/>
        <c:majorGridlines>
          <c:spPr>
            <a:ln w="6350" cap="flat" cmpd="sng" algn="ctr">
              <a:solidFill>
                <a:srgbClr val="E6E1D7"/>
              </a:solidFill>
              <a:round/>
            </a:ln>
          </c:spPr>
        </c:majorGridlines>
        <c:numFmt formatCode="0" sourceLinked="0"/>
        <c:majorTickMark val="none"/>
        <c:minorTickMark val="none"/>
        <c:tickLblPos val="nextTo"/>
        <c:spPr>
          <a:ln w="9525" cap="flat" cmpd="sng" algn="ctr">
            <a:solidFill>
              <a:srgbClr val="5B6670"/>
            </a:solidFill>
            <a:round/>
          </a:ln>
        </c:spPr>
        <c:txPr>
          <a:bodyPr/>
          <a:lstStyle/>
          <a:p>
            <a:pPr>
              <a:defRPr lang="ru-RU" sz="1350">
                <a:solidFill>
                  <a:srgbClr val="5B6670"/>
                </a:solidFill>
                <a:latin typeface="Arial"/>
                <a:ea typeface="Microsoft YaHei"/>
                <a:cs typeface="Arial"/>
              </a:defRPr>
            </a:pPr>
            <a:endParaRPr lang="ru-RU"/>
          </a:p>
        </c:txPr>
        <c:crossAx val="2068027336"/>
        <c:crosses val="autoZero"/>
        <c:crossBetween val="midCat"/>
        <c:majorUnit val="1"/>
      </c:valAx>
      <c:spPr>
        <a:noFill/>
        <a:ln>
          <a:noFill/>
        </a:ln>
      </c:spPr>
    </c:plotArea>
    <c:plotVisOnly val="1"/>
    <c:dispBlanksAs val="gap"/>
  </c:chart>
  <c:spPr>
    <a:noFill/>
    <a:ln>
      <a:noFill/>
    </a:ln>
  </c:spPr>
  <c:txPr>
    <a:bodyPr/>
    <a:lstStyle/>
    <a:p>
      <a:pPr>
        <a:defRPr lang="ru-RU" sz="1350">
          <a:solidFill>
            <a:srgbClr val="5B6670"/>
          </a:solidFill>
          <a:latin typeface="Arial"/>
          <a:ea typeface="Microsoft YaHei"/>
          <a:cs typeface="Arial"/>
        </a:defRPr>
      </a:pPr>
      <a:endParaRPr lang="ru-RU"/>
    </a:p>
  </c:txPr>
  <c:externalData r:id="rId1">
    <c:autoUpdate val="0"/>
  </c:externalData>
</c:chartSpace>
</file>

<file path=ppt/charts/chart401.xml><?xml version="1.0" encoding="utf-8"?>
<c:chartSpace xmlns:c="http://schemas.openxmlformats.org/drawingml/2006/chart" xmlns:a="http://schemas.openxmlformats.org/drawingml/2006/main" xmlns:r="http://schemas.openxmlformats.org/officeDocument/2006/relationships">
  <c:date1904 val="0"/>
  <c:lang val="ru-RU"/>
  <c:chart>
    <c:autoTitleDeleted val="1"/>
    <c:plotArea>
      <c:layout>
        <c:manualLayout>
          <c:layoutTarget val="inner"/>
          <c:xMode val="edge"/>
          <c:yMode val="edge"/>
          <c:wMode val="factor"/>
          <c:hMode val="factor"/>
          <c:x val="0.110795454545"/>
          <c:y val="0.06"/>
          <c:w val="0.855113636364"/>
          <c:h val="0.85"/>
        </c:manualLayout>
      </c:layout>
      <c:lineChart>
        <c:grouping val="standard"/>
        <c:varyColors val="0"/>
        <c:ser>
          <c:idx val="0"/>
          <c:order val="0"/>
          <c:tx>
            <c:strRef>
              <c:f>Sheet1!$B$1</c:f>
              <c:strCache>
                <c:ptCount val="1"/>
                <c:pt idx="0">
                  <c:v>Численность населения, млн человек</c:v>
                </c:pt>
              </c:strCache>
            </c:strRef>
          </c:tx>
          <c:spPr>
            <a:solidFill>
              <a:schemeClr val="accent3"/>
            </a:solidFill>
            <a:ln w="28575">
              <a:solidFill>
                <a:schemeClr val="accent3"/>
              </a:solidFill>
            </a:ln>
          </c:spPr>
          <c:marker>
            <c:symbol val="none"/>
          </c:marker>
          <c:dPt>
            <c:idx val="0"/>
            <c:marker>
              <c:symbol val="none"/>
            </c:marker>
          </c:dPt>
          <c:dPt>
            <c:idx val="1"/>
            <c:marker>
              <c:symbol val="none"/>
            </c:marker>
          </c:dPt>
          <c:dPt>
            <c:idx val="2"/>
            <c:marker>
              <c:symbol val="none"/>
            </c:marker>
          </c:dPt>
          <c:dPt>
            <c:idx val="3"/>
            <c:marker>
              <c:symbol val="circle"/>
              <c:size val="8"/>
              <c:spPr>
                <a:solidFill>
                  <a:schemeClr val="accent2"/>
                </a:solidFill>
                <a:ln>
                  <a:solidFill>
                    <a:schemeClr val="accent2"/>
                  </a:solidFill>
                </a:ln>
              </c:spPr>
            </c:marker>
          </c:dPt>
          <c:dPt>
            <c:idx val="4"/>
            <c:marker>
              <c:symbol val="none"/>
            </c:marker>
          </c:dPt>
          <c:dPt>
            <c:idx val="5"/>
            <c:marker>
              <c:symbol val="none"/>
            </c:marker>
          </c:dPt>
          <c:dPt>
            <c:idx val="6"/>
            <c:marker>
              <c:symbol val="none"/>
            </c:marker>
          </c:dPt>
          <c:dPt>
            <c:idx val="7"/>
            <c:marker>
              <c:symbol val="none"/>
            </c:marker>
          </c:dPt>
          <c:dPt>
            <c:idx val="8"/>
            <c:marker>
              <c:symbol val="none"/>
            </c:marker>
          </c:dPt>
          <c:dPt>
            <c:idx val="9"/>
            <c:marker>
              <c:symbol val="none"/>
            </c:marker>
          </c:dPt>
          <c:dPt>
            <c:idx val="10"/>
            <c:marker>
              <c:symbol val="none"/>
            </c:marker>
          </c:dPt>
          <c:dPt>
            <c:idx val="11"/>
            <c:marker>
              <c:symbol val="none"/>
            </c:marker>
          </c:dPt>
          <c:dPt>
            <c:idx val="12"/>
            <c:marker>
              <c:symbol val="none"/>
            </c:marker>
          </c:dPt>
          <c:dPt>
            <c:idx val="13"/>
            <c:marker>
              <c:symbol val="none"/>
            </c:marker>
          </c:dPt>
          <c:dPt>
            <c:idx val="14"/>
            <c:marker>
              <c:symbol val="circle"/>
              <c:size val="8"/>
              <c:spPr>
                <a:solidFill>
                  <a:schemeClr val="accent3"/>
                </a:solidFill>
                <a:ln>
                  <a:solidFill>
                    <a:schemeClr val="accent3"/>
                  </a:solidFill>
                </a:ln>
              </c:spPr>
            </c:marker>
          </c:dPt>
          <c:dPt>
            <c:idx val="15"/>
            <c:marker>
              <c:symbol val="none"/>
            </c:marker>
          </c:dPt>
          <c:dPt>
            <c:idx val="16"/>
            <c:marker>
              <c:symbol val="none"/>
            </c:marker>
          </c:dPt>
          <c:dPt>
            <c:idx val="17"/>
            <c:marker>
              <c:symbol val="none"/>
            </c:marker>
          </c:dPt>
          <c:dPt>
            <c:idx val="18"/>
            <c:marker>
              <c:symbol val="none"/>
            </c:marker>
          </c:dPt>
          <c:dPt>
            <c:idx val="19"/>
            <c:marker>
              <c:symbol val="circle"/>
              <c:size val="8"/>
              <c:spPr>
                <a:solidFill>
                  <a:schemeClr val="accent1"/>
                </a:solidFill>
                <a:ln>
                  <a:solidFill>
                    <a:schemeClr val="accent1"/>
                  </a:solidFill>
                </a:ln>
              </c:spPr>
            </c:marker>
          </c:dPt>
          <c:cat>
            <c:strRef>
              <c:f>Sheet1!$A$2:$A$21</c:f>
              <c:strCache>
                <c:ptCount val="20"/>
                <c:pt idx="0">
                  <c:v>2005</c:v>
                </c:pt>
                <c:pt idx="1">
                  <c:v>2006</c:v>
                </c:pt>
                <c:pt idx="2">
                  <c:v>2007</c:v>
                </c:pt>
                <c:pt idx="3">
                  <c:v>2008</c:v>
                </c:pt>
                <c:pt idx="4">
                  <c:v>2009</c:v>
                </c:pt>
                <c:pt idx="5">
                  <c:v>2010</c:v>
                </c:pt>
                <c:pt idx="6">
                  <c:v>2011</c:v>
                </c:pt>
                <c:pt idx="7">
                  <c:v>2012</c:v>
                </c:pt>
                <c:pt idx="8">
                  <c:v>2013</c:v>
                </c:pt>
                <c:pt idx="9">
                  <c:v>2014</c:v>
                </c:pt>
                <c:pt idx="10">
                  <c:v>2015</c:v>
                </c:pt>
                <c:pt idx="11">
                  <c:v>2016</c:v>
                </c:pt>
                <c:pt idx="12">
                  <c:v>2017</c:v>
                </c:pt>
                <c:pt idx="13">
                  <c:v>2018</c:v>
                </c:pt>
                <c:pt idx="14">
                  <c:v>2019</c:v>
                </c:pt>
                <c:pt idx="15">
                  <c:v>2020</c:v>
                </c:pt>
                <c:pt idx="16">
                  <c:v>2021</c:v>
                </c:pt>
                <c:pt idx="17">
                  <c:v>2022</c:v>
                </c:pt>
                <c:pt idx="18">
                  <c:v>2023</c:v>
                </c:pt>
                <c:pt idx="19">
                  <c:v>2024</c:v>
                </c:pt>
              </c:strCache>
            </c:strRef>
          </c:cat>
          <c:val>
            <c:numRef>
              <c:f>Sheet1!$B$2:$B$21</c:f>
              <c:numCache>
                <c:formatCode>General</c:formatCode>
                <c:ptCount val="20"/>
                <c:pt idx="0">
                  <c:v>143.52</c:v>
                </c:pt>
                <c:pt idx="1">
                  <c:v>143.05</c:v>
                </c:pt>
                <c:pt idx="2">
                  <c:v>142.81</c:v>
                </c:pt>
                <c:pt idx="3">
                  <c:v>142.74</c:v>
                </c:pt>
                <c:pt idx="4">
                  <c:v>142.79</c:v>
                </c:pt>
                <c:pt idx="5">
                  <c:v>142.85</c:v>
                </c:pt>
                <c:pt idx="6">
                  <c:v>143.02</c:v>
                </c:pt>
                <c:pt idx="7">
                  <c:v>143.38</c:v>
                </c:pt>
                <c:pt idx="8">
                  <c:v>143.81</c:v>
                </c:pt>
                <c:pt idx="9">
                  <c:v>144.24</c:v>
                </c:pt>
                <c:pt idx="10">
                  <c:v>144.64</c:v>
                </c:pt>
                <c:pt idx="11">
                  <c:v>145.02</c:v>
                </c:pt>
                <c:pt idx="12">
                  <c:v>145.29</c:v>
                </c:pt>
                <c:pt idx="13">
                  <c:v>145.4</c:v>
                </c:pt>
                <c:pt idx="14">
                  <c:v>145.45</c:v>
                </c:pt>
                <c:pt idx="15">
                  <c:v>145.25</c:v>
                </c:pt>
                <c:pt idx="16">
                  <c:v>144.75</c:v>
                </c:pt>
                <c:pt idx="17">
                  <c:v>144.24</c:v>
                </c:pt>
                <c:pt idx="18">
                  <c:v>143.83</c:v>
                </c:pt>
                <c:pt idx="19">
                  <c:v>143.67</c:v>
                </c:pt>
              </c:numCache>
            </c:numRef>
          </c:val>
          <c:smooth val="0"/>
        </c:ser>
        <c:marker val="1"/>
        <c:smooth val="0"/>
        <c:axId val="2068027336"/>
        <c:axId val="2113994440"/>
      </c:lineChart>
      <c:catAx>
        <c:axId val="2068027336"/>
        <c:scaling>
          <c:orientation val="minMax"/>
        </c:scaling>
        <c:delete val="0"/>
        <c:axPos val="b"/>
        <c:majorTickMark val="none"/>
        <c:minorTickMark val="none"/>
        <c:tickLblPos val="nextTo"/>
        <c:spPr>
          <a:ln w="9525" cap="flat" cmpd="sng" algn="ctr">
            <a:solidFill>
              <a:srgbClr val="5B6670"/>
            </a:solidFill>
            <a:round/>
          </a:ln>
        </c:spPr>
        <c:txPr>
          <a:bodyPr/>
          <a:lstStyle/>
          <a:p>
            <a:pPr>
              <a:defRPr lang="ru-RU" sz="1350">
                <a:solidFill>
                  <a:srgbClr val="5B6670"/>
                </a:solidFill>
                <a:latin typeface="Arial"/>
                <a:ea typeface="Microsoft YaHei"/>
                <a:cs typeface="Arial"/>
              </a:defRPr>
            </a:pPr>
            <a:endParaRPr lang="ru-RU"/>
          </a:p>
        </c:txPr>
        <c:crossAx val="2113994440"/>
        <c:crosses val="autoZero"/>
        <c:auto val="1"/>
        <c:lblAlgn val="ctr"/>
        <c:lblOffset val="100"/>
        <c:noMultiLvlLbl val="0"/>
      </c:catAx>
      <c:valAx>
        <c:axId val="2113994440"/>
        <c:scaling>
          <c:orientation val="minMax"/>
          <c:max val="146"/>
          <c:min val="142"/>
        </c:scaling>
        <c:delete val="0"/>
        <c:axPos val="l"/>
        <c:majorGridlines>
          <c:spPr>
            <a:ln w="6350" cap="flat" cmpd="sng" algn="ctr">
              <a:solidFill>
                <a:srgbClr val="E6E1D7"/>
              </a:solidFill>
              <a:round/>
            </a:ln>
          </c:spPr>
        </c:majorGridlines>
        <c:numFmt formatCode="0" sourceLinked="0"/>
        <c:majorTickMark val="none"/>
        <c:minorTickMark val="none"/>
        <c:tickLblPos val="nextTo"/>
        <c:spPr>
          <a:ln w="9525" cap="flat" cmpd="sng" algn="ctr">
            <a:solidFill>
              <a:srgbClr val="5B6670"/>
            </a:solidFill>
            <a:round/>
          </a:ln>
        </c:spPr>
        <c:txPr>
          <a:bodyPr/>
          <a:lstStyle/>
          <a:p>
            <a:pPr>
              <a:defRPr lang="ru-RU" sz="1350">
                <a:solidFill>
                  <a:srgbClr val="5B6670"/>
                </a:solidFill>
                <a:latin typeface="Arial"/>
                <a:ea typeface="Microsoft YaHei"/>
                <a:cs typeface="Arial"/>
              </a:defRPr>
            </a:pPr>
            <a:endParaRPr lang="ru-RU"/>
          </a:p>
        </c:txPr>
        <c:crossAx val="2068027336"/>
        <c:crosses val="autoZero"/>
        <c:crossBetween val="midCat"/>
        <c:majorUnit val="1"/>
      </c:valAx>
      <c:spPr>
        <a:noFill/>
        <a:ln>
          <a:noFill/>
        </a:ln>
      </c:spPr>
    </c:plotArea>
    <c:plotVisOnly val="1"/>
    <c:dispBlanksAs val="gap"/>
  </c:chart>
  <c:spPr>
    <a:noFill/>
    <a:ln>
      <a:noFill/>
    </a:ln>
  </c:spPr>
  <c:txPr>
    <a:bodyPr/>
    <a:lstStyle/>
    <a:p>
      <a:pPr>
        <a:defRPr lang="ru-RU" sz="1350">
          <a:solidFill>
            <a:srgbClr val="5B6670"/>
          </a:solidFill>
          <a:latin typeface="Arial"/>
          <a:ea typeface="Microsoft YaHei"/>
          <a:cs typeface="Arial"/>
        </a:defRPr>
      </a:pPr>
      <a:endParaRPr lang="ru-RU"/>
    </a:p>
  </c:txPr>
  <c:externalData r:id="rId1">
    <c:autoUpdate val="0"/>
  </c:externalData>
</c:chartSpace>
</file>

<file path=ppt/charts/chart501.xml><?xml version="1.0" encoding="utf-8"?>
<c:chartSpace xmlns:c="http://schemas.openxmlformats.org/drawingml/2006/chart" xmlns:a="http://schemas.openxmlformats.org/drawingml/2006/main" xmlns:r="http://schemas.openxmlformats.org/officeDocument/2006/relationships">
  <c:date1904 val="0"/>
  <c:lang val="ru-RU"/>
  <c:chart>
    <c:autoTitleDeleted val="1"/>
    <c:plotArea>
      <c:layout>
        <c:manualLayout>
          <c:layoutTarget val="inner"/>
          <c:xMode val="edge"/>
          <c:yMode val="edge"/>
          <c:wMode val="factor"/>
          <c:hMode val="factor"/>
          <c:x val="0.068661971831"/>
          <c:y val="0.06"/>
          <c:w val="0.906690140845"/>
          <c:h val="0.85"/>
        </c:manualLayout>
      </c:layout>
      <c:lineChart>
        <c:grouping val="standard"/>
        <c:varyColors val="0"/>
        <c:ser>
          <c:idx val="0"/>
          <c:order val="0"/>
          <c:tx>
            <c:strRef>
              <c:f>Sheet1!$B$1</c:f>
              <c:strCache>
                <c:ptCount val="1"/>
                <c:pt idx="0">
                  <c:v>Рождаемость</c:v>
                </c:pt>
              </c:strCache>
            </c:strRef>
          </c:tx>
          <c:spPr>
            <a:solidFill>
              <a:schemeClr val="accent3"/>
            </a:solidFill>
            <a:ln w="28575">
              <a:solidFill>
                <a:schemeClr val="accent3"/>
              </a:solidFill>
            </a:ln>
          </c:spPr>
          <c:marker>
            <c:symbol val="none"/>
          </c:marker>
          <c:dPt>
            <c:idx val="0"/>
            <c:marker>
              <c:symbol val="circle"/>
              <c:size val="8"/>
              <c:spPr>
                <a:solidFill>
                  <a:schemeClr val="accent3"/>
                </a:solidFill>
                <a:ln>
                  <a:solidFill>
                    <a:schemeClr val="accent3"/>
                  </a:solidFill>
                </a:ln>
              </c:spPr>
            </c:marker>
          </c:dPt>
          <c:dPt>
            <c:idx val="1"/>
            <c:marker>
              <c:symbol val="none"/>
            </c:marker>
          </c:dPt>
          <c:dPt>
            <c:idx val="2"/>
            <c:marker>
              <c:symbol val="none"/>
            </c:marker>
          </c:dPt>
          <c:dPt>
            <c:idx val="3"/>
            <c:marker>
              <c:symbol val="none"/>
            </c:marker>
          </c:dPt>
          <c:dPt>
            <c:idx val="4"/>
            <c:marker>
              <c:symbol val="none"/>
            </c:marker>
          </c:dPt>
          <c:dPt>
            <c:idx val="5"/>
            <c:marker>
              <c:symbol val="none"/>
            </c:marker>
          </c:dPt>
          <c:dPt>
            <c:idx val="6"/>
            <c:marker>
              <c:symbol val="none"/>
            </c:marker>
          </c:dPt>
          <c:dPt>
            <c:idx val="7"/>
            <c:marker>
              <c:symbol val="none"/>
            </c:marker>
          </c:dPt>
          <c:dPt>
            <c:idx val="8"/>
            <c:marker>
              <c:symbol val="none"/>
            </c:marker>
          </c:dPt>
          <c:dPt>
            <c:idx val="9"/>
            <c:marker>
              <c:symbol val="none"/>
            </c:marker>
          </c:dPt>
          <c:dPt>
            <c:idx val="10"/>
            <c:marker>
              <c:symbol val="none"/>
            </c:marker>
          </c:dPt>
          <c:dPt>
            <c:idx val="11"/>
            <c:marker>
              <c:symbol val="none"/>
            </c:marker>
          </c:dPt>
          <c:dPt>
            <c:idx val="12"/>
            <c:marker>
              <c:symbol val="none"/>
            </c:marker>
          </c:dPt>
          <c:dPt>
            <c:idx val="13"/>
            <c:marker>
              <c:symbol val="none"/>
            </c:marker>
          </c:dPt>
          <c:dPt>
            <c:idx val="14"/>
            <c:marker>
              <c:symbol val="none"/>
            </c:marker>
          </c:dPt>
          <c:dPt>
            <c:idx val="15"/>
            <c:marker>
              <c:symbol val="none"/>
            </c:marker>
          </c:dPt>
          <c:dPt>
            <c:idx val="16"/>
            <c:marker>
              <c:symbol val="none"/>
            </c:marker>
          </c:dPt>
          <c:dPt>
            <c:idx val="17"/>
            <c:marker>
              <c:symbol val="none"/>
            </c:marker>
          </c:dPt>
          <c:dPt>
            <c:idx val="18"/>
            <c:marker>
              <c:symbol val="none"/>
            </c:marker>
          </c:dPt>
          <c:dPt>
            <c:idx val="19"/>
            <c:marker>
              <c:symbol val="none"/>
            </c:marker>
          </c:dPt>
          <c:dPt>
            <c:idx val="20"/>
            <c:marker>
              <c:symbol val="none"/>
            </c:marker>
          </c:dPt>
          <c:dPt>
            <c:idx val="21"/>
            <c:marker>
              <c:symbol val="none"/>
            </c:marker>
          </c:dPt>
          <c:dPt>
            <c:idx val="22"/>
            <c:marker>
              <c:symbol val="none"/>
            </c:marker>
          </c:dPt>
          <c:dPt>
            <c:idx val="23"/>
            <c:marker>
              <c:symbol val="none"/>
            </c:marker>
          </c:dPt>
          <c:dPt>
            <c:idx val="24"/>
            <c:marker>
              <c:symbol val="none"/>
            </c:marker>
          </c:dPt>
          <c:dPt>
            <c:idx val="25"/>
            <c:marker>
              <c:symbol val="none"/>
            </c:marker>
          </c:dPt>
          <c:dPt>
            <c:idx val="26"/>
            <c:marker>
              <c:symbol val="none"/>
            </c:marker>
          </c:dPt>
          <c:dPt>
            <c:idx val="27"/>
            <c:marker>
              <c:symbol val="none"/>
            </c:marker>
          </c:dPt>
          <c:dPt>
            <c:idx val="28"/>
            <c:marker>
              <c:symbol val="none"/>
            </c:marker>
          </c:dPt>
          <c:dPt>
            <c:idx val="29"/>
            <c:marker>
              <c:symbol val="none"/>
            </c:marker>
          </c:dPt>
          <c:dPt>
            <c:idx val="30"/>
            <c:marker>
              <c:symbol val="none"/>
            </c:marker>
          </c:dPt>
          <c:dPt>
            <c:idx val="31"/>
            <c:marker>
              <c:symbol val="none"/>
            </c:marker>
          </c:dPt>
          <c:dPt>
            <c:idx val="32"/>
            <c:marker>
              <c:symbol val="none"/>
            </c:marker>
          </c:dPt>
          <c:dPt>
            <c:idx val="33"/>
            <c:marker>
              <c:symbol val="circle"/>
              <c:size val="8"/>
              <c:spPr>
                <a:solidFill>
                  <a:schemeClr val="accent3"/>
                </a:solidFill>
                <a:ln>
                  <a:solidFill>
                    <a:schemeClr val="accent3"/>
                  </a:solidFill>
                </a:ln>
              </c:spPr>
            </c:marker>
          </c:dPt>
          <c:cat>
            <c:strRef>
              <c:f>Sheet1!$A$2:$A$35</c:f>
              <c:strCache>
                <c:ptCount val="34"/>
                <c:pt idx="0">
                  <c:v>1991</c:v>
                </c:pt>
                <c:pt idx="1">
                  <c:v>1992</c:v>
                </c:pt>
                <c:pt idx="2">
                  <c:v>1993</c:v>
                </c:pt>
                <c:pt idx="3">
                  <c:v>1994</c:v>
                </c:pt>
                <c:pt idx="4">
                  <c:v>1995</c:v>
                </c:pt>
                <c:pt idx="5">
                  <c:v>1996</c:v>
                </c:pt>
                <c:pt idx="6">
                  <c:v>1997</c:v>
                </c:pt>
                <c:pt idx="7">
                  <c:v>1998</c:v>
                </c:pt>
                <c:pt idx="8">
                  <c:v>1999</c:v>
                </c:pt>
                <c:pt idx="9">
                  <c:v>2000</c:v>
                </c:pt>
                <c:pt idx="10">
                  <c:v>2001</c:v>
                </c:pt>
                <c:pt idx="11">
                  <c:v>2002</c:v>
                </c:pt>
                <c:pt idx="12">
                  <c:v>2003</c:v>
                </c:pt>
                <c:pt idx="13">
                  <c:v>2004</c:v>
                </c:pt>
                <c:pt idx="14">
                  <c:v>2005</c:v>
                </c:pt>
                <c:pt idx="15">
                  <c:v>2006</c:v>
                </c:pt>
                <c:pt idx="16">
                  <c:v>2007</c:v>
                </c:pt>
                <c:pt idx="17">
                  <c:v>2008</c:v>
                </c:pt>
                <c:pt idx="18">
                  <c:v>2009</c:v>
                </c:pt>
                <c:pt idx="19">
                  <c:v>2010</c:v>
                </c:pt>
                <c:pt idx="20">
                  <c:v>2011</c:v>
                </c:pt>
                <c:pt idx="21">
                  <c:v>2012</c:v>
                </c:pt>
                <c:pt idx="22">
                  <c:v>2013</c:v>
                </c:pt>
                <c:pt idx="23">
                  <c:v>2014</c:v>
                </c:pt>
                <c:pt idx="24">
                  <c:v>2015</c:v>
                </c:pt>
                <c:pt idx="25">
                  <c:v>2016</c:v>
                </c:pt>
                <c:pt idx="26">
                  <c:v>2017</c:v>
                </c:pt>
                <c:pt idx="27">
                  <c:v>2018</c:v>
                </c:pt>
                <c:pt idx="28">
                  <c:v>2019</c:v>
                </c:pt>
                <c:pt idx="29">
                  <c:v>2020</c:v>
                </c:pt>
                <c:pt idx="30">
                  <c:v>2021</c:v>
                </c:pt>
                <c:pt idx="31">
                  <c:v>2022</c:v>
                </c:pt>
                <c:pt idx="32">
                  <c:v>2023</c:v>
                </c:pt>
                <c:pt idx="33">
                  <c:v>2024</c:v>
                </c:pt>
              </c:strCache>
            </c:strRef>
          </c:cat>
          <c:val>
            <c:numRef>
              <c:f>Sheet1!$B$2:$B$35</c:f>
              <c:numCache>
                <c:formatCode>General</c:formatCode>
                <c:ptCount val="34"/>
                <c:pt idx="0">
                  <c:v>12.1</c:v>
                </c:pt>
                <c:pt idx="1">
                  <c:v>10.7</c:v>
                </c:pt>
                <c:pt idx="2">
                  <c:v>9.4</c:v>
                </c:pt>
                <c:pt idx="3">
                  <c:v>9.5</c:v>
                </c:pt>
                <c:pt idx="4">
                  <c:v>9.3</c:v>
                </c:pt>
                <c:pt idx="5">
                  <c:v>8.9</c:v>
                </c:pt>
                <c:pt idx="6">
                  <c:v>8.6</c:v>
                </c:pt>
                <c:pt idx="7">
                  <c:v>8.8</c:v>
                </c:pt>
                <c:pt idx="8">
                  <c:v>8.3</c:v>
                </c:pt>
                <c:pt idx="9">
                  <c:v>8.7</c:v>
                </c:pt>
                <c:pt idx="10">
                  <c:v>9</c:v>
                </c:pt>
                <c:pt idx="11">
                  <c:v>9.7</c:v>
                </c:pt>
                <c:pt idx="12">
                  <c:v>10.2</c:v>
                </c:pt>
                <c:pt idx="13">
                  <c:v>10.4</c:v>
                </c:pt>
                <c:pt idx="14">
                  <c:v>10.2</c:v>
                </c:pt>
                <c:pt idx="15">
                  <c:v>10.3</c:v>
                </c:pt>
                <c:pt idx="16">
                  <c:v>11.3</c:v>
                </c:pt>
                <c:pt idx="17">
                  <c:v>12</c:v>
                </c:pt>
                <c:pt idx="18">
                  <c:v>12.3</c:v>
                </c:pt>
                <c:pt idx="19">
                  <c:v>12.5</c:v>
                </c:pt>
                <c:pt idx="20">
                  <c:v>12.6</c:v>
                </c:pt>
                <c:pt idx="21">
                  <c:v>13.3</c:v>
                </c:pt>
                <c:pt idx="22">
                  <c:v>13.2</c:v>
                </c:pt>
                <c:pt idx="23">
                  <c:v>13.3</c:v>
                </c:pt>
                <c:pt idx="24">
                  <c:v>13.3</c:v>
                </c:pt>
                <c:pt idx="25">
                  <c:v>12.9</c:v>
                </c:pt>
                <c:pt idx="26">
                  <c:v>11.5</c:v>
                </c:pt>
                <c:pt idx="27">
                  <c:v>10.9</c:v>
                </c:pt>
                <c:pt idx="28">
                  <c:v>10.1</c:v>
                </c:pt>
                <c:pt idx="29">
                  <c:v>9.8</c:v>
                </c:pt>
                <c:pt idx="30">
                  <c:v>9.6</c:v>
                </c:pt>
                <c:pt idx="31">
                  <c:v>8.9</c:v>
                </c:pt>
                <c:pt idx="32">
                  <c:v>8.6</c:v>
                </c:pt>
                <c:pt idx="33">
                  <c:v>8.4</c:v>
                </c:pt>
              </c:numCache>
            </c:numRef>
          </c:val>
          <c:smooth val="0"/>
        </c:ser>
        <c:ser>
          <c:idx val="1"/>
          <c:order val="1"/>
          <c:tx>
            <c:strRef>
              <c:f>Sheet1!$C$1</c:f>
              <c:strCache>
                <c:ptCount val="1"/>
                <c:pt idx="0">
                  <c:v>Смертность</c:v>
                </c:pt>
              </c:strCache>
            </c:strRef>
          </c:tx>
          <c:spPr>
            <a:solidFill>
              <a:schemeClr val="accent2"/>
            </a:solidFill>
            <a:ln w="28575">
              <a:solidFill>
                <a:schemeClr val="accent2"/>
              </a:solidFill>
            </a:ln>
          </c:spPr>
          <c:marker>
            <c:symbol val="none"/>
          </c:marker>
          <c:dPt>
            <c:idx val="0"/>
            <c:marker>
              <c:symbol val="circle"/>
              <c:size val="8"/>
              <c:spPr>
                <a:solidFill>
                  <a:schemeClr val="accent2"/>
                </a:solidFill>
                <a:ln>
                  <a:solidFill>
                    <a:schemeClr val="accent2"/>
                  </a:solidFill>
                </a:ln>
              </c:spPr>
            </c:marker>
          </c:dPt>
          <c:dPt>
            <c:idx val="1"/>
            <c:marker>
              <c:symbol val="none"/>
            </c:marker>
          </c:dPt>
          <c:dPt>
            <c:idx val="2"/>
            <c:marker>
              <c:symbol val="none"/>
            </c:marker>
          </c:dPt>
          <c:dPt>
            <c:idx val="3"/>
            <c:marker>
              <c:symbol val="none"/>
            </c:marker>
          </c:dPt>
          <c:dPt>
            <c:idx val="4"/>
            <c:marker>
              <c:symbol val="none"/>
            </c:marker>
          </c:dPt>
          <c:dPt>
            <c:idx val="5"/>
            <c:marker>
              <c:symbol val="none"/>
            </c:marker>
          </c:dPt>
          <c:dPt>
            <c:idx val="6"/>
            <c:marker>
              <c:symbol val="none"/>
            </c:marker>
          </c:dPt>
          <c:dPt>
            <c:idx val="7"/>
            <c:marker>
              <c:symbol val="none"/>
            </c:marker>
          </c:dPt>
          <c:dPt>
            <c:idx val="8"/>
            <c:marker>
              <c:symbol val="none"/>
            </c:marker>
          </c:dPt>
          <c:dPt>
            <c:idx val="9"/>
            <c:marker>
              <c:symbol val="none"/>
            </c:marker>
          </c:dPt>
          <c:dPt>
            <c:idx val="10"/>
            <c:marker>
              <c:symbol val="none"/>
            </c:marker>
          </c:dPt>
          <c:dPt>
            <c:idx val="11"/>
            <c:marker>
              <c:symbol val="none"/>
            </c:marker>
          </c:dPt>
          <c:dPt>
            <c:idx val="12"/>
            <c:marker>
              <c:symbol val="circle"/>
              <c:size val="8"/>
              <c:spPr>
                <a:solidFill>
                  <a:schemeClr val="accent2"/>
                </a:solidFill>
                <a:ln>
                  <a:solidFill>
                    <a:schemeClr val="accent2"/>
                  </a:solidFill>
                </a:ln>
              </c:spPr>
            </c:marker>
          </c:dPt>
          <c:dPt>
            <c:idx val="13"/>
            <c:marker>
              <c:symbol val="none"/>
            </c:marker>
          </c:dPt>
          <c:dPt>
            <c:idx val="14"/>
            <c:marker>
              <c:symbol val="none"/>
            </c:marker>
          </c:dPt>
          <c:dPt>
            <c:idx val="15"/>
            <c:marker>
              <c:symbol val="none"/>
            </c:marker>
          </c:dPt>
          <c:dPt>
            <c:idx val="16"/>
            <c:marker>
              <c:symbol val="none"/>
            </c:marker>
          </c:dPt>
          <c:dPt>
            <c:idx val="17"/>
            <c:marker>
              <c:symbol val="none"/>
            </c:marker>
          </c:dPt>
          <c:dPt>
            <c:idx val="18"/>
            <c:marker>
              <c:symbol val="none"/>
            </c:marker>
          </c:dPt>
          <c:dPt>
            <c:idx val="19"/>
            <c:marker>
              <c:symbol val="none"/>
            </c:marker>
          </c:dPt>
          <c:dPt>
            <c:idx val="20"/>
            <c:marker>
              <c:symbol val="none"/>
            </c:marker>
          </c:dPt>
          <c:dPt>
            <c:idx val="21"/>
            <c:marker>
              <c:symbol val="none"/>
            </c:marker>
          </c:dPt>
          <c:dPt>
            <c:idx val="22"/>
            <c:marker>
              <c:symbol val="none"/>
            </c:marker>
          </c:dPt>
          <c:dPt>
            <c:idx val="23"/>
            <c:marker>
              <c:symbol val="none"/>
            </c:marker>
          </c:dPt>
          <c:dPt>
            <c:idx val="24"/>
            <c:marker>
              <c:symbol val="none"/>
            </c:marker>
          </c:dPt>
          <c:dPt>
            <c:idx val="25"/>
            <c:marker>
              <c:symbol val="none"/>
            </c:marker>
          </c:dPt>
          <c:dPt>
            <c:idx val="26"/>
            <c:marker>
              <c:symbol val="none"/>
            </c:marker>
          </c:dPt>
          <c:dPt>
            <c:idx val="27"/>
            <c:marker>
              <c:symbol val="none"/>
            </c:marker>
          </c:dPt>
          <c:dPt>
            <c:idx val="28"/>
            <c:marker>
              <c:symbol val="none"/>
            </c:marker>
          </c:dPt>
          <c:dPt>
            <c:idx val="29"/>
            <c:marker>
              <c:symbol val="none"/>
            </c:marker>
          </c:dPt>
          <c:dPt>
            <c:idx val="30"/>
            <c:marker>
              <c:symbol val="circle"/>
              <c:size val="8"/>
              <c:spPr>
                <a:solidFill>
                  <a:schemeClr val="accent2"/>
                </a:solidFill>
                <a:ln>
                  <a:solidFill>
                    <a:schemeClr val="accent2"/>
                  </a:solidFill>
                </a:ln>
              </c:spPr>
            </c:marker>
          </c:dPt>
          <c:dPt>
            <c:idx val="31"/>
            <c:marker>
              <c:symbol val="none"/>
            </c:marker>
          </c:dPt>
          <c:dPt>
            <c:idx val="32"/>
            <c:marker>
              <c:symbol val="none"/>
            </c:marker>
          </c:dPt>
          <c:dPt>
            <c:idx val="33"/>
            <c:marker>
              <c:symbol val="circle"/>
              <c:size val="8"/>
              <c:spPr>
                <a:solidFill>
                  <a:schemeClr val="accent2"/>
                </a:solidFill>
                <a:ln>
                  <a:solidFill>
                    <a:schemeClr val="accent2"/>
                  </a:solidFill>
                </a:ln>
              </c:spPr>
            </c:marker>
          </c:dPt>
          <c:cat>
            <c:strRef>
              <c:f>Sheet1!$A$2:$A$35</c:f>
              <c:strCache>
                <c:ptCount val="34"/>
                <c:pt idx="0">
                  <c:v>1991</c:v>
                </c:pt>
                <c:pt idx="1">
                  <c:v>1992</c:v>
                </c:pt>
                <c:pt idx="2">
                  <c:v>1993</c:v>
                </c:pt>
                <c:pt idx="3">
                  <c:v>1994</c:v>
                </c:pt>
                <c:pt idx="4">
                  <c:v>1995</c:v>
                </c:pt>
                <c:pt idx="5">
                  <c:v>1996</c:v>
                </c:pt>
                <c:pt idx="6">
                  <c:v>1997</c:v>
                </c:pt>
                <c:pt idx="7">
                  <c:v>1998</c:v>
                </c:pt>
                <c:pt idx="8">
                  <c:v>1999</c:v>
                </c:pt>
                <c:pt idx="9">
                  <c:v>2000</c:v>
                </c:pt>
                <c:pt idx="10">
                  <c:v>2001</c:v>
                </c:pt>
                <c:pt idx="11">
                  <c:v>2002</c:v>
                </c:pt>
                <c:pt idx="12">
                  <c:v>2003</c:v>
                </c:pt>
                <c:pt idx="13">
                  <c:v>2004</c:v>
                </c:pt>
                <c:pt idx="14">
                  <c:v>2005</c:v>
                </c:pt>
                <c:pt idx="15">
                  <c:v>2006</c:v>
                </c:pt>
                <c:pt idx="16">
                  <c:v>2007</c:v>
                </c:pt>
                <c:pt idx="17">
                  <c:v>2008</c:v>
                </c:pt>
                <c:pt idx="18">
                  <c:v>2009</c:v>
                </c:pt>
                <c:pt idx="19">
                  <c:v>2010</c:v>
                </c:pt>
                <c:pt idx="20">
                  <c:v>2011</c:v>
                </c:pt>
                <c:pt idx="21">
                  <c:v>2012</c:v>
                </c:pt>
                <c:pt idx="22">
                  <c:v>2013</c:v>
                </c:pt>
                <c:pt idx="23">
                  <c:v>2014</c:v>
                </c:pt>
                <c:pt idx="24">
                  <c:v>2015</c:v>
                </c:pt>
                <c:pt idx="25">
                  <c:v>2016</c:v>
                </c:pt>
                <c:pt idx="26">
                  <c:v>2017</c:v>
                </c:pt>
                <c:pt idx="27">
                  <c:v>2018</c:v>
                </c:pt>
                <c:pt idx="28">
                  <c:v>2019</c:v>
                </c:pt>
                <c:pt idx="29">
                  <c:v>2020</c:v>
                </c:pt>
                <c:pt idx="30">
                  <c:v>2021</c:v>
                </c:pt>
                <c:pt idx="31">
                  <c:v>2022</c:v>
                </c:pt>
                <c:pt idx="32">
                  <c:v>2023</c:v>
                </c:pt>
                <c:pt idx="33">
                  <c:v>2024</c:v>
                </c:pt>
              </c:strCache>
            </c:strRef>
          </c:cat>
          <c:val>
            <c:numRef>
              <c:f>Sheet1!$C$2:$C$35</c:f>
              <c:numCache>
                <c:formatCode>General</c:formatCode>
                <c:ptCount val="34"/>
                <c:pt idx="0">
                  <c:v>11.4</c:v>
                </c:pt>
                <c:pt idx="1">
                  <c:v>12.2</c:v>
                </c:pt>
                <c:pt idx="2">
                  <c:v>14.5</c:v>
                </c:pt>
                <c:pt idx="3">
                  <c:v>15.7</c:v>
                </c:pt>
                <c:pt idx="4">
                  <c:v>15</c:v>
                </c:pt>
                <c:pt idx="5">
                  <c:v>14.2</c:v>
                </c:pt>
                <c:pt idx="6">
                  <c:v>13.8</c:v>
                </c:pt>
                <c:pt idx="7">
                  <c:v>13.5</c:v>
                </c:pt>
                <c:pt idx="8">
                  <c:v>14.6</c:v>
                </c:pt>
                <c:pt idx="9">
                  <c:v>15.3</c:v>
                </c:pt>
                <c:pt idx="10">
                  <c:v>15.6</c:v>
                </c:pt>
                <c:pt idx="11">
                  <c:v>16.2</c:v>
                </c:pt>
                <c:pt idx="12">
                  <c:v>16.4</c:v>
                </c:pt>
                <c:pt idx="13">
                  <c:v>15.9</c:v>
                </c:pt>
                <c:pt idx="14">
                  <c:v>16.1</c:v>
                </c:pt>
                <c:pt idx="15">
                  <c:v>15.1</c:v>
                </c:pt>
                <c:pt idx="16">
                  <c:v>14.6</c:v>
                </c:pt>
                <c:pt idx="17">
                  <c:v>14.5</c:v>
                </c:pt>
                <c:pt idx="18">
                  <c:v>14.1</c:v>
                </c:pt>
                <c:pt idx="19">
                  <c:v>14.2</c:v>
                </c:pt>
                <c:pt idx="20">
                  <c:v>13.5</c:v>
                </c:pt>
                <c:pt idx="21">
                  <c:v>13.3</c:v>
                </c:pt>
                <c:pt idx="22">
                  <c:v>13</c:v>
                </c:pt>
                <c:pt idx="23">
                  <c:v>13.1</c:v>
                </c:pt>
                <c:pt idx="24">
                  <c:v>13</c:v>
                </c:pt>
                <c:pt idx="25">
                  <c:v>12.9</c:v>
                </c:pt>
                <c:pt idx="26">
                  <c:v>12.4</c:v>
                </c:pt>
                <c:pt idx="27">
                  <c:v>12.5</c:v>
                </c:pt>
                <c:pt idx="28">
                  <c:v>12.3</c:v>
                </c:pt>
                <c:pt idx="29">
                  <c:v>14.6</c:v>
                </c:pt>
                <c:pt idx="30">
                  <c:v>16.7</c:v>
                </c:pt>
                <c:pt idx="31">
                  <c:v>12.9</c:v>
                </c:pt>
                <c:pt idx="32">
                  <c:v>12.1</c:v>
                </c:pt>
                <c:pt idx="33">
                  <c:v>12.4</c:v>
                </c:pt>
              </c:numCache>
            </c:numRef>
          </c:val>
          <c:smooth val="0"/>
        </c:ser>
        <c:marker val="1"/>
        <c:smooth val="0"/>
        <c:axId val="2068027336"/>
        <c:axId val="2113994440"/>
      </c:lineChart>
      <c:catAx>
        <c:axId val="2068027336"/>
        <c:scaling>
          <c:orientation val="minMax"/>
        </c:scaling>
        <c:delete val="0"/>
        <c:axPos val="b"/>
        <c:majorTickMark val="none"/>
        <c:minorTickMark val="none"/>
        <c:tickLblPos val="nextTo"/>
        <c:spPr>
          <a:ln w="9525" cap="flat" cmpd="sng" algn="ctr">
            <a:solidFill>
              <a:srgbClr val="5B6670"/>
            </a:solidFill>
            <a:round/>
          </a:ln>
        </c:spPr>
        <c:txPr>
          <a:bodyPr/>
          <a:lstStyle/>
          <a:p>
            <a:pPr>
              <a:defRPr lang="ru-RU" sz="1350">
                <a:solidFill>
                  <a:srgbClr val="5B6670"/>
                </a:solidFill>
                <a:latin typeface="Arial"/>
                <a:ea typeface="Microsoft YaHei"/>
                <a:cs typeface="Arial"/>
              </a:defRPr>
            </a:pPr>
            <a:endParaRPr lang="ru-RU"/>
          </a:p>
        </c:txPr>
        <c:crossAx val="2113994440"/>
        <c:crosses val="autoZero"/>
        <c:auto val="1"/>
        <c:lblAlgn val="ctr"/>
        <c:lblOffset val="100"/>
        <c:noMultiLvlLbl val="0"/>
      </c:catAx>
      <c:valAx>
        <c:axId val="2113994440"/>
        <c:scaling>
          <c:orientation val="minMax"/>
          <c:max val="17"/>
          <c:min val="8"/>
        </c:scaling>
        <c:delete val="0"/>
        <c:axPos val="l"/>
        <c:majorGridlines>
          <c:spPr>
            <a:ln w="6350" cap="flat" cmpd="sng" algn="ctr">
              <a:solidFill>
                <a:srgbClr val="E6E1D7"/>
              </a:solidFill>
              <a:round/>
            </a:ln>
          </c:spPr>
        </c:majorGridlines>
        <c:numFmt formatCode="0" sourceLinked="0"/>
        <c:majorTickMark val="none"/>
        <c:minorTickMark val="none"/>
        <c:tickLblPos val="nextTo"/>
        <c:spPr>
          <a:ln w="9525" cap="flat" cmpd="sng" algn="ctr">
            <a:solidFill>
              <a:srgbClr val="5B6670"/>
            </a:solidFill>
            <a:round/>
          </a:ln>
        </c:spPr>
        <c:txPr>
          <a:bodyPr/>
          <a:lstStyle/>
          <a:p>
            <a:pPr>
              <a:defRPr lang="ru-RU" sz="1350">
                <a:solidFill>
                  <a:srgbClr val="5B6670"/>
                </a:solidFill>
                <a:latin typeface="Arial"/>
                <a:ea typeface="Microsoft YaHei"/>
                <a:cs typeface="Arial"/>
              </a:defRPr>
            </a:pPr>
            <a:endParaRPr lang="ru-RU"/>
          </a:p>
        </c:txPr>
        <c:crossAx val="2068027336"/>
        <c:crosses val="autoZero"/>
        <c:crossBetween val="midCat"/>
        <c:majorUnit val="1"/>
      </c:valAx>
      <c:spPr>
        <a:noFill/>
        <a:ln>
          <a:noFill/>
        </a:ln>
      </c:spPr>
    </c:plotArea>
    <c:legend>
      <c:legendPos val="t"/>
      <c:layout/>
      <c:overlay val="0"/>
      <c:txPr>
        <a:bodyPr/>
        <a:lstStyle/>
        <a:p>
          <a:pPr>
            <a:defRPr lang="ru-RU" sz="1350">
              <a:solidFill>
                <a:srgbClr val="5B6670"/>
              </a:solidFill>
              <a:latin typeface="Arial"/>
              <a:ea typeface="Microsoft YaHei"/>
              <a:cs typeface="Arial"/>
            </a:defRPr>
          </a:pPr>
          <a:endParaRPr lang="ru-RU"/>
        </a:p>
      </c:txPr>
    </c:legend>
    <c:plotVisOnly val="1"/>
    <c:dispBlanksAs val="gap"/>
  </c:chart>
  <c:spPr>
    <a:noFill/>
    <a:ln>
      <a:noFill/>
    </a:ln>
  </c:spPr>
  <c:txPr>
    <a:bodyPr/>
    <a:lstStyle/>
    <a:p>
      <a:pPr>
        <a:defRPr lang="ru-RU" sz="1350">
          <a:solidFill>
            <a:srgbClr val="5B6670"/>
          </a:solidFill>
          <a:latin typeface="Arial"/>
          <a:ea typeface="Microsoft YaHei"/>
          <a:cs typeface="Arial"/>
        </a:defRPr>
      </a:pPr>
      <a:endParaRPr lang="ru-RU"/>
    </a:p>
  </c:txPr>
  <c:externalData r:id="rId1">
    <c:autoUpdate val="0"/>
  </c:externalData>
</c:chartSpace>
</file>

<file path=ppt/charts/chart601.xml><?xml version="1.0" encoding="utf-8"?>
<c:chartSpace xmlns:c="http://schemas.openxmlformats.org/drawingml/2006/chart" xmlns:a="http://schemas.openxmlformats.org/drawingml/2006/main" xmlns:r="http://schemas.openxmlformats.org/officeDocument/2006/relationships">
  <c:date1904 val="0"/>
  <c:lang val="ru-RU"/>
  <c:chart>
    <c:autoTitleDeleted val="1"/>
    <c:plotArea>
      <c:layout>
        <c:manualLayout>
          <c:layoutTarget val="inner"/>
          <c:xMode val="edge"/>
          <c:yMode val="edge"/>
          <c:wMode val="factor"/>
          <c:hMode val="factor"/>
          <c:x val="0.068661971831"/>
          <c:y val="0.06"/>
          <c:w val="0.906690140845"/>
          <c:h val="0.85"/>
        </c:manualLayout>
      </c:layout>
      <c:barChart>
        <c:barDir val="col"/>
        <c:grouping val="clustered"/>
        <c:varyColors val="1"/>
        <c:ser>
          <c:idx val="0"/>
          <c:order val="0"/>
          <c:tx>
            <c:strRef>
              <c:f>Sheet1!$B$1</c:f>
              <c:strCache>
                <c:ptCount val="1"/>
                <c:pt idx="0">
                  <c:v>Естественный прирост</c:v>
                </c:pt>
              </c:strCache>
            </c:strRef>
          </c:tx>
          <c:spPr>
            <a:solidFill>
              <a:schemeClr val="accent2"/>
            </a:solidFill>
            <a:ln>
              <a:solidFill>
                <a:schemeClr val="accent2"/>
              </a:solidFill>
            </a:ln>
          </c:spPr>
          <c:invertIfNegative val="0"/>
          <c:dPt>
            <c:idx val="0"/>
            <c:invertIfNegative val="0"/>
            <c:spPr>
              <a:solidFill>
                <a:schemeClr val="accent3"/>
              </a:solidFill>
              <a:ln>
                <a:solidFill>
                  <a:schemeClr val="accent3"/>
                </a:solidFill>
              </a:ln>
            </c:spPr>
          </c:dPt>
          <c:dPt>
            <c:idx val="1"/>
            <c:invertIfNegative val="0"/>
            <c:spPr>
              <a:solidFill>
                <a:schemeClr val="accent2"/>
              </a:solidFill>
              <a:ln>
                <a:solidFill>
                  <a:schemeClr val="accent2"/>
                </a:solidFill>
              </a:ln>
            </c:spPr>
          </c:dPt>
          <c:dPt>
            <c:idx val="2"/>
            <c:invertIfNegative val="0"/>
            <c:spPr>
              <a:solidFill>
                <a:schemeClr val="accent2"/>
              </a:solidFill>
              <a:ln>
                <a:solidFill>
                  <a:schemeClr val="accent2"/>
                </a:solidFill>
              </a:ln>
            </c:spPr>
          </c:dPt>
          <c:dPt>
            <c:idx val="3"/>
            <c:invertIfNegative val="0"/>
            <c:spPr>
              <a:solidFill>
                <a:schemeClr val="accent2"/>
              </a:solidFill>
              <a:ln>
                <a:solidFill>
                  <a:schemeClr val="accent2"/>
                </a:solidFill>
              </a:ln>
            </c:spPr>
          </c:dPt>
          <c:dPt>
            <c:idx val="4"/>
            <c:invertIfNegative val="0"/>
            <c:spPr>
              <a:solidFill>
                <a:schemeClr val="accent2"/>
              </a:solidFill>
              <a:ln>
                <a:solidFill>
                  <a:schemeClr val="accent2"/>
                </a:solidFill>
              </a:ln>
            </c:spPr>
          </c:dPt>
          <c:dPt>
            <c:idx val="5"/>
            <c:invertIfNegative val="0"/>
            <c:spPr>
              <a:solidFill>
                <a:schemeClr val="accent2"/>
              </a:solidFill>
              <a:ln>
                <a:solidFill>
                  <a:schemeClr val="accent2"/>
                </a:solidFill>
              </a:ln>
            </c:spPr>
          </c:dPt>
          <c:dPt>
            <c:idx val="6"/>
            <c:invertIfNegative val="0"/>
            <c:spPr>
              <a:solidFill>
                <a:schemeClr val="accent2"/>
              </a:solidFill>
              <a:ln>
                <a:solidFill>
                  <a:schemeClr val="accent2"/>
                </a:solidFill>
              </a:ln>
            </c:spPr>
          </c:dPt>
          <c:dPt>
            <c:idx val="7"/>
            <c:invertIfNegative val="0"/>
            <c:spPr>
              <a:solidFill>
                <a:schemeClr val="accent2"/>
              </a:solidFill>
              <a:ln>
                <a:solidFill>
                  <a:schemeClr val="accent2"/>
                </a:solidFill>
              </a:ln>
            </c:spPr>
          </c:dPt>
          <c:dPt>
            <c:idx val="8"/>
            <c:invertIfNegative val="0"/>
            <c:spPr>
              <a:solidFill>
                <a:schemeClr val="accent2"/>
              </a:solidFill>
              <a:ln>
                <a:solidFill>
                  <a:schemeClr val="accent2"/>
                </a:solidFill>
              </a:ln>
            </c:spPr>
          </c:dPt>
          <c:dPt>
            <c:idx val="9"/>
            <c:invertIfNegative val="0"/>
            <c:spPr>
              <a:solidFill>
                <a:schemeClr val="accent2"/>
              </a:solidFill>
              <a:ln>
                <a:solidFill>
                  <a:schemeClr val="accent2"/>
                </a:solidFill>
              </a:ln>
            </c:spPr>
          </c:dPt>
          <c:dPt>
            <c:idx val="10"/>
            <c:invertIfNegative val="0"/>
            <c:spPr>
              <a:solidFill>
                <a:schemeClr val="accent2"/>
              </a:solidFill>
              <a:ln>
                <a:solidFill>
                  <a:schemeClr val="accent2"/>
                </a:solidFill>
              </a:ln>
            </c:spPr>
          </c:dPt>
          <c:dPt>
            <c:idx val="11"/>
            <c:invertIfNegative val="0"/>
            <c:spPr>
              <a:solidFill>
                <a:schemeClr val="accent2"/>
              </a:solidFill>
              <a:ln>
                <a:solidFill>
                  <a:schemeClr val="accent2"/>
                </a:solidFill>
              </a:ln>
            </c:spPr>
          </c:dPt>
          <c:dPt>
            <c:idx val="12"/>
            <c:invertIfNegative val="0"/>
            <c:spPr>
              <a:solidFill>
                <a:schemeClr val="accent2"/>
              </a:solidFill>
              <a:ln>
                <a:solidFill>
                  <a:schemeClr val="accent2"/>
                </a:solidFill>
              </a:ln>
            </c:spPr>
          </c:dPt>
          <c:dPt>
            <c:idx val="13"/>
            <c:invertIfNegative val="0"/>
            <c:spPr>
              <a:solidFill>
                <a:schemeClr val="accent2"/>
              </a:solidFill>
              <a:ln>
                <a:solidFill>
                  <a:schemeClr val="accent2"/>
                </a:solidFill>
              </a:ln>
            </c:spPr>
          </c:dPt>
          <c:dPt>
            <c:idx val="14"/>
            <c:invertIfNegative val="0"/>
            <c:spPr>
              <a:solidFill>
                <a:schemeClr val="accent2"/>
              </a:solidFill>
              <a:ln>
                <a:solidFill>
                  <a:schemeClr val="accent2"/>
                </a:solidFill>
              </a:ln>
            </c:spPr>
          </c:dPt>
          <c:dPt>
            <c:idx val="15"/>
            <c:invertIfNegative val="0"/>
            <c:spPr>
              <a:solidFill>
                <a:schemeClr val="accent2"/>
              </a:solidFill>
              <a:ln>
                <a:solidFill>
                  <a:schemeClr val="accent2"/>
                </a:solidFill>
              </a:ln>
            </c:spPr>
          </c:dPt>
          <c:dPt>
            <c:idx val="16"/>
            <c:invertIfNegative val="0"/>
            <c:spPr>
              <a:solidFill>
                <a:schemeClr val="accent2"/>
              </a:solidFill>
              <a:ln>
                <a:solidFill>
                  <a:schemeClr val="accent2"/>
                </a:solidFill>
              </a:ln>
            </c:spPr>
          </c:dPt>
          <c:dPt>
            <c:idx val="17"/>
            <c:invertIfNegative val="0"/>
            <c:spPr>
              <a:solidFill>
                <a:schemeClr val="accent2"/>
              </a:solidFill>
              <a:ln>
                <a:solidFill>
                  <a:schemeClr val="accent2"/>
                </a:solidFill>
              </a:ln>
            </c:spPr>
          </c:dPt>
          <c:dPt>
            <c:idx val="18"/>
            <c:invertIfNegative val="0"/>
            <c:spPr>
              <a:solidFill>
                <a:schemeClr val="accent2"/>
              </a:solidFill>
              <a:ln>
                <a:solidFill>
                  <a:schemeClr val="accent2"/>
                </a:solidFill>
              </a:ln>
            </c:spPr>
          </c:dPt>
          <c:dPt>
            <c:idx val="19"/>
            <c:invertIfNegative val="0"/>
            <c:spPr>
              <a:solidFill>
                <a:schemeClr val="accent2"/>
              </a:solidFill>
              <a:ln>
                <a:solidFill>
                  <a:schemeClr val="accent2"/>
                </a:solidFill>
              </a:ln>
            </c:spPr>
          </c:dPt>
          <c:dPt>
            <c:idx val="20"/>
            <c:invertIfNegative val="0"/>
            <c:spPr>
              <a:solidFill>
                <a:schemeClr val="accent2"/>
              </a:solidFill>
              <a:ln>
                <a:solidFill>
                  <a:schemeClr val="accent2"/>
                </a:solidFill>
              </a:ln>
            </c:spPr>
          </c:dPt>
          <c:dPt>
            <c:idx val="21"/>
            <c:invertIfNegative val="0"/>
            <c:spPr>
              <a:solidFill>
                <a:schemeClr val="accent3"/>
              </a:solidFill>
              <a:ln>
                <a:solidFill>
                  <a:schemeClr val="accent3"/>
                </a:solidFill>
              </a:ln>
            </c:spPr>
          </c:dPt>
          <c:dPt>
            <c:idx val="22"/>
            <c:invertIfNegative val="0"/>
            <c:spPr>
              <a:solidFill>
                <a:schemeClr val="accent3"/>
              </a:solidFill>
              <a:ln>
                <a:solidFill>
                  <a:schemeClr val="accent3"/>
                </a:solidFill>
              </a:ln>
            </c:spPr>
          </c:dPt>
          <c:dPt>
            <c:idx val="23"/>
            <c:invertIfNegative val="0"/>
            <c:spPr>
              <a:solidFill>
                <a:schemeClr val="accent3"/>
              </a:solidFill>
              <a:ln>
                <a:solidFill>
                  <a:schemeClr val="accent3"/>
                </a:solidFill>
              </a:ln>
            </c:spPr>
          </c:dPt>
          <c:dPt>
            <c:idx val="24"/>
            <c:invertIfNegative val="0"/>
            <c:spPr>
              <a:solidFill>
                <a:schemeClr val="accent3"/>
              </a:solidFill>
              <a:ln>
                <a:solidFill>
                  <a:schemeClr val="accent3"/>
                </a:solidFill>
              </a:ln>
            </c:spPr>
          </c:dPt>
          <c:dPt>
            <c:idx val="25"/>
            <c:invertIfNegative val="0"/>
            <c:spPr>
              <a:solidFill>
                <a:schemeClr val="accent3"/>
              </a:solidFill>
              <a:ln>
                <a:solidFill>
                  <a:schemeClr val="accent3"/>
                </a:solidFill>
              </a:ln>
            </c:spPr>
          </c:dPt>
          <c:dPt>
            <c:idx val="26"/>
            <c:invertIfNegative val="0"/>
            <c:spPr>
              <a:solidFill>
                <a:schemeClr val="accent2"/>
              </a:solidFill>
              <a:ln>
                <a:solidFill>
                  <a:schemeClr val="accent2"/>
                </a:solidFill>
              </a:ln>
            </c:spPr>
          </c:dPt>
          <c:dPt>
            <c:idx val="27"/>
            <c:invertIfNegative val="0"/>
            <c:spPr>
              <a:solidFill>
                <a:schemeClr val="accent2"/>
              </a:solidFill>
              <a:ln>
                <a:solidFill>
                  <a:schemeClr val="accent2"/>
                </a:solidFill>
              </a:ln>
            </c:spPr>
          </c:dPt>
          <c:dPt>
            <c:idx val="28"/>
            <c:invertIfNegative val="0"/>
            <c:spPr>
              <a:solidFill>
                <a:schemeClr val="accent2"/>
              </a:solidFill>
              <a:ln>
                <a:solidFill>
                  <a:schemeClr val="accent2"/>
                </a:solidFill>
              </a:ln>
            </c:spPr>
          </c:dPt>
          <c:dPt>
            <c:idx val="29"/>
            <c:invertIfNegative val="0"/>
            <c:spPr>
              <a:solidFill>
                <a:schemeClr val="accent2"/>
              </a:solidFill>
              <a:ln>
                <a:solidFill>
                  <a:schemeClr val="accent2"/>
                </a:solidFill>
              </a:ln>
            </c:spPr>
          </c:dPt>
          <c:dPt>
            <c:idx val="30"/>
            <c:invertIfNegative val="0"/>
            <c:spPr>
              <a:solidFill>
                <a:schemeClr val="accent2"/>
              </a:solidFill>
              <a:ln>
                <a:solidFill>
                  <a:schemeClr val="accent2"/>
                </a:solidFill>
              </a:ln>
            </c:spPr>
          </c:dPt>
          <c:dPt>
            <c:idx val="31"/>
            <c:invertIfNegative val="0"/>
            <c:spPr>
              <a:solidFill>
                <a:schemeClr val="accent2"/>
              </a:solidFill>
              <a:ln>
                <a:solidFill>
                  <a:schemeClr val="accent2"/>
                </a:solidFill>
              </a:ln>
            </c:spPr>
          </c:dPt>
          <c:dPt>
            <c:idx val="32"/>
            <c:invertIfNegative val="0"/>
            <c:spPr>
              <a:solidFill>
                <a:schemeClr val="accent2"/>
              </a:solidFill>
              <a:ln>
                <a:solidFill>
                  <a:schemeClr val="accent2"/>
                </a:solidFill>
              </a:ln>
            </c:spPr>
          </c:dPt>
          <c:dPt>
            <c:idx val="33"/>
            <c:invertIfNegative val="0"/>
            <c:spPr>
              <a:solidFill>
                <a:schemeClr val="accent2"/>
              </a:solidFill>
              <a:ln>
                <a:solidFill>
                  <a:schemeClr val="accent2"/>
                </a:solidFill>
              </a:ln>
            </c:spPr>
          </c:dPt>
          <c:cat>
            <c:strRef>
              <c:f>Sheet1!$A$2:$A$35</c:f>
              <c:strCache>
                <c:ptCount val="34"/>
                <c:pt idx="0">
                  <c:v>1991</c:v>
                </c:pt>
                <c:pt idx="1">
                  <c:v>1992</c:v>
                </c:pt>
                <c:pt idx="2">
                  <c:v>1993</c:v>
                </c:pt>
                <c:pt idx="3">
                  <c:v>1994</c:v>
                </c:pt>
                <c:pt idx="4">
                  <c:v>1995</c:v>
                </c:pt>
                <c:pt idx="5">
                  <c:v>1996</c:v>
                </c:pt>
                <c:pt idx="6">
                  <c:v>1997</c:v>
                </c:pt>
                <c:pt idx="7">
                  <c:v>1998</c:v>
                </c:pt>
                <c:pt idx="8">
                  <c:v>1999</c:v>
                </c:pt>
                <c:pt idx="9">
                  <c:v>2000</c:v>
                </c:pt>
                <c:pt idx="10">
                  <c:v>2001</c:v>
                </c:pt>
                <c:pt idx="11">
                  <c:v>2002</c:v>
                </c:pt>
                <c:pt idx="12">
                  <c:v>2003</c:v>
                </c:pt>
                <c:pt idx="13">
                  <c:v>2004</c:v>
                </c:pt>
                <c:pt idx="14">
                  <c:v>2005</c:v>
                </c:pt>
                <c:pt idx="15">
                  <c:v>2006</c:v>
                </c:pt>
                <c:pt idx="16">
                  <c:v>2007</c:v>
                </c:pt>
                <c:pt idx="17">
                  <c:v>2008</c:v>
                </c:pt>
                <c:pt idx="18">
                  <c:v>2009</c:v>
                </c:pt>
                <c:pt idx="19">
                  <c:v>2010</c:v>
                </c:pt>
                <c:pt idx="20">
                  <c:v>2011</c:v>
                </c:pt>
                <c:pt idx="21">
                  <c:v>2012</c:v>
                </c:pt>
                <c:pt idx="22">
                  <c:v>2013</c:v>
                </c:pt>
                <c:pt idx="23">
                  <c:v>2014</c:v>
                </c:pt>
                <c:pt idx="24">
                  <c:v>2015</c:v>
                </c:pt>
                <c:pt idx="25">
                  <c:v>2016</c:v>
                </c:pt>
                <c:pt idx="26">
                  <c:v>2017</c:v>
                </c:pt>
                <c:pt idx="27">
                  <c:v>2018</c:v>
                </c:pt>
                <c:pt idx="28">
                  <c:v>2019</c:v>
                </c:pt>
                <c:pt idx="29">
                  <c:v>2020</c:v>
                </c:pt>
                <c:pt idx="30">
                  <c:v>2021</c:v>
                </c:pt>
                <c:pt idx="31">
                  <c:v>2022</c:v>
                </c:pt>
                <c:pt idx="32">
                  <c:v>2023</c:v>
                </c:pt>
                <c:pt idx="33">
                  <c:v>2024</c:v>
                </c:pt>
              </c:strCache>
            </c:strRef>
          </c:cat>
          <c:val>
            <c:numRef>
              <c:f>Sheet1!$B$2:$B$35</c:f>
              <c:numCache>
                <c:formatCode>General</c:formatCode>
                <c:ptCount val="34"/>
                <c:pt idx="0">
                  <c:v>0.7</c:v>
                </c:pt>
                <c:pt idx="1">
                  <c:v>-1.5</c:v>
                </c:pt>
                <c:pt idx="2">
                  <c:v>-5.1</c:v>
                </c:pt>
                <c:pt idx="3">
                  <c:v>-6.2</c:v>
                </c:pt>
                <c:pt idx="4">
                  <c:v>-5.7</c:v>
                </c:pt>
                <c:pt idx="5">
                  <c:v>-5.3</c:v>
                </c:pt>
                <c:pt idx="6">
                  <c:v>-5.2</c:v>
                </c:pt>
                <c:pt idx="7">
                  <c:v>-4.7</c:v>
                </c:pt>
                <c:pt idx="8">
                  <c:v>-6.3</c:v>
                </c:pt>
                <c:pt idx="9">
                  <c:v>-6.6</c:v>
                </c:pt>
                <c:pt idx="10">
                  <c:v>-6.6</c:v>
                </c:pt>
                <c:pt idx="11">
                  <c:v>-6.5</c:v>
                </c:pt>
                <c:pt idx="12">
                  <c:v>-6.2</c:v>
                </c:pt>
                <c:pt idx="13">
                  <c:v>-5.5</c:v>
                </c:pt>
                <c:pt idx="14">
                  <c:v>-5.9</c:v>
                </c:pt>
                <c:pt idx="15">
                  <c:v>-4.8</c:v>
                </c:pt>
                <c:pt idx="16">
                  <c:v>-3.3</c:v>
                </c:pt>
                <c:pt idx="17">
                  <c:v>-2.5</c:v>
                </c:pt>
                <c:pt idx="18">
                  <c:v>-1.8</c:v>
                </c:pt>
                <c:pt idx="19">
                  <c:v>-1.7</c:v>
                </c:pt>
                <c:pt idx="20">
                  <c:v>-0.9</c:v>
                </c:pt>
                <c:pt idx="21">
                  <c:v>0</c:v>
                </c:pt>
                <c:pt idx="22">
                  <c:v>0.2</c:v>
                </c:pt>
                <c:pt idx="23">
                  <c:v>0.2</c:v>
                </c:pt>
                <c:pt idx="24">
                  <c:v>0.3</c:v>
                </c:pt>
                <c:pt idx="25">
                  <c:v>0</c:v>
                </c:pt>
                <c:pt idx="26">
                  <c:v>-0.9</c:v>
                </c:pt>
                <c:pt idx="27">
                  <c:v>-1.6</c:v>
                </c:pt>
                <c:pt idx="28">
                  <c:v>-2.2</c:v>
                </c:pt>
                <c:pt idx="29">
                  <c:v>-4.8</c:v>
                </c:pt>
                <c:pt idx="30">
                  <c:v>-7.1</c:v>
                </c:pt>
                <c:pt idx="31">
                  <c:v>-4</c:v>
                </c:pt>
                <c:pt idx="32">
                  <c:v>-3.5</c:v>
                </c:pt>
                <c:pt idx="33">
                  <c:v>-4</c:v>
                </c:pt>
              </c:numCache>
            </c:numRef>
          </c:val>
        </c:ser>
        <c:gapWidth val="50"/>
        <c:axId val="2068027336"/>
        <c:axId val="2113994440"/>
      </c:barChart>
      <c:catAx>
        <c:axId val="2068027336"/>
        <c:scaling>
          <c:orientation val="minMax"/>
        </c:scaling>
        <c:delete val="0"/>
        <c:axPos val="b"/>
        <c:majorTickMark val="none"/>
        <c:minorTickMark val="none"/>
        <c:tickLblPos val="low"/>
        <c:spPr>
          <a:ln w="9525" cap="flat" cmpd="sng" algn="ctr">
            <a:solidFill>
              <a:srgbClr val="5B6670"/>
            </a:solidFill>
            <a:round/>
          </a:ln>
        </c:spPr>
        <c:txPr>
          <a:bodyPr/>
          <a:lstStyle/>
          <a:p>
            <a:pPr>
              <a:defRPr lang="ru-RU" sz="1350">
                <a:solidFill>
                  <a:srgbClr val="5B6670"/>
                </a:solidFill>
                <a:latin typeface="Arial"/>
                <a:ea typeface="Microsoft YaHei"/>
                <a:cs typeface="Arial"/>
              </a:defRPr>
            </a:pPr>
            <a:endParaRPr lang="ru-RU"/>
          </a:p>
        </c:txPr>
        <c:crossAx val="2113994440"/>
        <c:crosses val="autoZero"/>
        <c:auto val="1"/>
        <c:lblAlgn val="ctr"/>
        <c:lblOffset val="100"/>
        <c:noMultiLvlLbl val="0"/>
      </c:catAx>
      <c:valAx>
        <c:axId val="2113994440"/>
        <c:scaling>
          <c:orientation val="minMax"/>
          <c:max val="1"/>
          <c:min val="-8"/>
        </c:scaling>
        <c:delete val="0"/>
        <c:axPos val="l"/>
        <c:majorGridlines>
          <c:spPr>
            <a:ln w="6350" cap="flat" cmpd="sng" algn="ctr">
              <a:solidFill>
                <a:srgbClr val="E6E1D7"/>
              </a:solidFill>
              <a:round/>
            </a:ln>
          </c:spPr>
        </c:majorGridlines>
        <c:numFmt formatCode="0" sourceLinked="0"/>
        <c:majorTickMark val="none"/>
        <c:minorTickMark val="none"/>
        <c:tickLblPos val="nextTo"/>
        <c:spPr>
          <a:ln w="9525" cap="flat" cmpd="sng" algn="ctr">
            <a:solidFill>
              <a:srgbClr val="5B6670"/>
            </a:solidFill>
            <a:round/>
          </a:ln>
        </c:spPr>
        <c:txPr>
          <a:bodyPr/>
          <a:lstStyle/>
          <a:p>
            <a:pPr>
              <a:defRPr lang="ru-RU" sz="1350">
                <a:solidFill>
                  <a:srgbClr val="5B6670"/>
                </a:solidFill>
                <a:latin typeface="Arial"/>
                <a:ea typeface="Microsoft YaHei"/>
                <a:cs typeface="Arial"/>
              </a:defRPr>
            </a:pPr>
            <a:endParaRPr lang="ru-RU"/>
          </a:p>
        </c:txPr>
        <c:crossAx val="2068027336"/>
        <c:crosses val="autoZero"/>
        <c:crossBetween val="between"/>
        <c:majorUnit val="1"/>
      </c:valAx>
      <c:spPr>
        <a:noFill/>
        <a:ln>
          <a:noFill/>
        </a:ln>
      </c:spPr>
    </c:plotArea>
    <c:plotVisOnly val="1"/>
    <c:dispBlanksAs val="gap"/>
  </c:chart>
  <c:spPr>
    <a:noFill/>
    <a:ln>
      <a:noFill/>
    </a:ln>
  </c:spPr>
  <c:txPr>
    <a:bodyPr/>
    <a:lstStyle/>
    <a:p>
      <a:pPr>
        <a:defRPr lang="ru-RU" sz="1350">
          <a:solidFill>
            <a:srgbClr val="5B6670"/>
          </a:solidFill>
          <a:latin typeface="Arial"/>
          <a:ea typeface="Microsoft YaHei"/>
          <a:cs typeface="Arial"/>
        </a:defRPr>
      </a:pPr>
      <a:endParaRPr lang="ru-RU"/>
    </a:p>
  </c:txPr>
  <c:externalData r:id="rId1">
    <c:autoUpdate val="0"/>
  </c:externalData>
</c:chartSpace>
</file>

<file path=ppt/charts/chart701.xml><?xml version="1.0" encoding="utf-8"?>
<c:chartSpace xmlns:c="http://schemas.openxmlformats.org/drawingml/2006/chart" xmlns:a="http://schemas.openxmlformats.org/drawingml/2006/main" xmlns:r="http://schemas.openxmlformats.org/officeDocument/2006/relationships">
  <c:date1904 val="0"/>
  <c:lang val="ru-RU"/>
  <c:chart>
    <c:autoTitleDeleted val="1"/>
    <c:plotArea>
      <c:layout>
        <c:manualLayout>
          <c:layoutTarget val="inner"/>
          <c:xMode val="edge"/>
          <c:yMode val="edge"/>
          <c:wMode val="factor"/>
          <c:hMode val="factor"/>
          <c:x val="0.068661971831"/>
          <c:y val="0.0655737704918"/>
          <c:w val="0.906690140845"/>
          <c:h val="0.83606557377"/>
        </c:manualLayout>
      </c:layout>
      <c:lineChart>
        <c:grouping val="standard"/>
        <c:varyColors val="0"/>
        <c:ser>
          <c:idx val="0"/>
          <c:order val="0"/>
          <c:tx>
            <c:strRef>
              <c:f>Sheet1!$B$1</c:f>
              <c:strCache>
                <c:ptCount val="1"/>
                <c:pt idx="0">
                  <c:v>Суммарный коэффициент рождаемости</c:v>
                </c:pt>
              </c:strCache>
            </c:strRef>
          </c:tx>
          <c:spPr>
            <a:solidFill>
              <a:schemeClr val="accent3"/>
            </a:solidFill>
            <a:ln w="28575">
              <a:solidFill>
                <a:schemeClr val="accent3"/>
              </a:solidFill>
            </a:ln>
          </c:spPr>
          <c:marker>
            <c:symbol val="none"/>
          </c:marker>
          <c:dPt>
            <c:idx val="0"/>
            <c:marker>
              <c:symbol val="circle"/>
              <c:size val="8"/>
              <c:spPr>
                <a:solidFill>
                  <a:schemeClr val="accent1"/>
                </a:solidFill>
                <a:ln>
                  <a:solidFill>
                    <a:schemeClr val="accent1"/>
                  </a:solidFill>
                </a:ln>
              </c:spPr>
            </c:marker>
          </c:dPt>
          <c:dPt>
            <c:idx val="1"/>
            <c:marker>
              <c:symbol val="none"/>
            </c:marker>
          </c:dPt>
          <c:dPt>
            <c:idx val="2"/>
            <c:marker>
              <c:symbol val="none"/>
            </c:marker>
          </c:dPt>
          <c:dPt>
            <c:idx val="3"/>
            <c:marker>
              <c:symbol val="none"/>
            </c:marker>
          </c:dPt>
          <c:dPt>
            <c:idx val="4"/>
            <c:marker>
              <c:symbol val="none"/>
            </c:marker>
          </c:dPt>
          <c:dPt>
            <c:idx val="5"/>
            <c:marker>
              <c:symbol val="none"/>
            </c:marker>
          </c:dPt>
          <c:dPt>
            <c:idx val="6"/>
            <c:marker>
              <c:symbol val="none"/>
            </c:marker>
          </c:dPt>
          <c:dPt>
            <c:idx val="7"/>
            <c:marker>
              <c:symbol val="none"/>
            </c:marker>
          </c:dPt>
          <c:dPt>
            <c:idx val="8"/>
            <c:marker>
              <c:symbol val="circle"/>
              <c:size val="8"/>
              <c:spPr>
                <a:solidFill>
                  <a:schemeClr val="accent2"/>
                </a:solidFill>
                <a:ln>
                  <a:solidFill>
                    <a:schemeClr val="accent2"/>
                  </a:solidFill>
                </a:ln>
              </c:spPr>
            </c:marker>
          </c:dPt>
          <c:dPt>
            <c:idx val="9"/>
            <c:marker>
              <c:symbol val="none"/>
            </c:marker>
          </c:dPt>
          <c:dPt>
            <c:idx val="10"/>
            <c:marker>
              <c:symbol val="none"/>
            </c:marker>
          </c:dPt>
          <c:dPt>
            <c:idx val="11"/>
            <c:marker>
              <c:symbol val="none"/>
            </c:marker>
          </c:dPt>
          <c:dPt>
            <c:idx val="12"/>
            <c:marker>
              <c:symbol val="none"/>
            </c:marker>
          </c:dPt>
          <c:dPt>
            <c:idx val="13"/>
            <c:marker>
              <c:symbol val="none"/>
            </c:marker>
          </c:dPt>
          <c:dPt>
            <c:idx val="14"/>
            <c:marker>
              <c:symbol val="none"/>
            </c:marker>
          </c:dPt>
          <c:dPt>
            <c:idx val="15"/>
            <c:marker>
              <c:symbol val="none"/>
            </c:marker>
          </c:dPt>
          <c:dPt>
            <c:idx val="16"/>
            <c:marker>
              <c:symbol val="none"/>
            </c:marker>
          </c:dPt>
          <c:dPt>
            <c:idx val="17"/>
            <c:marker>
              <c:symbol val="none"/>
            </c:marker>
          </c:dPt>
          <c:dPt>
            <c:idx val="18"/>
            <c:marker>
              <c:symbol val="none"/>
            </c:marker>
          </c:dPt>
          <c:dPt>
            <c:idx val="19"/>
            <c:marker>
              <c:symbol val="none"/>
            </c:marker>
          </c:dPt>
          <c:dPt>
            <c:idx val="20"/>
            <c:marker>
              <c:symbol val="none"/>
            </c:marker>
          </c:dPt>
          <c:dPt>
            <c:idx val="21"/>
            <c:marker>
              <c:symbol val="none"/>
            </c:marker>
          </c:dPt>
          <c:dPt>
            <c:idx val="22"/>
            <c:marker>
              <c:symbol val="none"/>
            </c:marker>
          </c:dPt>
          <c:dPt>
            <c:idx val="23"/>
            <c:marker>
              <c:symbol val="none"/>
            </c:marker>
          </c:dPt>
          <c:dPt>
            <c:idx val="24"/>
            <c:marker>
              <c:symbol val="circle"/>
              <c:size val="8"/>
              <c:spPr>
                <a:solidFill>
                  <a:schemeClr val="accent3"/>
                </a:solidFill>
                <a:ln>
                  <a:solidFill>
                    <a:schemeClr val="accent3"/>
                  </a:solidFill>
                </a:ln>
              </c:spPr>
            </c:marker>
          </c:dPt>
          <c:dPt>
            <c:idx val="25"/>
            <c:marker>
              <c:symbol val="none"/>
            </c:marker>
          </c:dPt>
          <c:dPt>
            <c:idx val="26"/>
            <c:marker>
              <c:symbol val="none"/>
            </c:marker>
          </c:dPt>
          <c:dPt>
            <c:idx val="27"/>
            <c:marker>
              <c:symbol val="none"/>
            </c:marker>
          </c:dPt>
          <c:dPt>
            <c:idx val="28"/>
            <c:marker>
              <c:symbol val="none"/>
            </c:marker>
          </c:dPt>
          <c:dPt>
            <c:idx val="29"/>
            <c:marker>
              <c:symbol val="none"/>
            </c:marker>
          </c:dPt>
          <c:dPt>
            <c:idx val="30"/>
            <c:marker>
              <c:symbol val="none"/>
            </c:marker>
          </c:dPt>
          <c:dPt>
            <c:idx val="31"/>
            <c:marker>
              <c:symbol val="none"/>
            </c:marker>
          </c:dPt>
          <c:dPt>
            <c:idx val="32"/>
            <c:marker>
              <c:symbol val="none"/>
            </c:marker>
          </c:dPt>
          <c:dPt>
            <c:idx val="33"/>
            <c:marker>
              <c:symbol val="circle"/>
              <c:size val="8"/>
              <c:spPr>
                <a:solidFill>
                  <a:schemeClr val="accent1"/>
                </a:solidFill>
                <a:ln>
                  <a:solidFill>
                    <a:schemeClr val="accent1"/>
                  </a:solidFill>
                </a:ln>
              </c:spPr>
            </c:marker>
          </c:dPt>
          <c:cat>
            <c:strRef>
              <c:f>Sheet1!$A$2:$A$35</c:f>
              <c:strCache>
                <c:ptCount val="34"/>
                <c:pt idx="0">
                  <c:v>1991</c:v>
                </c:pt>
                <c:pt idx="1">
                  <c:v>1992</c:v>
                </c:pt>
                <c:pt idx="2">
                  <c:v>1993</c:v>
                </c:pt>
                <c:pt idx="3">
                  <c:v>1994</c:v>
                </c:pt>
                <c:pt idx="4">
                  <c:v>1995</c:v>
                </c:pt>
                <c:pt idx="5">
                  <c:v>1996</c:v>
                </c:pt>
                <c:pt idx="6">
                  <c:v>1997</c:v>
                </c:pt>
                <c:pt idx="7">
                  <c:v>1998</c:v>
                </c:pt>
                <c:pt idx="8">
                  <c:v>1999</c:v>
                </c:pt>
                <c:pt idx="9">
                  <c:v>2000</c:v>
                </c:pt>
                <c:pt idx="10">
                  <c:v>2001</c:v>
                </c:pt>
                <c:pt idx="11">
                  <c:v>2002</c:v>
                </c:pt>
                <c:pt idx="12">
                  <c:v>2003</c:v>
                </c:pt>
                <c:pt idx="13">
                  <c:v>2004</c:v>
                </c:pt>
                <c:pt idx="14">
                  <c:v>2005</c:v>
                </c:pt>
                <c:pt idx="15">
                  <c:v>2006</c:v>
                </c:pt>
                <c:pt idx="16">
                  <c:v>2007</c:v>
                </c:pt>
                <c:pt idx="17">
                  <c:v>2008</c:v>
                </c:pt>
                <c:pt idx="18">
                  <c:v>2009</c:v>
                </c:pt>
                <c:pt idx="19">
                  <c:v>2010</c:v>
                </c:pt>
                <c:pt idx="20">
                  <c:v>2011</c:v>
                </c:pt>
                <c:pt idx="21">
                  <c:v>2012</c:v>
                </c:pt>
                <c:pt idx="22">
                  <c:v>2013</c:v>
                </c:pt>
                <c:pt idx="23">
                  <c:v>2014</c:v>
                </c:pt>
                <c:pt idx="24">
                  <c:v>2015</c:v>
                </c:pt>
                <c:pt idx="25">
                  <c:v>2016</c:v>
                </c:pt>
                <c:pt idx="26">
                  <c:v>2017</c:v>
                </c:pt>
                <c:pt idx="27">
                  <c:v>2018</c:v>
                </c:pt>
                <c:pt idx="28">
                  <c:v>2019</c:v>
                </c:pt>
                <c:pt idx="29">
                  <c:v>2020</c:v>
                </c:pt>
                <c:pt idx="30">
                  <c:v>2021</c:v>
                </c:pt>
                <c:pt idx="31">
                  <c:v>2022</c:v>
                </c:pt>
                <c:pt idx="32">
                  <c:v>2023</c:v>
                </c:pt>
                <c:pt idx="33">
                  <c:v>2024</c:v>
                </c:pt>
              </c:strCache>
            </c:strRef>
          </c:cat>
          <c:val>
            <c:numRef>
              <c:f>Sheet1!$B$2:$B$35</c:f>
              <c:numCache>
                <c:formatCode>General</c:formatCode>
                <c:ptCount val="34"/>
                <c:pt idx="0">
                  <c:v>1.73</c:v>
                </c:pt>
                <c:pt idx="1">
                  <c:v>1.55</c:v>
                </c:pt>
                <c:pt idx="2">
                  <c:v>1.39</c:v>
                </c:pt>
                <c:pt idx="3">
                  <c:v>1.4</c:v>
                </c:pt>
                <c:pt idx="4">
                  <c:v>1.34</c:v>
                </c:pt>
                <c:pt idx="5">
                  <c:v>1.27</c:v>
                </c:pt>
                <c:pt idx="6">
                  <c:v>1.22</c:v>
                </c:pt>
                <c:pt idx="7">
                  <c:v>1.23</c:v>
                </c:pt>
                <c:pt idx="8">
                  <c:v>1.16</c:v>
                </c:pt>
                <c:pt idx="9">
                  <c:v>1.2</c:v>
                </c:pt>
                <c:pt idx="10">
                  <c:v>1.22</c:v>
                </c:pt>
                <c:pt idx="11">
                  <c:v>1.29</c:v>
                </c:pt>
                <c:pt idx="12">
                  <c:v>1.32</c:v>
                </c:pt>
                <c:pt idx="13">
                  <c:v>1.34</c:v>
                </c:pt>
                <c:pt idx="14">
                  <c:v>1.29</c:v>
                </c:pt>
                <c:pt idx="15">
                  <c:v>1.31</c:v>
                </c:pt>
                <c:pt idx="16">
                  <c:v>1.42</c:v>
                </c:pt>
                <c:pt idx="17">
                  <c:v>1.5</c:v>
                </c:pt>
                <c:pt idx="18">
                  <c:v>1.54</c:v>
                </c:pt>
                <c:pt idx="19">
                  <c:v>1.57</c:v>
                </c:pt>
                <c:pt idx="20">
                  <c:v>1.58</c:v>
                </c:pt>
                <c:pt idx="21">
                  <c:v>1.69</c:v>
                </c:pt>
                <c:pt idx="22">
                  <c:v>1.71</c:v>
                </c:pt>
                <c:pt idx="23">
                  <c:v>1.75</c:v>
                </c:pt>
                <c:pt idx="24">
                  <c:v>1.78</c:v>
                </c:pt>
                <c:pt idx="25">
                  <c:v>1.76</c:v>
                </c:pt>
                <c:pt idx="26">
                  <c:v>1.62</c:v>
                </c:pt>
                <c:pt idx="27">
                  <c:v>1.58</c:v>
                </c:pt>
                <c:pt idx="28">
                  <c:v>1.5</c:v>
                </c:pt>
                <c:pt idx="29">
                  <c:v>1.51</c:v>
                </c:pt>
                <c:pt idx="30">
                  <c:v>1.51</c:v>
                </c:pt>
                <c:pt idx="31">
                  <c:v>1.42</c:v>
                </c:pt>
                <c:pt idx="32">
                  <c:v>1.41</c:v>
                </c:pt>
                <c:pt idx="33">
                  <c:v>1.42</c:v>
                </c:pt>
              </c:numCache>
            </c:numRef>
          </c:val>
          <c:smooth val="0"/>
        </c:ser>
        <c:ser>
          <c:idx val="1"/>
          <c:order val="1"/>
          <c:tx>
            <c:strRef>
              <c:f>Sheet1!$C$1</c:f>
              <c:strCache>
                <c:ptCount val="1"/>
                <c:pt idx="0">
                  <c:v>Уровень простого воспроизводства</c:v>
                </c:pt>
              </c:strCache>
            </c:strRef>
          </c:tx>
          <c:spPr>
            <a:solidFill>
              <a:srgbClr val="5B6670"/>
            </a:solidFill>
            <a:ln w="14288">
              <a:solidFill>
                <a:srgbClr val="5B6670"/>
              </a:solidFill>
            </a:ln>
          </c:spPr>
          <c:marker>
            <c:symbol val="none"/>
          </c:marker>
          <c:cat>
            <c:strRef>
              <c:f>Sheet1!$A$2:$A$35</c:f>
              <c:strCache>
                <c:ptCount val="34"/>
                <c:pt idx="0">
                  <c:v>1991</c:v>
                </c:pt>
                <c:pt idx="1">
                  <c:v>1992</c:v>
                </c:pt>
                <c:pt idx="2">
                  <c:v>1993</c:v>
                </c:pt>
                <c:pt idx="3">
                  <c:v>1994</c:v>
                </c:pt>
                <c:pt idx="4">
                  <c:v>1995</c:v>
                </c:pt>
                <c:pt idx="5">
                  <c:v>1996</c:v>
                </c:pt>
                <c:pt idx="6">
                  <c:v>1997</c:v>
                </c:pt>
                <c:pt idx="7">
                  <c:v>1998</c:v>
                </c:pt>
                <c:pt idx="8">
                  <c:v>1999</c:v>
                </c:pt>
                <c:pt idx="9">
                  <c:v>2000</c:v>
                </c:pt>
                <c:pt idx="10">
                  <c:v>2001</c:v>
                </c:pt>
                <c:pt idx="11">
                  <c:v>2002</c:v>
                </c:pt>
                <c:pt idx="12">
                  <c:v>2003</c:v>
                </c:pt>
                <c:pt idx="13">
                  <c:v>2004</c:v>
                </c:pt>
                <c:pt idx="14">
                  <c:v>2005</c:v>
                </c:pt>
                <c:pt idx="15">
                  <c:v>2006</c:v>
                </c:pt>
                <c:pt idx="16">
                  <c:v>2007</c:v>
                </c:pt>
                <c:pt idx="17">
                  <c:v>2008</c:v>
                </c:pt>
                <c:pt idx="18">
                  <c:v>2009</c:v>
                </c:pt>
                <c:pt idx="19">
                  <c:v>2010</c:v>
                </c:pt>
                <c:pt idx="20">
                  <c:v>2011</c:v>
                </c:pt>
                <c:pt idx="21">
                  <c:v>2012</c:v>
                </c:pt>
                <c:pt idx="22">
                  <c:v>2013</c:v>
                </c:pt>
                <c:pt idx="23">
                  <c:v>2014</c:v>
                </c:pt>
                <c:pt idx="24">
                  <c:v>2015</c:v>
                </c:pt>
                <c:pt idx="25">
                  <c:v>2016</c:v>
                </c:pt>
                <c:pt idx="26">
                  <c:v>2017</c:v>
                </c:pt>
                <c:pt idx="27">
                  <c:v>2018</c:v>
                </c:pt>
                <c:pt idx="28">
                  <c:v>2019</c:v>
                </c:pt>
                <c:pt idx="29">
                  <c:v>2020</c:v>
                </c:pt>
                <c:pt idx="30">
                  <c:v>2021</c:v>
                </c:pt>
                <c:pt idx="31">
                  <c:v>2022</c:v>
                </c:pt>
                <c:pt idx="32">
                  <c:v>2023</c:v>
                </c:pt>
                <c:pt idx="33">
                  <c:v>2024</c:v>
                </c:pt>
              </c:strCache>
            </c:strRef>
          </c:cat>
          <c:val>
            <c:numRef>
              <c:f>Sheet1!$C$2:$C$35</c:f>
              <c:numCache>
                <c:formatCode>General</c:formatCode>
                <c:ptCount val="34"/>
                <c:pt idx="0">
                  <c:v>2.1</c:v>
                </c:pt>
                <c:pt idx="1">
                  <c:v>2.1</c:v>
                </c:pt>
                <c:pt idx="2">
                  <c:v>2.1</c:v>
                </c:pt>
                <c:pt idx="3">
                  <c:v>2.1</c:v>
                </c:pt>
                <c:pt idx="4">
                  <c:v>2.1</c:v>
                </c:pt>
                <c:pt idx="5">
                  <c:v>2.1</c:v>
                </c:pt>
                <c:pt idx="6">
                  <c:v>2.1</c:v>
                </c:pt>
                <c:pt idx="7">
                  <c:v>2.1</c:v>
                </c:pt>
                <c:pt idx="8">
                  <c:v>2.1</c:v>
                </c:pt>
                <c:pt idx="9">
                  <c:v>2.1</c:v>
                </c:pt>
                <c:pt idx="10">
                  <c:v>2.1</c:v>
                </c:pt>
                <c:pt idx="11">
                  <c:v>2.1</c:v>
                </c:pt>
                <c:pt idx="12">
                  <c:v>2.1</c:v>
                </c:pt>
                <c:pt idx="13">
                  <c:v>2.1</c:v>
                </c:pt>
                <c:pt idx="14">
                  <c:v>2.1</c:v>
                </c:pt>
                <c:pt idx="15">
                  <c:v>2.1</c:v>
                </c:pt>
                <c:pt idx="16">
                  <c:v>2.1</c:v>
                </c:pt>
                <c:pt idx="17">
                  <c:v>2.1</c:v>
                </c:pt>
                <c:pt idx="18">
                  <c:v>2.1</c:v>
                </c:pt>
                <c:pt idx="19">
                  <c:v>2.1</c:v>
                </c:pt>
                <c:pt idx="20">
                  <c:v>2.1</c:v>
                </c:pt>
                <c:pt idx="21">
                  <c:v>2.1</c:v>
                </c:pt>
                <c:pt idx="22">
                  <c:v>2.1</c:v>
                </c:pt>
                <c:pt idx="23">
                  <c:v>2.1</c:v>
                </c:pt>
                <c:pt idx="24">
                  <c:v>2.1</c:v>
                </c:pt>
                <c:pt idx="25">
                  <c:v>2.1</c:v>
                </c:pt>
                <c:pt idx="26">
                  <c:v>2.1</c:v>
                </c:pt>
                <c:pt idx="27">
                  <c:v>2.1</c:v>
                </c:pt>
                <c:pt idx="28">
                  <c:v>2.1</c:v>
                </c:pt>
                <c:pt idx="29">
                  <c:v>2.1</c:v>
                </c:pt>
                <c:pt idx="30">
                  <c:v>2.1</c:v>
                </c:pt>
                <c:pt idx="31">
                  <c:v>2.1</c:v>
                </c:pt>
                <c:pt idx="32">
                  <c:v>2.1</c:v>
                </c:pt>
                <c:pt idx="33">
                  <c:v>2.1</c:v>
                </c:pt>
              </c:numCache>
            </c:numRef>
          </c:val>
          <c:smooth val="0"/>
        </c:ser>
        <c:marker val="1"/>
        <c:smooth val="0"/>
        <c:axId val="2068027336"/>
        <c:axId val="2113994440"/>
      </c:lineChart>
      <c:catAx>
        <c:axId val="2068027336"/>
        <c:scaling>
          <c:orientation val="minMax"/>
        </c:scaling>
        <c:delete val="0"/>
        <c:axPos val="b"/>
        <c:majorTickMark val="none"/>
        <c:minorTickMark val="none"/>
        <c:tickLblPos val="nextTo"/>
        <c:spPr>
          <a:ln w="9525" cap="flat" cmpd="sng" algn="ctr">
            <a:solidFill>
              <a:srgbClr val="5B6670"/>
            </a:solidFill>
            <a:round/>
          </a:ln>
        </c:spPr>
        <c:txPr>
          <a:bodyPr/>
          <a:lstStyle/>
          <a:p>
            <a:pPr>
              <a:defRPr lang="ru-RU" sz="1350">
                <a:solidFill>
                  <a:srgbClr val="5B6670"/>
                </a:solidFill>
                <a:latin typeface="Arial"/>
                <a:ea typeface="Microsoft YaHei"/>
                <a:cs typeface="Arial"/>
              </a:defRPr>
            </a:pPr>
            <a:endParaRPr lang="ru-RU"/>
          </a:p>
        </c:txPr>
        <c:crossAx val="2113994440"/>
        <c:crosses val="autoZero"/>
        <c:auto val="1"/>
        <c:lblAlgn val="ctr"/>
        <c:lblOffset val="100"/>
        <c:noMultiLvlLbl val="0"/>
      </c:catAx>
      <c:valAx>
        <c:axId val="2113994440"/>
        <c:scaling>
          <c:orientation val="minMax"/>
          <c:max val="2.2"/>
          <c:min val="1.1"/>
        </c:scaling>
        <c:delete val="0"/>
        <c:axPos val="l"/>
        <c:majorGridlines>
          <c:spPr>
            <a:ln w="6350" cap="flat" cmpd="sng" algn="ctr">
              <a:solidFill>
                <a:srgbClr val="E6E1D7"/>
              </a:solidFill>
              <a:round/>
            </a:ln>
          </c:spPr>
        </c:majorGridlines>
        <c:majorTickMark val="none"/>
        <c:minorTickMark val="none"/>
        <c:tickLblPos val="none"/>
        <c:spPr>
          <a:ln w="9525" cap="flat" cmpd="sng" algn="ctr">
            <a:solidFill>
              <a:srgbClr val="5B6670"/>
            </a:solidFill>
            <a:round/>
          </a:ln>
        </c:spPr>
        <c:txPr>
          <a:bodyPr/>
          <a:lstStyle/>
          <a:p>
            <a:pPr>
              <a:defRPr lang="ru-RU" sz="1350">
                <a:solidFill>
                  <a:srgbClr val="5B6670"/>
                </a:solidFill>
                <a:latin typeface="Arial"/>
                <a:ea typeface="Microsoft YaHei"/>
                <a:cs typeface="Arial"/>
              </a:defRPr>
            </a:pPr>
            <a:endParaRPr lang="ru-RU"/>
          </a:p>
        </c:txPr>
        <c:crossAx val="2068027336"/>
        <c:crosses val="autoZero"/>
        <c:crossBetween val="midCat"/>
        <c:majorUnit val="0.2"/>
      </c:valAx>
      <c:spPr>
        <a:noFill/>
        <a:ln>
          <a:noFill/>
        </a:ln>
      </c:spPr>
    </c:plotArea>
    <c:plotVisOnly val="1"/>
    <c:dispBlanksAs val="gap"/>
  </c:chart>
  <c:spPr>
    <a:noFill/>
    <a:ln>
      <a:noFill/>
    </a:ln>
  </c:spPr>
  <c:txPr>
    <a:bodyPr/>
    <a:lstStyle/>
    <a:p>
      <a:pPr>
        <a:defRPr lang="ru-RU" sz="1350">
          <a:solidFill>
            <a:srgbClr val="5B6670"/>
          </a:solidFill>
          <a:latin typeface="Arial"/>
          <a:ea typeface="Microsoft YaHei"/>
          <a:cs typeface="Arial"/>
        </a:defRPr>
      </a:pPr>
      <a:endParaRPr lang="ru-RU"/>
    </a:p>
  </c:txPr>
  <c:externalData r:id="rId1">
    <c:autoUpdate val="0"/>
  </c:externalData>
</c:chartSpace>
</file>

<file path=ppt/charts/chart801.xml><?xml version="1.0" encoding="utf-8"?>
<c:chartSpace xmlns:c="http://schemas.openxmlformats.org/drawingml/2006/chart" xmlns:a="http://schemas.openxmlformats.org/drawingml/2006/main" xmlns:r="http://schemas.openxmlformats.org/officeDocument/2006/relationships">
  <c:date1904 val="0"/>
  <c:lang val="ru-RU"/>
  <c:chart>
    <c:autoTitleDeleted val="1"/>
    <c:plotArea>
      <c:layout>
        <c:manualLayout>
          <c:layoutTarget val="inner"/>
          <c:xMode val="edge"/>
          <c:yMode val="edge"/>
          <c:wMode val="factor"/>
          <c:hMode val="factor"/>
          <c:x val="0.068661971831"/>
          <c:y val="0.06"/>
          <c:w val="0.906690140845"/>
          <c:h val="0.85"/>
        </c:manualLayout>
      </c:layout>
      <c:lineChart>
        <c:grouping val="standard"/>
        <c:varyColors val="0"/>
        <c:ser>
          <c:idx val="0"/>
          <c:order val="0"/>
          <c:tx>
            <c:strRef>
              <c:f>Sheet1!$B$1</c:f>
              <c:strCache>
                <c:ptCount val="1"/>
                <c:pt idx="0">
                  <c:v>Мужчины</c:v>
                </c:pt>
              </c:strCache>
            </c:strRef>
          </c:tx>
          <c:spPr>
            <a:solidFill>
              <a:schemeClr val="accent1"/>
            </a:solidFill>
            <a:ln w="28575">
              <a:solidFill>
                <a:schemeClr val="accent1"/>
              </a:solidFill>
            </a:ln>
          </c:spPr>
          <c:marker>
            <c:symbol val="none"/>
          </c:marker>
          <c:dPt>
            <c:idx val="0"/>
            <c:marker>
              <c:symbol val="circle"/>
              <c:size val="8"/>
              <c:spPr>
                <a:solidFill>
                  <a:schemeClr val="accent1"/>
                </a:solidFill>
                <a:ln>
                  <a:solidFill>
                    <a:schemeClr val="accent1"/>
                  </a:solidFill>
                </a:ln>
              </c:spPr>
            </c:marker>
          </c:dPt>
          <c:dPt>
            <c:idx val="1"/>
            <c:marker>
              <c:symbol val="none"/>
            </c:marker>
          </c:dPt>
          <c:dPt>
            <c:idx val="2"/>
            <c:marker>
              <c:symbol val="none"/>
            </c:marker>
          </c:dPt>
          <c:dPt>
            <c:idx val="3"/>
            <c:marker>
              <c:symbol val="circle"/>
              <c:size val="8"/>
              <c:spPr>
                <a:solidFill>
                  <a:schemeClr val="accent1"/>
                </a:solidFill>
                <a:ln>
                  <a:solidFill>
                    <a:schemeClr val="accent1"/>
                  </a:solidFill>
                </a:ln>
              </c:spPr>
            </c:marker>
          </c:dPt>
          <c:dPt>
            <c:idx val="4"/>
            <c:marker>
              <c:symbol val="none"/>
            </c:marker>
          </c:dPt>
          <c:dPt>
            <c:idx val="5"/>
            <c:marker>
              <c:symbol val="none"/>
            </c:marker>
          </c:dPt>
          <c:dPt>
            <c:idx val="6"/>
            <c:marker>
              <c:symbol val="none"/>
            </c:marker>
          </c:dPt>
          <c:dPt>
            <c:idx val="7"/>
            <c:marker>
              <c:symbol val="none"/>
            </c:marker>
          </c:dPt>
          <c:dPt>
            <c:idx val="8"/>
            <c:marker>
              <c:symbol val="none"/>
            </c:marker>
          </c:dPt>
          <c:dPt>
            <c:idx val="9"/>
            <c:marker>
              <c:symbol val="none"/>
            </c:marker>
          </c:dPt>
          <c:dPt>
            <c:idx val="10"/>
            <c:marker>
              <c:symbol val="none"/>
            </c:marker>
          </c:dPt>
          <c:dPt>
            <c:idx val="11"/>
            <c:marker>
              <c:symbol val="none"/>
            </c:marker>
          </c:dPt>
          <c:dPt>
            <c:idx val="12"/>
            <c:marker>
              <c:symbol val="none"/>
            </c:marker>
          </c:dPt>
          <c:dPt>
            <c:idx val="13"/>
            <c:marker>
              <c:symbol val="none"/>
            </c:marker>
          </c:dPt>
          <c:dPt>
            <c:idx val="14"/>
            <c:marker>
              <c:symbol val="none"/>
            </c:marker>
          </c:dPt>
          <c:dPt>
            <c:idx val="15"/>
            <c:marker>
              <c:symbol val="none"/>
            </c:marker>
          </c:dPt>
          <c:dPt>
            <c:idx val="16"/>
            <c:marker>
              <c:symbol val="none"/>
            </c:marker>
          </c:dPt>
          <c:dPt>
            <c:idx val="17"/>
            <c:marker>
              <c:symbol val="none"/>
            </c:marker>
          </c:dPt>
          <c:dPt>
            <c:idx val="18"/>
            <c:marker>
              <c:symbol val="none"/>
            </c:marker>
          </c:dPt>
          <c:dPt>
            <c:idx val="19"/>
            <c:marker>
              <c:symbol val="none"/>
            </c:marker>
          </c:dPt>
          <c:dPt>
            <c:idx val="20"/>
            <c:marker>
              <c:symbol val="none"/>
            </c:marker>
          </c:dPt>
          <c:dPt>
            <c:idx val="21"/>
            <c:marker>
              <c:symbol val="none"/>
            </c:marker>
          </c:dPt>
          <c:dPt>
            <c:idx val="22"/>
            <c:marker>
              <c:symbol val="none"/>
            </c:marker>
          </c:dPt>
          <c:dPt>
            <c:idx val="23"/>
            <c:marker>
              <c:symbol val="none"/>
            </c:marker>
          </c:dPt>
          <c:dPt>
            <c:idx val="24"/>
            <c:marker>
              <c:symbol val="none"/>
            </c:marker>
          </c:dPt>
          <c:dPt>
            <c:idx val="25"/>
            <c:marker>
              <c:symbol val="none"/>
            </c:marker>
          </c:dPt>
          <c:dPt>
            <c:idx val="26"/>
            <c:marker>
              <c:symbol val="none"/>
            </c:marker>
          </c:dPt>
          <c:dPt>
            <c:idx val="27"/>
            <c:marker>
              <c:symbol val="none"/>
            </c:marker>
          </c:dPt>
          <c:dPt>
            <c:idx val="28"/>
            <c:marker>
              <c:symbol val="none"/>
            </c:marker>
          </c:dPt>
          <c:dPt>
            <c:idx val="29"/>
            <c:marker>
              <c:symbol val="none"/>
            </c:marker>
          </c:dPt>
          <c:dPt>
            <c:idx val="30"/>
            <c:marker>
              <c:symbol val="none"/>
            </c:marker>
          </c:dPt>
          <c:dPt>
            <c:idx val="31"/>
            <c:marker>
              <c:symbol val="none"/>
            </c:marker>
          </c:dPt>
          <c:dPt>
            <c:idx val="32"/>
            <c:marker>
              <c:symbol val="none"/>
            </c:marker>
          </c:dPt>
          <c:dPt>
            <c:idx val="33"/>
            <c:marker>
              <c:symbol val="circle"/>
              <c:size val="8"/>
              <c:spPr>
                <a:solidFill>
                  <a:schemeClr val="accent1"/>
                </a:solidFill>
                <a:ln>
                  <a:solidFill>
                    <a:schemeClr val="accent1"/>
                  </a:solidFill>
                </a:ln>
              </c:spPr>
            </c:marker>
          </c:dPt>
          <c:cat>
            <c:strRef>
              <c:f>Sheet1!$A$2:$A$35</c:f>
              <c:strCache>
                <c:ptCount val="34"/>
                <c:pt idx="0">
                  <c:v>1991</c:v>
                </c:pt>
                <c:pt idx="1">
                  <c:v>1992</c:v>
                </c:pt>
                <c:pt idx="2">
                  <c:v>1993</c:v>
                </c:pt>
                <c:pt idx="3">
                  <c:v>1994</c:v>
                </c:pt>
                <c:pt idx="4">
                  <c:v>1995</c:v>
                </c:pt>
                <c:pt idx="5">
                  <c:v>1996</c:v>
                </c:pt>
                <c:pt idx="6">
                  <c:v>1997</c:v>
                </c:pt>
                <c:pt idx="7">
                  <c:v>1998</c:v>
                </c:pt>
                <c:pt idx="8">
                  <c:v>1999</c:v>
                </c:pt>
                <c:pt idx="9">
                  <c:v>2000</c:v>
                </c:pt>
                <c:pt idx="10">
                  <c:v>2001</c:v>
                </c:pt>
                <c:pt idx="11">
                  <c:v>2002</c:v>
                </c:pt>
                <c:pt idx="12">
                  <c:v>2003</c:v>
                </c:pt>
                <c:pt idx="13">
                  <c:v>2004</c:v>
                </c:pt>
                <c:pt idx="14">
                  <c:v>2005</c:v>
                </c:pt>
                <c:pt idx="15">
                  <c:v>2006</c:v>
                </c:pt>
                <c:pt idx="16">
                  <c:v>2007</c:v>
                </c:pt>
                <c:pt idx="17">
                  <c:v>2008</c:v>
                </c:pt>
                <c:pt idx="18">
                  <c:v>2009</c:v>
                </c:pt>
                <c:pt idx="19">
                  <c:v>2010</c:v>
                </c:pt>
                <c:pt idx="20">
                  <c:v>2011</c:v>
                </c:pt>
                <c:pt idx="21">
                  <c:v>2012</c:v>
                </c:pt>
                <c:pt idx="22">
                  <c:v>2013</c:v>
                </c:pt>
                <c:pt idx="23">
                  <c:v>2014</c:v>
                </c:pt>
                <c:pt idx="24">
                  <c:v>2015</c:v>
                </c:pt>
                <c:pt idx="25">
                  <c:v>2016</c:v>
                </c:pt>
                <c:pt idx="26">
                  <c:v>2017</c:v>
                </c:pt>
                <c:pt idx="27">
                  <c:v>2018</c:v>
                </c:pt>
                <c:pt idx="28">
                  <c:v>2019</c:v>
                </c:pt>
                <c:pt idx="29">
                  <c:v>2020</c:v>
                </c:pt>
                <c:pt idx="30">
                  <c:v>2021</c:v>
                </c:pt>
                <c:pt idx="31">
                  <c:v>2022</c:v>
                </c:pt>
                <c:pt idx="32">
                  <c:v>2023</c:v>
                </c:pt>
                <c:pt idx="33">
                  <c:v>2024</c:v>
                </c:pt>
              </c:strCache>
            </c:strRef>
          </c:cat>
          <c:val>
            <c:numRef>
              <c:f>Sheet1!$B$2:$B$35</c:f>
              <c:numCache>
                <c:formatCode>General</c:formatCode>
                <c:ptCount val="34"/>
                <c:pt idx="0">
                  <c:v>63.5</c:v>
                </c:pt>
                <c:pt idx="1">
                  <c:v>62</c:v>
                </c:pt>
                <c:pt idx="2">
                  <c:v>59</c:v>
                </c:pt>
                <c:pt idx="3">
                  <c:v>57.6</c:v>
                </c:pt>
                <c:pt idx="4">
                  <c:v>58.1</c:v>
                </c:pt>
                <c:pt idx="5">
                  <c:v>59.6</c:v>
                </c:pt>
                <c:pt idx="6">
                  <c:v>60.9</c:v>
                </c:pt>
                <c:pt idx="7">
                  <c:v>61.2</c:v>
                </c:pt>
                <c:pt idx="8">
                  <c:v>59.9</c:v>
                </c:pt>
                <c:pt idx="9">
                  <c:v>59</c:v>
                </c:pt>
                <c:pt idx="10">
                  <c:v>58.9</c:v>
                </c:pt>
                <c:pt idx="11">
                  <c:v>58.7</c:v>
                </c:pt>
                <c:pt idx="12">
                  <c:v>58.5</c:v>
                </c:pt>
                <c:pt idx="13">
                  <c:v>58.9</c:v>
                </c:pt>
                <c:pt idx="14">
                  <c:v>58.9</c:v>
                </c:pt>
                <c:pt idx="15">
                  <c:v>60.4</c:v>
                </c:pt>
                <c:pt idx="16">
                  <c:v>61.5</c:v>
                </c:pt>
                <c:pt idx="17">
                  <c:v>61.9</c:v>
                </c:pt>
                <c:pt idx="18">
                  <c:v>62.9</c:v>
                </c:pt>
                <c:pt idx="19">
                  <c:v>63.1</c:v>
                </c:pt>
                <c:pt idx="20">
                  <c:v>64</c:v>
                </c:pt>
                <c:pt idx="21">
                  <c:v>64.6</c:v>
                </c:pt>
                <c:pt idx="22">
                  <c:v>65.1</c:v>
                </c:pt>
                <c:pt idx="23">
                  <c:v>65.3</c:v>
                </c:pt>
                <c:pt idx="24">
                  <c:v>65.9</c:v>
                </c:pt>
                <c:pt idx="25">
                  <c:v>66.5</c:v>
                </c:pt>
                <c:pt idx="26">
                  <c:v>67.5</c:v>
                </c:pt>
                <c:pt idx="27">
                  <c:v>67.8</c:v>
                </c:pt>
                <c:pt idx="28">
                  <c:v>68.2</c:v>
                </c:pt>
                <c:pt idx="29">
                  <c:v>66.5</c:v>
                </c:pt>
                <c:pt idx="30">
                  <c:v>65.5</c:v>
                </c:pt>
                <c:pt idx="31">
                  <c:v>67.6</c:v>
                </c:pt>
                <c:pt idx="32">
                  <c:v>68</c:v>
                </c:pt>
                <c:pt idx="33">
                  <c:v>68.3</c:v>
                </c:pt>
              </c:numCache>
            </c:numRef>
          </c:val>
          <c:smooth val="0"/>
        </c:ser>
        <c:ser>
          <c:idx val="1"/>
          <c:order val="1"/>
          <c:tx>
            <c:strRef>
              <c:f>Sheet1!$C$1</c:f>
              <c:strCache>
                <c:ptCount val="1"/>
                <c:pt idx="0">
                  <c:v>Женщины</c:v>
                </c:pt>
              </c:strCache>
            </c:strRef>
          </c:tx>
          <c:spPr>
            <a:solidFill>
              <a:schemeClr val="accent3"/>
            </a:solidFill>
            <a:ln w="28575">
              <a:solidFill>
                <a:schemeClr val="accent3"/>
              </a:solidFill>
            </a:ln>
          </c:spPr>
          <c:marker>
            <c:symbol val="none"/>
          </c:marker>
          <c:dPt>
            <c:idx val="0"/>
            <c:marker>
              <c:symbol val="circle"/>
              <c:size val="8"/>
              <c:spPr>
                <a:solidFill>
                  <a:schemeClr val="accent3"/>
                </a:solidFill>
                <a:ln>
                  <a:solidFill>
                    <a:schemeClr val="accent3"/>
                  </a:solidFill>
                </a:ln>
              </c:spPr>
            </c:marker>
          </c:dPt>
          <c:dPt>
            <c:idx val="1"/>
            <c:marker>
              <c:symbol val="none"/>
            </c:marker>
          </c:dPt>
          <c:dPt>
            <c:idx val="2"/>
            <c:marker>
              <c:symbol val="circle"/>
              <c:size val="8"/>
              <c:spPr>
                <a:solidFill>
                  <a:schemeClr val="accent3"/>
                </a:solidFill>
                <a:ln>
                  <a:solidFill>
                    <a:schemeClr val="accent3"/>
                  </a:solidFill>
                </a:ln>
              </c:spPr>
            </c:marker>
          </c:dPt>
          <c:dPt>
            <c:idx val="3"/>
            <c:marker>
              <c:symbol val="none"/>
            </c:marker>
          </c:dPt>
          <c:dPt>
            <c:idx val="4"/>
            <c:marker>
              <c:symbol val="none"/>
            </c:marker>
          </c:dPt>
          <c:dPt>
            <c:idx val="5"/>
            <c:marker>
              <c:symbol val="none"/>
            </c:marker>
          </c:dPt>
          <c:dPt>
            <c:idx val="6"/>
            <c:marker>
              <c:symbol val="none"/>
            </c:marker>
          </c:dPt>
          <c:dPt>
            <c:idx val="7"/>
            <c:marker>
              <c:symbol val="none"/>
            </c:marker>
          </c:dPt>
          <c:dPt>
            <c:idx val="8"/>
            <c:marker>
              <c:symbol val="none"/>
            </c:marker>
          </c:dPt>
          <c:dPt>
            <c:idx val="9"/>
            <c:marker>
              <c:symbol val="none"/>
            </c:marker>
          </c:dPt>
          <c:dPt>
            <c:idx val="10"/>
            <c:marker>
              <c:symbol val="none"/>
            </c:marker>
          </c:dPt>
          <c:dPt>
            <c:idx val="11"/>
            <c:marker>
              <c:symbol val="none"/>
            </c:marker>
          </c:dPt>
          <c:dPt>
            <c:idx val="12"/>
            <c:marker>
              <c:symbol val="none"/>
            </c:marker>
          </c:dPt>
          <c:dPt>
            <c:idx val="13"/>
            <c:marker>
              <c:symbol val="none"/>
            </c:marker>
          </c:dPt>
          <c:dPt>
            <c:idx val="14"/>
            <c:marker>
              <c:symbol val="none"/>
            </c:marker>
          </c:dPt>
          <c:dPt>
            <c:idx val="15"/>
            <c:marker>
              <c:symbol val="none"/>
            </c:marker>
          </c:dPt>
          <c:dPt>
            <c:idx val="16"/>
            <c:marker>
              <c:symbol val="none"/>
            </c:marker>
          </c:dPt>
          <c:dPt>
            <c:idx val="17"/>
            <c:marker>
              <c:symbol val="none"/>
            </c:marker>
          </c:dPt>
          <c:dPt>
            <c:idx val="18"/>
            <c:marker>
              <c:symbol val="none"/>
            </c:marker>
          </c:dPt>
          <c:dPt>
            <c:idx val="19"/>
            <c:marker>
              <c:symbol val="none"/>
            </c:marker>
          </c:dPt>
          <c:dPt>
            <c:idx val="20"/>
            <c:marker>
              <c:symbol val="none"/>
            </c:marker>
          </c:dPt>
          <c:dPt>
            <c:idx val="21"/>
            <c:marker>
              <c:symbol val="none"/>
            </c:marker>
          </c:dPt>
          <c:dPt>
            <c:idx val="22"/>
            <c:marker>
              <c:symbol val="none"/>
            </c:marker>
          </c:dPt>
          <c:dPt>
            <c:idx val="23"/>
            <c:marker>
              <c:symbol val="none"/>
            </c:marker>
          </c:dPt>
          <c:dPt>
            <c:idx val="24"/>
            <c:marker>
              <c:symbol val="none"/>
            </c:marker>
          </c:dPt>
          <c:dPt>
            <c:idx val="25"/>
            <c:marker>
              <c:symbol val="none"/>
            </c:marker>
          </c:dPt>
          <c:dPt>
            <c:idx val="26"/>
            <c:marker>
              <c:symbol val="none"/>
            </c:marker>
          </c:dPt>
          <c:dPt>
            <c:idx val="27"/>
            <c:marker>
              <c:symbol val="none"/>
            </c:marker>
          </c:dPt>
          <c:dPt>
            <c:idx val="28"/>
            <c:marker>
              <c:symbol val="none"/>
            </c:marker>
          </c:dPt>
          <c:dPt>
            <c:idx val="29"/>
            <c:marker>
              <c:symbol val="none"/>
            </c:marker>
          </c:dPt>
          <c:dPt>
            <c:idx val="30"/>
            <c:marker>
              <c:symbol val="none"/>
            </c:marker>
          </c:dPt>
          <c:dPt>
            <c:idx val="31"/>
            <c:marker>
              <c:symbol val="none"/>
            </c:marker>
          </c:dPt>
          <c:dPt>
            <c:idx val="32"/>
            <c:marker>
              <c:symbol val="none"/>
            </c:marker>
          </c:dPt>
          <c:dPt>
            <c:idx val="33"/>
            <c:marker>
              <c:symbol val="circle"/>
              <c:size val="8"/>
              <c:spPr>
                <a:solidFill>
                  <a:schemeClr val="accent3"/>
                </a:solidFill>
                <a:ln>
                  <a:solidFill>
                    <a:schemeClr val="accent3"/>
                  </a:solidFill>
                </a:ln>
              </c:spPr>
            </c:marker>
          </c:dPt>
          <c:cat>
            <c:strRef>
              <c:f>Sheet1!$A$2:$A$35</c:f>
              <c:strCache>
                <c:ptCount val="34"/>
                <c:pt idx="0">
                  <c:v>1991</c:v>
                </c:pt>
                <c:pt idx="1">
                  <c:v>1992</c:v>
                </c:pt>
                <c:pt idx="2">
                  <c:v>1993</c:v>
                </c:pt>
                <c:pt idx="3">
                  <c:v>1994</c:v>
                </c:pt>
                <c:pt idx="4">
                  <c:v>1995</c:v>
                </c:pt>
                <c:pt idx="5">
                  <c:v>1996</c:v>
                </c:pt>
                <c:pt idx="6">
                  <c:v>1997</c:v>
                </c:pt>
                <c:pt idx="7">
                  <c:v>1998</c:v>
                </c:pt>
                <c:pt idx="8">
                  <c:v>1999</c:v>
                </c:pt>
                <c:pt idx="9">
                  <c:v>2000</c:v>
                </c:pt>
                <c:pt idx="10">
                  <c:v>2001</c:v>
                </c:pt>
                <c:pt idx="11">
                  <c:v>2002</c:v>
                </c:pt>
                <c:pt idx="12">
                  <c:v>2003</c:v>
                </c:pt>
                <c:pt idx="13">
                  <c:v>2004</c:v>
                </c:pt>
                <c:pt idx="14">
                  <c:v>2005</c:v>
                </c:pt>
                <c:pt idx="15">
                  <c:v>2006</c:v>
                </c:pt>
                <c:pt idx="16">
                  <c:v>2007</c:v>
                </c:pt>
                <c:pt idx="17">
                  <c:v>2008</c:v>
                </c:pt>
                <c:pt idx="18">
                  <c:v>2009</c:v>
                </c:pt>
                <c:pt idx="19">
                  <c:v>2010</c:v>
                </c:pt>
                <c:pt idx="20">
                  <c:v>2011</c:v>
                </c:pt>
                <c:pt idx="21">
                  <c:v>2012</c:v>
                </c:pt>
                <c:pt idx="22">
                  <c:v>2013</c:v>
                </c:pt>
                <c:pt idx="23">
                  <c:v>2014</c:v>
                </c:pt>
                <c:pt idx="24">
                  <c:v>2015</c:v>
                </c:pt>
                <c:pt idx="25">
                  <c:v>2016</c:v>
                </c:pt>
                <c:pt idx="26">
                  <c:v>2017</c:v>
                </c:pt>
                <c:pt idx="27">
                  <c:v>2018</c:v>
                </c:pt>
                <c:pt idx="28">
                  <c:v>2019</c:v>
                </c:pt>
                <c:pt idx="29">
                  <c:v>2020</c:v>
                </c:pt>
                <c:pt idx="30">
                  <c:v>2021</c:v>
                </c:pt>
                <c:pt idx="31">
                  <c:v>2022</c:v>
                </c:pt>
                <c:pt idx="32">
                  <c:v>2023</c:v>
                </c:pt>
                <c:pt idx="33">
                  <c:v>2024</c:v>
                </c:pt>
              </c:strCache>
            </c:strRef>
          </c:cat>
          <c:val>
            <c:numRef>
              <c:f>Sheet1!$C$2:$C$35</c:f>
              <c:numCache>
                <c:formatCode>General</c:formatCode>
                <c:ptCount val="34"/>
                <c:pt idx="0">
                  <c:v>73.8</c:v>
                </c:pt>
                <c:pt idx="1">
                  <c:v>72</c:v>
                </c:pt>
                <c:pt idx="2">
                  <c:v>71.2</c:v>
                </c:pt>
                <c:pt idx="3">
                  <c:v>71.7</c:v>
                </c:pt>
                <c:pt idx="4">
                  <c:v>71.6</c:v>
                </c:pt>
                <c:pt idx="5">
                  <c:v>72.4</c:v>
                </c:pt>
                <c:pt idx="6">
                  <c:v>72.8</c:v>
                </c:pt>
                <c:pt idx="7">
                  <c:v>73.1</c:v>
                </c:pt>
                <c:pt idx="8">
                  <c:v>72.4</c:v>
                </c:pt>
                <c:pt idx="9">
                  <c:v>72.3</c:v>
                </c:pt>
                <c:pt idx="10">
                  <c:v>72.2</c:v>
                </c:pt>
                <c:pt idx="11">
                  <c:v>71.9</c:v>
                </c:pt>
                <c:pt idx="12">
                  <c:v>71.9</c:v>
                </c:pt>
                <c:pt idx="13">
                  <c:v>72.4</c:v>
                </c:pt>
                <c:pt idx="14">
                  <c:v>72.5</c:v>
                </c:pt>
                <c:pt idx="15">
                  <c:v>73.3</c:v>
                </c:pt>
                <c:pt idx="16">
                  <c:v>74</c:v>
                </c:pt>
                <c:pt idx="17">
                  <c:v>74.3</c:v>
                </c:pt>
                <c:pt idx="18">
                  <c:v>74.8</c:v>
                </c:pt>
                <c:pt idx="19">
                  <c:v>74.9</c:v>
                </c:pt>
                <c:pt idx="20">
                  <c:v>75.6</c:v>
                </c:pt>
                <c:pt idx="21">
                  <c:v>75.9</c:v>
                </c:pt>
                <c:pt idx="22">
                  <c:v>76.3</c:v>
                </c:pt>
                <c:pt idx="23">
                  <c:v>76.5</c:v>
                </c:pt>
                <c:pt idx="24">
                  <c:v>76.7</c:v>
                </c:pt>
                <c:pt idx="25">
                  <c:v>77.1</c:v>
                </c:pt>
                <c:pt idx="26">
                  <c:v>77.6</c:v>
                </c:pt>
                <c:pt idx="27">
                  <c:v>77.8</c:v>
                </c:pt>
                <c:pt idx="28">
                  <c:v>78.2</c:v>
                </c:pt>
                <c:pt idx="29">
                  <c:v>76.4</c:v>
                </c:pt>
                <c:pt idx="30">
                  <c:v>74.5</c:v>
                </c:pt>
                <c:pt idx="31">
                  <c:v>77.8</c:v>
                </c:pt>
                <c:pt idx="32">
                  <c:v>78.7</c:v>
                </c:pt>
                <c:pt idx="33">
                  <c:v>78.9</c:v>
                </c:pt>
              </c:numCache>
            </c:numRef>
          </c:val>
          <c:smooth val="0"/>
        </c:ser>
        <c:marker val="1"/>
        <c:smooth val="0"/>
        <c:axId val="2068027336"/>
        <c:axId val="2113994440"/>
      </c:lineChart>
      <c:catAx>
        <c:axId val="2068027336"/>
        <c:scaling>
          <c:orientation val="minMax"/>
        </c:scaling>
        <c:delete val="0"/>
        <c:axPos val="b"/>
        <c:majorTickMark val="none"/>
        <c:minorTickMark val="none"/>
        <c:tickLblPos val="nextTo"/>
        <c:spPr>
          <a:ln w="9525" cap="flat" cmpd="sng" algn="ctr">
            <a:solidFill>
              <a:srgbClr val="5B6670"/>
            </a:solidFill>
            <a:round/>
          </a:ln>
        </c:spPr>
        <c:txPr>
          <a:bodyPr/>
          <a:lstStyle/>
          <a:p>
            <a:pPr>
              <a:defRPr lang="ru-RU" sz="1350">
                <a:solidFill>
                  <a:srgbClr val="5B6670"/>
                </a:solidFill>
                <a:latin typeface="Arial"/>
                <a:ea typeface="Microsoft YaHei"/>
                <a:cs typeface="Arial"/>
              </a:defRPr>
            </a:pPr>
            <a:endParaRPr lang="ru-RU"/>
          </a:p>
        </c:txPr>
        <c:crossAx val="2113994440"/>
        <c:crosses val="autoZero"/>
        <c:auto val="1"/>
        <c:lblAlgn val="ctr"/>
        <c:lblOffset val="100"/>
        <c:noMultiLvlLbl val="0"/>
      </c:catAx>
      <c:valAx>
        <c:axId val="2113994440"/>
        <c:scaling>
          <c:orientation val="minMax"/>
          <c:max val="80"/>
          <c:min val="56"/>
        </c:scaling>
        <c:delete val="0"/>
        <c:axPos val="l"/>
        <c:majorGridlines>
          <c:spPr>
            <a:ln w="6350" cap="flat" cmpd="sng" algn="ctr">
              <a:solidFill>
                <a:srgbClr val="E6E1D7"/>
              </a:solidFill>
              <a:round/>
            </a:ln>
          </c:spPr>
        </c:majorGridlines>
        <c:numFmt formatCode="0" sourceLinked="0"/>
        <c:majorTickMark val="none"/>
        <c:minorTickMark val="none"/>
        <c:tickLblPos val="nextTo"/>
        <c:spPr>
          <a:ln w="9525" cap="flat" cmpd="sng" algn="ctr">
            <a:solidFill>
              <a:srgbClr val="5B6670"/>
            </a:solidFill>
            <a:round/>
          </a:ln>
        </c:spPr>
        <c:txPr>
          <a:bodyPr/>
          <a:lstStyle/>
          <a:p>
            <a:pPr>
              <a:defRPr lang="ru-RU" sz="1350">
                <a:solidFill>
                  <a:srgbClr val="5B6670"/>
                </a:solidFill>
                <a:latin typeface="Arial"/>
                <a:ea typeface="Microsoft YaHei"/>
                <a:cs typeface="Arial"/>
              </a:defRPr>
            </a:pPr>
            <a:endParaRPr lang="ru-RU"/>
          </a:p>
        </c:txPr>
        <c:crossAx val="2068027336"/>
        <c:crosses val="autoZero"/>
        <c:crossBetween val="midCat"/>
        <c:majorUnit val="4"/>
      </c:valAx>
      <c:spPr>
        <a:noFill/>
        <a:ln>
          <a:noFill/>
        </a:ln>
      </c:spPr>
    </c:plotArea>
    <c:legend>
      <c:legendPos val="t"/>
      <c:layout/>
      <c:overlay val="0"/>
      <c:txPr>
        <a:bodyPr/>
        <a:lstStyle/>
        <a:p>
          <a:pPr>
            <a:defRPr lang="ru-RU" sz="1350">
              <a:solidFill>
                <a:srgbClr val="5B6670"/>
              </a:solidFill>
              <a:latin typeface="Arial"/>
              <a:ea typeface="Microsoft YaHei"/>
              <a:cs typeface="Arial"/>
            </a:defRPr>
          </a:pPr>
          <a:endParaRPr lang="ru-RU"/>
        </a:p>
      </c:txPr>
    </c:legend>
    <c:plotVisOnly val="1"/>
    <c:dispBlanksAs val="gap"/>
  </c:chart>
  <c:spPr>
    <a:noFill/>
    <a:ln>
      <a:noFill/>
    </a:ln>
  </c:spPr>
  <c:txPr>
    <a:bodyPr/>
    <a:lstStyle/>
    <a:p>
      <a:pPr>
        <a:defRPr lang="ru-RU" sz="1350">
          <a:solidFill>
            <a:srgbClr val="5B6670"/>
          </a:solidFill>
          <a:latin typeface="Arial"/>
          <a:ea typeface="Microsoft YaHei"/>
          <a:cs typeface="Arial"/>
        </a:defRPr>
      </a:pPr>
      <a:endParaRPr lang="ru-RU"/>
    </a:p>
  </c:txPr>
  <c:externalData r:id="rId1">
    <c:autoUpdate val="0"/>
  </c:externalData>
</c:chartSpace>
</file>

<file path=ppt/charts/chart1001.xml><?xml version="1.0" encoding="utf-8"?>
<c:chartSpace xmlns:c="http://schemas.openxmlformats.org/drawingml/2006/chart" xmlns:a="http://schemas.openxmlformats.org/drawingml/2006/main" xmlns:r="http://schemas.openxmlformats.org/officeDocument/2006/relationships">
  <c:date1904 val="0"/>
  <c:lang val="ru-RU"/>
  <c:chart>
    <c:autoTitleDeleted val="1"/>
    <c:plotArea>
      <c:layout>
        <c:manualLayout>
          <c:layoutTarget val="inner"/>
          <c:xMode val="edge"/>
          <c:yMode val="edge"/>
          <c:wMode val="factor"/>
          <c:hMode val="factor"/>
          <c:x val="0.103174603175"/>
          <c:y val="0.06"/>
          <c:w val="0.859788359788"/>
          <c:h val="0.85"/>
        </c:manualLayout>
      </c:layout>
      <c:barChart>
        <c:barDir val="col"/>
        <c:grouping val="clustered"/>
        <c:varyColors val="1"/>
        <c:ser>
          <c:idx val="0"/>
          <c:order val="0"/>
          <c:tx>
            <c:strRef>
              <c:f>Sheet1!$B$1</c:f>
              <c:strCache>
                <c:ptCount val="1"/>
                <c:pt idx="0">
                  <c:v>Доля населения 65 лет и старше, %</c:v>
                </c:pt>
              </c:strCache>
            </c:strRef>
          </c:tx>
          <c:spPr>
            <a:solidFill>
              <a:schemeClr val="accent1"/>
            </a:solidFill>
            <a:ln>
              <a:solidFill>
                <a:schemeClr val="accent1"/>
              </a:solidFill>
            </a:ln>
          </c:spPr>
          <c:invertIfNegative val="0"/>
          <c:dPt>
            <c:idx val="0"/>
            <c:invertIfNegative val="0"/>
            <c:spPr>
              <a:solidFill>
                <a:schemeClr val="accent1"/>
              </a:solidFill>
              <a:ln>
                <a:solidFill>
                  <a:schemeClr val="accent1"/>
                </a:solidFill>
              </a:ln>
            </c:spPr>
          </c:dPt>
          <c:dPt>
            <c:idx val="1"/>
            <c:invertIfNegative val="0"/>
            <c:spPr>
              <a:solidFill>
                <a:schemeClr val="accent1"/>
              </a:solidFill>
              <a:ln>
                <a:solidFill>
                  <a:schemeClr val="accent1"/>
                </a:solidFill>
              </a:ln>
            </c:spPr>
          </c:dPt>
          <c:dPt>
            <c:idx val="2"/>
            <c:invertIfNegative val="0"/>
            <c:spPr>
              <a:solidFill>
                <a:schemeClr val="accent1"/>
              </a:solidFill>
              <a:ln>
                <a:solidFill>
                  <a:schemeClr val="accent1"/>
                </a:solidFill>
              </a:ln>
            </c:spPr>
          </c:dPt>
          <c:dPt>
            <c:idx val="3"/>
            <c:invertIfNegative val="0"/>
            <c:spPr>
              <a:solidFill>
                <a:schemeClr val="accent1"/>
              </a:solidFill>
              <a:ln>
                <a:solidFill>
                  <a:schemeClr val="accent1"/>
                </a:solidFill>
              </a:ln>
            </c:spPr>
          </c:dPt>
          <c:dPt>
            <c:idx val="4"/>
            <c:invertIfNegative val="0"/>
            <c:spPr>
              <a:solidFill>
                <a:schemeClr val="accent3"/>
              </a:solidFill>
              <a:ln>
                <a:solidFill>
                  <a:schemeClr val="accent3"/>
                </a:solidFill>
              </a:ln>
            </c:spPr>
          </c:dPt>
          <c:dPt>
            <c:idx val="5"/>
            <c:invertIfNegative val="0"/>
            <c:spPr>
              <a:solidFill>
                <a:schemeClr val="accent1"/>
              </a:solidFill>
              <a:ln>
                <a:solidFill>
                  <a:schemeClr val="accent1"/>
                </a:solidFill>
              </a:ln>
            </c:spPr>
          </c:dPt>
          <c:dPt>
            <c:idx val="6"/>
            <c:invertIfNegative val="0"/>
            <c:spPr>
              <a:solidFill>
                <a:schemeClr val="accent1"/>
              </a:solidFill>
              <a:ln>
                <a:solidFill>
                  <a:schemeClr val="accent1"/>
                </a:solidFill>
              </a:ln>
            </c:spPr>
          </c:dPt>
          <c:dPt>
            <c:idx val="7"/>
            <c:invertIfNegative val="0"/>
            <c:spPr>
              <a:solidFill>
                <a:schemeClr val="accent2"/>
              </a:solidFill>
              <a:ln>
                <a:solidFill>
                  <a:schemeClr val="accent2"/>
                </a:solidFill>
              </a:ln>
            </c:spPr>
          </c:dPt>
          <c:cat>
            <c:strRef>
              <c:f>Sheet1!$A$2:$A$9</c:f>
              <c:strCache>
                <c:ptCount val="8"/>
                <c:pt idx="0">
                  <c:v>1991</c:v>
                </c:pt>
                <c:pt idx="1">
                  <c:v>1995</c:v>
                </c:pt>
                <c:pt idx="2">
                  <c:v>2000</c:v>
                </c:pt>
                <c:pt idx="3">
                  <c:v>2005</c:v>
                </c:pt>
                <c:pt idx="4">
                  <c:v>2011</c:v>
                </c:pt>
                <c:pt idx="5">
                  <c:v>2015</c:v>
                </c:pt>
                <c:pt idx="6">
                  <c:v>2020</c:v>
                </c:pt>
                <c:pt idx="7">
                  <c:v>2024</c:v>
                </c:pt>
              </c:strCache>
            </c:strRef>
          </c:cat>
          <c:val>
            <c:numRef>
              <c:f>Sheet1!$B$2:$B$9</c:f>
              <c:numCache>
                <c:formatCode>General</c:formatCode>
                <c:ptCount val="8"/>
                <c:pt idx="0">
                  <c:v>10.3</c:v>
                </c:pt>
                <c:pt idx="1">
                  <c:v>11.9</c:v>
                </c:pt>
                <c:pt idx="2">
                  <c:v>12.3</c:v>
                </c:pt>
                <c:pt idx="3">
                  <c:v>13.7</c:v>
                </c:pt>
                <c:pt idx="4">
                  <c:v>12.6</c:v>
                </c:pt>
                <c:pt idx="5">
                  <c:v>13.5</c:v>
                </c:pt>
                <c:pt idx="6">
                  <c:v>15.5</c:v>
                </c:pt>
                <c:pt idx="7">
                  <c:v>17.2</c:v>
                </c:pt>
              </c:numCache>
            </c:numRef>
          </c:val>
        </c:ser>
        <c:gapWidth val="56"/>
        <c:axId val="2068027336"/>
        <c:axId val="2113994440"/>
      </c:barChart>
      <c:catAx>
        <c:axId val="2068027336"/>
        <c:scaling>
          <c:orientation val="minMax"/>
        </c:scaling>
        <c:delete val="0"/>
        <c:axPos val="b"/>
        <c:majorTickMark val="none"/>
        <c:minorTickMark val="none"/>
        <c:tickLblPos val="nextTo"/>
        <c:spPr>
          <a:ln w="9525" cap="flat" cmpd="sng" algn="ctr">
            <a:solidFill>
              <a:srgbClr val="5B6670"/>
            </a:solidFill>
            <a:round/>
          </a:ln>
        </c:spPr>
        <c:txPr>
          <a:bodyPr/>
          <a:lstStyle/>
          <a:p>
            <a:pPr>
              <a:defRPr lang="ru-RU" sz="1350">
                <a:solidFill>
                  <a:srgbClr val="5B6670"/>
                </a:solidFill>
                <a:latin typeface="Arial"/>
                <a:ea typeface="Microsoft YaHei"/>
                <a:cs typeface="Arial"/>
              </a:defRPr>
            </a:pPr>
            <a:endParaRPr lang="ru-RU"/>
          </a:p>
        </c:txPr>
        <c:crossAx val="2113994440"/>
        <c:crosses val="autoZero"/>
        <c:auto val="1"/>
        <c:lblAlgn val="ctr"/>
        <c:lblOffset val="100"/>
        <c:noMultiLvlLbl val="0"/>
      </c:catAx>
      <c:valAx>
        <c:axId val="2113994440"/>
        <c:scaling>
          <c:orientation val="minMax"/>
          <c:max val="18"/>
          <c:min val="0"/>
        </c:scaling>
        <c:delete val="0"/>
        <c:axPos val="l"/>
        <c:majorGridlines>
          <c:spPr>
            <a:ln w="6350" cap="flat" cmpd="sng" algn="ctr">
              <a:solidFill>
                <a:srgbClr val="E6E1D7"/>
              </a:solidFill>
              <a:round/>
            </a:ln>
          </c:spPr>
        </c:majorGridlines>
        <c:numFmt formatCode="0" sourceLinked="0"/>
        <c:majorTickMark val="none"/>
        <c:minorTickMark val="none"/>
        <c:tickLblPos val="nextTo"/>
        <c:spPr>
          <a:ln w="9525" cap="flat" cmpd="sng" algn="ctr">
            <a:solidFill>
              <a:srgbClr val="5B6670"/>
            </a:solidFill>
            <a:round/>
          </a:ln>
        </c:spPr>
        <c:txPr>
          <a:bodyPr/>
          <a:lstStyle/>
          <a:p>
            <a:pPr>
              <a:defRPr lang="ru-RU" sz="1350">
                <a:solidFill>
                  <a:srgbClr val="5B6670"/>
                </a:solidFill>
                <a:latin typeface="Arial"/>
                <a:ea typeface="Microsoft YaHei"/>
                <a:cs typeface="Arial"/>
              </a:defRPr>
            </a:pPr>
            <a:endParaRPr lang="ru-RU"/>
          </a:p>
        </c:txPr>
        <c:crossAx val="2068027336"/>
        <c:crosses val="autoZero"/>
        <c:crossBetween val="between"/>
        <c:majorUnit val="3"/>
      </c:valAx>
      <c:spPr>
        <a:noFill/>
        <a:ln>
          <a:noFill/>
        </a:ln>
      </c:spPr>
    </c:plotArea>
    <c:plotVisOnly val="1"/>
    <c:dispBlanksAs val="gap"/>
  </c:chart>
  <c:spPr>
    <a:noFill/>
    <a:ln>
      <a:noFill/>
    </a:ln>
  </c:spPr>
  <c:txPr>
    <a:bodyPr/>
    <a:lstStyle/>
    <a:p>
      <a:pPr>
        <a:defRPr lang="ru-RU" sz="1350">
          <a:solidFill>
            <a:srgbClr val="5B6670"/>
          </a:solidFill>
          <a:latin typeface="Arial"/>
          <a:ea typeface="Microsoft YaHei"/>
          <a:cs typeface="Arial"/>
        </a:defRPr>
      </a:pPr>
      <a:endParaRPr lang="ru-RU"/>
    </a:p>
  </c:txPr>
  <c:externalData r:id="rId1">
    <c:autoUpdate val="0"/>
  </c:externalData>
</c:chartSpace>
</file>

<file path=ppt/charts/chart1201.xml><?xml version="1.0" encoding="utf-8"?>
<c:chartSpace xmlns:c="http://schemas.openxmlformats.org/drawingml/2006/chart" xmlns:a="http://schemas.openxmlformats.org/drawingml/2006/main" xmlns:r="http://schemas.openxmlformats.org/officeDocument/2006/relationships">
  <c:date1904 val="0"/>
  <c:lang val="ru-RU"/>
  <c:chart>
    <c:autoTitleDeleted val="1"/>
    <c:plotArea>
      <c:layout>
        <c:manualLayout>
          <c:layoutTarget val="inner"/>
          <c:xMode val="edge"/>
          <c:yMode val="edge"/>
          <c:wMode val="factor"/>
          <c:hMode val="factor"/>
          <c:x val="0.068661971831"/>
          <c:y val="0.06"/>
          <c:w val="0.906690140845"/>
          <c:h val="0.85"/>
        </c:manualLayout>
      </c:layout>
      <c:barChart>
        <c:barDir val="col"/>
        <c:grouping val="clustered"/>
        <c:varyColors val="1"/>
        <c:ser>
          <c:idx val="0"/>
          <c:order val="0"/>
          <c:tx>
            <c:strRef>
              <c:f>Sheet1!$B$1</c:f>
              <c:strCache>
                <c:ptCount val="1"/>
                <c:pt idx="0">
                  <c:v>Сальдо международной миграции, тыс. человек</c:v>
                </c:pt>
              </c:strCache>
            </c:strRef>
          </c:tx>
          <c:spPr>
            <a:solidFill>
              <a:schemeClr val="accent3"/>
            </a:solidFill>
            <a:ln>
              <a:solidFill>
                <a:schemeClr val="accent3"/>
              </a:solidFill>
            </a:ln>
          </c:spPr>
          <c:invertIfNegative val="0"/>
          <c:dPt>
            <c:idx val="0"/>
            <c:invertIfNegative val="0"/>
            <c:spPr>
              <a:solidFill>
                <a:schemeClr val="accent3"/>
              </a:solidFill>
              <a:ln>
                <a:solidFill>
                  <a:schemeClr val="accent3"/>
                </a:solidFill>
              </a:ln>
            </c:spPr>
          </c:dPt>
          <c:dPt>
            <c:idx val="1"/>
            <c:invertIfNegative val="0"/>
            <c:spPr>
              <a:solidFill>
                <a:schemeClr val="accent2"/>
              </a:solidFill>
              <a:ln>
                <a:solidFill>
                  <a:schemeClr val="accent2"/>
                </a:solidFill>
              </a:ln>
            </c:spPr>
          </c:dPt>
          <c:dPt>
            <c:idx val="2"/>
            <c:invertIfNegative val="0"/>
            <c:spPr>
              <a:solidFill>
                <a:schemeClr val="accent3"/>
              </a:solidFill>
              <a:ln>
                <a:solidFill>
                  <a:schemeClr val="accent3"/>
                </a:solidFill>
              </a:ln>
            </c:spPr>
          </c:dPt>
          <c:dPt>
            <c:idx val="3"/>
            <c:invertIfNegative val="0"/>
            <c:spPr>
              <a:solidFill>
                <a:schemeClr val="accent3"/>
              </a:solidFill>
              <a:ln>
                <a:solidFill>
                  <a:schemeClr val="accent3"/>
                </a:solidFill>
              </a:ln>
            </c:spPr>
          </c:dPt>
          <c:dPt>
            <c:idx val="4"/>
            <c:invertIfNegative val="0"/>
            <c:spPr>
              <a:solidFill>
                <a:schemeClr val="accent3"/>
              </a:solidFill>
              <a:ln>
                <a:solidFill>
                  <a:schemeClr val="accent3"/>
                </a:solidFill>
              </a:ln>
            </c:spPr>
          </c:dPt>
          <c:dPt>
            <c:idx val="5"/>
            <c:invertIfNegative val="0"/>
            <c:spPr>
              <a:solidFill>
                <a:schemeClr val="accent3"/>
              </a:solidFill>
              <a:ln>
                <a:solidFill>
                  <a:schemeClr val="accent3"/>
                </a:solidFill>
              </a:ln>
            </c:spPr>
          </c:dPt>
          <c:dPt>
            <c:idx val="6"/>
            <c:invertIfNegative val="0"/>
            <c:spPr>
              <a:solidFill>
                <a:schemeClr val="accent3"/>
              </a:solidFill>
              <a:ln>
                <a:solidFill>
                  <a:schemeClr val="accent3"/>
                </a:solidFill>
              </a:ln>
            </c:spPr>
          </c:dPt>
          <c:dPt>
            <c:idx val="7"/>
            <c:invertIfNegative val="0"/>
            <c:spPr>
              <a:solidFill>
                <a:schemeClr val="accent3"/>
              </a:solidFill>
              <a:ln>
                <a:solidFill>
                  <a:schemeClr val="accent3"/>
                </a:solidFill>
              </a:ln>
            </c:spPr>
          </c:dPt>
          <c:dPt>
            <c:idx val="8"/>
            <c:invertIfNegative val="0"/>
            <c:spPr>
              <a:solidFill>
                <a:schemeClr val="accent3"/>
              </a:solidFill>
              <a:ln>
                <a:solidFill>
                  <a:schemeClr val="accent3"/>
                </a:solidFill>
              </a:ln>
            </c:spPr>
          </c:dPt>
          <c:dPt>
            <c:idx val="9"/>
            <c:invertIfNegative val="0"/>
            <c:spPr>
              <a:solidFill>
                <a:schemeClr val="accent3"/>
              </a:solidFill>
              <a:ln>
                <a:solidFill>
                  <a:schemeClr val="accent3"/>
                </a:solidFill>
              </a:ln>
            </c:spPr>
          </c:dPt>
          <c:dPt>
            <c:idx val="10"/>
            <c:invertIfNegative val="0"/>
            <c:spPr>
              <a:solidFill>
                <a:schemeClr val="accent3"/>
              </a:solidFill>
              <a:ln>
                <a:solidFill>
                  <a:schemeClr val="accent3"/>
                </a:solidFill>
              </a:ln>
            </c:spPr>
          </c:dPt>
          <c:dPt>
            <c:idx val="11"/>
            <c:invertIfNegative val="0"/>
            <c:spPr>
              <a:solidFill>
                <a:schemeClr val="accent3"/>
              </a:solidFill>
              <a:ln>
                <a:solidFill>
                  <a:schemeClr val="accent3"/>
                </a:solidFill>
              </a:ln>
            </c:spPr>
          </c:dPt>
          <c:dPt>
            <c:idx val="12"/>
            <c:invertIfNegative val="0"/>
            <c:spPr>
              <a:solidFill>
                <a:schemeClr val="accent3"/>
              </a:solidFill>
              <a:ln>
                <a:solidFill>
                  <a:schemeClr val="accent3"/>
                </a:solidFill>
              </a:ln>
            </c:spPr>
          </c:dPt>
          <c:dPt>
            <c:idx val="13"/>
            <c:invertIfNegative val="0"/>
            <c:spPr>
              <a:solidFill>
                <a:schemeClr val="accent3"/>
              </a:solidFill>
              <a:ln>
                <a:solidFill>
                  <a:schemeClr val="accent3"/>
                </a:solidFill>
              </a:ln>
            </c:spPr>
          </c:dPt>
          <c:dPt>
            <c:idx val="14"/>
            <c:invertIfNegative val="0"/>
            <c:spPr>
              <a:solidFill>
                <a:schemeClr val="accent3"/>
              </a:solidFill>
              <a:ln>
                <a:solidFill>
                  <a:schemeClr val="accent3"/>
                </a:solidFill>
              </a:ln>
            </c:spPr>
          </c:dPt>
          <c:dPt>
            <c:idx val="15"/>
            <c:invertIfNegative val="0"/>
            <c:spPr>
              <a:solidFill>
                <a:schemeClr val="accent3"/>
              </a:solidFill>
              <a:ln>
                <a:solidFill>
                  <a:schemeClr val="accent3"/>
                </a:solidFill>
              </a:ln>
            </c:spPr>
          </c:dPt>
          <c:dPt>
            <c:idx val="16"/>
            <c:invertIfNegative val="0"/>
            <c:spPr>
              <a:solidFill>
                <a:schemeClr val="accent3"/>
              </a:solidFill>
              <a:ln>
                <a:solidFill>
                  <a:schemeClr val="accent3"/>
                </a:solidFill>
              </a:ln>
            </c:spPr>
          </c:dPt>
          <c:dPt>
            <c:idx val="17"/>
            <c:invertIfNegative val="0"/>
            <c:spPr>
              <a:solidFill>
                <a:schemeClr val="accent3"/>
              </a:solidFill>
              <a:ln>
                <a:solidFill>
                  <a:schemeClr val="accent3"/>
                </a:solidFill>
              </a:ln>
            </c:spPr>
          </c:dPt>
          <c:dPt>
            <c:idx val="18"/>
            <c:invertIfNegative val="0"/>
            <c:spPr>
              <a:solidFill>
                <a:schemeClr val="accent3"/>
              </a:solidFill>
              <a:ln>
                <a:solidFill>
                  <a:schemeClr val="accent3"/>
                </a:solidFill>
              </a:ln>
            </c:spPr>
          </c:dPt>
          <c:dPt>
            <c:idx val="19"/>
            <c:invertIfNegative val="0"/>
            <c:spPr>
              <a:solidFill>
                <a:schemeClr val="accent3"/>
              </a:solidFill>
              <a:ln>
                <a:solidFill>
                  <a:schemeClr val="accent3"/>
                </a:solidFill>
              </a:ln>
            </c:spPr>
          </c:dPt>
          <c:dPt>
            <c:idx val="20"/>
            <c:invertIfNegative val="0"/>
            <c:spPr>
              <a:solidFill>
                <a:schemeClr val="accent3"/>
              </a:solidFill>
              <a:ln>
                <a:solidFill>
                  <a:schemeClr val="accent3"/>
                </a:solidFill>
              </a:ln>
            </c:spPr>
          </c:dPt>
          <c:dPt>
            <c:idx val="21"/>
            <c:invertIfNegative val="0"/>
            <c:spPr>
              <a:solidFill>
                <a:schemeClr val="accent3"/>
              </a:solidFill>
              <a:ln>
                <a:solidFill>
                  <a:schemeClr val="accent3"/>
                </a:solidFill>
              </a:ln>
            </c:spPr>
          </c:dPt>
          <c:dPt>
            <c:idx val="22"/>
            <c:invertIfNegative val="0"/>
            <c:spPr>
              <a:solidFill>
                <a:schemeClr val="accent3"/>
              </a:solidFill>
              <a:ln>
                <a:solidFill>
                  <a:schemeClr val="accent3"/>
                </a:solidFill>
              </a:ln>
            </c:spPr>
          </c:dPt>
          <c:dPt>
            <c:idx val="23"/>
            <c:invertIfNegative val="0"/>
            <c:spPr>
              <a:solidFill>
                <a:schemeClr val="accent3"/>
              </a:solidFill>
              <a:ln>
                <a:solidFill>
                  <a:schemeClr val="accent3"/>
                </a:solidFill>
              </a:ln>
            </c:spPr>
          </c:dPt>
          <c:dPt>
            <c:idx val="24"/>
            <c:invertIfNegative val="0"/>
            <c:spPr>
              <a:solidFill>
                <a:schemeClr val="accent3"/>
              </a:solidFill>
              <a:ln>
                <a:solidFill>
                  <a:schemeClr val="accent3"/>
                </a:solidFill>
              </a:ln>
            </c:spPr>
          </c:dPt>
          <c:dPt>
            <c:idx val="25"/>
            <c:invertIfNegative val="0"/>
            <c:spPr>
              <a:solidFill>
                <a:schemeClr val="accent3"/>
              </a:solidFill>
              <a:ln>
                <a:solidFill>
                  <a:schemeClr val="accent3"/>
                </a:solidFill>
              </a:ln>
            </c:spPr>
          </c:dPt>
          <c:dPt>
            <c:idx val="26"/>
            <c:invertIfNegative val="0"/>
            <c:spPr>
              <a:solidFill>
                <a:schemeClr val="accent3"/>
              </a:solidFill>
              <a:ln>
                <a:solidFill>
                  <a:schemeClr val="accent3"/>
                </a:solidFill>
              </a:ln>
            </c:spPr>
          </c:dPt>
          <c:dPt>
            <c:idx val="27"/>
            <c:invertIfNegative val="0"/>
            <c:spPr>
              <a:solidFill>
                <a:schemeClr val="accent3"/>
              </a:solidFill>
              <a:ln>
                <a:solidFill>
                  <a:schemeClr val="accent3"/>
                </a:solidFill>
              </a:ln>
            </c:spPr>
          </c:dPt>
          <c:dPt>
            <c:idx val="28"/>
            <c:invertIfNegative val="0"/>
            <c:spPr>
              <a:solidFill>
                <a:schemeClr val="accent3"/>
              </a:solidFill>
              <a:ln>
                <a:solidFill>
                  <a:schemeClr val="accent3"/>
                </a:solidFill>
              </a:ln>
            </c:spPr>
          </c:dPt>
          <c:dPt>
            <c:idx val="29"/>
            <c:invertIfNegative val="0"/>
            <c:spPr>
              <a:solidFill>
                <a:schemeClr val="accent3"/>
              </a:solidFill>
              <a:ln>
                <a:solidFill>
                  <a:schemeClr val="accent3"/>
                </a:solidFill>
              </a:ln>
            </c:spPr>
          </c:dPt>
          <c:dPt>
            <c:idx val="30"/>
            <c:invertIfNegative val="0"/>
            <c:spPr>
              <a:solidFill>
                <a:schemeClr val="accent3"/>
              </a:solidFill>
              <a:ln>
                <a:solidFill>
                  <a:schemeClr val="accent3"/>
                </a:solidFill>
              </a:ln>
            </c:spPr>
          </c:dPt>
          <c:dPt>
            <c:idx val="31"/>
            <c:invertIfNegative val="0"/>
            <c:spPr>
              <a:solidFill>
                <a:schemeClr val="accent3"/>
              </a:solidFill>
              <a:ln>
                <a:solidFill>
                  <a:schemeClr val="accent3"/>
                </a:solidFill>
              </a:ln>
            </c:spPr>
          </c:dPt>
          <c:dPt>
            <c:idx val="32"/>
            <c:invertIfNegative val="0"/>
            <c:spPr>
              <a:solidFill>
                <a:schemeClr val="accent3"/>
              </a:solidFill>
              <a:ln>
                <a:solidFill>
                  <a:schemeClr val="accent3"/>
                </a:solidFill>
              </a:ln>
            </c:spPr>
          </c:dPt>
          <c:dPt>
            <c:idx val="33"/>
            <c:invertIfNegative val="0"/>
            <c:spPr>
              <a:solidFill>
                <a:schemeClr val="accent2"/>
              </a:solidFill>
              <a:ln>
                <a:solidFill>
                  <a:schemeClr val="accent2"/>
                </a:solidFill>
              </a:ln>
            </c:spPr>
          </c:dPt>
          <c:cat>
            <c:strRef>
              <c:f>Sheet1!$A$2:$A$35</c:f>
              <c:strCache>
                <c:ptCount val="34"/>
                <c:pt idx="0">
                  <c:v>1991</c:v>
                </c:pt>
                <c:pt idx="1">
                  <c:v>1992</c:v>
                </c:pt>
                <c:pt idx="2">
                  <c:v>1993</c:v>
                </c:pt>
                <c:pt idx="3">
                  <c:v>1994</c:v>
                </c:pt>
                <c:pt idx="4">
                  <c:v>1995</c:v>
                </c:pt>
                <c:pt idx="5">
                  <c:v>1996</c:v>
                </c:pt>
                <c:pt idx="6">
                  <c:v>1997</c:v>
                </c:pt>
                <c:pt idx="7">
                  <c:v>1998</c:v>
                </c:pt>
                <c:pt idx="8">
                  <c:v>1999</c:v>
                </c:pt>
                <c:pt idx="9">
                  <c:v>2000</c:v>
                </c:pt>
                <c:pt idx="10">
                  <c:v>2001</c:v>
                </c:pt>
                <c:pt idx="11">
                  <c:v>2002</c:v>
                </c:pt>
                <c:pt idx="12">
                  <c:v>2003</c:v>
                </c:pt>
                <c:pt idx="13">
                  <c:v>2004</c:v>
                </c:pt>
                <c:pt idx="14">
                  <c:v>2005</c:v>
                </c:pt>
                <c:pt idx="15">
                  <c:v>2006</c:v>
                </c:pt>
                <c:pt idx="16">
                  <c:v>2007</c:v>
                </c:pt>
                <c:pt idx="17">
                  <c:v>2008</c:v>
                </c:pt>
                <c:pt idx="18">
                  <c:v>2009</c:v>
                </c:pt>
                <c:pt idx="19">
                  <c:v>2010</c:v>
                </c:pt>
                <c:pt idx="20">
                  <c:v>2011</c:v>
                </c:pt>
                <c:pt idx="21">
                  <c:v>2012</c:v>
                </c:pt>
                <c:pt idx="22">
                  <c:v>2013</c:v>
                </c:pt>
                <c:pt idx="23">
                  <c:v>2014</c:v>
                </c:pt>
                <c:pt idx="24">
                  <c:v>2015</c:v>
                </c:pt>
                <c:pt idx="25">
                  <c:v>2016</c:v>
                </c:pt>
                <c:pt idx="26">
                  <c:v>2017</c:v>
                </c:pt>
                <c:pt idx="27">
                  <c:v>2018</c:v>
                </c:pt>
                <c:pt idx="28">
                  <c:v>2019</c:v>
                </c:pt>
                <c:pt idx="29">
                  <c:v>2020</c:v>
                </c:pt>
                <c:pt idx="30">
                  <c:v>2021</c:v>
                </c:pt>
                <c:pt idx="31">
                  <c:v>2022</c:v>
                </c:pt>
                <c:pt idx="32">
                  <c:v>2023</c:v>
                </c:pt>
                <c:pt idx="33">
                  <c:v>2024</c:v>
                </c:pt>
              </c:strCache>
            </c:strRef>
          </c:cat>
          <c:val>
            <c:numRef>
              <c:f>Sheet1!$B$2:$B$35</c:f>
              <c:numCache>
                <c:formatCode>General</c:formatCode>
                <c:ptCount val="34"/>
                <c:pt idx="0">
                  <c:v>126</c:v>
                </c:pt>
                <c:pt idx="1">
                  <c:v>-1130</c:v>
                </c:pt>
                <c:pt idx="2">
                  <c:v>507</c:v>
                </c:pt>
                <c:pt idx="3">
                  <c:v>1271</c:v>
                </c:pt>
                <c:pt idx="4">
                  <c:v>724</c:v>
                </c:pt>
                <c:pt idx="5">
                  <c:v>587</c:v>
                </c:pt>
                <c:pt idx="6">
                  <c:v>541</c:v>
                </c:pt>
                <c:pt idx="7">
                  <c:v>528</c:v>
                </c:pt>
                <c:pt idx="8">
                  <c:v>375</c:v>
                </c:pt>
                <c:pt idx="9">
                  <c:v>550</c:v>
                </c:pt>
                <c:pt idx="10">
                  <c:v>260</c:v>
                </c:pt>
                <c:pt idx="11">
                  <c:v>1359</c:v>
                </c:pt>
                <c:pt idx="12">
                  <c:v>257</c:v>
                </c:pt>
                <c:pt idx="13">
                  <c:v>262</c:v>
                </c:pt>
                <c:pt idx="14">
                  <c:v>264</c:v>
                </c:pt>
                <c:pt idx="15">
                  <c:v>308</c:v>
                </c:pt>
                <c:pt idx="16">
                  <c:v>366</c:v>
                </c:pt>
                <c:pt idx="17">
                  <c:v>361</c:v>
                </c:pt>
                <c:pt idx="18">
                  <c:v>350</c:v>
                </c:pt>
                <c:pt idx="19">
                  <c:v>308</c:v>
                </c:pt>
                <c:pt idx="20">
                  <c:v>309</c:v>
                </c:pt>
                <c:pt idx="21">
                  <c:v>286</c:v>
                </c:pt>
                <c:pt idx="22">
                  <c:v>290</c:v>
                </c:pt>
                <c:pt idx="23">
                  <c:v>265</c:v>
                </c:pt>
                <c:pt idx="24">
                  <c:v>385</c:v>
                </c:pt>
                <c:pt idx="25">
                  <c:v>448</c:v>
                </c:pt>
                <c:pt idx="26">
                  <c:v>397</c:v>
                </c:pt>
                <c:pt idx="27">
                  <c:v>340</c:v>
                </c:pt>
                <c:pt idx="28">
                  <c:v>336</c:v>
                </c:pt>
                <c:pt idx="29">
                  <c:v>334</c:v>
                </c:pt>
                <c:pt idx="30">
                  <c:v>314</c:v>
                </c:pt>
                <c:pt idx="31">
                  <c:v>766</c:v>
                </c:pt>
                <c:pt idx="32">
                  <c:v>28</c:v>
                </c:pt>
                <c:pt idx="33">
                  <c:v>-178</c:v>
                </c:pt>
              </c:numCache>
            </c:numRef>
          </c:val>
        </c:ser>
        <c:gapWidth val="51"/>
        <c:axId val="2068027336"/>
        <c:axId val="2113994440"/>
      </c:barChart>
      <c:catAx>
        <c:axId val="2068027336"/>
        <c:scaling>
          <c:orientation val="minMax"/>
        </c:scaling>
        <c:delete val="0"/>
        <c:axPos val="b"/>
        <c:majorTickMark val="none"/>
        <c:minorTickMark val="none"/>
        <c:tickLblPos val="low"/>
        <c:spPr>
          <a:ln w="9525" cap="flat" cmpd="sng" algn="ctr">
            <a:solidFill>
              <a:srgbClr val="5B6670"/>
            </a:solidFill>
            <a:round/>
          </a:ln>
        </c:spPr>
        <c:txPr>
          <a:bodyPr/>
          <a:lstStyle/>
          <a:p>
            <a:pPr>
              <a:defRPr lang="ru-RU" sz="1350">
                <a:solidFill>
                  <a:srgbClr val="5B6670"/>
                </a:solidFill>
                <a:latin typeface="Arial"/>
                <a:ea typeface="Microsoft YaHei"/>
                <a:cs typeface="Arial"/>
              </a:defRPr>
            </a:pPr>
            <a:endParaRPr lang="ru-RU"/>
          </a:p>
        </c:txPr>
        <c:crossAx val="2113994440"/>
        <c:crosses val="autoZero"/>
        <c:auto val="1"/>
        <c:lblAlgn val="ctr"/>
        <c:lblOffset val="100"/>
        <c:noMultiLvlLbl val="0"/>
      </c:catAx>
      <c:valAx>
        <c:axId val="2113994440"/>
        <c:scaling>
          <c:orientation val="minMax"/>
          <c:max val="1400"/>
          <c:min val="-1200"/>
        </c:scaling>
        <c:delete val="0"/>
        <c:axPos val="l"/>
        <c:majorGridlines>
          <c:spPr>
            <a:ln w="6350" cap="flat" cmpd="sng" algn="ctr">
              <a:solidFill>
                <a:srgbClr val="E6E1D7"/>
              </a:solidFill>
              <a:round/>
            </a:ln>
          </c:spPr>
        </c:majorGridlines>
        <c:numFmt formatCode="0" sourceLinked="0"/>
        <c:majorTickMark val="none"/>
        <c:minorTickMark val="none"/>
        <c:tickLblPos val="nextTo"/>
        <c:spPr>
          <a:ln w="9525" cap="flat" cmpd="sng" algn="ctr">
            <a:solidFill>
              <a:srgbClr val="5B6670"/>
            </a:solidFill>
            <a:round/>
          </a:ln>
        </c:spPr>
        <c:txPr>
          <a:bodyPr/>
          <a:lstStyle/>
          <a:p>
            <a:pPr>
              <a:defRPr lang="ru-RU" sz="1350">
                <a:solidFill>
                  <a:srgbClr val="5B6670"/>
                </a:solidFill>
                <a:latin typeface="Arial"/>
                <a:ea typeface="Microsoft YaHei"/>
                <a:cs typeface="Arial"/>
              </a:defRPr>
            </a:pPr>
            <a:endParaRPr lang="ru-RU"/>
          </a:p>
        </c:txPr>
        <c:crossAx val="2068027336"/>
        <c:crosses val="autoZero"/>
        <c:crossBetween val="between"/>
        <c:majorUnit val="400"/>
      </c:valAx>
      <c:spPr>
        <a:noFill/>
        <a:ln>
          <a:noFill/>
        </a:ln>
      </c:spPr>
    </c:plotArea>
    <c:plotVisOnly val="1"/>
    <c:dispBlanksAs val="gap"/>
  </c:chart>
  <c:spPr>
    <a:noFill/>
    <a:ln>
      <a:noFill/>
    </a:ln>
  </c:spPr>
  <c:txPr>
    <a:bodyPr/>
    <a:lstStyle/>
    <a:p>
      <a:pPr>
        <a:defRPr lang="ru-RU" sz="1350">
          <a:solidFill>
            <a:srgbClr val="5B6670"/>
          </a:solidFill>
          <a:latin typeface="Arial"/>
          <a:ea typeface="Microsoft YaHei"/>
          <a:cs typeface="Arial"/>
        </a:defRPr>
      </a:pPr>
      <a:endParaRPr lang="ru-RU"/>
    </a:p>
  </c:txPr>
  <c:externalData r:id="rId1">
    <c:autoUpdate val="0"/>
  </c:externalData>
</c:chartSpace>
</file>

<file path=ppt/charts/chart1401.xml><?xml version="1.0" encoding="utf-8"?>
<c:chartSpace xmlns:c="http://schemas.openxmlformats.org/drawingml/2006/chart" xmlns:a="http://schemas.openxmlformats.org/drawingml/2006/main" xmlns:r="http://schemas.openxmlformats.org/officeDocument/2006/relationships">
  <c:date1904 val="0"/>
  <c:lang val="ru-RU"/>
  <c:chart>
    <c:autoTitleDeleted val="1"/>
    <c:plotArea>
      <c:layout>
        <c:manualLayout>
          <c:layoutTarget val="inner"/>
          <c:xMode val="edge"/>
          <c:yMode val="edge"/>
          <c:wMode val="factor"/>
          <c:hMode val="factor"/>
          <c:x val="0.068661971831"/>
          <c:y val="0.06"/>
          <c:w val="0.906690140845"/>
          <c:h val="0.85"/>
        </c:manualLayout>
      </c:layout>
      <c:barChart>
        <c:barDir val="col"/>
        <c:grouping val="clustered"/>
        <c:varyColors val="0"/>
        <c:ser>
          <c:idx val="0"/>
          <c:order val="0"/>
          <c:tx>
            <c:strRef>
              <c:f>Sheet1!$B$1</c:f>
              <c:strCache>
                <c:ptCount val="1"/>
                <c:pt idx="0">
                  <c:v>1991</c:v>
                </c:pt>
              </c:strCache>
            </c:strRef>
          </c:tx>
          <c:spPr>
            <a:solidFill>
              <a:srgbClr val="5B6670"/>
            </a:solidFill>
            <a:ln>
              <a:solidFill>
                <a:srgbClr val="5B6670"/>
              </a:solidFill>
            </a:ln>
          </c:spPr>
          <c:invertIfNegative val="0"/>
          <c:cat>
            <c:strRef>
              <c:f>Sheet1!$A$2:$A$6</c:f>
              <c:strCache>
                <c:ptCount val="5"/>
                <c:pt idx="0">
                  <c:v>Россия</c:v>
                </c:pt>
                <c:pt idx="1">
                  <c:v>Германия</c:v>
                </c:pt>
                <c:pt idx="2">
                  <c:v>Япония</c:v>
                </c:pt>
                <c:pt idx="3">
                  <c:v>Китай</c:v>
                </c:pt>
                <c:pt idx="4">
                  <c:v>США</c:v>
                </c:pt>
              </c:strCache>
            </c:strRef>
          </c:cat>
          <c:val>
            <c:numRef>
              <c:f>Sheet1!$B$2:$B$6</c:f>
              <c:numCache>
                <c:formatCode>General</c:formatCode>
                <c:ptCount val="5"/>
                <c:pt idx="0">
                  <c:v>68.5</c:v>
                </c:pt>
                <c:pt idx="1">
                  <c:v>75.3</c:v>
                </c:pt>
                <c:pt idx="2">
                  <c:v>79</c:v>
                </c:pt>
                <c:pt idx="3">
                  <c:v>68.6</c:v>
                </c:pt>
                <c:pt idx="4">
                  <c:v>75.4</c:v>
                </c:pt>
              </c:numCache>
            </c:numRef>
          </c:val>
        </c:ser>
        <c:ser>
          <c:idx val="1"/>
          <c:order val="1"/>
          <c:tx>
            <c:strRef>
              <c:f>Sheet1!$C$1</c:f>
              <c:strCache>
                <c:ptCount val="1"/>
                <c:pt idx="0">
                  <c:v>2024</c:v>
                </c:pt>
              </c:strCache>
            </c:strRef>
          </c:tx>
          <c:spPr>
            <a:solidFill>
              <a:schemeClr val="accent3"/>
            </a:solidFill>
            <a:ln>
              <a:solidFill>
                <a:schemeClr val="accent3"/>
              </a:solidFill>
            </a:ln>
          </c:spPr>
          <c:invertIfNegative val="0"/>
          <c:cat>
            <c:strRef>
              <c:f>Sheet1!$A$2:$A$6</c:f>
              <c:strCache>
                <c:ptCount val="5"/>
                <c:pt idx="0">
                  <c:v>Россия</c:v>
                </c:pt>
                <c:pt idx="1">
                  <c:v>Германия</c:v>
                </c:pt>
                <c:pt idx="2">
                  <c:v>Япония</c:v>
                </c:pt>
                <c:pt idx="3">
                  <c:v>Китай</c:v>
                </c:pt>
                <c:pt idx="4">
                  <c:v>США</c:v>
                </c:pt>
              </c:strCache>
            </c:strRef>
          </c:cat>
          <c:val>
            <c:numRef>
              <c:f>Sheet1!$C$2:$C$6</c:f>
              <c:numCache>
                <c:formatCode>General</c:formatCode>
                <c:ptCount val="5"/>
                <c:pt idx="0">
                  <c:v>73.4</c:v>
                </c:pt>
                <c:pt idx="1">
                  <c:v>80.8</c:v>
                </c:pt>
                <c:pt idx="2">
                  <c:v>84</c:v>
                </c:pt>
                <c:pt idx="3">
                  <c:v>78</c:v>
                </c:pt>
                <c:pt idx="4">
                  <c:v>78.9</c:v>
                </c:pt>
              </c:numCache>
            </c:numRef>
          </c:val>
        </c:ser>
        <c:gapWidth val="75"/>
        <c:overlap val="-11"/>
        <c:axId val="2068027336"/>
        <c:axId val="2113994440"/>
      </c:barChart>
      <c:catAx>
        <c:axId val="2068027336"/>
        <c:scaling>
          <c:orientation val="minMax"/>
        </c:scaling>
        <c:delete val="0"/>
        <c:axPos val="b"/>
        <c:majorTickMark val="none"/>
        <c:minorTickMark val="none"/>
        <c:tickLblPos val="nextTo"/>
        <c:spPr>
          <a:ln w="9525" cap="flat" cmpd="sng" algn="ctr">
            <a:solidFill>
              <a:srgbClr val="5B6670"/>
            </a:solidFill>
            <a:round/>
          </a:ln>
        </c:spPr>
        <c:txPr>
          <a:bodyPr/>
          <a:lstStyle/>
          <a:p>
            <a:pPr>
              <a:defRPr lang="ru-RU" sz="1350">
                <a:solidFill>
                  <a:srgbClr val="5B6670"/>
                </a:solidFill>
                <a:latin typeface="Arial"/>
                <a:ea typeface="Microsoft YaHei"/>
                <a:cs typeface="Arial"/>
              </a:defRPr>
            </a:pPr>
            <a:endParaRPr lang="ru-RU"/>
          </a:p>
        </c:txPr>
        <c:crossAx val="2113994440"/>
        <c:crosses val="autoZero"/>
        <c:auto val="1"/>
        <c:lblAlgn val="ctr"/>
        <c:lblOffset val="100"/>
        <c:noMultiLvlLbl val="0"/>
      </c:catAx>
      <c:valAx>
        <c:axId val="2113994440"/>
        <c:scaling>
          <c:orientation val="minMax"/>
          <c:max val="90"/>
          <c:min val="60"/>
        </c:scaling>
        <c:delete val="0"/>
        <c:axPos val="l"/>
        <c:majorGridlines>
          <c:spPr>
            <a:ln w="6350" cap="flat" cmpd="sng" algn="ctr">
              <a:solidFill>
                <a:srgbClr val="E6E1D7"/>
              </a:solidFill>
              <a:round/>
            </a:ln>
          </c:spPr>
        </c:majorGridlines>
        <c:numFmt formatCode="0" sourceLinked="0"/>
        <c:majorTickMark val="none"/>
        <c:minorTickMark val="none"/>
        <c:tickLblPos val="nextTo"/>
        <c:spPr>
          <a:ln w="9525" cap="flat" cmpd="sng" algn="ctr">
            <a:solidFill>
              <a:srgbClr val="5B6670"/>
            </a:solidFill>
            <a:round/>
          </a:ln>
        </c:spPr>
        <c:txPr>
          <a:bodyPr/>
          <a:lstStyle/>
          <a:p>
            <a:pPr>
              <a:defRPr lang="ru-RU" sz="1350">
                <a:solidFill>
                  <a:srgbClr val="5B6670"/>
                </a:solidFill>
                <a:latin typeface="Arial"/>
                <a:ea typeface="Microsoft YaHei"/>
                <a:cs typeface="Arial"/>
              </a:defRPr>
            </a:pPr>
            <a:endParaRPr lang="ru-RU"/>
          </a:p>
        </c:txPr>
        <c:crossAx val="2068027336"/>
        <c:crosses val="autoZero"/>
        <c:crossBetween val="between"/>
        <c:majorUnit val="5"/>
      </c:valAx>
      <c:spPr>
        <a:noFill/>
        <a:ln>
          <a:noFill/>
        </a:ln>
      </c:spPr>
    </c:plotArea>
    <c:legend>
      <c:legendPos val="t"/>
      <c:layout/>
      <c:overlay val="0"/>
      <c:txPr>
        <a:bodyPr/>
        <a:lstStyle/>
        <a:p>
          <a:pPr>
            <a:defRPr lang="ru-RU" sz="1350">
              <a:solidFill>
                <a:srgbClr val="5B6670"/>
              </a:solidFill>
              <a:latin typeface="Arial"/>
              <a:ea typeface="Microsoft YaHei"/>
              <a:cs typeface="Arial"/>
            </a:defRPr>
          </a:pPr>
          <a:endParaRPr lang="ru-RU"/>
        </a:p>
      </c:txPr>
    </c:legend>
    <c:plotVisOnly val="1"/>
    <c:dispBlanksAs val="gap"/>
  </c:chart>
  <c:spPr>
    <a:noFill/>
    <a:ln>
      <a:noFill/>
    </a:ln>
  </c:spPr>
  <c:txPr>
    <a:bodyPr/>
    <a:lstStyle/>
    <a:p>
      <a:pPr>
        <a:defRPr lang="ru-RU" sz="1350">
          <a:solidFill>
            <a:srgbClr val="5B6670"/>
          </a:solidFill>
          <a:latin typeface="Arial"/>
          <a:ea typeface="Microsoft YaHei"/>
          <a:cs typeface="Arial"/>
        </a:defRPr>
      </a:pPr>
      <a:endParaRPr lang="ru-RU"/>
    </a:p>
  </c:tx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ru-RU"/>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ru-RU"/>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ru-RU"/>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ru-RU"/>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ru-RU"/>
          </a:p>
        </p:txBody>
      </p:sp>
    </p:spTree>
  </p:cSld>
  <p:clrMap bg1="lt1" tx1="dk1" bg2="lt2" tx2="dk2" accent1="accent1" accent2="accent2" accent3="accent3" accent4="accent4" accent5="accent5" accent6="accent6" hlink="hlink" folHlink="folHlink"/>
  <p:hf/>
  <p:notesStyle>
    <a:lvl1pPr marL="0" algn="l">
      <a:defRPr sz="1200" lang="ru-RU"/>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ru-RU" dirty="0"/>
              <a:t>Перед вами демографический обзор России за тридцать три года наблюдений — с 1991 по 2024 год, целиком построенный на открытых данных Всемирного банка. Главная цифра вынесена на обложку: минус четыре целых семьдесят две сотых миллиона человек. Это разница между численностью населения в 1991 году — сто сорок восемь миллионов триста девяносто четыре тысячи двести шестнадцать человек — и в 2024 году, когда она составила сто сорок три миллиона шестьсот шестьдесят девять тысяч шестьсот сорок восемь. Обе величины взяты из индикатора SP.POP.TOTL, набор данных обновлён тринадцатого июля 2026 года. За этой одной разностью стоят четыре разных процесса, и дальше мы разберём каждый по отдельности.</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ru-RU" dirty="0"/>
              <a:t>Сначала о том, откуда взяты все цифры, потому что проверяемость здесь важнее выводов. Использованы десять индикаторов из набора World Development Indicators Всемирного банка, страна — Российская Федерация, код RUS. В таблице каждая строка связывает код индикатора, его название, единицу измерения и охват: численность населения в людях, рождаемость и смертность на тысячу человек, суммарный коэффициент рождаемости в рождениях на женщину, продолжительность жизни в годах общая и по полу, городское население и доля старших возрастов в процентах, сальдо миграции в людях. Все ряды непрерывны с 1991 по 2024 год. Правило, которого мы придерживаемся дальше: ни одна цифра не берётся извне этого набора, а всё, что получено арифметикой над этими же строками — естественный прирост, разрыв в продолжительности жизни, изменение за период — прямо помечено словом «расчёт». Для сопоставления в конце привлечены те же индикаторы по Германии, Японии, Китаю и США.</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ru-RU" dirty="0"/>
              <a:t>Теперь посмотрим на саму траекторию численности. Она распадается на четыре отчётливых участка. С 1991 по 1993 год — плато около ста сорока восьми с половиной миллионов. С 1994 по 2008 год — непрерывное снижение, за пятнадцать лет минус пять целых шестьдесят пять сотых миллиона человек, и в 2008 году ряд достигает минимума периода: сто сорок два целых семьдесят четыре сотых миллиона. Затем одиннадцать лет роста до локального максимума 2019 года — сто сорок пять целых сорок пять сотых миллиона. И, наконец, снижение последних четырёх лет до ста сорока трёх целых шестидесяти семи сотых миллиона в 2024 году. Обратите внимание: провал 2008 года — не самая низкая точка по логике, а просто дно первой волны; вторая волна убыли только началась. Источник — индикатор SP.POP.TOTL за 1991–2024 годы.</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ru-RU" dirty="0"/>
              <a:t>Увеличим последние двадцать лет, чтобы увидеть масштаб обеих фаз. Рост с 2008 по 2019 год дал плюс два целых семьдесят одну сотую миллиона человек. Новая убыль с 2019 по 2024 год забрала минус один целый семьдесят восемь сотых миллиона. Ключевое соотношение: одиннадцать лет восстановления покрыли только сорок восемь процентов того падения, которое произошло с 1994 по 2008 год и составило пять целых шестьдесят пять сотых миллиона. То есть даже лучший период роста не вернул страну к уровню начала девяностых. Первый год снижения после одиннадцати лет роста — 2020-й: сто сорок пять целых двадцать пять сотых миллиона против ста сорока пяти целых сорока пяти сотых годом ранее. Все доли и разности здесь — расчёт по тем же строкам индикатора SP.POP.TOTL.</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ru-RU" dirty="0"/>
              <a:t>Чтобы понять, откуда берётся убыль, нужно разложить её на два коэффициента. В 1991 году рождаемость ещё выше смертности: двенадцать целых одна десятая против одиннадцати целых четырёх десятых на тысячу человек. В 1992 году линии меняются местами — десять целых семь десятых против двенадцати целых двух десятых, и именно это расхождение обычно называют «русским крестом». Дальше смертность растёт до максимума девяностых и нулевых — шестнадцать целых четыре десятых в 2003 году, а рождаемость проходит дно в 1999 году на уровне восьми целых трёх десятых. Превышение рождаемости над смертностью возвращается только трижды: в 2013, 2014 и 2015 годах, и очень небольшое. Затем 2021 год даёт пик смертности всего периода — шестнадцать целых семь десятых. К 2024 году мы приходим к восьми целым четырём десятым рождаемости против двенадцати целых четырёх десятых смертности. Важная оговорка: оба коэффициента даны на тысячу человек и не учитывают возрастную структуру населения, поэтому сравнивать их между странами напрямую нельзя. Источники — индикаторы SP.DYN.CBRT.IN и SP.DYN.CDRT.IN.</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ru-RU" dirty="0"/>
              <a:t>Разность этих двух коэффициентов — естественный прирост — показывает цену расхождения в каждом отдельном году. Величина рассчитана нами как рождаемость минус смертность по тем же двум индикаторам. Положительной она была только в четырёх годах из тридцати четырёх: в 1991 году плюс семь десятых, в 2013 и 2014 годах плюс две десятых, в 2015 году плюс три десятых. В 2012 и 2016 годах она равнялась нулю. Все остальные тридцать лет — убыль. Худший год всего периода — 2021-й с минус семью целыми одной десятой на тысячу человек, это глубже, чем провалы двухтысячных: минус шесть целых шесть десятых в 2000 и 2001 годах. Последние три года ряд держится около минус четырёх: минус четыре в 2022 году, минус три целых пять десятых в 2023-м и снова минус четыре в 2024-м. То есть естественная убыль для России — не эпизод, а устойчивый режим.</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ru-RU" dirty="0"/>
              <a:t>Рождаемость на тысячу человек зависит от возрастной структуры, поэтому посмотрим на суммарный коэффициент рождаемости — сколько рождений приходится на одну женщину при сохранении текущих возрастных коэффициентов. В 1991 году он составлял одну целую семьдесят три сотых. К 1999 году упал до одной целой шестнадцати сотых — это минимум всего периода. Затем вырос до одной целой семидесяти восьми сотых в 2015 году, что стало максимумом периода, и снова снизился: одна целая сорок одна сотая в 2023 году и одна целая сорок две сотых в 2024-м. Серая линия выше всего ряда — уровень простого воспроизводства, две целых одна десятая. Обратите внимание, что ряд ни в одном году к этой линии не приблизился: в 2024 году расстояние до неё составляет шестьдесят восемь сотых, и это расчёт. Источник — индикатор SP.DYN.TFRT.IN.</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ru-RU" dirty="0"/>
              <a:t>Вторая половина уравнения — смертность, и здесь продолжительность жизни распадается по полу очень резко. Мужская линия: шестьдесят три целых пять десятых года в 1991 году, провал до пятидесяти семи целых шести десятых в 1994 году и возвращение к шестидесяти восьми целым трём десятым только к 2024 году. То есть мужчинам понадобилось тридцать лет, чтобы отыграть падение первой половины девяностых. Женская линия падала гораздо мягче: семьдесят три целых восемь десятых в 1991 году, минимум семьдесят одна целая две десятых в 1993-м, семьдесят восемь целых девять десятых в 2024-м. Красная пунктирная вертикаль в 1994 году отмечает максимальное расстояние между линиями — четырнадцать целых две десятых года. Разрыв мы считаем сами как женская продолжительность минус мужская, и формула вынесена под график. Оба показателя падали в 2020 и 2021 годах. Источники — индикаторы SP.DYN.LE00.MA.IN и SP.DYN.LE00.FE.IN.</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ru-RU" dirty="0"/>
              <a:t>Остановимся на этом разрыве отдельно, потому что он и есть главная особенность российской смертности. Максимум — четырнадцать целых две десятых года в 1994 году. Четыре опорных значения показывают всю его историю: десять целых три десятых года в 1991-м, максимум в 1994-м, тринадцать целых пять десятых в 2005-м и десять целых шесть десятых в 2024-м. Закономерность простая: разрыв расширялся в те годы, когда падала мужская продолжительность жизни, и сужался, когда она росла — с 2006 по 2019 год. Формально минимум периода приходится на 2021 год и составляет девять целых ноль десятых, но это не улучшение: в том году женская продолжительность жизни упала сильнее мужской. Все четыре значения — расчёт по тем же двум индикаторам.</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ru-RU" dirty="0"/>
              <a:t>Следствие низкой рождаемости и растущей продолжительности жизни — старение. Доля населения шестидесяти пяти лет и старше выросла с десяти целых трёх десятых процента в 1991 году до семнадцати целых двух десятых процента в 2024 году, то есть на шесть целых девять десятых процентного пункта. Ряд по избранным годам показывает, что рост не был ровным: до 2005 года доля поднималась до тринадцати целых семи десятых, затем единственный раз за весь период снизилась — до двенадцати целых шести десятых процента в 2011 году, это выделенный синим столбец. Причина в составе возрастных групп, входивших в этот интервал. С 2012 по 2024 год доля выросла ещё на четыре целых шесть десятых процентного пункта, и последний столбец — рекорд всего ряда. Источник — индикатор SP.POP.65UP.TO.ZS, приросты в процентных пунктах — расчёт.</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ru-RU" dirty="0"/>
              <a:t>А вот показатель, который почти не двигался, и это тоже результат. Доля городского населения в 2024 году — семьдесят пять целых одна десятая процента. В 1991 году она составляла семьдесят три целых семь десятых, а в 1995 году даже опускалась до минимума в семьдесят две целых девять десятых. Итоговое изменение за тридцать три года — плюс одна целая четыре десятых процентного пункта, из них плюс две целых две десятых после 1995 года. Структура расселения, в отличие от численности и возрастного состава, за период практически не изменилась. Но есть важный вывод, который следует из сочетания двух индикаторов: доля города росла на фоне сокращения общей численности, а значит абсолютное число и городских, и сельских жителей снижалось. Это наш расчёт по индикаторам SP.URB.TOTL.IN.ZS и SP.POP.TOTL.</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ru-RU" dirty="0"/>
              <a:t>Теперь последнее слагаемое — миграция, и именно она объясняет, почему население вообще росло с 2009 по 2019 год. Сальдо международной миграции было положительным в тридцати двух годах из тридцати четырёх. Отрицательных всего два: 1992 год с минус одним миллионом ста тридцатью тысячами человек и 2024 год с минус ста семьюдесятью восемью тысячами. Максимумы — плюс один миллион триста пятьдесят девять тысяч в 2002 году и плюс один миллион двести семьдесят одна тысяча в 1994-м. В спокойные годы с 2003 по 2014 уровень держался в узком коридоре от двухсот пятидесяти семи до трёхсот шестидесяти шести тысяч. Последние три года показывают быстрое сжатие: плюс семьсот шестьдесят шесть тысяч в 2022 году, плюс двадцать восемь тысяч в 2023-м и минус сто семьдесят восемь тысяч в 2024-м. Это значит, что в 2024 году естественная убыль минус четыре на тысячу человек больше не компенсировалась миграцией. Источник — индикатор SM.POP.NETM.</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ru-RU" dirty="0"/>
              <a:t>Чтобы понять, насколько российские значения необычны, поставим их в один ряд с четырьмя крупными экономиками за 2024 год. По суммарному коэффициенту рождаемости Россия с одной целой сорока двумя сотыми оказывается выше Германии с одной целой тридцатью шестью сотыми, Японии с одной целой пятнадцатью сотыми и Китая с одной целой одной сотой, и уступает только США с одной целой шестьюдесятью тремя сотыми. Но по ожидаемой продолжительности жизни картина обратная: семьдесят три целых четыре десятых года в России против восьмидесяти целых восьми десятых в Германии, восьмидесяти четырёх в Японии, семидесяти восьми в Китае и семидесяти восьми целых девяти десятых в США — то есть ниже всех четырёх. По доле старших возрастов Россия с семнадцатью целыми двумя десятыми процента близка к США и заметно моложе Германии и Японии. По городскому населению — семьдесят пять целых одна десятая процента, ниже Германии, Японии и США и выше Китая. Все значения за 2024 год из тех же четырёх индикаторов, страны выбраны как крупные экономики с длинными непрерывными рядами.</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ru-RU" dirty="0"/>
              <a:t>Один показатель заслуживает отдельного сравнения — именно по нему разрыв с другими странами не сокращается. За период с 1991 по 2024 год Россия прибавила четыре целых девять десятых года ожидаемой продолжительности жизни. Германия прибавила пять целых пять десятых, Япония — пять ровно, США — три целых пять десятых, а Китай — девять целых четыре десятых года. Самое показательное здесь не прирост, а стартовая точка: Россия и Китай начинали период практически с одного уровня — шестьдесят восемь целых пять десятых и шестьдесят восемь целых шесть десятых года. К 2024 году Китай ушёл вперёд на четыре целых шесть десятых года. Российское значение 2024 года остаётся самым низким из пяти. Все приросты — расчёт по двум значениям индикатора SP.DYN.LE00.IN за 1991 и 2024 годы.</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ru-RU" dirty="0"/>
              <a:t>Соберём четыре вывода, каждый со своим индикатором. Первый: итог тридцати трёх лет — минус четыре целых семьдесят две сотых миллиона человек по индикатору SP.POP.TOTL. Второй: тридцать лет из тридцати четырёх прошли с естественной убылью, худший год — 2021-й с минус семью целыми одной десятой на тысячу человек. Третий: одна целая сорок две сотых рождения на женщину в 2024 году против одной целой семидесяти трёх сотых в 1991-м, и ни в одном году периода показатель не достигал уровня простого воспроизводства. Четвёртый: миграционное сальдо 2024 года минус сто семьдесят восемь тысяч человек — впервые отрицательное с 1992 года. И вывод, который связывает все четыре: численность населения удерживалась миграцией, а не естественным воспроизводством, и в 2024 году оба слагаемых изменения численности отрицательны. Это всё, что можно утверждать по этому набору данных, и ровно столько мы и утверждаем.</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ppt169_russia_demography_ru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ru-RU" smtClean="0"/>
              <a:t>1/27/13</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C1FF6DA9-008F-8B48-92A6-B652298478BF}" type="slidenum">
              <a:rPr lang="ru-RU" smtClean="0"/>
              <a:t>‹#›</a:t>
            </a:fld>
            <a:endParaRPr lang="ru-RU"/>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ppt169_russia_demography_ru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ru-RU" smtClean="0"/>
              <a:t>1/27/13</a:t>
            </a:fld>
            <a:endParaRPr lang="ru-RU"/>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ru-RU" smtClean="0"/>
              <a:t>‹#›</a:t>
            </a:fld>
            <a:endParaRPr lang="ru-RU"/>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0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8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7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6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45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35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2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1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900" kern="1200">
          <a:solidFill>
            <a:schemeClr val="tx1"/>
          </a:solidFill>
          <a:latin typeface="+mn-lt"/>
          <a:ea typeface="+mn-ea"/>
          <a:cs typeface="+mn-cs"/>
        </a:defRPr>
      </a:lvl9pPr>
    </p:bodyStyle>
    <p:otherStyle>
      <a:defPPr>
        <a:defRPr lang="ru-RU"/>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700" kern="1200">
          <a:solidFill>
            <a:schemeClr val="tx1"/>
          </a:solidFill>
          <a:latin typeface="+mn-lt"/>
          <a:ea typeface="+mn-ea"/>
          <a:cs typeface="+mn-cs"/>
        </a:defRPr>
      </a:lvl2pPr>
      <a:lvl3pPr marL="914400" algn="l" defTabSz="457200" rtl="0" eaLnBrk="1" latinLnBrk="0" hangingPunct="1">
        <a:defRPr sz="1600" kern="1200">
          <a:solidFill>
            <a:schemeClr val="tx1"/>
          </a:solidFill>
          <a:latin typeface="+mn-lt"/>
          <a:ea typeface="+mn-ea"/>
          <a:cs typeface="+mn-cs"/>
        </a:defRPr>
      </a:lvl3pPr>
      <a:lvl4pPr marL="1371600" algn="l" defTabSz="457200" rtl="0" eaLnBrk="1" latinLnBrk="0" hangingPunct="1">
        <a:defRPr sz="1450" kern="1200">
          <a:solidFill>
            <a:schemeClr val="tx1"/>
          </a:solidFill>
          <a:latin typeface="+mn-lt"/>
          <a:ea typeface="+mn-ea"/>
          <a:cs typeface="+mn-cs"/>
        </a:defRPr>
      </a:lvl4pPr>
      <a:lvl5pPr marL="1828800" algn="l" defTabSz="457200" rtl="0" eaLnBrk="1" latinLnBrk="0" hangingPunct="1">
        <a:defRPr sz="1350" kern="1200">
          <a:solidFill>
            <a:schemeClr val="tx1"/>
          </a:solidFill>
          <a:latin typeface="+mn-lt"/>
          <a:ea typeface="+mn-ea"/>
          <a:cs typeface="+mn-cs"/>
        </a:defRPr>
      </a:lvl5pPr>
      <a:lvl6pPr marL="2286000" algn="l" defTabSz="457200" rtl="0" eaLnBrk="1" latinLnBrk="0" hangingPunct="1">
        <a:defRPr sz="1250" kern="1200">
          <a:solidFill>
            <a:schemeClr val="tx1"/>
          </a:solidFill>
          <a:latin typeface="+mn-lt"/>
          <a:ea typeface="+mn-ea"/>
          <a:cs typeface="+mn-cs"/>
        </a:defRPr>
      </a:lvl6pPr>
      <a:lvl7pPr marL="2743200" algn="l" defTabSz="457200" rtl="0" eaLnBrk="1" latinLnBrk="0" hangingPunct="1">
        <a:defRPr sz="1100" kern="1200">
          <a:solidFill>
            <a:schemeClr val="tx1"/>
          </a:solidFill>
          <a:latin typeface="+mn-lt"/>
          <a:ea typeface="+mn-ea"/>
          <a:cs typeface="+mn-cs"/>
        </a:defRPr>
      </a:lvl7pPr>
      <a:lvl8pPr marL="3200400" algn="l" defTabSz="457200" rtl="0" eaLnBrk="1" latinLnBrk="0" hangingPunct="1">
        <a:defRPr sz="1000" kern="1200">
          <a:solidFill>
            <a:schemeClr val="tx1"/>
          </a:solidFill>
          <a:latin typeface="+mn-lt"/>
          <a:ea typeface="+mn-ea"/>
          <a:cs typeface="+mn-cs"/>
        </a:defRPr>
      </a:lvl8pPr>
      <a:lvl9pPr marL="3657600" algn="l" defTabSz="457200" rtl="0" eaLnBrk="1" latinLnBrk="0" hangingPunct="1">
        <a:defRPr sz="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6b972c577ac2f17b.jpg"/>
  <Relationship Id="rId3"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chart" Target="../charts/chart301.xml"/>
  <Relationship Id="rId3"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chart" Target="../charts/chart401.xml"/>
  <Relationship Id="rId3"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chart" Target="../charts/chart501.xml"/>
  <Relationship Id="rId3"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chart" Target="../charts/chart601.xml"/>
  <Relationship Id="rId3"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chart" Target="../charts/chart701.xml"/>
  <Relationship Id="rId3"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chart" Target="../charts/chart801.xml"/>
  <Relationship Id="rId3"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chart" Target="../charts/chart1001.xml"/>
  <Relationship Id="rId3"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chart" Target="../charts/chart1201.xml"/>
  <Relationship Id="rId3"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chart" Target="../charts/chart1401.xml"/>
  <Relationship Id="rId3"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5c810bce0b78aa2d.jpg"/>
  <Relationship Id="rId3" Type="http://schemas.openxmlformats.org/officeDocument/2006/relationships/notesSlide" Target="../notesSlides/notesSlide15.xml"/>
</Relationships>
</file>

<file path=ppt/slides/slide1.xml><?xml version="1.0" encoding="utf-8"?>
<p:sld xmlns:a="http://schemas.openxmlformats.org/drawingml/2006/main"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pic>
        <p:nvPicPr>
          <p:cNvPr id="2" name="cover-field"/>
          <p:cNvPicPr>
            <a:picLocks noChangeAspect="1"/>
          </p:cNvPicPr>
          <p:nvPr/>
        </p:nvPicPr>
        <p:blipFill>
          <a:blip r:embed="rId2"/>
          <a:srcRect l="370" t="0" r="371" b="0"/>
          <a:stretch>
            <a:fillRect/>
          </a:stretch>
        </p:blipFill>
        <p:spPr>
          <a:xfrm>
            <a:off x="0" y="0"/>
            <a:ext cx="12192000" cy="6858000"/>
          </a:xfrm>
          <a:prstGeom prst="rect">
            <a:avLst/>
          </a:prstGeom>
        </p:spPr>
      </p:pic>
      <p:sp>
        <p:nvSpPr>
          <p:cNvPr id="3" name="cover-scrim"/>
          <p:cNvSpPr/>
          <p:nvPr/>
        </p:nvSpPr>
        <p:spPr>
          <a:xfrm>
            <a:off x="0" y="0"/>
            <a:ext cx="12192000" cy="6858000"/>
          </a:xfrm>
          <a:prstGeom prst="rect">
            <a:avLst/>
          </a:prstGeom>
          <a:gradFill>
            <a:gsLst>
              <a:gs pos="0">
                <a:schemeClr val="lt1">
                  <a:alpha val="96000"/>
                </a:schemeClr>
              </a:gs>
              <a:gs pos="46000">
                <a:schemeClr val="lt1">
                  <a:alpha val="88000"/>
                </a:schemeClr>
              </a:gs>
              <a:gs pos="72000">
                <a:schemeClr val="lt1">
                  <a:alpha val="32000"/>
                </a:schemeClr>
              </a:gs>
              <a:gs pos="100000">
                <a:schemeClr val="lt1">
                  <a:alpha val="0"/>
                </a:schemeClr>
              </a:gs>
            </a:gsLst>
            <a:lin ang="0" scaled="1"/>
          </a:gradFill>
          <a:ln>
            <a:noFill/>
          </a:ln>
        </p:spPr>
      </p:sp>
      <p:grpSp>
        <p:nvGrpSpPr>
          <p:cNvPr id="8" name="cover-title"/>
          <p:cNvGrpSpPr/>
          <p:nvPr/>
        </p:nvGrpSpPr>
        <p:grpSpPr>
          <a:xfrm>
            <a:off x="819150" y="1664018"/>
            <a:ext cx="6290011" cy="2184844"/>
            <a:chOff x="819150" y="1664018"/>
            <a:chExt cx="6290011" cy="2184844"/>
          </a:xfrm>
        </p:grpSpPr>
        <p:sp>
          <p:nvSpPr>
            <p:cNvPr id="4" name="TextBox 4"/>
            <p:cNvSpPr txBox="1"/>
            <p:nvPr/>
          </p:nvSpPr>
          <p:spPr>
            <a:xfrm>
              <a:off x="831342" y="1664018"/>
              <a:ext cx="5824597" cy="264033"/>
            </a:xfrm>
            <a:prstGeom prst="rect">
              <a:avLst/>
            </a:prstGeom>
            <a:noFill/>
            <a:ln>
              <a:noFill/>
            </a:ln>
          </p:spPr>
          <p:txBody>
            <a:bodyPr wrap="none" lIns="0" tIns="0" rIns="0" bIns="0" anchor="t" anchorCtr="0">
              <a:spAutoFit/>
            </a:bodyPr>
            <a:lstStyle/>
            <a:p>
              <a:pPr algn="l"/>
              <a:r>
                <a:rPr lang="ru-RU" sz="1350" spc="150" dirty="0">
                  <a:solidFill>
                    <a:schemeClr val="accent5"/>
                  </a:solidFill>
                  <a:latin typeface="+mn-lt"/>
                  <a:ea typeface="+mn-ea"/>
                  <a:cs typeface="+mn-cs"/>
                </a:rPr>
                <a:t>ДЕМОГРАФИЧЕСКИЙ ОБЗОР ПО ДАННЫМ ВСЕМИРНОГО БАНКА</a:t>
              </a:r>
            </a:p>
          </p:txBody>
        </p:sp>
        <p:sp>
          <p:nvSpPr>
            <p:cNvPr id="5" name="TextBox 5"/>
            <p:cNvSpPr txBox="1"/>
            <p:nvPr/>
          </p:nvSpPr>
          <p:spPr>
            <a:xfrm>
              <a:off x="819150" y="2141220"/>
              <a:ext cx="6290011" cy="1047750"/>
            </a:xfrm>
            <a:prstGeom prst="rect">
              <a:avLst/>
            </a:prstGeom>
            <a:noFill/>
            <a:ln>
              <a:noFill/>
            </a:ln>
          </p:spPr>
          <p:txBody>
            <a:bodyPr wrap="none" lIns="0" tIns="0" rIns="0" bIns="0" anchor="t" anchorCtr="0">
              <a:spAutoFit/>
            </a:bodyPr>
            <a:lstStyle/>
            <a:p>
              <a:pPr algn="l"/>
              <a:r>
                <a:rPr lang="ru-RU" sz="5400" b="1" dirty="0">
                  <a:solidFill>
                    <a:schemeClr val="accent1"/>
                  </a:solidFill>
                  <a:latin typeface="+mj-lt"/>
                  <a:ea typeface="+mj-ea"/>
                  <a:cs typeface="+mj-cs"/>
                </a:rPr>
                <a:t>Россия в цифрах</a:t>
              </a:r>
            </a:p>
          </p:txBody>
        </p:sp>
        <p:sp>
          <p:nvSpPr>
            <p:cNvPr id="6" name="Rectangle 6"/>
            <p:cNvSpPr/>
            <p:nvPr/>
          </p:nvSpPr>
          <p:spPr>
            <a:xfrm>
              <a:off x="838200" y="3105150"/>
              <a:ext cx="1866900" cy="38100"/>
            </a:xfrm>
            <a:prstGeom prst="rect">
              <a:avLst/>
            </a:prstGeom>
            <a:gradFill>
              <a:gsLst>
                <a:gs pos="0">
                  <a:schemeClr val="accent1"/>
                </a:gs>
                <a:gs pos="100000">
                  <a:schemeClr val="accent2"/>
                </a:gs>
              </a:gsLst>
              <a:lin ang="0" scaled="1"/>
            </a:gradFill>
            <a:ln>
              <a:noFill/>
            </a:ln>
          </p:spPr>
        </p:sp>
        <p:sp>
          <p:nvSpPr>
            <p:cNvPr id="7" name="TextBox 7"/>
            <p:cNvSpPr txBox="1"/>
            <p:nvPr/>
          </p:nvSpPr>
          <p:spPr>
            <a:xfrm>
              <a:off x="826008" y="3379470"/>
              <a:ext cx="4684166" cy="469392"/>
            </a:xfrm>
            <a:prstGeom prst="rect">
              <a:avLst/>
            </a:prstGeom>
            <a:noFill/>
            <a:ln>
              <a:noFill/>
            </a:ln>
          </p:spPr>
          <p:txBody>
            <a:bodyPr wrap="none" lIns="0" tIns="0" rIns="0" bIns="0" anchor="t" anchorCtr="0">
              <a:spAutoFit/>
            </a:bodyPr>
            <a:lstStyle/>
            <a:p>
              <a:pPr algn="l"/>
              <a:r>
                <a:rPr lang="ru-RU" sz="2400" dirty="0">
                  <a:solidFill>
                    <a:schemeClr val="dk1"/>
                  </a:solidFill>
                  <a:latin typeface="+mj-lt"/>
                  <a:ea typeface="+mj-ea"/>
                  <a:cs typeface="+mj-cs"/>
                </a:rPr>
                <a:t>30 лет демографии, 1991–2024</a:t>
              </a:r>
            </a:p>
          </p:txBody>
        </p:sp>
      </p:grpSp>
      <p:grpSp>
        <p:nvGrpSpPr>
          <p:cNvPr id="11" name="!!hero-figure"/>
          <p:cNvGrpSpPr/>
          <p:nvPr/>
        </p:nvGrpSpPr>
        <p:grpSpPr>
          <a:xfrm>
            <a:off x="819150" y="4244340"/>
            <a:ext cx="5668806" cy="960311"/>
            <a:chOff x="819150" y="4244340"/>
            <a:chExt cx="5668806" cy="960311"/>
          </a:xfrm>
        </p:grpSpPr>
        <p:sp>
          <p:nvSpPr>
            <p:cNvPr id="9" name="TextBox 9"/>
            <p:cNvSpPr txBox="1"/>
            <p:nvPr/>
          </p:nvSpPr>
          <p:spPr>
            <a:xfrm>
              <a:off x="819150" y="4244340"/>
              <a:ext cx="2975504" cy="933450"/>
            </a:xfrm>
            <a:prstGeom prst="rect">
              <a:avLst/>
            </a:prstGeom>
            <a:noFill/>
            <a:ln>
              <a:noFill/>
            </a:ln>
          </p:spPr>
          <p:txBody>
            <a:bodyPr wrap="none" lIns="0" tIns="0" rIns="0" bIns="0" anchor="t" anchorCtr="0">
              <a:spAutoFit/>
            </a:bodyPr>
            <a:lstStyle/>
            <a:p>
              <a:pPr algn="l"/>
              <a:r>
                <a:rPr lang="ru-RU" sz="4800" b="1" dirty="0">
                  <a:solidFill>
                    <a:schemeClr val="accent2"/>
                  </a:solidFill>
                  <a:latin typeface="+mj-lt"/>
                  <a:ea typeface="+mj-ea"/>
                  <a:cs typeface="+mj-cs"/>
                </a:rPr>
                <a:t>−4,72 млн</a:t>
              </a:r>
            </a:p>
          </p:txBody>
        </p:sp>
        <p:sp>
          <p:nvSpPr>
            <p:cNvPr id="10" name="TextBox 10"/>
            <p:cNvSpPr txBox="1"/>
            <p:nvPr/>
          </p:nvSpPr>
          <p:spPr>
            <a:xfrm>
              <a:off x="831342" y="4940618"/>
              <a:ext cx="5656614" cy="264033"/>
            </a:xfrm>
            <a:prstGeom prst="rect">
              <a:avLst/>
            </a:prstGeom>
            <a:noFill/>
            <a:ln>
              <a:noFill/>
            </a:ln>
          </p:spPr>
          <p:txBody>
            <a:bodyPr wrap="none" lIns="0" tIns="0" rIns="0" bIns="0" anchor="t" anchorCtr="0">
              <a:spAutoFit/>
            </a:bodyPr>
            <a:lstStyle/>
            <a:p>
              <a:pPr algn="l"/>
              <a:r>
                <a:rPr lang="ru-RU" sz="1350" dirty="0">
                  <a:solidFill>
                    <a:schemeClr val="accent5"/>
                  </a:solidFill>
                  <a:latin typeface="+mn-lt"/>
                  <a:ea typeface="+mn-ea"/>
                  <a:cs typeface="+mn-cs"/>
                </a:rPr>
                <a:t>человек — изменение численности населения с 1991 по 2024 год</a:t>
              </a:r>
            </a:p>
          </p:txBody>
        </p:sp>
      </p:grpSp>
      <p:grpSp>
        <p:nvGrpSpPr>
          <p:cNvPr id="14" name="cover-anchors"/>
          <p:cNvGrpSpPr/>
          <p:nvPr/>
        </p:nvGrpSpPr>
        <p:grpSpPr>
          <a:xfrm>
            <a:off x="829818" y="5498782"/>
            <a:ext cx="3238028" cy="627507"/>
            <a:chOff x="829818" y="5498782"/>
            <a:chExt cx="3238028" cy="627507"/>
          </a:xfrm>
        </p:grpSpPr>
        <p:sp>
          <p:nvSpPr>
            <p:cNvPr id="12" name="TextBox 12"/>
            <p:cNvSpPr txBox="1"/>
            <p:nvPr/>
          </p:nvSpPr>
          <p:spPr>
            <a:xfrm>
              <a:off x="829818" y="5498782"/>
              <a:ext cx="3238028" cy="322707"/>
            </a:xfrm>
            <a:prstGeom prst="rect">
              <a:avLst/>
            </a:prstGeom>
            <a:noFill/>
            <a:ln>
              <a:noFill/>
            </a:ln>
          </p:spPr>
          <p:txBody>
            <a:bodyPr wrap="none" lIns="0" tIns="0" rIns="0" bIns="0" anchor="t" anchorCtr="0">
              <a:spAutoFit/>
            </a:bodyPr>
            <a:lstStyle/>
            <a:p>
              <a:pPr algn="l"/>
              <a:r>
                <a:rPr lang="ru-RU" sz="1650" dirty="0">
                  <a:solidFill>
                    <a:schemeClr val="accent1"/>
                  </a:solidFill>
                  <a:latin typeface="Consolas"/>
                  <a:ea typeface="Consolas"/>
                  <a:cs typeface="Consolas"/>
                </a:rPr>
                <a:t xml:space="preserve">148 394 216 </a:t>
              </a:r>
              <a:r>
                <a:rPr lang="ru-RU" sz="1350" dirty="0">
                  <a:solidFill>
                    <a:schemeClr val="accent5"/>
                  </a:solidFill>
                  <a:latin typeface="+mn-lt"/>
                  <a:ea typeface="+mn-ea"/>
                  <a:cs typeface="+mn-cs"/>
                </a:rPr>
                <a:t>человек в 1991 году</a:t>
              </a:r>
            </a:p>
          </p:txBody>
        </p:sp>
        <p:sp>
          <p:nvSpPr>
            <p:cNvPr id="13" name="TextBox 13"/>
            <p:cNvSpPr txBox="1"/>
            <p:nvPr/>
          </p:nvSpPr>
          <p:spPr>
            <a:xfrm>
              <a:off x="829818" y="5803582"/>
              <a:ext cx="3238028" cy="322707"/>
            </a:xfrm>
            <a:prstGeom prst="rect">
              <a:avLst/>
            </a:prstGeom>
            <a:noFill/>
            <a:ln>
              <a:noFill/>
            </a:ln>
          </p:spPr>
          <p:txBody>
            <a:bodyPr wrap="none" lIns="0" tIns="0" rIns="0" bIns="0" anchor="t" anchorCtr="0">
              <a:spAutoFit/>
            </a:bodyPr>
            <a:lstStyle/>
            <a:p>
              <a:pPr algn="l"/>
              <a:r>
                <a:rPr lang="ru-RU" sz="1650" dirty="0">
                  <a:solidFill>
                    <a:schemeClr val="accent1"/>
                  </a:solidFill>
                  <a:latin typeface="Consolas"/>
                  <a:ea typeface="Consolas"/>
                  <a:cs typeface="Consolas"/>
                </a:rPr>
                <a:t xml:space="preserve">143 669 648 </a:t>
              </a:r>
              <a:r>
                <a:rPr lang="ru-RU" sz="1350" dirty="0">
                  <a:solidFill>
                    <a:schemeClr val="accent5"/>
                  </a:solidFill>
                  <a:latin typeface="+mn-lt"/>
                  <a:ea typeface="+mn-ea"/>
                  <a:cs typeface="+mn-cs"/>
                </a:rPr>
                <a:t>человек в 2024 году</a:t>
              </a:r>
            </a:p>
          </p:txBody>
        </p:sp>
      </p:grpSp>
      <p:sp>
        <p:nvSpPr>
          <p:cNvPr id="15" name="TextBox 15"/>
          <p:cNvSpPr txBox="1"/>
          <p:nvPr/>
        </p:nvSpPr>
        <p:spPr>
          <a:xfrm>
            <a:off x="679704" y="6442710"/>
            <a:ext cx="5632167" cy="234696"/>
          </a:xfrm>
          <a:prstGeom prst="rect">
            <a:avLst/>
          </a:prstGeom>
          <a:noFill/>
          <a:ln>
            <a:noFill/>
          </a:ln>
        </p:spPr>
        <p:txBody>
          <a:bodyPr wrap="none" lIns="0" tIns="0" rIns="0" bIns="0" anchor="t" anchorCtr="0">
            <a:spAutoFit/>
          </a:bodyPr>
          <a:lstStyle/>
          <a:p>
            <a:pPr algn="l"/>
            <a:r>
              <a:rPr lang="ru-RU" sz="1200" dirty="0">
                <a:solidFill>
                  <a:schemeClr val="accent5"/>
                </a:solidFill>
                <a:latin typeface="+mn-lt"/>
                <a:ea typeface="+mn-ea"/>
                <a:cs typeface="+mn-cs"/>
              </a:rPr>
              <a:t>Всемирный банк, SP.POP.TOTL, 1991 и 2024 · набор обновлён 13.07.2026</a:t>
            </a:r>
          </a:p>
        </p:txBody>
      </p:sp>
    </p:spTree>
  </p:cSld>
  <p:clrMapOvr>
    <a:masterClrMapping/>
  </p:clrMapOvr>
  <p:transitio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600"/>
                                        <p:tgtEl>
                                          <p:spTgt spid="8"/>
                                        </p:tgtEl>
                                      </p:cBhvr>
                                    </p:animEffect>
                                  </p:childTnLst>
                                </p:cTn>
                              </p:par>
                            </p:childTnLst>
                          </p:cTn>
                        </p:par>
                        <p:par>
                          <p:cTn id="8" fill="hold">
                            <p:stCondLst>
                              <p:cond delay="600"/>
                            </p:stCondLst>
                            <p:childTnLst>
                              <p:par>
                                <p:cTn id="9" presetID="10" presetClass="entr" presetSubtype="0" fill="hold" grpId="0" nodeType="afterEffect">
                                  <p:stCondLst>
                                    <p:cond delay="20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500"/>
                                        <p:tgtEl>
                                          <p:spTgt spid="11"/>
                                        </p:tgtEl>
                                      </p:cBhvr>
                                    </p:animEffect>
                                  </p:childTnLst>
                                </p:cTn>
                              </p:par>
                            </p:childTnLst>
                          </p:cTn>
                        </p:par>
                        <p:par>
                          <p:cTn id="12" fill="hold">
                            <p:stCondLst>
                              <p:cond delay="1300"/>
                            </p:stCondLst>
                            <p:childTnLst>
                              <p:par>
                                <p:cTn id="13" presetID="10" presetClass="entr" presetSubtype="0" fill="hold" grpId="0" nodeType="afterEffect">
                                  <p:stCondLst>
                                    <p:cond delay="50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mc="http://schemas.openxmlformats.org/markup-compatibility/2006" xmlns:p="http://schemas.openxmlformats.org/presentationml/2006/main" xmlns:p14="http://schemas.microsoft.com/office/powerpoint/2010/main" xmlns:p159="http://schemas.microsoft.com/office/powerpoint/2015/09/main">
  <p:cSld>
    <p:bg>
      <p:bgPr>
        <a:solidFill>
          <a:schemeClr val="lt1"/>
        </a:solidFill>
        <a:effectLst/>
      </p:bgPr>
    </p:bg>
    <p:spTree>
      <p:nvGrpSpPr>
        <p:cNvPr id="1" name=""/>
        <p:cNvGrpSpPr/>
        <p:nvPr/>
      </p:nvGrpSpPr>
      <p:grpSpPr>
        <a:xfrm>
          <a:off x="0" y="0"/>
          <a:ext cx="0" cy="0"/>
          <a:chOff x="0" y="0"/>
          <a:chExt cx="0" cy="0"/>
        </a:xfrm>
      </p:grpSpPr>
      <p:grpSp>
        <p:nvGrpSpPr>
          <p:cNvPr id="4" name="page-header"/>
          <p:cNvGrpSpPr/>
          <p:nvPr/>
        </p:nvGrpSpPr>
        <p:grpSpPr>
          <a:xfrm>
            <a:off x="670560" y="590550"/>
            <a:ext cx="4930414" cy="1250823"/>
            <a:chOff x="670560" y="590550"/>
            <a:chExt cx="4930414" cy="1250823"/>
          </a:xfrm>
        </p:grpSpPr>
        <p:sp>
          <p:nvSpPr>
            <p:cNvPr id="2" name="TextBox 2"/>
            <p:cNvSpPr txBox="1"/>
            <p:nvPr/>
          </p:nvSpPr>
          <p:spPr>
            <a:xfrm>
              <a:off x="670560" y="590550"/>
              <a:ext cx="3749944" cy="586740"/>
            </a:xfrm>
            <a:prstGeom prst="rect">
              <a:avLst/>
            </a:prstGeom>
            <a:noFill/>
            <a:ln>
              <a:noFill/>
            </a:ln>
          </p:spPr>
          <p:txBody>
            <a:bodyPr wrap="none" lIns="0" tIns="0" rIns="0" bIns="0" anchor="t" anchorCtr="0">
              <a:spAutoFit/>
            </a:bodyPr>
            <a:lstStyle/>
            <a:p>
              <a:pPr algn="l"/>
              <a:r>
                <a:rPr lang="ru-RU" sz="3000" b="1" dirty="0">
                  <a:solidFill>
                    <a:schemeClr val="accent1"/>
                  </a:solidFill>
                  <a:latin typeface="+mj-lt"/>
                  <a:ea typeface="+mj-ea"/>
                  <a:cs typeface="+mj-cs"/>
                </a:rPr>
                <a:t>Источник и метод</a:t>
              </a:r>
            </a:p>
          </p:txBody>
        </p:sp>
        <p:sp>
          <p:nvSpPr>
            <p:cNvPr id="3" name="TextBox 3"/>
            <p:cNvSpPr txBox="1"/>
            <p:nvPr/>
          </p:nvSpPr>
          <p:spPr>
            <a:xfrm>
              <a:off x="675132" y="1106805"/>
              <a:ext cx="4925842" cy="734568"/>
            </a:xfrm>
            <a:prstGeom prst="rect">
              <a:avLst/>
            </a:prstGeom>
            <a:noFill/>
            <a:ln>
              <a:noFill/>
            </a:ln>
          </p:spPr>
          <p:txBody>
            <a:bodyPr wrap="none" lIns="0" tIns="0" rIns="0" bIns="0" anchor="t" anchorCtr="0">
              <a:spAutoFit/>
            </a:bodyPr>
            <a:lstStyle/>
            <a:p>
              <a:pPr algn="l">
                <a:lnSpc>
                  <a:spcPts val="2550"/>
                </a:lnSpc>
              </a:pPr>
              <a:r>
                <a:rPr lang="ru-RU" sz="2100" dirty="0">
                  <a:solidFill>
                    <a:schemeClr val="dk1"/>
                  </a:solidFill>
                  <a:latin typeface="+mn-lt"/>
                  <a:ea typeface="+mn-ea"/>
                  <a:cs typeface="+mn-cs"/>
                </a:rPr>
                <a:t>Все значения — из CSV-пакетов World</a:t>
              </a:r>
              <a:br/>
              <a:r>
                <a:rPr lang="ru-RU" sz="2100" dirty="0">
                  <a:solidFill>
                    <a:schemeClr val="dk1"/>
                  </a:solidFill>
                  <a:latin typeface="+mn-lt"/>
                  <a:ea typeface="+mn-ea"/>
                  <a:cs typeface="+mn-cs"/>
                </a:rPr>
                <a:t>Development Indicators; страна — RUS</a:t>
              </a:r>
            </a:p>
          </p:txBody>
        </p:sp>
      </p:grpSp>
      <p:grpSp>
        <p:nvGrpSpPr>
          <p:cNvPr id="12" name="!!hero-figure"/>
          <p:cNvGrpSpPr/>
          <p:nvPr/>
        </p:nvGrpSpPr>
        <p:grpSpPr>
          <a:xfrm>
            <a:off x="8980410" y="655320"/>
            <a:ext cx="2537982" cy="1240155"/>
            <a:chOff x="8980410" y="655320"/>
            <a:chExt cx="2537982" cy="1240155"/>
          </a:xfrm>
        </p:grpSpPr>
        <p:sp>
          <p:nvSpPr>
            <p:cNvPr id="5" name="TextBox 5"/>
            <p:cNvSpPr txBox="1"/>
            <p:nvPr/>
          </p:nvSpPr>
          <p:spPr>
            <a:xfrm>
              <a:off x="10025306" y="655320"/>
              <a:ext cx="1493086" cy="469392"/>
            </a:xfrm>
            <a:prstGeom prst="rect">
              <a:avLst/>
            </a:prstGeom>
            <a:noFill/>
            <a:ln>
              <a:noFill/>
            </a:ln>
          </p:spPr>
          <p:txBody>
            <a:bodyPr wrap="none" lIns="0" tIns="0" rIns="0" bIns="0" anchor="t" anchorCtr="0">
              <a:spAutoFit/>
            </a:bodyPr>
            <a:lstStyle/>
            <a:p>
              <a:pPr algn="r"/>
              <a:r>
                <a:rPr lang="ru-RU" sz="2400" b="1" dirty="0">
                  <a:solidFill>
                    <a:schemeClr val="accent2"/>
                  </a:solidFill>
                  <a:latin typeface="+mj-lt"/>
                  <a:ea typeface="+mj-ea"/>
                  <a:cs typeface="+mj-cs"/>
                </a:rPr>
                <a:t>−4,72 млн</a:t>
              </a:r>
            </a:p>
          </p:txBody>
        </p:sp>
        <p:sp>
          <p:nvSpPr>
            <p:cNvPr id="6" name="TextBox 6"/>
            <p:cNvSpPr txBox="1"/>
            <p:nvPr/>
          </p:nvSpPr>
          <p:spPr>
            <a:xfrm>
              <a:off x="8980410" y="1054418"/>
              <a:ext cx="2532648" cy="264033"/>
            </a:xfrm>
            <a:prstGeom prst="rect">
              <a:avLst/>
            </a:prstGeom>
            <a:noFill/>
            <a:ln>
              <a:noFill/>
            </a:ln>
          </p:spPr>
          <p:txBody>
            <a:bodyPr wrap="none" lIns="0" tIns="0" rIns="0" bIns="0" anchor="t" anchorCtr="0">
              <a:spAutoFit/>
            </a:bodyPr>
            <a:lstStyle/>
            <a:p>
              <a:pPr algn="r"/>
              <a:r>
                <a:rPr lang="en-US" sz="1350" dirty="0">
                  <a:solidFill>
                    <a:schemeClr val="accent5"/>
                  </a:solidFill>
                  <a:latin typeface="+mn-lt"/>
                  <a:ea typeface="+mn-ea"/>
                  <a:cs typeface="+mn-cs"/>
                </a:rPr>
                <a:t>SP.POP.TOTL, 1991 → 2024</a:t>
              </a:r>
            </a:p>
          </p:txBody>
        </p:sp>
        <p:sp>
          <p:nvSpPr>
            <p:cNvPr id="7" name="TextBox 7"/>
            <p:cNvSpPr txBox="1"/>
            <p:nvPr/>
          </p:nvSpPr>
          <p:spPr>
            <a:xfrm>
              <a:off x="9189319" y="1321118"/>
              <a:ext cx="2323739" cy="264033"/>
            </a:xfrm>
            <a:prstGeom prst="rect">
              <a:avLst/>
            </a:prstGeom>
            <a:noFill/>
            <a:ln>
              <a:noFill/>
            </a:ln>
          </p:spPr>
          <p:txBody>
            <a:bodyPr wrap="none" lIns="0" tIns="0" rIns="0" bIns="0" anchor="t" anchorCtr="0">
              <a:spAutoFit/>
            </a:bodyPr>
            <a:lstStyle/>
            <a:p>
              <a:pPr algn="r"/>
              <a:r>
                <a:rPr lang="ru-RU" sz="1350" dirty="0">
                  <a:solidFill>
                    <a:schemeClr val="accent5"/>
                  </a:solidFill>
                  <a:latin typeface="+mn-lt"/>
                  <a:ea typeface="+mn-ea"/>
                  <a:cs typeface="+mn-cs"/>
                </a:rPr>
                <a:t>набор обновлён 13.07.2026</a:t>
              </a:r>
            </a:p>
          </p:txBody>
        </p:sp>
        <p:grpSp>
          <p:nvGrpSpPr>
            <p:cNvPr id="11" name="Group 11"/>
            <p:cNvGrpSpPr/>
            <p:nvPr/>
          </p:nvGrpSpPr>
          <p:grpSpPr>
            <a:xfrm>
              <a:off x="11188700" y="1609725"/>
              <a:ext cx="254001" cy="285750"/>
              <a:chOff x="11188700" y="1609725"/>
              <a:chExt cx="254001" cy="285750"/>
            </a:xfrm>
          </p:grpSpPr>
          <p:sp>
            <p:nvSpPr>
              <p:cNvPr id="8" name="Freeform 8"/>
              <p:cNvSpPr/>
              <p:nvPr/>
            </p:nvSpPr>
            <p:spPr>
              <a:xfrm>
                <a:off x="11188700" y="1609725"/>
                <a:ext cx="254001" cy="95250"/>
              </a:xfrm>
              <a:custGeom>
                <a:avLst/>
                <a:gdLst/>
                <a:ahLst/>
                <a:cxnLst/>
                <a:rect l="l" t="t" r="r" b="b"/>
                <a:pathLst>
                  <a:path w="254001" h="95250">
                    <a:moveTo>
                      <a:pt x="0" y="47625"/>
                    </a:moveTo>
                    <a:cubicBezTo>
                      <a:pt x="0" y="73928"/>
                      <a:pt x="56860" y="95250"/>
                      <a:pt x="127000" y="95250"/>
                    </a:cubicBezTo>
                    <a:cubicBezTo>
                      <a:pt x="197141" y="95250"/>
                      <a:pt x="254001" y="73928"/>
                      <a:pt x="254001" y="47625"/>
                    </a:cubicBezTo>
                    <a:cubicBezTo>
                      <a:pt x="254001" y="21322"/>
                      <a:pt x="197141" y="0"/>
                      <a:pt x="127000" y="0"/>
                    </a:cubicBezTo>
                    <a:cubicBezTo>
                      <a:pt x="56860" y="0"/>
                      <a:pt x="0" y="21322"/>
                      <a:pt x="0" y="47625"/>
                    </a:cubicBezTo>
                  </a:path>
                </a:pathLst>
              </a:custGeom>
              <a:noFill/>
              <a:ln w="31750">
                <a:solidFill>
                  <a:schemeClr val="accent3"/>
                </a:solidFill>
              </a:ln>
            </p:spPr>
          </p:sp>
          <p:sp>
            <p:nvSpPr>
              <p:cNvPr id="9" name="Freeform 9"/>
              <p:cNvSpPr/>
              <p:nvPr/>
            </p:nvSpPr>
            <p:spPr>
              <a:xfrm>
                <a:off x="11188700" y="1657350"/>
                <a:ext cx="254001" cy="142875"/>
              </a:xfrm>
              <a:custGeom>
                <a:avLst/>
                <a:gdLst/>
                <a:ahLst/>
                <a:cxnLst/>
                <a:rect l="l" t="t" r="r" b="b"/>
                <a:pathLst>
                  <a:path w="254001" h="142875">
                    <a:moveTo>
                      <a:pt x="0" y="0"/>
                    </a:moveTo>
                    <a:lnTo>
                      <a:pt x="0" y="95250"/>
                    </a:lnTo>
                    <a:cubicBezTo>
                      <a:pt x="0" y="121553"/>
                      <a:pt x="56860" y="142875"/>
                      <a:pt x="127000" y="142875"/>
                    </a:cubicBezTo>
                    <a:cubicBezTo>
                      <a:pt x="197141" y="142875"/>
                      <a:pt x="254001" y="121553"/>
                      <a:pt x="254001" y="95250"/>
                    </a:cubicBezTo>
                    <a:lnTo>
                      <a:pt x="254001" y="0"/>
                    </a:lnTo>
                  </a:path>
                </a:pathLst>
              </a:custGeom>
              <a:noFill/>
              <a:ln w="31750">
                <a:solidFill>
                  <a:schemeClr val="accent3"/>
                </a:solidFill>
              </a:ln>
            </p:spPr>
          </p:sp>
          <p:sp>
            <p:nvSpPr>
              <p:cNvPr id="10" name="Freeform 10"/>
              <p:cNvSpPr/>
              <p:nvPr/>
            </p:nvSpPr>
            <p:spPr>
              <a:xfrm>
                <a:off x="11188700" y="1752600"/>
                <a:ext cx="254001" cy="142875"/>
              </a:xfrm>
              <a:custGeom>
                <a:avLst/>
                <a:gdLst/>
                <a:ahLst/>
                <a:cxnLst/>
                <a:rect l="l" t="t" r="r" b="b"/>
                <a:pathLst>
                  <a:path w="254001" h="142875">
                    <a:moveTo>
                      <a:pt x="0" y="0"/>
                    </a:moveTo>
                    <a:lnTo>
                      <a:pt x="0" y="95250"/>
                    </a:lnTo>
                    <a:cubicBezTo>
                      <a:pt x="0" y="121553"/>
                      <a:pt x="56860" y="142875"/>
                      <a:pt x="127000" y="142875"/>
                    </a:cubicBezTo>
                    <a:cubicBezTo>
                      <a:pt x="197141" y="142875"/>
                      <a:pt x="254001" y="121553"/>
                      <a:pt x="254001" y="95250"/>
                    </a:cubicBezTo>
                    <a:lnTo>
                      <a:pt x="254001" y="0"/>
                    </a:lnTo>
                  </a:path>
                </a:pathLst>
              </a:custGeom>
              <a:noFill/>
              <a:ln w="31750">
                <a:solidFill>
                  <a:schemeClr val="accent3"/>
                </a:solidFill>
              </a:ln>
            </p:spPr>
          </p:sp>
        </p:grpSp>
      </p:grpSp>
      <p:graphicFrame>
        <p:nvGraphicFramePr>
          <p:cNvPr id="13" name="source-indicators"/>
          <p:cNvGraphicFramePr>
            <a:graphicFrameLocks noGrp="1"/>
          </p:cNvGraphicFramePr>
          <p:nvPr/>
        </p:nvGraphicFramePr>
        <p:xfrm>
          <a:off x="685800" y="2000250"/>
          <a:ext cx="10820400" cy="3771900"/>
        </p:xfrm>
        <a:graphic>
          <a:graphicData uri="http://schemas.openxmlformats.org/drawingml/2006/table">
            <a:tbl>
              <a:tblPr firstRow="1" bandRow="1">
                <a:tableStyleId>{5C22544A-7EE6-4342-B048-85BDC9FD1C3A}</a:tableStyleId>
              </a:tblPr>
              <a:tblGrid>
                <a:gridCol w="2362200"/>
                <a:gridCol w="5524499"/>
                <a:gridCol w="1866900"/>
                <a:gridCol w="1066801"/>
              </a:tblGrid>
              <a:tr h="342900">
                <a:tc>
                  <a:txBody>
                    <a:bodyPr/>
                    <a:lstStyle/>
                    <a:p>
                      <a:pPr/>
                      <a:r>
                        <a:rPr lang="ru-RU" sz="1350" b="1">
                          <a:solidFill>
                            <a:schemeClr val="accent1"/>
                          </a:solidFill>
                          <a:latin typeface="Arial"/>
                          <a:ea typeface="Microsoft YaHei"/>
                          <a:cs typeface="Arial"/>
                        </a:rPr>
                        <a:t>КОД</a:t>
                      </a:r>
                    </a:p>
                  </a:txBody>
                  <a:tcPr anchor="ctr" marL="114300" marR="114300" marT="51435" marB="51435">
                    <a:lnL>
                      <a:noFill/>
                    </a:lnL>
                    <a:lnR>
                      <a:noFill/>
                    </a:lnR>
                    <a:lnT>
                      <a:noFill/>
                    </a:lnT>
                    <a:lnB w="9525">
                      <a:solidFill>
                        <a:schemeClr val="accent6"/>
                      </a:solidFill>
                      <a:prstDash val="solid"/>
                    </a:lnB>
                    <a:solidFill>
                      <a:schemeClr val="lt2"/>
                    </a:solidFill>
                  </a:tcPr>
                </a:tc>
                <a:tc>
                  <a:txBody>
                    <a:bodyPr/>
                    <a:lstStyle/>
                    <a:p>
                      <a:pPr/>
                      <a:r>
                        <a:rPr lang="ru-RU" sz="1350" b="1">
                          <a:solidFill>
                            <a:schemeClr val="accent1"/>
                          </a:solidFill>
                          <a:latin typeface="Arial"/>
                          <a:ea typeface="Microsoft YaHei"/>
                          <a:cs typeface="Arial"/>
                        </a:rPr>
                        <a:t>ИНДИКАТОР</a:t>
                      </a:r>
                    </a:p>
                  </a:txBody>
                  <a:tcPr anchor="ctr" marL="114300" marR="114300" marT="51435" marB="51435">
                    <a:lnL>
                      <a:noFill/>
                    </a:lnL>
                    <a:lnR>
                      <a:noFill/>
                    </a:lnR>
                    <a:lnT>
                      <a:noFill/>
                    </a:lnT>
                    <a:lnB w="9525">
                      <a:solidFill>
                        <a:schemeClr val="accent6"/>
                      </a:solidFill>
                      <a:prstDash val="solid"/>
                    </a:lnB>
                    <a:solidFill>
                      <a:schemeClr val="lt2"/>
                    </a:solidFill>
                  </a:tcPr>
                </a:tc>
                <a:tc>
                  <a:txBody>
                    <a:bodyPr/>
                    <a:lstStyle/>
                    <a:p>
                      <a:pPr/>
                      <a:r>
                        <a:rPr lang="ru-RU" sz="1350" b="1">
                          <a:solidFill>
                            <a:schemeClr val="accent1"/>
                          </a:solidFill>
                          <a:latin typeface="Arial"/>
                          <a:ea typeface="Microsoft YaHei"/>
                          <a:cs typeface="Arial"/>
                        </a:rPr>
                        <a:t>ЕДИНИЦА</a:t>
                      </a:r>
                    </a:p>
                  </a:txBody>
                  <a:tcPr anchor="ctr" marL="114300" marR="114300" marT="51435" marB="51435">
                    <a:lnL>
                      <a:noFill/>
                    </a:lnL>
                    <a:lnR>
                      <a:noFill/>
                    </a:lnR>
                    <a:lnT>
                      <a:noFill/>
                    </a:lnT>
                    <a:lnB w="9525">
                      <a:solidFill>
                        <a:schemeClr val="accent6"/>
                      </a:solidFill>
                      <a:prstDash val="solid"/>
                    </a:lnB>
                    <a:solidFill>
                      <a:schemeClr val="lt2"/>
                    </a:solidFill>
                  </a:tcPr>
                </a:tc>
                <a:tc>
                  <a:txBody>
                    <a:bodyPr/>
                    <a:lstStyle/>
                    <a:p>
                      <a:pPr algn="r"/>
                      <a:r>
                        <a:rPr lang="ru-RU" sz="1350" b="1">
                          <a:solidFill>
                            <a:schemeClr val="accent1"/>
                          </a:solidFill>
                          <a:latin typeface="Arial"/>
                          <a:ea typeface="Microsoft YaHei"/>
                          <a:cs typeface="Arial"/>
                        </a:rPr>
                        <a:t>ОХВАТ</a:t>
                      </a:r>
                    </a:p>
                  </a:txBody>
                  <a:tcPr anchor="ctr" marL="114300" marR="114300" marT="51435" marB="51435">
                    <a:lnL>
                      <a:noFill/>
                    </a:lnL>
                    <a:lnR>
                      <a:noFill/>
                    </a:lnR>
                    <a:lnT>
                      <a:noFill/>
                    </a:lnT>
                    <a:lnB w="9525">
                      <a:solidFill>
                        <a:schemeClr val="accent6"/>
                      </a:solidFill>
                      <a:prstDash val="solid"/>
                    </a:lnB>
                    <a:solidFill>
                      <a:schemeClr val="lt2"/>
                    </a:solidFill>
                  </a:tcPr>
                </a:tc>
              </a:tr>
              <a:tr h="342900">
                <a:tc>
                  <a:txBody>
                    <a:bodyPr/>
                    <a:lstStyle/>
                    <a:p>
                      <a:pPr/>
                      <a:r>
                        <a:rPr lang="en-US" sz="1500" b="0">
                          <a:solidFill>
                            <a:schemeClr val="accent1"/>
                          </a:solidFill>
                          <a:latin typeface="Arial"/>
                          <a:ea typeface="Microsoft YaHei"/>
                          <a:cs typeface="Arial"/>
                        </a:rPr>
                        <a:t>SP.POP.TOTL</a:t>
                      </a:r>
                    </a:p>
                  </a:txBody>
                  <a:tcPr anchor="ctr" marL="114300" marR="114300" marT="38100" marB="38100">
                    <a:lnL>
                      <a:noFill/>
                    </a:lnL>
                    <a:lnR>
                      <a:noFill/>
                    </a:lnR>
                    <a:lnT>
                      <a:noFill/>
                    </a:lnT>
                    <a:lnB w="9525">
                      <a:solidFill>
                        <a:schemeClr val="accent6"/>
                      </a:solidFill>
                      <a:prstDash val="solid"/>
                    </a:lnB>
                    <a:noFill/>
                  </a:tcPr>
                </a:tc>
                <a:tc>
                  <a:txBody>
                    <a:bodyPr/>
                    <a:lstStyle/>
                    <a:p>
                      <a:pPr/>
                      <a:r>
                        <a:rPr lang="ru-RU" sz="1350" b="0">
                          <a:solidFill>
                            <a:schemeClr val="dk1"/>
                          </a:solidFill>
                          <a:latin typeface="Arial"/>
                          <a:ea typeface="Microsoft YaHei"/>
                          <a:cs typeface="Arial"/>
                        </a:rPr>
                        <a:t>Численность населения</a:t>
                      </a:r>
                    </a:p>
                  </a:txBody>
                  <a:tcPr anchor="ctr" marL="114300" marR="114300" marT="51435" marB="51435">
                    <a:lnL>
                      <a:noFill/>
                    </a:lnL>
                    <a:lnR>
                      <a:noFill/>
                    </a:lnR>
                    <a:lnT>
                      <a:noFill/>
                    </a:lnT>
                    <a:lnB w="9525">
                      <a:solidFill>
                        <a:schemeClr val="accent6"/>
                      </a:solidFill>
                      <a:prstDash val="solid"/>
                    </a:lnB>
                    <a:noFill/>
                  </a:tcPr>
                </a:tc>
                <a:tc>
                  <a:txBody>
                    <a:bodyPr/>
                    <a:lstStyle/>
                    <a:p>
                      <a:pPr/>
                      <a:r>
                        <a:rPr lang="ru-RU" sz="1350" b="0">
                          <a:solidFill>
                            <a:schemeClr val="accent5"/>
                          </a:solidFill>
                          <a:latin typeface="Arial"/>
                          <a:ea typeface="Microsoft YaHei"/>
                          <a:cs typeface="Arial"/>
                        </a:rPr>
                        <a:t>человек</a:t>
                      </a:r>
                    </a:p>
                  </a:txBody>
                  <a:tcPr anchor="ctr" marL="114300" marR="114300" marT="51435" marB="51435">
                    <a:lnL>
                      <a:noFill/>
                    </a:lnL>
                    <a:lnR>
                      <a:noFill/>
                    </a:lnR>
                    <a:lnT>
                      <a:noFill/>
                    </a:lnT>
                    <a:lnB w="9525">
                      <a:solidFill>
                        <a:schemeClr val="accent6"/>
                      </a:solidFill>
                      <a:prstDash val="solid"/>
                    </a:lnB>
                    <a:noFill/>
                  </a:tcPr>
                </a:tc>
                <a:tc>
                  <a:txBody>
                    <a:bodyPr/>
                    <a:lstStyle/>
                    <a:p>
                      <a:pPr algn="r"/>
                      <a:r>
                        <a:rPr lang="ru-RU" sz="1350" b="0">
                          <a:solidFill>
                            <a:schemeClr val="accent5"/>
                          </a:solidFill>
                          <a:latin typeface="Arial"/>
                          <a:ea typeface="Microsoft YaHei"/>
                          <a:cs typeface="Arial"/>
                        </a:rPr>
                        <a:t>1991–2024</a:t>
                      </a:r>
                    </a:p>
                  </a:txBody>
                  <a:tcPr anchor="ctr" marL="114300" marR="114300" marT="51435" marB="51435">
                    <a:lnL>
                      <a:noFill/>
                    </a:lnL>
                    <a:lnR>
                      <a:noFill/>
                    </a:lnR>
                    <a:lnT>
                      <a:noFill/>
                    </a:lnT>
                    <a:lnB w="9525">
                      <a:solidFill>
                        <a:schemeClr val="accent6"/>
                      </a:solidFill>
                      <a:prstDash val="solid"/>
                    </a:lnB>
                    <a:noFill/>
                  </a:tcPr>
                </a:tc>
              </a:tr>
              <a:tr h="342900">
                <a:tc>
                  <a:txBody>
                    <a:bodyPr/>
                    <a:lstStyle/>
                    <a:p>
                      <a:pPr/>
                      <a:r>
                        <a:rPr lang="en-US" sz="1500" b="0">
                          <a:solidFill>
                            <a:schemeClr val="accent1"/>
                          </a:solidFill>
                          <a:latin typeface="Arial"/>
                          <a:ea typeface="Microsoft YaHei"/>
                          <a:cs typeface="Arial"/>
                        </a:rPr>
                        <a:t>SP.DYN.CBRT.IN</a:t>
                      </a:r>
                    </a:p>
                  </a:txBody>
                  <a:tcPr anchor="ctr" marL="114300" marR="114300" marT="38100" marB="38100">
                    <a:lnL>
                      <a:noFill/>
                    </a:lnL>
                    <a:lnR>
                      <a:noFill/>
                    </a:lnR>
                    <a:lnT>
                      <a:noFill/>
                    </a:lnT>
                    <a:lnB w="9525">
                      <a:solidFill>
                        <a:schemeClr val="accent6"/>
                      </a:solidFill>
                      <a:prstDash val="solid"/>
                    </a:lnB>
                    <a:noFill/>
                  </a:tcPr>
                </a:tc>
                <a:tc>
                  <a:txBody>
                    <a:bodyPr/>
                    <a:lstStyle/>
                    <a:p>
                      <a:pPr/>
                      <a:r>
                        <a:rPr lang="ru-RU" sz="1350" b="0">
                          <a:solidFill>
                            <a:schemeClr val="dk1"/>
                          </a:solidFill>
                          <a:latin typeface="Arial"/>
                          <a:ea typeface="Microsoft YaHei"/>
                          <a:cs typeface="Arial"/>
                        </a:rPr>
                        <a:t>Общий коэффициент рождаемости</a:t>
                      </a:r>
                    </a:p>
                  </a:txBody>
                  <a:tcPr anchor="ctr" marL="114300" marR="114300" marT="51435" marB="51435">
                    <a:lnL>
                      <a:noFill/>
                    </a:lnL>
                    <a:lnR>
                      <a:noFill/>
                    </a:lnR>
                    <a:lnT>
                      <a:noFill/>
                    </a:lnT>
                    <a:lnB w="9525">
                      <a:solidFill>
                        <a:schemeClr val="accent6"/>
                      </a:solidFill>
                      <a:prstDash val="solid"/>
                    </a:lnB>
                    <a:noFill/>
                  </a:tcPr>
                </a:tc>
                <a:tc>
                  <a:txBody>
                    <a:bodyPr/>
                    <a:lstStyle/>
                    <a:p>
                      <a:pPr/>
                      <a:r>
                        <a:rPr lang="ru-RU" sz="1350" b="0">
                          <a:solidFill>
                            <a:schemeClr val="accent5"/>
                          </a:solidFill>
                          <a:latin typeface="Arial"/>
                          <a:ea typeface="Microsoft YaHei"/>
                          <a:cs typeface="Arial"/>
                        </a:rPr>
                        <a:t>на 1000 человек</a:t>
                      </a:r>
                    </a:p>
                  </a:txBody>
                  <a:tcPr anchor="ctr" marL="114300" marR="114300" marT="51435" marB="51435">
                    <a:lnL>
                      <a:noFill/>
                    </a:lnL>
                    <a:lnR>
                      <a:noFill/>
                    </a:lnR>
                    <a:lnT>
                      <a:noFill/>
                    </a:lnT>
                    <a:lnB w="9525">
                      <a:solidFill>
                        <a:schemeClr val="accent6"/>
                      </a:solidFill>
                      <a:prstDash val="solid"/>
                    </a:lnB>
                    <a:noFill/>
                  </a:tcPr>
                </a:tc>
                <a:tc>
                  <a:txBody>
                    <a:bodyPr/>
                    <a:lstStyle/>
                    <a:p>
                      <a:pPr algn="r"/>
                      <a:r>
                        <a:rPr lang="ru-RU" sz="1350" b="0">
                          <a:solidFill>
                            <a:schemeClr val="accent5"/>
                          </a:solidFill>
                          <a:latin typeface="Arial"/>
                          <a:ea typeface="Microsoft YaHei"/>
                          <a:cs typeface="Arial"/>
                        </a:rPr>
                        <a:t>1991–2024</a:t>
                      </a:r>
                    </a:p>
                  </a:txBody>
                  <a:tcPr anchor="ctr" marL="114300" marR="114300" marT="51435" marB="51435">
                    <a:lnL>
                      <a:noFill/>
                    </a:lnL>
                    <a:lnR>
                      <a:noFill/>
                    </a:lnR>
                    <a:lnT>
                      <a:noFill/>
                    </a:lnT>
                    <a:lnB w="9525">
                      <a:solidFill>
                        <a:schemeClr val="accent6"/>
                      </a:solidFill>
                      <a:prstDash val="solid"/>
                    </a:lnB>
                    <a:noFill/>
                  </a:tcPr>
                </a:tc>
              </a:tr>
              <a:tr h="342900">
                <a:tc>
                  <a:txBody>
                    <a:bodyPr/>
                    <a:lstStyle/>
                    <a:p>
                      <a:pPr/>
                      <a:r>
                        <a:rPr lang="en-US" sz="1500" b="0">
                          <a:solidFill>
                            <a:schemeClr val="accent1"/>
                          </a:solidFill>
                          <a:latin typeface="Arial"/>
                          <a:ea typeface="Microsoft YaHei"/>
                          <a:cs typeface="Arial"/>
                        </a:rPr>
                        <a:t>SP.DYN.CDRT.IN</a:t>
                      </a:r>
                    </a:p>
                  </a:txBody>
                  <a:tcPr anchor="ctr" marL="114300" marR="114300" marT="38100" marB="38100">
                    <a:lnL>
                      <a:noFill/>
                    </a:lnL>
                    <a:lnR>
                      <a:noFill/>
                    </a:lnR>
                    <a:lnT>
                      <a:noFill/>
                    </a:lnT>
                    <a:lnB w="9525">
                      <a:solidFill>
                        <a:schemeClr val="accent6"/>
                      </a:solidFill>
                      <a:prstDash val="solid"/>
                    </a:lnB>
                    <a:noFill/>
                  </a:tcPr>
                </a:tc>
                <a:tc>
                  <a:txBody>
                    <a:bodyPr/>
                    <a:lstStyle/>
                    <a:p>
                      <a:pPr/>
                      <a:r>
                        <a:rPr lang="ru-RU" sz="1350" b="0">
                          <a:solidFill>
                            <a:schemeClr val="dk1"/>
                          </a:solidFill>
                          <a:latin typeface="Arial"/>
                          <a:ea typeface="Microsoft YaHei"/>
                          <a:cs typeface="Arial"/>
                        </a:rPr>
                        <a:t>Общий коэффициент смертности</a:t>
                      </a:r>
                    </a:p>
                  </a:txBody>
                  <a:tcPr anchor="ctr" marL="114300" marR="114300" marT="51435" marB="51435">
                    <a:lnL>
                      <a:noFill/>
                    </a:lnL>
                    <a:lnR>
                      <a:noFill/>
                    </a:lnR>
                    <a:lnT>
                      <a:noFill/>
                    </a:lnT>
                    <a:lnB w="9525">
                      <a:solidFill>
                        <a:schemeClr val="accent6"/>
                      </a:solidFill>
                      <a:prstDash val="solid"/>
                    </a:lnB>
                    <a:noFill/>
                  </a:tcPr>
                </a:tc>
                <a:tc>
                  <a:txBody>
                    <a:bodyPr/>
                    <a:lstStyle/>
                    <a:p>
                      <a:pPr/>
                      <a:r>
                        <a:rPr lang="ru-RU" sz="1350" b="0">
                          <a:solidFill>
                            <a:schemeClr val="accent5"/>
                          </a:solidFill>
                          <a:latin typeface="Arial"/>
                          <a:ea typeface="Microsoft YaHei"/>
                          <a:cs typeface="Arial"/>
                        </a:rPr>
                        <a:t>на 1000 человек</a:t>
                      </a:r>
                    </a:p>
                  </a:txBody>
                  <a:tcPr anchor="ctr" marL="114300" marR="114300" marT="51435" marB="51435">
                    <a:lnL>
                      <a:noFill/>
                    </a:lnL>
                    <a:lnR>
                      <a:noFill/>
                    </a:lnR>
                    <a:lnT>
                      <a:noFill/>
                    </a:lnT>
                    <a:lnB w="9525">
                      <a:solidFill>
                        <a:schemeClr val="accent6"/>
                      </a:solidFill>
                      <a:prstDash val="solid"/>
                    </a:lnB>
                    <a:noFill/>
                  </a:tcPr>
                </a:tc>
                <a:tc>
                  <a:txBody>
                    <a:bodyPr/>
                    <a:lstStyle/>
                    <a:p>
                      <a:pPr algn="r"/>
                      <a:r>
                        <a:rPr lang="ru-RU" sz="1350" b="0">
                          <a:solidFill>
                            <a:schemeClr val="accent5"/>
                          </a:solidFill>
                          <a:latin typeface="Arial"/>
                          <a:ea typeface="Microsoft YaHei"/>
                          <a:cs typeface="Arial"/>
                        </a:rPr>
                        <a:t>1991–2024</a:t>
                      </a:r>
                    </a:p>
                  </a:txBody>
                  <a:tcPr anchor="ctr" marL="114300" marR="114300" marT="51435" marB="51435">
                    <a:lnL>
                      <a:noFill/>
                    </a:lnL>
                    <a:lnR>
                      <a:noFill/>
                    </a:lnR>
                    <a:lnT>
                      <a:noFill/>
                    </a:lnT>
                    <a:lnB w="9525">
                      <a:solidFill>
                        <a:schemeClr val="accent6"/>
                      </a:solidFill>
                      <a:prstDash val="solid"/>
                    </a:lnB>
                    <a:noFill/>
                  </a:tcPr>
                </a:tc>
              </a:tr>
              <a:tr h="342900">
                <a:tc>
                  <a:txBody>
                    <a:bodyPr/>
                    <a:lstStyle/>
                    <a:p>
                      <a:pPr/>
                      <a:r>
                        <a:rPr lang="en-US" sz="1500" b="0">
                          <a:solidFill>
                            <a:schemeClr val="accent1"/>
                          </a:solidFill>
                          <a:latin typeface="Arial"/>
                          <a:ea typeface="Microsoft YaHei"/>
                          <a:cs typeface="Arial"/>
                        </a:rPr>
                        <a:t>SP.DYN.TFRT.IN</a:t>
                      </a:r>
                    </a:p>
                  </a:txBody>
                  <a:tcPr anchor="ctr" marL="114300" marR="114300" marT="38100" marB="38100">
                    <a:lnL>
                      <a:noFill/>
                    </a:lnL>
                    <a:lnR>
                      <a:noFill/>
                    </a:lnR>
                    <a:lnT>
                      <a:noFill/>
                    </a:lnT>
                    <a:lnB w="9525">
                      <a:solidFill>
                        <a:schemeClr val="accent6"/>
                      </a:solidFill>
                      <a:prstDash val="solid"/>
                    </a:lnB>
                    <a:noFill/>
                  </a:tcPr>
                </a:tc>
                <a:tc>
                  <a:txBody>
                    <a:bodyPr/>
                    <a:lstStyle/>
                    <a:p>
                      <a:pPr/>
                      <a:r>
                        <a:rPr lang="ru-RU" sz="1350" b="0">
                          <a:solidFill>
                            <a:schemeClr val="dk1"/>
                          </a:solidFill>
                          <a:latin typeface="Arial"/>
                          <a:ea typeface="Microsoft YaHei"/>
                          <a:cs typeface="Arial"/>
                        </a:rPr>
                        <a:t>Суммарный коэффициент рождаемости</a:t>
                      </a:r>
                    </a:p>
                  </a:txBody>
                  <a:tcPr anchor="ctr" marL="114300" marR="114300" marT="51435" marB="51435">
                    <a:lnL>
                      <a:noFill/>
                    </a:lnL>
                    <a:lnR>
                      <a:noFill/>
                    </a:lnR>
                    <a:lnT>
                      <a:noFill/>
                    </a:lnT>
                    <a:lnB w="9525">
                      <a:solidFill>
                        <a:schemeClr val="accent6"/>
                      </a:solidFill>
                      <a:prstDash val="solid"/>
                    </a:lnB>
                    <a:noFill/>
                  </a:tcPr>
                </a:tc>
                <a:tc>
                  <a:txBody>
                    <a:bodyPr/>
                    <a:lstStyle/>
                    <a:p>
                      <a:pPr/>
                      <a:r>
                        <a:rPr lang="ru-RU" sz="1350" b="0">
                          <a:solidFill>
                            <a:schemeClr val="accent5"/>
                          </a:solidFill>
                          <a:latin typeface="Arial"/>
                          <a:ea typeface="Microsoft YaHei"/>
                          <a:cs typeface="Arial"/>
                        </a:rPr>
                        <a:t>рожд./женщину</a:t>
                      </a:r>
                    </a:p>
                  </a:txBody>
                  <a:tcPr anchor="ctr" marL="114300" marR="114300" marT="51435" marB="51435">
                    <a:lnL>
                      <a:noFill/>
                    </a:lnL>
                    <a:lnR>
                      <a:noFill/>
                    </a:lnR>
                    <a:lnT>
                      <a:noFill/>
                    </a:lnT>
                    <a:lnB w="9525">
                      <a:solidFill>
                        <a:schemeClr val="accent6"/>
                      </a:solidFill>
                      <a:prstDash val="solid"/>
                    </a:lnB>
                    <a:noFill/>
                  </a:tcPr>
                </a:tc>
                <a:tc>
                  <a:txBody>
                    <a:bodyPr/>
                    <a:lstStyle/>
                    <a:p>
                      <a:pPr algn="r"/>
                      <a:r>
                        <a:rPr lang="ru-RU" sz="1350" b="0">
                          <a:solidFill>
                            <a:schemeClr val="accent5"/>
                          </a:solidFill>
                          <a:latin typeface="Arial"/>
                          <a:ea typeface="Microsoft YaHei"/>
                          <a:cs typeface="Arial"/>
                        </a:rPr>
                        <a:t>1991–2024</a:t>
                      </a:r>
                    </a:p>
                  </a:txBody>
                  <a:tcPr anchor="ctr" marL="114300" marR="114300" marT="51435" marB="51435">
                    <a:lnL>
                      <a:noFill/>
                    </a:lnL>
                    <a:lnR>
                      <a:noFill/>
                    </a:lnR>
                    <a:lnT>
                      <a:noFill/>
                    </a:lnT>
                    <a:lnB w="9525">
                      <a:solidFill>
                        <a:schemeClr val="accent6"/>
                      </a:solidFill>
                      <a:prstDash val="solid"/>
                    </a:lnB>
                    <a:noFill/>
                  </a:tcPr>
                </a:tc>
              </a:tr>
              <a:tr h="342900">
                <a:tc>
                  <a:txBody>
                    <a:bodyPr/>
                    <a:lstStyle/>
                    <a:p>
                      <a:pPr/>
                      <a:r>
                        <a:rPr lang="en-US" sz="1500" b="0">
                          <a:solidFill>
                            <a:schemeClr val="accent1"/>
                          </a:solidFill>
                          <a:latin typeface="Arial"/>
                          <a:ea typeface="Microsoft YaHei"/>
                          <a:cs typeface="Arial"/>
                        </a:rPr>
                        <a:t>SP.DYN.LE00.IN</a:t>
                      </a:r>
                    </a:p>
                  </a:txBody>
                  <a:tcPr anchor="ctr" marL="114300" marR="114300" marT="38100" marB="38100">
                    <a:lnL>
                      <a:noFill/>
                    </a:lnL>
                    <a:lnR>
                      <a:noFill/>
                    </a:lnR>
                    <a:lnT>
                      <a:noFill/>
                    </a:lnT>
                    <a:lnB w="9525">
                      <a:solidFill>
                        <a:schemeClr val="accent6"/>
                      </a:solidFill>
                      <a:prstDash val="solid"/>
                    </a:lnB>
                    <a:noFill/>
                  </a:tcPr>
                </a:tc>
                <a:tc>
                  <a:txBody>
                    <a:bodyPr/>
                    <a:lstStyle/>
                    <a:p>
                      <a:pPr/>
                      <a:r>
                        <a:rPr lang="ru-RU" sz="1350" b="0">
                          <a:solidFill>
                            <a:schemeClr val="dk1"/>
                          </a:solidFill>
                          <a:latin typeface="Arial"/>
                          <a:ea typeface="Microsoft YaHei"/>
                          <a:cs typeface="Arial"/>
                        </a:rPr>
                        <a:t>Ожидаемая продолжительность жизни</a:t>
                      </a:r>
                    </a:p>
                  </a:txBody>
                  <a:tcPr anchor="ctr" marL="114300" marR="114300" marT="51435" marB="51435">
                    <a:lnL>
                      <a:noFill/>
                    </a:lnL>
                    <a:lnR>
                      <a:noFill/>
                    </a:lnR>
                    <a:lnT>
                      <a:noFill/>
                    </a:lnT>
                    <a:lnB w="9525">
                      <a:solidFill>
                        <a:schemeClr val="accent6"/>
                      </a:solidFill>
                      <a:prstDash val="solid"/>
                    </a:lnB>
                    <a:noFill/>
                  </a:tcPr>
                </a:tc>
                <a:tc>
                  <a:txBody>
                    <a:bodyPr/>
                    <a:lstStyle/>
                    <a:p>
                      <a:pPr/>
                      <a:r>
                        <a:rPr lang="ru-RU" sz="1350" b="0">
                          <a:solidFill>
                            <a:schemeClr val="accent5"/>
                          </a:solidFill>
                          <a:latin typeface="Arial"/>
                          <a:ea typeface="Microsoft YaHei"/>
                          <a:cs typeface="Arial"/>
                        </a:rPr>
                        <a:t>лет</a:t>
                      </a:r>
                    </a:p>
                  </a:txBody>
                  <a:tcPr anchor="ctr" marL="114300" marR="114300" marT="51435" marB="51435">
                    <a:lnL>
                      <a:noFill/>
                    </a:lnL>
                    <a:lnR>
                      <a:noFill/>
                    </a:lnR>
                    <a:lnT>
                      <a:noFill/>
                    </a:lnT>
                    <a:lnB w="9525">
                      <a:solidFill>
                        <a:schemeClr val="accent6"/>
                      </a:solidFill>
                      <a:prstDash val="solid"/>
                    </a:lnB>
                    <a:noFill/>
                  </a:tcPr>
                </a:tc>
                <a:tc>
                  <a:txBody>
                    <a:bodyPr/>
                    <a:lstStyle/>
                    <a:p>
                      <a:pPr algn="r"/>
                      <a:r>
                        <a:rPr lang="ru-RU" sz="1350" b="0">
                          <a:solidFill>
                            <a:schemeClr val="accent5"/>
                          </a:solidFill>
                          <a:latin typeface="Arial"/>
                          <a:ea typeface="Microsoft YaHei"/>
                          <a:cs typeface="Arial"/>
                        </a:rPr>
                        <a:t>1991–2024</a:t>
                      </a:r>
                    </a:p>
                  </a:txBody>
                  <a:tcPr anchor="ctr" marL="114300" marR="114300" marT="51435" marB="51435">
                    <a:lnL>
                      <a:noFill/>
                    </a:lnL>
                    <a:lnR>
                      <a:noFill/>
                    </a:lnR>
                    <a:lnT>
                      <a:noFill/>
                    </a:lnT>
                    <a:lnB w="9525">
                      <a:solidFill>
                        <a:schemeClr val="accent6"/>
                      </a:solidFill>
                      <a:prstDash val="solid"/>
                    </a:lnB>
                    <a:noFill/>
                  </a:tcPr>
                </a:tc>
              </a:tr>
              <a:tr h="342900">
                <a:tc>
                  <a:txBody>
                    <a:bodyPr/>
                    <a:lstStyle/>
                    <a:p>
                      <a:pPr/>
                      <a:r>
                        <a:rPr lang="en-US" sz="1500" b="0">
                          <a:solidFill>
                            <a:schemeClr val="accent1"/>
                          </a:solidFill>
                          <a:latin typeface="Arial"/>
                          <a:ea typeface="Microsoft YaHei"/>
                          <a:cs typeface="Arial"/>
                        </a:rPr>
                        <a:t>SP.DYN.LE00.MA.IN</a:t>
                      </a:r>
                    </a:p>
                  </a:txBody>
                  <a:tcPr anchor="ctr" marL="114300" marR="114300" marT="38100" marB="38100">
                    <a:lnL>
                      <a:noFill/>
                    </a:lnL>
                    <a:lnR>
                      <a:noFill/>
                    </a:lnR>
                    <a:lnT>
                      <a:noFill/>
                    </a:lnT>
                    <a:lnB w="9525">
                      <a:solidFill>
                        <a:schemeClr val="accent6"/>
                      </a:solidFill>
                      <a:prstDash val="solid"/>
                    </a:lnB>
                    <a:noFill/>
                  </a:tcPr>
                </a:tc>
                <a:tc>
                  <a:txBody>
                    <a:bodyPr/>
                    <a:lstStyle/>
                    <a:p>
                      <a:pPr/>
                      <a:r>
                        <a:rPr lang="ru-RU" sz="1350" b="0">
                          <a:solidFill>
                            <a:schemeClr val="dk1"/>
                          </a:solidFill>
                          <a:latin typeface="Arial"/>
                          <a:ea typeface="Microsoft YaHei"/>
                          <a:cs typeface="Arial"/>
                        </a:rPr>
                        <a:t>То же, мужчины</a:t>
                      </a:r>
                    </a:p>
                  </a:txBody>
                  <a:tcPr anchor="ctr" marL="114300" marR="114300" marT="51435" marB="51435">
                    <a:lnL>
                      <a:noFill/>
                    </a:lnL>
                    <a:lnR>
                      <a:noFill/>
                    </a:lnR>
                    <a:lnT>
                      <a:noFill/>
                    </a:lnT>
                    <a:lnB w="9525">
                      <a:solidFill>
                        <a:schemeClr val="accent6"/>
                      </a:solidFill>
                      <a:prstDash val="solid"/>
                    </a:lnB>
                    <a:noFill/>
                  </a:tcPr>
                </a:tc>
                <a:tc>
                  <a:txBody>
                    <a:bodyPr/>
                    <a:lstStyle/>
                    <a:p>
                      <a:pPr/>
                      <a:r>
                        <a:rPr lang="ru-RU" sz="1350" b="0">
                          <a:solidFill>
                            <a:schemeClr val="accent5"/>
                          </a:solidFill>
                          <a:latin typeface="Arial"/>
                          <a:ea typeface="Microsoft YaHei"/>
                          <a:cs typeface="Arial"/>
                        </a:rPr>
                        <a:t>лет</a:t>
                      </a:r>
                    </a:p>
                  </a:txBody>
                  <a:tcPr anchor="ctr" marL="114300" marR="114300" marT="51435" marB="51435">
                    <a:lnL>
                      <a:noFill/>
                    </a:lnL>
                    <a:lnR>
                      <a:noFill/>
                    </a:lnR>
                    <a:lnT>
                      <a:noFill/>
                    </a:lnT>
                    <a:lnB w="9525">
                      <a:solidFill>
                        <a:schemeClr val="accent6"/>
                      </a:solidFill>
                      <a:prstDash val="solid"/>
                    </a:lnB>
                    <a:noFill/>
                  </a:tcPr>
                </a:tc>
                <a:tc>
                  <a:txBody>
                    <a:bodyPr/>
                    <a:lstStyle/>
                    <a:p>
                      <a:pPr algn="r"/>
                      <a:r>
                        <a:rPr lang="ru-RU" sz="1350" b="0">
                          <a:solidFill>
                            <a:schemeClr val="accent5"/>
                          </a:solidFill>
                          <a:latin typeface="Arial"/>
                          <a:ea typeface="Microsoft YaHei"/>
                          <a:cs typeface="Arial"/>
                        </a:rPr>
                        <a:t>1991–2024</a:t>
                      </a:r>
                    </a:p>
                  </a:txBody>
                  <a:tcPr anchor="ctr" marL="114300" marR="114300" marT="51435" marB="51435">
                    <a:lnL>
                      <a:noFill/>
                    </a:lnL>
                    <a:lnR>
                      <a:noFill/>
                    </a:lnR>
                    <a:lnT>
                      <a:noFill/>
                    </a:lnT>
                    <a:lnB w="9525">
                      <a:solidFill>
                        <a:schemeClr val="accent6"/>
                      </a:solidFill>
                      <a:prstDash val="solid"/>
                    </a:lnB>
                    <a:noFill/>
                  </a:tcPr>
                </a:tc>
              </a:tr>
              <a:tr h="342900">
                <a:tc>
                  <a:txBody>
                    <a:bodyPr/>
                    <a:lstStyle/>
                    <a:p>
                      <a:pPr/>
                      <a:r>
                        <a:rPr lang="en-US" sz="1500" b="0">
                          <a:solidFill>
                            <a:schemeClr val="accent1"/>
                          </a:solidFill>
                          <a:latin typeface="Arial"/>
                          <a:ea typeface="Microsoft YaHei"/>
                          <a:cs typeface="Arial"/>
                        </a:rPr>
                        <a:t>SP.DYN.LE00.FE.IN</a:t>
                      </a:r>
                    </a:p>
                  </a:txBody>
                  <a:tcPr anchor="ctr" marL="114300" marR="114300" marT="38100" marB="38100">
                    <a:lnL>
                      <a:noFill/>
                    </a:lnL>
                    <a:lnR>
                      <a:noFill/>
                    </a:lnR>
                    <a:lnT>
                      <a:noFill/>
                    </a:lnT>
                    <a:lnB w="9525">
                      <a:solidFill>
                        <a:schemeClr val="accent6"/>
                      </a:solidFill>
                      <a:prstDash val="solid"/>
                    </a:lnB>
                    <a:noFill/>
                  </a:tcPr>
                </a:tc>
                <a:tc>
                  <a:txBody>
                    <a:bodyPr/>
                    <a:lstStyle/>
                    <a:p>
                      <a:pPr/>
                      <a:r>
                        <a:rPr lang="ru-RU" sz="1350" b="0">
                          <a:solidFill>
                            <a:schemeClr val="dk1"/>
                          </a:solidFill>
                          <a:latin typeface="Arial"/>
                          <a:ea typeface="Microsoft YaHei"/>
                          <a:cs typeface="Arial"/>
                        </a:rPr>
                        <a:t>То же, женщины</a:t>
                      </a:r>
                    </a:p>
                  </a:txBody>
                  <a:tcPr anchor="ctr" marL="114300" marR="114300" marT="51435" marB="51435">
                    <a:lnL>
                      <a:noFill/>
                    </a:lnL>
                    <a:lnR>
                      <a:noFill/>
                    </a:lnR>
                    <a:lnT>
                      <a:noFill/>
                    </a:lnT>
                    <a:lnB w="9525">
                      <a:solidFill>
                        <a:schemeClr val="accent6"/>
                      </a:solidFill>
                      <a:prstDash val="solid"/>
                    </a:lnB>
                    <a:noFill/>
                  </a:tcPr>
                </a:tc>
                <a:tc>
                  <a:txBody>
                    <a:bodyPr/>
                    <a:lstStyle/>
                    <a:p>
                      <a:pPr/>
                      <a:r>
                        <a:rPr lang="ru-RU" sz="1350" b="0">
                          <a:solidFill>
                            <a:schemeClr val="accent5"/>
                          </a:solidFill>
                          <a:latin typeface="Arial"/>
                          <a:ea typeface="Microsoft YaHei"/>
                          <a:cs typeface="Arial"/>
                        </a:rPr>
                        <a:t>лет</a:t>
                      </a:r>
                    </a:p>
                  </a:txBody>
                  <a:tcPr anchor="ctr" marL="114300" marR="114300" marT="51435" marB="51435">
                    <a:lnL>
                      <a:noFill/>
                    </a:lnL>
                    <a:lnR>
                      <a:noFill/>
                    </a:lnR>
                    <a:lnT>
                      <a:noFill/>
                    </a:lnT>
                    <a:lnB w="9525">
                      <a:solidFill>
                        <a:schemeClr val="accent6"/>
                      </a:solidFill>
                      <a:prstDash val="solid"/>
                    </a:lnB>
                    <a:noFill/>
                  </a:tcPr>
                </a:tc>
                <a:tc>
                  <a:txBody>
                    <a:bodyPr/>
                    <a:lstStyle/>
                    <a:p>
                      <a:pPr algn="r"/>
                      <a:r>
                        <a:rPr lang="ru-RU" sz="1350" b="0">
                          <a:solidFill>
                            <a:schemeClr val="accent5"/>
                          </a:solidFill>
                          <a:latin typeface="Arial"/>
                          <a:ea typeface="Microsoft YaHei"/>
                          <a:cs typeface="Arial"/>
                        </a:rPr>
                        <a:t>1991–2024</a:t>
                      </a:r>
                    </a:p>
                  </a:txBody>
                  <a:tcPr anchor="ctr" marL="114300" marR="114300" marT="51435" marB="51435">
                    <a:lnL>
                      <a:noFill/>
                    </a:lnL>
                    <a:lnR>
                      <a:noFill/>
                    </a:lnR>
                    <a:lnT>
                      <a:noFill/>
                    </a:lnT>
                    <a:lnB w="9525">
                      <a:solidFill>
                        <a:schemeClr val="accent6"/>
                      </a:solidFill>
                      <a:prstDash val="solid"/>
                    </a:lnB>
                    <a:noFill/>
                  </a:tcPr>
                </a:tc>
              </a:tr>
              <a:tr h="342900">
                <a:tc>
                  <a:txBody>
                    <a:bodyPr/>
                    <a:lstStyle/>
                    <a:p>
                      <a:pPr/>
                      <a:r>
                        <a:rPr lang="en-US" sz="1500" b="0">
                          <a:solidFill>
                            <a:schemeClr val="accent1"/>
                          </a:solidFill>
                          <a:latin typeface="Arial"/>
                          <a:ea typeface="Microsoft YaHei"/>
                          <a:cs typeface="Arial"/>
                        </a:rPr>
                        <a:t>SP.URB.TOTL.IN.ZS</a:t>
                      </a:r>
                    </a:p>
                  </a:txBody>
                  <a:tcPr anchor="ctr" marL="114300" marR="114300" marT="38100" marB="38100">
                    <a:lnL>
                      <a:noFill/>
                    </a:lnL>
                    <a:lnR>
                      <a:noFill/>
                    </a:lnR>
                    <a:lnT>
                      <a:noFill/>
                    </a:lnT>
                    <a:lnB w="9525">
                      <a:solidFill>
                        <a:schemeClr val="accent6"/>
                      </a:solidFill>
                      <a:prstDash val="solid"/>
                    </a:lnB>
                    <a:noFill/>
                  </a:tcPr>
                </a:tc>
                <a:tc>
                  <a:txBody>
                    <a:bodyPr/>
                    <a:lstStyle/>
                    <a:p>
                      <a:pPr/>
                      <a:r>
                        <a:rPr lang="ru-RU" sz="1350" b="0">
                          <a:solidFill>
                            <a:schemeClr val="dk1"/>
                          </a:solidFill>
                          <a:latin typeface="Arial"/>
                          <a:ea typeface="Microsoft YaHei"/>
                          <a:cs typeface="Arial"/>
                        </a:rPr>
                        <a:t>Городское население</a:t>
                      </a:r>
                    </a:p>
                  </a:txBody>
                  <a:tcPr anchor="ctr" marL="114300" marR="114300" marT="51435" marB="51435">
                    <a:lnL>
                      <a:noFill/>
                    </a:lnL>
                    <a:lnR>
                      <a:noFill/>
                    </a:lnR>
                    <a:lnT>
                      <a:noFill/>
                    </a:lnT>
                    <a:lnB w="9525">
                      <a:solidFill>
                        <a:schemeClr val="accent6"/>
                      </a:solidFill>
                      <a:prstDash val="solid"/>
                    </a:lnB>
                    <a:noFill/>
                  </a:tcPr>
                </a:tc>
                <a:tc>
                  <a:txBody>
                    <a:bodyPr/>
                    <a:lstStyle/>
                    <a:p>
                      <a:pPr/>
                      <a:r>
                        <a:rPr lang="ru-RU" sz="1350" b="0">
                          <a:solidFill>
                            <a:schemeClr val="accent5"/>
                          </a:solidFill>
                          <a:latin typeface="Arial"/>
                          <a:ea typeface="Microsoft YaHei"/>
                          <a:cs typeface="Arial"/>
                        </a:rPr>
                        <a:t>% населения</a:t>
                      </a:r>
                    </a:p>
                  </a:txBody>
                  <a:tcPr anchor="ctr" marL="114300" marR="114300" marT="51435" marB="51435">
                    <a:lnL>
                      <a:noFill/>
                    </a:lnL>
                    <a:lnR>
                      <a:noFill/>
                    </a:lnR>
                    <a:lnT>
                      <a:noFill/>
                    </a:lnT>
                    <a:lnB w="9525">
                      <a:solidFill>
                        <a:schemeClr val="accent6"/>
                      </a:solidFill>
                      <a:prstDash val="solid"/>
                    </a:lnB>
                    <a:noFill/>
                  </a:tcPr>
                </a:tc>
                <a:tc>
                  <a:txBody>
                    <a:bodyPr/>
                    <a:lstStyle/>
                    <a:p>
                      <a:pPr algn="r"/>
                      <a:r>
                        <a:rPr lang="ru-RU" sz="1350" b="0">
                          <a:solidFill>
                            <a:schemeClr val="accent5"/>
                          </a:solidFill>
                          <a:latin typeface="Arial"/>
                          <a:ea typeface="Microsoft YaHei"/>
                          <a:cs typeface="Arial"/>
                        </a:rPr>
                        <a:t>1991–2024</a:t>
                      </a:r>
                    </a:p>
                  </a:txBody>
                  <a:tcPr anchor="ctr" marL="114300" marR="114300" marT="51435" marB="51435">
                    <a:lnL>
                      <a:noFill/>
                    </a:lnL>
                    <a:lnR>
                      <a:noFill/>
                    </a:lnR>
                    <a:lnT>
                      <a:noFill/>
                    </a:lnT>
                    <a:lnB w="9525">
                      <a:solidFill>
                        <a:schemeClr val="accent6"/>
                      </a:solidFill>
                      <a:prstDash val="solid"/>
                    </a:lnB>
                    <a:noFill/>
                  </a:tcPr>
                </a:tc>
              </a:tr>
              <a:tr h="342900">
                <a:tc>
                  <a:txBody>
                    <a:bodyPr/>
                    <a:lstStyle/>
                    <a:p>
                      <a:pPr/>
                      <a:r>
                        <a:rPr lang="en-US" sz="1500" b="0">
                          <a:solidFill>
                            <a:schemeClr val="accent1"/>
                          </a:solidFill>
                          <a:latin typeface="Arial"/>
                          <a:ea typeface="Microsoft YaHei"/>
                          <a:cs typeface="Arial"/>
                        </a:rPr>
                        <a:t>SP.POP.65UP.TO.ZS</a:t>
                      </a:r>
                    </a:p>
                  </a:txBody>
                  <a:tcPr anchor="ctr" marL="114300" marR="114300" marT="38100" marB="38100">
                    <a:lnL>
                      <a:noFill/>
                    </a:lnL>
                    <a:lnR>
                      <a:noFill/>
                    </a:lnR>
                    <a:lnT>
                      <a:noFill/>
                    </a:lnT>
                    <a:lnB w="9525">
                      <a:solidFill>
                        <a:schemeClr val="accent6"/>
                      </a:solidFill>
                      <a:prstDash val="solid"/>
                    </a:lnB>
                    <a:noFill/>
                  </a:tcPr>
                </a:tc>
                <a:tc>
                  <a:txBody>
                    <a:bodyPr/>
                    <a:lstStyle/>
                    <a:p>
                      <a:pPr/>
                      <a:r>
                        <a:rPr lang="ru-RU" sz="1350" b="0">
                          <a:solidFill>
                            <a:schemeClr val="dk1"/>
                          </a:solidFill>
                          <a:latin typeface="Arial"/>
                          <a:ea typeface="Microsoft YaHei"/>
                          <a:cs typeface="Arial"/>
                        </a:rPr>
                        <a:t>Население 65 лет и старше</a:t>
                      </a:r>
                    </a:p>
                  </a:txBody>
                  <a:tcPr anchor="ctr" marL="114300" marR="114300" marT="51435" marB="51435">
                    <a:lnL>
                      <a:noFill/>
                    </a:lnL>
                    <a:lnR>
                      <a:noFill/>
                    </a:lnR>
                    <a:lnT>
                      <a:noFill/>
                    </a:lnT>
                    <a:lnB w="9525">
                      <a:solidFill>
                        <a:schemeClr val="accent6"/>
                      </a:solidFill>
                      <a:prstDash val="solid"/>
                    </a:lnB>
                    <a:noFill/>
                  </a:tcPr>
                </a:tc>
                <a:tc>
                  <a:txBody>
                    <a:bodyPr/>
                    <a:lstStyle/>
                    <a:p>
                      <a:pPr/>
                      <a:r>
                        <a:rPr lang="ru-RU" sz="1350" b="0">
                          <a:solidFill>
                            <a:schemeClr val="accent5"/>
                          </a:solidFill>
                          <a:latin typeface="Arial"/>
                          <a:ea typeface="Microsoft YaHei"/>
                          <a:cs typeface="Arial"/>
                        </a:rPr>
                        <a:t>% населения</a:t>
                      </a:r>
                    </a:p>
                  </a:txBody>
                  <a:tcPr anchor="ctr" marL="114300" marR="114300" marT="51435" marB="51435">
                    <a:lnL>
                      <a:noFill/>
                    </a:lnL>
                    <a:lnR>
                      <a:noFill/>
                    </a:lnR>
                    <a:lnT>
                      <a:noFill/>
                    </a:lnT>
                    <a:lnB w="9525">
                      <a:solidFill>
                        <a:schemeClr val="accent6"/>
                      </a:solidFill>
                      <a:prstDash val="solid"/>
                    </a:lnB>
                    <a:noFill/>
                  </a:tcPr>
                </a:tc>
                <a:tc>
                  <a:txBody>
                    <a:bodyPr/>
                    <a:lstStyle/>
                    <a:p>
                      <a:pPr algn="r"/>
                      <a:r>
                        <a:rPr lang="ru-RU" sz="1350" b="0">
                          <a:solidFill>
                            <a:schemeClr val="accent5"/>
                          </a:solidFill>
                          <a:latin typeface="Arial"/>
                          <a:ea typeface="Microsoft YaHei"/>
                          <a:cs typeface="Arial"/>
                        </a:rPr>
                        <a:t>1991–2024</a:t>
                      </a:r>
                    </a:p>
                  </a:txBody>
                  <a:tcPr anchor="ctr" marL="114300" marR="114300" marT="51435" marB="51435">
                    <a:lnL>
                      <a:noFill/>
                    </a:lnL>
                    <a:lnR>
                      <a:noFill/>
                    </a:lnR>
                    <a:lnT>
                      <a:noFill/>
                    </a:lnT>
                    <a:lnB w="9525">
                      <a:solidFill>
                        <a:schemeClr val="accent6"/>
                      </a:solidFill>
                      <a:prstDash val="solid"/>
                    </a:lnB>
                    <a:noFill/>
                  </a:tcPr>
                </a:tc>
              </a:tr>
              <a:tr h="342900">
                <a:tc>
                  <a:txBody>
                    <a:bodyPr/>
                    <a:lstStyle/>
                    <a:p>
                      <a:pPr/>
                      <a:r>
                        <a:rPr lang="en-US" sz="1500" b="0">
                          <a:solidFill>
                            <a:schemeClr val="accent1"/>
                          </a:solidFill>
                          <a:latin typeface="Arial"/>
                          <a:ea typeface="Microsoft YaHei"/>
                          <a:cs typeface="Arial"/>
                        </a:rPr>
                        <a:t>SM.POP.NETM</a:t>
                      </a:r>
                    </a:p>
                  </a:txBody>
                  <a:tcPr anchor="ctr" marL="114300" marR="114300" marT="38100" marB="38100">
                    <a:lnL>
                      <a:noFill/>
                    </a:lnL>
                    <a:lnR>
                      <a:noFill/>
                    </a:lnR>
                    <a:lnT>
                      <a:noFill/>
                    </a:lnT>
                    <a:lnB w="9525">
                      <a:solidFill>
                        <a:schemeClr val="accent6"/>
                      </a:solidFill>
                      <a:prstDash val="solid"/>
                    </a:lnB>
                    <a:noFill/>
                  </a:tcPr>
                </a:tc>
                <a:tc>
                  <a:txBody>
                    <a:bodyPr/>
                    <a:lstStyle/>
                    <a:p>
                      <a:pPr/>
                      <a:r>
                        <a:rPr lang="ru-RU" sz="1350" b="0">
                          <a:solidFill>
                            <a:schemeClr val="dk1"/>
                          </a:solidFill>
                          <a:latin typeface="Arial"/>
                          <a:ea typeface="Microsoft YaHei"/>
                          <a:cs typeface="Arial"/>
                        </a:rPr>
                        <a:t>Сальдо международной миграции</a:t>
                      </a:r>
                    </a:p>
                  </a:txBody>
                  <a:tcPr anchor="ctr" marL="114300" marR="114300" marT="51435" marB="51435">
                    <a:lnL>
                      <a:noFill/>
                    </a:lnL>
                    <a:lnR>
                      <a:noFill/>
                    </a:lnR>
                    <a:lnT>
                      <a:noFill/>
                    </a:lnT>
                    <a:lnB w="9525">
                      <a:solidFill>
                        <a:schemeClr val="accent6"/>
                      </a:solidFill>
                      <a:prstDash val="solid"/>
                    </a:lnB>
                    <a:noFill/>
                  </a:tcPr>
                </a:tc>
                <a:tc>
                  <a:txBody>
                    <a:bodyPr/>
                    <a:lstStyle/>
                    <a:p>
                      <a:pPr/>
                      <a:r>
                        <a:rPr lang="ru-RU" sz="1350" b="0">
                          <a:solidFill>
                            <a:schemeClr val="accent5"/>
                          </a:solidFill>
                          <a:latin typeface="Arial"/>
                          <a:ea typeface="Microsoft YaHei"/>
                          <a:cs typeface="Arial"/>
                        </a:rPr>
                        <a:t>человек</a:t>
                      </a:r>
                    </a:p>
                  </a:txBody>
                  <a:tcPr anchor="ctr" marL="114300" marR="114300" marT="51435" marB="51435">
                    <a:lnL>
                      <a:noFill/>
                    </a:lnL>
                    <a:lnR>
                      <a:noFill/>
                    </a:lnR>
                    <a:lnT>
                      <a:noFill/>
                    </a:lnT>
                    <a:lnB w="9525">
                      <a:solidFill>
                        <a:schemeClr val="accent6"/>
                      </a:solidFill>
                      <a:prstDash val="solid"/>
                    </a:lnB>
                    <a:noFill/>
                  </a:tcPr>
                </a:tc>
                <a:tc>
                  <a:txBody>
                    <a:bodyPr/>
                    <a:lstStyle/>
                    <a:p>
                      <a:pPr algn="r"/>
                      <a:r>
                        <a:rPr lang="ru-RU" sz="1350" b="0">
                          <a:solidFill>
                            <a:schemeClr val="accent5"/>
                          </a:solidFill>
                          <a:latin typeface="Arial"/>
                          <a:ea typeface="Microsoft YaHei"/>
                          <a:cs typeface="Arial"/>
                        </a:rPr>
                        <a:t>1991–2024</a:t>
                      </a:r>
                    </a:p>
                  </a:txBody>
                  <a:tcPr anchor="ctr" marL="114300" marR="114300" marT="51435" marB="51435">
                    <a:lnL>
                      <a:noFill/>
                    </a:lnL>
                    <a:lnR>
                      <a:noFill/>
                    </a:lnR>
                    <a:lnT>
                      <a:noFill/>
                    </a:lnT>
                    <a:lnB w="9525">
                      <a:solidFill>
                        <a:schemeClr val="accent6"/>
                      </a:solidFill>
                      <a:prstDash val="solid"/>
                    </a:lnB>
                    <a:noFill/>
                  </a:tcPr>
                </a:tc>
              </a:tr>
            </a:tbl>
          </a:graphicData>
        </a:graphic>
      </p:graphicFrame>
      <p:grpSp>
        <p:nvGrpSpPr>
          <p:cNvPr id="15" name="method-note"/>
          <p:cNvGrpSpPr/>
          <p:nvPr/>
        </p:nvGrpSpPr>
        <p:grpSpPr>
          <a:xfrm>
            <a:off x="678942" y="5893118"/>
            <a:ext cx="8575895" cy="511683"/>
            <a:chOff x="678942" y="5893118"/>
            <a:chExt cx="8575895" cy="511683"/>
          </a:xfrm>
        </p:grpSpPr>
        <p:sp>
          <p:nvSpPr>
            <p:cNvPr id="14" name="TextBox 14"/>
            <p:cNvSpPr txBox="1"/>
            <p:nvPr/>
          </p:nvSpPr>
          <p:spPr>
            <a:xfrm>
              <a:off x="678942" y="5893118"/>
              <a:ext cx="8575895" cy="511683"/>
            </a:xfrm>
            <a:prstGeom prst="rect">
              <a:avLst/>
            </a:prstGeom>
            <a:noFill/>
            <a:ln>
              <a:noFill/>
            </a:ln>
          </p:spPr>
          <p:txBody>
            <a:bodyPr wrap="none" lIns="0" tIns="0" rIns="0" bIns="0" anchor="t" anchorCtr="0">
              <a:spAutoFit/>
            </a:bodyPr>
            <a:lstStyle/>
            <a:p>
              <a:pPr algn="l">
                <a:lnSpc>
                  <a:spcPts val="1950"/>
                </a:lnSpc>
              </a:pPr>
              <a:r>
                <a:rPr lang="ru-RU" sz="1350" dirty="0">
                  <a:solidFill>
                    <a:schemeClr val="accent5"/>
                  </a:solidFill>
                  <a:latin typeface="+mn-lt"/>
                  <a:ea typeface="+mn-ea"/>
                  <a:cs typeface="+mn-cs"/>
                </a:rPr>
                <a:t>Производные величины (естественный прирост, разрыв, изменение за период) помечены словом «расчёт».</a:t>
              </a:r>
              <a:br/>
              <a:r>
                <a:rPr lang="ru-RU" sz="1350" dirty="0">
                  <a:solidFill>
                    <a:schemeClr val="accent5"/>
                  </a:solidFill>
                  <a:latin typeface="+mn-lt"/>
                  <a:ea typeface="+mn-ea"/>
                  <a:cs typeface="+mn-cs"/>
                </a:rPr>
                <a:t>Страны сопоставления: Германия, Япония, Китай, США.</a:t>
              </a:r>
            </a:p>
          </p:txBody>
        </p:sp>
      </p:grpSp>
      <p:grpSp>
        <p:nvGrpSpPr>
          <p:cNvPr id="18" name="page-footer"/>
          <p:cNvGrpSpPr/>
          <p:nvPr/>
        </p:nvGrpSpPr>
        <p:grpSpPr>
          <a:xfrm>
            <a:off x="679704" y="6442710"/>
            <a:ext cx="10832592" cy="234696"/>
            <a:chOff x="679704" y="6442710"/>
            <a:chExt cx="10832592" cy="234696"/>
          </a:xfrm>
        </p:grpSpPr>
        <p:sp>
          <p:nvSpPr>
            <p:cNvPr id="16" name="TextBox 16"/>
            <p:cNvSpPr txBox="1"/>
            <p:nvPr/>
          </p:nvSpPr>
          <p:spPr>
            <a:xfrm>
              <a:off x="679704" y="6442710"/>
              <a:ext cx="4389420" cy="234696"/>
            </a:xfrm>
            <a:prstGeom prst="rect">
              <a:avLst/>
            </a:prstGeom>
            <a:noFill/>
            <a:ln>
              <a:noFill/>
            </a:ln>
          </p:spPr>
          <p:txBody>
            <a:bodyPr wrap="none" lIns="0" tIns="0" rIns="0" bIns="0" anchor="t" anchorCtr="0">
              <a:spAutoFit/>
            </a:bodyPr>
            <a:lstStyle/>
            <a:p>
              <a:pPr algn="l"/>
              <a:r>
                <a:rPr lang="ru-RU" sz="1200" dirty="0">
                  <a:solidFill>
                    <a:schemeClr val="accent5"/>
                  </a:solidFill>
                  <a:latin typeface="+mn-lt"/>
                  <a:ea typeface="+mn-ea"/>
                  <a:cs typeface="+mn-cs"/>
                </a:rPr>
                <a:t>Всемирный банк, World Development Indicators, 1991–2024</a:t>
              </a:r>
            </a:p>
          </p:txBody>
        </p:sp>
        <p:sp>
          <p:nvSpPr>
            <p:cNvPr id="17" name="TextBox 17"/>
            <p:cNvSpPr txBox="1"/>
            <p:nvPr/>
          </p:nvSpPr>
          <p:spPr>
            <a:xfrm>
              <a:off x="11320402" y="6442710"/>
              <a:ext cx="191894" cy="234696"/>
            </a:xfrm>
            <a:prstGeom prst="rect">
              <a:avLst/>
            </a:prstGeom>
            <a:noFill/>
            <a:ln>
              <a:noFill/>
            </a:ln>
          </p:spPr>
          <p:txBody>
            <a:bodyPr wrap="none" lIns="0" tIns="0" rIns="0" bIns="0" anchor="t" anchorCtr="0">
              <a:spAutoFit/>
            </a:bodyPr>
            <a:lstStyle/>
            <a:p>
              <a:pPr algn="r"/>
              <a:r>
                <a:rPr lang="ru-RU" sz="1200" dirty="0">
                  <a:solidFill>
                    <a:schemeClr val="accent5"/>
                  </a:solidFill>
                  <a:latin typeface="+mn-lt"/>
                  <a:ea typeface="+mn-ea"/>
                  <a:cs typeface="+mn-cs"/>
                </a:rPr>
                <a:t>02</a:t>
              </a:r>
            </a:p>
          </p:txBody>
        </p:sp>
      </p:grpSp>
    </p:spTree>
  </p:cSld>
  <p:clrMapOvr>
    <a:masterClrMapping/>
  </p:clrMapOvr>
  <mc:AlternateContent>
    <mc:Choice Requires="p159">
      <p:transition p14:dur="8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par>
                          <p:cTn id="8" fill="hold">
                            <p:stCondLst>
                              <p:cond delay="400"/>
                            </p:stCondLst>
                            <p:childTnLst>
                              <p:par>
                                <p:cTn id="9" presetID="22" presetClass="entr" presetSubtype="4" fill="hold" grpId="0" nodeType="afterEffect">
                                  <p:stCondLst>
                                    <p:cond delay="500"/>
                                  </p:stCondLst>
                                  <p:childTnLst>
                                    <p:set>
                                      <p:cBhvr>
                                        <p:cTn id="10" dur="1" fill="hold">
                                          <p:stCondLst>
                                            <p:cond delay="0"/>
                                          </p:stCondLst>
                                        </p:cTn>
                                        <p:tgtEl>
                                          <p:spTgt spid="13"/>
                                        </p:tgtEl>
                                        <p:attrNameLst>
                                          <p:attrName>style.visibility</p:attrName>
                                        </p:attrNameLst>
                                      </p:cBhvr>
                                      <p:to>
                                        <p:strVal val="visible"/>
                                      </p:to>
                                    </p:set>
                                    <p:animEffect transition="in" filter="wipe(down)">
                                      <p:cBhvr>
                                        <p:cTn id="11" dur="800"/>
                                        <p:tgtEl>
                                          <p:spTgt spid="13"/>
                                        </p:tgtEl>
                                      </p:cBhvr>
                                    </p:animEffect>
                                  </p:childTnLst>
                                </p:cTn>
                              </p:par>
                            </p:childTnLst>
                          </p:cTn>
                        </p:par>
                        <p:par>
                          <p:cTn id="12" fill="hold">
                            <p:stCondLst>
                              <p:cond delay="1700"/>
                            </p:stCondLst>
                            <p:childTnLst>
                              <p:par>
                                <p:cTn id="13" presetID="10" presetClass="entr" presetSubtype="0" fill="hold" grpId="0" nodeType="afterEffect">
                                  <p:stCondLst>
                                    <p:cond delay="50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c="http://schemas.openxmlformats.org/drawingml/2006/chart" xmlns:p="http://schemas.openxmlformats.org/presentationml/2006/main" xmlns:p14="http://schemas.microsoft.com/office/powerpoint/2010/main" xmlns:r="http://schemas.openxmlformats.org/officeDocument/2006/relationships">
  <p:cSld>
    <p:bg>
      <p:bgPr>
        <a:solidFill>
          <a:schemeClr val="lt1"/>
        </a:solidFill>
        <a:effectLst/>
      </p:bgPr>
    </p:bg>
    <p:spTree>
      <p:nvGrpSpPr>
        <p:cNvPr id="1" name=""/>
        <p:cNvGrpSpPr/>
        <p:nvPr/>
      </p:nvGrpSpPr>
      <p:grpSpPr>
        <a:xfrm>
          <a:off x="0" y="0"/>
          <a:ext cx="0" cy="0"/>
          <a:chOff x="0" y="0"/>
          <a:chExt cx="0" cy="0"/>
        </a:xfrm>
      </p:grpSpPr>
      <p:grpSp>
        <p:nvGrpSpPr>
          <p:cNvPr id="4" name="page-header"/>
          <p:cNvGrpSpPr/>
          <p:nvPr/>
        </p:nvGrpSpPr>
        <p:grpSpPr>
          <a:xfrm>
            <a:off x="670560" y="590550"/>
            <a:ext cx="7460224" cy="1212723"/>
            <a:chOff x="670560" y="590550"/>
            <a:chExt cx="7460224" cy="1212723"/>
          </a:xfrm>
        </p:grpSpPr>
        <p:sp>
          <p:nvSpPr>
            <p:cNvPr id="2" name="TextBox 2"/>
            <p:cNvSpPr txBox="1"/>
            <p:nvPr/>
          </p:nvSpPr>
          <p:spPr>
            <a:xfrm>
              <a:off x="670560" y="590550"/>
              <a:ext cx="6420170" cy="586740"/>
            </a:xfrm>
            <a:prstGeom prst="rect">
              <a:avLst/>
            </a:prstGeom>
            <a:noFill/>
            <a:ln>
              <a:noFill/>
            </a:ln>
          </p:spPr>
          <p:txBody>
            <a:bodyPr wrap="none" lIns="0" tIns="0" rIns="0" bIns="0" anchor="t" anchorCtr="0">
              <a:spAutoFit/>
            </a:bodyPr>
            <a:lstStyle/>
            <a:p>
              <a:pPr algn="l"/>
              <a:r>
                <a:rPr lang="ru-RU" sz="3000" b="1" dirty="0">
                  <a:solidFill>
                    <a:schemeClr val="accent1"/>
                  </a:solidFill>
                  <a:latin typeface="+mj-lt"/>
                  <a:ea typeface="+mj-ea"/>
                  <a:cs typeface="+mj-cs"/>
                </a:rPr>
                <a:t>Население: −4,7 млн за 33 года</a:t>
              </a:r>
            </a:p>
          </p:txBody>
        </p:sp>
        <p:sp>
          <p:nvSpPr>
            <p:cNvPr id="3" name="TextBox 3"/>
            <p:cNvSpPr txBox="1"/>
            <p:nvPr/>
          </p:nvSpPr>
          <p:spPr>
            <a:xfrm>
              <a:off x="675132" y="1068705"/>
              <a:ext cx="7455652" cy="734568"/>
            </a:xfrm>
            <a:prstGeom prst="rect">
              <a:avLst/>
            </a:prstGeom>
            <a:noFill/>
            <a:ln>
              <a:noFill/>
            </a:ln>
          </p:spPr>
          <p:txBody>
            <a:bodyPr wrap="none" lIns="0" tIns="0" rIns="0" bIns="0" anchor="t" anchorCtr="0">
              <a:spAutoFit/>
            </a:bodyPr>
            <a:lstStyle/>
            <a:p>
              <a:pPr algn="l">
                <a:lnSpc>
                  <a:spcPts val="2550"/>
                </a:lnSpc>
              </a:pPr>
              <a:r>
                <a:rPr lang="ru-RU" sz="2100" dirty="0">
                  <a:solidFill>
                    <a:schemeClr val="dk1"/>
                  </a:solidFill>
                  <a:latin typeface="+mn-lt"/>
                  <a:ea typeface="+mn-ea"/>
                  <a:cs typeface="+mn-cs"/>
                </a:rPr>
                <a:t>Непрерывное падение 1994–2008, восстановление до 2019,</a:t>
              </a:r>
              <a:br/>
              <a:r>
                <a:rPr lang="ru-RU" sz="2100" dirty="0">
                  <a:solidFill>
                    <a:schemeClr val="dk1"/>
                  </a:solidFill>
                  <a:latin typeface="+mn-lt"/>
                  <a:ea typeface="+mn-ea"/>
                  <a:cs typeface="+mn-cs"/>
                </a:rPr>
                <a:t>новая убыль с 2021 года</a:t>
              </a:r>
            </a:p>
          </p:txBody>
        </p:sp>
      </p:grpSp>
      <p:grpSp>
        <p:nvGrpSpPr>
          <p:cNvPr id="11" name="population-curve"/>
          <p:cNvGrpSpPr/>
          <p:nvPr/>
        </p:nvGrpSpPr>
        <p:grpSpPr>
          <a:xfrm>
            <a:off x="685800" y="1787842"/>
            <a:ext cx="8020050" cy="3889058"/>
            <a:chOff x="685800" y="1787842"/>
            <a:chExt cx="8020050" cy="3889058"/>
          </a:xfrm>
        </p:grpSpPr>
        <p:graphicFrame>
          <p:nvGraphicFramePr>
            <p:cNvPr id="5" name="population-curve"/>
            <p:cNvGraphicFramePr>
              <a:graphicFrameLocks noGrp="1"/>
            </p:cNvGraphicFramePr>
            <p:nvPr/>
          </p:nvGraphicFramePr>
          <p:xfrm>
            <a:off x="685800" y="1866900"/>
            <a:ext cx="8020050" cy="3810000"/>
          </p:xfrm>
          <a:graphic>
            <a:graphicData uri="http://schemas.openxmlformats.org/drawingml/2006/chart">
              <c:chart r:id="rId2"/>
            </a:graphicData>
          </a:graphic>
        </p:graphicFrame>
        <p:sp>
          <p:nvSpPr>
            <p:cNvPr id="6" name="Chart Note 6"/>
            <p:cNvSpPr txBox="1"/>
            <p:nvPr/>
          </p:nvSpPr>
          <p:spPr>
            <a:xfrm>
              <a:off x="1543050" y="2028825"/>
              <a:ext cx="857250" cy="304800"/>
            </a:xfrm>
            <a:prstGeom prst="rect">
              <a:avLst/>
            </a:prstGeom>
            <a:noFill/>
            <a:ln>
              <a:noFill/>
            </a:ln>
          </p:spPr>
          <p:txBody>
            <a:bodyPr wrap="square" lIns="0" tIns="0" rIns="0" bIns="0" anchor="b" anchorCtr="0"/>
            <a:lstStyle/>
            <a:p>
              <a:pPr algn="l"/>
              <a:r>
                <a:rPr lang="ru-RU" sz="1500" b="1">
                  <a:solidFill>
                    <a:srgbClr val="1B2B3A"/>
                  </a:solidFill>
                  <a:latin typeface="Arial"/>
                  <a:ea typeface="Microsoft YaHei"/>
                  <a:cs typeface="Arial"/>
                </a:rPr>
                <a:t>148,39</a:t>
              </a:r>
            </a:p>
          </p:txBody>
        </p:sp>
        <p:sp>
          <p:nvSpPr>
            <p:cNvPr id="7" name="Chart Note 7"/>
            <p:cNvSpPr txBox="1"/>
            <p:nvPr/>
          </p:nvSpPr>
          <p:spPr>
            <a:xfrm>
              <a:off x="4630102" y="4981575"/>
              <a:ext cx="857250" cy="304800"/>
            </a:xfrm>
            <a:prstGeom prst="rect">
              <a:avLst/>
            </a:prstGeom>
            <a:noFill/>
            <a:ln>
              <a:noFill/>
            </a:ln>
          </p:spPr>
          <p:txBody>
            <a:bodyPr wrap="square" lIns="0" tIns="0" rIns="0" bIns="0" anchor="b" anchorCtr="0"/>
            <a:lstStyle/>
            <a:p>
              <a:pPr algn="ctr"/>
              <a:r>
                <a:rPr lang="ru-RU" sz="1500" b="1">
                  <a:solidFill>
                    <a:srgbClr val="B3121B"/>
                  </a:solidFill>
                  <a:latin typeface="Arial"/>
                  <a:ea typeface="Microsoft YaHei"/>
                  <a:cs typeface="Arial"/>
                </a:rPr>
                <a:t>142,74</a:t>
              </a:r>
            </a:p>
          </p:txBody>
        </p:sp>
        <p:sp>
          <p:nvSpPr>
            <p:cNvPr id="8" name="Chart Note 8"/>
            <p:cNvSpPr txBox="1"/>
            <p:nvPr/>
          </p:nvSpPr>
          <p:spPr>
            <a:xfrm>
              <a:off x="6979920" y="3343275"/>
              <a:ext cx="857250" cy="304800"/>
            </a:xfrm>
            <a:prstGeom prst="rect">
              <a:avLst/>
            </a:prstGeom>
            <a:noFill/>
            <a:ln>
              <a:noFill/>
            </a:ln>
          </p:spPr>
          <p:txBody>
            <a:bodyPr wrap="square" lIns="0" tIns="0" rIns="0" bIns="0" anchor="b" anchorCtr="0"/>
            <a:lstStyle/>
            <a:p>
              <a:pPr algn="ctr"/>
              <a:r>
                <a:rPr lang="ru-RU" sz="1500" b="1">
                  <a:solidFill>
                    <a:srgbClr val="2E6F8E"/>
                  </a:solidFill>
                  <a:latin typeface="Arial"/>
                  <a:ea typeface="Microsoft YaHei"/>
                  <a:cs typeface="Arial"/>
                </a:rPr>
                <a:t>145,45</a:t>
              </a:r>
            </a:p>
          </p:txBody>
        </p:sp>
        <p:sp>
          <p:nvSpPr>
            <p:cNvPr id="9" name="Chart Note 9"/>
            <p:cNvSpPr txBox="1"/>
            <p:nvPr/>
          </p:nvSpPr>
          <p:spPr>
            <a:xfrm>
              <a:off x="7505700" y="4162425"/>
              <a:ext cx="857250" cy="304800"/>
            </a:xfrm>
            <a:prstGeom prst="rect">
              <a:avLst/>
            </a:prstGeom>
            <a:noFill/>
            <a:ln>
              <a:noFill/>
            </a:ln>
          </p:spPr>
          <p:txBody>
            <a:bodyPr wrap="square" lIns="0" tIns="0" rIns="0" bIns="0" anchor="b" anchorCtr="0"/>
            <a:lstStyle/>
            <a:p>
              <a:pPr algn="r"/>
              <a:r>
                <a:rPr lang="ru-RU" sz="1500" b="1">
                  <a:solidFill>
                    <a:srgbClr val="1B2B3A"/>
                  </a:solidFill>
                  <a:latin typeface="Arial"/>
                  <a:ea typeface="Microsoft YaHei"/>
                  <a:cs typeface="Arial"/>
                </a:rPr>
                <a:t>143,67</a:t>
              </a:r>
            </a:p>
          </p:txBody>
        </p:sp>
        <p:sp>
          <p:nvSpPr>
            <p:cNvPr id="10" name="Chart Note 10"/>
            <p:cNvSpPr txBox="1"/>
            <p:nvPr/>
          </p:nvSpPr>
          <p:spPr>
            <a:xfrm>
              <a:off x="1428750" y="1787842"/>
              <a:ext cx="1238250" cy="274320"/>
            </a:xfrm>
            <a:prstGeom prst="rect">
              <a:avLst/>
            </a:prstGeom>
            <a:noFill/>
            <a:ln>
              <a:noFill/>
            </a:ln>
          </p:spPr>
          <p:txBody>
            <a:bodyPr wrap="square" lIns="0" tIns="0" rIns="0" bIns="0" anchor="b" anchorCtr="0"/>
            <a:lstStyle/>
            <a:p>
              <a:pPr algn="l"/>
              <a:r>
                <a:rPr lang="ru-RU" sz="1350">
                  <a:solidFill>
                    <a:srgbClr val="5B6670"/>
                  </a:solidFill>
                  <a:latin typeface="Arial"/>
                  <a:ea typeface="Microsoft YaHei"/>
                  <a:cs typeface="Arial"/>
                </a:rPr>
                <a:t>млн человек</a:t>
              </a:r>
            </a:p>
          </p:txBody>
        </p:sp>
      </p:grpSp>
      <p:grpSp>
        <p:nvGrpSpPr>
          <p:cNvPr id="18" name="pop-minimum-note"/>
          <p:cNvGrpSpPr/>
          <p:nvPr/>
        </p:nvGrpSpPr>
        <p:grpSpPr>
          <a:xfrm>
            <a:off x="8941308" y="2006918"/>
            <a:ext cx="2564892" cy="1719071"/>
            <a:chOff x="8941308" y="2006918"/>
            <a:chExt cx="2564892" cy="1719071"/>
          </a:xfrm>
        </p:grpSpPr>
        <p:sp>
          <p:nvSpPr>
            <p:cNvPr id="12" name="TextBox 12"/>
            <p:cNvSpPr txBox="1"/>
            <p:nvPr/>
          </p:nvSpPr>
          <p:spPr>
            <a:xfrm>
              <a:off x="8946642" y="2006918"/>
              <a:ext cx="1844349" cy="264033"/>
            </a:xfrm>
            <a:prstGeom prst="rect">
              <a:avLst/>
            </a:prstGeom>
            <a:noFill/>
            <a:ln>
              <a:noFill/>
            </a:ln>
          </p:spPr>
          <p:txBody>
            <a:bodyPr wrap="none" lIns="0" tIns="0" rIns="0" bIns="0" anchor="t" anchorCtr="0">
              <a:spAutoFit/>
            </a:bodyPr>
            <a:lstStyle/>
            <a:p>
              <a:pPr algn="l"/>
              <a:r>
                <a:rPr lang="ru-RU" sz="1350" spc="150" dirty="0">
                  <a:solidFill>
                    <a:schemeClr val="accent5"/>
                  </a:solidFill>
                  <a:latin typeface="+mn-lt"/>
                  <a:ea typeface="+mn-ea"/>
                  <a:cs typeface="+mn-cs"/>
                </a:rPr>
                <a:t>МИНИМУМ ПЕРИОДА</a:t>
              </a:r>
            </a:p>
          </p:txBody>
        </p:sp>
        <p:sp>
          <p:nvSpPr>
            <p:cNvPr id="13" name="TextBox 13"/>
            <p:cNvSpPr txBox="1"/>
            <p:nvPr/>
          </p:nvSpPr>
          <p:spPr>
            <a:xfrm>
              <a:off x="8941308" y="2274570"/>
              <a:ext cx="1639946" cy="469392"/>
            </a:xfrm>
            <a:prstGeom prst="rect">
              <a:avLst/>
            </a:prstGeom>
            <a:noFill/>
            <a:ln>
              <a:noFill/>
            </a:ln>
          </p:spPr>
          <p:txBody>
            <a:bodyPr wrap="none" lIns="0" tIns="0" rIns="0" bIns="0" anchor="t" anchorCtr="0">
              <a:spAutoFit/>
            </a:bodyPr>
            <a:lstStyle/>
            <a:p>
              <a:pPr algn="l"/>
              <a:r>
                <a:rPr lang="ru-RU" sz="2400" b="1" dirty="0">
                  <a:solidFill>
                    <a:schemeClr val="accent2"/>
                  </a:solidFill>
                  <a:latin typeface="+mj-lt"/>
                  <a:ea typeface="+mj-ea"/>
                  <a:cs typeface="+mj-cs"/>
                </a:rPr>
                <a:t>142,74 млн</a:t>
              </a:r>
            </a:p>
          </p:txBody>
        </p:sp>
        <p:sp>
          <p:nvSpPr>
            <p:cNvPr id="14" name="TextBox 14"/>
            <p:cNvSpPr txBox="1"/>
            <p:nvPr/>
          </p:nvSpPr>
          <p:spPr>
            <a:xfrm>
              <a:off x="8946642" y="2654618"/>
              <a:ext cx="1569058" cy="264033"/>
            </a:xfrm>
            <a:prstGeom prst="rect">
              <a:avLst/>
            </a:prstGeom>
            <a:noFill/>
            <a:ln>
              <a:noFill/>
            </a:ln>
          </p:spPr>
          <p:txBody>
            <a:bodyPr wrap="none" lIns="0" tIns="0" rIns="0" bIns="0" anchor="t" anchorCtr="0">
              <a:spAutoFit/>
            </a:bodyPr>
            <a:lstStyle/>
            <a:p>
              <a:pPr algn="l"/>
              <a:r>
                <a:rPr lang="ru-RU" sz="1350" dirty="0">
                  <a:solidFill>
                    <a:schemeClr val="dk1"/>
                  </a:solidFill>
                  <a:latin typeface="+mn-lt"/>
                  <a:ea typeface="+mn-ea"/>
                  <a:cs typeface="+mn-cs"/>
                </a:rPr>
                <a:t>человек, 2008 год</a:t>
              </a:r>
            </a:p>
          </p:txBody>
        </p:sp>
        <p:sp>
          <p:nvSpPr>
            <p:cNvPr id="15" name="Line 15"/>
            <p:cNvSpPr/>
            <p:nvPr/>
          </p:nvSpPr>
          <p:spPr>
            <a:xfrm>
              <a:off x="8953500" y="2990850"/>
              <a:ext cx="2552700" cy="9525"/>
            </a:xfrm>
            <a:custGeom>
              <a:avLst/>
              <a:gdLst/>
              <a:ahLst/>
              <a:cxnLst/>
              <a:rect l="l" t="t" r="r" b="b"/>
              <a:pathLst>
                <a:path w="2552700" h="9525">
                  <a:moveTo>
                    <a:pt x="0" y="0"/>
                  </a:moveTo>
                  <a:lnTo>
                    <a:pt x="2552700" y="0"/>
                  </a:lnTo>
                </a:path>
              </a:pathLst>
            </a:custGeom>
            <a:noFill/>
            <a:ln w="9525">
              <a:solidFill>
                <a:schemeClr val="accent6"/>
              </a:solidFill>
            </a:ln>
          </p:spPr>
        </p:sp>
        <p:sp>
          <p:nvSpPr>
            <p:cNvPr id="16" name="TextBox 16"/>
            <p:cNvSpPr txBox="1"/>
            <p:nvPr/>
          </p:nvSpPr>
          <p:spPr>
            <a:xfrm>
              <a:off x="8946642" y="3130868"/>
              <a:ext cx="2108962" cy="264033"/>
            </a:xfrm>
            <a:prstGeom prst="rect">
              <a:avLst/>
            </a:prstGeom>
            <a:noFill/>
            <a:ln>
              <a:noFill/>
            </a:ln>
          </p:spPr>
          <p:txBody>
            <a:bodyPr wrap="none" lIns="0" tIns="0" rIns="0" bIns="0" anchor="t" anchorCtr="0">
              <a:spAutoFit/>
            </a:bodyPr>
            <a:lstStyle/>
            <a:p>
              <a:pPr algn="l"/>
              <a:r>
                <a:rPr lang="ru-RU" sz="1350" spc="150" dirty="0">
                  <a:solidFill>
                    <a:schemeClr val="accent5"/>
                  </a:solidFill>
                  <a:latin typeface="+mn-lt"/>
                  <a:ea typeface="+mn-ea"/>
                  <a:cs typeface="+mn-cs"/>
                </a:rPr>
                <a:t>ПАДЕНИЕ 1994–2008</a:t>
              </a:r>
            </a:p>
          </p:txBody>
        </p:sp>
        <p:sp>
          <p:nvSpPr>
            <p:cNvPr id="17" name="TextBox 17"/>
            <p:cNvSpPr txBox="1"/>
            <p:nvPr/>
          </p:nvSpPr>
          <p:spPr>
            <a:xfrm>
              <a:off x="8945118" y="3403282"/>
              <a:ext cx="1116273" cy="322707"/>
            </a:xfrm>
            <a:prstGeom prst="rect">
              <a:avLst/>
            </a:prstGeom>
            <a:noFill/>
            <a:ln>
              <a:noFill/>
            </a:ln>
          </p:spPr>
          <p:txBody>
            <a:bodyPr wrap="none" lIns="0" tIns="0" rIns="0" bIns="0" anchor="t" anchorCtr="0">
              <a:spAutoFit/>
            </a:bodyPr>
            <a:lstStyle/>
            <a:p>
              <a:pPr algn="l"/>
              <a:r>
                <a:rPr lang="ru-RU" sz="1650" dirty="0">
                  <a:solidFill>
                    <a:schemeClr val="accent1"/>
                  </a:solidFill>
                  <a:latin typeface="Consolas"/>
                  <a:ea typeface="Consolas"/>
                  <a:cs typeface="Consolas"/>
                </a:rPr>
                <a:t>−5,65 млн</a:t>
              </a:r>
            </a:p>
          </p:txBody>
        </p:sp>
      </p:grpSp>
      <p:grpSp>
        <p:nvGrpSpPr>
          <p:cNvPr id="22" name="!!period-marker"/>
          <p:cNvGrpSpPr/>
          <p:nvPr/>
        </p:nvGrpSpPr>
        <p:grpSpPr>
          <a:xfrm>
            <a:off x="4200525" y="5753100"/>
            <a:ext cx="1714500" cy="556451"/>
            <a:chOff x="4200525" y="5753100"/>
            <a:chExt cx="1714500" cy="556451"/>
          </a:xfrm>
        </p:grpSpPr>
        <p:sp>
          <p:nvSpPr>
            <p:cNvPr id="19" name="Freeform 19"/>
            <p:cNvSpPr/>
            <p:nvPr/>
          </p:nvSpPr>
          <p:spPr>
            <a:xfrm>
              <a:off x="4200525" y="5753100"/>
              <a:ext cx="1714500" cy="495300"/>
            </a:xfrm>
            <a:prstGeom prst="wedgeRectCallout">
              <a:avLst>
                <a:gd name="adj1" fmla="val 0"/>
                <a:gd name="adj2" fmla="val -60000"/>
              </a:avLst>
            </a:prstGeom>
            <a:solidFill>
              <a:schemeClr val="accent1"/>
            </a:solidFill>
            <a:ln>
              <a:noFill/>
            </a:ln>
          </p:spPr>
        </p:sp>
        <p:sp>
          <p:nvSpPr>
            <p:cNvPr id="20" name="TextBox 20"/>
            <p:cNvSpPr txBox="1"/>
            <p:nvPr/>
          </p:nvSpPr>
          <p:spPr>
            <a:xfrm>
              <a:off x="4805058" y="5803582"/>
              <a:ext cx="505435" cy="322707"/>
            </a:xfrm>
            <a:prstGeom prst="rect">
              <a:avLst/>
            </a:prstGeom>
            <a:noFill/>
            <a:ln>
              <a:noFill/>
            </a:ln>
          </p:spPr>
          <p:txBody>
            <a:bodyPr wrap="none" lIns="0" tIns="0" rIns="0" bIns="0" anchor="t" anchorCtr="0">
              <a:spAutoFit/>
            </a:bodyPr>
            <a:lstStyle/>
            <a:p>
              <a:pPr algn="ctr"/>
              <a:r>
                <a:rPr lang="ru-RU" sz="1650" b="1" dirty="0">
                  <a:solidFill>
                    <a:srgbClr val="FBFAF7"/>
                  </a:solidFill>
                  <a:latin typeface="Consolas"/>
                  <a:ea typeface="Consolas"/>
                  <a:cs typeface="Consolas"/>
                </a:rPr>
                <a:t>2008</a:t>
              </a:r>
            </a:p>
          </p:txBody>
        </p:sp>
        <p:sp>
          <p:nvSpPr>
            <p:cNvPr id="21" name="TextBox 21"/>
            <p:cNvSpPr txBox="1"/>
            <p:nvPr/>
          </p:nvSpPr>
          <p:spPr>
            <a:xfrm>
              <a:off x="4675830" y="6045518"/>
              <a:ext cx="763890" cy="264033"/>
            </a:xfrm>
            <a:prstGeom prst="rect">
              <a:avLst/>
            </a:prstGeom>
            <a:noFill/>
            <a:ln>
              <a:noFill/>
            </a:ln>
          </p:spPr>
          <p:txBody>
            <a:bodyPr wrap="none" lIns="0" tIns="0" rIns="0" bIns="0" anchor="t" anchorCtr="0">
              <a:spAutoFit/>
            </a:bodyPr>
            <a:lstStyle/>
            <a:p>
              <a:pPr algn="ctr"/>
              <a:r>
                <a:rPr lang="ru-RU" sz="1350" dirty="0">
                  <a:solidFill>
                    <a:srgbClr val="F0EDE6"/>
                  </a:solidFill>
                  <a:latin typeface="+mn-lt"/>
                  <a:ea typeface="+mn-ea"/>
                  <a:cs typeface="+mn-cs"/>
                </a:rPr>
                <a:t>дно ряда</a:t>
              </a:r>
            </a:p>
          </p:txBody>
        </p:sp>
      </p:grpSp>
      <p:grpSp>
        <p:nvGrpSpPr>
          <p:cNvPr id="25" name="page-footer"/>
          <p:cNvGrpSpPr/>
          <p:nvPr/>
        </p:nvGrpSpPr>
        <p:grpSpPr>
          <a:xfrm>
            <a:off x="679704" y="6442710"/>
            <a:ext cx="10832592" cy="234696"/>
            <a:chOff x="679704" y="6442710"/>
            <a:chExt cx="10832592" cy="234696"/>
          </a:xfrm>
        </p:grpSpPr>
        <p:sp>
          <p:nvSpPr>
            <p:cNvPr id="23" name="TextBox 23"/>
            <p:cNvSpPr txBox="1"/>
            <p:nvPr/>
          </p:nvSpPr>
          <p:spPr>
            <a:xfrm>
              <a:off x="679704" y="6442710"/>
              <a:ext cx="5860296" cy="234696"/>
            </a:xfrm>
            <a:prstGeom prst="rect">
              <a:avLst/>
            </a:prstGeom>
            <a:noFill/>
            <a:ln>
              <a:noFill/>
            </a:ln>
          </p:spPr>
          <p:txBody>
            <a:bodyPr wrap="none" lIns="0" tIns="0" rIns="0" bIns="0" anchor="t" anchorCtr="0">
              <a:spAutoFit/>
            </a:bodyPr>
            <a:lstStyle/>
            <a:p>
              <a:pPr algn="l"/>
              <a:r>
                <a:rPr lang="ru-RU" sz="1200" dirty="0">
                  <a:solidFill>
                    <a:schemeClr val="accent5"/>
                  </a:solidFill>
                  <a:latin typeface="+mn-lt"/>
                  <a:ea typeface="+mn-ea"/>
                  <a:cs typeface="+mn-cs"/>
                </a:rPr>
                <a:t>Всемирный банк, SP.POP.TOTL, 1991–2024 · изменение за период — расчёт</a:t>
              </a:r>
            </a:p>
          </p:txBody>
        </p:sp>
        <p:sp>
          <p:nvSpPr>
            <p:cNvPr id="24" name="TextBox 24"/>
            <p:cNvSpPr txBox="1"/>
            <p:nvPr/>
          </p:nvSpPr>
          <p:spPr>
            <a:xfrm>
              <a:off x="11320402" y="6442710"/>
              <a:ext cx="191894" cy="234696"/>
            </a:xfrm>
            <a:prstGeom prst="rect">
              <a:avLst/>
            </a:prstGeom>
            <a:noFill/>
            <a:ln>
              <a:noFill/>
            </a:ln>
          </p:spPr>
          <p:txBody>
            <a:bodyPr wrap="none" lIns="0" tIns="0" rIns="0" bIns="0" anchor="t" anchorCtr="0">
              <a:spAutoFit/>
            </a:bodyPr>
            <a:lstStyle/>
            <a:p>
              <a:pPr algn="r"/>
              <a:r>
                <a:rPr lang="ru-RU" sz="1200" dirty="0">
                  <a:solidFill>
                    <a:schemeClr val="accent5"/>
                  </a:solidFill>
                  <a:latin typeface="+mn-lt"/>
                  <a:ea typeface="+mn-ea"/>
                  <a:cs typeface="+mn-cs"/>
                </a:rPr>
                <a:t>03</a:t>
              </a:r>
            </a:p>
          </p:txBody>
        </p:sp>
      </p:grpSp>
    </p:spTree>
  </p:cSld>
  <p:clrMapOvr>
    <a:masterClrMapping/>
  </p:clrMapOvr>
  <p:transitio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par>
                          <p:cTn id="8" fill="hold">
                            <p:stCondLst>
                              <p:cond delay="400"/>
                            </p:stCondLst>
                            <p:childTnLst>
                              <p:par>
                                <p:cTn id="9" presetID="22" presetClass="entr" presetSubtype="2" fill="hold" grpId="0" nodeType="afterEffect">
                                  <p:stCondLst>
                                    <p:cond delay="500"/>
                                  </p:stCondLst>
                                  <p:childTnLst>
                                    <p:set>
                                      <p:cBhvr>
                                        <p:cTn id="10" dur="1" fill="hold">
                                          <p:stCondLst>
                                            <p:cond delay="0"/>
                                          </p:stCondLst>
                                        </p:cTn>
                                        <p:tgtEl>
                                          <p:spTgt spid="11"/>
                                        </p:tgtEl>
                                        <p:attrNameLst>
                                          <p:attrName>style.visibility</p:attrName>
                                        </p:attrNameLst>
                                      </p:cBhvr>
                                      <p:to>
                                        <p:strVal val="visible"/>
                                      </p:to>
                                    </p:set>
                                    <p:animEffect transition="in" filter="wipe(right)">
                                      <p:cBhvr>
                                        <p:cTn id="11" dur="1200"/>
                                        <p:tgtEl>
                                          <p:spTgt spid="11"/>
                                        </p:tgtEl>
                                      </p:cBhvr>
                                    </p:animEffect>
                                  </p:childTnLst>
                                </p:cTn>
                              </p:par>
                            </p:childTnLst>
                          </p:cTn>
                        </p:par>
                        <p:par>
                          <p:cTn id="12" fill="hold">
                            <p:stCondLst>
                              <p:cond delay="2100"/>
                            </p:stCondLst>
                            <p:childTnLst>
                              <p:par>
                                <p:cTn id="13" presetID="10" presetClass="entr" presetSubtype="0" fill="hold" grpId="0" nodeType="afterEffect">
                                  <p:stCondLst>
                                    <p:cond delay="50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400"/>
                                        <p:tgtEl>
                                          <p:spTgt spid="22"/>
                                        </p:tgtEl>
                                      </p:cBhvr>
                                    </p:animEffect>
                                  </p:childTnLst>
                                </p:cTn>
                              </p:par>
                            </p:childTnLst>
                          </p:cTn>
                        </p:par>
                        <p:par>
                          <p:cTn id="16" fill="hold">
                            <p:stCondLst>
                              <p:cond delay="3000"/>
                            </p:stCondLst>
                            <p:childTnLst>
                              <p:par>
                                <p:cTn id="17" presetID="10" presetClass="entr" presetSubtype="0" fill="hold" grpId="0" nodeType="afterEffect">
                                  <p:stCondLst>
                                    <p:cond delay="500"/>
                                  </p:stCondLst>
                                  <p:childTnLst>
                                    <p:set>
                                      <p:cBhvr>
                                        <p:cTn id="18" dur="1" fill="hold">
                                          <p:stCondLst>
                                            <p:cond delay="0"/>
                                          </p:stCondLst>
                                        </p:cTn>
                                        <p:tgtEl>
                                          <p:spTgt spid="18"/>
                                        </p:tgtEl>
                                        <p:attrNameLst>
                                          <p:attrName>style.visibility</p:attrName>
                                        </p:attrNameLst>
                                      </p:cBhvr>
                                      <p:to>
                                        <p:strVal val="visible"/>
                                      </p:to>
                                    </p:set>
                                    <p:animEffect transition="in" filter="fade">
                                      <p:cBhvr>
                                        <p:cTn id="19"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c="http://schemas.openxmlformats.org/drawingml/2006/chart" xmlns:mc="http://schemas.openxmlformats.org/markup-compatibility/2006" xmlns:p="http://schemas.openxmlformats.org/presentationml/2006/main" xmlns:p14="http://schemas.microsoft.com/office/powerpoint/2010/main" xmlns:p159="http://schemas.microsoft.com/office/powerpoint/2015/09/main" xmlns:r="http://schemas.openxmlformats.org/officeDocument/2006/relationships">
  <p:cSld>
    <p:bg>
      <p:bgPr>
        <a:solidFill>
          <a:schemeClr val="lt1"/>
        </a:solidFill>
        <a:effectLst/>
      </p:bgPr>
    </p:bg>
    <p:spTree>
      <p:nvGrpSpPr>
        <p:cNvPr id="1" name=""/>
        <p:cNvGrpSpPr/>
        <p:nvPr/>
      </p:nvGrpSpPr>
      <p:grpSpPr>
        <a:xfrm>
          <a:off x="0" y="0"/>
          <a:ext cx="0" cy="0"/>
          <a:chOff x="0" y="0"/>
          <a:chExt cx="0" cy="0"/>
        </a:xfrm>
      </p:grpSpPr>
      <p:grpSp>
        <p:nvGrpSpPr>
          <p:cNvPr id="3" name="page-header"/>
          <p:cNvGrpSpPr/>
          <p:nvPr/>
        </p:nvGrpSpPr>
        <p:grpSpPr>
          <a:xfrm>
            <a:off x="670560" y="590550"/>
            <a:ext cx="6776085" cy="1043940"/>
            <a:chOff x="670560" y="590550"/>
            <a:chExt cx="6776085" cy="1043940"/>
          </a:xfrm>
        </p:grpSpPr>
        <p:sp>
          <p:nvSpPr>
            <p:cNvPr id="2" name="TextBox 2"/>
            <p:cNvSpPr txBox="1"/>
            <p:nvPr/>
          </p:nvSpPr>
          <p:spPr>
            <a:xfrm>
              <a:off x="670560" y="590550"/>
              <a:ext cx="6776085" cy="1043940"/>
            </a:xfrm>
            <a:prstGeom prst="rect">
              <a:avLst/>
            </a:prstGeom>
            <a:noFill/>
            <a:ln>
              <a:noFill/>
            </a:ln>
          </p:spPr>
          <p:txBody>
            <a:bodyPr wrap="none" lIns="0" tIns="0" rIns="0" bIns="0" anchor="t" anchorCtr="0">
              <a:spAutoFit/>
            </a:bodyPr>
            <a:lstStyle/>
            <a:p>
              <a:pPr algn="l">
                <a:lnSpc>
                  <a:spcPts val="3600"/>
                </a:lnSpc>
              </a:pPr>
              <a:r>
                <a:rPr lang="ru-RU" sz="3000" b="1" dirty="0">
                  <a:solidFill>
                    <a:schemeClr val="accent1"/>
                  </a:solidFill>
                  <a:latin typeface="+mj-lt"/>
                  <a:ea typeface="+mj-ea"/>
                  <a:cs typeface="+mj-cs"/>
                </a:rPr>
                <a:t>Восстановление 2009–2019 отыграло</a:t>
              </a:r>
              <a:br/>
              <a:r>
                <a:rPr lang="ru-RU" sz="3000" b="1" dirty="0">
                  <a:solidFill>
                    <a:schemeClr val="accent1"/>
                  </a:solidFill>
                  <a:latin typeface="+mj-lt"/>
                  <a:ea typeface="+mj-ea"/>
                  <a:cs typeface="+mj-cs"/>
                </a:rPr>
                <a:t>меньше половины падения</a:t>
              </a:r>
            </a:p>
          </p:txBody>
        </p:sp>
      </p:grpSp>
      <p:grpSp>
        <p:nvGrpSpPr>
          <p:cNvPr id="9" name="population-recent"/>
          <p:cNvGrpSpPr/>
          <p:nvPr/>
        </p:nvGrpSpPr>
        <p:grpSpPr>
          <a:xfrm>
            <a:off x="685800" y="1787842"/>
            <a:ext cx="6705600" cy="3889058"/>
            <a:chOff x="685800" y="1787842"/>
            <a:chExt cx="6705600" cy="3889058"/>
          </a:xfrm>
        </p:grpSpPr>
        <p:graphicFrame>
          <p:nvGraphicFramePr>
            <p:cNvPr id="4" name="population-recent"/>
            <p:cNvGraphicFramePr>
              <a:graphicFrameLocks noGrp="1"/>
            </p:cNvGraphicFramePr>
            <p:nvPr/>
          </p:nvGraphicFramePr>
          <p:xfrm>
            <a:off x="685800" y="1866900"/>
            <a:ext cx="6705600" cy="3810000"/>
          </p:xfrm>
          <a:graphic>
            <a:graphicData uri="http://schemas.openxmlformats.org/drawingml/2006/chart">
              <c:chart r:id="rId2"/>
            </a:graphicData>
          </a:graphic>
        </p:graphicFrame>
        <p:sp>
          <p:nvSpPr>
            <p:cNvPr id="5" name="Chart Note 5"/>
            <p:cNvSpPr txBox="1"/>
            <p:nvPr/>
          </p:nvSpPr>
          <p:spPr>
            <a:xfrm>
              <a:off x="1905952" y="4724400"/>
              <a:ext cx="857250" cy="304800"/>
            </a:xfrm>
            <a:prstGeom prst="rect">
              <a:avLst/>
            </a:prstGeom>
            <a:noFill/>
            <a:ln>
              <a:noFill/>
            </a:ln>
          </p:spPr>
          <p:txBody>
            <a:bodyPr wrap="square" lIns="0" tIns="0" rIns="0" bIns="0" anchor="b" anchorCtr="0"/>
            <a:lstStyle/>
            <a:p>
              <a:pPr algn="ctr"/>
              <a:r>
                <a:rPr lang="ru-RU" sz="1500" b="1">
                  <a:solidFill>
                    <a:srgbClr val="B3121B"/>
                  </a:solidFill>
                  <a:latin typeface="Arial"/>
                  <a:ea typeface="Microsoft YaHei"/>
                  <a:cs typeface="Arial"/>
                </a:rPr>
                <a:t>142,74</a:t>
              </a:r>
            </a:p>
          </p:txBody>
        </p:sp>
        <p:sp>
          <p:nvSpPr>
            <p:cNvPr id="6" name="Chart Note 6"/>
            <p:cNvSpPr txBox="1"/>
            <p:nvPr/>
          </p:nvSpPr>
          <p:spPr>
            <a:xfrm>
              <a:off x="5225415" y="2143125"/>
              <a:ext cx="857250" cy="304800"/>
            </a:xfrm>
            <a:prstGeom prst="rect">
              <a:avLst/>
            </a:prstGeom>
            <a:noFill/>
            <a:ln>
              <a:noFill/>
            </a:ln>
          </p:spPr>
          <p:txBody>
            <a:bodyPr wrap="square" lIns="0" tIns="0" rIns="0" bIns="0" anchor="b" anchorCtr="0"/>
            <a:lstStyle/>
            <a:p>
              <a:pPr algn="ctr"/>
              <a:r>
                <a:rPr lang="ru-RU" sz="1500" b="1">
                  <a:solidFill>
                    <a:srgbClr val="2E6F8E"/>
                  </a:solidFill>
                  <a:latin typeface="Arial"/>
                  <a:ea typeface="Microsoft YaHei"/>
                  <a:cs typeface="Arial"/>
                </a:rPr>
                <a:t>145,45</a:t>
              </a:r>
            </a:p>
          </p:txBody>
        </p:sp>
        <p:sp>
          <p:nvSpPr>
            <p:cNvPr id="7" name="Chart Note 7"/>
            <p:cNvSpPr txBox="1"/>
            <p:nvPr/>
          </p:nvSpPr>
          <p:spPr>
            <a:xfrm>
              <a:off x="6191250" y="3590925"/>
              <a:ext cx="857250" cy="304800"/>
            </a:xfrm>
            <a:prstGeom prst="rect">
              <a:avLst/>
            </a:prstGeom>
            <a:noFill/>
            <a:ln>
              <a:noFill/>
            </a:ln>
          </p:spPr>
          <p:txBody>
            <a:bodyPr wrap="square" lIns="0" tIns="0" rIns="0" bIns="0" anchor="b" anchorCtr="0"/>
            <a:lstStyle/>
            <a:p>
              <a:pPr algn="r"/>
              <a:r>
                <a:rPr lang="ru-RU" sz="1500" b="1">
                  <a:solidFill>
                    <a:srgbClr val="1B2B3A"/>
                  </a:solidFill>
                  <a:latin typeface="Arial"/>
                  <a:ea typeface="Microsoft YaHei"/>
                  <a:cs typeface="Arial"/>
                </a:rPr>
                <a:t>143,67</a:t>
              </a:r>
            </a:p>
          </p:txBody>
        </p:sp>
        <p:sp>
          <p:nvSpPr>
            <p:cNvPr id="8" name="Chart Note 8"/>
            <p:cNvSpPr txBox="1"/>
            <p:nvPr/>
          </p:nvSpPr>
          <p:spPr>
            <a:xfrm>
              <a:off x="1428750" y="1787842"/>
              <a:ext cx="1238250" cy="274320"/>
            </a:xfrm>
            <a:prstGeom prst="rect">
              <a:avLst/>
            </a:prstGeom>
            <a:noFill/>
            <a:ln>
              <a:noFill/>
            </a:ln>
          </p:spPr>
          <p:txBody>
            <a:bodyPr wrap="square" lIns="0" tIns="0" rIns="0" bIns="0" anchor="b" anchorCtr="0"/>
            <a:lstStyle/>
            <a:p>
              <a:pPr algn="l"/>
              <a:r>
                <a:rPr lang="ru-RU" sz="1350">
                  <a:solidFill>
                    <a:srgbClr val="5B6670"/>
                  </a:solidFill>
                  <a:latin typeface="Arial"/>
                  <a:ea typeface="Microsoft YaHei"/>
                  <a:cs typeface="Arial"/>
                </a:rPr>
                <a:t>млн человек</a:t>
              </a:r>
            </a:p>
          </p:txBody>
        </p:sp>
      </p:grpSp>
      <p:grpSp>
        <p:nvGrpSpPr>
          <p:cNvPr id="19" name="recovery-figures"/>
          <p:cNvGrpSpPr/>
          <p:nvPr/>
        </p:nvGrpSpPr>
        <p:grpSpPr>
          <a:xfrm>
            <a:off x="7715250" y="1911668"/>
            <a:ext cx="3790950" cy="3502533"/>
            <a:chOff x="7715250" y="1911668"/>
            <a:chExt cx="3790950" cy="3502533"/>
          </a:xfrm>
        </p:grpSpPr>
        <p:sp>
          <p:nvSpPr>
            <p:cNvPr id="10" name="TextBox 10"/>
            <p:cNvSpPr txBox="1"/>
            <p:nvPr/>
          </p:nvSpPr>
          <p:spPr>
            <a:xfrm>
              <a:off x="7727442" y="1911668"/>
              <a:ext cx="1728115" cy="264033"/>
            </a:xfrm>
            <a:prstGeom prst="rect">
              <a:avLst/>
            </a:prstGeom>
            <a:noFill/>
            <a:ln>
              <a:noFill/>
            </a:ln>
          </p:spPr>
          <p:txBody>
            <a:bodyPr wrap="none" lIns="0" tIns="0" rIns="0" bIns="0" anchor="t" anchorCtr="0">
              <a:spAutoFit/>
            </a:bodyPr>
            <a:lstStyle/>
            <a:p>
              <a:pPr algn="l"/>
              <a:r>
                <a:rPr lang="ru-RU" sz="1350" spc="150" dirty="0">
                  <a:solidFill>
                    <a:schemeClr val="accent5"/>
                  </a:solidFill>
                  <a:latin typeface="+mn-lt"/>
                  <a:ea typeface="+mn-ea"/>
                  <a:cs typeface="+mn-cs"/>
                </a:rPr>
                <a:t>РОСТ 2009–2019</a:t>
              </a:r>
            </a:p>
          </p:txBody>
        </p:sp>
        <p:sp>
          <p:nvSpPr>
            <p:cNvPr id="11" name="TextBox 11"/>
            <p:cNvSpPr txBox="1"/>
            <p:nvPr/>
          </p:nvSpPr>
          <p:spPr>
            <a:xfrm>
              <a:off x="7715250" y="2129790"/>
              <a:ext cx="2975504" cy="933450"/>
            </a:xfrm>
            <a:prstGeom prst="rect">
              <a:avLst/>
            </a:prstGeom>
            <a:noFill/>
            <a:ln>
              <a:noFill/>
            </a:ln>
          </p:spPr>
          <p:txBody>
            <a:bodyPr wrap="none" lIns="0" tIns="0" rIns="0" bIns="0" anchor="t" anchorCtr="0">
              <a:spAutoFit/>
            </a:bodyPr>
            <a:lstStyle/>
            <a:p>
              <a:pPr algn="l"/>
              <a:r>
                <a:rPr lang="ru-RU" sz="4800" b="1" dirty="0">
                  <a:solidFill>
                    <a:schemeClr val="accent3"/>
                  </a:solidFill>
                  <a:latin typeface="+mj-lt"/>
                  <a:ea typeface="+mj-ea"/>
                  <a:cs typeface="+mj-cs"/>
                </a:rPr>
                <a:t>+2,71 млн</a:t>
              </a:r>
            </a:p>
          </p:txBody>
        </p:sp>
        <p:sp>
          <p:nvSpPr>
            <p:cNvPr id="12" name="TextBox 12"/>
            <p:cNvSpPr txBox="1"/>
            <p:nvPr/>
          </p:nvSpPr>
          <p:spPr>
            <a:xfrm>
              <a:off x="7727442" y="2787968"/>
              <a:ext cx="2727849" cy="264033"/>
            </a:xfrm>
            <a:prstGeom prst="rect">
              <a:avLst/>
            </a:prstGeom>
            <a:noFill/>
            <a:ln>
              <a:noFill/>
            </a:ln>
          </p:spPr>
          <p:txBody>
            <a:bodyPr wrap="none" lIns="0" tIns="0" rIns="0" bIns="0" anchor="t" anchorCtr="0">
              <a:spAutoFit/>
            </a:bodyPr>
            <a:lstStyle/>
            <a:p>
              <a:pPr algn="l"/>
              <a:r>
                <a:rPr lang="ru-RU" sz="1350" dirty="0">
                  <a:solidFill>
                    <a:schemeClr val="dk1"/>
                  </a:solidFill>
                  <a:latin typeface="+mn-lt"/>
                  <a:ea typeface="+mn-ea"/>
                  <a:cs typeface="+mn-cs"/>
                </a:rPr>
                <a:t>человек, с 142,74 до 145,45 млн</a:t>
              </a:r>
            </a:p>
          </p:txBody>
        </p:sp>
        <p:sp>
          <p:nvSpPr>
            <p:cNvPr id="13" name="Line 13"/>
            <p:cNvSpPr/>
            <p:nvPr/>
          </p:nvSpPr>
          <p:spPr>
            <a:xfrm>
              <a:off x="7734300" y="3143250"/>
              <a:ext cx="3771900" cy="9525"/>
            </a:xfrm>
            <a:custGeom>
              <a:avLst/>
              <a:gdLst/>
              <a:ahLst/>
              <a:cxnLst/>
              <a:rect l="l" t="t" r="r" b="b"/>
              <a:pathLst>
                <a:path w="3771900" h="9525">
                  <a:moveTo>
                    <a:pt x="0" y="0"/>
                  </a:moveTo>
                  <a:lnTo>
                    <a:pt x="3771900" y="0"/>
                  </a:lnTo>
                </a:path>
              </a:pathLst>
            </a:custGeom>
            <a:noFill/>
            <a:ln w="9525">
              <a:solidFill>
                <a:schemeClr val="accent6"/>
              </a:solidFill>
            </a:ln>
          </p:spPr>
        </p:sp>
        <p:sp>
          <p:nvSpPr>
            <p:cNvPr id="14" name="TextBox 14"/>
            <p:cNvSpPr txBox="1"/>
            <p:nvPr/>
          </p:nvSpPr>
          <p:spPr>
            <a:xfrm>
              <a:off x="7727442" y="3283268"/>
              <a:ext cx="2564490" cy="264033"/>
            </a:xfrm>
            <a:prstGeom prst="rect">
              <a:avLst/>
            </a:prstGeom>
            <a:noFill/>
            <a:ln>
              <a:noFill/>
            </a:ln>
          </p:spPr>
          <p:txBody>
            <a:bodyPr wrap="none" lIns="0" tIns="0" rIns="0" bIns="0" anchor="t" anchorCtr="0">
              <a:spAutoFit/>
            </a:bodyPr>
            <a:lstStyle/>
            <a:p>
              <a:pPr algn="l"/>
              <a:r>
                <a:rPr lang="ru-RU" sz="1350" spc="150" dirty="0">
                  <a:solidFill>
                    <a:schemeClr val="accent5"/>
                  </a:solidFill>
                  <a:latin typeface="+mn-lt"/>
                  <a:ea typeface="+mn-ea"/>
                  <a:cs typeface="+mn-cs"/>
                </a:rPr>
                <a:t>НОВАЯ УБЫЛЬ 2019–2024</a:t>
              </a:r>
            </a:p>
          </p:txBody>
        </p:sp>
        <p:sp>
          <p:nvSpPr>
            <p:cNvPr id="15" name="TextBox 15"/>
            <p:cNvSpPr txBox="1"/>
            <p:nvPr/>
          </p:nvSpPr>
          <p:spPr>
            <a:xfrm>
              <a:off x="7715250" y="3501390"/>
              <a:ext cx="2975504" cy="933450"/>
            </a:xfrm>
            <a:prstGeom prst="rect">
              <a:avLst/>
            </a:prstGeom>
            <a:noFill/>
            <a:ln>
              <a:noFill/>
            </a:ln>
          </p:spPr>
          <p:txBody>
            <a:bodyPr wrap="none" lIns="0" tIns="0" rIns="0" bIns="0" anchor="t" anchorCtr="0">
              <a:spAutoFit/>
            </a:bodyPr>
            <a:lstStyle/>
            <a:p>
              <a:pPr algn="l"/>
              <a:r>
                <a:rPr lang="ru-RU" sz="4800" b="1" dirty="0">
                  <a:solidFill>
                    <a:schemeClr val="accent2"/>
                  </a:solidFill>
                  <a:latin typeface="+mj-lt"/>
                  <a:ea typeface="+mj-ea"/>
                  <a:cs typeface="+mj-cs"/>
                </a:rPr>
                <a:t>−1,78 млн</a:t>
              </a:r>
            </a:p>
          </p:txBody>
        </p:sp>
        <p:sp>
          <p:nvSpPr>
            <p:cNvPr id="16" name="TextBox 16"/>
            <p:cNvSpPr txBox="1"/>
            <p:nvPr/>
          </p:nvSpPr>
          <p:spPr>
            <a:xfrm>
              <a:off x="7727442" y="4159568"/>
              <a:ext cx="2727849" cy="264033"/>
            </a:xfrm>
            <a:prstGeom prst="rect">
              <a:avLst/>
            </a:prstGeom>
            <a:noFill/>
            <a:ln>
              <a:noFill/>
            </a:ln>
          </p:spPr>
          <p:txBody>
            <a:bodyPr wrap="none" lIns="0" tIns="0" rIns="0" bIns="0" anchor="t" anchorCtr="0">
              <a:spAutoFit/>
            </a:bodyPr>
            <a:lstStyle/>
            <a:p>
              <a:pPr algn="l"/>
              <a:r>
                <a:rPr lang="ru-RU" sz="1350" dirty="0">
                  <a:solidFill>
                    <a:schemeClr val="dk1"/>
                  </a:solidFill>
                  <a:latin typeface="+mn-lt"/>
                  <a:ea typeface="+mn-ea"/>
                  <a:cs typeface="+mn-cs"/>
                </a:rPr>
                <a:t>человек, с 145,45 до 143,67 млн</a:t>
              </a:r>
            </a:p>
          </p:txBody>
        </p:sp>
        <p:sp>
          <p:nvSpPr>
            <p:cNvPr id="17" name="Line 17"/>
            <p:cNvSpPr/>
            <p:nvPr/>
          </p:nvSpPr>
          <p:spPr>
            <a:xfrm>
              <a:off x="7734300" y="4514850"/>
              <a:ext cx="3771900" cy="9525"/>
            </a:xfrm>
            <a:custGeom>
              <a:avLst/>
              <a:gdLst/>
              <a:ahLst/>
              <a:cxnLst/>
              <a:rect l="l" t="t" r="r" b="b"/>
              <a:pathLst>
                <a:path w="3771900" h="9525">
                  <a:moveTo>
                    <a:pt x="0" y="0"/>
                  </a:moveTo>
                  <a:lnTo>
                    <a:pt x="3771900" y="0"/>
                  </a:lnTo>
                </a:path>
              </a:pathLst>
            </a:custGeom>
            <a:noFill/>
            <a:ln w="9525">
              <a:solidFill>
                <a:schemeClr val="accent6"/>
              </a:solidFill>
            </a:ln>
          </p:spPr>
        </p:sp>
        <p:sp>
          <p:nvSpPr>
            <p:cNvPr id="18" name="TextBox 18"/>
            <p:cNvSpPr txBox="1"/>
            <p:nvPr/>
          </p:nvSpPr>
          <p:spPr>
            <a:xfrm>
              <a:off x="7727442" y="4654868"/>
              <a:ext cx="2527756" cy="759333"/>
            </a:xfrm>
            <a:prstGeom prst="rect">
              <a:avLst/>
            </a:prstGeom>
            <a:noFill/>
            <a:ln>
              <a:noFill/>
            </a:ln>
          </p:spPr>
          <p:txBody>
            <a:bodyPr wrap="none" lIns="0" tIns="0" rIns="0" bIns="0" anchor="t" anchorCtr="0">
              <a:spAutoFit/>
            </a:bodyPr>
            <a:lstStyle/>
            <a:p>
              <a:pPr algn="l">
                <a:lnSpc>
                  <a:spcPts val="1950"/>
                </a:lnSpc>
              </a:pPr>
              <a:r>
                <a:rPr lang="ru-RU" sz="1350" dirty="0">
                  <a:solidFill>
                    <a:schemeClr val="dk1"/>
                  </a:solidFill>
                  <a:latin typeface="+mn-lt"/>
                  <a:ea typeface="+mn-ea"/>
                  <a:cs typeface="+mn-cs"/>
                </a:rPr>
                <a:t>Восстановление покрыло 48 %</a:t>
              </a:r>
              <a:br/>
              <a:r>
                <a:rPr lang="ru-RU" sz="1350" dirty="0">
                  <a:solidFill>
                    <a:schemeClr val="dk1"/>
                  </a:solidFill>
                  <a:latin typeface="+mn-lt"/>
                  <a:ea typeface="+mn-ea"/>
                  <a:cs typeface="+mn-cs"/>
                </a:rPr>
                <a:t>падения 1994–2008 на 5,65 млн</a:t>
              </a:r>
              <a:br/>
              <a:r>
                <a:rPr lang="ru-RU" sz="1350" dirty="0">
                  <a:solidFill>
                    <a:schemeClr val="dk1"/>
                  </a:solidFill>
                  <a:latin typeface="+mn-lt"/>
                  <a:ea typeface="+mn-ea"/>
                  <a:cs typeface="+mn-cs"/>
                </a:rPr>
                <a:t>человек. Разности — расчёт.</a:t>
              </a:r>
            </a:p>
          </p:txBody>
        </p:sp>
      </p:grpSp>
      <p:grpSp>
        <p:nvGrpSpPr>
          <p:cNvPr id="23" name="!!period-marker"/>
          <p:cNvGrpSpPr/>
          <p:nvPr/>
        </p:nvGrpSpPr>
        <p:grpSpPr>
          <a:xfrm>
            <a:off x="6305550" y="5753100"/>
            <a:ext cx="1714500" cy="556451"/>
            <a:chOff x="6305550" y="5753100"/>
            <a:chExt cx="1714500" cy="556451"/>
          </a:xfrm>
        </p:grpSpPr>
        <p:sp>
          <p:nvSpPr>
            <p:cNvPr id="20" name="Freeform 20"/>
            <p:cNvSpPr/>
            <p:nvPr/>
          </p:nvSpPr>
          <p:spPr>
            <a:xfrm>
              <a:off x="6305550" y="5753100"/>
              <a:ext cx="1714500" cy="495300"/>
            </a:xfrm>
            <a:prstGeom prst="wedgeRectCallout">
              <a:avLst>
                <a:gd name="adj1" fmla="val 0"/>
                <a:gd name="adj2" fmla="val -60000"/>
              </a:avLst>
            </a:prstGeom>
            <a:solidFill>
              <a:schemeClr val="accent1"/>
            </a:solidFill>
            <a:ln>
              <a:noFill/>
            </a:ln>
          </p:spPr>
        </p:sp>
        <p:sp>
          <p:nvSpPr>
            <p:cNvPr id="21" name="TextBox 21"/>
            <p:cNvSpPr txBox="1"/>
            <p:nvPr/>
          </p:nvSpPr>
          <p:spPr>
            <a:xfrm>
              <a:off x="6910083" y="5803582"/>
              <a:ext cx="505435" cy="322707"/>
            </a:xfrm>
            <a:prstGeom prst="rect">
              <a:avLst/>
            </a:prstGeom>
            <a:noFill/>
            <a:ln>
              <a:noFill/>
            </a:ln>
          </p:spPr>
          <p:txBody>
            <a:bodyPr wrap="none" lIns="0" tIns="0" rIns="0" bIns="0" anchor="t" anchorCtr="0">
              <a:spAutoFit/>
            </a:bodyPr>
            <a:lstStyle/>
            <a:p>
              <a:pPr algn="ctr"/>
              <a:r>
                <a:rPr lang="ru-RU" sz="1650" b="1" dirty="0">
                  <a:solidFill>
                    <a:srgbClr val="FBFAF7"/>
                  </a:solidFill>
                  <a:latin typeface="Consolas"/>
                  <a:ea typeface="Consolas"/>
                  <a:cs typeface="Consolas"/>
                </a:rPr>
                <a:t>2024</a:t>
              </a:r>
            </a:p>
          </p:txBody>
        </p:sp>
        <p:sp>
          <p:nvSpPr>
            <p:cNvPr id="22" name="TextBox 22"/>
            <p:cNvSpPr txBox="1"/>
            <p:nvPr/>
          </p:nvSpPr>
          <p:spPr>
            <a:xfrm>
              <a:off x="6630922" y="6045518"/>
              <a:ext cx="1063756" cy="264033"/>
            </a:xfrm>
            <a:prstGeom prst="rect">
              <a:avLst/>
            </a:prstGeom>
            <a:noFill/>
            <a:ln>
              <a:noFill/>
            </a:ln>
          </p:spPr>
          <p:txBody>
            <a:bodyPr wrap="none" lIns="0" tIns="0" rIns="0" bIns="0" anchor="t" anchorCtr="0">
              <a:spAutoFit/>
            </a:bodyPr>
            <a:lstStyle/>
            <a:p>
              <a:pPr algn="ctr"/>
              <a:r>
                <a:rPr lang="ru-RU" sz="1350" dirty="0">
                  <a:solidFill>
                    <a:srgbClr val="F0EDE6"/>
                  </a:solidFill>
                  <a:latin typeface="+mn-lt"/>
                  <a:ea typeface="+mn-ea"/>
                  <a:cs typeface="+mn-cs"/>
                </a:rPr>
                <a:t>новая убыль</a:t>
              </a:r>
            </a:p>
          </p:txBody>
        </p:sp>
      </p:grpSp>
      <p:grpSp>
        <p:nvGrpSpPr>
          <p:cNvPr id="26" name="page-footer"/>
          <p:cNvGrpSpPr/>
          <p:nvPr/>
        </p:nvGrpSpPr>
        <p:grpSpPr>
          <a:xfrm>
            <a:off x="679704" y="6442710"/>
            <a:ext cx="10832592" cy="234696"/>
            <a:chOff x="679704" y="6442710"/>
            <a:chExt cx="10832592" cy="234696"/>
          </a:xfrm>
        </p:grpSpPr>
        <p:sp>
          <p:nvSpPr>
            <p:cNvPr id="24" name="TextBox 24"/>
            <p:cNvSpPr txBox="1"/>
            <p:nvPr/>
          </p:nvSpPr>
          <p:spPr>
            <a:xfrm>
              <a:off x="679704" y="6442710"/>
              <a:ext cx="5507080" cy="234696"/>
            </a:xfrm>
            <a:prstGeom prst="rect">
              <a:avLst/>
            </a:prstGeom>
            <a:noFill/>
            <a:ln>
              <a:noFill/>
            </a:ln>
          </p:spPr>
          <p:txBody>
            <a:bodyPr wrap="none" lIns="0" tIns="0" rIns="0" bIns="0" anchor="t" anchorCtr="0">
              <a:spAutoFit/>
            </a:bodyPr>
            <a:lstStyle/>
            <a:p>
              <a:pPr algn="l"/>
              <a:r>
                <a:rPr lang="ru-RU" sz="1200" dirty="0">
                  <a:solidFill>
                    <a:schemeClr val="accent5"/>
                  </a:solidFill>
                  <a:latin typeface="+mn-lt"/>
                  <a:ea typeface="+mn-ea"/>
                  <a:cs typeface="+mn-cs"/>
                </a:rPr>
                <a:t>Всемирный банк, SP.POP.TOTL, 2005–2024 · доли и разности — расчёт</a:t>
              </a:r>
            </a:p>
          </p:txBody>
        </p:sp>
        <p:sp>
          <p:nvSpPr>
            <p:cNvPr id="25" name="TextBox 25"/>
            <p:cNvSpPr txBox="1"/>
            <p:nvPr/>
          </p:nvSpPr>
          <p:spPr>
            <a:xfrm>
              <a:off x="11320402" y="6442710"/>
              <a:ext cx="191894" cy="234696"/>
            </a:xfrm>
            <a:prstGeom prst="rect">
              <a:avLst/>
            </a:prstGeom>
            <a:noFill/>
            <a:ln>
              <a:noFill/>
            </a:ln>
          </p:spPr>
          <p:txBody>
            <a:bodyPr wrap="none" lIns="0" tIns="0" rIns="0" bIns="0" anchor="t" anchorCtr="0">
              <a:spAutoFit/>
            </a:bodyPr>
            <a:lstStyle/>
            <a:p>
              <a:pPr algn="r"/>
              <a:r>
                <a:rPr lang="ru-RU" sz="1200" dirty="0">
                  <a:solidFill>
                    <a:schemeClr val="accent5"/>
                  </a:solidFill>
                  <a:latin typeface="+mn-lt"/>
                  <a:ea typeface="+mn-ea"/>
                  <a:cs typeface="+mn-cs"/>
                </a:rPr>
                <a:t>04</a:t>
              </a:r>
            </a:p>
          </p:txBody>
        </p:sp>
      </p:grpSp>
    </p:spTree>
  </p:cSld>
  <p:clrMapOvr>
    <a:masterClrMapping/>
  </p:clrMapOvr>
  <mc:AlternateContent>
    <mc:Choice Requires="p159">
      <p:transition p14:dur="9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par>
                          <p:cTn id="8" fill="hold">
                            <p:stCondLst>
                              <p:cond delay="400"/>
                            </p:stCondLst>
                            <p:childTnLst>
                              <p:par>
                                <p:cTn id="9" presetID="22" presetClass="entr" presetSubtype="2" fill="hold" grpId="0" nodeType="afterEffect">
                                  <p:stCondLst>
                                    <p:cond delay="500"/>
                                  </p:stCondLst>
                                  <p:childTnLst>
                                    <p:set>
                                      <p:cBhvr>
                                        <p:cTn id="10" dur="1" fill="hold">
                                          <p:stCondLst>
                                            <p:cond delay="0"/>
                                          </p:stCondLst>
                                        </p:cTn>
                                        <p:tgtEl>
                                          <p:spTgt spid="9"/>
                                        </p:tgtEl>
                                        <p:attrNameLst>
                                          <p:attrName>style.visibility</p:attrName>
                                        </p:attrNameLst>
                                      </p:cBhvr>
                                      <p:to>
                                        <p:strVal val="visible"/>
                                      </p:to>
                                    </p:set>
                                    <p:animEffect transition="in" filter="wipe(right)">
                                      <p:cBhvr>
                                        <p:cTn id="11" dur="1000"/>
                                        <p:tgtEl>
                                          <p:spTgt spid="9"/>
                                        </p:tgtEl>
                                      </p:cBhvr>
                                    </p:animEffect>
                                  </p:childTnLst>
                                </p:cTn>
                              </p:par>
                            </p:childTnLst>
                          </p:cTn>
                        </p:par>
                        <p:par>
                          <p:cTn id="12" fill="hold">
                            <p:stCondLst>
                              <p:cond delay="1900"/>
                            </p:stCondLst>
                            <p:childTnLst>
                              <p:par>
                                <p:cTn id="13" presetID="10" presetClass="entr" presetSubtype="0" fill="hold" grpId="0" nodeType="afterEffect">
                                  <p:stCondLst>
                                    <p:cond delay="50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c="http://schemas.openxmlformats.org/drawingml/2006/chart" xmlns:p="http://schemas.openxmlformats.org/presentationml/2006/main" xmlns:p14="http://schemas.microsoft.com/office/powerpoint/2010/main" xmlns:r="http://schemas.openxmlformats.org/officeDocument/2006/relationships">
  <p:cSld>
    <p:bg>
      <p:bgPr>
        <a:solidFill>
          <a:schemeClr val="lt1"/>
        </a:solidFill>
        <a:effectLst/>
      </p:bgPr>
    </p:bg>
    <p:spTree>
      <p:nvGrpSpPr>
        <p:cNvPr id="1" name=""/>
        <p:cNvGrpSpPr/>
        <p:nvPr/>
      </p:nvGrpSpPr>
      <p:grpSpPr>
        <a:xfrm>
          <a:off x="0" y="0"/>
          <a:ext cx="0" cy="0"/>
          <a:chOff x="0" y="0"/>
          <a:chExt cx="0" cy="0"/>
        </a:xfrm>
      </p:grpSpPr>
      <p:grpSp>
        <p:nvGrpSpPr>
          <p:cNvPr id="4" name="page-header"/>
          <p:cNvGrpSpPr/>
          <p:nvPr/>
        </p:nvGrpSpPr>
        <p:grpSpPr>
          <a:xfrm>
            <a:off x="670560" y="590550"/>
            <a:ext cx="8872957" cy="1212723"/>
            <a:chOff x="670560" y="590550"/>
            <a:chExt cx="8872957" cy="1212723"/>
          </a:xfrm>
        </p:grpSpPr>
        <p:sp>
          <p:nvSpPr>
            <p:cNvPr id="2" name="TextBox 2"/>
            <p:cNvSpPr txBox="1"/>
            <p:nvPr/>
          </p:nvSpPr>
          <p:spPr>
            <a:xfrm>
              <a:off x="670560" y="590550"/>
              <a:ext cx="8872957" cy="586740"/>
            </a:xfrm>
            <a:prstGeom prst="rect">
              <a:avLst/>
            </a:prstGeom>
            <a:noFill/>
            <a:ln>
              <a:noFill/>
            </a:ln>
          </p:spPr>
          <p:txBody>
            <a:bodyPr wrap="none" lIns="0" tIns="0" rIns="0" bIns="0" anchor="t" anchorCtr="0">
              <a:spAutoFit/>
            </a:bodyPr>
            <a:lstStyle/>
            <a:p>
              <a:pPr algn="l"/>
              <a:r>
                <a:rPr lang="ru-RU" sz="3000" b="1" dirty="0">
                  <a:solidFill>
                    <a:schemeClr val="accent1"/>
                  </a:solidFill>
                  <a:latin typeface="+mj-lt"/>
                  <a:ea typeface="+mj-ea"/>
                  <a:cs typeface="+mj-cs"/>
                </a:rPr>
                <a:t>Рождаемость ниже смертности с 1992 года</a:t>
              </a:r>
            </a:p>
          </p:txBody>
        </p:sp>
        <p:sp>
          <p:nvSpPr>
            <p:cNvPr id="3" name="TextBox 3"/>
            <p:cNvSpPr txBox="1"/>
            <p:nvPr/>
          </p:nvSpPr>
          <p:spPr>
            <a:xfrm>
              <a:off x="675132" y="1068705"/>
              <a:ext cx="6054783" cy="734568"/>
            </a:xfrm>
            <a:prstGeom prst="rect">
              <a:avLst/>
            </a:prstGeom>
            <a:noFill/>
            <a:ln>
              <a:noFill/>
            </a:ln>
          </p:spPr>
          <p:txBody>
            <a:bodyPr wrap="none" lIns="0" tIns="0" rIns="0" bIns="0" anchor="t" anchorCtr="0">
              <a:spAutoFit/>
            </a:bodyPr>
            <a:lstStyle/>
            <a:p>
              <a:pPr algn="l">
                <a:lnSpc>
                  <a:spcPts val="2550"/>
                </a:lnSpc>
              </a:pPr>
              <a:r>
                <a:rPr lang="ru-RU" sz="2100" dirty="0">
                  <a:solidFill>
                    <a:schemeClr val="dk1"/>
                  </a:solidFill>
                  <a:latin typeface="+mn-lt"/>
                  <a:ea typeface="+mn-ea"/>
                  <a:cs typeface="+mn-cs"/>
                </a:rPr>
                <a:t>Превышение вернулось лишь в 2013–2015 годах;</a:t>
              </a:r>
              <a:br/>
              <a:r>
                <a:rPr lang="ru-RU" sz="2100" dirty="0">
                  <a:solidFill>
                    <a:schemeClr val="dk1"/>
                  </a:solidFill>
                  <a:latin typeface="+mn-lt"/>
                  <a:ea typeface="+mn-ea"/>
                  <a:cs typeface="+mn-cs"/>
                </a:rPr>
                <a:t>в 2024 году — 8,4 против 12,4 на 1000 человек</a:t>
              </a:r>
            </a:p>
          </p:txBody>
        </p:sp>
      </p:grpSp>
      <p:grpSp>
        <p:nvGrpSpPr>
          <p:cNvPr id="13" name="births-deaths"/>
          <p:cNvGrpSpPr/>
          <p:nvPr/>
        </p:nvGrpSpPr>
        <p:grpSpPr>
          <a:xfrm>
            <a:off x="685800" y="1787842"/>
            <a:ext cx="10820400" cy="3889058"/>
            <a:chOff x="685800" y="1787842"/>
            <a:chExt cx="10820400" cy="3889058"/>
          </a:xfrm>
        </p:grpSpPr>
        <p:graphicFrame>
          <p:nvGraphicFramePr>
            <p:cNvPr id="5" name="births-deaths"/>
            <p:cNvGraphicFramePr>
              <a:graphicFrameLocks noGrp="1"/>
            </p:cNvGraphicFramePr>
            <p:nvPr/>
          </p:nvGraphicFramePr>
          <p:xfrm>
            <a:off x="685800" y="1866900"/>
            <a:ext cx="10820400" cy="3810000"/>
          </p:xfrm>
          <a:graphic>
            <a:graphicData uri="http://schemas.openxmlformats.org/drawingml/2006/chart">
              <c:chart r:id="rId2"/>
            </a:graphicData>
          </a:graphic>
        </p:graphicFrame>
        <p:sp>
          <p:nvSpPr>
            <p:cNvPr id="6" name="Chart Note 6"/>
            <p:cNvSpPr txBox="1"/>
            <p:nvPr/>
          </p:nvSpPr>
          <p:spPr>
            <a:xfrm>
              <a:off x="1428750" y="1787842"/>
              <a:ext cx="1619250" cy="274320"/>
            </a:xfrm>
            <a:prstGeom prst="rect">
              <a:avLst/>
            </a:prstGeom>
            <a:noFill/>
            <a:ln>
              <a:noFill/>
            </a:ln>
          </p:spPr>
          <p:txBody>
            <a:bodyPr wrap="square" lIns="0" tIns="0" rIns="0" bIns="0" anchor="b" anchorCtr="0"/>
            <a:lstStyle/>
            <a:p>
              <a:pPr algn="l"/>
              <a:r>
                <a:rPr lang="ru-RU" sz="1350">
                  <a:solidFill>
                    <a:srgbClr val="5B6670"/>
                  </a:solidFill>
                  <a:latin typeface="Arial"/>
                  <a:ea typeface="Microsoft YaHei"/>
                  <a:cs typeface="Arial"/>
                </a:rPr>
                <a:t>на 1000 человек</a:t>
              </a:r>
            </a:p>
          </p:txBody>
        </p:sp>
        <p:sp>
          <p:nvSpPr>
            <p:cNvPr id="7" name="Chart Note 7"/>
            <p:cNvSpPr txBox="1"/>
            <p:nvPr/>
          </p:nvSpPr>
          <p:spPr>
            <a:xfrm>
              <a:off x="1524000" y="3514725"/>
              <a:ext cx="666750" cy="304800"/>
            </a:xfrm>
            <a:prstGeom prst="rect">
              <a:avLst/>
            </a:prstGeom>
            <a:noFill/>
            <a:ln>
              <a:noFill/>
            </a:ln>
          </p:spPr>
          <p:txBody>
            <a:bodyPr wrap="square" lIns="0" tIns="0" rIns="0" bIns="0" anchor="b" anchorCtr="0"/>
            <a:lstStyle/>
            <a:p>
              <a:pPr algn="l"/>
              <a:r>
                <a:rPr lang="ru-RU" sz="1500" b="1">
                  <a:solidFill>
                    <a:srgbClr val="2E6F8E"/>
                  </a:solidFill>
                  <a:latin typeface="Arial"/>
                  <a:ea typeface="Microsoft YaHei"/>
                  <a:cs typeface="Arial"/>
                </a:rPr>
                <a:t>12,1</a:t>
              </a:r>
            </a:p>
          </p:txBody>
        </p:sp>
        <p:sp>
          <p:nvSpPr>
            <p:cNvPr id="8" name="Chart Note 8"/>
            <p:cNvSpPr txBox="1"/>
            <p:nvPr/>
          </p:nvSpPr>
          <p:spPr>
            <a:xfrm>
              <a:off x="1524000" y="4048125"/>
              <a:ext cx="666750" cy="304800"/>
            </a:xfrm>
            <a:prstGeom prst="rect">
              <a:avLst/>
            </a:prstGeom>
            <a:noFill/>
            <a:ln>
              <a:noFill/>
            </a:ln>
          </p:spPr>
          <p:txBody>
            <a:bodyPr wrap="square" lIns="0" tIns="0" rIns="0" bIns="0" anchor="b" anchorCtr="0"/>
            <a:lstStyle/>
            <a:p>
              <a:pPr algn="l"/>
              <a:r>
                <a:rPr lang="ru-RU" sz="1500" b="1">
                  <a:solidFill>
                    <a:srgbClr val="B3121B"/>
                  </a:solidFill>
                  <a:latin typeface="Arial"/>
                  <a:ea typeface="Microsoft YaHei"/>
                  <a:cs typeface="Arial"/>
                </a:rPr>
                <a:t>11,4</a:t>
              </a:r>
            </a:p>
          </p:txBody>
        </p:sp>
        <p:sp>
          <p:nvSpPr>
            <p:cNvPr id="9" name="Chart Note 9"/>
            <p:cNvSpPr txBox="1"/>
            <p:nvPr/>
          </p:nvSpPr>
          <p:spPr>
            <a:xfrm>
              <a:off x="4662488" y="1952625"/>
              <a:ext cx="666750" cy="304800"/>
            </a:xfrm>
            <a:prstGeom prst="rect">
              <a:avLst/>
            </a:prstGeom>
            <a:noFill/>
            <a:ln>
              <a:noFill/>
            </a:ln>
          </p:spPr>
          <p:txBody>
            <a:bodyPr wrap="square" lIns="0" tIns="0" rIns="0" bIns="0" anchor="b" anchorCtr="0"/>
            <a:lstStyle/>
            <a:p>
              <a:pPr algn="ctr"/>
              <a:r>
                <a:rPr lang="ru-RU" sz="1500" b="1">
                  <a:solidFill>
                    <a:srgbClr val="B3121B"/>
                  </a:solidFill>
                  <a:latin typeface="Arial"/>
                  <a:ea typeface="Microsoft YaHei"/>
                  <a:cs typeface="Arial"/>
                </a:rPr>
                <a:t>16,4</a:t>
              </a:r>
            </a:p>
          </p:txBody>
        </p:sp>
        <p:sp>
          <p:nvSpPr>
            <p:cNvPr id="10" name="Chart Note 10"/>
            <p:cNvSpPr txBox="1"/>
            <p:nvPr/>
          </p:nvSpPr>
          <p:spPr>
            <a:xfrm>
              <a:off x="10477500" y="1914525"/>
              <a:ext cx="666750" cy="304800"/>
            </a:xfrm>
            <a:prstGeom prst="rect">
              <a:avLst/>
            </a:prstGeom>
            <a:noFill/>
            <a:ln>
              <a:noFill/>
            </a:ln>
          </p:spPr>
          <p:txBody>
            <a:bodyPr wrap="square" lIns="0" tIns="0" rIns="0" bIns="0" anchor="b" anchorCtr="0"/>
            <a:lstStyle/>
            <a:p>
              <a:pPr algn="l"/>
              <a:r>
                <a:rPr lang="ru-RU" sz="1500" b="1">
                  <a:solidFill>
                    <a:srgbClr val="B3121B"/>
                  </a:solidFill>
                  <a:latin typeface="Arial"/>
                  <a:ea typeface="Microsoft YaHei"/>
                  <a:cs typeface="Arial"/>
                </a:rPr>
                <a:t>16,7</a:t>
              </a:r>
            </a:p>
          </p:txBody>
        </p:sp>
        <p:sp>
          <p:nvSpPr>
            <p:cNvPr id="11" name="Chart Note 11"/>
            <p:cNvSpPr txBox="1"/>
            <p:nvPr/>
          </p:nvSpPr>
          <p:spPr>
            <a:xfrm>
              <a:off x="10553700" y="4848225"/>
              <a:ext cx="571500" cy="304800"/>
            </a:xfrm>
            <a:prstGeom prst="rect">
              <a:avLst/>
            </a:prstGeom>
            <a:noFill/>
            <a:ln>
              <a:noFill/>
            </a:ln>
          </p:spPr>
          <p:txBody>
            <a:bodyPr wrap="square" lIns="0" tIns="0" rIns="0" bIns="0" anchor="b" anchorCtr="0"/>
            <a:lstStyle/>
            <a:p>
              <a:pPr algn="r"/>
              <a:r>
                <a:rPr lang="ru-RU" sz="1500" b="1">
                  <a:solidFill>
                    <a:srgbClr val="2E6F8E"/>
                  </a:solidFill>
                  <a:latin typeface="Arial"/>
                  <a:ea typeface="Microsoft YaHei"/>
                  <a:cs typeface="Arial"/>
                </a:rPr>
                <a:t>8,4</a:t>
              </a:r>
            </a:p>
          </p:txBody>
        </p:sp>
        <p:sp>
          <p:nvSpPr>
            <p:cNvPr id="12" name="Chart Note 12"/>
            <p:cNvSpPr txBox="1"/>
            <p:nvPr/>
          </p:nvSpPr>
          <p:spPr>
            <a:xfrm>
              <a:off x="10458450" y="3400425"/>
              <a:ext cx="666750" cy="304800"/>
            </a:xfrm>
            <a:prstGeom prst="rect">
              <a:avLst/>
            </a:prstGeom>
            <a:noFill/>
            <a:ln>
              <a:noFill/>
            </a:ln>
          </p:spPr>
          <p:txBody>
            <a:bodyPr wrap="square" lIns="0" tIns="0" rIns="0" bIns="0" anchor="b" anchorCtr="0"/>
            <a:lstStyle/>
            <a:p>
              <a:pPr algn="r"/>
              <a:r>
                <a:rPr lang="ru-RU" sz="1500" b="1">
                  <a:solidFill>
                    <a:srgbClr val="B3121B"/>
                  </a:solidFill>
                  <a:latin typeface="Arial"/>
                  <a:ea typeface="Microsoft YaHei"/>
                  <a:cs typeface="Arial"/>
                </a:rPr>
                <a:t>12,4</a:t>
              </a:r>
            </a:p>
          </p:txBody>
        </p:sp>
      </p:grpSp>
      <p:grpSp>
        <p:nvGrpSpPr>
          <p:cNvPr id="17" name="!!cross-marker"/>
          <p:cNvGrpSpPr/>
          <p:nvPr/>
        </p:nvGrpSpPr>
        <p:grpSpPr>
          <a:xfrm>
            <a:off x="866775" y="5753100"/>
            <a:ext cx="1714500" cy="556451"/>
            <a:chOff x="866775" y="5753100"/>
            <a:chExt cx="1714500" cy="556451"/>
          </a:xfrm>
        </p:grpSpPr>
        <p:sp>
          <p:nvSpPr>
            <p:cNvPr id="14" name="Freeform 14"/>
            <p:cNvSpPr/>
            <p:nvPr/>
          </p:nvSpPr>
          <p:spPr>
            <a:xfrm>
              <a:off x="866775" y="5753100"/>
              <a:ext cx="1714500" cy="495300"/>
            </a:xfrm>
            <a:prstGeom prst="wedgeRectCallout">
              <a:avLst>
                <a:gd name="adj1" fmla="val 0"/>
                <a:gd name="adj2" fmla="val -60000"/>
              </a:avLst>
            </a:prstGeom>
            <a:solidFill>
              <a:schemeClr val="accent2"/>
            </a:solidFill>
            <a:ln>
              <a:noFill/>
            </a:ln>
          </p:spPr>
        </p:sp>
        <p:sp>
          <p:nvSpPr>
            <p:cNvPr id="15" name="TextBox 15"/>
            <p:cNvSpPr txBox="1"/>
            <p:nvPr/>
          </p:nvSpPr>
          <p:spPr>
            <a:xfrm>
              <a:off x="1471308" y="5803582"/>
              <a:ext cx="505435" cy="322707"/>
            </a:xfrm>
            <a:prstGeom prst="rect">
              <a:avLst/>
            </a:prstGeom>
            <a:noFill/>
            <a:ln>
              <a:noFill/>
            </a:ln>
          </p:spPr>
          <p:txBody>
            <a:bodyPr wrap="none" lIns="0" tIns="0" rIns="0" bIns="0" anchor="t" anchorCtr="0">
              <a:spAutoFit/>
            </a:bodyPr>
            <a:lstStyle/>
            <a:p>
              <a:pPr algn="ctr"/>
              <a:r>
                <a:rPr lang="ru-RU" sz="1650" b="1" dirty="0">
                  <a:solidFill>
                    <a:srgbClr val="FBFAF7"/>
                  </a:solidFill>
                  <a:latin typeface="Consolas"/>
                  <a:ea typeface="Consolas"/>
                  <a:cs typeface="Consolas"/>
                </a:rPr>
                <a:t>1992</a:t>
              </a:r>
            </a:p>
          </p:txBody>
        </p:sp>
        <p:sp>
          <p:nvSpPr>
            <p:cNvPr id="16" name="TextBox 16"/>
            <p:cNvSpPr txBox="1"/>
            <p:nvPr/>
          </p:nvSpPr>
          <p:spPr>
            <a:xfrm>
              <a:off x="1167413" y="6045518"/>
              <a:ext cx="1113225" cy="264033"/>
            </a:xfrm>
            <a:prstGeom prst="rect">
              <a:avLst/>
            </a:prstGeom>
            <a:noFill/>
            <a:ln>
              <a:noFill/>
            </a:ln>
          </p:spPr>
          <p:txBody>
            <a:bodyPr wrap="none" lIns="0" tIns="0" rIns="0" bIns="0" anchor="t" anchorCtr="0">
              <a:spAutoFit/>
            </a:bodyPr>
            <a:lstStyle/>
            <a:p>
              <a:pPr algn="ctr"/>
              <a:r>
                <a:rPr lang="ru-RU" sz="1350" dirty="0">
                  <a:solidFill>
                    <a:srgbClr val="F0EDE6"/>
                  </a:solidFill>
                  <a:latin typeface="+mn-lt"/>
                  <a:ea typeface="+mn-ea"/>
                  <a:cs typeface="+mn-cs"/>
                </a:rPr>
                <a:t>расхождение</a:t>
              </a:r>
            </a:p>
          </p:txBody>
        </p:sp>
      </p:grpSp>
      <p:grpSp>
        <p:nvGrpSpPr>
          <p:cNvPr id="19" name="cross-note"/>
          <p:cNvGrpSpPr/>
          <p:nvPr/>
        </p:nvGrpSpPr>
        <p:grpSpPr>
          <a:xfrm>
            <a:off x="2850642" y="5759768"/>
            <a:ext cx="4169938" cy="511683"/>
            <a:chOff x="2850642" y="5759768"/>
            <a:chExt cx="4169938" cy="511683"/>
          </a:xfrm>
        </p:grpSpPr>
        <p:sp>
          <p:nvSpPr>
            <p:cNvPr id="18" name="TextBox 18"/>
            <p:cNvSpPr txBox="1"/>
            <p:nvPr/>
          </p:nvSpPr>
          <p:spPr>
            <a:xfrm>
              <a:off x="2850642" y="5759768"/>
              <a:ext cx="4169938" cy="511683"/>
            </a:xfrm>
            <a:prstGeom prst="rect">
              <a:avLst/>
            </a:prstGeom>
            <a:noFill/>
            <a:ln>
              <a:noFill/>
            </a:ln>
          </p:spPr>
          <p:txBody>
            <a:bodyPr wrap="none" lIns="0" tIns="0" rIns="0" bIns="0" anchor="t" anchorCtr="0">
              <a:spAutoFit/>
            </a:bodyPr>
            <a:lstStyle/>
            <a:p>
              <a:pPr algn="l">
                <a:lnSpc>
                  <a:spcPts val="1950"/>
                </a:lnSpc>
              </a:pPr>
              <a:r>
                <a:rPr lang="ru-RU" sz="1350" dirty="0">
                  <a:solidFill>
                    <a:schemeClr val="accent5"/>
                  </a:solidFill>
                  <a:latin typeface="+mn-lt"/>
                  <a:ea typeface="+mn-ea"/>
                  <a:cs typeface="+mn-cs"/>
                </a:rPr>
                <a:t>Оба коэффициента даны на 1000 человек населения</a:t>
              </a:r>
              <a:br/>
              <a:r>
                <a:rPr lang="ru-RU" sz="1350" dirty="0">
                  <a:solidFill>
                    <a:schemeClr val="accent5"/>
                  </a:solidFill>
                  <a:latin typeface="+mn-lt"/>
                  <a:ea typeface="+mn-ea"/>
                  <a:cs typeface="+mn-cs"/>
                </a:rPr>
                <a:t>и не учитывают возрастную структуру населения.</a:t>
              </a:r>
            </a:p>
          </p:txBody>
        </p:sp>
      </p:grpSp>
      <p:grpSp>
        <p:nvGrpSpPr>
          <p:cNvPr id="22" name="page-footer"/>
          <p:cNvGrpSpPr/>
          <p:nvPr/>
        </p:nvGrpSpPr>
        <p:grpSpPr>
          <a:xfrm>
            <a:off x="679704" y="6442710"/>
            <a:ext cx="10832592" cy="234696"/>
            <a:chOff x="679704" y="6442710"/>
            <a:chExt cx="10832592" cy="234696"/>
          </a:xfrm>
        </p:grpSpPr>
        <p:sp>
          <p:nvSpPr>
            <p:cNvPr id="20" name="TextBox 20"/>
            <p:cNvSpPr txBox="1"/>
            <p:nvPr/>
          </p:nvSpPr>
          <p:spPr>
            <a:xfrm>
              <a:off x="679704" y="6442710"/>
              <a:ext cx="5152214" cy="234696"/>
            </a:xfrm>
            <a:prstGeom prst="rect">
              <a:avLst/>
            </a:prstGeom>
            <a:noFill/>
            <a:ln>
              <a:noFill/>
            </a:ln>
          </p:spPr>
          <p:txBody>
            <a:bodyPr wrap="none" lIns="0" tIns="0" rIns="0" bIns="0" anchor="t" anchorCtr="0">
              <a:spAutoFit/>
            </a:bodyPr>
            <a:lstStyle/>
            <a:p>
              <a:pPr algn="l"/>
              <a:r>
                <a:rPr lang="ru-RU" sz="1200" dirty="0">
                  <a:solidFill>
                    <a:schemeClr val="accent5"/>
                  </a:solidFill>
                  <a:latin typeface="+mn-lt"/>
                  <a:ea typeface="+mn-ea"/>
                  <a:cs typeface="+mn-cs"/>
                </a:rPr>
                <a:t>Всемирный банк, SP.DYN.CBRT.IN и SP.DYN.CDRT.IN, 1991–2024</a:t>
              </a:r>
            </a:p>
          </p:txBody>
        </p:sp>
        <p:sp>
          <p:nvSpPr>
            <p:cNvPr id="21" name="TextBox 21"/>
            <p:cNvSpPr txBox="1"/>
            <p:nvPr/>
          </p:nvSpPr>
          <p:spPr>
            <a:xfrm>
              <a:off x="11320402" y="6442710"/>
              <a:ext cx="191894" cy="234696"/>
            </a:xfrm>
            <a:prstGeom prst="rect">
              <a:avLst/>
            </a:prstGeom>
            <a:noFill/>
            <a:ln>
              <a:noFill/>
            </a:ln>
          </p:spPr>
          <p:txBody>
            <a:bodyPr wrap="none" lIns="0" tIns="0" rIns="0" bIns="0" anchor="t" anchorCtr="0">
              <a:spAutoFit/>
            </a:bodyPr>
            <a:lstStyle/>
            <a:p>
              <a:pPr algn="r"/>
              <a:r>
                <a:rPr lang="ru-RU" sz="1200" dirty="0">
                  <a:solidFill>
                    <a:schemeClr val="accent5"/>
                  </a:solidFill>
                  <a:latin typeface="+mn-lt"/>
                  <a:ea typeface="+mn-ea"/>
                  <a:cs typeface="+mn-cs"/>
                </a:rPr>
                <a:t>05</a:t>
              </a:r>
            </a:p>
          </p:txBody>
        </p:sp>
      </p:grpSp>
    </p:spTree>
  </p:cSld>
  <p:clrMapOvr>
    <a:masterClrMapping/>
  </p:clrMapOvr>
  <p:transitio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par>
                          <p:cTn id="8" fill="hold">
                            <p:stCondLst>
                              <p:cond delay="400"/>
                            </p:stCondLst>
                            <p:childTnLst>
                              <p:par>
                                <p:cTn id="9" presetID="22" presetClass="entr" presetSubtype="2" fill="hold" grpId="0" nodeType="afterEffect">
                                  <p:stCondLst>
                                    <p:cond delay="500"/>
                                  </p:stCondLst>
                                  <p:childTnLst>
                                    <p:set>
                                      <p:cBhvr>
                                        <p:cTn id="10" dur="1" fill="hold">
                                          <p:stCondLst>
                                            <p:cond delay="0"/>
                                          </p:stCondLst>
                                        </p:cTn>
                                        <p:tgtEl>
                                          <p:spTgt spid="13"/>
                                        </p:tgtEl>
                                        <p:attrNameLst>
                                          <p:attrName>style.visibility</p:attrName>
                                        </p:attrNameLst>
                                      </p:cBhvr>
                                      <p:to>
                                        <p:strVal val="visible"/>
                                      </p:to>
                                    </p:set>
                                    <p:animEffect transition="in" filter="wipe(right)">
                                      <p:cBhvr>
                                        <p:cTn id="11" dur="1200"/>
                                        <p:tgtEl>
                                          <p:spTgt spid="13"/>
                                        </p:tgtEl>
                                      </p:cBhvr>
                                    </p:animEffect>
                                  </p:childTnLst>
                                </p:cTn>
                              </p:par>
                            </p:childTnLst>
                          </p:cTn>
                        </p:par>
                        <p:par>
                          <p:cTn id="12" fill="hold">
                            <p:stCondLst>
                              <p:cond delay="2100"/>
                            </p:stCondLst>
                            <p:childTnLst>
                              <p:par>
                                <p:cTn id="13" presetID="10" presetClass="entr" presetSubtype="0" fill="hold" grpId="0" nodeType="afterEffect">
                                  <p:stCondLst>
                                    <p:cond delay="50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400"/>
                                        <p:tgtEl>
                                          <p:spTgt spid="17"/>
                                        </p:tgtEl>
                                      </p:cBhvr>
                                    </p:animEffect>
                                  </p:childTnLst>
                                </p:cTn>
                              </p:par>
                            </p:childTnLst>
                          </p:cTn>
                        </p:par>
                        <p:par>
                          <p:cTn id="16" fill="hold">
                            <p:stCondLst>
                              <p:cond delay="3000"/>
                            </p:stCondLst>
                            <p:childTnLst>
                              <p:par>
                                <p:cTn id="17" presetID="10" presetClass="entr" presetSubtype="0" fill="hold" grpId="0" nodeType="afterEffect">
                                  <p:stCondLst>
                                    <p:cond delay="50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c="http://schemas.openxmlformats.org/drawingml/2006/chart" xmlns:mc="http://schemas.openxmlformats.org/markup-compatibility/2006" xmlns:p="http://schemas.openxmlformats.org/presentationml/2006/main" xmlns:p14="http://schemas.microsoft.com/office/powerpoint/2010/main" xmlns:p159="http://schemas.microsoft.com/office/powerpoint/2015/09/main" xmlns:r="http://schemas.openxmlformats.org/officeDocument/2006/relationships">
  <p:cSld>
    <p:bg>
      <p:bgPr>
        <a:solidFill>
          <a:schemeClr val="lt1"/>
        </a:solidFill>
        <a:effectLst/>
      </p:bgPr>
    </p:bg>
    <p:spTree>
      <p:nvGrpSpPr>
        <p:cNvPr id="1" name=""/>
        <p:cNvGrpSpPr/>
        <p:nvPr/>
      </p:nvGrpSpPr>
      <p:grpSpPr>
        <a:xfrm>
          <a:off x="0" y="0"/>
          <a:ext cx="0" cy="0"/>
          <a:chOff x="0" y="0"/>
          <a:chExt cx="0" cy="0"/>
        </a:xfrm>
      </p:grpSpPr>
      <p:grpSp>
        <p:nvGrpSpPr>
          <p:cNvPr id="4" name="page-header"/>
          <p:cNvGrpSpPr/>
          <p:nvPr/>
        </p:nvGrpSpPr>
        <p:grpSpPr>
          <a:xfrm>
            <a:off x="670560" y="590550"/>
            <a:ext cx="8129001" cy="1212723"/>
            <a:chOff x="670560" y="590550"/>
            <a:chExt cx="8129001" cy="1212723"/>
          </a:xfrm>
        </p:grpSpPr>
        <p:sp>
          <p:nvSpPr>
            <p:cNvPr id="2" name="TextBox 2"/>
            <p:cNvSpPr txBox="1"/>
            <p:nvPr/>
          </p:nvSpPr>
          <p:spPr>
            <a:xfrm>
              <a:off x="670560" y="590550"/>
              <a:ext cx="7443708" cy="586740"/>
            </a:xfrm>
            <a:prstGeom prst="rect">
              <a:avLst/>
            </a:prstGeom>
            <a:noFill/>
            <a:ln>
              <a:noFill/>
            </a:ln>
          </p:spPr>
          <p:txBody>
            <a:bodyPr wrap="none" lIns="0" tIns="0" rIns="0" bIns="0" anchor="t" anchorCtr="0">
              <a:spAutoFit/>
            </a:bodyPr>
            <a:lstStyle/>
            <a:p>
              <a:pPr algn="l"/>
              <a:r>
                <a:rPr lang="ru-RU" sz="3000" b="1" dirty="0">
                  <a:solidFill>
                    <a:schemeClr val="accent1"/>
                  </a:solidFill>
                  <a:latin typeface="+mj-lt"/>
                  <a:ea typeface="+mj-ea"/>
                  <a:cs typeface="+mj-cs"/>
                </a:rPr>
                <a:t>Естественная убыль — 30 лет из 34</a:t>
              </a:r>
            </a:p>
          </p:txBody>
        </p:sp>
        <p:sp>
          <p:nvSpPr>
            <p:cNvPr id="3" name="TextBox 3"/>
            <p:cNvSpPr txBox="1"/>
            <p:nvPr/>
          </p:nvSpPr>
          <p:spPr>
            <a:xfrm>
              <a:off x="675132" y="1068705"/>
              <a:ext cx="8124429" cy="734568"/>
            </a:xfrm>
            <a:prstGeom prst="rect">
              <a:avLst/>
            </a:prstGeom>
            <a:noFill/>
            <a:ln>
              <a:noFill/>
            </a:ln>
          </p:spPr>
          <p:txBody>
            <a:bodyPr wrap="none" lIns="0" tIns="0" rIns="0" bIns="0" anchor="t" anchorCtr="0">
              <a:spAutoFit/>
            </a:bodyPr>
            <a:lstStyle/>
            <a:p>
              <a:pPr algn="l">
                <a:lnSpc>
                  <a:spcPts val="2550"/>
                </a:lnSpc>
              </a:pPr>
              <a:r>
                <a:rPr lang="ru-RU" sz="2100" dirty="0">
                  <a:solidFill>
                    <a:schemeClr val="dk1"/>
                  </a:solidFill>
                  <a:latin typeface="+mn-lt"/>
                  <a:ea typeface="+mn-ea"/>
                  <a:cs typeface="+mn-cs"/>
                </a:rPr>
                <a:t>Положительный прирост только в 1991, 2013, 2014 и 2015 годах;</a:t>
              </a:r>
              <a:br/>
              <a:r>
                <a:rPr lang="ru-RU" sz="2100" dirty="0">
                  <a:solidFill>
                    <a:schemeClr val="dk1"/>
                  </a:solidFill>
                  <a:latin typeface="+mn-lt"/>
                  <a:ea typeface="+mn-ea"/>
                  <a:cs typeface="+mn-cs"/>
                </a:rPr>
                <a:t>худший год — 2021-й: −7,1 на 1000 человек</a:t>
              </a:r>
            </a:p>
          </p:txBody>
        </p:sp>
      </p:grpSp>
      <p:grpSp>
        <p:nvGrpSpPr>
          <p:cNvPr id="10" name="natural-change"/>
          <p:cNvGrpSpPr/>
          <p:nvPr/>
        </p:nvGrpSpPr>
        <p:grpSpPr>
          <a:xfrm>
            <a:off x="685800" y="1787842"/>
            <a:ext cx="10820400" cy="3889058"/>
            <a:chOff x="685800" y="1787842"/>
            <a:chExt cx="10820400" cy="3889058"/>
          </a:xfrm>
        </p:grpSpPr>
        <p:graphicFrame>
          <p:nvGraphicFramePr>
            <p:cNvPr id="5" name="natural-change"/>
            <p:cNvGraphicFramePr>
              <a:graphicFrameLocks noGrp="1"/>
            </p:cNvGraphicFramePr>
            <p:nvPr/>
          </p:nvGraphicFramePr>
          <p:xfrm>
            <a:off x="685800" y="1866900"/>
            <a:ext cx="10820400" cy="3810000"/>
          </p:xfrm>
          <a:graphic>
            <a:graphicData uri="http://schemas.openxmlformats.org/drawingml/2006/chart">
              <c:chart r:id="rId2"/>
            </a:graphicData>
          </a:graphic>
        </p:graphicFrame>
        <p:sp>
          <p:nvSpPr>
            <p:cNvPr id="6" name="Chart Note 6"/>
            <p:cNvSpPr txBox="1"/>
            <p:nvPr/>
          </p:nvSpPr>
          <p:spPr>
            <a:xfrm>
              <a:off x="1428750" y="1787842"/>
              <a:ext cx="1619250" cy="274320"/>
            </a:xfrm>
            <a:prstGeom prst="rect">
              <a:avLst/>
            </a:prstGeom>
            <a:noFill/>
            <a:ln>
              <a:noFill/>
            </a:ln>
          </p:spPr>
          <p:txBody>
            <a:bodyPr wrap="square" lIns="0" tIns="0" rIns="0" bIns="0" anchor="b" anchorCtr="0"/>
            <a:lstStyle/>
            <a:p>
              <a:pPr algn="l"/>
              <a:r>
                <a:rPr lang="ru-RU" sz="1350">
                  <a:solidFill>
                    <a:srgbClr val="5B6670"/>
                  </a:solidFill>
                  <a:latin typeface="Arial"/>
                  <a:ea typeface="Microsoft YaHei"/>
                  <a:cs typeface="Arial"/>
                </a:rPr>
                <a:t>на 1000 человек</a:t>
              </a:r>
            </a:p>
          </p:txBody>
        </p:sp>
        <p:sp>
          <p:nvSpPr>
            <p:cNvPr id="7" name="Chart Note 7"/>
            <p:cNvSpPr txBox="1"/>
            <p:nvPr/>
          </p:nvSpPr>
          <p:spPr>
            <a:xfrm>
              <a:off x="1239202" y="1902142"/>
              <a:ext cx="666750" cy="274320"/>
            </a:xfrm>
            <a:prstGeom prst="rect">
              <a:avLst/>
            </a:prstGeom>
            <a:noFill/>
            <a:ln>
              <a:noFill/>
            </a:ln>
          </p:spPr>
          <p:txBody>
            <a:bodyPr wrap="square" lIns="0" tIns="0" rIns="0" bIns="0" anchor="b" anchorCtr="0"/>
            <a:lstStyle/>
            <a:p>
              <a:pPr algn="ctr"/>
              <a:r>
                <a:rPr lang="ru-RU" sz="1350" b="1">
                  <a:solidFill>
                    <a:srgbClr val="2E6F8E"/>
                  </a:solidFill>
                  <a:latin typeface="Arial"/>
                  <a:ea typeface="Microsoft YaHei"/>
                  <a:cs typeface="Arial"/>
                </a:rPr>
                <a:t>+0,7</a:t>
              </a:r>
            </a:p>
          </p:txBody>
        </p:sp>
        <p:sp>
          <p:nvSpPr>
            <p:cNvPr id="8" name="Chart Note 8"/>
            <p:cNvSpPr txBox="1"/>
            <p:nvPr/>
          </p:nvSpPr>
          <p:spPr>
            <a:xfrm>
              <a:off x="9894570" y="4962525"/>
              <a:ext cx="666750" cy="304800"/>
            </a:xfrm>
            <a:prstGeom prst="rect">
              <a:avLst/>
            </a:prstGeom>
            <a:noFill/>
            <a:ln>
              <a:noFill/>
            </a:ln>
          </p:spPr>
          <p:txBody>
            <a:bodyPr wrap="square" lIns="0" tIns="0" rIns="0" bIns="0" anchor="b" anchorCtr="0"/>
            <a:lstStyle/>
            <a:p>
              <a:pPr algn="ctr"/>
              <a:r>
                <a:rPr lang="ru-RU" sz="1500" b="1">
                  <a:solidFill>
                    <a:srgbClr val="B3121B"/>
                  </a:solidFill>
                  <a:latin typeface="Arial"/>
                  <a:ea typeface="Microsoft YaHei"/>
                  <a:cs typeface="Arial"/>
                </a:rPr>
                <a:t>−7,1</a:t>
              </a:r>
            </a:p>
          </p:txBody>
        </p:sp>
        <p:sp>
          <p:nvSpPr>
            <p:cNvPr id="9" name="Chart Note 9"/>
            <p:cNvSpPr txBox="1"/>
            <p:nvPr/>
          </p:nvSpPr>
          <p:spPr>
            <a:xfrm>
              <a:off x="10759440" y="3864292"/>
              <a:ext cx="666750" cy="274320"/>
            </a:xfrm>
            <a:prstGeom prst="rect">
              <a:avLst/>
            </a:prstGeom>
            <a:noFill/>
            <a:ln>
              <a:noFill/>
            </a:ln>
          </p:spPr>
          <p:txBody>
            <a:bodyPr wrap="square" lIns="0" tIns="0" rIns="0" bIns="0" anchor="b" anchorCtr="0"/>
            <a:lstStyle/>
            <a:p>
              <a:pPr algn="ctr"/>
              <a:r>
                <a:rPr lang="ru-RU" sz="1350" b="1">
                  <a:solidFill>
                    <a:srgbClr val="B3121B"/>
                  </a:solidFill>
                  <a:latin typeface="Arial"/>
                  <a:ea typeface="Microsoft YaHei"/>
                  <a:cs typeface="Arial"/>
                </a:rPr>
                <a:t>−4,0</a:t>
              </a:r>
            </a:p>
          </p:txBody>
        </p:sp>
      </p:grpSp>
      <p:grpSp>
        <p:nvGrpSpPr>
          <p:cNvPr id="12" name="natural-change-note"/>
          <p:cNvGrpSpPr/>
          <p:nvPr/>
        </p:nvGrpSpPr>
        <p:grpSpPr>
          <a:xfrm>
            <a:off x="678942" y="5759768"/>
            <a:ext cx="5724373" cy="511683"/>
            <a:chOff x="678942" y="5759768"/>
            <a:chExt cx="5724373" cy="511683"/>
          </a:xfrm>
        </p:grpSpPr>
        <p:sp>
          <p:nvSpPr>
            <p:cNvPr id="11" name="TextBox 11"/>
            <p:cNvSpPr txBox="1"/>
            <p:nvPr/>
          </p:nvSpPr>
          <p:spPr>
            <a:xfrm>
              <a:off x="678942" y="5759768"/>
              <a:ext cx="5724373" cy="511683"/>
            </a:xfrm>
            <a:prstGeom prst="rect">
              <a:avLst/>
            </a:prstGeom>
            <a:noFill/>
            <a:ln>
              <a:noFill/>
            </a:ln>
          </p:spPr>
          <p:txBody>
            <a:bodyPr wrap="none" lIns="0" tIns="0" rIns="0" bIns="0" anchor="t" anchorCtr="0">
              <a:spAutoFit/>
            </a:bodyPr>
            <a:lstStyle/>
            <a:p>
              <a:pPr algn="l">
                <a:lnSpc>
                  <a:spcPts val="1950"/>
                </a:lnSpc>
              </a:pPr>
              <a:r>
                <a:rPr lang="ru-RU" sz="1350" dirty="0">
                  <a:solidFill>
                    <a:schemeClr val="accent5"/>
                  </a:solidFill>
                  <a:latin typeface="+mn-lt"/>
                  <a:ea typeface="+mn-ea"/>
                  <a:cs typeface="+mn-cs"/>
                </a:rPr>
                <a:t>Естественный прирост = SP.DYN.CBRT.IN − SP.DYN.CDRT.IN (расчёт)</a:t>
              </a:r>
              <a:br/>
              <a:r>
                <a:rPr lang="ru-RU" sz="1350" dirty="0">
                  <a:solidFill>
                    <a:schemeClr val="accent5"/>
                  </a:solidFill>
                  <a:latin typeface="+mn-lt"/>
                  <a:ea typeface="+mn-ea"/>
                  <a:cs typeface="+mn-cs"/>
                </a:rPr>
                <a:t>Нулевые значения: 2012 и 2016 годы.</a:t>
              </a:r>
            </a:p>
          </p:txBody>
        </p:sp>
      </p:grpSp>
      <p:grpSp>
        <p:nvGrpSpPr>
          <p:cNvPr id="16" name="!!cross-marker"/>
          <p:cNvGrpSpPr/>
          <p:nvPr/>
        </p:nvGrpSpPr>
        <p:grpSpPr>
          <a:xfrm>
            <a:off x="9372600" y="5753100"/>
            <a:ext cx="1714500" cy="556451"/>
            <a:chOff x="9372600" y="5753100"/>
            <a:chExt cx="1714500" cy="556451"/>
          </a:xfrm>
        </p:grpSpPr>
        <p:sp>
          <p:nvSpPr>
            <p:cNvPr id="13" name="Freeform 13"/>
            <p:cNvSpPr/>
            <p:nvPr/>
          </p:nvSpPr>
          <p:spPr>
            <a:xfrm>
              <a:off x="9372600" y="5753100"/>
              <a:ext cx="1714500" cy="495300"/>
            </a:xfrm>
            <a:prstGeom prst="wedgeRectCallout">
              <a:avLst>
                <a:gd name="adj1" fmla="val 0"/>
                <a:gd name="adj2" fmla="val -60000"/>
              </a:avLst>
            </a:prstGeom>
            <a:solidFill>
              <a:schemeClr val="accent2"/>
            </a:solidFill>
            <a:ln>
              <a:noFill/>
            </a:ln>
          </p:spPr>
        </p:sp>
        <p:sp>
          <p:nvSpPr>
            <p:cNvPr id="14" name="TextBox 14"/>
            <p:cNvSpPr txBox="1"/>
            <p:nvPr/>
          </p:nvSpPr>
          <p:spPr>
            <a:xfrm>
              <a:off x="9977133" y="5803582"/>
              <a:ext cx="505435" cy="322707"/>
            </a:xfrm>
            <a:prstGeom prst="rect">
              <a:avLst/>
            </a:prstGeom>
            <a:noFill/>
            <a:ln>
              <a:noFill/>
            </a:ln>
          </p:spPr>
          <p:txBody>
            <a:bodyPr wrap="none" lIns="0" tIns="0" rIns="0" bIns="0" anchor="t" anchorCtr="0">
              <a:spAutoFit/>
            </a:bodyPr>
            <a:lstStyle/>
            <a:p>
              <a:pPr algn="ctr"/>
              <a:r>
                <a:rPr lang="ru-RU" sz="1650" b="1" dirty="0">
                  <a:solidFill>
                    <a:srgbClr val="FBFAF7"/>
                  </a:solidFill>
                  <a:latin typeface="Consolas"/>
                  <a:ea typeface="Consolas"/>
                  <a:cs typeface="Consolas"/>
                </a:rPr>
                <a:t>2021</a:t>
              </a:r>
            </a:p>
          </p:txBody>
        </p:sp>
        <p:sp>
          <p:nvSpPr>
            <p:cNvPr id="15" name="TextBox 15"/>
            <p:cNvSpPr txBox="1"/>
            <p:nvPr/>
          </p:nvSpPr>
          <p:spPr>
            <a:xfrm>
              <a:off x="9747950" y="6045518"/>
              <a:ext cx="963801" cy="264033"/>
            </a:xfrm>
            <a:prstGeom prst="rect">
              <a:avLst/>
            </a:prstGeom>
            <a:noFill/>
            <a:ln>
              <a:noFill/>
            </a:ln>
          </p:spPr>
          <p:txBody>
            <a:bodyPr wrap="none" lIns="0" tIns="0" rIns="0" bIns="0" anchor="t" anchorCtr="0">
              <a:spAutoFit/>
            </a:bodyPr>
            <a:lstStyle/>
            <a:p>
              <a:pPr algn="ctr"/>
              <a:r>
                <a:rPr lang="ru-RU" sz="1350" dirty="0">
                  <a:solidFill>
                    <a:srgbClr val="F0EDE6"/>
                  </a:solidFill>
                  <a:latin typeface="+mn-lt"/>
                  <a:ea typeface="+mn-ea"/>
                  <a:cs typeface="+mn-cs"/>
                </a:rPr>
                <a:t>худший год</a:t>
              </a:r>
            </a:p>
          </p:txBody>
        </p:sp>
      </p:grpSp>
      <p:grpSp>
        <p:nvGrpSpPr>
          <p:cNvPr id="19" name="page-footer"/>
          <p:cNvGrpSpPr/>
          <p:nvPr/>
        </p:nvGrpSpPr>
        <p:grpSpPr>
          <a:xfrm>
            <a:off x="679704" y="6442710"/>
            <a:ext cx="10832592" cy="234696"/>
            <a:chOff x="679704" y="6442710"/>
            <a:chExt cx="10832592" cy="234696"/>
          </a:xfrm>
        </p:grpSpPr>
        <p:sp>
          <p:nvSpPr>
            <p:cNvPr id="17" name="TextBox 17"/>
            <p:cNvSpPr txBox="1"/>
            <p:nvPr/>
          </p:nvSpPr>
          <p:spPr>
            <a:xfrm>
              <a:off x="679704" y="6442710"/>
              <a:ext cx="7796436" cy="234696"/>
            </a:xfrm>
            <a:prstGeom prst="rect">
              <a:avLst/>
            </a:prstGeom>
            <a:noFill/>
            <a:ln>
              <a:noFill/>
            </a:ln>
          </p:spPr>
          <p:txBody>
            <a:bodyPr wrap="none" lIns="0" tIns="0" rIns="0" bIns="0" anchor="t" anchorCtr="0">
              <a:spAutoFit/>
            </a:bodyPr>
            <a:lstStyle/>
            <a:p>
              <a:pPr algn="l"/>
              <a:r>
                <a:rPr lang="ru-RU" sz="1200" dirty="0">
                  <a:solidFill>
                    <a:schemeClr val="accent5"/>
                  </a:solidFill>
                  <a:latin typeface="+mn-lt"/>
                  <a:ea typeface="+mn-ea"/>
                  <a:cs typeface="+mn-cs"/>
                </a:rPr>
                <a:t>Всемирный банк, SP.DYN.CBRT.IN и SP.DYN.CDRT.IN, 1991–2024 · естественный прирост — расчёт</a:t>
              </a:r>
            </a:p>
          </p:txBody>
        </p:sp>
        <p:sp>
          <p:nvSpPr>
            <p:cNvPr id="18" name="TextBox 18"/>
            <p:cNvSpPr txBox="1"/>
            <p:nvPr/>
          </p:nvSpPr>
          <p:spPr>
            <a:xfrm>
              <a:off x="11320402" y="6442710"/>
              <a:ext cx="191894" cy="234696"/>
            </a:xfrm>
            <a:prstGeom prst="rect">
              <a:avLst/>
            </a:prstGeom>
            <a:noFill/>
            <a:ln>
              <a:noFill/>
            </a:ln>
          </p:spPr>
          <p:txBody>
            <a:bodyPr wrap="none" lIns="0" tIns="0" rIns="0" bIns="0" anchor="t" anchorCtr="0">
              <a:spAutoFit/>
            </a:bodyPr>
            <a:lstStyle/>
            <a:p>
              <a:pPr algn="r"/>
              <a:r>
                <a:rPr lang="ru-RU" sz="1200" dirty="0">
                  <a:solidFill>
                    <a:schemeClr val="accent5"/>
                  </a:solidFill>
                  <a:latin typeface="+mn-lt"/>
                  <a:ea typeface="+mn-ea"/>
                  <a:cs typeface="+mn-cs"/>
                </a:rPr>
                <a:t>06</a:t>
              </a:r>
            </a:p>
          </p:txBody>
        </p:sp>
      </p:grpSp>
    </p:spTree>
  </p:cSld>
  <p:clrMapOvr>
    <a:masterClrMapping/>
  </p:clrMapOvr>
  <mc:AlternateContent>
    <mc:Choice Requires="p159">
      <p:transition p14:dur="9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par>
                          <p:cTn id="8" fill="hold">
                            <p:stCondLst>
                              <p:cond delay="400"/>
                            </p:stCondLst>
                            <p:childTnLst>
                              <p:par>
                                <p:cTn id="9" presetID="22" presetClass="entr" presetSubtype="2" fill="hold" grpId="0" nodeType="afterEffect">
                                  <p:stCondLst>
                                    <p:cond delay="500"/>
                                  </p:stCondLst>
                                  <p:childTnLst>
                                    <p:set>
                                      <p:cBhvr>
                                        <p:cTn id="10" dur="1" fill="hold">
                                          <p:stCondLst>
                                            <p:cond delay="0"/>
                                          </p:stCondLst>
                                        </p:cTn>
                                        <p:tgtEl>
                                          <p:spTgt spid="10"/>
                                        </p:tgtEl>
                                        <p:attrNameLst>
                                          <p:attrName>style.visibility</p:attrName>
                                        </p:attrNameLst>
                                      </p:cBhvr>
                                      <p:to>
                                        <p:strVal val="visible"/>
                                      </p:to>
                                    </p:set>
                                    <p:animEffect transition="in" filter="wipe(right)">
                                      <p:cBhvr>
                                        <p:cTn id="11" dur="1200"/>
                                        <p:tgtEl>
                                          <p:spTgt spid="10"/>
                                        </p:tgtEl>
                                      </p:cBhvr>
                                    </p:animEffect>
                                  </p:childTnLst>
                                </p:cTn>
                              </p:par>
                            </p:childTnLst>
                          </p:cTn>
                        </p:par>
                        <p:par>
                          <p:cTn id="12" fill="hold">
                            <p:stCondLst>
                              <p:cond delay="2100"/>
                            </p:stCondLst>
                            <p:childTnLst>
                              <p:par>
                                <p:cTn id="13" presetID="10" presetClass="entr" presetSubtype="0" fill="hold" grpId="0" nodeType="afterEffect">
                                  <p:stCondLst>
                                    <p:cond delay="50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age-header"/>
          <p:cNvGrpSpPr/>
          <p:nvPr/>
        </p:nvGrpSpPr>
        <p:grpSpPr>
          <a:xfrm>
            <a:off x="670560" y="590550"/>
            <a:ext cx="5222813" cy="1212723"/>
            <a:chOff x="670560" y="590550"/>
            <a:chExt cx="5222813" cy="1212723"/>
          </a:xfrm>
        </p:grpSpPr>
        <p:sp>
          <p:nvSpPr>
            <p:cNvPr id="2" name="TextBox 2"/>
            <p:cNvSpPr txBox="1"/>
            <p:nvPr/>
          </p:nvSpPr>
          <p:spPr>
            <a:xfrm>
              <a:off x="670560" y="590550"/>
              <a:ext cx="5222813" cy="586740"/>
            </a:xfrm>
            <a:prstGeom prst="rect">
              <a:avLst/>
            </a:prstGeom>
            <a:noFill/>
            <a:ln>
              <a:noFill/>
            </a:ln>
          </p:spPr>
          <p:txBody>
            <a:bodyPr wrap="none" lIns="0" tIns="0" rIns="0" bIns="0" anchor="t" anchorCtr="0">
              <a:spAutoFit/>
            </a:bodyPr>
            <a:lstStyle/>
            <a:p>
              <a:pPr algn="l"/>
              <a:r>
                <a:rPr lang="ru-RU" sz="3000" b="1" dirty="0">
                  <a:solidFill>
                    <a:schemeClr val="accent1"/>
                  </a:solidFill>
                  <a:latin typeface="+mj-lt"/>
                  <a:ea typeface="+mj-ea"/>
                  <a:cs typeface="+mj-cs"/>
                </a:rPr>
                <a:t>Рождаемость: 1,73 → 1,42</a:t>
              </a:r>
            </a:p>
          </p:txBody>
        </p:sp>
        <p:sp>
          <p:nvSpPr>
            <p:cNvPr id="3" name="TextBox 3"/>
            <p:cNvSpPr txBox="1"/>
            <p:nvPr/>
          </p:nvSpPr>
          <p:spPr>
            <a:xfrm>
              <a:off x="675132" y="1068705"/>
              <a:ext cx="4498962" cy="734568"/>
            </a:xfrm>
            <a:prstGeom prst="rect">
              <a:avLst/>
            </a:prstGeom>
            <a:noFill/>
            <a:ln>
              <a:noFill/>
            </a:ln>
          </p:spPr>
          <p:txBody>
            <a:bodyPr wrap="none" lIns="0" tIns="0" rIns="0" bIns="0" anchor="t" anchorCtr="0">
              <a:spAutoFit/>
            </a:bodyPr>
            <a:lstStyle/>
            <a:p>
              <a:pPr algn="l">
                <a:lnSpc>
                  <a:spcPts val="2550"/>
                </a:lnSpc>
              </a:pPr>
              <a:r>
                <a:rPr lang="ru-RU" sz="2100" dirty="0">
                  <a:solidFill>
                    <a:schemeClr val="dk1"/>
                  </a:solidFill>
                  <a:latin typeface="+mn-lt"/>
                  <a:ea typeface="+mn-ea"/>
                  <a:cs typeface="+mn-cs"/>
                </a:rPr>
                <a:t>Ни в одном году периода суммарный</a:t>
              </a:r>
              <a:br/>
              <a:r>
                <a:rPr lang="ru-RU" sz="2100" dirty="0">
                  <a:solidFill>
                    <a:schemeClr val="dk1"/>
                  </a:solidFill>
                  <a:latin typeface="+mn-lt"/>
                  <a:ea typeface="+mn-ea"/>
                  <a:cs typeface="+mn-cs"/>
                </a:rPr>
                <a:t>коэффициент не достиг уровня 2,1</a:t>
              </a:r>
            </a:p>
          </p:txBody>
        </p:sp>
      </p:grpSp>
      <p:grpSp>
        <p:nvGrpSpPr>
          <p:cNvPr id="9" name="tfr-hero"/>
          <p:cNvGrpSpPr/>
          <p:nvPr/>
        </p:nvGrpSpPr>
        <p:grpSpPr>
          <a:xfrm>
            <a:off x="7981950" y="616268"/>
            <a:ext cx="2185380" cy="1426083"/>
            <a:chOff x="7981950" y="616268"/>
            <a:chExt cx="2185380" cy="1426083"/>
          </a:xfrm>
        </p:grpSpPr>
        <p:sp>
          <p:nvSpPr>
            <p:cNvPr id="5" name="TextBox 5"/>
            <p:cNvSpPr txBox="1"/>
            <p:nvPr/>
          </p:nvSpPr>
          <p:spPr>
            <a:xfrm>
              <a:off x="7994142" y="616268"/>
              <a:ext cx="960467" cy="264033"/>
            </a:xfrm>
            <a:prstGeom prst="rect">
              <a:avLst/>
            </a:prstGeom>
            <a:noFill/>
            <a:ln>
              <a:noFill/>
            </a:ln>
          </p:spPr>
          <p:txBody>
            <a:bodyPr wrap="none" lIns="0" tIns="0" rIns="0" bIns="0" anchor="t" anchorCtr="0">
              <a:spAutoFit/>
            </a:bodyPr>
            <a:lstStyle/>
            <a:p>
              <a:pPr algn="l"/>
              <a:r>
                <a:rPr lang="ru-RU" sz="1350" spc="150" dirty="0">
                  <a:solidFill>
                    <a:schemeClr val="accent5"/>
                  </a:solidFill>
                  <a:latin typeface="+mn-lt"/>
                  <a:ea typeface="+mn-ea"/>
                  <a:cs typeface="+mn-cs"/>
                </a:rPr>
                <a:t>2024 ГОД</a:t>
              </a:r>
            </a:p>
          </p:txBody>
        </p:sp>
        <p:sp>
          <p:nvSpPr>
            <p:cNvPr id="6" name="TextBox 6"/>
            <p:cNvSpPr txBox="1"/>
            <p:nvPr/>
          </p:nvSpPr>
          <p:spPr>
            <a:xfrm>
              <a:off x="7981950" y="872490"/>
              <a:ext cx="1232916" cy="933450"/>
            </a:xfrm>
            <a:prstGeom prst="rect">
              <a:avLst/>
            </a:prstGeom>
            <a:noFill/>
            <a:ln>
              <a:noFill/>
            </a:ln>
          </p:spPr>
          <p:txBody>
            <a:bodyPr wrap="none" lIns="0" tIns="0" rIns="0" bIns="0" anchor="t" anchorCtr="0">
              <a:spAutoFit/>
            </a:bodyPr>
            <a:lstStyle/>
            <a:p>
              <a:pPr algn="l"/>
              <a:r>
                <a:rPr lang="ru-RU" sz="4800" b="1" dirty="0">
                  <a:solidFill>
                    <a:schemeClr val="accent3"/>
                  </a:solidFill>
                  <a:latin typeface="+mj-lt"/>
                  <a:ea typeface="+mj-ea"/>
                  <a:cs typeface="+mj-cs"/>
                </a:rPr>
                <a:t>1,42</a:t>
              </a:r>
            </a:p>
          </p:txBody>
        </p:sp>
        <p:sp>
          <p:nvSpPr>
            <p:cNvPr id="7" name="TextBox 7"/>
            <p:cNvSpPr txBox="1"/>
            <p:nvPr/>
          </p:nvSpPr>
          <p:spPr>
            <a:xfrm>
              <a:off x="7994142" y="1530668"/>
              <a:ext cx="1813930" cy="264033"/>
            </a:xfrm>
            <a:prstGeom prst="rect">
              <a:avLst/>
            </a:prstGeom>
            <a:noFill/>
            <a:ln>
              <a:noFill/>
            </a:ln>
          </p:spPr>
          <p:txBody>
            <a:bodyPr wrap="none" lIns="0" tIns="0" rIns="0" bIns="0" anchor="t" anchorCtr="0">
              <a:spAutoFit/>
            </a:bodyPr>
            <a:lstStyle/>
            <a:p>
              <a:pPr algn="l"/>
              <a:r>
                <a:rPr lang="ru-RU" sz="1350" dirty="0">
                  <a:solidFill>
                    <a:schemeClr val="dk1"/>
                  </a:solidFill>
                  <a:latin typeface="+mn-lt"/>
                  <a:ea typeface="+mn-ea"/>
                  <a:cs typeface="+mn-cs"/>
                </a:rPr>
                <a:t>рождения на женщину</a:t>
              </a:r>
            </a:p>
          </p:txBody>
        </p:sp>
        <p:sp>
          <p:nvSpPr>
            <p:cNvPr id="8" name="TextBox 8"/>
            <p:cNvSpPr txBox="1"/>
            <p:nvPr/>
          </p:nvSpPr>
          <p:spPr>
            <a:xfrm>
              <a:off x="7994142" y="1778318"/>
              <a:ext cx="2173188" cy="264033"/>
            </a:xfrm>
            <a:prstGeom prst="rect">
              <a:avLst/>
            </a:prstGeom>
            <a:noFill/>
            <a:ln>
              <a:noFill/>
            </a:ln>
          </p:spPr>
          <p:txBody>
            <a:bodyPr wrap="none" lIns="0" tIns="0" rIns="0" bIns="0" anchor="t" anchorCtr="0">
              <a:spAutoFit/>
            </a:bodyPr>
            <a:lstStyle/>
            <a:p>
              <a:pPr algn="l"/>
              <a:r>
                <a:rPr lang="ru-RU" sz="1350" dirty="0">
                  <a:solidFill>
                    <a:schemeClr val="accent5"/>
                  </a:solidFill>
                  <a:latin typeface="+mn-lt"/>
                  <a:ea typeface="+mn-ea"/>
                  <a:cs typeface="+mn-cs"/>
                </a:rPr>
                <a:t>минимум 1,16 в 1999 году</a:t>
              </a:r>
            </a:p>
          </p:txBody>
        </p:sp>
      </p:grpSp>
      <p:grpSp>
        <p:nvGrpSpPr>
          <p:cNvPr id="23" name="tfr-curve"/>
          <p:cNvGrpSpPr/>
          <p:nvPr/>
        </p:nvGrpSpPr>
        <p:grpSpPr>
          <a:xfrm>
            <a:off x="685800" y="2111692"/>
            <a:ext cx="10820400" cy="3565208"/>
            <a:chOff x="685800" y="2111692"/>
            <a:chExt cx="10820400" cy="3565208"/>
          </a:xfrm>
        </p:grpSpPr>
        <p:graphicFrame>
          <p:nvGraphicFramePr>
            <p:cNvPr id="10" name="tfr-curve"/>
            <p:cNvGraphicFramePr>
              <a:graphicFrameLocks noGrp="1"/>
            </p:cNvGraphicFramePr>
            <p:nvPr/>
          </p:nvGraphicFramePr>
          <p:xfrm>
            <a:off x="685800" y="2190750"/>
            <a:ext cx="10820400" cy="3486150"/>
          </p:xfrm>
          <a:graphic>
            <a:graphicData uri="http://schemas.openxmlformats.org/drawingml/2006/chart">
              <c:chart xmlns:c="http://schemas.openxmlformats.org/drawingml/2006/chart" r:id="rId2"/>
            </a:graphicData>
          </a:graphic>
        </p:graphicFrame>
        <p:sp>
          <p:nvSpPr>
            <p:cNvPr id="11" name="Chart Note 11"/>
            <p:cNvSpPr txBox="1"/>
            <p:nvPr/>
          </p:nvSpPr>
          <p:spPr>
            <a:xfrm>
              <a:off x="1428750" y="2111692"/>
              <a:ext cx="2000250" cy="274320"/>
            </a:xfrm>
            <a:prstGeom prst="rect">
              <a:avLst/>
            </a:prstGeom>
            <a:noFill/>
            <a:ln>
              <a:noFill/>
            </a:ln>
          </p:spPr>
          <p:txBody>
            <a:bodyPr wrap="square" lIns="0" tIns="0" rIns="0" bIns="0" anchor="b" anchorCtr="0"/>
            <a:lstStyle/>
            <a:p>
              <a:pPr algn="l"/>
              <a:r>
                <a:rPr lang="ru-RU" sz="1350">
                  <a:solidFill>
                    <a:srgbClr val="5B6670"/>
                  </a:solidFill>
                  <a:latin typeface="Arial"/>
                  <a:ea typeface="Microsoft YaHei"/>
                  <a:cs typeface="Arial"/>
                </a:rPr>
                <a:t>рождений на женщину</a:t>
              </a:r>
            </a:p>
          </p:txBody>
        </p:sp>
        <p:sp>
          <p:nvSpPr>
            <p:cNvPr id="12" name="Chart Note 12"/>
            <p:cNvSpPr txBox="1"/>
            <p:nvPr/>
          </p:nvSpPr>
          <p:spPr>
            <a:xfrm>
              <a:off x="838200" y="4894898"/>
              <a:ext cx="476250" cy="274320"/>
            </a:xfrm>
            <a:prstGeom prst="rect">
              <a:avLst/>
            </a:prstGeom>
            <a:noFill/>
            <a:ln>
              <a:noFill/>
            </a:ln>
          </p:spPr>
          <p:txBody>
            <a:bodyPr wrap="square" lIns="0" tIns="0" rIns="0" bIns="0" anchor="b" anchorCtr="0"/>
            <a:lstStyle/>
            <a:p>
              <a:pPr algn="r"/>
              <a:r>
                <a:rPr lang="ru-RU" sz="1350">
                  <a:solidFill>
                    <a:srgbClr val="5B6670"/>
                  </a:solidFill>
                  <a:latin typeface="Arial"/>
                  <a:ea typeface="Microsoft YaHei"/>
                  <a:cs typeface="Arial"/>
                </a:rPr>
                <a:t>1,2</a:t>
              </a:r>
            </a:p>
          </p:txBody>
        </p:sp>
        <p:sp>
          <p:nvSpPr>
            <p:cNvPr id="13" name="Chart Note 13"/>
            <p:cNvSpPr txBox="1"/>
            <p:nvPr/>
          </p:nvSpPr>
          <p:spPr>
            <a:xfrm>
              <a:off x="838200" y="4364355"/>
              <a:ext cx="476250" cy="274320"/>
            </a:xfrm>
            <a:prstGeom prst="rect">
              <a:avLst/>
            </a:prstGeom>
            <a:noFill/>
            <a:ln>
              <a:noFill/>
            </a:ln>
          </p:spPr>
          <p:txBody>
            <a:bodyPr wrap="square" lIns="0" tIns="0" rIns="0" bIns="0" anchor="b" anchorCtr="0"/>
            <a:lstStyle/>
            <a:p>
              <a:pPr algn="r"/>
              <a:r>
                <a:rPr lang="ru-RU" sz="1350">
                  <a:solidFill>
                    <a:srgbClr val="5B6670"/>
                  </a:solidFill>
                  <a:latin typeface="Arial"/>
                  <a:ea typeface="Microsoft YaHei"/>
                  <a:cs typeface="Arial"/>
                </a:rPr>
                <a:t>1,4</a:t>
              </a:r>
            </a:p>
          </p:txBody>
        </p:sp>
        <p:sp>
          <p:nvSpPr>
            <p:cNvPr id="14" name="Chart Note 14"/>
            <p:cNvSpPr txBox="1"/>
            <p:nvPr/>
          </p:nvSpPr>
          <p:spPr>
            <a:xfrm>
              <a:off x="838200" y="3834765"/>
              <a:ext cx="476250" cy="274320"/>
            </a:xfrm>
            <a:prstGeom prst="rect">
              <a:avLst/>
            </a:prstGeom>
            <a:noFill/>
            <a:ln>
              <a:noFill/>
            </a:ln>
          </p:spPr>
          <p:txBody>
            <a:bodyPr wrap="square" lIns="0" tIns="0" rIns="0" bIns="0" anchor="b" anchorCtr="0"/>
            <a:lstStyle/>
            <a:p>
              <a:pPr algn="r"/>
              <a:r>
                <a:rPr lang="ru-RU" sz="1350">
                  <a:solidFill>
                    <a:srgbClr val="5B6670"/>
                  </a:solidFill>
                  <a:latin typeface="Arial"/>
                  <a:ea typeface="Microsoft YaHei"/>
                  <a:cs typeface="Arial"/>
                </a:rPr>
                <a:t>1,6</a:t>
              </a:r>
            </a:p>
          </p:txBody>
        </p:sp>
        <p:sp>
          <p:nvSpPr>
            <p:cNvPr id="15" name="Chart Note 15"/>
            <p:cNvSpPr txBox="1"/>
            <p:nvPr/>
          </p:nvSpPr>
          <p:spPr>
            <a:xfrm>
              <a:off x="838200" y="3304222"/>
              <a:ext cx="476250" cy="274320"/>
            </a:xfrm>
            <a:prstGeom prst="rect">
              <a:avLst/>
            </a:prstGeom>
            <a:noFill/>
            <a:ln>
              <a:noFill/>
            </a:ln>
          </p:spPr>
          <p:txBody>
            <a:bodyPr wrap="square" lIns="0" tIns="0" rIns="0" bIns="0" anchor="b" anchorCtr="0"/>
            <a:lstStyle/>
            <a:p>
              <a:pPr algn="r"/>
              <a:r>
                <a:rPr lang="ru-RU" sz="1350">
                  <a:solidFill>
                    <a:srgbClr val="5B6670"/>
                  </a:solidFill>
                  <a:latin typeface="Arial"/>
                  <a:ea typeface="Microsoft YaHei"/>
                  <a:cs typeface="Arial"/>
                </a:rPr>
                <a:t>1,8</a:t>
              </a:r>
            </a:p>
          </p:txBody>
        </p:sp>
        <p:sp>
          <p:nvSpPr>
            <p:cNvPr id="16" name="Chart Note 16"/>
            <p:cNvSpPr txBox="1"/>
            <p:nvPr/>
          </p:nvSpPr>
          <p:spPr>
            <a:xfrm>
              <a:off x="838200" y="2774632"/>
              <a:ext cx="476250" cy="274320"/>
            </a:xfrm>
            <a:prstGeom prst="rect">
              <a:avLst/>
            </a:prstGeom>
            <a:noFill/>
            <a:ln>
              <a:noFill/>
            </a:ln>
          </p:spPr>
          <p:txBody>
            <a:bodyPr wrap="square" lIns="0" tIns="0" rIns="0" bIns="0" anchor="b" anchorCtr="0"/>
            <a:lstStyle/>
            <a:p>
              <a:pPr algn="r"/>
              <a:r>
                <a:rPr lang="ru-RU" sz="1350">
                  <a:solidFill>
                    <a:srgbClr val="5B6670"/>
                  </a:solidFill>
                  <a:latin typeface="Arial"/>
                  <a:ea typeface="Microsoft YaHei"/>
                  <a:cs typeface="Arial"/>
                </a:rPr>
                <a:t>2,0</a:t>
              </a:r>
            </a:p>
          </p:txBody>
        </p:sp>
        <p:sp>
          <p:nvSpPr>
            <p:cNvPr id="17" name="Chart Note 17"/>
            <p:cNvSpPr txBox="1"/>
            <p:nvPr/>
          </p:nvSpPr>
          <p:spPr>
            <a:xfrm>
              <a:off x="838200" y="2245042"/>
              <a:ext cx="476250" cy="274320"/>
            </a:xfrm>
            <a:prstGeom prst="rect">
              <a:avLst/>
            </a:prstGeom>
            <a:noFill/>
            <a:ln>
              <a:noFill/>
            </a:ln>
          </p:spPr>
          <p:txBody>
            <a:bodyPr wrap="square" lIns="0" tIns="0" rIns="0" bIns="0" anchor="b" anchorCtr="0"/>
            <a:lstStyle/>
            <a:p>
              <a:pPr algn="r"/>
              <a:r>
                <a:rPr lang="ru-RU" sz="1350">
                  <a:solidFill>
                    <a:srgbClr val="5B6670"/>
                  </a:solidFill>
                  <a:latin typeface="Arial"/>
                  <a:ea typeface="Microsoft YaHei"/>
                  <a:cs typeface="Arial"/>
                </a:rPr>
                <a:t>2,2</a:t>
              </a:r>
            </a:p>
          </p:txBody>
        </p:sp>
        <p:sp>
          <p:nvSpPr>
            <p:cNvPr id="18" name="Chart Note 18"/>
            <p:cNvSpPr txBox="1"/>
            <p:nvPr/>
          </p:nvSpPr>
          <p:spPr>
            <a:xfrm>
              <a:off x="5676900" y="2378392"/>
              <a:ext cx="3810000" cy="274320"/>
            </a:xfrm>
            <a:prstGeom prst="rect">
              <a:avLst/>
            </a:prstGeom>
            <a:noFill/>
            <a:ln>
              <a:noFill/>
            </a:ln>
          </p:spPr>
          <p:txBody>
            <a:bodyPr wrap="square" lIns="0" tIns="0" rIns="0" bIns="0" anchor="b" anchorCtr="0"/>
            <a:lstStyle/>
            <a:p>
              <a:pPr algn="l"/>
              <a:r>
                <a:rPr lang="ru-RU" sz="1350">
                  <a:solidFill>
                    <a:srgbClr val="5B6670"/>
                  </a:solidFill>
                  <a:latin typeface="Arial"/>
                  <a:ea typeface="Microsoft YaHei"/>
                  <a:cs typeface="Arial"/>
                </a:rPr>
                <a:t>уровень простого воспроизводства — 2,1</a:t>
              </a:r>
            </a:p>
          </p:txBody>
        </p:sp>
        <p:sp>
          <p:nvSpPr>
            <p:cNvPr id="19" name="Chart Note 19"/>
            <p:cNvSpPr txBox="1"/>
            <p:nvPr/>
          </p:nvSpPr>
          <p:spPr>
            <a:xfrm>
              <a:off x="1543050" y="3324225"/>
              <a:ext cx="666750" cy="304800"/>
            </a:xfrm>
            <a:prstGeom prst="rect">
              <a:avLst/>
            </a:prstGeom>
            <a:noFill/>
            <a:ln>
              <a:noFill/>
            </a:ln>
          </p:spPr>
          <p:txBody>
            <a:bodyPr wrap="square" lIns="0" tIns="0" rIns="0" bIns="0" anchor="b" anchorCtr="0"/>
            <a:lstStyle/>
            <a:p>
              <a:pPr algn="l"/>
              <a:r>
                <a:rPr lang="ru-RU" sz="1500" b="1">
                  <a:solidFill>
                    <a:srgbClr val="1B2B3A"/>
                  </a:solidFill>
                  <a:latin typeface="Arial"/>
                  <a:ea typeface="Microsoft YaHei"/>
                  <a:cs typeface="Arial"/>
                </a:rPr>
                <a:t>1,73</a:t>
              </a:r>
            </a:p>
          </p:txBody>
        </p:sp>
        <p:sp>
          <p:nvSpPr>
            <p:cNvPr id="20" name="Chart Note 20"/>
            <p:cNvSpPr txBox="1"/>
            <p:nvPr/>
          </p:nvSpPr>
          <p:spPr>
            <a:xfrm>
              <a:off x="3473768" y="5162550"/>
              <a:ext cx="666750" cy="304800"/>
            </a:xfrm>
            <a:prstGeom prst="rect">
              <a:avLst/>
            </a:prstGeom>
            <a:noFill/>
            <a:ln>
              <a:noFill/>
            </a:ln>
          </p:spPr>
          <p:txBody>
            <a:bodyPr wrap="square" lIns="0" tIns="0" rIns="0" bIns="0" anchor="b" anchorCtr="0"/>
            <a:lstStyle/>
            <a:p>
              <a:pPr algn="ctr"/>
              <a:r>
                <a:rPr lang="ru-RU" sz="1500" b="1">
                  <a:solidFill>
                    <a:srgbClr val="B3121B"/>
                  </a:solidFill>
                  <a:latin typeface="Arial"/>
                  <a:ea typeface="Microsoft YaHei"/>
                  <a:cs typeface="Arial"/>
                </a:rPr>
                <a:t>1,16</a:t>
              </a:r>
            </a:p>
          </p:txBody>
        </p:sp>
        <p:sp>
          <p:nvSpPr>
            <p:cNvPr id="21" name="Chart Note 21"/>
            <p:cNvSpPr txBox="1"/>
            <p:nvPr/>
          </p:nvSpPr>
          <p:spPr>
            <a:xfrm>
              <a:off x="8230552" y="3152775"/>
              <a:ext cx="666750" cy="304800"/>
            </a:xfrm>
            <a:prstGeom prst="rect">
              <a:avLst/>
            </a:prstGeom>
            <a:noFill/>
            <a:ln>
              <a:noFill/>
            </a:ln>
          </p:spPr>
          <p:txBody>
            <a:bodyPr wrap="square" lIns="0" tIns="0" rIns="0" bIns="0" anchor="b" anchorCtr="0"/>
            <a:lstStyle/>
            <a:p>
              <a:pPr algn="ctr"/>
              <a:r>
                <a:rPr lang="ru-RU" sz="1500" b="1">
                  <a:solidFill>
                    <a:srgbClr val="2E6F8E"/>
                  </a:solidFill>
                  <a:latin typeface="Arial"/>
                  <a:ea typeface="Microsoft YaHei"/>
                  <a:cs typeface="Arial"/>
                </a:rPr>
                <a:t>1,78</a:t>
              </a:r>
            </a:p>
          </p:txBody>
        </p:sp>
        <p:sp>
          <p:nvSpPr>
            <p:cNvPr id="22" name="Chart Note 22"/>
            <p:cNvSpPr txBox="1"/>
            <p:nvPr/>
          </p:nvSpPr>
          <p:spPr>
            <a:xfrm>
              <a:off x="10458450" y="4143375"/>
              <a:ext cx="666750" cy="304800"/>
            </a:xfrm>
            <a:prstGeom prst="rect">
              <a:avLst/>
            </a:prstGeom>
            <a:noFill/>
            <a:ln>
              <a:noFill/>
            </a:ln>
          </p:spPr>
          <p:txBody>
            <a:bodyPr wrap="square" lIns="0" tIns="0" rIns="0" bIns="0" anchor="b" anchorCtr="0"/>
            <a:lstStyle/>
            <a:p>
              <a:pPr algn="r"/>
              <a:r>
                <a:rPr lang="ru-RU" sz="1500" b="1">
                  <a:solidFill>
                    <a:srgbClr val="1B2B3A"/>
                  </a:solidFill>
                  <a:latin typeface="Arial"/>
                  <a:ea typeface="Microsoft YaHei"/>
                  <a:cs typeface="Arial"/>
                </a:rPr>
                <a:t>1,42</a:t>
              </a:r>
            </a:p>
          </p:txBody>
        </p:sp>
      </p:grpSp>
      <p:grpSp>
        <p:nvGrpSpPr>
          <p:cNvPr id="25" name="fertility-note"/>
          <p:cNvGrpSpPr/>
          <p:nvPr/>
        </p:nvGrpSpPr>
        <p:grpSpPr>
          <a:xfrm>
            <a:off x="678942" y="5816918"/>
            <a:ext cx="6823127" cy="511683"/>
            <a:chOff x="678942" y="5816918"/>
            <a:chExt cx="6823127" cy="511683"/>
          </a:xfrm>
        </p:grpSpPr>
        <p:sp>
          <p:nvSpPr>
            <p:cNvPr id="24" name="TextBox 24"/>
            <p:cNvSpPr txBox="1"/>
            <p:nvPr/>
          </p:nvSpPr>
          <p:spPr>
            <a:xfrm>
              <a:off x="678942" y="5816918"/>
              <a:ext cx="6823127" cy="511683"/>
            </a:xfrm>
            <a:prstGeom prst="rect">
              <a:avLst/>
            </a:prstGeom>
            <a:noFill/>
            <a:ln>
              <a:noFill/>
            </a:ln>
          </p:spPr>
          <p:txBody>
            <a:bodyPr wrap="none" lIns="0" tIns="0" rIns="0" bIns="0" anchor="t" anchorCtr="0">
              <a:spAutoFit/>
            </a:bodyPr>
            <a:lstStyle/>
            <a:p>
              <a:pPr algn="l">
                <a:lnSpc>
                  <a:spcPts val="1950"/>
                </a:lnSpc>
              </a:pPr>
              <a:r>
                <a:rPr lang="ru-RU" sz="1350" dirty="0">
                  <a:solidFill>
                    <a:schemeClr val="accent5"/>
                  </a:solidFill>
                  <a:latin typeface="+mn-lt"/>
                  <a:ea typeface="+mn-ea"/>
                  <a:cs typeface="+mn-cs"/>
                </a:rPr>
                <a:t>Показатель — сколько рождений приходится на одну женщину</a:t>
              </a:r>
              <a:br/>
              <a:r>
                <a:rPr lang="ru-RU" sz="1350" dirty="0">
                  <a:solidFill>
                    <a:schemeClr val="accent5"/>
                  </a:solidFill>
                  <a:latin typeface="+mn-lt"/>
                  <a:ea typeface="+mn-ea"/>
                  <a:cs typeface="+mn-cs"/>
                </a:rPr>
                <a:t>при текущих возрастных коэффициентах. До уровня 2,1 в 2024 году — 0,68 (расчёт).</a:t>
              </a:r>
            </a:p>
          </p:txBody>
        </p:sp>
      </p:grpSp>
      <p:grpSp>
        <p:nvGrpSpPr>
          <p:cNvPr id="28" name="page-footer"/>
          <p:cNvGrpSpPr/>
          <p:nvPr/>
        </p:nvGrpSpPr>
        <p:grpSpPr>
          <a:xfrm>
            <a:off x="679704" y="6442710"/>
            <a:ext cx="10832592" cy="234696"/>
            <a:chOff x="679704" y="6442710"/>
            <a:chExt cx="10832592" cy="234696"/>
          </a:xfrm>
        </p:grpSpPr>
        <p:sp>
          <p:nvSpPr>
            <p:cNvPr id="26" name="TextBox 26"/>
            <p:cNvSpPr txBox="1"/>
            <p:nvPr/>
          </p:nvSpPr>
          <p:spPr>
            <a:xfrm>
              <a:off x="679704" y="6442710"/>
              <a:ext cx="3563453" cy="234696"/>
            </a:xfrm>
            <a:prstGeom prst="rect">
              <a:avLst/>
            </a:prstGeom>
            <a:noFill/>
            <a:ln>
              <a:noFill/>
            </a:ln>
          </p:spPr>
          <p:txBody>
            <a:bodyPr wrap="none" lIns="0" tIns="0" rIns="0" bIns="0" anchor="t" anchorCtr="0">
              <a:spAutoFit/>
            </a:bodyPr>
            <a:lstStyle/>
            <a:p>
              <a:pPr algn="l"/>
              <a:r>
                <a:rPr lang="ru-RU" sz="1200" dirty="0">
                  <a:solidFill>
                    <a:schemeClr val="accent5"/>
                  </a:solidFill>
                  <a:latin typeface="+mn-lt"/>
                  <a:ea typeface="+mn-ea"/>
                  <a:cs typeface="+mn-cs"/>
                </a:rPr>
                <a:t>Всемирный банк, SP.DYN.TFRT.IN, 1991–2024</a:t>
              </a:r>
            </a:p>
          </p:txBody>
        </p:sp>
        <p:sp>
          <p:nvSpPr>
            <p:cNvPr id="27" name="TextBox 27"/>
            <p:cNvSpPr txBox="1"/>
            <p:nvPr/>
          </p:nvSpPr>
          <p:spPr>
            <a:xfrm>
              <a:off x="11320402" y="6442710"/>
              <a:ext cx="191894" cy="234696"/>
            </a:xfrm>
            <a:prstGeom prst="rect">
              <a:avLst/>
            </a:prstGeom>
            <a:noFill/>
            <a:ln>
              <a:noFill/>
            </a:ln>
          </p:spPr>
          <p:txBody>
            <a:bodyPr wrap="none" lIns="0" tIns="0" rIns="0" bIns="0" anchor="t" anchorCtr="0">
              <a:spAutoFit/>
            </a:bodyPr>
            <a:lstStyle/>
            <a:p>
              <a:pPr algn="r"/>
              <a:r>
                <a:rPr lang="ru-RU" sz="1200" dirty="0">
                  <a:solidFill>
                    <a:schemeClr val="accent5"/>
                  </a:solidFill>
                  <a:latin typeface="+mn-lt"/>
                  <a:ea typeface="+mn-ea"/>
                  <a:cs typeface="+mn-cs"/>
                </a:rPr>
                <a:t>07</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par>
                          <p:cTn id="8" fill="hold">
                            <p:stCondLst>
                              <p:cond delay="40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500"/>
                                        <p:tgtEl>
                                          <p:spTgt spid="9"/>
                                        </p:tgtEl>
                                      </p:cBhvr>
                                    </p:animEffect>
                                  </p:childTnLst>
                                </p:cTn>
                              </p:par>
                            </p:childTnLst>
                          </p:cTn>
                        </p:par>
                        <p:par>
                          <p:cTn id="12" fill="hold">
                            <p:stCondLst>
                              <p:cond delay="1400"/>
                            </p:stCondLst>
                            <p:childTnLst>
                              <p:par>
                                <p:cTn xmlns:p="http://schemas.openxmlformats.org/presentationml/2006/main" id="13" presetID="22" presetClass="entr" presetSubtype="2" fill="hold" grpId="0" nodeType="afterEffect">
                                  <p:stCondLst>
                                    <p:cond delay="500"/>
                                  </p:stCondLst>
                                  <p:childTnLst>
                                    <p:set>
                                      <p:cBhvr>
                                        <p:cTn id="14" dur="1" fill="hold">
                                          <p:stCondLst>
                                            <p:cond delay="0"/>
                                          </p:stCondLst>
                                        </p:cTn>
                                        <p:tgtEl>
                                          <p:spTgt spid="23"/>
                                        </p:tgtEl>
                                        <p:attrNameLst>
                                          <p:attrName>style.visibility</p:attrName>
                                        </p:attrNameLst>
                                      </p:cBhvr>
                                      <p:to>
                                        <p:strVal val="visible"/>
                                      </p:to>
                                    </p:set>
                                    <p:animEffect transition="in" filter="wipe(right)">
                                      <p:cBhvr>
                                        <p:cTn id="15" dur="1200"/>
                                        <p:tgtEl>
                                          <p:spTgt spid="23"/>
                                        </p:tgtEl>
                                      </p:cBhvr>
                                    </p:animEffect>
                                  </p:childTnLst>
                                </p:cTn>
                              </p:par>
                            </p:childTnLst>
                          </p:cTn>
                        </p:par>
                        <p:par>
                          <p:cTn id="16" fill="hold">
                            <p:stCondLst>
                              <p:cond delay="3100"/>
                            </p:stCondLst>
                            <p:childTnLst>
                              <p:par>
                                <p:cTn xmlns:p="http://schemas.openxmlformats.org/presentationml/2006/main" id="17" presetID="10" presetClass="entr" presetSubtype="0" fill="hold" grpId="0" nodeType="afterEffect">
                                  <p:stCondLst>
                                    <p:cond delay="500"/>
                                  </p:stCondLst>
                                  <p:childTnLst>
                                    <p:set>
                                      <p:cBhvr>
                                        <p:cTn id="18" dur="1" fill="hold">
                                          <p:stCondLst>
                                            <p:cond delay="0"/>
                                          </p:stCondLst>
                                        </p:cTn>
                                        <p:tgtEl>
                                          <p:spTgt spid="25"/>
                                        </p:tgtEl>
                                        <p:attrNameLst>
                                          <p:attrName>style.visibility</p:attrName>
                                        </p:attrNameLst>
                                      </p:cBhvr>
                                      <p:to>
                                        <p:strVal val="visible"/>
                                      </p:to>
                                    </p:set>
                                    <p:animEffect transition="in" filter="fade">
                                      <p:cBhvr>
                                        <p:cTn id="19"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age-header"/>
          <p:cNvGrpSpPr/>
          <p:nvPr/>
        </p:nvGrpSpPr>
        <p:grpSpPr>
          <a:xfrm>
            <a:off x="670560" y="590550"/>
            <a:ext cx="9400854" cy="1212723"/>
            <a:chOff x="670560" y="590550"/>
            <a:chExt cx="9400854" cy="1212723"/>
          </a:xfrm>
        </p:grpSpPr>
        <p:sp>
          <p:nvSpPr>
            <p:cNvPr id="2" name="TextBox 2"/>
            <p:cNvSpPr txBox="1"/>
            <p:nvPr/>
          </p:nvSpPr>
          <p:spPr>
            <a:xfrm>
              <a:off x="670560" y="590550"/>
              <a:ext cx="9400854" cy="586740"/>
            </a:xfrm>
            <a:prstGeom prst="rect">
              <a:avLst/>
            </a:prstGeom>
            <a:noFill/>
            <a:ln>
              <a:noFill/>
            </a:ln>
          </p:spPr>
          <p:txBody>
            <a:bodyPr wrap="none" lIns="0" tIns="0" rIns="0" bIns="0" anchor="t" anchorCtr="0">
              <a:spAutoFit/>
            </a:bodyPr>
            <a:lstStyle/>
            <a:p>
              <a:pPr algn="l"/>
              <a:r>
                <a:rPr lang="ru-RU" sz="3000" b="1" dirty="0">
                  <a:solidFill>
                    <a:schemeClr val="accent1"/>
                  </a:solidFill>
                  <a:latin typeface="+mj-lt"/>
                  <a:ea typeface="+mj-ea"/>
                  <a:cs typeface="+mj-cs"/>
                </a:rPr>
                <a:t>Продолжительность жизни: провал 1994 года</a:t>
              </a:r>
            </a:p>
          </p:txBody>
        </p:sp>
        <p:sp>
          <p:nvSpPr>
            <p:cNvPr id="3" name="TextBox 3"/>
            <p:cNvSpPr txBox="1"/>
            <p:nvPr/>
          </p:nvSpPr>
          <p:spPr>
            <a:xfrm>
              <a:off x="675132" y="1068705"/>
              <a:ext cx="6710759" cy="734568"/>
            </a:xfrm>
            <a:prstGeom prst="rect">
              <a:avLst/>
            </a:prstGeom>
            <a:noFill/>
            <a:ln>
              <a:noFill/>
            </a:ln>
          </p:spPr>
          <p:txBody>
            <a:bodyPr wrap="none" lIns="0" tIns="0" rIns="0" bIns="0" anchor="t" anchorCtr="0">
              <a:spAutoFit/>
            </a:bodyPr>
            <a:lstStyle/>
            <a:p>
              <a:pPr algn="l">
                <a:lnSpc>
                  <a:spcPts val="2550"/>
                </a:lnSpc>
              </a:pPr>
              <a:r>
                <a:rPr lang="ru-RU" sz="2100" dirty="0">
                  <a:solidFill>
                    <a:schemeClr val="dk1"/>
                  </a:solidFill>
                  <a:latin typeface="+mn-lt"/>
                  <a:ea typeface="+mn-ea"/>
                  <a:cs typeface="+mn-cs"/>
                </a:rPr>
                <a:t>Мужчины: 63,5 (1991) → 57,6 (1994) → 68,3 (2024)</a:t>
              </a:r>
              <a:br/>
              <a:r>
                <a:rPr lang="ru-RU" sz="2100" dirty="0">
                  <a:solidFill>
                    <a:schemeClr val="dk1"/>
                  </a:solidFill>
                  <a:latin typeface="+mn-lt"/>
                  <a:ea typeface="+mn-ea"/>
                  <a:cs typeface="+mn-cs"/>
                </a:rPr>
                <a:t>Женщины: 73,8 → 71,2 (1993) → 78,9; разрыв 10,6 года</a:t>
              </a:r>
            </a:p>
          </p:txBody>
        </p:sp>
      </p:grpSp>
      <p:grpSp>
        <p:nvGrpSpPr>
          <p:cNvPr id="14" name="le-sex"/>
          <p:cNvGrpSpPr/>
          <p:nvPr/>
        </p:nvGrpSpPr>
        <p:grpSpPr>
          <a:xfrm>
            <a:off x="685800" y="1787842"/>
            <a:ext cx="10820400" cy="3889058"/>
            <a:chOff x="685800" y="1787842"/>
            <a:chExt cx="10820400" cy="3889058"/>
          </a:xfrm>
        </p:grpSpPr>
        <p:graphicFrame>
          <p:nvGraphicFramePr>
            <p:cNvPr id="5" name="le-sex"/>
            <p:cNvGraphicFramePr>
              <a:graphicFrameLocks noGrp="1"/>
            </p:cNvGraphicFramePr>
            <p:nvPr/>
          </p:nvGraphicFramePr>
          <p:xfrm>
            <a:off x="685800" y="1866900"/>
            <a:ext cx="10820400" cy="3810000"/>
          </p:xfrm>
          <a:graphic>
            <a:graphicData uri="http://schemas.openxmlformats.org/drawingml/2006/chart">
              <c:chart xmlns:c="http://schemas.openxmlformats.org/drawingml/2006/chart" r:id="rId2"/>
            </a:graphicData>
          </a:graphic>
        </p:graphicFrame>
        <p:sp>
          <p:nvSpPr>
            <p:cNvPr id="6" name="Chart Note 6"/>
            <p:cNvSpPr txBox="1"/>
            <p:nvPr/>
          </p:nvSpPr>
          <p:spPr>
            <a:xfrm>
              <a:off x="1428750" y="1787842"/>
              <a:ext cx="571500" cy="274320"/>
            </a:xfrm>
            <a:prstGeom prst="rect">
              <a:avLst/>
            </a:prstGeom>
            <a:noFill/>
            <a:ln>
              <a:noFill/>
            </a:ln>
          </p:spPr>
          <p:txBody>
            <a:bodyPr wrap="square" lIns="0" tIns="0" rIns="0" bIns="0" anchor="b" anchorCtr="0"/>
            <a:lstStyle/>
            <a:p>
              <a:pPr algn="l"/>
              <a:r>
                <a:rPr lang="ru-RU" sz="1350">
                  <a:solidFill>
                    <a:srgbClr val="5B6670"/>
                  </a:solidFill>
                  <a:latin typeface="Arial"/>
                  <a:ea typeface="Microsoft YaHei"/>
                  <a:cs typeface="Arial"/>
                </a:rPr>
                <a:t>лет</a:t>
              </a:r>
            </a:p>
          </p:txBody>
        </p:sp>
        <p:sp>
          <p:nvSpPr>
            <p:cNvPr id="7" name="Chart Note 7"/>
            <p:cNvSpPr txBox="1"/>
            <p:nvPr/>
          </p:nvSpPr>
          <p:spPr>
            <a:xfrm>
              <a:off x="1524000" y="3990975"/>
              <a:ext cx="666750" cy="304800"/>
            </a:xfrm>
            <a:prstGeom prst="rect">
              <a:avLst/>
            </a:prstGeom>
            <a:noFill/>
            <a:ln>
              <a:noFill/>
            </a:ln>
          </p:spPr>
          <p:txBody>
            <a:bodyPr wrap="square" lIns="0" tIns="0" rIns="0" bIns="0" anchor="b" anchorCtr="0"/>
            <a:lstStyle/>
            <a:p>
              <a:pPr algn="l"/>
              <a:r>
                <a:rPr lang="ru-RU" sz="1500" b="1">
                  <a:solidFill>
                    <a:srgbClr val="1B2B3A"/>
                  </a:solidFill>
                  <a:latin typeface="Arial"/>
                  <a:ea typeface="Microsoft YaHei"/>
                  <a:cs typeface="Arial"/>
                </a:rPr>
                <a:t>63,5</a:t>
              </a:r>
            </a:p>
          </p:txBody>
        </p:sp>
        <p:sp>
          <p:nvSpPr>
            <p:cNvPr id="8" name="Chart Note 8"/>
            <p:cNvSpPr txBox="1"/>
            <p:nvPr/>
          </p:nvSpPr>
          <p:spPr>
            <a:xfrm>
              <a:off x="1986915" y="5114925"/>
              <a:ext cx="666750" cy="304800"/>
            </a:xfrm>
            <a:prstGeom prst="rect">
              <a:avLst/>
            </a:prstGeom>
            <a:noFill/>
            <a:ln>
              <a:noFill/>
            </a:ln>
          </p:spPr>
          <p:txBody>
            <a:bodyPr wrap="square" lIns="0" tIns="0" rIns="0" bIns="0" anchor="b" anchorCtr="0"/>
            <a:lstStyle/>
            <a:p>
              <a:pPr algn="ctr"/>
              <a:r>
                <a:rPr lang="ru-RU" sz="1500" b="1">
                  <a:solidFill>
                    <a:srgbClr val="1B2B3A"/>
                  </a:solidFill>
                  <a:latin typeface="Arial"/>
                  <a:ea typeface="Microsoft YaHei"/>
                  <a:cs typeface="Arial"/>
                </a:rPr>
                <a:t>57,6</a:t>
              </a:r>
            </a:p>
          </p:txBody>
        </p:sp>
        <p:sp>
          <p:nvSpPr>
            <p:cNvPr id="9" name="Chart Note 9"/>
            <p:cNvSpPr txBox="1"/>
            <p:nvPr/>
          </p:nvSpPr>
          <p:spPr>
            <a:xfrm>
              <a:off x="10458450" y="3324225"/>
              <a:ext cx="666750" cy="304800"/>
            </a:xfrm>
            <a:prstGeom prst="rect">
              <a:avLst/>
            </a:prstGeom>
            <a:noFill/>
            <a:ln>
              <a:noFill/>
            </a:ln>
          </p:spPr>
          <p:txBody>
            <a:bodyPr wrap="square" lIns="0" tIns="0" rIns="0" bIns="0" anchor="b" anchorCtr="0"/>
            <a:lstStyle/>
            <a:p>
              <a:pPr algn="r"/>
              <a:r>
                <a:rPr lang="ru-RU" sz="1500" b="1">
                  <a:solidFill>
                    <a:srgbClr val="1B2B3A"/>
                  </a:solidFill>
                  <a:latin typeface="Arial"/>
                  <a:ea typeface="Microsoft YaHei"/>
                  <a:cs typeface="Arial"/>
                </a:rPr>
                <a:t>68,3</a:t>
              </a:r>
            </a:p>
          </p:txBody>
        </p:sp>
        <p:sp>
          <p:nvSpPr>
            <p:cNvPr id="10" name="Chart Note 10"/>
            <p:cNvSpPr txBox="1"/>
            <p:nvPr/>
          </p:nvSpPr>
          <p:spPr>
            <a:xfrm>
              <a:off x="1524000" y="2600325"/>
              <a:ext cx="666750" cy="304800"/>
            </a:xfrm>
            <a:prstGeom prst="rect">
              <a:avLst/>
            </a:prstGeom>
            <a:noFill/>
            <a:ln>
              <a:noFill/>
            </a:ln>
          </p:spPr>
          <p:txBody>
            <a:bodyPr wrap="square" lIns="0" tIns="0" rIns="0" bIns="0" anchor="b" anchorCtr="0"/>
            <a:lstStyle/>
            <a:p>
              <a:pPr algn="l"/>
              <a:r>
                <a:rPr lang="ru-RU" sz="1500" b="1">
                  <a:solidFill>
                    <a:srgbClr val="2E6F8E"/>
                  </a:solidFill>
                  <a:latin typeface="Arial"/>
                  <a:ea typeface="Microsoft YaHei"/>
                  <a:cs typeface="Arial"/>
                </a:rPr>
                <a:t>73,8</a:t>
              </a:r>
            </a:p>
          </p:txBody>
        </p:sp>
        <p:sp>
          <p:nvSpPr>
            <p:cNvPr id="11" name="Chart Note 11"/>
            <p:cNvSpPr txBox="1"/>
            <p:nvPr/>
          </p:nvSpPr>
          <p:spPr>
            <a:xfrm>
              <a:off x="1689735" y="3228975"/>
              <a:ext cx="666750" cy="304800"/>
            </a:xfrm>
            <a:prstGeom prst="rect">
              <a:avLst/>
            </a:prstGeom>
            <a:noFill/>
            <a:ln>
              <a:noFill/>
            </a:ln>
          </p:spPr>
          <p:txBody>
            <a:bodyPr wrap="square" lIns="0" tIns="0" rIns="0" bIns="0" anchor="b" anchorCtr="0"/>
            <a:lstStyle/>
            <a:p>
              <a:pPr algn="ctr"/>
              <a:r>
                <a:rPr lang="ru-RU" sz="1500" b="1">
                  <a:solidFill>
                    <a:srgbClr val="2E6F8E"/>
                  </a:solidFill>
                  <a:latin typeface="Arial"/>
                  <a:ea typeface="Microsoft YaHei"/>
                  <a:cs typeface="Arial"/>
                </a:rPr>
                <a:t>71,2</a:t>
              </a:r>
            </a:p>
          </p:txBody>
        </p:sp>
        <p:sp>
          <p:nvSpPr>
            <p:cNvPr id="12" name="Chart Note 12"/>
            <p:cNvSpPr txBox="1"/>
            <p:nvPr/>
          </p:nvSpPr>
          <p:spPr>
            <a:xfrm>
              <a:off x="10458450" y="1914525"/>
              <a:ext cx="666750" cy="304800"/>
            </a:xfrm>
            <a:prstGeom prst="rect">
              <a:avLst/>
            </a:prstGeom>
            <a:noFill/>
            <a:ln>
              <a:noFill/>
            </a:ln>
          </p:spPr>
          <p:txBody>
            <a:bodyPr wrap="square" lIns="0" tIns="0" rIns="0" bIns="0" anchor="b" anchorCtr="0"/>
            <a:lstStyle/>
            <a:p>
              <a:pPr algn="r"/>
              <a:r>
                <a:rPr lang="ru-RU" sz="1500" b="1">
                  <a:solidFill>
                    <a:srgbClr val="2E6F8E"/>
                  </a:solidFill>
                  <a:latin typeface="Arial"/>
                  <a:ea typeface="Microsoft YaHei"/>
                  <a:cs typeface="Arial"/>
                </a:rPr>
                <a:t>78,9</a:t>
              </a:r>
            </a:p>
          </p:txBody>
        </p:sp>
        <p:sp>
          <p:nvSpPr>
            <p:cNvPr id="13" name="Chart Note 13"/>
            <p:cNvSpPr txBox="1"/>
            <p:nvPr/>
          </p:nvSpPr>
          <p:spPr>
            <a:xfrm>
              <a:off x="2438400" y="3997642"/>
              <a:ext cx="1809750" cy="274320"/>
            </a:xfrm>
            <a:prstGeom prst="rect">
              <a:avLst/>
            </a:prstGeom>
            <a:noFill/>
            <a:ln>
              <a:noFill/>
            </a:ln>
          </p:spPr>
          <p:txBody>
            <a:bodyPr wrap="square" lIns="0" tIns="0" rIns="0" bIns="0" anchor="b" anchorCtr="0"/>
            <a:lstStyle/>
            <a:p>
              <a:pPr algn="l"/>
              <a:r>
                <a:rPr lang="ru-RU" sz="1350" b="1">
                  <a:solidFill>
                    <a:srgbClr val="B3121B"/>
                  </a:solidFill>
                  <a:latin typeface="Arial"/>
                  <a:ea typeface="Microsoft YaHei"/>
                  <a:cs typeface="Arial"/>
                </a:rPr>
                <a:t>разрыв 14,2 года</a:t>
              </a:r>
            </a:p>
          </p:txBody>
        </p:sp>
      </p:grpSp>
      <p:grpSp>
        <p:nvGrpSpPr>
          <p:cNvPr id="16" name="le-gap-formula"/>
          <p:cNvGrpSpPr/>
          <p:nvPr/>
        </p:nvGrpSpPr>
        <p:grpSpPr>
          <a:xfrm>
            <a:off x="676656" y="5754548"/>
            <a:ext cx="3968804" cy="442112"/>
            <a:chOff x="676656" y="5754548"/>
            <a:chExt cx="3968804" cy="442112"/>
          </a:xfrm>
        </p:grpSpPr>
        <mc:AlternateContent xmlns:mc="http://schemas.openxmlformats.org/markup-compatibility/2006">
          <mc:Choice xmlns:a14="http://schemas.microsoft.com/office/drawing/2010/main" Requires="a14">
            <p:sp>
              <p:nvSpPr>
                <p:cNvPr id="15" name="TextBox 15"/>
                <p:cNvSpPr txBox="1"/>
                <p:nvPr/>
              </p:nvSpPr>
              <p:spPr>
                <a:xfrm>
                  <a:off x="676656" y="5754548"/>
                  <a:ext cx="3968804" cy="442112"/>
                </a:xfrm>
                <a:prstGeom prst="rect">
                  <a:avLst/>
                </a:prstGeom>
                <a:noFill/>
                <a:ln>
                  <a:noFill/>
                </a:ln>
              </p:spPr>
              <p:txBody>
                <a:bodyPr wrap="none" lIns="0" tIns="0" rIns="0" bIns="0" anchor="t" anchorCtr="0">
                  <a:spAutoFit/>
                </a:bodyPr>
                <a:lstStyle/>
                <a:p>
                  <a:pPr algn="l"/>
                  <a:r>
                    <a:rPr lang="ru-RU" sz="1800" dirty="0">
                      <a:solidFill>
                        <a:schemeClr val="dk1"/>
                      </a:solidFill>
                      <a:latin typeface="+mn-lt"/>
                      <a:ea typeface="+mn-ea"/>
                      <a:cs typeface="+mn-cs"/>
                    </a:rPr>
                    <a:t xml:space="preserve">Разрыв </a:t>
                  </a:r>
                  <a14:m>
                    <m:oMath xmlns:a="http://schemas.openxmlformats.org/drawingml/2006/main" xmlns:m="http://schemas.openxmlformats.org/officeDocument/2006/math">
                      <m:r>
                        <m:rPr>
                          <m:sty m:val="p"/>
                        </m:rPr>
                        <a:rPr lang="ru-RU" sz="1800" dirty="0">
                          <a:solidFill>
                            <a:schemeClr val="dk1"/>
                          </a:solidFill>
                          <a:latin typeface="Cambria Math"/>
                          <a:ea typeface="Cambria Math"/>
                          <a:cs typeface="Cambria Math"/>
                        </a:rPr>
                        <m:t>Δ=</m:t>
                      </m:r>
                      <m:sSubSup>
                        <m:e>
                          <m:r>
                            <a:rPr lang="ru-RU" sz="1800" dirty="0">
                              <a:solidFill>
                                <a:schemeClr val="dk1"/>
                              </a:solidFill>
                              <a:latin typeface="Cambria Math"/>
                              <a:ea typeface="Cambria Math"/>
                              <a:cs typeface="Cambria Math"/>
                            </a:rPr>
                            <m:t>e</m:t>
                          </m:r>
                        </m:e>
                        <m:sub>
                          <m:r>
                            <a:rPr lang="ru-RU" sz="1800" dirty="0">
                              <a:solidFill>
                                <a:schemeClr val="dk1"/>
                              </a:solidFill>
                              <a:latin typeface="Cambria Math"/>
                              <a:ea typeface="Cambria Math"/>
                              <a:cs typeface="Cambria Math"/>
                            </a:rPr>
                            <m:t>0</m:t>
                          </m:r>
                        </m:sub>
                        <m:sup>
                          <m:r>
                            <a:rPr lang="ru-RU" sz="1800" dirty="0">
                              <a:solidFill>
                                <a:schemeClr val="dk1"/>
                              </a:solidFill>
                              <a:latin typeface="Cambria Math"/>
                              <a:ea typeface="Cambria Math"/>
                              <a:cs typeface="Cambria Math"/>
                            </a:rPr>
                            <m:t>F</m:t>
                          </m:r>
                        </m:sup>
                      </m:sSubSup>
                      <m:r>
                        <m:rPr>
                          <m:sty m:val="p"/>
                        </m:rPr>
                        <a:rPr lang="ru-RU" sz="1800" dirty="0">
                          <a:solidFill>
                            <a:schemeClr val="dk1"/>
                          </a:solidFill>
                          <a:latin typeface="Cambria Math"/>
                          <a:ea typeface="Cambria Math"/>
                          <a:cs typeface="Cambria Math"/>
                        </a:rPr>
                        <m:t>−</m:t>
                      </m:r>
                      <m:sSubSup>
                        <m:e>
                          <m:r>
                            <a:rPr lang="ru-RU" sz="1800" dirty="0">
                              <a:solidFill>
                                <a:schemeClr val="dk1"/>
                              </a:solidFill>
                              <a:latin typeface="Cambria Math"/>
                              <a:ea typeface="Cambria Math"/>
                              <a:cs typeface="Cambria Math"/>
                            </a:rPr>
                            <m:t>e</m:t>
                          </m:r>
                        </m:e>
                        <m:sub>
                          <m:r>
                            <a:rPr lang="ru-RU" sz="1800" dirty="0">
                              <a:solidFill>
                                <a:schemeClr val="dk1"/>
                              </a:solidFill>
                              <a:latin typeface="Cambria Math"/>
                              <a:ea typeface="Cambria Math"/>
                              <a:cs typeface="Cambria Math"/>
                            </a:rPr>
                            <m:t>0</m:t>
                          </m:r>
                        </m:sub>
                        <m:sup>
                          <m:r>
                            <a:rPr lang="ru-RU" sz="1800" dirty="0">
                              <a:solidFill>
                                <a:schemeClr val="dk1"/>
                              </a:solidFill>
                              <a:latin typeface="Cambria Math"/>
                              <a:ea typeface="Cambria Math"/>
                              <a:cs typeface="Cambria Math"/>
                            </a:rPr>
                            <m:t>M</m:t>
                          </m:r>
                        </m:sup>
                      </m:sSubSup>
                    </m:oMath>
                  </a14:m>
                  <a:r>
                    <a:rPr lang="ru-RU" sz="1800" dirty="0">
                      <a:solidFill>
                        <a:schemeClr val="dk1"/>
                      </a:solidFill>
                      <a:latin typeface="+mn-lt"/>
                      <a:ea typeface="+mn-ea"/>
                      <a:cs typeface="+mn-cs"/>
                    </a:rPr>
                    <a:t xml:space="preserve"> — расчёт.</a:t>
                  </a:r>
                </a:p>
              </p:txBody>
            </p:sp>
          </mc:Choice>
        </mc:AlternateContent>
      </p:grpSp>
      <p:grpSp>
        <p:nvGrpSpPr>
          <p:cNvPr id="18" name="le-covid-note"/>
          <p:cNvGrpSpPr/>
          <p:nvPr/>
        </p:nvGrpSpPr>
        <p:grpSpPr>
          <a:xfrm>
            <a:off x="7727442" y="5778818"/>
            <a:ext cx="1900626" cy="511683"/>
            <a:chOff x="7727442" y="5778818"/>
            <a:chExt cx="1900626" cy="511683"/>
          </a:xfrm>
        </p:grpSpPr>
        <p:sp>
          <p:nvSpPr>
            <p:cNvPr id="17" name="TextBox 17"/>
            <p:cNvSpPr txBox="1"/>
            <p:nvPr/>
          </p:nvSpPr>
          <p:spPr>
            <a:xfrm>
              <a:off x="7727442" y="5778818"/>
              <a:ext cx="1900626" cy="511683"/>
            </a:xfrm>
            <a:prstGeom prst="rect">
              <a:avLst/>
            </a:prstGeom>
            <a:noFill/>
            <a:ln>
              <a:noFill/>
            </a:ln>
          </p:spPr>
          <p:txBody>
            <a:bodyPr wrap="none" lIns="0" tIns="0" rIns="0" bIns="0" anchor="t" anchorCtr="0">
              <a:spAutoFit/>
            </a:bodyPr>
            <a:lstStyle/>
            <a:p>
              <a:pPr algn="l">
                <a:lnSpc>
                  <a:spcPts val="1950"/>
                </a:lnSpc>
              </a:pPr>
              <a:r>
                <a:rPr lang="ru-RU" sz="1350" dirty="0">
                  <a:solidFill>
                    <a:schemeClr val="accent5"/>
                  </a:solidFill>
                  <a:latin typeface="+mn-lt"/>
                  <a:ea typeface="+mn-ea"/>
                  <a:cs typeface="+mn-cs"/>
                </a:rPr>
                <a:t>Оба показателя падали</a:t>
              </a:r>
              <a:br/>
              <a:r>
                <a:rPr lang="ru-RU" sz="1350" dirty="0">
                  <a:solidFill>
                    <a:schemeClr val="accent5"/>
                  </a:solidFill>
                  <a:latin typeface="+mn-lt"/>
                  <a:ea typeface="+mn-ea"/>
                  <a:cs typeface="+mn-cs"/>
                </a:rPr>
                <a:t>в 2020–2021 годах.</a:t>
              </a:r>
            </a:p>
          </p:txBody>
        </p:sp>
      </p:grpSp>
      <p:grpSp>
        <p:nvGrpSpPr>
          <p:cNvPr id="21" name="page-footer"/>
          <p:cNvGrpSpPr/>
          <p:nvPr/>
        </p:nvGrpSpPr>
        <p:grpSpPr>
          <a:xfrm>
            <a:off x="679704" y="6442710"/>
            <a:ext cx="10832592" cy="234696"/>
            <a:chOff x="679704" y="6442710"/>
            <a:chExt cx="10832592" cy="234696"/>
          </a:xfrm>
        </p:grpSpPr>
        <p:sp>
          <p:nvSpPr>
            <p:cNvPr id="19" name="TextBox 19"/>
            <p:cNvSpPr txBox="1"/>
            <p:nvPr/>
          </p:nvSpPr>
          <p:spPr>
            <a:xfrm>
              <a:off x="679704" y="6442710"/>
              <a:ext cx="7023673" cy="234696"/>
            </a:xfrm>
            <a:prstGeom prst="rect">
              <a:avLst/>
            </a:prstGeom>
            <a:noFill/>
            <a:ln>
              <a:noFill/>
            </a:ln>
          </p:spPr>
          <p:txBody>
            <a:bodyPr wrap="none" lIns="0" tIns="0" rIns="0" bIns="0" anchor="t" anchorCtr="0">
              <a:spAutoFit/>
            </a:bodyPr>
            <a:lstStyle/>
            <a:p>
              <a:pPr algn="l"/>
              <a:r>
                <a:rPr lang="ru-RU" sz="1200" dirty="0">
                  <a:solidFill>
                    <a:schemeClr val="accent5"/>
                  </a:solidFill>
                  <a:latin typeface="+mn-lt"/>
                  <a:ea typeface="+mn-ea"/>
                  <a:cs typeface="+mn-cs"/>
                </a:rPr>
                <a:t>Всемирный банк, SP.DYN.LE00.MA.IN и SP.DYN.LE00.FE.IN, 1991–2024 · разрыв — расчёт</a:t>
              </a:r>
            </a:p>
          </p:txBody>
        </p:sp>
        <p:sp>
          <p:nvSpPr>
            <p:cNvPr id="20" name="TextBox 20"/>
            <p:cNvSpPr txBox="1"/>
            <p:nvPr/>
          </p:nvSpPr>
          <p:spPr>
            <a:xfrm>
              <a:off x="11320402" y="6442710"/>
              <a:ext cx="191894" cy="234696"/>
            </a:xfrm>
            <a:prstGeom prst="rect">
              <a:avLst/>
            </a:prstGeom>
            <a:noFill/>
            <a:ln>
              <a:noFill/>
            </a:ln>
          </p:spPr>
          <p:txBody>
            <a:bodyPr wrap="none" lIns="0" tIns="0" rIns="0" bIns="0" anchor="t" anchorCtr="0">
              <a:spAutoFit/>
            </a:bodyPr>
            <a:lstStyle/>
            <a:p>
              <a:pPr algn="r"/>
              <a:r>
                <a:rPr lang="ru-RU" sz="1200" dirty="0">
                  <a:solidFill>
                    <a:schemeClr val="accent5"/>
                  </a:solidFill>
                  <a:latin typeface="+mn-lt"/>
                  <a:ea typeface="+mn-ea"/>
                  <a:cs typeface="+mn-cs"/>
                </a:rPr>
                <a:t>08</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par>
                          <p:cTn id="8" fill="hold">
                            <p:stCondLst>
                              <p:cond delay="400"/>
                            </p:stCondLst>
                            <p:childTnLst>
                              <p:par>
                                <p:cTn xmlns:p="http://schemas.openxmlformats.org/presentationml/2006/main" id="9" presetID="22" presetClass="entr" presetSubtype="2" fill="hold" grpId="0" nodeType="afterEffect">
                                  <p:stCondLst>
                                    <p:cond delay="500"/>
                                  </p:stCondLst>
                                  <p:childTnLst>
                                    <p:set>
                                      <p:cBhvr>
                                        <p:cTn id="10" dur="1" fill="hold">
                                          <p:stCondLst>
                                            <p:cond delay="0"/>
                                          </p:stCondLst>
                                        </p:cTn>
                                        <p:tgtEl>
                                          <p:spTgt spid="14"/>
                                        </p:tgtEl>
                                        <p:attrNameLst>
                                          <p:attrName>style.visibility</p:attrName>
                                        </p:attrNameLst>
                                      </p:cBhvr>
                                      <p:to>
                                        <p:strVal val="visible"/>
                                      </p:to>
                                    </p:set>
                                    <p:animEffect transition="in" filter="wipe(right)">
                                      <p:cBhvr>
                                        <p:cTn id="11" dur="1200"/>
                                        <p:tgtEl>
                                          <p:spTgt spid="14"/>
                                        </p:tgtEl>
                                      </p:cBhvr>
                                    </p:animEffect>
                                  </p:childTnLst>
                                </p:cTn>
                              </p:par>
                            </p:childTnLst>
                          </p:cTn>
                        </p:par>
                        <p:par>
                          <p:cTn id="12" fill="hold">
                            <p:stCondLst>
                              <p:cond delay="2100"/>
                            </p:stCondLst>
                            <p:childTnLst>
                              <p:par>
                                <p:cTn xmlns:p="http://schemas.openxmlformats.org/presentationml/2006/main" id="13" presetID="10" presetClass="entr" presetSubtype="0" fill="hold" grpId="0" nodeType="afterEffect">
                                  <p:stCondLst>
                                    <p:cond delay="50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400"/>
                                        <p:tgtEl>
                                          <p:spTgt spid="16"/>
                                        </p:tgtEl>
                                      </p:cBhvr>
                                    </p:animEffect>
                                  </p:childTnLst>
                                </p:cTn>
                              </p:par>
                            </p:childTnLst>
                          </p:cTn>
                        </p:par>
                        <p:par>
                          <p:cTn id="16" fill="hold">
                            <p:stCondLst>
                              <p:cond delay="3000"/>
                            </p:stCondLst>
                            <p:childTnLst>
                              <p:par>
                                <p:cTn xmlns:p="http://schemas.openxmlformats.org/presentationml/2006/main" id="17" presetID="10" presetClass="entr" presetSubtype="0" fill="hold" grpId="0" nodeType="afterEffect">
                                  <p:stCondLst>
                                    <p:cond delay="500"/>
                                  </p:stCondLst>
                                  <p:childTnLst>
                                    <p:set>
                                      <p:cBhvr>
                                        <p:cTn id="18" dur="1" fill="hold">
                                          <p:stCondLst>
                                            <p:cond delay="0"/>
                                          </p:stCondLst>
                                        </p:cTn>
                                        <p:tgtEl>
                                          <p:spTgt spid="18"/>
                                        </p:tgtEl>
                                        <p:attrNameLst>
                                          <p:attrName>style.visibility</p:attrName>
                                        </p:attrNameLst>
                                      </p:cBhvr>
                                      <p:to>
                                        <p:strVal val="visible"/>
                                      </p:to>
                                    </p:set>
                                    <p:animEffect transition="in" filter="fade">
                                      <p:cBhvr>
                                        <p:cTn id="19"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age-header"/>
          <p:cNvGrpSpPr/>
          <p:nvPr/>
        </p:nvGrpSpPr>
        <p:grpSpPr>
          <a:xfrm>
            <a:off x="670560" y="590550"/>
            <a:ext cx="9293460" cy="1212723"/>
            <a:chOff x="670560" y="590550"/>
            <a:chExt cx="9293460" cy="1212723"/>
          </a:xfrm>
        </p:grpSpPr>
        <p:sp>
          <p:nvSpPr>
            <p:cNvPr id="2" name="TextBox 2"/>
            <p:cNvSpPr txBox="1"/>
            <p:nvPr/>
          </p:nvSpPr>
          <p:spPr>
            <a:xfrm>
              <a:off x="670560" y="590550"/>
              <a:ext cx="9293460" cy="586740"/>
            </a:xfrm>
            <a:prstGeom prst="rect">
              <a:avLst/>
            </a:prstGeom>
            <a:noFill/>
            <a:ln>
              <a:noFill/>
            </a:ln>
          </p:spPr>
          <p:txBody>
            <a:bodyPr wrap="none" lIns="0" tIns="0" rIns="0" bIns="0" anchor="t" anchorCtr="0">
              <a:spAutoFit/>
            </a:bodyPr>
            <a:lstStyle/>
            <a:p>
              <a:pPr algn="l"/>
              <a:r>
                <a:rPr lang="ru-RU" sz="3000" b="1" dirty="0">
                  <a:solidFill>
                    <a:schemeClr val="accent1"/>
                  </a:solidFill>
                  <a:latin typeface="+mj-lt"/>
                  <a:ea typeface="+mj-ea"/>
                  <a:cs typeface="+mj-cs"/>
                </a:rPr>
                <a:t>Сверхсмертность мужчин: 14,2 года разрыва</a:t>
              </a:r>
            </a:p>
          </p:txBody>
        </p:sp>
        <p:sp>
          <p:nvSpPr>
            <p:cNvPr id="3" name="TextBox 3"/>
            <p:cNvSpPr txBox="1"/>
            <p:nvPr/>
          </p:nvSpPr>
          <p:spPr>
            <a:xfrm>
              <a:off x="675132" y="1068705"/>
              <a:ext cx="5026175" cy="734568"/>
            </a:xfrm>
            <a:prstGeom prst="rect">
              <a:avLst/>
            </a:prstGeom>
            <a:noFill/>
            <a:ln>
              <a:noFill/>
            </a:ln>
          </p:spPr>
          <p:txBody>
            <a:bodyPr wrap="none" lIns="0" tIns="0" rIns="0" bIns="0" anchor="t" anchorCtr="0">
              <a:spAutoFit/>
            </a:bodyPr>
            <a:lstStyle/>
            <a:p>
              <a:pPr algn="l">
                <a:lnSpc>
                  <a:spcPts val="2550"/>
                </a:lnSpc>
              </a:pPr>
              <a:r>
                <a:rPr lang="ru-RU" sz="2100" dirty="0">
                  <a:solidFill>
                    <a:schemeClr val="dk1"/>
                  </a:solidFill>
                  <a:latin typeface="+mn-lt"/>
                  <a:ea typeface="+mn-ea"/>
                  <a:cs typeface="+mn-cs"/>
                </a:rPr>
                <a:t>Максимум разрыва — 1994 год;</a:t>
              </a:r>
              <a:br/>
              <a:r>
                <a:rPr lang="ru-RU" sz="2100" dirty="0">
                  <a:solidFill>
                    <a:schemeClr val="dk1"/>
                  </a:solidFill>
                  <a:latin typeface="+mn-lt"/>
                  <a:ea typeface="+mn-ea"/>
                  <a:cs typeface="+mn-cs"/>
                </a:rPr>
                <a:t>к 2024 году он сократился до 10,6 года</a:t>
              </a:r>
            </a:p>
          </p:txBody>
        </p:sp>
      </p:grpSp>
      <p:grpSp>
        <p:nvGrpSpPr>
          <p:cNvPr id="23" name="gap-hero"/>
          <p:cNvGrpSpPr/>
          <p:nvPr/>
        </p:nvGrpSpPr>
        <p:grpSpPr>
          <a:xfrm>
            <a:off x="666750" y="2235518"/>
            <a:ext cx="4572000" cy="1940433"/>
            <a:chOff x="666750" y="2235518"/>
            <a:chExt cx="4572000" cy="1940433"/>
          </a:xfrm>
        </p:grpSpPr>
        <p:sp>
          <p:nvSpPr>
            <p:cNvPr id="5" name="TextBox 5"/>
            <p:cNvSpPr txBox="1"/>
            <p:nvPr/>
          </p:nvSpPr>
          <p:spPr>
            <a:xfrm>
              <a:off x="678942" y="2235518"/>
              <a:ext cx="3088746" cy="264033"/>
            </a:xfrm>
            <a:prstGeom prst="rect">
              <a:avLst/>
            </a:prstGeom>
            <a:noFill/>
            <a:ln>
              <a:noFill/>
            </a:ln>
          </p:spPr>
          <p:txBody>
            <a:bodyPr wrap="none" lIns="0" tIns="0" rIns="0" bIns="0" anchor="t" anchorCtr="0">
              <a:spAutoFit/>
            </a:bodyPr>
            <a:lstStyle/>
            <a:p>
              <a:pPr algn="l"/>
              <a:r>
                <a:rPr lang="ru-RU" sz="1350" spc="150" dirty="0">
                  <a:solidFill>
                    <a:schemeClr val="accent5"/>
                  </a:solidFill>
                  <a:latin typeface="+mn-lt"/>
                  <a:ea typeface="+mn-ea"/>
                  <a:cs typeface="+mn-cs"/>
                </a:rPr>
                <a:t>МАКСИМУМ РАЗРЫВА, 1994 ГОД</a:t>
              </a:r>
            </a:p>
          </p:txBody>
        </p:sp>
        <p:grpSp>
          <p:nvGrpSpPr>
            <p:cNvPr id="12" name="Group 12"/>
            <p:cNvGrpSpPr/>
            <p:nvPr/>
          </p:nvGrpSpPr>
          <p:grpSpPr>
            <a:xfrm>
              <a:off x="4400550" y="2324100"/>
              <a:ext cx="266700" cy="361950"/>
              <a:chOff x="4400550" y="2324100"/>
              <a:chExt cx="266700" cy="361950"/>
            </a:xfrm>
          </p:grpSpPr>
          <p:sp>
            <p:nvSpPr>
              <p:cNvPr id="6" name="Freeform 6"/>
              <p:cNvSpPr/>
              <p:nvPr/>
            </p:nvSpPr>
            <p:spPr>
              <a:xfrm>
                <a:off x="4495800" y="2590800"/>
                <a:ext cx="9525" cy="95250"/>
              </a:xfrm>
              <a:custGeom>
                <a:avLst/>
                <a:gdLst/>
                <a:ahLst/>
                <a:cxnLst/>
                <a:rect l="l" t="t" r="r" b="b"/>
                <a:pathLst>
                  <a:path w="9525" h="95250">
                    <a:moveTo>
                      <a:pt x="0" y="0"/>
                    </a:moveTo>
                    <a:lnTo>
                      <a:pt x="0" y="95250"/>
                    </a:lnTo>
                  </a:path>
                </a:pathLst>
              </a:custGeom>
              <a:noFill/>
              <a:ln w="38100">
                <a:solidFill>
                  <a:schemeClr val="accent3"/>
                </a:solidFill>
              </a:ln>
            </p:spPr>
          </p:sp>
          <p:sp>
            <p:nvSpPr>
              <p:cNvPr id="7" name="Freeform 7"/>
              <p:cNvSpPr/>
              <p:nvPr/>
            </p:nvSpPr>
            <p:spPr>
              <a:xfrm>
                <a:off x="4572000" y="2590800"/>
                <a:ext cx="9525" cy="95250"/>
              </a:xfrm>
              <a:custGeom>
                <a:avLst/>
                <a:gdLst/>
                <a:ahLst/>
                <a:cxnLst/>
                <a:rect l="l" t="t" r="r" b="b"/>
                <a:pathLst>
                  <a:path w="9525" h="95250">
                    <a:moveTo>
                      <a:pt x="0" y="0"/>
                    </a:moveTo>
                    <a:lnTo>
                      <a:pt x="0" y="95250"/>
                    </a:lnTo>
                  </a:path>
                </a:pathLst>
              </a:custGeom>
              <a:noFill/>
              <a:ln w="38100">
                <a:solidFill>
                  <a:schemeClr val="accent3"/>
                </a:solidFill>
              </a:ln>
            </p:spPr>
          </p:sp>
          <p:sp>
            <p:nvSpPr>
              <p:cNvPr id="8" name="Freeform 8"/>
              <p:cNvSpPr/>
              <p:nvPr/>
            </p:nvSpPr>
            <p:spPr>
              <a:xfrm>
                <a:off x="4457700" y="2457450"/>
                <a:ext cx="152400" cy="133350"/>
              </a:xfrm>
              <a:custGeom>
                <a:avLst/>
                <a:gdLst/>
                <a:ahLst/>
                <a:cxnLst/>
                <a:rect l="l" t="t" r="r" b="b"/>
                <a:pathLst>
                  <a:path w="152400" h="133350">
                    <a:moveTo>
                      <a:pt x="0" y="133350"/>
                    </a:moveTo>
                    <a:lnTo>
                      <a:pt x="152400" y="133350"/>
                    </a:lnTo>
                    <a:lnTo>
                      <a:pt x="114300" y="0"/>
                    </a:lnTo>
                    <a:lnTo>
                      <a:pt x="38100" y="0"/>
                    </a:lnTo>
                    <a:lnTo>
                      <a:pt x="0" y="133350"/>
                    </a:lnTo>
                  </a:path>
                </a:pathLst>
              </a:custGeom>
              <a:noFill/>
              <a:ln w="38100">
                <a:solidFill>
                  <a:schemeClr val="accent3"/>
                </a:solidFill>
              </a:ln>
            </p:spPr>
          </p:sp>
          <p:sp>
            <p:nvSpPr>
              <p:cNvPr id="9" name="Freeform 9"/>
              <p:cNvSpPr/>
              <p:nvPr/>
            </p:nvSpPr>
            <p:spPr>
              <a:xfrm>
                <a:off x="4400550" y="2457450"/>
                <a:ext cx="95250" cy="38100"/>
              </a:xfrm>
              <a:custGeom>
                <a:avLst/>
                <a:gdLst/>
                <a:ahLst/>
                <a:cxnLst/>
                <a:rect l="l" t="t" r="r" b="b"/>
                <a:pathLst>
                  <a:path w="95250" h="38100">
                    <a:moveTo>
                      <a:pt x="0" y="38100"/>
                    </a:moveTo>
                    <a:cubicBezTo>
                      <a:pt x="31756" y="12706"/>
                      <a:pt x="63494" y="0"/>
                      <a:pt x="95250" y="0"/>
                    </a:cubicBezTo>
                  </a:path>
                </a:pathLst>
              </a:custGeom>
              <a:noFill/>
              <a:ln w="38100">
                <a:solidFill>
                  <a:schemeClr val="accent3"/>
                </a:solidFill>
              </a:ln>
            </p:spPr>
          </p:sp>
          <p:sp>
            <p:nvSpPr>
              <p:cNvPr id="10" name="Freeform 10"/>
              <p:cNvSpPr/>
              <p:nvPr/>
            </p:nvSpPr>
            <p:spPr>
              <a:xfrm>
                <a:off x="4572000" y="2457450"/>
                <a:ext cx="95250" cy="38100"/>
              </a:xfrm>
              <a:custGeom>
                <a:avLst/>
                <a:gdLst/>
                <a:ahLst/>
                <a:cxnLst/>
                <a:rect l="l" t="t" r="r" b="b"/>
                <a:pathLst>
                  <a:path w="95250" h="38100">
                    <a:moveTo>
                      <a:pt x="95250" y="38100"/>
                    </a:moveTo>
                    <a:cubicBezTo>
                      <a:pt x="63494" y="12706"/>
                      <a:pt x="31756" y="0"/>
                      <a:pt x="0" y="0"/>
                    </a:cubicBezTo>
                  </a:path>
                </a:pathLst>
              </a:custGeom>
              <a:noFill/>
              <a:ln w="38100">
                <a:solidFill>
                  <a:schemeClr val="accent3"/>
                </a:solidFill>
              </a:ln>
            </p:spPr>
          </p:sp>
          <p:sp>
            <p:nvSpPr>
              <p:cNvPr id="11" name="Freeform 11"/>
              <p:cNvSpPr/>
              <p:nvPr/>
            </p:nvSpPr>
            <p:spPr>
              <a:xfrm>
                <a:off x="4495800" y="2324100"/>
                <a:ext cx="76200" cy="76200"/>
              </a:xfrm>
              <a:custGeom>
                <a:avLst/>
                <a:gdLst/>
                <a:ahLst/>
                <a:cxnLst/>
                <a:rect l="l" t="t" r="r" b="b"/>
                <a:pathLst>
                  <a:path w="76200" h="76200">
                    <a:moveTo>
                      <a:pt x="0" y="38100"/>
                    </a:moveTo>
                    <a:cubicBezTo>
                      <a:pt x="0" y="59142"/>
                      <a:pt x="17058" y="76200"/>
                      <a:pt x="38100" y="76200"/>
                    </a:cubicBezTo>
                    <a:cubicBezTo>
                      <a:pt x="59142" y="76200"/>
                      <a:pt x="76200" y="59142"/>
                      <a:pt x="76200" y="38100"/>
                    </a:cubicBezTo>
                    <a:cubicBezTo>
                      <a:pt x="76200" y="17058"/>
                      <a:pt x="59142" y="0"/>
                      <a:pt x="38100" y="0"/>
                    </a:cubicBezTo>
                    <a:cubicBezTo>
                      <a:pt x="17058" y="0"/>
                      <a:pt x="0" y="17058"/>
                      <a:pt x="0" y="38100"/>
                    </a:cubicBezTo>
                  </a:path>
                </a:pathLst>
              </a:custGeom>
              <a:noFill/>
              <a:ln w="38100">
                <a:solidFill>
                  <a:schemeClr val="accent3"/>
                </a:solidFill>
              </a:ln>
            </p:spPr>
          </p:sp>
        </p:grpSp>
        <p:grpSp>
          <p:nvGrpSpPr>
            <p:cNvPr id="19" name="Group 19"/>
            <p:cNvGrpSpPr/>
            <p:nvPr/>
          </p:nvGrpSpPr>
          <p:grpSpPr>
            <a:xfrm>
              <a:off x="4972050" y="2324100"/>
              <a:ext cx="266700" cy="361950"/>
              <a:chOff x="4972050" y="2324100"/>
              <a:chExt cx="266700" cy="361950"/>
            </a:xfrm>
          </p:grpSpPr>
          <p:sp>
            <p:nvSpPr>
              <p:cNvPr id="13" name="Freeform 13"/>
              <p:cNvSpPr/>
              <p:nvPr/>
            </p:nvSpPr>
            <p:spPr>
              <a:xfrm>
                <a:off x="5067300" y="2590800"/>
                <a:ext cx="9525" cy="95250"/>
              </a:xfrm>
              <a:custGeom>
                <a:avLst/>
                <a:gdLst/>
                <a:ahLst/>
                <a:cxnLst/>
                <a:rect l="l" t="t" r="r" b="b"/>
                <a:pathLst>
                  <a:path w="9525" h="95250">
                    <a:moveTo>
                      <a:pt x="0" y="0"/>
                    </a:moveTo>
                    <a:lnTo>
                      <a:pt x="0" y="95250"/>
                    </a:lnTo>
                  </a:path>
                </a:pathLst>
              </a:custGeom>
              <a:noFill/>
              <a:ln w="38100">
                <a:solidFill>
                  <a:schemeClr val="accent1"/>
                </a:solidFill>
              </a:ln>
            </p:spPr>
          </p:sp>
          <p:sp>
            <p:nvSpPr>
              <p:cNvPr id="14" name="Freeform 14"/>
              <p:cNvSpPr/>
              <p:nvPr/>
            </p:nvSpPr>
            <p:spPr>
              <a:xfrm>
                <a:off x="5143500" y="2590800"/>
                <a:ext cx="9525" cy="95250"/>
              </a:xfrm>
              <a:custGeom>
                <a:avLst/>
                <a:gdLst/>
                <a:ahLst/>
                <a:cxnLst/>
                <a:rect l="l" t="t" r="r" b="b"/>
                <a:pathLst>
                  <a:path w="9525" h="95250">
                    <a:moveTo>
                      <a:pt x="0" y="0"/>
                    </a:moveTo>
                    <a:lnTo>
                      <a:pt x="0" y="95250"/>
                    </a:lnTo>
                  </a:path>
                </a:pathLst>
              </a:custGeom>
              <a:noFill/>
              <a:ln w="38100">
                <a:solidFill>
                  <a:schemeClr val="accent1"/>
                </a:solidFill>
              </a:ln>
            </p:spPr>
          </p:sp>
          <p:sp>
            <p:nvSpPr>
              <p:cNvPr id="15" name="Freeform 15"/>
              <p:cNvSpPr/>
              <p:nvPr/>
            </p:nvSpPr>
            <p:spPr>
              <a:xfrm>
                <a:off x="5048250" y="2457450"/>
                <a:ext cx="114300" cy="133350"/>
              </a:xfrm>
              <a:custGeom>
                <a:avLst/>
                <a:gdLst/>
                <a:ahLst/>
                <a:cxnLst/>
                <a:rect l="l" t="t" r="r" b="b"/>
                <a:pathLst>
                  <a:path w="114300" h="133350">
                    <a:moveTo>
                      <a:pt x="0" y="0"/>
                    </a:moveTo>
                    <a:lnTo>
                      <a:pt x="114300" y="0"/>
                    </a:lnTo>
                    <a:lnTo>
                      <a:pt x="95250" y="133350"/>
                    </a:lnTo>
                    <a:lnTo>
                      <a:pt x="19050" y="133350"/>
                    </a:lnTo>
                    <a:lnTo>
                      <a:pt x="0" y="0"/>
                    </a:lnTo>
                  </a:path>
                </a:pathLst>
              </a:custGeom>
              <a:noFill/>
              <a:ln w="38100">
                <a:solidFill>
                  <a:schemeClr val="accent1"/>
                </a:solidFill>
              </a:ln>
            </p:spPr>
          </p:sp>
          <p:sp>
            <p:nvSpPr>
              <p:cNvPr id="16" name="Freeform 16"/>
              <p:cNvSpPr/>
              <p:nvPr/>
            </p:nvSpPr>
            <p:spPr>
              <a:xfrm>
                <a:off x="4972050" y="2457450"/>
                <a:ext cx="76200" cy="38100"/>
              </a:xfrm>
              <a:custGeom>
                <a:avLst/>
                <a:gdLst/>
                <a:ahLst/>
                <a:cxnLst/>
                <a:rect l="l" t="t" r="r" b="b"/>
                <a:pathLst>
                  <a:path w="76200" h="38100">
                    <a:moveTo>
                      <a:pt x="0" y="38100"/>
                    </a:moveTo>
                    <a:cubicBezTo>
                      <a:pt x="25394" y="12706"/>
                      <a:pt x="50806" y="0"/>
                      <a:pt x="76200" y="0"/>
                    </a:cubicBezTo>
                  </a:path>
                </a:pathLst>
              </a:custGeom>
              <a:noFill/>
              <a:ln w="38100">
                <a:solidFill>
                  <a:schemeClr val="accent1"/>
                </a:solidFill>
              </a:ln>
            </p:spPr>
          </p:sp>
          <p:sp>
            <p:nvSpPr>
              <p:cNvPr id="17" name="Freeform 17"/>
              <p:cNvSpPr/>
              <p:nvPr/>
            </p:nvSpPr>
            <p:spPr>
              <a:xfrm>
                <a:off x="5162550" y="2457450"/>
                <a:ext cx="76200" cy="38100"/>
              </a:xfrm>
              <a:custGeom>
                <a:avLst/>
                <a:gdLst/>
                <a:ahLst/>
                <a:cxnLst/>
                <a:rect l="l" t="t" r="r" b="b"/>
                <a:pathLst>
                  <a:path w="76200" h="38100">
                    <a:moveTo>
                      <a:pt x="76200" y="38100"/>
                    </a:moveTo>
                    <a:cubicBezTo>
                      <a:pt x="50806" y="12706"/>
                      <a:pt x="25394" y="0"/>
                      <a:pt x="0" y="0"/>
                    </a:cubicBezTo>
                  </a:path>
                </a:pathLst>
              </a:custGeom>
              <a:noFill/>
              <a:ln w="38100">
                <a:solidFill>
                  <a:schemeClr val="accent1"/>
                </a:solidFill>
              </a:ln>
            </p:spPr>
          </p:sp>
          <p:sp>
            <p:nvSpPr>
              <p:cNvPr id="18" name="Freeform 18"/>
              <p:cNvSpPr/>
              <p:nvPr/>
            </p:nvSpPr>
            <p:spPr>
              <a:xfrm>
                <a:off x="5067300" y="2324100"/>
                <a:ext cx="76200" cy="76200"/>
              </a:xfrm>
              <a:custGeom>
                <a:avLst/>
                <a:gdLst/>
                <a:ahLst/>
                <a:cxnLst/>
                <a:rect l="l" t="t" r="r" b="b"/>
                <a:pathLst>
                  <a:path w="76200" h="76200">
                    <a:moveTo>
                      <a:pt x="0" y="38100"/>
                    </a:moveTo>
                    <a:cubicBezTo>
                      <a:pt x="0" y="59142"/>
                      <a:pt x="17058" y="76200"/>
                      <a:pt x="38100" y="76200"/>
                    </a:cubicBezTo>
                    <a:cubicBezTo>
                      <a:pt x="59142" y="76200"/>
                      <a:pt x="76200" y="59142"/>
                      <a:pt x="76200" y="38100"/>
                    </a:cubicBezTo>
                    <a:cubicBezTo>
                      <a:pt x="76200" y="17058"/>
                      <a:pt x="59142" y="0"/>
                      <a:pt x="38100" y="0"/>
                    </a:cubicBezTo>
                    <a:cubicBezTo>
                      <a:pt x="17058" y="0"/>
                      <a:pt x="0" y="17058"/>
                      <a:pt x="0" y="38100"/>
                    </a:cubicBezTo>
                  </a:path>
                </a:pathLst>
              </a:custGeom>
              <a:noFill/>
              <a:ln w="38100">
                <a:solidFill>
                  <a:schemeClr val="accent1"/>
                </a:solidFill>
              </a:ln>
            </p:spPr>
          </p:sp>
        </p:grpSp>
        <p:sp>
          <p:nvSpPr>
            <p:cNvPr id="20" name="TextBox 20"/>
            <p:cNvSpPr txBox="1"/>
            <p:nvPr/>
          </p:nvSpPr>
          <p:spPr>
            <a:xfrm>
              <a:off x="666750" y="2586990"/>
              <a:ext cx="2980761" cy="933450"/>
            </a:xfrm>
            <a:prstGeom prst="rect">
              <a:avLst/>
            </a:prstGeom>
            <a:noFill/>
            <a:ln>
              <a:noFill/>
            </a:ln>
          </p:spPr>
          <p:txBody>
            <a:bodyPr wrap="none" lIns="0" tIns="0" rIns="0" bIns="0" anchor="t" anchorCtr="0">
              <a:spAutoFit/>
            </a:bodyPr>
            <a:lstStyle/>
            <a:p>
              <a:pPr algn="l"/>
              <a:r>
                <a:rPr lang="ru-RU" sz="4800" b="1" dirty="0">
                  <a:solidFill>
                    <a:schemeClr val="accent2"/>
                  </a:solidFill>
                  <a:latin typeface="+mj-lt"/>
                  <a:ea typeface="+mj-ea"/>
                  <a:cs typeface="+mj-cs"/>
                </a:rPr>
                <a:t>14,2 года</a:t>
              </a:r>
            </a:p>
          </p:txBody>
        </p:sp>
        <p:sp>
          <p:nvSpPr>
            <p:cNvPr id="21" name="Rectangle 21"/>
            <p:cNvSpPr/>
            <p:nvPr/>
          </p:nvSpPr>
          <p:spPr>
            <a:xfrm>
              <a:off x="685800" y="3295650"/>
              <a:ext cx="2476500" cy="38100"/>
            </a:xfrm>
            <a:prstGeom prst="rect">
              <a:avLst/>
            </a:prstGeom>
            <a:gradFill>
              <a:gsLst>
                <a:gs pos="0">
                  <a:schemeClr val="accent1"/>
                </a:gs>
                <a:gs pos="100000">
                  <a:schemeClr val="accent2"/>
                </a:gs>
              </a:gsLst>
              <a:lin ang="0" scaled="1"/>
            </a:gradFill>
            <a:ln>
              <a:noFill/>
            </a:ln>
          </p:spPr>
        </p:sp>
        <p:sp>
          <p:nvSpPr>
            <p:cNvPr id="22" name="TextBox 22"/>
            <p:cNvSpPr txBox="1"/>
            <p:nvPr/>
          </p:nvSpPr>
          <p:spPr>
            <a:xfrm>
              <a:off x="678942" y="3664268"/>
              <a:ext cx="3151594" cy="511683"/>
            </a:xfrm>
            <a:prstGeom prst="rect">
              <a:avLst/>
            </a:prstGeom>
            <a:noFill/>
            <a:ln>
              <a:noFill/>
            </a:ln>
          </p:spPr>
          <p:txBody>
            <a:bodyPr wrap="none" lIns="0" tIns="0" rIns="0" bIns="0" anchor="t" anchorCtr="0">
              <a:spAutoFit/>
            </a:bodyPr>
            <a:lstStyle/>
            <a:p>
              <a:pPr algn="l">
                <a:lnSpc>
                  <a:spcPts val="1950"/>
                </a:lnSpc>
              </a:pPr>
              <a:r>
                <a:rPr lang="ru-RU" sz="1350" dirty="0">
                  <a:solidFill>
                    <a:schemeClr val="dk1"/>
                  </a:solidFill>
                  <a:latin typeface="+mn-lt"/>
                  <a:ea typeface="+mn-ea"/>
                  <a:cs typeface="+mn-cs"/>
                </a:rPr>
                <a:t>разница между женской (71,73)</a:t>
              </a:r>
              <a:br/>
              <a:r>
                <a:rPr lang="ru-RU" sz="1350" dirty="0">
                  <a:solidFill>
                    <a:schemeClr val="dk1"/>
                  </a:solidFill>
                  <a:latin typeface="+mn-lt"/>
                  <a:ea typeface="+mn-ea"/>
                  <a:cs typeface="+mn-cs"/>
                </a:rPr>
                <a:t>и мужской (57,55) продолжительностью</a:t>
              </a:r>
            </a:p>
          </p:txBody>
        </p:sp>
      </p:grpSp>
      <p:grpSp>
        <p:nvGrpSpPr>
          <p:cNvPr id="43" name="gap-series"/>
          <p:cNvGrpSpPr/>
          <p:nvPr/>
        </p:nvGrpSpPr>
        <p:grpSpPr>
          <a:xfrm>
            <a:off x="6278118" y="2083118"/>
            <a:ext cx="5236464" cy="2252471"/>
            <a:chOff x="6278118" y="2083118"/>
            <a:chExt cx="5236464" cy="2252471"/>
          </a:xfrm>
        </p:grpSpPr>
        <p:sp>
          <p:nvSpPr>
            <p:cNvPr id="24" name="TextBox 24"/>
            <p:cNvSpPr txBox="1"/>
            <p:nvPr/>
          </p:nvSpPr>
          <p:spPr>
            <a:xfrm>
              <a:off x="6279642" y="2083118"/>
              <a:ext cx="373228" cy="264033"/>
            </a:xfrm>
            <a:prstGeom prst="rect">
              <a:avLst/>
            </a:prstGeom>
            <a:noFill/>
            <a:ln>
              <a:noFill/>
            </a:ln>
          </p:spPr>
          <p:txBody>
            <a:bodyPr wrap="none" lIns="0" tIns="0" rIns="0" bIns="0" anchor="t" anchorCtr="0">
              <a:spAutoFit/>
            </a:bodyPr>
            <a:lstStyle/>
            <a:p>
              <a:pPr algn="l"/>
              <a:r>
                <a:rPr lang="ru-RU" sz="1350" spc="150" dirty="0">
                  <a:solidFill>
                    <a:schemeClr val="accent5"/>
                  </a:solidFill>
                  <a:latin typeface="+mn-lt"/>
                  <a:ea typeface="+mn-ea"/>
                  <a:cs typeface="+mn-cs"/>
                </a:rPr>
                <a:t>ГОД</a:t>
              </a:r>
            </a:p>
          </p:txBody>
        </p:sp>
        <p:sp>
          <p:nvSpPr>
            <p:cNvPr id="25" name="TextBox 25"/>
            <p:cNvSpPr txBox="1"/>
            <p:nvPr/>
          </p:nvSpPr>
          <p:spPr>
            <a:xfrm>
              <a:off x="10758983" y="2083118"/>
              <a:ext cx="754075" cy="264033"/>
            </a:xfrm>
            <a:prstGeom prst="rect">
              <a:avLst/>
            </a:prstGeom>
            <a:noFill/>
            <a:ln>
              <a:noFill/>
            </a:ln>
          </p:spPr>
          <p:txBody>
            <a:bodyPr wrap="none" lIns="0" tIns="0" rIns="0" bIns="0" anchor="t" anchorCtr="0">
              <a:spAutoFit/>
            </a:bodyPr>
            <a:lstStyle/>
            <a:p>
              <a:pPr algn="r"/>
              <a:r>
                <a:rPr lang="ru-RU" sz="1350" spc="150" dirty="0">
                  <a:solidFill>
                    <a:schemeClr val="accent5"/>
                  </a:solidFill>
                  <a:latin typeface="+mn-lt"/>
                  <a:ea typeface="+mn-ea"/>
                  <a:cs typeface="+mn-cs"/>
                </a:rPr>
                <a:t>РАЗРЫВ</a:t>
              </a:r>
            </a:p>
          </p:txBody>
        </p:sp>
        <p:sp>
          <p:nvSpPr>
            <p:cNvPr id="26" name="Line 26"/>
            <p:cNvSpPr/>
            <p:nvPr/>
          </p:nvSpPr>
          <p:spPr>
            <a:xfrm>
              <a:off x="6286500" y="2343150"/>
              <a:ext cx="5219700" cy="9525"/>
            </a:xfrm>
            <a:custGeom>
              <a:avLst/>
              <a:gdLst/>
              <a:ahLst/>
              <a:cxnLst/>
              <a:rect l="l" t="t" r="r" b="b"/>
              <a:pathLst>
                <a:path w="5219700" h="9525">
                  <a:moveTo>
                    <a:pt x="0" y="0"/>
                  </a:moveTo>
                  <a:lnTo>
                    <a:pt x="5219700" y="0"/>
                  </a:lnTo>
                </a:path>
              </a:pathLst>
            </a:custGeom>
            <a:noFill/>
            <a:ln w="9525">
              <a:solidFill>
                <a:schemeClr val="accent6"/>
              </a:solidFill>
            </a:ln>
          </p:spPr>
        </p:sp>
        <p:grpSp>
          <p:nvGrpSpPr>
            <p:cNvPr id="30" name="gap-row-1991"/>
            <p:cNvGrpSpPr/>
            <p:nvPr/>
          </p:nvGrpSpPr>
          <p:grpSpPr>
            <a:xfrm>
              <a:off x="6278118" y="2526982"/>
              <a:ext cx="5236464" cy="322707"/>
              <a:chOff x="6278118" y="2526982"/>
              <a:chExt cx="5236464" cy="322707"/>
            </a:xfrm>
          </p:grpSpPr>
          <p:sp>
            <p:nvSpPr>
              <p:cNvPr id="27" name="TextBox 27"/>
              <p:cNvSpPr txBox="1"/>
              <p:nvPr/>
            </p:nvSpPr>
            <p:spPr>
              <a:xfrm>
                <a:off x="6278118" y="2526982"/>
                <a:ext cx="505435" cy="322707"/>
              </a:xfrm>
              <a:prstGeom prst="rect">
                <a:avLst/>
              </a:prstGeom>
              <a:noFill/>
              <a:ln>
                <a:noFill/>
              </a:ln>
            </p:spPr>
            <p:txBody>
              <a:bodyPr wrap="none" lIns="0" tIns="0" rIns="0" bIns="0" anchor="t" anchorCtr="0">
                <a:spAutoFit/>
              </a:bodyPr>
              <a:lstStyle/>
              <a:p>
                <a:pPr algn="l"/>
                <a:r>
                  <a:rPr lang="ru-RU" sz="1650" dirty="0">
                    <a:solidFill>
                      <a:schemeClr val="accent1"/>
                    </a:solidFill>
                    <a:latin typeface="Consolas"/>
                    <a:ea typeface="Consolas"/>
                    <a:cs typeface="Consolas"/>
                  </a:rPr>
                  <a:t>1991</a:t>
                </a:r>
              </a:p>
            </p:txBody>
          </p:sp>
          <p:sp>
            <p:nvSpPr>
              <p:cNvPr id="28" name="Rectangle 28"/>
              <p:cNvSpPr/>
              <p:nvPr/>
            </p:nvSpPr>
            <p:spPr>
              <a:xfrm>
                <a:off x="7048500" y="2600325"/>
                <a:ext cx="1796415" cy="133350"/>
              </a:xfrm>
              <a:prstGeom prst="rect">
                <a:avLst/>
              </a:prstGeom>
              <a:solidFill>
                <a:schemeClr val="accent3"/>
              </a:solidFill>
              <a:ln>
                <a:noFill/>
              </a:ln>
            </p:spPr>
          </p:sp>
          <p:sp>
            <p:nvSpPr>
              <p:cNvPr id="29" name="TextBox 29"/>
              <p:cNvSpPr txBox="1"/>
              <p:nvPr/>
            </p:nvSpPr>
            <p:spPr>
              <a:xfrm>
                <a:off x="11009147" y="2526982"/>
                <a:ext cx="505435" cy="322707"/>
              </a:xfrm>
              <a:prstGeom prst="rect">
                <a:avLst/>
              </a:prstGeom>
              <a:noFill/>
              <a:ln>
                <a:noFill/>
              </a:ln>
            </p:spPr>
            <p:txBody>
              <a:bodyPr wrap="none" lIns="0" tIns="0" rIns="0" bIns="0" anchor="t" anchorCtr="0">
                <a:spAutoFit/>
              </a:bodyPr>
              <a:lstStyle/>
              <a:p>
                <a:pPr algn="r"/>
                <a:r>
                  <a:rPr lang="ru-RU" sz="1650" dirty="0">
                    <a:solidFill>
                      <a:schemeClr val="accent1"/>
                    </a:solidFill>
                    <a:latin typeface="Consolas"/>
                    <a:ea typeface="Consolas"/>
                    <a:cs typeface="Consolas"/>
                  </a:rPr>
                  <a:t>10,3</a:t>
                </a:r>
              </a:p>
            </p:txBody>
          </p:sp>
        </p:grpSp>
        <p:grpSp>
          <p:nvGrpSpPr>
            <p:cNvPr id="34" name="gap-row-1994"/>
            <p:cNvGrpSpPr/>
            <p:nvPr/>
          </p:nvGrpSpPr>
          <p:grpSpPr>
            <a:xfrm>
              <a:off x="6278118" y="3022282"/>
              <a:ext cx="5236464" cy="322707"/>
              <a:chOff x="6278118" y="3022282"/>
              <a:chExt cx="5236464" cy="322707"/>
            </a:xfrm>
          </p:grpSpPr>
          <p:sp>
            <p:nvSpPr>
              <p:cNvPr id="31" name="TextBox 31"/>
              <p:cNvSpPr txBox="1"/>
              <p:nvPr/>
            </p:nvSpPr>
            <p:spPr>
              <a:xfrm>
                <a:off x="6278118" y="3022282"/>
                <a:ext cx="505435" cy="322707"/>
              </a:xfrm>
              <a:prstGeom prst="rect">
                <a:avLst/>
              </a:prstGeom>
              <a:noFill/>
              <a:ln>
                <a:noFill/>
              </a:ln>
            </p:spPr>
            <p:txBody>
              <a:bodyPr wrap="none" lIns="0" tIns="0" rIns="0" bIns="0" anchor="t" anchorCtr="0">
                <a:spAutoFit/>
              </a:bodyPr>
              <a:lstStyle/>
              <a:p>
                <a:pPr algn="l"/>
                <a:r>
                  <a:rPr lang="ru-RU" sz="1650" dirty="0">
                    <a:solidFill>
                      <a:schemeClr val="accent1"/>
                    </a:solidFill>
                    <a:latin typeface="Consolas"/>
                    <a:ea typeface="Consolas"/>
                    <a:cs typeface="Consolas"/>
                  </a:rPr>
                  <a:t>1994</a:t>
                </a:r>
              </a:p>
            </p:txBody>
          </p:sp>
          <p:sp>
            <p:nvSpPr>
              <p:cNvPr id="32" name="Rectangle 32"/>
              <p:cNvSpPr/>
              <p:nvPr/>
            </p:nvSpPr>
            <p:spPr>
              <a:xfrm>
                <a:off x="7048500" y="3095625"/>
                <a:ext cx="2476500" cy="133350"/>
              </a:xfrm>
              <a:prstGeom prst="rect">
                <a:avLst/>
              </a:prstGeom>
              <a:solidFill>
                <a:schemeClr val="accent2"/>
              </a:solidFill>
              <a:ln>
                <a:noFill/>
              </a:ln>
            </p:spPr>
          </p:sp>
          <p:sp>
            <p:nvSpPr>
              <p:cNvPr id="33" name="TextBox 33"/>
              <p:cNvSpPr txBox="1"/>
              <p:nvPr/>
            </p:nvSpPr>
            <p:spPr>
              <a:xfrm>
                <a:off x="11009147" y="3022282"/>
                <a:ext cx="505435" cy="322707"/>
              </a:xfrm>
              <a:prstGeom prst="rect">
                <a:avLst/>
              </a:prstGeom>
              <a:noFill/>
              <a:ln>
                <a:noFill/>
              </a:ln>
            </p:spPr>
            <p:txBody>
              <a:bodyPr wrap="none" lIns="0" tIns="0" rIns="0" bIns="0" anchor="t" anchorCtr="0">
                <a:spAutoFit/>
              </a:bodyPr>
              <a:lstStyle/>
              <a:p>
                <a:pPr algn="r"/>
                <a:r>
                  <a:rPr lang="ru-RU" sz="1650" b="1" dirty="0">
                    <a:solidFill>
                      <a:schemeClr val="accent2"/>
                    </a:solidFill>
                    <a:latin typeface="Consolas"/>
                    <a:ea typeface="Consolas"/>
                    <a:cs typeface="Consolas"/>
                  </a:rPr>
                  <a:t>14,2</a:t>
                </a:r>
              </a:p>
            </p:txBody>
          </p:sp>
        </p:grpSp>
        <p:grpSp>
          <p:nvGrpSpPr>
            <p:cNvPr id="38" name="gap-row-2005"/>
            <p:cNvGrpSpPr/>
            <p:nvPr/>
          </p:nvGrpSpPr>
          <p:grpSpPr>
            <a:xfrm>
              <a:off x="6278118" y="3517582"/>
              <a:ext cx="5236464" cy="322707"/>
              <a:chOff x="6278118" y="3517582"/>
              <a:chExt cx="5236464" cy="322707"/>
            </a:xfrm>
          </p:grpSpPr>
          <p:sp>
            <p:nvSpPr>
              <p:cNvPr id="35" name="TextBox 35"/>
              <p:cNvSpPr txBox="1"/>
              <p:nvPr/>
            </p:nvSpPr>
            <p:spPr>
              <a:xfrm>
                <a:off x="6278118" y="3517582"/>
                <a:ext cx="505435" cy="322707"/>
              </a:xfrm>
              <a:prstGeom prst="rect">
                <a:avLst/>
              </a:prstGeom>
              <a:noFill/>
              <a:ln>
                <a:noFill/>
              </a:ln>
            </p:spPr>
            <p:txBody>
              <a:bodyPr wrap="none" lIns="0" tIns="0" rIns="0" bIns="0" anchor="t" anchorCtr="0">
                <a:spAutoFit/>
              </a:bodyPr>
              <a:lstStyle/>
              <a:p>
                <a:pPr algn="l"/>
                <a:r>
                  <a:rPr lang="ru-RU" sz="1650" dirty="0">
                    <a:solidFill>
                      <a:schemeClr val="accent1"/>
                    </a:solidFill>
                    <a:latin typeface="Consolas"/>
                    <a:ea typeface="Consolas"/>
                    <a:cs typeface="Consolas"/>
                  </a:rPr>
                  <a:t>2005</a:t>
                </a:r>
              </a:p>
            </p:txBody>
          </p:sp>
          <p:sp>
            <p:nvSpPr>
              <p:cNvPr id="36" name="Rectangle 36"/>
              <p:cNvSpPr/>
              <p:nvPr/>
            </p:nvSpPr>
            <p:spPr>
              <a:xfrm>
                <a:off x="7048500" y="3590925"/>
                <a:ext cx="2354580" cy="133350"/>
              </a:xfrm>
              <a:prstGeom prst="rect">
                <a:avLst/>
              </a:prstGeom>
              <a:solidFill>
                <a:schemeClr val="accent3"/>
              </a:solidFill>
              <a:ln>
                <a:noFill/>
              </a:ln>
            </p:spPr>
          </p:sp>
          <p:sp>
            <p:nvSpPr>
              <p:cNvPr id="37" name="TextBox 37"/>
              <p:cNvSpPr txBox="1"/>
              <p:nvPr/>
            </p:nvSpPr>
            <p:spPr>
              <a:xfrm>
                <a:off x="11009147" y="3517582"/>
                <a:ext cx="505435" cy="322707"/>
              </a:xfrm>
              <a:prstGeom prst="rect">
                <a:avLst/>
              </a:prstGeom>
              <a:noFill/>
              <a:ln>
                <a:noFill/>
              </a:ln>
            </p:spPr>
            <p:txBody>
              <a:bodyPr wrap="none" lIns="0" tIns="0" rIns="0" bIns="0" anchor="t" anchorCtr="0">
                <a:spAutoFit/>
              </a:bodyPr>
              <a:lstStyle/>
              <a:p>
                <a:pPr algn="r"/>
                <a:r>
                  <a:rPr lang="ru-RU" sz="1650" dirty="0">
                    <a:solidFill>
                      <a:schemeClr val="accent1"/>
                    </a:solidFill>
                    <a:latin typeface="Consolas"/>
                    <a:ea typeface="Consolas"/>
                    <a:cs typeface="Consolas"/>
                  </a:rPr>
                  <a:t>13,5</a:t>
                </a:r>
              </a:p>
            </p:txBody>
          </p:sp>
        </p:grpSp>
        <p:grpSp>
          <p:nvGrpSpPr>
            <p:cNvPr id="42" name="gap-row-2024"/>
            <p:cNvGrpSpPr/>
            <p:nvPr/>
          </p:nvGrpSpPr>
          <p:grpSpPr>
            <a:xfrm>
              <a:off x="6278118" y="4012882"/>
              <a:ext cx="5236464" cy="322707"/>
              <a:chOff x="6278118" y="4012882"/>
              <a:chExt cx="5236464" cy="322707"/>
            </a:xfrm>
          </p:grpSpPr>
          <p:sp>
            <p:nvSpPr>
              <p:cNvPr id="39" name="TextBox 39"/>
              <p:cNvSpPr txBox="1"/>
              <p:nvPr/>
            </p:nvSpPr>
            <p:spPr>
              <a:xfrm>
                <a:off x="6278118" y="4012882"/>
                <a:ext cx="505435" cy="322707"/>
              </a:xfrm>
              <a:prstGeom prst="rect">
                <a:avLst/>
              </a:prstGeom>
              <a:noFill/>
              <a:ln>
                <a:noFill/>
              </a:ln>
            </p:spPr>
            <p:txBody>
              <a:bodyPr wrap="none" lIns="0" tIns="0" rIns="0" bIns="0" anchor="t" anchorCtr="0">
                <a:spAutoFit/>
              </a:bodyPr>
              <a:lstStyle/>
              <a:p>
                <a:pPr algn="l"/>
                <a:r>
                  <a:rPr lang="ru-RU" sz="1650" dirty="0">
                    <a:solidFill>
                      <a:schemeClr val="accent1"/>
                    </a:solidFill>
                    <a:latin typeface="Consolas"/>
                    <a:ea typeface="Consolas"/>
                    <a:cs typeface="Consolas"/>
                  </a:rPr>
                  <a:t>2024</a:t>
                </a:r>
              </a:p>
            </p:txBody>
          </p:sp>
          <p:sp>
            <p:nvSpPr>
              <p:cNvPr id="40" name="Rectangle 40"/>
              <p:cNvSpPr/>
              <p:nvPr/>
            </p:nvSpPr>
            <p:spPr>
              <a:xfrm>
                <a:off x="7048500" y="4086225"/>
                <a:ext cx="1848802" cy="133350"/>
              </a:xfrm>
              <a:prstGeom prst="rect">
                <a:avLst/>
              </a:prstGeom>
              <a:solidFill>
                <a:schemeClr val="accent3"/>
              </a:solidFill>
              <a:ln>
                <a:noFill/>
              </a:ln>
            </p:spPr>
          </p:sp>
          <p:sp>
            <p:nvSpPr>
              <p:cNvPr id="41" name="TextBox 41"/>
              <p:cNvSpPr txBox="1"/>
              <p:nvPr/>
            </p:nvSpPr>
            <p:spPr>
              <a:xfrm>
                <a:off x="11009147" y="4012882"/>
                <a:ext cx="505435" cy="322707"/>
              </a:xfrm>
              <a:prstGeom prst="rect">
                <a:avLst/>
              </a:prstGeom>
              <a:noFill/>
              <a:ln>
                <a:noFill/>
              </a:ln>
            </p:spPr>
            <p:txBody>
              <a:bodyPr wrap="none" lIns="0" tIns="0" rIns="0" bIns="0" anchor="t" anchorCtr="0">
                <a:spAutoFit/>
              </a:bodyPr>
              <a:lstStyle/>
              <a:p>
                <a:pPr algn="r"/>
                <a:r>
                  <a:rPr lang="ru-RU" sz="1650" dirty="0">
                    <a:solidFill>
                      <a:schemeClr val="accent1"/>
                    </a:solidFill>
                    <a:latin typeface="Consolas"/>
                    <a:ea typeface="Consolas"/>
                    <a:cs typeface="Consolas"/>
                  </a:rPr>
                  <a:t>10,6</a:t>
                </a:r>
              </a:p>
            </p:txBody>
          </p:sp>
        </p:grpSp>
      </p:grpSp>
      <p:grpSp>
        <p:nvGrpSpPr>
          <p:cNvPr id="45" name="gap-note"/>
          <p:cNvGrpSpPr/>
          <p:nvPr/>
        </p:nvGrpSpPr>
        <p:grpSpPr>
          <a:xfrm>
            <a:off x="678942" y="4731068"/>
            <a:ext cx="6742134" cy="759333"/>
            <a:chOff x="678942" y="4731068"/>
            <a:chExt cx="6742134" cy="759333"/>
          </a:xfrm>
        </p:grpSpPr>
        <p:sp>
          <p:nvSpPr>
            <p:cNvPr id="44" name="TextBox 44"/>
            <p:cNvSpPr txBox="1"/>
            <p:nvPr/>
          </p:nvSpPr>
          <p:spPr>
            <a:xfrm>
              <a:off x="678942" y="4731068"/>
              <a:ext cx="6742134" cy="759333"/>
            </a:xfrm>
            <a:prstGeom prst="rect">
              <a:avLst/>
            </a:prstGeom>
            <a:noFill/>
            <a:ln>
              <a:noFill/>
            </a:ln>
          </p:spPr>
          <p:txBody>
            <a:bodyPr wrap="none" lIns="0" tIns="0" rIns="0" bIns="0" anchor="t" anchorCtr="0">
              <a:spAutoFit/>
            </a:bodyPr>
            <a:lstStyle/>
            <a:p>
              <a:pPr algn="l">
                <a:lnSpc>
                  <a:spcPts val="1950"/>
                </a:lnSpc>
              </a:pPr>
              <a:r>
                <a:rPr lang="ru-RU" sz="1350" dirty="0">
                  <a:solidFill>
                    <a:schemeClr val="accent5"/>
                  </a:solidFill>
                  <a:latin typeface="+mn-lt"/>
                  <a:ea typeface="+mn-ea"/>
                  <a:cs typeface="+mn-cs"/>
                </a:rPr>
                <a:t>Разрыв расширялся в годы падения мужской продолжительности жизни (1992–1994)</a:t>
              </a:r>
              <a:br/>
              <a:r>
                <a:rPr lang="ru-RU" sz="1350" dirty="0">
                  <a:solidFill>
                    <a:schemeClr val="accent5"/>
                  </a:solidFill>
                  <a:latin typeface="+mn-lt"/>
                  <a:ea typeface="+mn-ea"/>
                  <a:cs typeface="+mn-cs"/>
                </a:rPr>
                <a:t>и сужался в годы её роста (2006–2019). Минимум периода — 9,0 года в 2021 году,</a:t>
              </a:r>
              <a:br/>
              <a:r>
                <a:rPr lang="ru-RU" sz="1350" dirty="0">
                  <a:solidFill>
                    <a:schemeClr val="accent5"/>
                  </a:solidFill>
                  <a:latin typeface="+mn-lt"/>
                  <a:ea typeface="+mn-ea"/>
                  <a:cs typeface="+mn-cs"/>
                </a:rPr>
                <a:t>когда женская продолжительность жизни упала сильнее мужской.</a:t>
              </a:r>
            </a:p>
          </p:txBody>
        </p:sp>
      </p:grpSp>
      <p:grpSp>
        <p:nvGrpSpPr>
          <p:cNvPr id="48" name="page-footer"/>
          <p:cNvGrpSpPr/>
          <p:nvPr/>
        </p:nvGrpSpPr>
        <p:grpSpPr>
          <a:xfrm>
            <a:off x="679704" y="6442710"/>
            <a:ext cx="10832592" cy="234696"/>
            <a:chOff x="679704" y="6442710"/>
            <a:chExt cx="10832592" cy="234696"/>
          </a:xfrm>
        </p:grpSpPr>
        <p:sp>
          <p:nvSpPr>
            <p:cNvPr id="46" name="TextBox 46"/>
            <p:cNvSpPr txBox="1"/>
            <p:nvPr/>
          </p:nvSpPr>
          <p:spPr>
            <a:xfrm>
              <a:off x="679704" y="6442710"/>
              <a:ext cx="7023673" cy="234696"/>
            </a:xfrm>
            <a:prstGeom prst="rect">
              <a:avLst/>
            </a:prstGeom>
            <a:noFill/>
            <a:ln>
              <a:noFill/>
            </a:ln>
          </p:spPr>
          <p:txBody>
            <a:bodyPr wrap="none" lIns="0" tIns="0" rIns="0" bIns="0" anchor="t" anchorCtr="0">
              <a:spAutoFit/>
            </a:bodyPr>
            <a:lstStyle/>
            <a:p>
              <a:pPr algn="l"/>
              <a:r>
                <a:rPr lang="ru-RU" sz="1200" dirty="0">
                  <a:solidFill>
                    <a:schemeClr val="accent5"/>
                  </a:solidFill>
                  <a:latin typeface="+mn-lt"/>
                  <a:ea typeface="+mn-ea"/>
                  <a:cs typeface="+mn-cs"/>
                </a:rPr>
                <a:t>Всемирный банк, SP.DYN.LE00.FE.IN и SP.DYN.LE00.MA.IN, 1991–2024 · разрыв — расчёт</a:t>
              </a:r>
            </a:p>
          </p:txBody>
        </p:sp>
        <p:sp>
          <p:nvSpPr>
            <p:cNvPr id="47" name="TextBox 47"/>
            <p:cNvSpPr txBox="1"/>
            <p:nvPr/>
          </p:nvSpPr>
          <p:spPr>
            <a:xfrm>
              <a:off x="11320402" y="6442710"/>
              <a:ext cx="191894" cy="234696"/>
            </a:xfrm>
            <a:prstGeom prst="rect">
              <a:avLst/>
            </a:prstGeom>
            <a:noFill/>
            <a:ln>
              <a:noFill/>
            </a:ln>
          </p:spPr>
          <p:txBody>
            <a:bodyPr wrap="none" lIns="0" tIns="0" rIns="0" bIns="0" anchor="t" anchorCtr="0">
              <a:spAutoFit/>
            </a:bodyPr>
            <a:lstStyle/>
            <a:p>
              <a:pPr algn="r"/>
              <a:r>
                <a:rPr lang="ru-RU" sz="1200" dirty="0">
                  <a:solidFill>
                    <a:schemeClr val="accent5"/>
                  </a:solidFill>
                  <a:latin typeface="+mn-lt"/>
                  <a:ea typeface="+mn-ea"/>
                  <a:cs typeface="+mn-cs"/>
                </a:rPr>
                <a:t>09</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par>
                          <p:cTn id="8" fill="hold">
                            <p:stCondLst>
                              <p:cond delay="40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23"/>
                                        </p:tgtEl>
                                        <p:attrNameLst>
                                          <p:attrName>style.visibility</p:attrName>
                                        </p:attrNameLst>
                                      </p:cBhvr>
                                      <p:to>
                                        <p:strVal val="visible"/>
                                      </p:to>
                                    </p:set>
                                    <p:animEffect transition="in" filter="fade">
                                      <p:cBhvr>
                                        <p:cTn id="11" dur="600"/>
                                        <p:tgtEl>
                                          <p:spTgt spid="23"/>
                                        </p:tgtEl>
                                      </p:cBhvr>
                                    </p:animEffect>
                                  </p:childTnLst>
                                </p:cTn>
                              </p:par>
                            </p:childTnLst>
                          </p:cTn>
                        </p:par>
                        <p:par>
                          <p:cTn id="12" fill="hold">
                            <p:stCondLst>
                              <p:cond delay="1500"/>
                            </p:stCondLst>
                            <p:childTnLst>
                              <p:par>
                                <p:cTn xmlns:p="http://schemas.openxmlformats.org/presentationml/2006/main" id="13" presetID="22" presetClass="entr" presetSubtype="2" fill="hold" grpId="0" nodeType="afterEffect">
                                  <p:stCondLst>
                                    <p:cond delay="500"/>
                                  </p:stCondLst>
                                  <p:childTnLst>
                                    <p:set>
                                      <p:cBhvr>
                                        <p:cTn id="14" dur="1" fill="hold">
                                          <p:stCondLst>
                                            <p:cond delay="0"/>
                                          </p:stCondLst>
                                        </p:cTn>
                                        <p:tgtEl>
                                          <p:spTgt spid="43"/>
                                        </p:tgtEl>
                                        <p:attrNameLst>
                                          <p:attrName>style.visibility</p:attrName>
                                        </p:attrNameLst>
                                      </p:cBhvr>
                                      <p:to>
                                        <p:strVal val="visible"/>
                                      </p:to>
                                    </p:set>
                                    <p:animEffect transition="in" filter="wipe(right)">
                                      <p:cBhvr>
                                        <p:cTn id="15" dur="900"/>
                                        <p:tgtEl>
                                          <p:spTgt spid="43"/>
                                        </p:tgtEl>
                                      </p:cBhvr>
                                    </p:animEffect>
                                  </p:childTnLst>
                                </p:cTn>
                              </p:par>
                            </p:childTnLst>
                          </p:cTn>
                        </p:par>
                        <p:par>
                          <p:cTn id="16" fill="hold">
                            <p:stCondLst>
                              <p:cond delay="2900"/>
                            </p:stCondLst>
                            <p:childTnLst>
                              <p:par>
                                <p:cTn xmlns:p="http://schemas.openxmlformats.org/presentationml/2006/main" id="17" presetID="10" presetClass="entr" presetSubtype="0" fill="hold" grpId="0" nodeType="afterEffect">
                                  <p:stCondLst>
                                    <p:cond delay="500"/>
                                  </p:stCondLst>
                                  <p:childTnLst>
                                    <p:set>
                                      <p:cBhvr>
                                        <p:cTn id="18" dur="1" fill="hold">
                                          <p:stCondLst>
                                            <p:cond delay="0"/>
                                          </p:stCondLst>
                                        </p:cTn>
                                        <p:tgtEl>
                                          <p:spTgt spid="45"/>
                                        </p:tgtEl>
                                        <p:attrNameLst>
                                          <p:attrName>style.visibility</p:attrName>
                                        </p:attrNameLst>
                                      </p:cBhvr>
                                      <p:to>
                                        <p:strVal val="visible"/>
                                      </p:to>
                                    </p:set>
                                    <p:animEffect transition="in" filter="fade">
                                      <p:cBhvr>
                                        <p:cTn id="19" dur="4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age-header"/>
          <p:cNvGrpSpPr/>
          <p:nvPr/>
        </p:nvGrpSpPr>
        <p:grpSpPr>
          <a:xfrm>
            <a:off x="670560" y="590550"/>
            <a:ext cx="8227695" cy="888873"/>
            <a:chOff x="670560" y="590550"/>
            <a:chExt cx="8227695" cy="888873"/>
          </a:xfrm>
        </p:grpSpPr>
        <p:sp>
          <p:nvSpPr>
            <p:cNvPr id="2" name="TextBox 2"/>
            <p:cNvSpPr txBox="1"/>
            <p:nvPr/>
          </p:nvSpPr>
          <p:spPr>
            <a:xfrm>
              <a:off x="670560" y="590550"/>
              <a:ext cx="8227695" cy="586740"/>
            </a:xfrm>
            <a:prstGeom prst="rect">
              <a:avLst/>
            </a:prstGeom>
            <a:noFill/>
            <a:ln>
              <a:noFill/>
            </a:ln>
          </p:spPr>
          <p:txBody>
            <a:bodyPr wrap="none" lIns="0" tIns="0" rIns="0" bIns="0" anchor="t" anchorCtr="0">
              <a:spAutoFit/>
            </a:bodyPr>
            <a:lstStyle/>
            <a:p>
              <a:pPr algn="l"/>
              <a:r>
                <a:rPr lang="ru-RU" sz="3000" b="1" dirty="0">
                  <a:solidFill>
                    <a:schemeClr val="accent1"/>
                  </a:solidFill>
                  <a:latin typeface="+mj-lt"/>
                  <a:ea typeface="+mj-ea"/>
                  <a:cs typeface="+mj-cs"/>
                </a:rPr>
                <a:t>Доля 65 лет и старше выросла до 17,2 %</a:t>
              </a:r>
            </a:p>
          </p:txBody>
        </p:sp>
        <p:sp>
          <p:nvSpPr>
            <p:cNvPr id="3" name="TextBox 3"/>
            <p:cNvSpPr txBox="1"/>
            <p:nvPr/>
          </p:nvSpPr>
          <p:spPr>
            <a:xfrm>
              <a:off x="675132" y="1068705"/>
              <a:ext cx="6469677" cy="410718"/>
            </a:xfrm>
            <a:prstGeom prst="rect">
              <a:avLst/>
            </a:prstGeom>
            <a:noFill/>
            <a:ln>
              <a:noFill/>
            </a:ln>
          </p:spPr>
          <p:txBody>
            <a:bodyPr wrap="none" lIns="0" tIns="0" rIns="0" bIns="0" anchor="t" anchorCtr="0">
              <a:spAutoFit/>
            </a:bodyPr>
            <a:lstStyle/>
            <a:p>
              <a:pPr algn="l"/>
              <a:r>
                <a:rPr lang="ru-RU" sz="2100" dirty="0">
                  <a:solidFill>
                    <a:schemeClr val="dk1"/>
                  </a:solidFill>
                  <a:latin typeface="+mn-lt"/>
                  <a:ea typeface="+mn-ea"/>
                  <a:cs typeface="+mn-cs"/>
                </a:rPr>
                <a:t>Весь прирост последних лет — после 2011 года</a:t>
              </a:r>
            </a:p>
          </p:txBody>
        </p:sp>
      </p:grpSp>
      <p:grpSp>
        <p:nvGrpSpPr>
          <p:cNvPr id="16" name="aging-summary"/>
          <p:cNvGrpSpPr/>
          <p:nvPr/>
        </p:nvGrpSpPr>
        <p:grpSpPr>
          <a:xfrm>
            <a:off x="666750" y="1995487"/>
            <a:ext cx="2728991" cy="3456814"/>
            <a:chOff x="666750" y="1995487"/>
            <a:chExt cx="2728991" cy="3456814"/>
          </a:xfrm>
        </p:grpSpPr>
        <p:sp>
          <p:nvSpPr>
            <p:cNvPr id="5" name="TextBox 5"/>
            <p:cNvSpPr txBox="1"/>
            <p:nvPr/>
          </p:nvSpPr>
          <p:spPr>
            <a:xfrm>
              <a:off x="678942" y="2006918"/>
              <a:ext cx="2324669" cy="264033"/>
            </a:xfrm>
            <a:prstGeom prst="rect">
              <a:avLst/>
            </a:prstGeom>
            <a:noFill/>
            <a:ln>
              <a:noFill/>
            </a:ln>
          </p:spPr>
          <p:txBody>
            <a:bodyPr wrap="none" lIns="0" tIns="0" rIns="0" bIns="0" anchor="t" anchorCtr="0">
              <a:spAutoFit/>
            </a:bodyPr>
            <a:lstStyle/>
            <a:p>
              <a:pPr algn="l"/>
              <a:r>
                <a:rPr lang="ru-RU" sz="1350" spc="150" dirty="0">
                  <a:solidFill>
                    <a:schemeClr val="accent5"/>
                  </a:solidFill>
                  <a:latin typeface="+mn-lt"/>
                  <a:ea typeface="+mn-ea"/>
                  <a:cs typeface="+mn-cs"/>
                </a:rPr>
                <a:t>ДОЛЯ 65 ЛЕТ И СТАРШЕ</a:t>
              </a:r>
            </a:p>
          </p:txBody>
        </p:sp>
        <p:grpSp>
          <p:nvGrpSpPr>
            <p:cNvPr id="10" name="Group 10"/>
            <p:cNvGrpSpPr/>
            <p:nvPr/>
          </p:nvGrpSpPr>
          <p:grpSpPr>
            <a:xfrm>
              <a:off x="3152775" y="1995487"/>
              <a:ext cx="209550" cy="314325"/>
              <a:chOff x="3152775" y="1995487"/>
              <a:chExt cx="209550" cy="314325"/>
            </a:xfrm>
          </p:grpSpPr>
          <p:sp>
            <p:nvSpPr>
              <p:cNvPr id="6" name="Freeform 6"/>
              <p:cNvSpPr/>
              <p:nvPr/>
            </p:nvSpPr>
            <p:spPr>
              <a:xfrm>
                <a:off x="3161506" y="2065337"/>
                <a:ext cx="192087" cy="9525"/>
              </a:xfrm>
              <a:custGeom>
                <a:avLst/>
                <a:gdLst/>
                <a:ahLst/>
                <a:cxnLst/>
                <a:rect l="l" t="t" r="r" b="b"/>
                <a:pathLst>
                  <a:path w="192087" h="9525">
                    <a:moveTo>
                      <a:pt x="0" y="0"/>
                    </a:moveTo>
                    <a:lnTo>
                      <a:pt x="192087" y="0"/>
                    </a:lnTo>
                  </a:path>
                </a:pathLst>
              </a:custGeom>
              <a:noFill/>
              <a:ln w="34925">
                <a:solidFill>
                  <a:schemeClr val="accent2"/>
                </a:solidFill>
              </a:ln>
            </p:spPr>
          </p:sp>
          <p:sp>
            <p:nvSpPr>
              <p:cNvPr id="7" name="Freeform 7"/>
              <p:cNvSpPr/>
              <p:nvPr/>
            </p:nvSpPr>
            <p:spPr>
              <a:xfrm>
                <a:off x="3161506" y="2239962"/>
                <a:ext cx="192087" cy="9525"/>
              </a:xfrm>
              <a:custGeom>
                <a:avLst/>
                <a:gdLst/>
                <a:ahLst/>
                <a:cxnLst/>
                <a:rect l="l" t="t" r="r" b="b"/>
                <a:pathLst>
                  <a:path w="192087" h="9525">
                    <a:moveTo>
                      <a:pt x="0" y="0"/>
                    </a:moveTo>
                    <a:lnTo>
                      <a:pt x="192087" y="0"/>
                    </a:lnTo>
                  </a:path>
                </a:pathLst>
              </a:custGeom>
              <a:noFill/>
              <a:ln w="34925">
                <a:solidFill>
                  <a:schemeClr val="accent2"/>
                </a:solidFill>
              </a:ln>
            </p:spPr>
          </p:sp>
          <p:sp>
            <p:nvSpPr>
              <p:cNvPr id="8" name="Freeform 8"/>
              <p:cNvSpPr/>
              <p:nvPr/>
            </p:nvSpPr>
            <p:spPr>
              <a:xfrm>
                <a:off x="3152775" y="2152650"/>
                <a:ext cx="209550" cy="157162"/>
              </a:xfrm>
              <a:custGeom>
                <a:avLst/>
                <a:gdLst/>
                <a:ahLst/>
                <a:cxnLst/>
                <a:rect l="l" t="t" r="r" b="b"/>
                <a:pathLst>
                  <a:path w="209550" h="157162">
                    <a:moveTo>
                      <a:pt x="0" y="139700"/>
                    </a:moveTo>
                    <a:lnTo>
                      <a:pt x="0" y="104775"/>
                    </a:lnTo>
                    <a:cubicBezTo>
                      <a:pt x="0" y="46909"/>
                      <a:pt x="46909" y="0"/>
                      <a:pt x="104775" y="0"/>
                    </a:cubicBezTo>
                    <a:cubicBezTo>
                      <a:pt x="162640" y="0"/>
                      <a:pt x="209550" y="46909"/>
                      <a:pt x="209550" y="104775"/>
                    </a:cubicBezTo>
                    <a:lnTo>
                      <a:pt x="209550" y="139700"/>
                    </a:lnTo>
                    <a:cubicBezTo>
                      <a:pt x="209550" y="149344"/>
                      <a:pt x="201731" y="157162"/>
                      <a:pt x="192087" y="157162"/>
                    </a:cubicBezTo>
                    <a:lnTo>
                      <a:pt x="17462" y="157162"/>
                    </a:lnTo>
                    <a:cubicBezTo>
                      <a:pt x="7818" y="157162"/>
                      <a:pt x="0" y="149344"/>
                      <a:pt x="0" y="139700"/>
                    </a:cubicBezTo>
                  </a:path>
                </a:pathLst>
              </a:custGeom>
              <a:noFill/>
              <a:ln w="34925">
                <a:solidFill>
                  <a:schemeClr val="accent2"/>
                </a:solidFill>
              </a:ln>
            </p:spPr>
          </p:sp>
          <p:sp>
            <p:nvSpPr>
              <p:cNvPr id="9" name="Freeform 9"/>
              <p:cNvSpPr/>
              <p:nvPr/>
            </p:nvSpPr>
            <p:spPr>
              <a:xfrm>
                <a:off x="3152775" y="1995487"/>
                <a:ext cx="209550" cy="157162"/>
              </a:xfrm>
              <a:custGeom>
                <a:avLst/>
                <a:gdLst/>
                <a:ahLst/>
                <a:cxnLst/>
                <a:rect l="l" t="t" r="r" b="b"/>
                <a:pathLst>
                  <a:path w="209550" h="157162">
                    <a:moveTo>
                      <a:pt x="0" y="17462"/>
                    </a:moveTo>
                    <a:lnTo>
                      <a:pt x="0" y="52387"/>
                    </a:lnTo>
                    <a:cubicBezTo>
                      <a:pt x="0" y="110253"/>
                      <a:pt x="46909" y="157162"/>
                      <a:pt x="104775" y="157162"/>
                    </a:cubicBezTo>
                    <a:cubicBezTo>
                      <a:pt x="162640" y="157162"/>
                      <a:pt x="209550" y="110253"/>
                      <a:pt x="209550" y="52387"/>
                    </a:cubicBezTo>
                    <a:lnTo>
                      <a:pt x="209550" y="17462"/>
                    </a:lnTo>
                    <a:cubicBezTo>
                      <a:pt x="209550" y="7818"/>
                      <a:pt x="201731" y="0"/>
                      <a:pt x="192087" y="0"/>
                    </a:cubicBezTo>
                    <a:lnTo>
                      <a:pt x="17462" y="0"/>
                    </a:lnTo>
                    <a:cubicBezTo>
                      <a:pt x="7818" y="0"/>
                      <a:pt x="0" y="7818"/>
                      <a:pt x="0" y="17462"/>
                    </a:cubicBezTo>
                  </a:path>
                </a:pathLst>
              </a:custGeom>
              <a:noFill/>
              <a:ln w="34925">
                <a:solidFill>
                  <a:schemeClr val="accent2"/>
                </a:solidFill>
              </a:ln>
            </p:spPr>
          </p:sp>
        </p:grpSp>
        <p:sp>
          <p:nvSpPr>
            <p:cNvPr id="11" name="TextBox 11"/>
            <p:cNvSpPr txBox="1"/>
            <p:nvPr/>
          </p:nvSpPr>
          <p:spPr>
            <a:xfrm>
              <a:off x="666750" y="2358390"/>
              <a:ext cx="1280572" cy="933450"/>
            </a:xfrm>
            <a:prstGeom prst="rect">
              <a:avLst/>
            </a:prstGeom>
            <a:noFill/>
            <a:ln>
              <a:noFill/>
            </a:ln>
          </p:spPr>
          <p:txBody>
            <a:bodyPr wrap="none" lIns="0" tIns="0" rIns="0" bIns="0" anchor="t" anchorCtr="0">
              <a:spAutoFit/>
            </a:bodyPr>
            <a:lstStyle/>
            <a:p>
              <a:pPr algn="l"/>
              <a:r>
                <a:rPr lang="ru-RU" sz="4800" b="1" dirty="0">
                  <a:solidFill>
                    <a:schemeClr val="accent2"/>
                  </a:solidFill>
                  <a:latin typeface="+mj-lt"/>
                  <a:ea typeface="+mj-ea"/>
                  <a:cs typeface="+mj-cs"/>
                </a:rPr>
                <a:t>+6,9</a:t>
              </a:r>
            </a:p>
          </p:txBody>
        </p:sp>
        <p:sp>
          <p:nvSpPr>
            <p:cNvPr id="12" name="TextBox 12"/>
            <p:cNvSpPr txBox="1"/>
            <p:nvPr/>
          </p:nvSpPr>
          <p:spPr>
            <a:xfrm>
              <a:off x="678942" y="3016568"/>
              <a:ext cx="2716799" cy="264033"/>
            </a:xfrm>
            <a:prstGeom prst="rect">
              <a:avLst/>
            </a:prstGeom>
            <a:noFill/>
            <a:ln>
              <a:noFill/>
            </a:ln>
          </p:spPr>
          <p:txBody>
            <a:bodyPr wrap="none" lIns="0" tIns="0" rIns="0" bIns="0" anchor="t" anchorCtr="0">
              <a:spAutoFit/>
            </a:bodyPr>
            <a:lstStyle/>
            <a:p>
              <a:pPr algn="l"/>
              <a:r>
                <a:rPr lang="ru-RU" sz="1350" dirty="0">
                  <a:solidFill>
                    <a:schemeClr val="dk1"/>
                  </a:solidFill>
                  <a:latin typeface="+mn-lt"/>
                  <a:ea typeface="+mn-ea"/>
                  <a:cs typeface="+mn-cs"/>
                </a:rPr>
                <a:t>процентного пункта за 33 года</a:t>
              </a:r>
            </a:p>
          </p:txBody>
        </p:sp>
        <p:sp>
          <p:nvSpPr>
            <p:cNvPr id="13" name="Rectangle 13"/>
            <p:cNvSpPr/>
            <p:nvPr/>
          </p:nvSpPr>
          <p:spPr>
            <a:xfrm>
              <a:off x="685800" y="3352800"/>
              <a:ext cx="2286000" cy="38100"/>
            </a:xfrm>
            <a:prstGeom prst="rect">
              <a:avLst/>
            </a:prstGeom>
            <a:gradFill>
              <a:gsLst>
                <a:gs pos="0">
                  <a:schemeClr val="accent1"/>
                </a:gs>
                <a:gs pos="100000">
                  <a:schemeClr val="accent2"/>
                </a:gs>
              </a:gsLst>
              <a:lin ang="0" scaled="1"/>
            </a:gradFill>
            <a:ln>
              <a:noFill/>
            </a:ln>
          </p:spPr>
        </p:sp>
        <p:sp>
          <p:nvSpPr>
            <p:cNvPr id="14" name="TextBox 14"/>
            <p:cNvSpPr txBox="1"/>
            <p:nvPr/>
          </p:nvSpPr>
          <p:spPr>
            <a:xfrm>
              <a:off x="677418" y="3536632"/>
              <a:ext cx="1515046" cy="627507"/>
            </a:xfrm>
            <a:prstGeom prst="rect">
              <a:avLst/>
            </a:prstGeom>
            <a:noFill/>
            <a:ln>
              <a:noFill/>
            </a:ln>
          </p:spPr>
          <p:txBody>
            <a:bodyPr wrap="none" lIns="0" tIns="0" rIns="0" bIns="0" anchor="t" anchorCtr="0">
              <a:spAutoFit/>
            </a:bodyPr>
            <a:lstStyle/>
            <a:p>
              <a:pPr algn="l">
                <a:lnSpc>
                  <a:spcPts val="2400"/>
                </a:lnSpc>
              </a:pPr>
              <a:r>
                <a:rPr lang="ru-RU" sz="1650" dirty="0">
                  <a:solidFill>
                    <a:schemeClr val="accent1"/>
                  </a:solidFill>
                  <a:latin typeface="Consolas"/>
                  <a:ea typeface="Consolas"/>
                  <a:cs typeface="Consolas"/>
                </a:rPr>
                <a:t>1991 — 10,3 %</a:t>
              </a:r>
              <a:br/>
              <a:r>
                <a:rPr lang="ru-RU" sz="1650" dirty="0">
                  <a:solidFill>
                    <a:schemeClr val="accent1"/>
                  </a:solidFill>
                  <a:latin typeface="Consolas"/>
                  <a:ea typeface="Consolas"/>
                  <a:cs typeface="Consolas"/>
                </a:rPr>
                <a:t>2024 — 17,2 %</a:t>
              </a:r>
            </a:p>
          </p:txBody>
        </p:sp>
        <p:sp>
          <p:nvSpPr>
            <p:cNvPr id="15" name="TextBox 15"/>
            <p:cNvSpPr txBox="1"/>
            <p:nvPr/>
          </p:nvSpPr>
          <p:spPr>
            <a:xfrm>
              <a:off x="678942" y="4331018"/>
              <a:ext cx="2611012" cy="1121283"/>
            </a:xfrm>
            <a:prstGeom prst="rect">
              <a:avLst/>
            </a:prstGeom>
            <a:noFill/>
            <a:ln>
              <a:noFill/>
            </a:ln>
          </p:spPr>
          <p:txBody>
            <a:bodyPr wrap="none" lIns="0" tIns="0" rIns="0" bIns="0" anchor="t" anchorCtr="0">
              <a:spAutoFit/>
            </a:bodyPr>
            <a:lstStyle/>
            <a:p>
              <a:pPr algn="l">
                <a:lnSpc>
                  <a:spcPts val="1950"/>
                </a:lnSpc>
              </a:pPr>
              <a:r>
                <a:rPr lang="ru-RU" sz="1350" dirty="0">
                  <a:solidFill>
                    <a:schemeClr val="accent5"/>
                  </a:solidFill>
                  <a:latin typeface="+mn-lt"/>
                  <a:ea typeface="+mn-ea"/>
                  <a:cs typeface="+mn-cs"/>
                </a:rPr>
                <a:t>Единственное снижение ряда —</a:t>
              </a:r>
              <a:br/>
              <a:r>
                <a:rPr lang="ru-RU" sz="1350" dirty="0">
                  <a:solidFill>
                    <a:schemeClr val="accent5"/>
                  </a:solidFill>
                  <a:latin typeface="+mn-lt"/>
                  <a:ea typeface="+mn-ea"/>
                  <a:cs typeface="+mn-cs"/>
                </a:rPr>
                <a:t>2009–2011 годы (12,6 % в 2011).</a:t>
              </a:r>
            </a:p>
            <a:p>
              <a:pPr algn="l">
                <a:lnSpc>
                  <a:spcPts val="1950"/>
                </a:lnSpc>
                <a:spcBef>
                  <a:spcPts val="900"/>
                </a:spcBef>
              </a:pPr>
              <a:r>
                <a:rPr lang="ru-RU" sz="1350" dirty="0">
                  <a:solidFill>
                    <a:schemeClr val="accent5"/>
                  </a:solidFill>
                  <a:latin typeface="+mn-lt"/>
                  <a:ea typeface="+mn-ea"/>
                  <a:cs typeface="+mn-cs"/>
                </a:rPr>
                <a:t>С 2012 по 2024 год доля</a:t>
              </a:r>
              <a:br/>
              <a:r>
                <a:rPr lang="ru-RU" sz="1350" dirty="0">
                  <a:solidFill>
                    <a:schemeClr val="accent5"/>
                  </a:solidFill>
                  <a:latin typeface="+mn-lt"/>
                  <a:ea typeface="+mn-ea"/>
                  <a:cs typeface="+mn-cs"/>
                </a:rPr>
                <a:t>выросла на 4,6 п. п. (расчёт).</a:t>
              </a:r>
            </a:p>
          </p:txBody>
        </p:sp>
      </p:grpSp>
      <p:grpSp>
        <p:nvGrpSpPr>
          <p:cNvPr id="27" name="aging-share"/>
          <p:cNvGrpSpPr/>
          <p:nvPr/>
        </p:nvGrpSpPr>
        <p:grpSpPr>
          <a:xfrm>
            <a:off x="4305300" y="1787842"/>
            <a:ext cx="7200900" cy="3889058"/>
            <a:chOff x="4305300" y="1787842"/>
            <a:chExt cx="7200900" cy="3889058"/>
          </a:xfrm>
        </p:grpSpPr>
        <p:graphicFrame>
          <p:nvGraphicFramePr>
            <p:cNvPr id="17" name="aging-share"/>
            <p:cNvGraphicFramePr>
              <a:graphicFrameLocks noGrp="1"/>
            </p:cNvGraphicFramePr>
            <p:nvPr/>
          </p:nvGraphicFramePr>
          <p:xfrm>
            <a:off x="4305300" y="1866900"/>
            <a:ext cx="7200900" cy="3810000"/>
          </p:xfrm>
          <a:graphic>
            <a:graphicData uri="http://schemas.openxmlformats.org/drawingml/2006/chart">
              <c:chart xmlns:c="http://schemas.openxmlformats.org/drawingml/2006/chart" r:id="rId2"/>
            </a:graphicData>
          </a:graphic>
        </p:graphicFrame>
        <p:sp>
          <p:nvSpPr>
            <p:cNvPr id="18" name="Chart Note 18"/>
            <p:cNvSpPr txBox="1"/>
            <p:nvPr/>
          </p:nvSpPr>
          <p:spPr>
            <a:xfrm>
              <a:off x="5048250" y="1787842"/>
              <a:ext cx="2762250" cy="274320"/>
            </a:xfrm>
            <a:prstGeom prst="rect">
              <a:avLst/>
            </a:prstGeom>
            <a:noFill/>
            <a:ln>
              <a:noFill/>
            </a:ln>
          </p:spPr>
          <p:txBody>
            <a:bodyPr wrap="square" lIns="0" tIns="0" rIns="0" bIns="0" anchor="b" anchorCtr="0"/>
            <a:lstStyle/>
            <a:p>
              <a:pPr algn="l"/>
              <a:r>
                <a:rPr lang="ru-RU" sz="1350">
                  <a:solidFill>
                    <a:srgbClr val="5B6670"/>
                  </a:solidFill>
                  <a:latin typeface="Arial"/>
                  <a:ea typeface="Microsoft YaHei"/>
                  <a:cs typeface="Arial"/>
                </a:rPr>
                <a:t>% от численности населения</a:t>
              </a:r>
            </a:p>
          </p:txBody>
        </p:sp>
        <p:sp>
          <p:nvSpPr>
            <p:cNvPr id="19" name="Chart Note 19"/>
            <p:cNvSpPr txBox="1"/>
            <p:nvPr/>
          </p:nvSpPr>
          <p:spPr>
            <a:xfrm>
              <a:off x="5101590" y="3133725"/>
              <a:ext cx="666750" cy="304800"/>
            </a:xfrm>
            <a:prstGeom prst="rect">
              <a:avLst/>
            </a:prstGeom>
            <a:noFill/>
            <a:ln>
              <a:noFill/>
            </a:ln>
          </p:spPr>
          <p:txBody>
            <a:bodyPr wrap="square" lIns="0" tIns="0" rIns="0" bIns="0" anchor="b" anchorCtr="0"/>
            <a:lstStyle/>
            <a:p>
              <a:pPr algn="ctr"/>
              <a:r>
                <a:rPr lang="ru-RU" sz="1500" b="1">
                  <a:solidFill>
                    <a:srgbClr val="1B2B3A"/>
                  </a:solidFill>
                  <a:latin typeface="Arial"/>
                  <a:ea typeface="Microsoft YaHei"/>
                  <a:cs typeface="Arial"/>
                </a:rPr>
                <a:t>10,3</a:t>
              </a:r>
            </a:p>
          </p:txBody>
        </p:sp>
        <p:sp>
          <p:nvSpPr>
            <p:cNvPr id="20" name="Chart Note 20"/>
            <p:cNvSpPr txBox="1"/>
            <p:nvPr/>
          </p:nvSpPr>
          <p:spPr>
            <a:xfrm>
              <a:off x="5875972" y="2847975"/>
              <a:ext cx="666750" cy="304800"/>
            </a:xfrm>
            <a:prstGeom prst="rect">
              <a:avLst/>
            </a:prstGeom>
            <a:noFill/>
            <a:ln>
              <a:noFill/>
            </a:ln>
          </p:spPr>
          <p:txBody>
            <a:bodyPr wrap="square" lIns="0" tIns="0" rIns="0" bIns="0" anchor="b" anchorCtr="0"/>
            <a:lstStyle/>
            <a:p>
              <a:pPr algn="ctr"/>
              <a:r>
                <a:rPr lang="ru-RU" sz="1500" b="1">
                  <a:solidFill>
                    <a:srgbClr val="1B2B3A"/>
                  </a:solidFill>
                  <a:latin typeface="Arial"/>
                  <a:ea typeface="Microsoft YaHei"/>
                  <a:cs typeface="Arial"/>
                </a:rPr>
                <a:t>11,9</a:t>
              </a:r>
            </a:p>
          </p:txBody>
        </p:sp>
        <p:sp>
          <p:nvSpPr>
            <p:cNvPr id="21" name="Chart Note 21"/>
            <p:cNvSpPr txBox="1"/>
            <p:nvPr/>
          </p:nvSpPr>
          <p:spPr>
            <a:xfrm>
              <a:off x="6649402" y="2771775"/>
              <a:ext cx="666750" cy="304800"/>
            </a:xfrm>
            <a:prstGeom prst="rect">
              <a:avLst/>
            </a:prstGeom>
            <a:noFill/>
            <a:ln>
              <a:noFill/>
            </a:ln>
          </p:spPr>
          <p:txBody>
            <a:bodyPr wrap="square" lIns="0" tIns="0" rIns="0" bIns="0" anchor="b" anchorCtr="0"/>
            <a:lstStyle/>
            <a:p>
              <a:pPr algn="ctr"/>
              <a:r>
                <a:rPr lang="ru-RU" sz="1500" b="1">
                  <a:solidFill>
                    <a:srgbClr val="1B2B3A"/>
                  </a:solidFill>
                  <a:latin typeface="Arial"/>
                  <a:ea typeface="Microsoft YaHei"/>
                  <a:cs typeface="Arial"/>
                </a:rPr>
                <a:t>12,3</a:t>
              </a:r>
            </a:p>
          </p:txBody>
        </p:sp>
        <p:sp>
          <p:nvSpPr>
            <p:cNvPr id="22" name="Chart Note 22"/>
            <p:cNvSpPr txBox="1"/>
            <p:nvPr/>
          </p:nvSpPr>
          <p:spPr>
            <a:xfrm>
              <a:off x="7423785" y="2524125"/>
              <a:ext cx="666750" cy="304800"/>
            </a:xfrm>
            <a:prstGeom prst="rect">
              <a:avLst/>
            </a:prstGeom>
            <a:noFill/>
            <a:ln>
              <a:noFill/>
            </a:ln>
          </p:spPr>
          <p:txBody>
            <a:bodyPr wrap="square" lIns="0" tIns="0" rIns="0" bIns="0" anchor="b" anchorCtr="0"/>
            <a:lstStyle/>
            <a:p>
              <a:pPr algn="ctr"/>
              <a:r>
                <a:rPr lang="ru-RU" sz="1500" b="1">
                  <a:solidFill>
                    <a:srgbClr val="1B2B3A"/>
                  </a:solidFill>
                  <a:latin typeface="Arial"/>
                  <a:ea typeface="Microsoft YaHei"/>
                  <a:cs typeface="Arial"/>
                </a:rPr>
                <a:t>13,7</a:t>
              </a:r>
            </a:p>
          </p:txBody>
        </p:sp>
        <p:sp>
          <p:nvSpPr>
            <p:cNvPr id="23" name="Chart Note 23"/>
            <p:cNvSpPr txBox="1"/>
            <p:nvPr/>
          </p:nvSpPr>
          <p:spPr>
            <a:xfrm>
              <a:off x="8197215" y="2714625"/>
              <a:ext cx="666750" cy="304800"/>
            </a:xfrm>
            <a:prstGeom prst="rect">
              <a:avLst/>
            </a:prstGeom>
            <a:noFill/>
            <a:ln>
              <a:noFill/>
            </a:ln>
          </p:spPr>
          <p:txBody>
            <a:bodyPr wrap="square" lIns="0" tIns="0" rIns="0" bIns="0" anchor="b" anchorCtr="0"/>
            <a:lstStyle/>
            <a:p>
              <a:pPr algn="ctr"/>
              <a:r>
                <a:rPr lang="ru-RU" sz="1500" b="1">
                  <a:solidFill>
                    <a:srgbClr val="2E6F8E"/>
                  </a:solidFill>
                  <a:latin typeface="Arial"/>
                  <a:ea typeface="Microsoft YaHei"/>
                  <a:cs typeface="Arial"/>
                </a:rPr>
                <a:t>12,6</a:t>
              </a:r>
            </a:p>
          </p:txBody>
        </p:sp>
        <p:sp>
          <p:nvSpPr>
            <p:cNvPr id="24" name="Chart Note 24"/>
            <p:cNvSpPr txBox="1"/>
            <p:nvPr/>
          </p:nvSpPr>
          <p:spPr>
            <a:xfrm>
              <a:off x="8971598" y="2562225"/>
              <a:ext cx="666750" cy="304800"/>
            </a:xfrm>
            <a:prstGeom prst="rect">
              <a:avLst/>
            </a:prstGeom>
            <a:noFill/>
            <a:ln>
              <a:noFill/>
            </a:ln>
          </p:spPr>
          <p:txBody>
            <a:bodyPr wrap="square" lIns="0" tIns="0" rIns="0" bIns="0" anchor="b" anchorCtr="0"/>
            <a:lstStyle/>
            <a:p>
              <a:pPr algn="ctr"/>
              <a:r>
                <a:rPr lang="ru-RU" sz="1500" b="1">
                  <a:solidFill>
                    <a:srgbClr val="1B2B3A"/>
                  </a:solidFill>
                  <a:latin typeface="Arial"/>
                  <a:ea typeface="Microsoft YaHei"/>
                  <a:cs typeface="Arial"/>
                </a:rPr>
                <a:t>13,5</a:t>
              </a:r>
            </a:p>
          </p:txBody>
        </p:sp>
        <p:sp>
          <p:nvSpPr>
            <p:cNvPr id="25" name="Chart Note 25"/>
            <p:cNvSpPr txBox="1"/>
            <p:nvPr/>
          </p:nvSpPr>
          <p:spPr>
            <a:xfrm>
              <a:off x="9745028" y="2200275"/>
              <a:ext cx="666750" cy="304800"/>
            </a:xfrm>
            <a:prstGeom prst="rect">
              <a:avLst/>
            </a:prstGeom>
            <a:noFill/>
            <a:ln>
              <a:noFill/>
            </a:ln>
          </p:spPr>
          <p:txBody>
            <a:bodyPr wrap="square" lIns="0" tIns="0" rIns="0" bIns="0" anchor="b" anchorCtr="0"/>
            <a:lstStyle/>
            <a:p>
              <a:pPr algn="ctr"/>
              <a:r>
                <a:rPr lang="ru-RU" sz="1500" b="1">
                  <a:solidFill>
                    <a:srgbClr val="1B2B3A"/>
                  </a:solidFill>
                  <a:latin typeface="Arial"/>
                  <a:ea typeface="Microsoft YaHei"/>
                  <a:cs typeface="Arial"/>
                </a:rPr>
                <a:t>15,5</a:t>
              </a:r>
            </a:p>
          </p:txBody>
        </p:sp>
        <p:sp>
          <p:nvSpPr>
            <p:cNvPr id="26" name="Chart Note 26"/>
            <p:cNvSpPr txBox="1"/>
            <p:nvPr/>
          </p:nvSpPr>
          <p:spPr>
            <a:xfrm>
              <a:off x="10519410" y="1895475"/>
              <a:ext cx="666750" cy="304800"/>
            </a:xfrm>
            <a:prstGeom prst="rect">
              <a:avLst/>
            </a:prstGeom>
            <a:noFill/>
            <a:ln>
              <a:noFill/>
            </a:ln>
          </p:spPr>
          <p:txBody>
            <a:bodyPr wrap="square" lIns="0" tIns="0" rIns="0" bIns="0" anchor="b" anchorCtr="0"/>
            <a:lstStyle/>
            <a:p>
              <a:pPr algn="ctr"/>
              <a:r>
                <a:rPr lang="ru-RU" sz="1500" b="1">
                  <a:solidFill>
                    <a:srgbClr val="B3121B"/>
                  </a:solidFill>
                  <a:latin typeface="Arial"/>
                  <a:ea typeface="Microsoft YaHei"/>
                  <a:cs typeface="Arial"/>
                </a:rPr>
                <a:t>17,2</a:t>
              </a:r>
            </a:p>
          </p:txBody>
        </p:sp>
      </p:grpSp>
      <p:grpSp>
        <p:nvGrpSpPr>
          <p:cNvPr id="30" name="page-footer"/>
          <p:cNvGrpSpPr/>
          <p:nvPr/>
        </p:nvGrpSpPr>
        <p:grpSpPr>
          <a:xfrm>
            <a:off x="679704" y="6442710"/>
            <a:ext cx="10832592" cy="234696"/>
            <a:chOff x="679704" y="6442710"/>
            <a:chExt cx="10832592" cy="234696"/>
          </a:xfrm>
        </p:grpSpPr>
        <p:sp>
          <p:nvSpPr>
            <p:cNvPr id="28" name="TextBox 28"/>
            <p:cNvSpPr txBox="1"/>
            <p:nvPr/>
          </p:nvSpPr>
          <p:spPr>
            <a:xfrm>
              <a:off x="679704" y="6442710"/>
              <a:ext cx="7147184" cy="234696"/>
            </a:xfrm>
            <a:prstGeom prst="rect">
              <a:avLst/>
            </a:prstGeom>
            <a:noFill/>
            <a:ln>
              <a:noFill/>
            </a:ln>
          </p:spPr>
          <p:txBody>
            <a:bodyPr wrap="none" lIns="0" tIns="0" rIns="0" bIns="0" anchor="t" anchorCtr="0">
              <a:spAutoFit/>
            </a:bodyPr>
            <a:lstStyle/>
            <a:p>
              <a:pPr algn="l"/>
              <a:r>
                <a:rPr lang="ru-RU" sz="1200" dirty="0">
                  <a:solidFill>
                    <a:schemeClr val="accent5"/>
                  </a:solidFill>
                  <a:latin typeface="+mn-lt"/>
                  <a:ea typeface="+mn-ea"/>
                  <a:cs typeface="+mn-cs"/>
                </a:rPr>
                <a:t>Всемирный банк, SP.POP.65UP.TO.ZS, избранные годы 1991–2024 · прирост в п. п. — расчёт</a:t>
              </a:r>
            </a:p>
          </p:txBody>
        </p:sp>
        <p:sp>
          <p:nvSpPr>
            <p:cNvPr id="29" name="TextBox 29"/>
            <p:cNvSpPr txBox="1"/>
            <p:nvPr/>
          </p:nvSpPr>
          <p:spPr>
            <a:xfrm>
              <a:off x="11320402" y="6442710"/>
              <a:ext cx="191894" cy="234696"/>
            </a:xfrm>
            <a:prstGeom prst="rect">
              <a:avLst/>
            </a:prstGeom>
            <a:noFill/>
            <a:ln>
              <a:noFill/>
            </a:ln>
          </p:spPr>
          <p:txBody>
            <a:bodyPr wrap="none" lIns="0" tIns="0" rIns="0" bIns="0" anchor="t" anchorCtr="0">
              <a:spAutoFit/>
            </a:bodyPr>
            <a:lstStyle/>
            <a:p>
              <a:pPr algn="r"/>
              <a:r>
                <a:rPr lang="ru-RU" sz="1200" dirty="0">
                  <a:solidFill>
                    <a:schemeClr val="accent5"/>
                  </a:solidFill>
                  <a:latin typeface="+mn-lt"/>
                  <a:ea typeface="+mn-ea"/>
                  <a:cs typeface="+mn-cs"/>
                </a:rPr>
                <a:t>10</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par>
                          <p:cTn id="8" fill="hold">
                            <p:stCondLst>
                              <p:cond delay="400"/>
                            </p:stCondLst>
                            <p:childTnLst>
                              <p:par>
                                <p:cTn xmlns:p="http://schemas.openxmlformats.org/presentationml/2006/main" id="9" presetID="22" presetClass="entr" presetSubtype="1" fill="hold" grpId="0" nodeType="afterEffect">
                                  <p:stCondLst>
                                    <p:cond delay="500"/>
                                  </p:stCondLst>
                                  <p:childTnLst>
                                    <p:set>
                                      <p:cBhvr>
                                        <p:cTn id="10" dur="1" fill="hold">
                                          <p:stCondLst>
                                            <p:cond delay="0"/>
                                          </p:stCondLst>
                                        </p:cTn>
                                        <p:tgtEl>
                                          <p:spTgt spid="27"/>
                                        </p:tgtEl>
                                        <p:attrNameLst>
                                          <p:attrName>style.visibility</p:attrName>
                                        </p:attrNameLst>
                                      </p:cBhvr>
                                      <p:to>
                                        <p:strVal val="visible"/>
                                      </p:to>
                                    </p:set>
                                    <p:animEffect transition="in" filter="wipe(up)">
                                      <p:cBhvr>
                                        <p:cTn id="11" dur="1000"/>
                                        <p:tgtEl>
                                          <p:spTgt spid="27"/>
                                        </p:tgtEl>
                                      </p:cBhvr>
                                    </p:animEffect>
                                  </p:childTnLst>
                                </p:cTn>
                              </p:par>
                            </p:childTnLst>
                          </p:cTn>
                        </p:par>
                        <p:par>
                          <p:cTn id="12" fill="hold">
                            <p:stCondLst>
                              <p:cond delay="1900"/>
                            </p:stCondLst>
                            <p:childTnLst>
                              <p:par>
                                <p:cTn xmlns:p="http://schemas.openxmlformats.org/presentationml/2006/main" id="13" presetID="10" presetClass="entr" presetSubtype="0" fill="hold" grpId="0" nodeType="afterEffect">
                                  <p:stCondLst>
                                    <p:cond delay="50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age-header"/>
          <p:cNvGrpSpPr/>
          <p:nvPr/>
        </p:nvGrpSpPr>
        <p:grpSpPr>
          <a:xfrm>
            <a:off x="670560" y="590550"/>
            <a:ext cx="8814971" cy="888873"/>
            <a:chOff x="670560" y="590550"/>
            <a:chExt cx="8814971" cy="888873"/>
          </a:xfrm>
        </p:grpSpPr>
        <p:sp>
          <p:nvSpPr>
            <p:cNvPr id="2" name="TextBox 2"/>
            <p:cNvSpPr txBox="1"/>
            <p:nvPr/>
          </p:nvSpPr>
          <p:spPr>
            <a:xfrm>
              <a:off x="670560" y="590550"/>
              <a:ext cx="8814971" cy="586740"/>
            </a:xfrm>
            <a:prstGeom prst="rect">
              <a:avLst/>
            </a:prstGeom>
            <a:noFill/>
            <a:ln>
              <a:noFill/>
            </a:ln>
          </p:spPr>
          <p:txBody>
            <a:bodyPr wrap="none" lIns="0" tIns="0" rIns="0" bIns="0" anchor="t" anchorCtr="0">
              <a:spAutoFit/>
            </a:bodyPr>
            <a:lstStyle/>
            <a:p>
              <a:pPr algn="l"/>
              <a:r>
                <a:rPr lang="ru-RU" sz="3000" b="1" dirty="0">
                  <a:solidFill>
                    <a:schemeClr val="accent1"/>
                  </a:solidFill>
                  <a:latin typeface="+mj-lt"/>
                  <a:ea typeface="+mj-ea"/>
                  <a:cs typeface="+mj-cs"/>
                </a:rPr>
                <a:t>Городское население: +1,4 п. п. за 33 года</a:t>
              </a:r>
            </a:p>
          </p:txBody>
        </p:sp>
        <p:sp>
          <p:nvSpPr>
            <p:cNvPr id="3" name="TextBox 3"/>
            <p:cNvSpPr txBox="1"/>
            <p:nvPr/>
          </p:nvSpPr>
          <p:spPr>
            <a:xfrm>
              <a:off x="675132" y="1068705"/>
              <a:ext cx="7343339" cy="410718"/>
            </a:xfrm>
            <a:prstGeom prst="rect">
              <a:avLst/>
            </a:prstGeom>
            <a:noFill/>
            <a:ln>
              <a:noFill/>
            </a:ln>
          </p:spPr>
          <p:txBody>
            <a:bodyPr wrap="none" lIns="0" tIns="0" rIns="0" bIns="0" anchor="t" anchorCtr="0">
              <a:spAutoFit/>
            </a:bodyPr>
            <a:lstStyle/>
            <a:p>
              <a:pPr algn="l"/>
              <a:r>
                <a:rPr lang="ru-RU" sz="2100" dirty="0">
                  <a:solidFill>
                    <a:schemeClr val="dk1"/>
                  </a:solidFill>
                  <a:latin typeface="+mn-lt"/>
                  <a:ea typeface="+mn-ea"/>
                  <a:cs typeface="+mn-cs"/>
                </a:rPr>
                <a:t>Структура расселения за период почти не изменилась</a:t>
              </a:r>
            </a:p>
          </p:txBody>
        </p:sp>
      </p:grpSp>
      <p:grpSp>
        <p:nvGrpSpPr>
          <p:cNvPr id="18" name="urban-note"/>
          <p:cNvGrpSpPr/>
          <p:nvPr/>
        </p:nvGrpSpPr>
        <p:grpSpPr>
          <a:xfrm>
            <a:off x="666750" y="1971675"/>
            <a:ext cx="3613942" cy="3194876"/>
            <a:chOff x="666750" y="1971675"/>
            <a:chExt cx="3613942" cy="3194876"/>
          </a:xfrm>
        </p:grpSpPr>
        <p:grpSp>
          <p:nvGrpSpPr>
            <p:cNvPr id="12" name="Group 12"/>
            <p:cNvGrpSpPr/>
            <p:nvPr/>
          </p:nvGrpSpPr>
          <p:grpSpPr>
            <a:xfrm>
              <a:off x="752475" y="1971675"/>
              <a:ext cx="400049" cy="409574"/>
              <a:chOff x="752475" y="1971675"/>
              <a:chExt cx="400049" cy="409574"/>
            </a:xfrm>
          </p:grpSpPr>
          <p:sp>
            <p:nvSpPr>
              <p:cNvPr id="5" name="Freeform 5"/>
              <p:cNvSpPr/>
              <p:nvPr/>
            </p:nvSpPr>
            <p:spPr>
              <a:xfrm>
                <a:off x="752475" y="2371724"/>
                <a:ext cx="400049" cy="9525"/>
              </a:xfrm>
              <a:custGeom>
                <a:avLst/>
                <a:gdLst/>
                <a:ahLst/>
                <a:cxnLst/>
                <a:rect l="l" t="t" r="r" b="b"/>
                <a:pathLst>
                  <a:path w="400049" h="9525">
                    <a:moveTo>
                      <a:pt x="0" y="0"/>
                    </a:moveTo>
                    <a:lnTo>
                      <a:pt x="400049" y="0"/>
                    </a:lnTo>
                  </a:path>
                </a:pathLst>
              </a:custGeom>
              <a:noFill/>
              <a:ln w="44450">
                <a:solidFill>
                  <a:schemeClr val="accent3"/>
                </a:solidFill>
              </a:ln>
            </p:spPr>
          </p:sp>
          <p:sp>
            <p:nvSpPr>
              <p:cNvPr id="6" name="Freeform 6"/>
              <p:cNvSpPr/>
              <p:nvPr/>
            </p:nvSpPr>
            <p:spPr>
              <a:xfrm>
                <a:off x="796925" y="1971675"/>
                <a:ext cx="177800" cy="400049"/>
              </a:xfrm>
              <a:custGeom>
                <a:avLst/>
                <a:gdLst/>
                <a:ahLst/>
                <a:cxnLst/>
                <a:rect l="l" t="t" r="r" b="b"/>
                <a:pathLst>
                  <a:path w="177800" h="400049">
                    <a:moveTo>
                      <a:pt x="0" y="400049"/>
                    </a:moveTo>
                    <a:lnTo>
                      <a:pt x="0" y="88900"/>
                    </a:lnTo>
                    <a:lnTo>
                      <a:pt x="177800" y="0"/>
                    </a:lnTo>
                    <a:lnTo>
                      <a:pt x="177800" y="400049"/>
                    </a:lnTo>
                  </a:path>
                </a:pathLst>
              </a:custGeom>
              <a:noFill/>
              <a:ln w="44450">
                <a:solidFill>
                  <a:schemeClr val="accent3"/>
                </a:solidFill>
              </a:ln>
            </p:spPr>
          </p:sp>
          <p:sp>
            <p:nvSpPr>
              <p:cNvPr id="7" name="Freeform 7"/>
              <p:cNvSpPr/>
              <p:nvPr/>
            </p:nvSpPr>
            <p:spPr>
              <a:xfrm>
                <a:off x="974725" y="2060575"/>
                <a:ext cx="133350" cy="311150"/>
              </a:xfrm>
              <a:custGeom>
                <a:avLst/>
                <a:gdLst/>
                <a:ahLst/>
                <a:cxnLst/>
                <a:rect l="l" t="t" r="r" b="b"/>
                <a:pathLst>
                  <a:path w="133350" h="311150">
                    <a:moveTo>
                      <a:pt x="133350" y="311150"/>
                    </a:moveTo>
                    <a:lnTo>
                      <a:pt x="133350" y="88900"/>
                    </a:lnTo>
                    <a:lnTo>
                      <a:pt x="0" y="0"/>
                    </a:lnTo>
                  </a:path>
                </a:pathLst>
              </a:custGeom>
              <a:noFill/>
              <a:ln w="44450">
                <a:solidFill>
                  <a:schemeClr val="accent3"/>
                </a:solidFill>
              </a:ln>
            </p:spPr>
          </p:sp>
          <p:sp>
            <p:nvSpPr>
              <p:cNvPr id="8" name="Freeform 8"/>
              <p:cNvSpPr/>
              <p:nvPr/>
            </p:nvSpPr>
            <p:spPr>
              <a:xfrm>
                <a:off x="885825" y="2105025"/>
                <a:ext cx="9525" cy="9525"/>
              </a:xfrm>
              <a:custGeom>
                <a:avLst/>
                <a:gdLst/>
                <a:ahLst/>
                <a:cxnLst/>
                <a:rect l="l" t="t" r="r" b="b"/>
                <a:pathLst>
                  <a:path w="9525" h="9525">
                    <a:moveTo>
                      <a:pt x="0" y="0"/>
                    </a:moveTo>
                    <a:lnTo>
                      <a:pt x="0" y="222"/>
                    </a:lnTo>
                  </a:path>
                </a:pathLst>
              </a:custGeom>
              <a:noFill/>
              <a:ln w="44450">
                <a:solidFill>
                  <a:schemeClr val="accent3"/>
                </a:solidFill>
              </a:ln>
            </p:spPr>
          </p:sp>
          <p:sp>
            <p:nvSpPr>
              <p:cNvPr id="9" name="Freeform 9"/>
              <p:cNvSpPr/>
              <p:nvPr/>
            </p:nvSpPr>
            <p:spPr>
              <a:xfrm>
                <a:off x="885825" y="2171700"/>
                <a:ext cx="9525" cy="9525"/>
              </a:xfrm>
              <a:custGeom>
                <a:avLst/>
                <a:gdLst/>
                <a:ahLst/>
                <a:cxnLst/>
                <a:rect l="l" t="t" r="r" b="b"/>
                <a:pathLst>
                  <a:path w="9525" h="9525">
                    <a:moveTo>
                      <a:pt x="0" y="0"/>
                    </a:moveTo>
                    <a:lnTo>
                      <a:pt x="0" y="222"/>
                    </a:lnTo>
                  </a:path>
                </a:pathLst>
              </a:custGeom>
              <a:noFill/>
              <a:ln w="44450">
                <a:solidFill>
                  <a:schemeClr val="accent3"/>
                </a:solidFill>
              </a:ln>
            </p:spPr>
          </p:sp>
          <p:sp>
            <p:nvSpPr>
              <p:cNvPr id="10" name="Freeform 10"/>
              <p:cNvSpPr/>
              <p:nvPr/>
            </p:nvSpPr>
            <p:spPr>
              <a:xfrm>
                <a:off x="885825" y="2238375"/>
                <a:ext cx="9525" cy="9525"/>
              </a:xfrm>
              <a:custGeom>
                <a:avLst/>
                <a:gdLst/>
                <a:ahLst/>
                <a:cxnLst/>
                <a:rect l="l" t="t" r="r" b="b"/>
                <a:pathLst>
                  <a:path w="9525" h="9525">
                    <a:moveTo>
                      <a:pt x="0" y="0"/>
                    </a:moveTo>
                    <a:lnTo>
                      <a:pt x="0" y="222"/>
                    </a:lnTo>
                  </a:path>
                </a:pathLst>
              </a:custGeom>
              <a:noFill/>
              <a:ln w="44450">
                <a:solidFill>
                  <a:schemeClr val="accent3"/>
                </a:solidFill>
              </a:ln>
            </p:spPr>
          </p:sp>
          <p:sp>
            <p:nvSpPr>
              <p:cNvPr id="11" name="Freeform 11"/>
              <p:cNvSpPr/>
              <p:nvPr/>
            </p:nvSpPr>
            <p:spPr>
              <a:xfrm>
                <a:off x="885825" y="2305049"/>
                <a:ext cx="9525" cy="9525"/>
              </a:xfrm>
              <a:custGeom>
                <a:avLst/>
                <a:gdLst/>
                <a:ahLst/>
                <a:cxnLst/>
                <a:rect l="l" t="t" r="r" b="b"/>
                <a:pathLst>
                  <a:path w="9525" h="9525">
                    <a:moveTo>
                      <a:pt x="0" y="0"/>
                    </a:moveTo>
                    <a:lnTo>
                      <a:pt x="0" y="222"/>
                    </a:lnTo>
                  </a:path>
                </a:pathLst>
              </a:custGeom>
              <a:noFill/>
              <a:ln w="44450">
                <a:solidFill>
                  <a:schemeClr val="accent3"/>
                </a:solidFill>
              </a:ln>
            </p:spPr>
          </p:sp>
        </p:grpSp>
        <p:sp>
          <p:nvSpPr>
            <p:cNvPr id="13" name="TextBox 13"/>
            <p:cNvSpPr txBox="1"/>
            <p:nvPr/>
          </p:nvSpPr>
          <p:spPr>
            <a:xfrm>
              <a:off x="678942" y="2711768"/>
              <a:ext cx="2299877" cy="264033"/>
            </a:xfrm>
            <a:prstGeom prst="rect">
              <a:avLst/>
            </a:prstGeom>
            <a:noFill/>
            <a:ln>
              <a:noFill/>
            </a:ln>
          </p:spPr>
          <p:txBody>
            <a:bodyPr wrap="none" lIns="0" tIns="0" rIns="0" bIns="0" anchor="t" anchorCtr="0">
              <a:spAutoFit/>
            </a:bodyPr>
            <a:lstStyle/>
            <a:p>
              <a:pPr algn="l"/>
              <a:r>
                <a:rPr lang="ru-RU" sz="1350" spc="150" dirty="0">
                  <a:solidFill>
                    <a:schemeClr val="accent5"/>
                  </a:solidFill>
                  <a:latin typeface="+mn-lt"/>
                  <a:ea typeface="+mn-ea"/>
                  <a:cs typeface="+mn-cs"/>
                </a:rPr>
                <a:t>ИЗМЕНЕНИЕ ЗА ПЕРИОД</a:t>
              </a:r>
            </a:p>
          </p:txBody>
        </p:sp>
        <p:sp>
          <p:nvSpPr>
            <p:cNvPr id="14" name="TextBox 14"/>
            <p:cNvSpPr txBox="1"/>
            <p:nvPr/>
          </p:nvSpPr>
          <p:spPr>
            <a:xfrm>
              <a:off x="666750" y="2872740"/>
              <a:ext cx="2751903" cy="933450"/>
            </a:xfrm>
            <a:prstGeom prst="rect">
              <a:avLst/>
            </a:prstGeom>
            <a:noFill/>
            <a:ln>
              <a:noFill/>
            </a:ln>
          </p:spPr>
          <p:txBody>
            <a:bodyPr wrap="none" lIns="0" tIns="0" rIns="0" bIns="0" anchor="t" anchorCtr="0">
              <a:spAutoFit/>
            </a:bodyPr>
            <a:lstStyle/>
            <a:p>
              <a:pPr algn="l"/>
              <a:r>
                <a:rPr lang="ru-RU" sz="4800" b="1" dirty="0">
                  <a:solidFill>
                    <a:schemeClr val="accent3"/>
                  </a:solidFill>
                  <a:latin typeface="+mj-lt"/>
                  <a:ea typeface="+mj-ea"/>
                  <a:cs typeface="+mj-cs"/>
                </a:rPr>
                <a:t>+1,4 п. п.</a:t>
              </a:r>
            </a:p>
          </p:txBody>
        </p:sp>
        <p:sp>
          <p:nvSpPr>
            <p:cNvPr id="15" name="TextBox 15"/>
            <p:cNvSpPr txBox="1"/>
            <p:nvPr/>
          </p:nvSpPr>
          <p:spPr>
            <a:xfrm>
              <a:off x="678942" y="3569018"/>
              <a:ext cx="3601750" cy="264033"/>
            </a:xfrm>
            <a:prstGeom prst="rect">
              <a:avLst/>
            </a:prstGeom>
            <a:noFill/>
            <a:ln>
              <a:noFill/>
            </a:ln>
          </p:spPr>
          <p:txBody>
            <a:bodyPr wrap="none" lIns="0" tIns="0" rIns="0" bIns="0" anchor="t" anchorCtr="0">
              <a:spAutoFit/>
            </a:bodyPr>
            <a:lstStyle/>
            <a:p>
              <a:pPr algn="l"/>
              <a:r>
                <a:rPr lang="ru-RU" sz="1350" dirty="0">
                  <a:solidFill>
                    <a:schemeClr val="dk1"/>
                  </a:solidFill>
                  <a:latin typeface="+mn-lt"/>
                  <a:ea typeface="+mn-ea"/>
                  <a:cs typeface="+mn-cs"/>
                </a:rPr>
                <a:t>из них +2,2 п. п. после 1995 года (расчёт)</a:t>
              </a:r>
            </a:p>
          </p:txBody>
        </p:sp>
        <p:sp>
          <p:nvSpPr>
            <p:cNvPr id="16" name="Rectangle 16"/>
            <p:cNvSpPr/>
            <p:nvPr/>
          </p:nvSpPr>
          <p:spPr>
            <a:xfrm>
              <a:off x="685800" y="3943350"/>
              <a:ext cx="2286000" cy="38100"/>
            </a:xfrm>
            <a:prstGeom prst="rect">
              <a:avLst/>
            </a:prstGeom>
            <a:gradFill>
              <a:gsLst>
                <a:gs pos="0">
                  <a:schemeClr val="accent1"/>
                </a:gs>
                <a:gs pos="100000">
                  <a:schemeClr val="accent3"/>
                </a:gs>
              </a:gsLst>
              <a:lin ang="0" scaled="1"/>
            </a:gradFill>
            <a:ln>
              <a:noFill/>
            </a:ln>
          </p:spPr>
        </p:sp>
        <p:sp>
          <p:nvSpPr>
            <p:cNvPr id="17" name="TextBox 17"/>
            <p:cNvSpPr txBox="1"/>
            <p:nvPr/>
          </p:nvSpPr>
          <p:spPr>
            <a:xfrm>
              <a:off x="678942" y="4159568"/>
              <a:ext cx="3316049" cy="1006983"/>
            </a:xfrm>
            <a:prstGeom prst="rect">
              <a:avLst/>
            </a:prstGeom>
            <a:noFill/>
            <a:ln>
              <a:noFill/>
            </a:ln>
          </p:spPr>
          <p:txBody>
            <a:bodyPr wrap="none" lIns="0" tIns="0" rIns="0" bIns="0" anchor="t" anchorCtr="0">
              <a:spAutoFit/>
            </a:bodyPr>
            <a:lstStyle/>
            <a:p>
              <a:pPr algn="l">
                <a:lnSpc>
                  <a:spcPts val="1950"/>
                </a:lnSpc>
              </a:pPr>
              <a:r>
                <a:rPr lang="ru-RU" sz="1350" dirty="0">
                  <a:solidFill>
                    <a:schemeClr val="accent5"/>
                  </a:solidFill>
                  <a:latin typeface="+mn-lt"/>
                  <a:ea typeface="+mn-ea"/>
                  <a:cs typeface="+mn-cs"/>
                </a:rPr>
                <a:t>При сокращении общей численности доля</a:t>
              </a:r>
              <a:br/>
              <a:r>
                <a:rPr lang="ru-RU" sz="1350" dirty="0">
                  <a:solidFill>
                    <a:schemeClr val="accent5"/>
                  </a:solidFill>
                  <a:latin typeface="+mn-lt"/>
                  <a:ea typeface="+mn-ea"/>
                  <a:cs typeface="+mn-cs"/>
                </a:rPr>
                <a:t>города росла, а абсолютное число и</a:t>
              </a:r>
              <a:br/>
              <a:r>
                <a:rPr lang="ru-RU" sz="1350" dirty="0">
                  <a:solidFill>
                    <a:schemeClr val="accent5"/>
                  </a:solidFill>
                  <a:latin typeface="+mn-lt"/>
                  <a:ea typeface="+mn-ea"/>
                  <a:cs typeface="+mn-cs"/>
                </a:rPr>
                <a:t>городских, и сельских жителей</a:t>
              </a:r>
              <a:br/>
              <a:r>
                <a:rPr lang="ru-RU" sz="1350" dirty="0">
                  <a:solidFill>
                    <a:schemeClr val="accent5"/>
                  </a:solidFill>
                  <a:latin typeface="+mn-lt"/>
                  <a:ea typeface="+mn-ea"/>
                  <a:cs typeface="+mn-cs"/>
                </a:rPr>
                <a:t>снижалось (расчёт).</a:t>
              </a:r>
            </a:p>
          </p:txBody>
        </p:sp>
      </p:grpSp>
      <p:grpSp>
        <p:nvGrpSpPr>
          <p:cNvPr id="31" name="urban-panel"/>
          <p:cNvGrpSpPr/>
          <p:nvPr/>
        </p:nvGrpSpPr>
        <p:grpSpPr>
          <a:xfrm>
            <a:off x="6286500" y="1866900"/>
            <a:ext cx="5219700" cy="3810000"/>
            <a:chOff x="6286500" y="1866900"/>
            <a:chExt cx="5219700" cy="3810000"/>
          </a:xfrm>
        </p:grpSpPr>
        <p:sp>
          <p:nvSpPr>
            <p:cNvPr id="19" name="Freeform 19"/>
            <p:cNvSpPr/>
            <p:nvPr/>
          </p:nvSpPr>
          <p:spPr>
            <a:xfrm>
              <a:off x="6286500" y="1866900"/>
              <a:ext cx="5219700" cy="3810000"/>
            </a:xfrm>
            <a:prstGeom prst="snip2DiagRect">
              <a:avLst>
                <a:gd name="adj1" fmla="val 9000"/>
                <a:gd name="adj2" fmla="val 0"/>
              </a:avLst>
            </a:prstGeom>
            <a:solidFill>
              <a:schemeClr val="lt2"/>
            </a:solidFill>
            <a:ln>
              <a:noFill/>
            </a:ln>
          </p:spPr>
        </p:sp>
        <p:sp>
          <p:nvSpPr>
            <p:cNvPr id="20" name="TextBox 20"/>
            <p:cNvSpPr txBox="1"/>
            <p:nvPr/>
          </p:nvSpPr>
          <p:spPr>
            <a:xfrm>
              <a:off x="6660642" y="2197418"/>
              <a:ext cx="960467" cy="264033"/>
            </a:xfrm>
            <a:prstGeom prst="rect">
              <a:avLst/>
            </a:prstGeom>
            <a:noFill/>
            <a:ln>
              <a:noFill/>
            </a:ln>
          </p:spPr>
          <p:txBody>
            <a:bodyPr wrap="none" lIns="0" tIns="0" rIns="0" bIns="0" anchor="t" anchorCtr="0">
              <a:spAutoFit/>
            </a:bodyPr>
            <a:lstStyle/>
            <a:p>
              <a:pPr algn="l"/>
              <a:r>
                <a:rPr lang="ru-RU" sz="1350" spc="150" dirty="0">
                  <a:solidFill>
                    <a:schemeClr val="accent5"/>
                  </a:solidFill>
                  <a:latin typeface="+mn-lt"/>
                  <a:ea typeface="+mn-ea"/>
                  <a:cs typeface="+mn-cs"/>
                </a:rPr>
                <a:t>2024 ГОД</a:t>
              </a:r>
            </a:p>
          </p:txBody>
        </p:sp>
        <p:sp>
          <p:nvSpPr>
            <p:cNvPr id="21" name="TextBox 21"/>
            <p:cNvSpPr txBox="1"/>
            <p:nvPr/>
          </p:nvSpPr>
          <p:spPr>
            <a:xfrm>
              <a:off x="6648450" y="2625090"/>
              <a:ext cx="2086356" cy="933450"/>
            </a:xfrm>
            <a:prstGeom prst="rect">
              <a:avLst/>
            </a:prstGeom>
            <a:noFill/>
            <a:ln>
              <a:noFill/>
            </a:ln>
          </p:spPr>
          <p:txBody>
            <a:bodyPr wrap="none" lIns="0" tIns="0" rIns="0" bIns="0" anchor="t" anchorCtr="0">
              <a:spAutoFit/>
            </a:bodyPr>
            <a:lstStyle/>
            <a:p>
              <a:pPr algn="l"/>
              <a:r>
                <a:rPr lang="ru-RU" sz="4800" b="1" dirty="0">
                  <a:solidFill>
                    <a:schemeClr val="accent1"/>
                  </a:solidFill>
                  <a:latin typeface="+mj-lt"/>
                  <a:ea typeface="+mj-ea"/>
                  <a:cs typeface="+mj-cs"/>
                </a:rPr>
                <a:t>75,1 %</a:t>
              </a:r>
            </a:p>
          </p:txBody>
        </p:sp>
        <p:sp>
          <p:nvSpPr>
            <p:cNvPr id="22" name="TextBox 22"/>
            <p:cNvSpPr txBox="1"/>
            <p:nvPr/>
          </p:nvSpPr>
          <p:spPr>
            <a:xfrm>
              <a:off x="6660642" y="3321368"/>
              <a:ext cx="1963354" cy="264033"/>
            </a:xfrm>
            <a:prstGeom prst="rect">
              <a:avLst/>
            </a:prstGeom>
            <a:noFill/>
            <a:ln>
              <a:noFill/>
            </a:ln>
          </p:spPr>
          <p:txBody>
            <a:bodyPr wrap="none" lIns="0" tIns="0" rIns="0" bIns="0" anchor="t" anchorCtr="0">
              <a:spAutoFit/>
            </a:bodyPr>
            <a:lstStyle/>
            <a:p>
              <a:pPr algn="l"/>
              <a:r>
                <a:rPr lang="ru-RU" sz="1350" dirty="0">
                  <a:solidFill>
                    <a:schemeClr val="dk1"/>
                  </a:solidFill>
                  <a:latin typeface="+mn-lt"/>
                  <a:ea typeface="+mn-ea"/>
                  <a:cs typeface="+mn-cs"/>
                </a:rPr>
                <a:t>городского населения</a:t>
              </a:r>
            </a:p>
          </p:txBody>
        </p:sp>
        <p:sp>
          <p:nvSpPr>
            <p:cNvPr id="23" name="Line 23"/>
            <p:cNvSpPr/>
            <p:nvPr/>
          </p:nvSpPr>
          <p:spPr>
            <a:xfrm>
              <a:off x="6667500" y="3733800"/>
              <a:ext cx="4457700" cy="9525"/>
            </a:xfrm>
            <a:custGeom>
              <a:avLst/>
              <a:gdLst/>
              <a:ahLst/>
              <a:cxnLst/>
              <a:rect l="l" t="t" r="r" b="b"/>
              <a:pathLst>
                <a:path w="4457700" h="9525">
                  <a:moveTo>
                    <a:pt x="0" y="0"/>
                  </a:moveTo>
                  <a:lnTo>
                    <a:pt x="4457700" y="0"/>
                  </a:lnTo>
                </a:path>
              </a:pathLst>
            </a:custGeom>
            <a:noFill/>
            <a:ln w="9525">
              <a:solidFill>
                <a:schemeClr val="accent6"/>
              </a:solidFill>
            </a:ln>
          </p:spPr>
        </p:sp>
        <p:grpSp>
          <p:nvGrpSpPr>
            <p:cNvPr id="30" name="Group 30"/>
            <p:cNvGrpSpPr/>
            <p:nvPr/>
          </p:nvGrpSpPr>
          <p:grpSpPr>
            <a:xfrm>
              <a:off x="6659118" y="3974782"/>
              <a:ext cx="4474464" cy="1160907"/>
              <a:chOff x="6659118" y="3974782"/>
              <a:chExt cx="4474464" cy="1160907"/>
            </a:xfrm>
          </p:grpSpPr>
          <p:sp>
            <p:nvSpPr>
              <p:cNvPr id="24" name="TextBox 24"/>
              <p:cNvSpPr txBox="1"/>
              <p:nvPr/>
            </p:nvSpPr>
            <p:spPr>
              <a:xfrm>
                <a:off x="6659118" y="3974782"/>
                <a:ext cx="505435" cy="322707"/>
              </a:xfrm>
              <a:prstGeom prst="rect">
                <a:avLst/>
              </a:prstGeom>
              <a:noFill/>
              <a:ln>
                <a:noFill/>
              </a:ln>
            </p:spPr>
            <p:txBody>
              <a:bodyPr wrap="none" lIns="0" tIns="0" rIns="0" bIns="0" anchor="t" anchorCtr="0">
                <a:spAutoFit/>
              </a:bodyPr>
              <a:lstStyle/>
              <a:p>
                <a:pPr algn="l"/>
                <a:r>
                  <a:rPr lang="ru-RU" sz="1650" dirty="0">
                    <a:solidFill>
                      <a:schemeClr val="accent1"/>
                    </a:solidFill>
                    <a:latin typeface="Consolas"/>
                    <a:ea typeface="Consolas"/>
                    <a:cs typeface="Consolas"/>
                  </a:rPr>
                  <a:t>1991</a:t>
                </a:r>
              </a:p>
            </p:txBody>
          </p:sp>
          <p:sp>
            <p:nvSpPr>
              <p:cNvPr id="25" name="TextBox 25"/>
              <p:cNvSpPr txBox="1"/>
              <p:nvPr/>
            </p:nvSpPr>
            <p:spPr>
              <a:xfrm>
                <a:off x="10383812" y="3974782"/>
                <a:ext cx="749770" cy="322707"/>
              </a:xfrm>
              <a:prstGeom prst="rect">
                <a:avLst/>
              </a:prstGeom>
              <a:noFill/>
              <a:ln>
                <a:noFill/>
              </a:ln>
            </p:spPr>
            <p:txBody>
              <a:bodyPr wrap="none" lIns="0" tIns="0" rIns="0" bIns="0" anchor="t" anchorCtr="0">
                <a:spAutoFit/>
              </a:bodyPr>
              <a:lstStyle/>
              <a:p>
                <a:pPr algn="r"/>
                <a:r>
                  <a:rPr lang="ru-RU" sz="1650" dirty="0">
                    <a:solidFill>
                      <a:schemeClr val="accent1"/>
                    </a:solidFill>
                    <a:latin typeface="Consolas"/>
                    <a:ea typeface="Consolas"/>
                    <a:cs typeface="Consolas"/>
                  </a:rPr>
                  <a:t>73,7 %</a:t>
                </a:r>
              </a:p>
            </p:txBody>
          </p:sp>
          <p:sp>
            <p:nvSpPr>
              <p:cNvPr id="26" name="TextBox 26"/>
              <p:cNvSpPr txBox="1"/>
              <p:nvPr/>
            </p:nvSpPr>
            <p:spPr>
              <a:xfrm>
                <a:off x="6659118" y="4393882"/>
                <a:ext cx="1727111" cy="322707"/>
              </a:xfrm>
              <a:prstGeom prst="rect">
                <a:avLst/>
              </a:prstGeom>
              <a:noFill/>
              <a:ln>
                <a:noFill/>
              </a:ln>
            </p:spPr>
            <p:txBody>
              <a:bodyPr wrap="none" lIns="0" tIns="0" rIns="0" bIns="0" anchor="t" anchorCtr="0">
                <a:spAutoFit/>
              </a:bodyPr>
              <a:lstStyle/>
              <a:p>
                <a:pPr algn="l"/>
                <a:r>
                  <a:rPr lang="ru-RU" sz="1650" dirty="0">
                    <a:solidFill>
                      <a:schemeClr val="accent1"/>
                    </a:solidFill>
                    <a:latin typeface="Consolas"/>
                    <a:ea typeface="Consolas"/>
                    <a:cs typeface="Consolas"/>
                  </a:rPr>
                  <a:t>1995 (минимум)</a:t>
                </a:r>
              </a:p>
            </p:txBody>
          </p:sp>
          <p:sp>
            <p:nvSpPr>
              <p:cNvPr id="27" name="TextBox 27"/>
              <p:cNvSpPr txBox="1"/>
              <p:nvPr/>
            </p:nvSpPr>
            <p:spPr>
              <a:xfrm>
                <a:off x="10383812" y="4393882"/>
                <a:ext cx="749770" cy="322707"/>
              </a:xfrm>
              <a:prstGeom prst="rect">
                <a:avLst/>
              </a:prstGeom>
              <a:noFill/>
              <a:ln>
                <a:noFill/>
              </a:ln>
            </p:spPr>
            <p:txBody>
              <a:bodyPr wrap="none" lIns="0" tIns="0" rIns="0" bIns="0" anchor="t" anchorCtr="0">
                <a:spAutoFit/>
              </a:bodyPr>
              <a:lstStyle/>
              <a:p>
                <a:pPr algn="r"/>
                <a:r>
                  <a:rPr lang="ru-RU" sz="1650" dirty="0">
                    <a:solidFill>
                      <a:schemeClr val="accent1"/>
                    </a:solidFill>
                    <a:latin typeface="Consolas"/>
                    <a:ea typeface="Consolas"/>
                    <a:cs typeface="Consolas"/>
                  </a:rPr>
                  <a:t>72,9 %</a:t>
                </a:r>
              </a:p>
            </p:txBody>
          </p:sp>
          <p:sp>
            <p:nvSpPr>
              <p:cNvPr id="28" name="TextBox 28"/>
              <p:cNvSpPr txBox="1"/>
              <p:nvPr/>
            </p:nvSpPr>
            <p:spPr>
              <a:xfrm>
                <a:off x="6659118" y="4812982"/>
                <a:ext cx="505435" cy="322707"/>
              </a:xfrm>
              <a:prstGeom prst="rect">
                <a:avLst/>
              </a:prstGeom>
              <a:noFill/>
              <a:ln>
                <a:noFill/>
              </a:ln>
            </p:spPr>
            <p:txBody>
              <a:bodyPr wrap="none" lIns="0" tIns="0" rIns="0" bIns="0" anchor="t" anchorCtr="0">
                <a:spAutoFit/>
              </a:bodyPr>
              <a:lstStyle/>
              <a:p>
                <a:pPr algn="l"/>
                <a:r>
                  <a:rPr lang="ru-RU" sz="1650" dirty="0">
                    <a:solidFill>
                      <a:schemeClr val="accent1"/>
                    </a:solidFill>
                    <a:latin typeface="Consolas"/>
                    <a:ea typeface="Consolas"/>
                    <a:cs typeface="Consolas"/>
                  </a:rPr>
                  <a:t>2024</a:t>
                </a:r>
              </a:p>
            </p:txBody>
          </p:sp>
          <p:sp>
            <p:nvSpPr>
              <p:cNvPr id="29" name="TextBox 29"/>
              <p:cNvSpPr txBox="1"/>
              <p:nvPr/>
            </p:nvSpPr>
            <p:spPr>
              <a:xfrm>
                <a:off x="10383812" y="4812982"/>
                <a:ext cx="749770" cy="322707"/>
              </a:xfrm>
              <a:prstGeom prst="rect">
                <a:avLst/>
              </a:prstGeom>
              <a:noFill/>
              <a:ln>
                <a:noFill/>
              </a:ln>
            </p:spPr>
            <p:txBody>
              <a:bodyPr wrap="none" lIns="0" tIns="0" rIns="0" bIns="0" anchor="t" anchorCtr="0">
                <a:spAutoFit/>
              </a:bodyPr>
              <a:lstStyle/>
              <a:p>
                <a:pPr algn="r"/>
                <a:r>
                  <a:rPr lang="ru-RU" sz="1650" dirty="0">
                    <a:solidFill>
                      <a:schemeClr val="accent1"/>
                    </a:solidFill>
                    <a:latin typeface="Consolas"/>
                    <a:ea typeface="Consolas"/>
                    <a:cs typeface="Consolas"/>
                  </a:rPr>
                  <a:t>75,1 %</a:t>
                </a:r>
              </a:p>
            </p:txBody>
          </p:sp>
        </p:grpSp>
      </p:grpSp>
      <p:grpSp>
        <p:nvGrpSpPr>
          <p:cNvPr id="34" name="page-footer"/>
          <p:cNvGrpSpPr/>
          <p:nvPr/>
        </p:nvGrpSpPr>
        <p:grpSpPr>
          <a:xfrm>
            <a:off x="679704" y="6442710"/>
            <a:ext cx="10832592" cy="234696"/>
            <a:chOff x="679704" y="6442710"/>
            <a:chExt cx="10832592" cy="234696"/>
          </a:xfrm>
        </p:grpSpPr>
        <p:sp>
          <p:nvSpPr>
            <p:cNvPr id="32" name="TextBox 32"/>
            <p:cNvSpPr txBox="1"/>
            <p:nvPr/>
          </p:nvSpPr>
          <p:spPr>
            <a:xfrm>
              <a:off x="679704" y="6442710"/>
              <a:ext cx="7778254" cy="234696"/>
            </a:xfrm>
            <a:prstGeom prst="rect">
              <a:avLst/>
            </a:prstGeom>
            <a:noFill/>
            <a:ln>
              <a:noFill/>
            </a:ln>
          </p:spPr>
          <p:txBody>
            <a:bodyPr wrap="none" lIns="0" tIns="0" rIns="0" bIns="0" anchor="t" anchorCtr="0">
              <a:spAutoFit/>
            </a:bodyPr>
            <a:lstStyle/>
            <a:p>
              <a:pPr algn="l"/>
              <a:r>
                <a:rPr lang="ru-RU" sz="1200" dirty="0">
                  <a:solidFill>
                    <a:schemeClr val="accent5"/>
                  </a:solidFill>
                  <a:latin typeface="+mn-lt"/>
                  <a:ea typeface="+mn-ea"/>
                  <a:cs typeface="+mn-cs"/>
                </a:rPr>
                <a:t>Всемирный банк, SP.URB.TOTL.IN.ZS и SP.POP.TOTL, 1991–2024 · производные величины — расчёт</a:t>
              </a:r>
            </a:p>
          </p:txBody>
        </p:sp>
        <p:sp>
          <p:nvSpPr>
            <p:cNvPr id="33" name="TextBox 33"/>
            <p:cNvSpPr txBox="1"/>
            <p:nvPr/>
          </p:nvSpPr>
          <p:spPr>
            <a:xfrm>
              <a:off x="11320402" y="6442710"/>
              <a:ext cx="191894" cy="234696"/>
            </a:xfrm>
            <a:prstGeom prst="rect">
              <a:avLst/>
            </a:prstGeom>
            <a:noFill/>
            <a:ln>
              <a:noFill/>
            </a:ln>
          </p:spPr>
          <p:txBody>
            <a:bodyPr wrap="none" lIns="0" tIns="0" rIns="0" bIns="0" anchor="t" anchorCtr="0">
              <a:spAutoFit/>
            </a:bodyPr>
            <a:lstStyle/>
            <a:p>
              <a:pPr algn="r"/>
              <a:r>
                <a:rPr lang="ru-RU" sz="1200" dirty="0">
                  <a:solidFill>
                    <a:schemeClr val="accent5"/>
                  </a:solidFill>
                  <a:latin typeface="+mn-lt"/>
                  <a:ea typeface="+mn-ea"/>
                  <a:cs typeface="+mn-cs"/>
                </a:rPr>
                <a:t>11</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par>
                          <p:cTn id="8" fill="hold">
                            <p:stCondLst>
                              <p:cond delay="40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31"/>
                                        </p:tgtEl>
                                        <p:attrNameLst>
                                          <p:attrName>style.visibility</p:attrName>
                                        </p:attrNameLst>
                                      </p:cBhvr>
                                      <p:to>
                                        <p:strVal val="visible"/>
                                      </p:to>
                                    </p:set>
                                    <p:animEffect transition="in" filter="fade">
                                      <p:cBhvr>
                                        <p:cTn id="11" dur="600"/>
                                        <p:tgtEl>
                                          <p:spTgt spid="31"/>
                                        </p:tgtEl>
                                      </p:cBhvr>
                                    </p:animEffect>
                                  </p:childTnLst>
                                </p:cTn>
                              </p:par>
                            </p:childTnLst>
                          </p:cTn>
                        </p:par>
                        <p:par>
                          <p:cTn id="12" fill="hold">
                            <p:stCondLst>
                              <p:cond delay="1500"/>
                            </p:stCondLst>
                            <p:childTnLst>
                              <p:par>
                                <p:cTn xmlns:p="http://schemas.openxmlformats.org/presentationml/2006/main" id="13" presetID="10" presetClass="entr" presetSubtype="0" fill="hold" grpId="0" nodeType="afterEffect">
                                  <p:stCondLst>
                                    <p:cond delay="50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age-header"/>
          <p:cNvGrpSpPr/>
          <p:nvPr/>
        </p:nvGrpSpPr>
        <p:grpSpPr>
          <a:xfrm>
            <a:off x="670560" y="590550"/>
            <a:ext cx="8908627" cy="1212723"/>
            <a:chOff x="670560" y="590550"/>
            <a:chExt cx="8908627" cy="1212723"/>
          </a:xfrm>
        </p:grpSpPr>
        <p:sp>
          <p:nvSpPr>
            <p:cNvPr id="2" name="TextBox 2"/>
            <p:cNvSpPr txBox="1"/>
            <p:nvPr/>
          </p:nvSpPr>
          <p:spPr>
            <a:xfrm>
              <a:off x="670560" y="590550"/>
              <a:ext cx="8908627" cy="586740"/>
            </a:xfrm>
            <a:prstGeom prst="rect">
              <a:avLst/>
            </a:prstGeom>
            <a:noFill/>
            <a:ln>
              <a:noFill/>
            </a:ln>
          </p:spPr>
          <p:txBody>
            <a:bodyPr wrap="none" lIns="0" tIns="0" rIns="0" bIns="0" anchor="t" anchorCtr="0">
              <a:spAutoFit/>
            </a:bodyPr>
            <a:lstStyle/>
            <a:p>
              <a:pPr algn="l"/>
              <a:r>
                <a:rPr lang="ru-RU" sz="3000" b="1" dirty="0">
                  <a:solidFill>
                    <a:schemeClr val="accent1"/>
                  </a:solidFill>
                  <a:latin typeface="+mj-lt"/>
                  <a:ea typeface="+mj-ea"/>
                  <a:cs typeface="+mj-cs"/>
                </a:rPr>
                <a:t>Миграция: сальдо 2024 года отрицательно</a:t>
              </a:r>
            </a:p>
          </p:txBody>
        </p:sp>
        <p:sp>
          <p:nvSpPr>
            <p:cNvPr id="3" name="TextBox 3"/>
            <p:cNvSpPr txBox="1"/>
            <p:nvPr/>
          </p:nvSpPr>
          <p:spPr>
            <a:xfrm>
              <a:off x="675132" y="1068705"/>
              <a:ext cx="7374948" cy="734568"/>
            </a:xfrm>
            <a:prstGeom prst="rect">
              <a:avLst/>
            </a:prstGeom>
            <a:noFill/>
            <a:ln>
              <a:noFill/>
            </a:ln>
          </p:spPr>
          <p:txBody>
            <a:bodyPr wrap="none" lIns="0" tIns="0" rIns="0" bIns="0" anchor="t" anchorCtr="0">
              <a:spAutoFit/>
            </a:bodyPr>
            <a:lstStyle/>
            <a:p>
              <a:pPr algn="l">
                <a:lnSpc>
                  <a:spcPts val="2550"/>
                </a:lnSpc>
              </a:pPr>
              <a:r>
                <a:rPr lang="ru-RU" sz="2100" dirty="0">
                  <a:solidFill>
                    <a:schemeClr val="dk1"/>
                  </a:solidFill>
                  <a:latin typeface="+mn-lt"/>
                  <a:ea typeface="+mn-ea"/>
                  <a:cs typeface="+mn-cs"/>
                </a:rPr>
                <a:t>Впервые с 1992 года: −178 тыс. человек</a:t>
              </a:r>
              <a:br/>
              <a:r>
                <a:rPr lang="ru-RU" sz="2100" dirty="0">
                  <a:solidFill>
                    <a:schemeClr val="dk1"/>
                  </a:solidFill>
                  <a:latin typeface="+mn-lt"/>
                  <a:ea typeface="+mn-ea"/>
                  <a:cs typeface="+mn-cs"/>
                </a:rPr>
                <a:t>Прирост покрывал естественную убыль в 2009–2019 годах</a:t>
              </a:r>
            </a:p>
          </p:txBody>
        </p:sp>
      </p:grpSp>
      <p:grpSp>
        <p:nvGrpSpPr>
          <p:cNvPr id="12" name="net-migration"/>
          <p:cNvGrpSpPr/>
          <p:nvPr/>
        </p:nvGrpSpPr>
        <p:grpSpPr>
          <a:xfrm>
            <a:off x="685800" y="1787842"/>
            <a:ext cx="10820400" cy="3889058"/>
            <a:chOff x="685800" y="1787842"/>
            <a:chExt cx="10820400" cy="3889058"/>
          </a:xfrm>
        </p:grpSpPr>
        <p:graphicFrame>
          <p:nvGraphicFramePr>
            <p:cNvPr id="5" name="net-migration"/>
            <p:cNvGraphicFramePr>
              <a:graphicFrameLocks noGrp="1"/>
            </p:cNvGraphicFramePr>
            <p:nvPr/>
          </p:nvGraphicFramePr>
          <p:xfrm>
            <a:off x="685800" y="1866900"/>
            <a:ext cx="10820400" cy="3810000"/>
          </p:xfrm>
          <a:graphic>
            <a:graphicData uri="http://schemas.openxmlformats.org/drawingml/2006/chart">
              <c:chart xmlns:c="http://schemas.openxmlformats.org/drawingml/2006/chart" r:id="rId2"/>
            </a:graphicData>
          </a:graphic>
        </p:graphicFrame>
        <p:sp>
          <p:nvSpPr>
            <p:cNvPr id="6" name="Chart Note 6"/>
            <p:cNvSpPr txBox="1"/>
            <p:nvPr/>
          </p:nvSpPr>
          <p:spPr>
            <a:xfrm>
              <a:off x="1428750" y="1787842"/>
              <a:ext cx="1428750" cy="274320"/>
            </a:xfrm>
            <a:prstGeom prst="rect">
              <a:avLst/>
            </a:prstGeom>
            <a:noFill/>
            <a:ln>
              <a:noFill/>
            </a:ln>
          </p:spPr>
          <p:txBody>
            <a:bodyPr wrap="square" lIns="0" tIns="0" rIns="0" bIns="0" anchor="b" anchorCtr="0"/>
            <a:lstStyle/>
            <a:p>
              <a:pPr algn="l"/>
              <a:r>
                <a:rPr lang="ru-RU" sz="1350">
                  <a:solidFill>
                    <a:srgbClr val="5B6670"/>
                  </a:solidFill>
                  <a:latin typeface="Arial"/>
                  <a:ea typeface="Microsoft YaHei"/>
                  <a:cs typeface="Arial"/>
                </a:rPr>
                <a:t>тыс. человек</a:t>
              </a:r>
            </a:p>
          </p:txBody>
        </p:sp>
        <p:sp>
          <p:nvSpPr>
            <p:cNvPr id="7" name="Chart Note 7"/>
            <p:cNvSpPr txBox="1"/>
            <p:nvPr/>
          </p:nvSpPr>
          <p:spPr>
            <a:xfrm>
              <a:off x="1384935" y="5191125"/>
              <a:ext cx="952500" cy="304800"/>
            </a:xfrm>
            <a:prstGeom prst="rect">
              <a:avLst/>
            </a:prstGeom>
            <a:noFill/>
            <a:ln>
              <a:noFill/>
            </a:ln>
          </p:spPr>
          <p:txBody>
            <a:bodyPr wrap="square" lIns="0" tIns="0" rIns="0" bIns="0" anchor="b" anchorCtr="0"/>
            <a:lstStyle/>
            <a:p>
              <a:pPr algn="ctr"/>
              <a:r>
                <a:rPr lang="ru-RU" sz="1500" b="1">
                  <a:solidFill>
                    <a:srgbClr val="B3121B"/>
                  </a:solidFill>
                  <a:latin typeface="Arial"/>
                  <a:ea typeface="Microsoft YaHei"/>
                  <a:cs typeface="Arial"/>
                </a:rPr>
                <a:t>−1 130</a:t>
              </a:r>
            </a:p>
          </p:txBody>
        </p:sp>
        <p:sp>
          <p:nvSpPr>
            <p:cNvPr id="8" name="Chart Note 8"/>
            <p:cNvSpPr txBox="1"/>
            <p:nvPr/>
          </p:nvSpPr>
          <p:spPr>
            <a:xfrm>
              <a:off x="1962150" y="1914525"/>
              <a:ext cx="952500" cy="304800"/>
            </a:xfrm>
            <a:prstGeom prst="rect">
              <a:avLst/>
            </a:prstGeom>
            <a:noFill/>
            <a:ln>
              <a:noFill/>
            </a:ln>
          </p:spPr>
          <p:txBody>
            <a:bodyPr wrap="square" lIns="0" tIns="0" rIns="0" bIns="0" anchor="b" anchorCtr="0"/>
            <a:lstStyle/>
            <a:p>
              <a:pPr algn="ctr"/>
              <a:r>
                <a:rPr lang="ru-RU" sz="1500" b="1">
                  <a:solidFill>
                    <a:srgbClr val="2E6F8E"/>
                  </a:solidFill>
                  <a:latin typeface="Arial"/>
                  <a:ea typeface="Microsoft YaHei"/>
                  <a:cs typeface="Arial"/>
                </a:rPr>
                <a:t>+1 271</a:t>
              </a:r>
            </a:p>
          </p:txBody>
        </p:sp>
        <p:sp>
          <p:nvSpPr>
            <p:cNvPr id="9" name="Chart Note 9"/>
            <p:cNvSpPr txBox="1"/>
            <p:nvPr/>
          </p:nvSpPr>
          <p:spPr>
            <a:xfrm>
              <a:off x="4270058" y="1809750"/>
              <a:ext cx="952500" cy="304800"/>
            </a:xfrm>
            <a:prstGeom prst="rect">
              <a:avLst/>
            </a:prstGeom>
            <a:noFill/>
            <a:ln>
              <a:noFill/>
            </a:ln>
          </p:spPr>
          <p:txBody>
            <a:bodyPr wrap="square" lIns="0" tIns="0" rIns="0" bIns="0" anchor="b" anchorCtr="0"/>
            <a:lstStyle/>
            <a:p>
              <a:pPr algn="ctr"/>
              <a:r>
                <a:rPr lang="ru-RU" sz="1500" b="1">
                  <a:solidFill>
                    <a:srgbClr val="2E6F8E"/>
                  </a:solidFill>
                  <a:latin typeface="Arial"/>
                  <a:ea typeface="Microsoft YaHei"/>
                  <a:cs typeface="Arial"/>
                </a:rPr>
                <a:t>+1 359</a:t>
              </a:r>
            </a:p>
          </p:txBody>
        </p:sp>
        <p:sp>
          <p:nvSpPr>
            <p:cNvPr id="10" name="Chart Note 10"/>
            <p:cNvSpPr txBox="1"/>
            <p:nvPr/>
          </p:nvSpPr>
          <p:spPr>
            <a:xfrm>
              <a:off x="10087928" y="2543175"/>
              <a:ext cx="857250" cy="304800"/>
            </a:xfrm>
            <a:prstGeom prst="rect">
              <a:avLst/>
            </a:prstGeom>
            <a:noFill/>
            <a:ln>
              <a:noFill/>
            </a:ln>
          </p:spPr>
          <p:txBody>
            <a:bodyPr wrap="square" lIns="0" tIns="0" rIns="0" bIns="0" anchor="b" anchorCtr="0"/>
            <a:lstStyle/>
            <a:p>
              <a:pPr algn="ctr"/>
              <a:r>
                <a:rPr lang="ru-RU" sz="1500" b="1">
                  <a:solidFill>
                    <a:srgbClr val="2E6F8E"/>
                  </a:solidFill>
                  <a:latin typeface="Arial"/>
                  <a:ea typeface="Microsoft YaHei"/>
                  <a:cs typeface="Arial"/>
                </a:rPr>
                <a:t>+766</a:t>
              </a:r>
            </a:p>
          </p:txBody>
        </p:sp>
        <p:sp>
          <p:nvSpPr>
            <p:cNvPr id="11" name="Chart Note 11"/>
            <p:cNvSpPr txBox="1"/>
            <p:nvPr/>
          </p:nvSpPr>
          <p:spPr>
            <a:xfrm>
              <a:off x="10344150" y="4010025"/>
              <a:ext cx="857250" cy="304800"/>
            </a:xfrm>
            <a:prstGeom prst="rect">
              <a:avLst/>
            </a:prstGeom>
            <a:noFill/>
            <a:ln>
              <a:noFill/>
            </a:ln>
          </p:spPr>
          <p:txBody>
            <a:bodyPr wrap="square" lIns="0" tIns="0" rIns="0" bIns="0" anchor="b" anchorCtr="0"/>
            <a:lstStyle/>
            <a:p>
              <a:pPr algn="r"/>
              <a:r>
                <a:rPr lang="ru-RU" sz="1500" b="1">
                  <a:solidFill>
                    <a:srgbClr val="B3121B"/>
                  </a:solidFill>
                  <a:latin typeface="Arial"/>
                  <a:ea typeface="Microsoft YaHei"/>
                  <a:cs typeface="Arial"/>
                </a:rPr>
                <a:t>−178</a:t>
              </a:r>
            </a:p>
          </p:txBody>
        </p:sp>
      </p:grpSp>
      <p:grpSp>
        <p:nvGrpSpPr>
          <p:cNvPr id="14" name="migration-note"/>
          <p:cNvGrpSpPr/>
          <p:nvPr/>
        </p:nvGrpSpPr>
        <p:grpSpPr>
          <a:xfrm>
            <a:off x="678942" y="5778818"/>
            <a:ext cx="7486399" cy="511683"/>
            <a:chOff x="678942" y="5778818"/>
            <a:chExt cx="7486399" cy="511683"/>
          </a:xfrm>
        </p:grpSpPr>
        <p:sp>
          <p:nvSpPr>
            <p:cNvPr id="13" name="TextBox 13"/>
            <p:cNvSpPr txBox="1"/>
            <p:nvPr/>
          </p:nvSpPr>
          <p:spPr>
            <a:xfrm>
              <a:off x="678942" y="5778818"/>
              <a:ext cx="7486399" cy="511683"/>
            </a:xfrm>
            <a:prstGeom prst="rect">
              <a:avLst/>
            </a:prstGeom>
            <a:noFill/>
            <a:ln>
              <a:noFill/>
            </a:ln>
          </p:spPr>
          <p:txBody>
            <a:bodyPr wrap="none" lIns="0" tIns="0" rIns="0" bIns="0" anchor="t" anchorCtr="0">
              <a:spAutoFit/>
            </a:bodyPr>
            <a:lstStyle/>
            <a:p>
              <a:pPr algn="l">
                <a:lnSpc>
                  <a:spcPts val="1950"/>
                </a:lnSpc>
              </a:pPr>
              <a:r>
                <a:rPr lang="ru-RU" sz="1350" dirty="0">
                  <a:solidFill>
                    <a:schemeClr val="accent5"/>
                  </a:solidFill>
                  <a:latin typeface="+mn-lt"/>
                  <a:ea typeface="+mn-ea"/>
                  <a:cs typeface="+mn-cs"/>
                </a:rPr>
                <a:t>Только два отрицательных года: 1992 (−1 130 тыс.) и 2024 (−178 тыс.).</a:t>
              </a:r>
              <a:br/>
              <a:r>
                <a:rPr lang="ru-RU" sz="1350" dirty="0">
                  <a:solidFill>
                    <a:schemeClr val="accent5"/>
                  </a:solidFill>
                  <a:latin typeface="+mn-lt"/>
                  <a:ea typeface="+mn-ea"/>
                  <a:cs typeface="+mn-cs"/>
                </a:rPr>
                <a:t>В 2024 году естественная убыль −4,0 на 1000 человек уже не компенсировалась миграцией.</a:t>
              </a:r>
            </a:p>
          </p:txBody>
        </p:sp>
      </p:grpSp>
      <p:grpSp>
        <p:nvGrpSpPr>
          <p:cNvPr id="17" name="page-footer"/>
          <p:cNvGrpSpPr/>
          <p:nvPr/>
        </p:nvGrpSpPr>
        <p:grpSpPr>
          <a:xfrm>
            <a:off x="679704" y="6442710"/>
            <a:ext cx="10832592" cy="234696"/>
            <a:chOff x="679704" y="6442710"/>
            <a:chExt cx="10832592" cy="234696"/>
          </a:xfrm>
        </p:grpSpPr>
        <p:sp>
          <p:nvSpPr>
            <p:cNvPr id="15" name="TextBox 15"/>
            <p:cNvSpPr txBox="1"/>
            <p:nvPr/>
          </p:nvSpPr>
          <p:spPr>
            <a:xfrm>
              <a:off x="679704" y="6442710"/>
              <a:ext cx="3416539" cy="234696"/>
            </a:xfrm>
            <a:prstGeom prst="rect">
              <a:avLst/>
            </a:prstGeom>
            <a:noFill/>
            <a:ln>
              <a:noFill/>
            </a:ln>
          </p:spPr>
          <p:txBody>
            <a:bodyPr wrap="none" lIns="0" tIns="0" rIns="0" bIns="0" anchor="t" anchorCtr="0">
              <a:spAutoFit/>
            </a:bodyPr>
            <a:lstStyle/>
            <a:p>
              <a:pPr algn="l"/>
              <a:r>
                <a:rPr lang="ru-RU" sz="1200" dirty="0">
                  <a:solidFill>
                    <a:schemeClr val="accent5"/>
                  </a:solidFill>
                  <a:latin typeface="+mn-lt"/>
                  <a:ea typeface="+mn-ea"/>
                  <a:cs typeface="+mn-cs"/>
                </a:rPr>
                <a:t>Всемирный банк, SM.POP.NETM, 1991–2024</a:t>
              </a:r>
            </a:p>
          </p:txBody>
        </p:sp>
        <p:sp>
          <p:nvSpPr>
            <p:cNvPr id="16" name="TextBox 16"/>
            <p:cNvSpPr txBox="1"/>
            <p:nvPr/>
          </p:nvSpPr>
          <p:spPr>
            <a:xfrm>
              <a:off x="11320402" y="6442710"/>
              <a:ext cx="191894" cy="234696"/>
            </a:xfrm>
            <a:prstGeom prst="rect">
              <a:avLst/>
            </a:prstGeom>
            <a:noFill/>
            <a:ln>
              <a:noFill/>
            </a:ln>
          </p:spPr>
          <p:txBody>
            <a:bodyPr wrap="none" lIns="0" tIns="0" rIns="0" bIns="0" anchor="t" anchorCtr="0">
              <a:spAutoFit/>
            </a:bodyPr>
            <a:lstStyle/>
            <a:p>
              <a:pPr algn="r"/>
              <a:r>
                <a:rPr lang="ru-RU" sz="1200" dirty="0">
                  <a:solidFill>
                    <a:schemeClr val="accent5"/>
                  </a:solidFill>
                  <a:latin typeface="+mn-lt"/>
                  <a:ea typeface="+mn-ea"/>
                  <a:cs typeface="+mn-cs"/>
                </a:rPr>
                <a:t>12</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par>
                          <p:cTn id="8" fill="hold">
                            <p:stCondLst>
                              <p:cond delay="400"/>
                            </p:stCondLst>
                            <p:childTnLst>
                              <p:par>
                                <p:cTn xmlns:p="http://schemas.openxmlformats.org/presentationml/2006/main" id="9" presetID="22" presetClass="entr" presetSubtype="2" fill="hold" grpId="0" nodeType="afterEffect">
                                  <p:stCondLst>
                                    <p:cond delay="500"/>
                                  </p:stCondLst>
                                  <p:childTnLst>
                                    <p:set>
                                      <p:cBhvr>
                                        <p:cTn id="10" dur="1" fill="hold">
                                          <p:stCondLst>
                                            <p:cond delay="0"/>
                                          </p:stCondLst>
                                        </p:cTn>
                                        <p:tgtEl>
                                          <p:spTgt spid="12"/>
                                        </p:tgtEl>
                                        <p:attrNameLst>
                                          <p:attrName>style.visibility</p:attrName>
                                        </p:attrNameLst>
                                      </p:cBhvr>
                                      <p:to>
                                        <p:strVal val="visible"/>
                                      </p:to>
                                    </p:set>
                                    <p:animEffect transition="in" filter="wipe(right)">
                                      <p:cBhvr>
                                        <p:cTn id="11" dur="1200"/>
                                        <p:tgtEl>
                                          <p:spTgt spid="12"/>
                                        </p:tgtEl>
                                      </p:cBhvr>
                                    </p:animEffect>
                                  </p:childTnLst>
                                </p:cTn>
                              </p:par>
                            </p:childTnLst>
                          </p:cTn>
                        </p:par>
                        <p:par>
                          <p:cTn id="12" fill="hold">
                            <p:stCondLst>
                              <p:cond delay="2100"/>
                            </p:stCondLst>
                            <p:childTnLst>
                              <p:par>
                                <p:cTn xmlns:p="http://schemas.openxmlformats.org/presentationml/2006/main" id="13" presetID="10" presetClass="entr" presetSubtype="0" fill="hold" grpId="0" nodeType="afterEffect">
                                  <p:stCondLst>
                                    <p:cond delay="50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10" name="page-header"/>
          <p:cNvGrpSpPr/>
          <p:nvPr/>
        </p:nvGrpSpPr>
        <p:grpSpPr>
          <a:xfrm>
            <a:off x="670560" y="590550"/>
            <a:ext cx="10702290" cy="888873"/>
            <a:chOff x="670560" y="590550"/>
            <a:chExt cx="10702290" cy="888873"/>
          </a:xfrm>
        </p:grpSpPr>
        <p:sp>
          <p:nvSpPr>
            <p:cNvPr id="2" name="TextBox 2"/>
            <p:cNvSpPr txBox="1"/>
            <p:nvPr/>
          </p:nvSpPr>
          <p:spPr>
            <a:xfrm>
              <a:off x="670560" y="590550"/>
              <a:ext cx="7642784" cy="586740"/>
            </a:xfrm>
            <a:prstGeom prst="rect">
              <a:avLst/>
            </a:prstGeom>
            <a:noFill/>
            <a:ln>
              <a:noFill/>
            </a:ln>
          </p:spPr>
          <p:txBody>
            <a:bodyPr wrap="none" lIns="0" tIns="0" rIns="0" bIns="0" anchor="t" anchorCtr="0">
              <a:spAutoFit/>
            </a:bodyPr>
            <a:lstStyle/>
            <a:p>
              <a:pPr algn="l"/>
              <a:r>
                <a:rPr lang="ru-RU" sz="3000" b="1" dirty="0">
                  <a:solidFill>
                    <a:schemeClr val="accent1"/>
                  </a:solidFill>
                  <a:latin typeface="+mj-lt"/>
                  <a:ea typeface="+mj-ea"/>
                  <a:cs typeface="+mj-cs"/>
                </a:rPr>
                <a:t>Сопоставление пяти стран, 2024 год</a:t>
              </a:r>
            </a:p>
          </p:txBody>
        </p:sp>
        <p:sp>
          <p:nvSpPr>
            <p:cNvPr id="3" name="TextBox 3"/>
            <p:cNvSpPr txBox="1"/>
            <p:nvPr/>
          </p:nvSpPr>
          <p:spPr>
            <a:xfrm>
              <a:off x="675132" y="1068705"/>
              <a:ext cx="8104414" cy="410718"/>
            </a:xfrm>
            <a:prstGeom prst="rect">
              <a:avLst/>
            </a:prstGeom>
            <a:noFill/>
            <a:ln>
              <a:noFill/>
            </a:ln>
          </p:spPr>
          <p:txBody>
            <a:bodyPr wrap="none" lIns="0" tIns="0" rIns="0" bIns="0" anchor="t" anchorCtr="0">
              <a:spAutoFit/>
            </a:bodyPr>
            <a:lstStyle/>
            <a:p>
              <a:pPr algn="l"/>
              <a:r>
                <a:rPr lang="ru-RU" sz="2100" dirty="0">
                  <a:solidFill>
                    <a:schemeClr val="dk1"/>
                  </a:solidFill>
                  <a:latin typeface="+mn-lt"/>
                  <a:ea typeface="+mn-ea"/>
                  <a:cs typeface="+mn-cs"/>
                </a:rPr>
                <a:t>Все значения — за 2024 год из тех же четырёх индикаторов</a:t>
              </a:r>
            </a:p>
          </p:txBody>
        </p:sp>
        <p:grpSp>
          <p:nvGrpSpPr>
            <p:cNvPr id="9" name="Group 9"/>
            <p:cNvGrpSpPr/>
            <p:nvPr/>
          </p:nvGrpSpPr>
          <p:grpSpPr>
            <a:xfrm>
              <a:off x="11029950" y="647700"/>
              <a:ext cx="342900" cy="342900"/>
              <a:chOff x="11029950" y="647700"/>
              <a:chExt cx="342900" cy="342900"/>
            </a:xfrm>
          </p:grpSpPr>
          <p:sp>
            <p:nvSpPr>
              <p:cNvPr id="4" name="Freeform 4"/>
              <p:cNvSpPr/>
              <p:nvPr/>
            </p:nvSpPr>
            <p:spPr>
              <a:xfrm>
                <a:off x="11029950" y="647700"/>
                <a:ext cx="342900" cy="342900"/>
              </a:xfrm>
              <a:custGeom>
                <a:avLst/>
                <a:gdLst/>
                <a:ahLst/>
                <a:cxnLst/>
                <a:rect l="l" t="t" r="r" b="b"/>
                <a:pathLst>
                  <a:path w="342900" h="342900">
                    <a:moveTo>
                      <a:pt x="0" y="171450"/>
                    </a:moveTo>
                    <a:cubicBezTo>
                      <a:pt x="0" y="266139"/>
                      <a:pt x="76761" y="342900"/>
                      <a:pt x="171450" y="342900"/>
                    </a:cubicBezTo>
                    <a:cubicBezTo>
                      <a:pt x="266139" y="342900"/>
                      <a:pt x="342900" y="266139"/>
                      <a:pt x="342900" y="171450"/>
                    </a:cubicBezTo>
                    <a:cubicBezTo>
                      <a:pt x="342900" y="76761"/>
                      <a:pt x="266139" y="0"/>
                      <a:pt x="171450" y="0"/>
                    </a:cubicBezTo>
                    <a:cubicBezTo>
                      <a:pt x="76761" y="0"/>
                      <a:pt x="0" y="76761"/>
                      <a:pt x="0" y="171450"/>
                    </a:cubicBezTo>
                  </a:path>
                </a:pathLst>
              </a:custGeom>
              <a:noFill/>
              <a:ln w="38100">
                <a:solidFill>
                  <a:schemeClr val="accent3"/>
                </a:solidFill>
              </a:ln>
            </p:spPr>
          </p:sp>
          <p:sp>
            <p:nvSpPr>
              <p:cNvPr id="5" name="Freeform 5"/>
              <p:cNvSpPr/>
              <p:nvPr/>
            </p:nvSpPr>
            <p:spPr>
              <a:xfrm>
                <a:off x="11041380" y="762000"/>
                <a:ext cx="320040" cy="9525"/>
              </a:xfrm>
              <a:custGeom>
                <a:avLst/>
                <a:gdLst/>
                <a:ahLst/>
                <a:cxnLst/>
                <a:rect l="l" t="t" r="r" b="b"/>
                <a:pathLst>
                  <a:path w="320040" h="9525">
                    <a:moveTo>
                      <a:pt x="0" y="0"/>
                    </a:moveTo>
                    <a:lnTo>
                      <a:pt x="320040" y="0"/>
                    </a:lnTo>
                  </a:path>
                </a:pathLst>
              </a:custGeom>
              <a:noFill/>
              <a:ln w="38100">
                <a:solidFill>
                  <a:schemeClr val="accent3"/>
                </a:solidFill>
              </a:ln>
            </p:spPr>
          </p:sp>
          <p:sp>
            <p:nvSpPr>
              <p:cNvPr id="6" name="Freeform 6"/>
              <p:cNvSpPr/>
              <p:nvPr/>
            </p:nvSpPr>
            <p:spPr>
              <a:xfrm>
                <a:off x="11041380" y="876300"/>
                <a:ext cx="320040" cy="9525"/>
              </a:xfrm>
              <a:custGeom>
                <a:avLst/>
                <a:gdLst/>
                <a:ahLst/>
                <a:cxnLst/>
                <a:rect l="l" t="t" r="r" b="b"/>
                <a:pathLst>
                  <a:path w="320040" h="9525">
                    <a:moveTo>
                      <a:pt x="0" y="0"/>
                    </a:moveTo>
                    <a:lnTo>
                      <a:pt x="320040" y="0"/>
                    </a:lnTo>
                  </a:path>
                </a:pathLst>
              </a:custGeom>
              <a:noFill/>
              <a:ln w="38100">
                <a:solidFill>
                  <a:schemeClr val="accent3"/>
                </a:solidFill>
              </a:ln>
            </p:spPr>
          </p:sp>
          <p:sp>
            <p:nvSpPr>
              <p:cNvPr id="7" name="Freeform 7"/>
              <p:cNvSpPr/>
              <p:nvPr/>
            </p:nvSpPr>
            <p:spPr>
              <a:xfrm>
                <a:off x="11126399" y="647700"/>
                <a:ext cx="65476" cy="342900"/>
              </a:xfrm>
              <a:custGeom>
                <a:avLst/>
                <a:gdLst/>
                <a:ahLst/>
                <a:cxnLst/>
                <a:rect l="l" t="t" r="r" b="b"/>
                <a:pathLst>
                  <a:path w="65476" h="342900">
                    <a:moveTo>
                      <a:pt x="65476" y="0"/>
                    </a:moveTo>
                    <a:cubicBezTo>
                      <a:pt x="0" y="104923"/>
                      <a:pt x="0" y="237977"/>
                      <a:pt x="65476" y="342900"/>
                    </a:cubicBezTo>
                  </a:path>
                </a:pathLst>
              </a:custGeom>
              <a:noFill/>
              <a:ln w="38100">
                <a:solidFill>
                  <a:schemeClr val="accent3"/>
                </a:solidFill>
              </a:ln>
            </p:spPr>
          </p:sp>
          <p:sp>
            <p:nvSpPr>
              <p:cNvPr id="8" name="Freeform 8"/>
              <p:cNvSpPr/>
              <p:nvPr/>
            </p:nvSpPr>
            <p:spPr>
              <a:xfrm>
                <a:off x="11210925" y="647700"/>
                <a:ext cx="65476" cy="342900"/>
              </a:xfrm>
              <a:custGeom>
                <a:avLst/>
                <a:gdLst/>
                <a:ahLst/>
                <a:cxnLst/>
                <a:rect l="l" t="t" r="r" b="b"/>
                <a:pathLst>
                  <a:path w="65476" h="342900">
                    <a:moveTo>
                      <a:pt x="0" y="0"/>
                    </a:moveTo>
                    <a:cubicBezTo>
                      <a:pt x="65476" y="104923"/>
                      <a:pt x="65476" y="237977"/>
                      <a:pt x="0" y="342900"/>
                    </a:cubicBezTo>
                  </a:path>
                </a:pathLst>
              </a:custGeom>
              <a:noFill/>
              <a:ln w="38100">
                <a:solidFill>
                  <a:schemeClr val="accent3"/>
                </a:solidFill>
              </a:ln>
            </p:spPr>
          </p:sp>
        </p:grpSp>
      </p:grpSp>
      <p:graphicFrame>
        <p:nvGraphicFramePr>
          <p:cNvPr id="11" name="country-metrics"/>
          <p:cNvGraphicFramePr>
            <a:graphicFrameLocks noGrp="1"/>
          </p:cNvGraphicFramePr>
          <p:nvPr/>
        </p:nvGraphicFramePr>
        <p:xfrm>
          <a:off x="685800" y="1905000"/>
          <a:ext cx="10820400" cy="3200400"/>
        </p:xfrm>
        <a:graphic>
          <a:graphicData uri="http://schemas.openxmlformats.org/drawingml/2006/table">
            <a:tbl>
              <a:tblPr firstRow="1" bandRow="1">
                <a:tableStyleId>{5C22544A-7EE6-4342-B048-85BDC9FD1C3A}</a:tableStyleId>
              </a:tblPr>
              <a:tblGrid>
                <a:gridCol w="2857500"/>
                <a:gridCol w="1905000"/>
                <a:gridCol w="2286000"/>
                <a:gridCol w="1905000"/>
                <a:gridCol w="1866900"/>
              </a:tblGrid>
              <a:tr h="533400">
                <a:tc>
                  <a:txBody>
                    <a:bodyPr/>
                    <a:lstStyle/>
                    <a:p>
                      <a:pPr/>
                      <a:r>
                        <a:rPr lang="ru-RU" sz="1350" b="1">
                          <a:solidFill>
                            <a:schemeClr val="accent1"/>
                          </a:solidFill>
                          <a:latin typeface="Arial"/>
                          <a:ea typeface="Microsoft YaHei"/>
                          <a:cs typeface="Arial"/>
                        </a:rPr>
                        <a:t>СТРАНА</a:t>
                      </a:r>
                    </a:p>
                  </a:txBody>
                  <a:tcPr anchor="ctr" marL="152400" marR="152400" marT="76200" marB="76200">
                    <a:lnL>
                      <a:noFill/>
                    </a:lnL>
                    <a:lnR>
                      <a:noFill/>
                    </a:lnR>
                    <a:lnT>
                      <a:noFill/>
                    </a:lnT>
                    <a:lnB w="9525">
                      <a:solidFill>
                        <a:schemeClr val="accent6"/>
                      </a:solidFill>
                      <a:prstDash val="solid"/>
                    </a:lnB>
                    <a:solidFill>
                      <a:schemeClr val="lt2"/>
                    </a:solidFill>
                  </a:tcPr>
                </a:tc>
                <a:tc>
                  <a:txBody>
                    <a:bodyPr/>
                    <a:lstStyle/>
                    <a:p>
                      <a:pPr algn="r"/>
                      <a:r>
                        <a:rPr lang="ru-RU" sz="1350" b="1">
                          <a:solidFill>
                            <a:schemeClr val="accent1"/>
                          </a:solidFill>
                          <a:latin typeface="Arial"/>
                          <a:ea typeface="Microsoft YaHei"/>
                          <a:cs typeface="Arial"/>
                        </a:rPr>
                        <a:t>СКР</a:t>
                      </a:r>
                    </a:p>
                  </a:txBody>
                  <a:tcPr anchor="ctr" marL="152400" marR="152400" marT="76200" marB="76200">
                    <a:lnL>
                      <a:noFill/>
                    </a:lnL>
                    <a:lnR>
                      <a:noFill/>
                    </a:lnR>
                    <a:lnT>
                      <a:noFill/>
                    </a:lnT>
                    <a:lnB w="9525">
                      <a:solidFill>
                        <a:schemeClr val="accent6"/>
                      </a:solidFill>
                      <a:prstDash val="solid"/>
                    </a:lnB>
                    <a:solidFill>
                      <a:schemeClr val="lt2"/>
                    </a:solidFill>
                  </a:tcPr>
                </a:tc>
                <a:tc>
                  <a:txBody>
                    <a:bodyPr/>
                    <a:lstStyle/>
                    <a:p>
                      <a:pPr algn="r"/>
                      <a:r>
                        <a:rPr lang="ru-RU" sz="1350" b="1">
                          <a:solidFill>
                            <a:schemeClr val="accent1"/>
                          </a:solidFill>
                          <a:latin typeface="Arial"/>
                          <a:ea typeface="Microsoft YaHei"/>
                          <a:cs typeface="Arial"/>
                        </a:rPr>
                        <a:t>ЛЕТ ЖИЗНИ</a:t>
                      </a:r>
                    </a:p>
                  </a:txBody>
                  <a:tcPr anchor="ctr" marL="152400" marR="152400" marT="76200" marB="76200">
                    <a:lnL>
                      <a:noFill/>
                    </a:lnL>
                    <a:lnR>
                      <a:noFill/>
                    </a:lnR>
                    <a:lnT>
                      <a:noFill/>
                    </a:lnT>
                    <a:lnB w="9525">
                      <a:solidFill>
                        <a:schemeClr val="accent6"/>
                      </a:solidFill>
                      <a:prstDash val="solid"/>
                    </a:lnB>
                    <a:solidFill>
                      <a:schemeClr val="lt2"/>
                    </a:solidFill>
                  </a:tcPr>
                </a:tc>
                <a:tc>
                  <a:txBody>
                    <a:bodyPr/>
                    <a:lstStyle/>
                    <a:p>
                      <a:pPr algn="r"/>
                      <a:r>
                        <a:rPr lang="ru-RU" sz="1350" b="1">
                          <a:solidFill>
                            <a:schemeClr val="accent1"/>
                          </a:solidFill>
                          <a:latin typeface="Arial"/>
                          <a:ea typeface="Microsoft YaHei"/>
                          <a:cs typeface="Arial"/>
                        </a:rPr>
                        <a:t>65+, %</a:t>
                      </a:r>
                    </a:p>
                  </a:txBody>
                  <a:tcPr anchor="ctr" marL="152400" marR="152400" marT="76200" marB="76200">
                    <a:lnL>
                      <a:noFill/>
                    </a:lnL>
                    <a:lnR>
                      <a:noFill/>
                    </a:lnR>
                    <a:lnT>
                      <a:noFill/>
                    </a:lnT>
                    <a:lnB w="9525">
                      <a:solidFill>
                        <a:schemeClr val="accent6"/>
                      </a:solidFill>
                      <a:prstDash val="solid"/>
                    </a:lnB>
                    <a:solidFill>
                      <a:schemeClr val="lt2"/>
                    </a:solidFill>
                  </a:tcPr>
                </a:tc>
                <a:tc>
                  <a:txBody>
                    <a:bodyPr/>
                    <a:lstStyle/>
                    <a:p>
                      <a:pPr algn="r"/>
                      <a:r>
                        <a:rPr lang="ru-RU" sz="1350" b="1">
                          <a:solidFill>
                            <a:schemeClr val="accent1"/>
                          </a:solidFill>
                          <a:latin typeface="Arial"/>
                          <a:ea typeface="Microsoft YaHei"/>
                          <a:cs typeface="Arial"/>
                        </a:rPr>
                        <a:t>ГОРОД, %</a:t>
                      </a:r>
                    </a:p>
                  </a:txBody>
                  <a:tcPr anchor="ctr" marL="152400" marR="152400" marT="76200" marB="76200">
                    <a:lnL>
                      <a:noFill/>
                    </a:lnL>
                    <a:lnR>
                      <a:noFill/>
                    </a:lnR>
                    <a:lnT>
                      <a:noFill/>
                    </a:lnT>
                    <a:lnB w="9525">
                      <a:solidFill>
                        <a:schemeClr val="accent6"/>
                      </a:solidFill>
                      <a:prstDash val="solid"/>
                    </a:lnB>
                    <a:solidFill>
                      <a:schemeClr val="lt2"/>
                    </a:solidFill>
                  </a:tcPr>
                </a:tc>
              </a:tr>
              <a:tr h="533400">
                <a:tc>
                  <a:txBody>
                    <a:bodyPr/>
                    <a:lstStyle/>
                    <a:p>
                      <a:pPr/>
                      <a:r>
                        <a:rPr lang="ru-RU" sz="1650" b="1">
                          <a:solidFill>
                            <a:schemeClr val="accent2"/>
                          </a:solidFill>
                          <a:latin typeface="Arial"/>
                          <a:ea typeface="Microsoft YaHei"/>
                          <a:cs typeface="Arial"/>
                        </a:rPr>
                        <a:t>Россия</a:t>
                      </a:r>
                    </a:p>
                  </a:txBody>
                  <a:tcPr anchor="ctr" marL="152400" marR="152400" marT="76200" marB="76200">
                    <a:lnL>
                      <a:noFill/>
                    </a:lnL>
                    <a:lnR>
                      <a:noFill/>
                    </a:lnR>
                    <a:lnT>
                      <a:noFill/>
                    </a:lnT>
                    <a:lnB w="9525">
                      <a:solidFill>
                        <a:schemeClr val="accent6"/>
                      </a:solidFill>
                      <a:prstDash val="solid"/>
                    </a:lnB>
                    <a:solidFill>
                      <a:srgbClr val="F5E7E5"/>
                    </a:solidFill>
                  </a:tcPr>
                </a:tc>
                <a:tc>
                  <a:txBody>
                    <a:bodyPr/>
                    <a:lstStyle/>
                    <a:p>
                      <a:pPr algn="r"/>
                      <a:r>
                        <a:rPr lang="ru-RU" sz="1650" b="1">
                          <a:solidFill>
                            <a:schemeClr val="accent2"/>
                          </a:solidFill>
                          <a:latin typeface="Arial"/>
                          <a:ea typeface="Microsoft YaHei"/>
                          <a:cs typeface="Arial"/>
                        </a:rPr>
                        <a:t>1,42</a:t>
                      </a:r>
                    </a:p>
                  </a:txBody>
                  <a:tcPr anchor="ctr" marL="152400" marR="152400" marT="76200" marB="76200">
                    <a:lnL>
                      <a:noFill/>
                    </a:lnL>
                    <a:lnR>
                      <a:noFill/>
                    </a:lnR>
                    <a:lnT>
                      <a:noFill/>
                    </a:lnT>
                    <a:lnB w="9525">
                      <a:solidFill>
                        <a:schemeClr val="accent6"/>
                      </a:solidFill>
                      <a:prstDash val="solid"/>
                    </a:lnB>
                    <a:solidFill>
                      <a:srgbClr val="F5E7E5"/>
                    </a:solidFill>
                  </a:tcPr>
                </a:tc>
                <a:tc>
                  <a:txBody>
                    <a:bodyPr/>
                    <a:lstStyle/>
                    <a:p>
                      <a:pPr algn="r"/>
                      <a:r>
                        <a:rPr lang="ru-RU" sz="1650" b="1">
                          <a:solidFill>
                            <a:schemeClr val="accent2"/>
                          </a:solidFill>
                          <a:latin typeface="Arial"/>
                          <a:ea typeface="Microsoft YaHei"/>
                          <a:cs typeface="Arial"/>
                        </a:rPr>
                        <a:t>73,4</a:t>
                      </a:r>
                    </a:p>
                  </a:txBody>
                  <a:tcPr anchor="ctr" marL="152400" marR="152400" marT="76200" marB="76200">
                    <a:lnL>
                      <a:noFill/>
                    </a:lnL>
                    <a:lnR>
                      <a:noFill/>
                    </a:lnR>
                    <a:lnT>
                      <a:noFill/>
                    </a:lnT>
                    <a:lnB w="9525">
                      <a:solidFill>
                        <a:schemeClr val="accent6"/>
                      </a:solidFill>
                      <a:prstDash val="solid"/>
                    </a:lnB>
                    <a:solidFill>
                      <a:srgbClr val="F5E7E5"/>
                    </a:solidFill>
                  </a:tcPr>
                </a:tc>
                <a:tc>
                  <a:txBody>
                    <a:bodyPr/>
                    <a:lstStyle/>
                    <a:p>
                      <a:pPr algn="r"/>
                      <a:r>
                        <a:rPr lang="ru-RU" sz="1650" b="1">
                          <a:solidFill>
                            <a:schemeClr val="accent2"/>
                          </a:solidFill>
                          <a:latin typeface="Arial"/>
                          <a:ea typeface="Microsoft YaHei"/>
                          <a:cs typeface="Arial"/>
                        </a:rPr>
                        <a:t>17,2</a:t>
                      </a:r>
                    </a:p>
                  </a:txBody>
                  <a:tcPr anchor="ctr" marL="152400" marR="152400" marT="76200" marB="76200">
                    <a:lnL>
                      <a:noFill/>
                    </a:lnL>
                    <a:lnR>
                      <a:noFill/>
                    </a:lnR>
                    <a:lnT>
                      <a:noFill/>
                    </a:lnT>
                    <a:lnB w="9525">
                      <a:solidFill>
                        <a:schemeClr val="accent6"/>
                      </a:solidFill>
                      <a:prstDash val="solid"/>
                    </a:lnB>
                    <a:solidFill>
                      <a:srgbClr val="F5E7E5"/>
                    </a:solidFill>
                  </a:tcPr>
                </a:tc>
                <a:tc>
                  <a:txBody>
                    <a:bodyPr/>
                    <a:lstStyle/>
                    <a:p>
                      <a:pPr algn="r"/>
                      <a:r>
                        <a:rPr lang="ru-RU" sz="1650" b="1">
                          <a:solidFill>
                            <a:schemeClr val="accent2"/>
                          </a:solidFill>
                          <a:latin typeface="Arial"/>
                          <a:ea typeface="Microsoft YaHei"/>
                          <a:cs typeface="Arial"/>
                        </a:rPr>
                        <a:t>75,1</a:t>
                      </a:r>
                    </a:p>
                  </a:txBody>
                  <a:tcPr anchor="ctr" marL="152400" marR="152400" marT="76200" marB="76200">
                    <a:lnL>
                      <a:noFill/>
                    </a:lnL>
                    <a:lnR>
                      <a:noFill/>
                    </a:lnR>
                    <a:lnT>
                      <a:noFill/>
                    </a:lnT>
                    <a:lnB w="9525">
                      <a:solidFill>
                        <a:schemeClr val="accent6"/>
                      </a:solidFill>
                      <a:prstDash val="solid"/>
                    </a:lnB>
                    <a:solidFill>
                      <a:srgbClr val="F5E7E5"/>
                    </a:solidFill>
                  </a:tcPr>
                </a:tc>
              </a:tr>
              <a:tr h="533400">
                <a:tc>
                  <a:txBody>
                    <a:bodyPr/>
                    <a:lstStyle/>
                    <a:p>
                      <a:pPr/>
                      <a:r>
                        <a:rPr lang="ru-RU" sz="1650" b="0">
                          <a:solidFill>
                            <a:schemeClr val="dk1"/>
                          </a:solidFill>
                          <a:latin typeface="Arial"/>
                          <a:ea typeface="Microsoft YaHei"/>
                          <a:cs typeface="Arial"/>
                        </a:rPr>
                        <a:t>Германия</a:t>
                      </a:r>
                    </a:p>
                  </a:txBody>
                  <a:tcPr anchor="ctr" marL="152400" marR="152400" marT="76200" marB="76200">
                    <a:lnL>
                      <a:noFill/>
                    </a:lnL>
                    <a:lnR>
                      <a:noFill/>
                    </a:lnR>
                    <a:lnT>
                      <a:noFill/>
                    </a:lnT>
                    <a:lnB w="9525">
                      <a:solidFill>
                        <a:schemeClr val="accent6"/>
                      </a:solidFill>
                      <a:prstDash val="solid"/>
                    </a:lnB>
                    <a:noFill/>
                  </a:tcPr>
                </a:tc>
                <a:tc>
                  <a:txBody>
                    <a:bodyPr/>
                    <a:lstStyle/>
                    <a:p>
                      <a:pPr algn="r"/>
                      <a:r>
                        <a:rPr lang="ru-RU" sz="1650" b="0">
                          <a:solidFill>
                            <a:schemeClr val="accent1"/>
                          </a:solidFill>
                          <a:latin typeface="Arial"/>
                          <a:ea typeface="Microsoft YaHei"/>
                          <a:cs typeface="Arial"/>
                        </a:rPr>
                        <a:t>1,36</a:t>
                      </a:r>
                    </a:p>
                  </a:txBody>
                  <a:tcPr anchor="ctr" marL="152400" marR="152400" marT="76200" marB="76200">
                    <a:lnL>
                      <a:noFill/>
                    </a:lnL>
                    <a:lnR>
                      <a:noFill/>
                    </a:lnR>
                    <a:lnT>
                      <a:noFill/>
                    </a:lnT>
                    <a:lnB w="9525">
                      <a:solidFill>
                        <a:schemeClr val="accent6"/>
                      </a:solidFill>
                      <a:prstDash val="solid"/>
                    </a:lnB>
                    <a:noFill/>
                  </a:tcPr>
                </a:tc>
                <a:tc>
                  <a:txBody>
                    <a:bodyPr/>
                    <a:lstStyle/>
                    <a:p>
                      <a:pPr algn="r"/>
                      <a:r>
                        <a:rPr lang="ru-RU" sz="1650" b="0">
                          <a:solidFill>
                            <a:schemeClr val="accent1"/>
                          </a:solidFill>
                          <a:latin typeface="Arial"/>
                          <a:ea typeface="Microsoft YaHei"/>
                          <a:cs typeface="Arial"/>
                        </a:rPr>
                        <a:t>80,8</a:t>
                      </a:r>
                    </a:p>
                  </a:txBody>
                  <a:tcPr anchor="ctr" marL="152400" marR="152400" marT="76200" marB="76200">
                    <a:lnL>
                      <a:noFill/>
                    </a:lnL>
                    <a:lnR>
                      <a:noFill/>
                    </a:lnR>
                    <a:lnT>
                      <a:noFill/>
                    </a:lnT>
                    <a:lnB w="9525">
                      <a:solidFill>
                        <a:schemeClr val="accent6"/>
                      </a:solidFill>
                      <a:prstDash val="solid"/>
                    </a:lnB>
                    <a:noFill/>
                  </a:tcPr>
                </a:tc>
                <a:tc>
                  <a:txBody>
                    <a:bodyPr/>
                    <a:lstStyle/>
                    <a:p>
                      <a:pPr algn="r"/>
                      <a:r>
                        <a:rPr lang="ru-RU" sz="1650" b="0">
                          <a:solidFill>
                            <a:schemeClr val="accent1"/>
                          </a:solidFill>
                          <a:latin typeface="Arial"/>
                          <a:ea typeface="Microsoft YaHei"/>
                          <a:cs typeface="Arial"/>
                        </a:rPr>
                        <a:t>23,2</a:t>
                      </a:r>
                    </a:p>
                  </a:txBody>
                  <a:tcPr anchor="ctr" marL="152400" marR="152400" marT="76200" marB="76200">
                    <a:lnL>
                      <a:noFill/>
                    </a:lnL>
                    <a:lnR>
                      <a:noFill/>
                    </a:lnR>
                    <a:lnT>
                      <a:noFill/>
                    </a:lnT>
                    <a:lnB w="9525">
                      <a:solidFill>
                        <a:schemeClr val="accent6"/>
                      </a:solidFill>
                      <a:prstDash val="solid"/>
                    </a:lnB>
                    <a:noFill/>
                  </a:tcPr>
                </a:tc>
                <a:tc>
                  <a:txBody>
                    <a:bodyPr/>
                    <a:lstStyle/>
                    <a:p>
                      <a:pPr algn="r"/>
                      <a:r>
                        <a:rPr lang="ru-RU" sz="1650" b="0">
                          <a:solidFill>
                            <a:schemeClr val="accent1"/>
                          </a:solidFill>
                          <a:latin typeface="Arial"/>
                          <a:ea typeface="Microsoft YaHei"/>
                          <a:cs typeface="Arial"/>
                        </a:rPr>
                        <a:t>82,0</a:t>
                      </a:r>
                    </a:p>
                  </a:txBody>
                  <a:tcPr anchor="ctr" marL="152400" marR="152400" marT="76200" marB="76200">
                    <a:lnL>
                      <a:noFill/>
                    </a:lnL>
                    <a:lnR>
                      <a:noFill/>
                    </a:lnR>
                    <a:lnT>
                      <a:noFill/>
                    </a:lnT>
                    <a:lnB w="9525">
                      <a:solidFill>
                        <a:schemeClr val="accent6"/>
                      </a:solidFill>
                      <a:prstDash val="solid"/>
                    </a:lnB>
                    <a:noFill/>
                  </a:tcPr>
                </a:tc>
              </a:tr>
              <a:tr h="533400">
                <a:tc>
                  <a:txBody>
                    <a:bodyPr/>
                    <a:lstStyle/>
                    <a:p>
                      <a:pPr/>
                      <a:r>
                        <a:rPr lang="ru-RU" sz="1650" b="0">
                          <a:solidFill>
                            <a:schemeClr val="dk1"/>
                          </a:solidFill>
                          <a:latin typeface="Arial"/>
                          <a:ea typeface="Microsoft YaHei"/>
                          <a:cs typeface="Arial"/>
                        </a:rPr>
                        <a:t>Япония</a:t>
                      </a:r>
                    </a:p>
                  </a:txBody>
                  <a:tcPr anchor="ctr" marL="152400" marR="152400" marT="76200" marB="76200">
                    <a:lnL>
                      <a:noFill/>
                    </a:lnL>
                    <a:lnR>
                      <a:noFill/>
                    </a:lnR>
                    <a:lnT>
                      <a:noFill/>
                    </a:lnT>
                    <a:lnB w="9525">
                      <a:solidFill>
                        <a:schemeClr val="accent6"/>
                      </a:solidFill>
                      <a:prstDash val="solid"/>
                    </a:lnB>
                    <a:noFill/>
                  </a:tcPr>
                </a:tc>
                <a:tc>
                  <a:txBody>
                    <a:bodyPr/>
                    <a:lstStyle/>
                    <a:p>
                      <a:pPr algn="r"/>
                      <a:r>
                        <a:rPr lang="ru-RU" sz="1650" b="0">
                          <a:solidFill>
                            <a:schemeClr val="accent1"/>
                          </a:solidFill>
                          <a:latin typeface="Arial"/>
                          <a:ea typeface="Microsoft YaHei"/>
                          <a:cs typeface="Arial"/>
                        </a:rPr>
                        <a:t>1,15</a:t>
                      </a:r>
                    </a:p>
                  </a:txBody>
                  <a:tcPr anchor="ctr" marL="152400" marR="152400" marT="76200" marB="76200">
                    <a:lnL>
                      <a:noFill/>
                    </a:lnL>
                    <a:lnR>
                      <a:noFill/>
                    </a:lnR>
                    <a:lnT>
                      <a:noFill/>
                    </a:lnT>
                    <a:lnB w="9525">
                      <a:solidFill>
                        <a:schemeClr val="accent6"/>
                      </a:solidFill>
                      <a:prstDash val="solid"/>
                    </a:lnB>
                    <a:noFill/>
                  </a:tcPr>
                </a:tc>
                <a:tc>
                  <a:txBody>
                    <a:bodyPr/>
                    <a:lstStyle/>
                    <a:p>
                      <a:pPr algn="r"/>
                      <a:r>
                        <a:rPr lang="ru-RU" sz="1650" b="0">
                          <a:solidFill>
                            <a:schemeClr val="accent1"/>
                          </a:solidFill>
                          <a:latin typeface="Arial"/>
                          <a:ea typeface="Microsoft YaHei"/>
                          <a:cs typeface="Arial"/>
                        </a:rPr>
                        <a:t>84,0</a:t>
                      </a:r>
                    </a:p>
                  </a:txBody>
                  <a:tcPr anchor="ctr" marL="152400" marR="152400" marT="76200" marB="76200">
                    <a:lnL>
                      <a:noFill/>
                    </a:lnL>
                    <a:lnR>
                      <a:noFill/>
                    </a:lnR>
                    <a:lnT>
                      <a:noFill/>
                    </a:lnT>
                    <a:lnB w="9525">
                      <a:solidFill>
                        <a:schemeClr val="accent6"/>
                      </a:solidFill>
                      <a:prstDash val="solid"/>
                    </a:lnB>
                    <a:noFill/>
                  </a:tcPr>
                </a:tc>
                <a:tc>
                  <a:txBody>
                    <a:bodyPr/>
                    <a:lstStyle/>
                    <a:p>
                      <a:pPr algn="r"/>
                      <a:r>
                        <a:rPr lang="ru-RU" sz="1650" b="0">
                          <a:solidFill>
                            <a:schemeClr val="accent1"/>
                          </a:solidFill>
                          <a:latin typeface="Arial"/>
                          <a:ea typeface="Microsoft YaHei"/>
                          <a:cs typeface="Arial"/>
                        </a:rPr>
                        <a:t>29,8</a:t>
                      </a:r>
                    </a:p>
                  </a:txBody>
                  <a:tcPr anchor="ctr" marL="152400" marR="152400" marT="76200" marB="76200">
                    <a:lnL>
                      <a:noFill/>
                    </a:lnL>
                    <a:lnR>
                      <a:noFill/>
                    </a:lnR>
                    <a:lnT>
                      <a:noFill/>
                    </a:lnT>
                    <a:lnB w="9525">
                      <a:solidFill>
                        <a:schemeClr val="accent6"/>
                      </a:solidFill>
                      <a:prstDash val="solid"/>
                    </a:lnB>
                    <a:noFill/>
                  </a:tcPr>
                </a:tc>
                <a:tc>
                  <a:txBody>
                    <a:bodyPr/>
                    <a:lstStyle/>
                    <a:p>
                      <a:pPr algn="r"/>
                      <a:r>
                        <a:rPr lang="ru-RU" sz="1650" b="0">
                          <a:solidFill>
                            <a:schemeClr val="accent1"/>
                          </a:solidFill>
                          <a:latin typeface="Arial"/>
                          <a:ea typeface="Microsoft YaHei"/>
                          <a:cs typeface="Arial"/>
                        </a:rPr>
                        <a:t>92,2</a:t>
                      </a:r>
                    </a:p>
                  </a:txBody>
                  <a:tcPr anchor="ctr" marL="152400" marR="152400" marT="76200" marB="76200">
                    <a:lnL>
                      <a:noFill/>
                    </a:lnL>
                    <a:lnR>
                      <a:noFill/>
                    </a:lnR>
                    <a:lnT>
                      <a:noFill/>
                    </a:lnT>
                    <a:lnB w="9525">
                      <a:solidFill>
                        <a:schemeClr val="accent6"/>
                      </a:solidFill>
                      <a:prstDash val="solid"/>
                    </a:lnB>
                    <a:noFill/>
                  </a:tcPr>
                </a:tc>
              </a:tr>
              <a:tr h="533400">
                <a:tc>
                  <a:txBody>
                    <a:bodyPr/>
                    <a:lstStyle/>
                    <a:p>
                      <a:pPr/>
                      <a:r>
                        <a:rPr lang="ru-RU" sz="1650" b="0">
                          <a:solidFill>
                            <a:schemeClr val="dk1"/>
                          </a:solidFill>
                          <a:latin typeface="Arial"/>
                          <a:ea typeface="Microsoft YaHei"/>
                          <a:cs typeface="Arial"/>
                        </a:rPr>
                        <a:t>Китай</a:t>
                      </a:r>
                    </a:p>
                  </a:txBody>
                  <a:tcPr anchor="ctr" marL="152400" marR="152400" marT="76200" marB="76200">
                    <a:lnL>
                      <a:noFill/>
                    </a:lnL>
                    <a:lnR>
                      <a:noFill/>
                    </a:lnR>
                    <a:lnT>
                      <a:noFill/>
                    </a:lnT>
                    <a:lnB w="9525">
                      <a:solidFill>
                        <a:schemeClr val="accent6"/>
                      </a:solidFill>
                      <a:prstDash val="solid"/>
                    </a:lnB>
                    <a:noFill/>
                  </a:tcPr>
                </a:tc>
                <a:tc>
                  <a:txBody>
                    <a:bodyPr/>
                    <a:lstStyle/>
                    <a:p>
                      <a:pPr algn="r"/>
                      <a:r>
                        <a:rPr lang="ru-RU" sz="1650" b="0">
                          <a:solidFill>
                            <a:schemeClr val="accent1"/>
                          </a:solidFill>
                          <a:latin typeface="Arial"/>
                          <a:ea typeface="Microsoft YaHei"/>
                          <a:cs typeface="Arial"/>
                        </a:rPr>
                        <a:t>1,01</a:t>
                      </a:r>
                    </a:p>
                  </a:txBody>
                  <a:tcPr anchor="ctr" marL="152400" marR="152400" marT="76200" marB="76200">
                    <a:lnL>
                      <a:noFill/>
                    </a:lnL>
                    <a:lnR>
                      <a:noFill/>
                    </a:lnR>
                    <a:lnT>
                      <a:noFill/>
                    </a:lnT>
                    <a:lnB w="9525">
                      <a:solidFill>
                        <a:schemeClr val="accent6"/>
                      </a:solidFill>
                      <a:prstDash val="solid"/>
                    </a:lnB>
                    <a:noFill/>
                  </a:tcPr>
                </a:tc>
                <a:tc>
                  <a:txBody>
                    <a:bodyPr/>
                    <a:lstStyle/>
                    <a:p>
                      <a:pPr algn="r"/>
                      <a:r>
                        <a:rPr lang="ru-RU" sz="1650" b="0">
                          <a:solidFill>
                            <a:schemeClr val="accent1"/>
                          </a:solidFill>
                          <a:latin typeface="Arial"/>
                          <a:ea typeface="Microsoft YaHei"/>
                          <a:cs typeface="Arial"/>
                        </a:rPr>
                        <a:t>78,0</a:t>
                      </a:r>
                    </a:p>
                  </a:txBody>
                  <a:tcPr anchor="ctr" marL="152400" marR="152400" marT="76200" marB="76200">
                    <a:lnL>
                      <a:noFill/>
                    </a:lnL>
                    <a:lnR>
                      <a:noFill/>
                    </a:lnR>
                    <a:lnT>
                      <a:noFill/>
                    </a:lnT>
                    <a:lnB w="9525">
                      <a:solidFill>
                        <a:schemeClr val="accent6"/>
                      </a:solidFill>
                      <a:prstDash val="solid"/>
                    </a:lnB>
                    <a:noFill/>
                  </a:tcPr>
                </a:tc>
                <a:tc>
                  <a:txBody>
                    <a:bodyPr/>
                    <a:lstStyle/>
                    <a:p>
                      <a:pPr algn="r"/>
                      <a:r>
                        <a:rPr lang="ru-RU" sz="1650" b="0">
                          <a:solidFill>
                            <a:schemeClr val="accent1"/>
                          </a:solidFill>
                          <a:latin typeface="Arial"/>
                          <a:ea typeface="Microsoft YaHei"/>
                          <a:cs typeface="Arial"/>
                        </a:rPr>
                        <a:t>14,7</a:t>
                      </a:r>
                    </a:p>
                  </a:txBody>
                  <a:tcPr anchor="ctr" marL="152400" marR="152400" marT="76200" marB="76200">
                    <a:lnL>
                      <a:noFill/>
                    </a:lnL>
                    <a:lnR>
                      <a:noFill/>
                    </a:lnR>
                    <a:lnT>
                      <a:noFill/>
                    </a:lnT>
                    <a:lnB w="9525">
                      <a:solidFill>
                        <a:schemeClr val="accent6"/>
                      </a:solidFill>
                      <a:prstDash val="solid"/>
                    </a:lnB>
                    <a:noFill/>
                  </a:tcPr>
                </a:tc>
                <a:tc>
                  <a:txBody>
                    <a:bodyPr/>
                    <a:lstStyle/>
                    <a:p>
                      <a:pPr algn="r"/>
                      <a:r>
                        <a:rPr lang="ru-RU" sz="1650" b="0">
                          <a:solidFill>
                            <a:schemeClr val="accent1"/>
                          </a:solidFill>
                          <a:latin typeface="Arial"/>
                          <a:ea typeface="Microsoft YaHei"/>
                          <a:cs typeface="Arial"/>
                        </a:rPr>
                        <a:t>65,9</a:t>
                      </a:r>
                    </a:p>
                  </a:txBody>
                  <a:tcPr anchor="ctr" marL="152400" marR="152400" marT="76200" marB="76200">
                    <a:lnL>
                      <a:noFill/>
                    </a:lnL>
                    <a:lnR>
                      <a:noFill/>
                    </a:lnR>
                    <a:lnT>
                      <a:noFill/>
                    </a:lnT>
                    <a:lnB w="9525">
                      <a:solidFill>
                        <a:schemeClr val="accent6"/>
                      </a:solidFill>
                      <a:prstDash val="solid"/>
                    </a:lnB>
                    <a:noFill/>
                  </a:tcPr>
                </a:tc>
              </a:tr>
              <a:tr h="533400">
                <a:tc>
                  <a:txBody>
                    <a:bodyPr/>
                    <a:lstStyle/>
                    <a:p>
                      <a:pPr/>
                      <a:r>
                        <a:rPr lang="ru-RU" sz="1650" b="0">
                          <a:solidFill>
                            <a:schemeClr val="dk1"/>
                          </a:solidFill>
                          <a:latin typeface="Arial"/>
                          <a:ea typeface="Microsoft YaHei"/>
                          <a:cs typeface="Arial"/>
                        </a:rPr>
                        <a:t>США</a:t>
                      </a:r>
                    </a:p>
                  </a:txBody>
                  <a:tcPr anchor="ctr" marL="152400" marR="152400" marT="76200" marB="76200">
                    <a:lnL>
                      <a:noFill/>
                    </a:lnL>
                    <a:lnR>
                      <a:noFill/>
                    </a:lnR>
                    <a:lnT>
                      <a:noFill/>
                    </a:lnT>
                    <a:lnB w="9525">
                      <a:solidFill>
                        <a:schemeClr val="accent6"/>
                      </a:solidFill>
                      <a:prstDash val="solid"/>
                    </a:lnB>
                    <a:noFill/>
                  </a:tcPr>
                </a:tc>
                <a:tc>
                  <a:txBody>
                    <a:bodyPr/>
                    <a:lstStyle/>
                    <a:p>
                      <a:pPr algn="r"/>
                      <a:r>
                        <a:rPr lang="ru-RU" sz="1650" b="0">
                          <a:solidFill>
                            <a:schemeClr val="accent1"/>
                          </a:solidFill>
                          <a:latin typeface="Arial"/>
                          <a:ea typeface="Microsoft YaHei"/>
                          <a:cs typeface="Arial"/>
                        </a:rPr>
                        <a:t>1,63</a:t>
                      </a:r>
                    </a:p>
                  </a:txBody>
                  <a:tcPr anchor="ctr" marL="152400" marR="152400" marT="76200" marB="76200">
                    <a:lnL>
                      <a:noFill/>
                    </a:lnL>
                    <a:lnR>
                      <a:noFill/>
                    </a:lnR>
                    <a:lnT>
                      <a:noFill/>
                    </a:lnT>
                    <a:lnB w="9525">
                      <a:solidFill>
                        <a:schemeClr val="accent6"/>
                      </a:solidFill>
                      <a:prstDash val="solid"/>
                    </a:lnB>
                    <a:noFill/>
                  </a:tcPr>
                </a:tc>
                <a:tc>
                  <a:txBody>
                    <a:bodyPr/>
                    <a:lstStyle/>
                    <a:p>
                      <a:pPr algn="r"/>
                      <a:r>
                        <a:rPr lang="ru-RU" sz="1650" b="0">
                          <a:solidFill>
                            <a:schemeClr val="accent1"/>
                          </a:solidFill>
                          <a:latin typeface="Arial"/>
                          <a:ea typeface="Microsoft YaHei"/>
                          <a:cs typeface="Arial"/>
                        </a:rPr>
                        <a:t>78,9</a:t>
                      </a:r>
                    </a:p>
                  </a:txBody>
                  <a:tcPr anchor="ctr" marL="152400" marR="152400" marT="76200" marB="76200">
                    <a:lnL>
                      <a:noFill/>
                    </a:lnL>
                    <a:lnR>
                      <a:noFill/>
                    </a:lnR>
                    <a:lnT>
                      <a:noFill/>
                    </a:lnT>
                    <a:lnB w="9525">
                      <a:solidFill>
                        <a:schemeClr val="accent6"/>
                      </a:solidFill>
                      <a:prstDash val="solid"/>
                    </a:lnB>
                    <a:noFill/>
                  </a:tcPr>
                </a:tc>
                <a:tc>
                  <a:txBody>
                    <a:bodyPr/>
                    <a:lstStyle/>
                    <a:p>
                      <a:pPr algn="r"/>
                      <a:r>
                        <a:rPr lang="ru-RU" sz="1650" b="0">
                          <a:solidFill>
                            <a:schemeClr val="accent1"/>
                          </a:solidFill>
                          <a:latin typeface="Arial"/>
                          <a:ea typeface="Microsoft YaHei"/>
                          <a:cs typeface="Arial"/>
                        </a:rPr>
                        <a:t>17,9</a:t>
                      </a:r>
                    </a:p>
                  </a:txBody>
                  <a:tcPr anchor="ctr" marL="152400" marR="152400" marT="76200" marB="76200">
                    <a:lnL>
                      <a:noFill/>
                    </a:lnL>
                    <a:lnR>
                      <a:noFill/>
                    </a:lnR>
                    <a:lnT>
                      <a:noFill/>
                    </a:lnT>
                    <a:lnB w="9525">
                      <a:solidFill>
                        <a:schemeClr val="accent6"/>
                      </a:solidFill>
                      <a:prstDash val="solid"/>
                    </a:lnB>
                    <a:noFill/>
                  </a:tcPr>
                </a:tc>
                <a:tc>
                  <a:txBody>
                    <a:bodyPr/>
                    <a:lstStyle/>
                    <a:p>
                      <a:pPr algn="r"/>
                      <a:r>
                        <a:rPr lang="ru-RU" sz="1650" b="0">
                          <a:solidFill>
                            <a:schemeClr val="accent1"/>
                          </a:solidFill>
                          <a:latin typeface="Arial"/>
                          <a:ea typeface="Microsoft YaHei"/>
                          <a:cs typeface="Arial"/>
                        </a:rPr>
                        <a:t>80,1</a:t>
                      </a:r>
                    </a:p>
                  </a:txBody>
                  <a:tcPr anchor="ctr" marL="152400" marR="152400" marT="76200" marB="76200">
                    <a:lnL>
                      <a:noFill/>
                    </a:lnL>
                    <a:lnR>
                      <a:noFill/>
                    </a:lnR>
                    <a:lnT>
                      <a:noFill/>
                    </a:lnT>
                    <a:lnB w="9525">
                      <a:solidFill>
                        <a:schemeClr val="accent6"/>
                      </a:solidFill>
                      <a:prstDash val="solid"/>
                    </a:lnB>
                    <a:noFill/>
                  </a:tcPr>
                </a:tc>
              </a:tr>
            </a:tbl>
          </a:graphicData>
        </a:graphic>
      </p:graphicFrame>
      <p:grpSp>
        <p:nvGrpSpPr>
          <p:cNvPr id="13" name="country-note"/>
          <p:cNvGrpSpPr/>
          <p:nvPr/>
        </p:nvGrpSpPr>
        <p:grpSpPr>
          <a:xfrm>
            <a:off x="678942" y="5283518"/>
            <a:ext cx="7501383" cy="759333"/>
            <a:chOff x="678942" y="5283518"/>
            <a:chExt cx="7501383" cy="759333"/>
          </a:xfrm>
        </p:grpSpPr>
        <p:sp>
          <p:nvSpPr>
            <p:cNvPr id="12" name="TextBox 12"/>
            <p:cNvSpPr txBox="1"/>
            <p:nvPr/>
          </p:nvSpPr>
          <p:spPr>
            <a:xfrm>
              <a:off x="678942" y="5283518"/>
              <a:ext cx="7501383" cy="759333"/>
            </a:xfrm>
            <a:prstGeom prst="rect">
              <a:avLst/>
            </a:prstGeom>
            <a:noFill/>
            <a:ln>
              <a:noFill/>
            </a:ln>
          </p:spPr>
          <p:txBody>
            <a:bodyPr wrap="none" lIns="0" tIns="0" rIns="0" bIns="0" anchor="t" anchorCtr="0">
              <a:spAutoFit/>
            </a:bodyPr>
            <a:lstStyle/>
            <a:p>
              <a:pPr algn="l">
                <a:lnSpc>
                  <a:spcPts val="1950"/>
                </a:lnSpc>
              </a:pPr>
              <a:r>
                <a:rPr lang="ru-RU" sz="1350" dirty="0">
                  <a:solidFill>
                    <a:schemeClr val="accent5"/>
                  </a:solidFill>
                  <a:latin typeface="+mn-lt"/>
                  <a:ea typeface="+mn-ea"/>
                  <a:cs typeface="+mn-cs"/>
                </a:rPr>
                <a:t>СКР — суммарный коэффициент рождаемости, рождений на женщину.</a:t>
              </a:r>
              <a:br/>
              <a:r>
                <a:rPr lang="ru-RU" sz="1350" dirty="0">
                  <a:solidFill>
                    <a:schemeClr val="accent5"/>
                  </a:solidFill>
                  <a:latin typeface="+mn-lt"/>
                  <a:ea typeface="+mn-ea"/>
                  <a:cs typeface="+mn-cs"/>
                </a:rPr>
                <a:t>Страны сопоставления выбраны как крупные экономики с длинными рядами.</a:t>
              </a:r>
              <a:br/>
              <a:r>
                <a:rPr lang="ru-RU" sz="1350" dirty="0">
                  <a:solidFill>
                    <a:schemeClr val="accent5"/>
                  </a:solidFill>
                  <a:latin typeface="+mn-lt"/>
                  <a:ea typeface="+mn-ea"/>
                  <a:cs typeface="+mn-cs"/>
                </a:rPr>
                <a:t>По СКР Россия выше Германии, Японии и Китая, но по продолжительности жизни — ниже всех.</a:t>
              </a:r>
            </a:p>
          </p:txBody>
        </p:sp>
      </p:grpSp>
      <p:grpSp>
        <p:nvGrpSpPr>
          <p:cNvPr id="16" name="page-footer"/>
          <p:cNvGrpSpPr/>
          <p:nvPr/>
        </p:nvGrpSpPr>
        <p:grpSpPr>
          <a:xfrm>
            <a:off x="679704" y="6442710"/>
            <a:ext cx="10832592" cy="234696"/>
            <a:chOff x="679704" y="6442710"/>
            <a:chExt cx="10832592" cy="234696"/>
          </a:xfrm>
        </p:grpSpPr>
        <p:sp>
          <p:nvSpPr>
            <p:cNvPr id="14" name="TextBox 14"/>
            <p:cNvSpPr txBox="1"/>
            <p:nvPr/>
          </p:nvSpPr>
          <p:spPr>
            <a:xfrm>
              <a:off x="679704" y="6442710"/>
              <a:ext cx="7942937" cy="234696"/>
            </a:xfrm>
            <a:prstGeom prst="rect">
              <a:avLst/>
            </a:prstGeom>
            <a:noFill/>
            <a:ln>
              <a:noFill/>
            </a:ln>
          </p:spPr>
          <p:txBody>
            <a:bodyPr wrap="none" lIns="0" tIns="0" rIns="0" bIns="0" anchor="t" anchorCtr="0">
              <a:spAutoFit/>
            </a:bodyPr>
            <a:lstStyle/>
            <a:p>
              <a:pPr algn="l"/>
              <a:r>
                <a:rPr lang="ru-RU" sz="1200" dirty="0">
                  <a:solidFill>
                    <a:schemeClr val="accent5"/>
                  </a:solidFill>
                  <a:latin typeface="+mn-lt"/>
                  <a:ea typeface="+mn-ea"/>
                  <a:cs typeface="+mn-cs"/>
                </a:rPr>
                <a:t>Всемирный банк, SP.DYN.TFRT.IN, SP.DYN.LE00.IN, SP.POP.65UP.TO.ZS, SP.URB.TOTL.IN.ZS, 2024</a:t>
              </a:r>
            </a:p>
          </p:txBody>
        </p:sp>
        <p:sp>
          <p:nvSpPr>
            <p:cNvPr id="15" name="TextBox 15"/>
            <p:cNvSpPr txBox="1"/>
            <p:nvPr/>
          </p:nvSpPr>
          <p:spPr>
            <a:xfrm>
              <a:off x="11320402" y="6442710"/>
              <a:ext cx="191894" cy="234696"/>
            </a:xfrm>
            <a:prstGeom prst="rect">
              <a:avLst/>
            </a:prstGeom>
            <a:noFill/>
            <a:ln>
              <a:noFill/>
            </a:ln>
          </p:spPr>
          <p:txBody>
            <a:bodyPr wrap="none" lIns="0" tIns="0" rIns="0" bIns="0" anchor="t" anchorCtr="0">
              <a:spAutoFit/>
            </a:bodyPr>
            <a:lstStyle/>
            <a:p>
              <a:pPr algn="r"/>
              <a:r>
                <a:rPr lang="ru-RU" sz="1200" dirty="0">
                  <a:solidFill>
                    <a:schemeClr val="accent5"/>
                  </a:solidFill>
                  <a:latin typeface="+mn-lt"/>
                  <a:ea typeface="+mn-ea"/>
                  <a:cs typeface="+mn-cs"/>
                </a:rPr>
                <a:t>13</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childTnLst>
                          </p:cTn>
                        </p:par>
                        <p:par>
                          <p:cTn id="8" fill="hold">
                            <p:stCondLst>
                              <p:cond delay="400"/>
                            </p:stCondLst>
                            <p:childTnLst>
                              <p:par>
                                <p:cTn xmlns:p="http://schemas.openxmlformats.org/presentationml/2006/main" id="9" presetID="22" presetClass="entr" presetSubtype="4" fill="hold" grpId="0" nodeType="afterEffect">
                                  <p:stCondLst>
                                    <p:cond delay="500"/>
                                  </p:stCondLst>
                                  <p:childTnLst>
                                    <p:set>
                                      <p:cBhvr>
                                        <p:cTn id="10" dur="1" fill="hold">
                                          <p:stCondLst>
                                            <p:cond delay="0"/>
                                          </p:stCondLst>
                                        </p:cTn>
                                        <p:tgtEl>
                                          <p:spTgt spid="11"/>
                                        </p:tgtEl>
                                        <p:attrNameLst>
                                          <p:attrName>style.visibility</p:attrName>
                                        </p:attrNameLst>
                                      </p:cBhvr>
                                      <p:to>
                                        <p:strVal val="visible"/>
                                      </p:to>
                                    </p:set>
                                    <p:animEffect transition="in" filter="wipe(down)">
                                      <p:cBhvr>
                                        <p:cTn id="11" dur="900"/>
                                        <p:tgtEl>
                                          <p:spTgt spid="11"/>
                                        </p:tgtEl>
                                      </p:cBhvr>
                                    </p:animEffect>
                                  </p:childTnLst>
                                </p:cTn>
                              </p:par>
                            </p:childTnLst>
                          </p:cTn>
                        </p:par>
                        <p:par>
                          <p:cTn id="12" fill="hold">
                            <p:stCondLst>
                              <p:cond delay="1800"/>
                            </p:stCondLst>
                            <p:childTnLst>
                              <p:par>
                                <p:cTn xmlns:p="http://schemas.openxmlformats.org/presentationml/2006/main" id="13" presetID="10" presetClass="entr" presetSubtype="0" fill="hold" grpId="0" nodeType="afterEffect">
                                  <p:stCondLst>
                                    <p:cond delay="50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age-header"/>
          <p:cNvGrpSpPr/>
          <p:nvPr/>
        </p:nvGrpSpPr>
        <p:grpSpPr>
          <a:xfrm>
            <a:off x="670560" y="590550"/>
            <a:ext cx="7199391" cy="1212723"/>
            <a:chOff x="670560" y="590550"/>
            <a:chExt cx="7199391" cy="1212723"/>
          </a:xfrm>
        </p:grpSpPr>
        <p:sp>
          <p:nvSpPr>
            <p:cNvPr id="2" name="TextBox 2"/>
            <p:cNvSpPr txBox="1"/>
            <p:nvPr/>
          </p:nvSpPr>
          <p:spPr>
            <a:xfrm>
              <a:off x="670560" y="590550"/>
              <a:ext cx="6966318" cy="586740"/>
            </a:xfrm>
            <a:prstGeom prst="rect">
              <a:avLst/>
            </a:prstGeom>
            <a:noFill/>
            <a:ln>
              <a:noFill/>
            </a:ln>
          </p:spPr>
          <p:txBody>
            <a:bodyPr wrap="none" lIns="0" tIns="0" rIns="0" bIns="0" anchor="t" anchorCtr="0">
              <a:spAutoFit/>
            </a:bodyPr>
            <a:lstStyle/>
            <a:p>
              <a:pPr algn="l"/>
              <a:r>
                <a:rPr lang="ru-RU" sz="3000" b="1" dirty="0">
                  <a:solidFill>
                    <a:schemeClr val="accent1"/>
                  </a:solidFill>
                  <a:latin typeface="+mj-lt"/>
                  <a:ea typeface="+mj-ea"/>
                  <a:cs typeface="+mj-cs"/>
                </a:rPr>
                <a:t>Россия прибавила 4,9 года жизни</a:t>
              </a:r>
            </a:p>
          </p:txBody>
        </p:sp>
        <p:sp>
          <p:nvSpPr>
            <p:cNvPr id="3" name="TextBox 3"/>
            <p:cNvSpPr txBox="1"/>
            <p:nvPr/>
          </p:nvSpPr>
          <p:spPr>
            <a:xfrm>
              <a:off x="675132" y="1068705"/>
              <a:ext cx="7194819" cy="734568"/>
            </a:xfrm>
            <a:prstGeom prst="rect">
              <a:avLst/>
            </a:prstGeom>
            <a:noFill/>
            <a:ln>
              <a:noFill/>
            </a:ln>
          </p:spPr>
          <p:txBody>
            <a:bodyPr wrap="none" lIns="0" tIns="0" rIns="0" bIns="0" anchor="t" anchorCtr="0">
              <a:spAutoFit/>
            </a:bodyPr>
            <a:lstStyle/>
            <a:p>
              <a:pPr algn="l">
                <a:lnSpc>
                  <a:spcPts val="2550"/>
                </a:lnSpc>
              </a:pPr>
              <a:r>
                <a:rPr lang="ru-RU" sz="2100" dirty="0">
                  <a:solidFill>
                    <a:schemeClr val="dk1"/>
                  </a:solidFill>
                  <a:latin typeface="+mn-lt"/>
                  <a:ea typeface="+mn-ea"/>
                  <a:cs typeface="+mn-cs"/>
                </a:rPr>
                <a:t>Китай за тот же период — +9,4 года</a:t>
              </a:r>
              <a:br/>
              <a:r>
                <a:rPr lang="ru-RU" sz="2100" dirty="0">
                  <a:solidFill>
                    <a:schemeClr val="dk1"/>
                  </a:solidFill>
                  <a:latin typeface="+mn-lt"/>
                  <a:ea typeface="+mn-ea"/>
                  <a:cs typeface="+mn-cs"/>
                </a:rPr>
                <a:t>Российское значение 2024 года — самое низкое из пяти</a:t>
              </a:r>
            </a:p>
          </p:txBody>
        </p:sp>
      </p:grpSp>
      <p:grpSp>
        <p:nvGrpSpPr>
          <p:cNvPr id="22" name="le-compare"/>
          <p:cNvGrpSpPr/>
          <p:nvPr/>
        </p:nvGrpSpPr>
        <p:grpSpPr>
          <a:xfrm>
            <a:off x="685800" y="1787842"/>
            <a:ext cx="10820400" cy="3889058"/>
            <a:chOff x="685800" y="1787842"/>
            <a:chExt cx="10820400" cy="3889058"/>
          </a:xfrm>
        </p:grpSpPr>
        <p:graphicFrame>
          <p:nvGraphicFramePr>
            <p:cNvPr id="5" name="le-compare"/>
            <p:cNvGraphicFramePr>
              <a:graphicFrameLocks noGrp="1"/>
            </p:cNvGraphicFramePr>
            <p:nvPr/>
          </p:nvGraphicFramePr>
          <p:xfrm>
            <a:off x="685800" y="1866900"/>
            <a:ext cx="10820400" cy="3810000"/>
          </p:xfrm>
          <a:graphic>
            <a:graphicData uri="http://schemas.openxmlformats.org/drawingml/2006/chart">
              <c:chart xmlns:c="http://schemas.openxmlformats.org/drawingml/2006/chart" r:id="rId2"/>
            </a:graphicData>
          </a:graphic>
        </p:graphicFrame>
        <p:sp>
          <p:nvSpPr>
            <p:cNvPr id="6" name="Chart Note 6"/>
            <p:cNvSpPr txBox="1"/>
            <p:nvPr/>
          </p:nvSpPr>
          <p:spPr>
            <a:xfrm>
              <a:off x="1428750" y="1787842"/>
              <a:ext cx="571500" cy="274320"/>
            </a:xfrm>
            <a:prstGeom prst="rect">
              <a:avLst/>
            </a:prstGeom>
            <a:noFill/>
            <a:ln>
              <a:noFill/>
            </a:ln>
          </p:spPr>
          <p:txBody>
            <a:bodyPr wrap="square" lIns="0" tIns="0" rIns="0" bIns="0" anchor="b" anchorCtr="0"/>
            <a:lstStyle/>
            <a:p>
              <a:pPr algn="l"/>
              <a:r>
                <a:rPr lang="ru-RU" sz="1350">
                  <a:solidFill>
                    <a:srgbClr val="5B6670"/>
                  </a:solidFill>
                  <a:latin typeface="Arial"/>
                  <a:ea typeface="Microsoft YaHei"/>
                  <a:cs typeface="Arial"/>
                </a:rPr>
                <a:t>лет</a:t>
              </a:r>
            </a:p>
          </p:txBody>
        </p:sp>
        <p:sp>
          <p:nvSpPr>
            <p:cNvPr id="7" name="Chart Note 7"/>
            <p:cNvSpPr txBox="1"/>
            <p:nvPr/>
          </p:nvSpPr>
          <p:spPr>
            <a:xfrm>
              <a:off x="1695450" y="4109085"/>
              <a:ext cx="666750" cy="274320"/>
            </a:xfrm>
            <a:prstGeom prst="rect">
              <a:avLst/>
            </a:prstGeom>
            <a:noFill/>
            <a:ln>
              <a:noFill/>
            </a:ln>
          </p:spPr>
          <p:txBody>
            <a:bodyPr wrap="square" lIns="0" tIns="0" rIns="0" bIns="0" anchor="b" anchorCtr="0"/>
            <a:lstStyle/>
            <a:p>
              <a:pPr algn="ctr"/>
              <a:r>
                <a:rPr lang="ru-RU" sz="1350">
                  <a:solidFill>
                    <a:srgbClr val="5B6670"/>
                  </a:solidFill>
                  <a:latin typeface="Arial"/>
                  <a:ea typeface="Microsoft YaHei"/>
                  <a:cs typeface="Arial"/>
                </a:rPr>
                <a:t>68,5</a:t>
              </a:r>
            </a:p>
          </p:txBody>
        </p:sp>
        <p:sp>
          <p:nvSpPr>
            <p:cNvPr id="8" name="Chart Note 8"/>
            <p:cNvSpPr txBox="1"/>
            <p:nvPr/>
          </p:nvSpPr>
          <p:spPr>
            <a:xfrm>
              <a:off x="2457450" y="3579495"/>
              <a:ext cx="666750" cy="274320"/>
            </a:xfrm>
            <a:prstGeom prst="rect">
              <a:avLst/>
            </a:prstGeom>
            <a:noFill/>
            <a:ln>
              <a:noFill/>
            </a:ln>
          </p:spPr>
          <p:txBody>
            <a:bodyPr wrap="square" lIns="0" tIns="0" rIns="0" bIns="0" anchor="b" anchorCtr="0"/>
            <a:lstStyle/>
            <a:p>
              <a:pPr algn="ctr"/>
              <a:r>
                <a:rPr lang="ru-RU" sz="1350">
                  <a:solidFill>
                    <a:srgbClr val="2E6F8E"/>
                  </a:solidFill>
                  <a:latin typeface="Arial"/>
                  <a:ea typeface="Microsoft YaHei"/>
                  <a:cs typeface="Arial"/>
                </a:rPr>
                <a:t>73,4</a:t>
              </a:r>
            </a:p>
          </p:txBody>
        </p:sp>
        <p:sp>
          <p:nvSpPr>
            <p:cNvPr id="9" name="Chart Note 9"/>
            <p:cNvSpPr txBox="1"/>
            <p:nvPr/>
          </p:nvSpPr>
          <p:spPr>
            <a:xfrm>
              <a:off x="3657600" y="3374708"/>
              <a:ext cx="666750" cy="274320"/>
            </a:xfrm>
            <a:prstGeom prst="rect">
              <a:avLst/>
            </a:prstGeom>
            <a:noFill/>
            <a:ln>
              <a:noFill/>
            </a:ln>
          </p:spPr>
          <p:txBody>
            <a:bodyPr wrap="square" lIns="0" tIns="0" rIns="0" bIns="0" anchor="b" anchorCtr="0"/>
            <a:lstStyle/>
            <a:p>
              <a:pPr algn="ctr"/>
              <a:r>
                <a:rPr lang="ru-RU" sz="1350">
                  <a:solidFill>
                    <a:srgbClr val="5B6670"/>
                  </a:solidFill>
                  <a:latin typeface="Arial"/>
                  <a:ea typeface="Microsoft YaHei"/>
                  <a:cs typeface="Arial"/>
                </a:rPr>
                <a:t>75,3</a:t>
              </a:r>
            </a:p>
          </p:txBody>
        </p:sp>
        <p:sp>
          <p:nvSpPr>
            <p:cNvPr id="10" name="Chart Note 10"/>
            <p:cNvSpPr txBox="1"/>
            <p:nvPr/>
          </p:nvSpPr>
          <p:spPr>
            <a:xfrm>
              <a:off x="4419600" y="2781300"/>
              <a:ext cx="666750" cy="274320"/>
            </a:xfrm>
            <a:prstGeom prst="rect">
              <a:avLst/>
            </a:prstGeom>
            <a:noFill/>
            <a:ln>
              <a:noFill/>
            </a:ln>
          </p:spPr>
          <p:txBody>
            <a:bodyPr wrap="square" lIns="0" tIns="0" rIns="0" bIns="0" anchor="b" anchorCtr="0"/>
            <a:lstStyle/>
            <a:p>
              <a:pPr algn="ctr"/>
              <a:r>
                <a:rPr lang="ru-RU" sz="1350">
                  <a:solidFill>
                    <a:srgbClr val="2E6F8E"/>
                  </a:solidFill>
                  <a:latin typeface="Arial"/>
                  <a:ea typeface="Microsoft YaHei"/>
                  <a:cs typeface="Arial"/>
                </a:rPr>
                <a:t>80,8</a:t>
              </a:r>
            </a:p>
          </p:txBody>
        </p:sp>
        <p:sp>
          <p:nvSpPr>
            <p:cNvPr id="11" name="Chart Note 11"/>
            <p:cNvSpPr txBox="1"/>
            <p:nvPr/>
          </p:nvSpPr>
          <p:spPr>
            <a:xfrm>
              <a:off x="5619750" y="2975610"/>
              <a:ext cx="666750" cy="274320"/>
            </a:xfrm>
            <a:prstGeom prst="rect">
              <a:avLst/>
            </a:prstGeom>
            <a:noFill/>
            <a:ln>
              <a:noFill/>
            </a:ln>
          </p:spPr>
          <p:txBody>
            <a:bodyPr wrap="square" lIns="0" tIns="0" rIns="0" bIns="0" anchor="b" anchorCtr="0"/>
            <a:lstStyle/>
            <a:p>
              <a:pPr algn="ctr"/>
              <a:r>
                <a:rPr lang="ru-RU" sz="1350">
                  <a:solidFill>
                    <a:srgbClr val="5B6670"/>
                  </a:solidFill>
                  <a:latin typeface="Arial"/>
                  <a:ea typeface="Microsoft YaHei"/>
                  <a:cs typeface="Arial"/>
                </a:rPr>
                <a:t>79,0</a:t>
              </a:r>
            </a:p>
          </p:txBody>
        </p:sp>
        <p:sp>
          <p:nvSpPr>
            <p:cNvPr id="12" name="Chart Note 12"/>
            <p:cNvSpPr txBox="1"/>
            <p:nvPr/>
          </p:nvSpPr>
          <p:spPr>
            <a:xfrm>
              <a:off x="6381750" y="2435542"/>
              <a:ext cx="666750" cy="274320"/>
            </a:xfrm>
            <a:prstGeom prst="rect">
              <a:avLst/>
            </a:prstGeom>
            <a:noFill/>
            <a:ln>
              <a:noFill/>
            </a:ln>
          </p:spPr>
          <p:txBody>
            <a:bodyPr wrap="square" lIns="0" tIns="0" rIns="0" bIns="0" anchor="b" anchorCtr="0"/>
            <a:lstStyle/>
            <a:p>
              <a:pPr algn="ctr"/>
              <a:r>
                <a:rPr lang="ru-RU" sz="1350">
                  <a:solidFill>
                    <a:srgbClr val="2E6F8E"/>
                  </a:solidFill>
                  <a:latin typeface="Arial"/>
                  <a:ea typeface="Microsoft YaHei"/>
                  <a:cs typeface="Arial"/>
                </a:rPr>
                <a:t>84,0</a:t>
              </a:r>
            </a:p>
          </p:txBody>
        </p:sp>
        <p:sp>
          <p:nvSpPr>
            <p:cNvPr id="13" name="Chart Note 13"/>
            <p:cNvSpPr txBox="1"/>
            <p:nvPr/>
          </p:nvSpPr>
          <p:spPr>
            <a:xfrm>
              <a:off x="7581900" y="4097655"/>
              <a:ext cx="666750" cy="274320"/>
            </a:xfrm>
            <a:prstGeom prst="rect">
              <a:avLst/>
            </a:prstGeom>
            <a:noFill/>
            <a:ln>
              <a:noFill/>
            </a:ln>
          </p:spPr>
          <p:txBody>
            <a:bodyPr wrap="square" lIns="0" tIns="0" rIns="0" bIns="0" anchor="b" anchorCtr="0"/>
            <a:lstStyle/>
            <a:p>
              <a:pPr algn="ctr"/>
              <a:r>
                <a:rPr lang="ru-RU" sz="1350">
                  <a:solidFill>
                    <a:srgbClr val="5B6670"/>
                  </a:solidFill>
                  <a:latin typeface="Arial"/>
                  <a:ea typeface="Microsoft YaHei"/>
                  <a:cs typeface="Arial"/>
                </a:rPr>
                <a:t>68,6</a:t>
              </a:r>
            </a:p>
          </p:txBody>
        </p:sp>
        <p:sp>
          <p:nvSpPr>
            <p:cNvPr id="14" name="Chart Note 14"/>
            <p:cNvSpPr txBox="1"/>
            <p:nvPr/>
          </p:nvSpPr>
          <p:spPr>
            <a:xfrm>
              <a:off x="8343900" y="3083242"/>
              <a:ext cx="666750" cy="274320"/>
            </a:xfrm>
            <a:prstGeom prst="rect">
              <a:avLst/>
            </a:prstGeom>
            <a:noFill/>
            <a:ln>
              <a:noFill/>
            </a:ln>
          </p:spPr>
          <p:txBody>
            <a:bodyPr wrap="square" lIns="0" tIns="0" rIns="0" bIns="0" anchor="b" anchorCtr="0"/>
            <a:lstStyle/>
            <a:p>
              <a:pPr algn="ctr"/>
              <a:r>
                <a:rPr lang="ru-RU" sz="1350">
                  <a:solidFill>
                    <a:srgbClr val="2E6F8E"/>
                  </a:solidFill>
                  <a:latin typeface="Arial"/>
                  <a:ea typeface="Microsoft YaHei"/>
                  <a:cs typeface="Arial"/>
                </a:rPr>
                <a:t>78,0</a:t>
              </a:r>
            </a:p>
          </p:txBody>
        </p:sp>
        <p:sp>
          <p:nvSpPr>
            <p:cNvPr id="15" name="Chart Note 15"/>
            <p:cNvSpPr txBox="1"/>
            <p:nvPr/>
          </p:nvSpPr>
          <p:spPr>
            <a:xfrm>
              <a:off x="9544050" y="3364230"/>
              <a:ext cx="666750" cy="274320"/>
            </a:xfrm>
            <a:prstGeom prst="rect">
              <a:avLst/>
            </a:prstGeom>
            <a:noFill/>
            <a:ln>
              <a:noFill/>
            </a:ln>
          </p:spPr>
          <p:txBody>
            <a:bodyPr wrap="square" lIns="0" tIns="0" rIns="0" bIns="0" anchor="b" anchorCtr="0"/>
            <a:lstStyle/>
            <a:p>
              <a:pPr algn="ctr"/>
              <a:r>
                <a:rPr lang="ru-RU" sz="1350">
                  <a:solidFill>
                    <a:srgbClr val="5B6670"/>
                  </a:solidFill>
                  <a:latin typeface="Arial"/>
                  <a:ea typeface="Microsoft YaHei"/>
                  <a:cs typeface="Arial"/>
                </a:rPr>
                <a:t>75,4</a:t>
              </a:r>
            </a:p>
          </p:txBody>
        </p:sp>
        <p:sp>
          <p:nvSpPr>
            <p:cNvPr id="16" name="Chart Note 16"/>
            <p:cNvSpPr txBox="1"/>
            <p:nvPr/>
          </p:nvSpPr>
          <p:spPr>
            <a:xfrm>
              <a:off x="10306050" y="2986088"/>
              <a:ext cx="666750" cy="274320"/>
            </a:xfrm>
            <a:prstGeom prst="rect">
              <a:avLst/>
            </a:prstGeom>
            <a:noFill/>
            <a:ln>
              <a:noFill/>
            </a:ln>
          </p:spPr>
          <p:txBody>
            <a:bodyPr wrap="square" lIns="0" tIns="0" rIns="0" bIns="0" anchor="b" anchorCtr="0"/>
            <a:lstStyle/>
            <a:p>
              <a:pPr algn="ctr"/>
              <a:r>
                <a:rPr lang="ru-RU" sz="1350">
                  <a:solidFill>
                    <a:srgbClr val="2E6F8E"/>
                  </a:solidFill>
                  <a:latin typeface="Arial"/>
                  <a:ea typeface="Microsoft YaHei"/>
                  <a:cs typeface="Arial"/>
                </a:rPr>
                <a:t>78,9</a:t>
              </a:r>
            </a:p>
          </p:txBody>
        </p:sp>
        <p:sp>
          <p:nvSpPr>
            <p:cNvPr id="17" name="Chart Note 17"/>
            <p:cNvSpPr txBox="1"/>
            <p:nvPr/>
          </p:nvSpPr>
          <p:spPr>
            <a:xfrm>
              <a:off x="2076450" y="3306128"/>
              <a:ext cx="666750" cy="304800"/>
            </a:xfrm>
            <a:prstGeom prst="rect">
              <a:avLst/>
            </a:prstGeom>
            <a:noFill/>
            <a:ln>
              <a:noFill/>
            </a:ln>
          </p:spPr>
          <p:txBody>
            <a:bodyPr wrap="square" lIns="0" tIns="0" rIns="0" bIns="0" anchor="b" anchorCtr="0"/>
            <a:lstStyle/>
            <a:p>
              <a:pPr algn="ctr"/>
              <a:r>
                <a:rPr lang="ru-RU" sz="1500" b="1">
                  <a:solidFill>
                    <a:srgbClr val="B3121B"/>
                  </a:solidFill>
                  <a:latin typeface="Arial"/>
                  <a:ea typeface="Microsoft YaHei"/>
                  <a:cs typeface="Arial"/>
                </a:rPr>
                <a:t>+4,9</a:t>
              </a:r>
            </a:p>
          </p:txBody>
        </p:sp>
        <p:sp>
          <p:nvSpPr>
            <p:cNvPr id="18" name="Chart Note 18"/>
            <p:cNvSpPr txBox="1"/>
            <p:nvPr/>
          </p:nvSpPr>
          <p:spPr>
            <a:xfrm>
              <a:off x="4038600" y="2507932"/>
              <a:ext cx="666750" cy="304800"/>
            </a:xfrm>
            <a:prstGeom prst="rect">
              <a:avLst/>
            </a:prstGeom>
            <a:noFill/>
            <a:ln>
              <a:noFill/>
            </a:ln>
          </p:spPr>
          <p:txBody>
            <a:bodyPr wrap="square" lIns="0" tIns="0" rIns="0" bIns="0" anchor="b" anchorCtr="0"/>
            <a:lstStyle/>
            <a:p>
              <a:pPr algn="ctr"/>
              <a:r>
                <a:rPr lang="ru-RU" sz="1500" b="1">
                  <a:solidFill>
                    <a:srgbClr val="1B2B3A"/>
                  </a:solidFill>
                  <a:latin typeface="Arial"/>
                  <a:ea typeface="Microsoft YaHei"/>
                  <a:cs typeface="Arial"/>
                </a:rPr>
                <a:t>+5,5</a:t>
              </a:r>
            </a:p>
          </p:txBody>
        </p:sp>
        <p:sp>
          <p:nvSpPr>
            <p:cNvPr id="19" name="Chart Note 19"/>
            <p:cNvSpPr txBox="1"/>
            <p:nvPr/>
          </p:nvSpPr>
          <p:spPr>
            <a:xfrm>
              <a:off x="6000750" y="2162175"/>
              <a:ext cx="666750" cy="304800"/>
            </a:xfrm>
            <a:prstGeom prst="rect">
              <a:avLst/>
            </a:prstGeom>
            <a:noFill/>
            <a:ln>
              <a:noFill/>
            </a:ln>
          </p:spPr>
          <p:txBody>
            <a:bodyPr wrap="square" lIns="0" tIns="0" rIns="0" bIns="0" anchor="b" anchorCtr="0"/>
            <a:lstStyle/>
            <a:p>
              <a:pPr algn="ctr"/>
              <a:r>
                <a:rPr lang="ru-RU" sz="1500" b="1">
                  <a:solidFill>
                    <a:srgbClr val="1B2B3A"/>
                  </a:solidFill>
                  <a:latin typeface="Arial"/>
                  <a:ea typeface="Microsoft YaHei"/>
                  <a:cs typeface="Arial"/>
                </a:rPr>
                <a:t>+5,0</a:t>
              </a:r>
            </a:p>
          </p:txBody>
        </p:sp>
        <p:sp>
          <p:nvSpPr>
            <p:cNvPr id="20" name="Chart Note 20"/>
            <p:cNvSpPr txBox="1"/>
            <p:nvPr/>
          </p:nvSpPr>
          <p:spPr>
            <a:xfrm>
              <a:off x="7962900" y="2809875"/>
              <a:ext cx="666750" cy="304800"/>
            </a:xfrm>
            <a:prstGeom prst="rect">
              <a:avLst/>
            </a:prstGeom>
            <a:noFill/>
            <a:ln>
              <a:noFill/>
            </a:ln>
          </p:spPr>
          <p:txBody>
            <a:bodyPr wrap="square" lIns="0" tIns="0" rIns="0" bIns="0" anchor="b" anchorCtr="0"/>
            <a:lstStyle/>
            <a:p>
              <a:pPr algn="ctr"/>
              <a:r>
                <a:rPr lang="ru-RU" sz="1500" b="1">
                  <a:solidFill>
                    <a:srgbClr val="1B2B3A"/>
                  </a:solidFill>
                  <a:latin typeface="Arial"/>
                  <a:ea typeface="Microsoft YaHei"/>
                  <a:cs typeface="Arial"/>
                </a:rPr>
                <a:t>+9,4</a:t>
              </a:r>
            </a:p>
          </p:txBody>
        </p:sp>
        <p:sp>
          <p:nvSpPr>
            <p:cNvPr id="21" name="Chart Note 21"/>
            <p:cNvSpPr txBox="1"/>
            <p:nvPr/>
          </p:nvSpPr>
          <p:spPr>
            <a:xfrm>
              <a:off x="9925050" y="2712720"/>
              <a:ext cx="666750" cy="304800"/>
            </a:xfrm>
            <a:prstGeom prst="rect">
              <a:avLst/>
            </a:prstGeom>
            <a:noFill/>
            <a:ln>
              <a:noFill/>
            </a:ln>
          </p:spPr>
          <p:txBody>
            <a:bodyPr wrap="square" lIns="0" tIns="0" rIns="0" bIns="0" anchor="b" anchorCtr="0"/>
            <a:lstStyle/>
            <a:p>
              <a:pPr algn="ctr"/>
              <a:r>
                <a:rPr lang="ru-RU" sz="1500" b="1">
                  <a:solidFill>
                    <a:srgbClr val="1B2B3A"/>
                  </a:solidFill>
                  <a:latin typeface="Arial"/>
                  <a:ea typeface="Microsoft YaHei"/>
                  <a:cs typeface="Arial"/>
                </a:rPr>
                <a:t>+3,5</a:t>
              </a:r>
            </a:p>
          </p:txBody>
        </p:sp>
      </p:grpSp>
      <p:grpSp>
        <p:nvGrpSpPr>
          <p:cNvPr id="24" name="le-compare-note"/>
          <p:cNvGrpSpPr/>
          <p:nvPr/>
        </p:nvGrpSpPr>
        <p:grpSpPr>
          <a:xfrm>
            <a:off x="678942" y="5797868"/>
            <a:ext cx="6424129" cy="511683"/>
            <a:chOff x="678942" y="5797868"/>
            <a:chExt cx="6424129" cy="511683"/>
          </a:xfrm>
        </p:grpSpPr>
        <p:sp>
          <p:nvSpPr>
            <p:cNvPr id="23" name="TextBox 23"/>
            <p:cNvSpPr txBox="1"/>
            <p:nvPr/>
          </p:nvSpPr>
          <p:spPr>
            <a:xfrm>
              <a:off x="678942" y="5797868"/>
              <a:ext cx="6424129" cy="511683"/>
            </a:xfrm>
            <a:prstGeom prst="rect">
              <a:avLst/>
            </a:prstGeom>
            <a:noFill/>
            <a:ln>
              <a:noFill/>
            </a:ln>
          </p:spPr>
          <p:txBody>
            <a:bodyPr wrap="none" lIns="0" tIns="0" rIns="0" bIns="0" anchor="t" anchorCtr="0">
              <a:spAutoFit/>
            </a:bodyPr>
            <a:lstStyle/>
            <a:p>
              <a:pPr algn="l">
                <a:lnSpc>
                  <a:spcPts val="1950"/>
                </a:lnSpc>
              </a:pPr>
              <a:r>
                <a:rPr lang="ru-RU" sz="1350" dirty="0">
                  <a:solidFill>
                    <a:schemeClr val="accent5"/>
                  </a:solidFill>
                  <a:latin typeface="+mn-lt"/>
                  <a:ea typeface="+mn-ea"/>
                  <a:cs typeface="+mn-cs"/>
                </a:rPr>
                <a:t>Приросты за 1991–2024 годы — расчёт по двум значениям того же индикатора.</a:t>
              </a:r>
              <a:br/>
              <a:r>
                <a:rPr lang="ru-RU" sz="1350" dirty="0">
                  <a:solidFill>
                    <a:schemeClr val="accent5"/>
                  </a:solidFill>
                  <a:latin typeface="+mn-lt"/>
                  <a:ea typeface="+mn-ea"/>
                  <a:cs typeface="+mn-cs"/>
                </a:rPr>
                <a:t>Россия и Китай начинали период почти с одного уровня: 68,5 и 68,6 года.</a:t>
              </a:r>
            </a:p>
          </p:txBody>
        </p:sp>
      </p:grpSp>
      <p:grpSp>
        <p:nvGrpSpPr>
          <p:cNvPr id="27" name="page-footer"/>
          <p:cNvGrpSpPr/>
          <p:nvPr/>
        </p:nvGrpSpPr>
        <p:grpSpPr>
          <a:xfrm>
            <a:off x="679704" y="6442710"/>
            <a:ext cx="10832592" cy="234696"/>
            <a:chOff x="679704" y="6442710"/>
            <a:chExt cx="10832592" cy="234696"/>
          </a:xfrm>
        </p:grpSpPr>
        <p:sp>
          <p:nvSpPr>
            <p:cNvPr id="25" name="TextBox 25"/>
            <p:cNvSpPr txBox="1"/>
            <p:nvPr/>
          </p:nvSpPr>
          <p:spPr>
            <a:xfrm>
              <a:off x="679704" y="6442710"/>
              <a:ext cx="3605392" cy="234696"/>
            </a:xfrm>
            <a:prstGeom prst="rect">
              <a:avLst/>
            </a:prstGeom>
            <a:noFill/>
            <a:ln>
              <a:noFill/>
            </a:ln>
          </p:spPr>
          <p:txBody>
            <a:bodyPr wrap="none" lIns="0" tIns="0" rIns="0" bIns="0" anchor="t" anchorCtr="0">
              <a:spAutoFit/>
            </a:bodyPr>
            <a:lstStyle/>
            <a:p>
              <a:pPr algn="l"/>
              <a:r>
                <a:rPr lang="ru-RU" sz="1200" dirty="0">
                  <a:solidFill>
                    <a:schemeClr val="accent5"/>
                  </a:solidFill>
                  <a:latin typeface="+mn-lt"/>
                  <a:ea typeface="+mn-ea"/>
                  <a:cs typeface="+mn-cs"/>
                </a:rPr>
                <a:t>Всемирный банк, SP.DYN.LE00.IN, 1991 и 2024</a:t>
              </a:r>
            </a:p>
          </p:txBody>
        </p:sp>
        <p:sp>
          <p:nvSpPr>
            <p:cNvPr id="26" name="TextBox 26"/>
            <p:cNvSpPr txBox="1"/>
            <p:nvPr/>
          </p:nvSpPr>
          <p:spPr>
            <a:xfrm>
              <a:off x="11320402" y="6442710"/>
              <a:ext cx="191894" cy="234696"/>
            </a:xfrm>
            <a:prstGeom prst="rect">
              <a:avLst/>
            </a:prstGeom>
            <a:noFill/>
            <a:ln>
              <a:noFill/>
            </a:ln>
          </p:spPr>
          <p:txBody>
            <a:bodyPr wrap="none" lIns="0" tIns="0" rIns="0" bIns="0" anchor="t" anchorCtr="0">
              <a:spAutoFit/>
            </a:bodyPr>
            <a:lstStyle/>
            <a:p>
              <a:pPr algn="r"/>
              <a:r>
                <a:rPr lang="ru-RU" sz="1200" dirty="0">
                  <a:solidFill>
                    <a:schemeClr val="accent5"/>
                  </a:solidFill>
                  <a:latin typeface="+mn-lt"/>
                  <a:ea typeface="+mn-ea"/>
                  <a:cs typeface="+mn-cs"/>
                </a:rPr>
                <a:t>14</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par>
                          <p:cTn id="8" fill="hold">
                            <p:stCondLst>
                              <p:cond delay="400"/>
                            </p:stCondLst>
                            <p:childTnLst>
                              <p:par>
                                <p:cTn xmlns:p="http://schemas.openxmlformats.org/presentationml/2006/main" id="9" presetID="22" presetClass="entr" presetSubtype="1" fill="hold" grpId="0" nodeType="afterEffect">
                                  <p:stCondLst>
                                    <p:cond delay="500"/>
                                  </p:stCondLst>
                                  <p:childTnLst>
                                    <p:set>
                                      <p:cBhvr>
                                        <p:cTn id="10" dur="1" fill="hold">
                                          <p:stCondLst>
                                            <p:cond delay="0"/>
                                          </p:stCondLst>
                                        </p:cTn>
                                        <p:tgtEl>
                                          <p:spTgt spid="22"/>
                                        </p:tgtEl>
                                        <p:attrNameLst>
                                          <p:attrName>style.visibility</p:attrName>
                                        </p:attrNameLst>
                                      </p:cBhvr>
                                      <p:to>
                                        <p:strVal val="visible"/>
                                      </p:to>
                                    </p:set>
                                    <p:animEffect transition="in" filter="wipe(up)">
                                      <p:cBhvr>
                                        <p:cTn id="11" dur="1000"/>
                                        <p:tgtEl>
                                          <p:spTgt spid="22"/>
                                        </p:tgtEl>
                                      </p:cBhvr>
                                    </p:animEffect>
                                  </p:childTnLst>
                                </p:cTn>
                              </p:par>
                            </p:childTnLst>
                          </p:cTn>
                        </p:par>
                        <p:par>
                          <p:cTn id="12" fill="hold">
                            <p:stCondLst>
                              <p:cond delay="1900"/>
                            </p:stCondLst>
                            <p:childTnLst>
                              <p:par>
                                <p:cTn xmlns:p="http://schemas.openxmlformats.org/presentationml/2006/main" id="13" presetID="10" presetClass="entr" presetSubtype="0" fill="hold" grpId="0" nodeType="afterEffect">
                                  <p:stCondLst>
                                    <p:cond delay="500"/>
                                  </p:stCondLst>
                                  <p:childTnLst>
                                    <p:set>
                                      <p:cBhvr>
                                        <p:cTn id="14" dur="1" fill="hold">
                                          <p:stCondLst>
                                            <p:cond delay="0"/>
                                          </p:stCondLst>
                                        </p:cTn>
                                        <p:tgtEl>
                                          <p:spTgt spid="24"/>
                                        </p:tgtEl>
                                        <p:attrNameLst>
                                          <p:attrName>style.visibility</p:attrName>
                                        </p:attrNameLst>
                                      </p:cBhvr>
                                      <p:to>
                                        <p:strVal val="visible"/>
                                      </p:to>
                                    </p:set>
                                    <p:animEffect transition="in" filter="fade">
                                      <p:cBhvr>
                                        <p:cTn id="15"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age-header"/>
          <p:cNvGrpSpPr/>
          <p:nvPr/>
        </p:nvGrpSpPr>
        <p:grpSpPr>
          <a:xfrm>
            <a:off x="670560" y="476250"/>
            <a:ext cx="6387304" cy="850773"/>
            <a:chOff x="670560" y="476250"/>
            <a:chExt cx="6387304" cy="850773"/>
          </a:xfrm>
        </p:grpSpPr>
        <p:sp>
          <p:nvSpPr>
            <p:cNvPr id="2" name="TextBox 2"/>
            <p:cNvSpPr txBox="1"/>
            <p:nvPr/>
          </p:nvSpPr>
          <p:spPr>
            <a:xfrm>
              <a:off x="670560" y="476250"/>
              <a:ext cx="4842891" cy="586740"/>
            </a:xfrm>
            <a:prstGeom prst="rect">
              <a:avLst/>
            </a:prstGeom>
            <a:noFill/>
            <a:ln>
              <a:noFill/>
            </a:ln>
          </p:spPr>
          <p:txBody>
            <a:bodyPr wrap="none" lIns="0" tIns="0" rIns="0" bIns="0" anchor="t" anchorCtr="0">
              <a:spAutoFit/>
            </a:bodyPr>
            <a:lstStyle/>
            <a:p>
              <a:pPr algn="l"/>
              <a:r>
                <a:rPr lang="ru-RU" sz="3000" b="1" dirty="0">
                  <a:solidFill>
                    <a:schemeClr val="accent1"/>
                  </a:solidFill>
                  <a:latin typeface="+mj-lt"/>
                  <a:ea typeface="+mj-ea"/>
                  <a:cs typeface="+mj-cs"/>
                </a:rPr>
                <a:t>Что следует из данных</a:t>
              </a:r>
            </a:p>
          </p:txBody>
        </p:sp>
        <p:sp>
          <p:nvSpPr>
            <p:cNvPr id="3" name="TextBox 3"/>
            <p:cNvSpPr txBox="1"/>
            <p:nvPr/>
          </p:nvSpPr>
          <p:spPr>
            <a:xfrm>
              <a:off x="675132" y="916305"/>
              <a:ext cx="6382732" cy="410718"/>
            </a:xfrm>
            <a:prstGeom prst="rect">
              <a:avLst/>
            </a:prstGeom>
            <a:noFill/>
            <a:ln>
              <a:noFill/>
            </a:ln>
          </p:spPr>
          <p:txBody>
            <a:bodyPr wrap="none" lIns="0" tIns="0" rIns="0" bIns="0" anchor="t" anchorCtr="0">
              <a:spAutoFit/>
            </a:bodyPr>
            <a:lstStyle/>
            <a:p>
              <a:pPr algn="l"/>
              <a:r>
                <a:rPr lang="ru-RU" sz="2100" dirty="0">
                  <a:solidFill>
                    <a:schemeClr val="dk1"/>
                  </a:solidFill>
                  <a:latin typeface="+mn-lt"/>
                  <a:ea typeface="+mn-ea"/>
                  <a:cs typeface="+mn-cs"/>
                </a:rPr>
                <a:t>Четыре вывода — каждый со своим индикатором</a:t>
              </a:r>
            </a:p>
          </p:txBody>
        </p:sp>
      </p:grpSp>
      <p:grpSp>
        <p:nvGrpSpPr>
          <p:cNvPr id="13" name="conclusion-1"/>
          <p:cNvGrpSpPr/>
          <p:nvPr/>
        </p:nvGrpSpPr>
        <p:grpSpPr>
          <a:xfrm>
            <a:off x="673608" y="1550670"/>
            <a:ext cx="10832592" cy="478155"/>
            <a:chOff x="673608" y="1550670"/>
            <a:chExt cx="10832592" cy="478155"/>
          </a:xfrm>
        </p:grpSpPr>
        <p:sp>
          <p:nvSpPr>
            <p:cNvPr id="5" name="TextBox 5"/>
            <p:cNvSpPr txBox="1"/>
            <p:nvPr/>
          </p:nvSpPr>
          <p:spPr>
            <a:xfrm>
              <a:off x="673608" y="1550670"/>
              <a:ext cx="1493086" cy="469392"/>
            </a:xfrm>
            <a:prstGeom prst="rect">
              <a:avLst/>
            </a:prstGeom>
            <a:noFill/>
            <a:ln>
              <a:noFill/>
            </a:ln>
          </p:spPr>
          <p:txBody>
            <a:bodyPr wrap="none" lIns="0" tIns="0" rIns="0" bIns="0" anchor="t" anchorCtr="0">
              <a:spAutoFit/>
            </a:bodyPr>
            <a:lstStyle/>
            <a:p>
              <a:pPr algn="l"/>
              <a:r>
                <a:rPr lang="ru-RU" sz="2400" b="1" dirty="0">
                  <a:solidFill>
                    <a:schemeClr val="accent2"/>
                  </a:solidFill>
                  <a:latin typeface="+mj-lt"/>
                  <a:ea typeface="+mj-ea"/>
                  <a:cs typeface="+mj-cs"/>
                </a:rPr>
                <a:t>−4,72 млн</a:t>
              </a:r>
            </a:p>
          </p:txBody>
        </p:sp>
        <p:grpSp>
          <p:nvGrpSpPr>
            <p:cNvPr id="10" name="Group 10"/>
            <p:cNvGrpSpPr/>
            <p:nvPr/>
          </p:nvGrpSpPr>
          <p:grpSpPr>
            <a:xfrm>
              <a:off x="2900362" y="1604962"/>
              <a:ext cx="257175" cy="257176"/>
              <a:chOff x="2900362" y="1604962"/>
              <a:chExt cx="257175" cy="257176"/>
            </a:xfrm>
          </p:grpSpPr>
          <p:sp>
            <p:nvSpPr>
              <p:cNvPr id="6" name="Freeform 6"/>
              <p:cNvSpPr/>
              <p:nvPr/>
            </p:nvSpPr>
            <p:spPr>
              <a:xfrm>
                <a:off x="2928938" y="1604962"/>
                <a:ext cx="114300" cy="114300"/>
              </a:xfrm>
              <a:custGeom>
                <a:avLst/>
                <a:gdLst/>
                <a:ahLst/>
                <a:cxnLst/>
                <a:rect l="l" t="t" r="r" b="b"/>
                <a:pathLst>
                  <a:path w="114300" h="114300">
                    <a:moveTo>
                      <a:pt x="0" y="57150"/>
                    </a:moveTo>
                    <a:cubicBezTo>
                      <a:pt x="0" y="88713"/>
                      <a:pt x="25587" y="114300"/>
                      <a:pt x="57150" y="114300"/>
                    </a:cubicBezTo>
                    <a:cubicBezTo>
                      <a:pt x="88713" y="114300"/>
                      <a:pt x="114300" y="88713"/>
                      <a:pt x="114300" y="57150"/>
                    </a:cubicBezTo>
                    <a:cubicBezTo>
                      <a:pt x="114300" y="25587"/>
                      <a:pt x="88713" y="0"/>
                      <a:pt x="57150" y="0"/>
                    </a:cubicBezTo>
                    <a:cubicBezTo>
                      <a:pt x="25587" y="0"/>
                      <a:pt x="0" y="25587"/>
                      <a:pt x="0" y="57150"/>
                    </a:cubicBezTo>
                  </a:path>
                </a:pathLst>
              </a:custGeom>
              <a:noFill/>
              <a:ln w="28575">
                <a:solidFill>
                  <a:schemeClr val="accent1"/>
                </a:solidFill>
              </a:ln>
            </p:spPr>
          </p:sp>
          <p:sp>
            <p:nvSpPr>
              <p:cNvPr id="7" name="Freeform 7"/>
              <p:cNvSpPr/>
              <p:nvPr/>
            </p:nvSpPr>
            <p:spPr>
              <a:xfrm>
                <a:off x="2900362" y="1776412"/>
                <a:ext cx="171450" cy="85725"/>
              </a:xfrm>
              <a:custGeom>
                <a:avLst/>
                <a:gdLst/>
                <a:ahLst/>
                <a:cxnLst/>
                <a:rect l="l" t="t" r="r" b="b"/>
                <a:pathLst>
                  <a:path w="171450" h="85725">
                    <a:moveTo>
                      <a:pt x="0" y="85725"/>
                    </a:moveTo>
                    <a:lnTo>
                      <a:pt x="0" y="57150"/>
                    </a:lnTo>
                    <a:cubicBezTo>
                      <a:pt x="0" y="25587"/>
                      <a:pt x="25587" y="0"/>
                      <a:pt x="57150" y="0"/>
                    </a:cubicBezTo>
                    <a:lnTo>
                      <a:pt x="114300" y="0"/>
                    </a:lnTo>
                    <a:cubicBezTo>
                      <a:pt x="145863" y="0"/>
                      <a:pt x="171450" y="25587"/>
                      <a:pt x="171450" y="57150"/>
                    </a:cubicBezTo>
                    <a:lnTo>
                      <a:pt x="171450" y="85725"/>
                    </a:lnTo>
                  </a:path>
                </a:pathLst>
              </a:custGeom>
              <a:noFill/>
              <a:ln w="28575">
                <a:solidFill>
                  <a:schemeClr val="accent1"/>
                </a:solidFill>
              </a:ln>
            </p:spPr>
          </p:sp>
          <p:sp>
            <p:nvSpPr>
              <p:cNvPr id="8" name="Freeform 8"/>
              <p:cNvSpPr/>
              <p:nvPr/>
            </p:nvSpPr>
            <p:spPr>
              <a:xfrm>
                <a:off x="3086100" y="1606820"/>
                <a:ext cx="42975" cy="110728"/>
              </a:xfrm>
              <a:custGeom>
                <a:avLst/>
                <a:gdLst/>
                <a:ahLst/>
                <a:cxnLst/>
                <a:rect l="l" t="t" r="r" b="b"/>
                <a:pathLst>
                  <a:path w="42975" h="110728">
                    <a:moveTo>
                      <a:pt x="0" y="0"/>
                    </a:moveTo>
                    <a:cubicBezTo>
                      <a:pt x="25288" y="6475"/>
                      <a:pt x="42975" y="29261"/>
                      <a:pt x="42975" y="55364"/>
                    </a:cubicBezTo>
                    <a:cubicBezTo>
                      <a:pt x="42975" y="81467"/>
                      <a:pt x="25288" y="104253"/>
                      <a:pt x="0" y="110728"/>
                    </a:cubicBezTo>
                  </a:path>
                </a:pathLst>
              </a:custGeom>
              <a:noFill/>
              <a:ln w="28575">
                <a:solidFill>
                  <a:schemeClr val="accent1"/>
                </a:solidFill>
              </a:ln>
            </p:spPr>
          </p:sp>
          <p:sp>
            <p:nvSpPr>
              <p:cNvPr id="9" name="Freeform 9"/>
              <p:cNvSpPr/>
              <p:nvPr/>
            </p:nvSpPr>
            <p:spPr>
              <a:xfrm>
                <a:off x="3114675" y="1778556"/>
                <a:ext cx="42862" cy="83582"/>
              </a:xfrm>
              <a:custGeom>
                <a:avLst/>
                <a:gdLst/>
                <a:ahLst/>
                <a:cxnLst/>
                <a:rect l="l" t="t" r="r" b="b"/>
                <a:pathLst>
                  <a:path w="42862" h="83582">
                    <a:moveTo>
                      <a:pt x="42862" y="83582"/>
                    </a:moveTo>
                    <a:lnTo>
                      <a:pt x="42862" y="55007"/>
                    </a:lnTo>
                    <a:cubicBezTo>
                      <a:pt x="42713" y="29069"/>
                      <a:pt x="25115" y="6484"/>
                      <a:pt x="0" y="0"/>
                    </a:cubicBezTo>
                  </a:path>
                </a:pathLst>
              </a:custGeom>
              <a:noFill/>
              <a:ln w="28575">
                <a:solidFill>
                  <a:schemeClr val="accent1"/>
                </a:solidFill>
              </a:ln>
            </p:spPr>
          </p:sp>
        </p:grpSp>
        <p:sp>
          <p:nvSpPr>
            <p:cNvPr id="11" name="TextBox 11"/>
            <p:cNvSpPr txBox="1"/>
            <p:nvPr/>
          </p:nvSpPr>
          <p:spPr>
            <a:xfrm>
              <a:off x="3384042" y="1644968"/>
              <a:ext cx="5523833" cy="264033"/>
            </a:xfrm>
            <a:prstGeom prst="rect">
              <a:avLst/>
            </a:prstGeom>
            <a:noFill/>
            <a:ln>
              <a:noFill/>
            </a:ln>
          </p:spPr>
          <p:txBody>
            <a:bodyPr wrap="none" lIns="0" tIns="0" rIns="0" bIns="0" anchor="t" anchorCtr="0">
              <a:spAutoFit/>
            </a:bodyPr>
            <a:lstStyle/>
            <a:p>
              <a:pPr algn="l"/>
              <a:r>
                <a:rPr lang="ru-RU" sz="1350" dirty="0">
                  <a:solidFill>
                    <a:schemeClr val="dk1"/>
                  </a:solidFill>
                  <a:latin typeface="+mn-lt"/>
                  <a:ea typeface="+mn-ea"/>
                  <a:cs typeface="+mn-cs"/>
                </a:rPr>
                <a:t>человек — итог 1991–2024 годов по индикатору SP.POP.TOTL</a:t>
              </a:r>
            </a:p>
          </p:txBody>
        </p:sp>
        <p:sp>
          <p:nvSpPr>
            <p:cNvPr id="12" name="Line 12"/>
            <p:cNvSpPr/>
            <p:nvPr/>
          </p:nvSpPr>
          <p:spPr>
            <a:xfrm>
              <a:off x="685800" y="2019300"/>
              <a:ext cx="10820400" cy="9525"/>
            </a:xfrm>
            <a:custGeom>
              <a:avLst/>
              <a:gdLst/>
              <a:ahLst/>
              <a:cxnLst/>
              <a:rect l="l" t="t" r="r" b="b"/>
              <a:pathLst>
                <a:path w="10820400" h="9525">
                  <a:moveTo>
                    <a:pt x="0" y="0"/>
                  </a:moveTo>
                  <a:lnTo>
                    <a:pt x="10820400" y="0"/>
                  </a:lnTo>
                </a:path>
              </a:pathLst>
            </a:custGeom>
            <a:noFill/>
            <a:ln w="9525">
              <a:solidFill>
                <a:schemeClr val="accent6"/>
              </a:solidFill>
            </a:ln>
          </p:spPr>
        </p:sp>
      </p:grpSp>
      <p:grpSp>
        <p:nvGrpSpPr>
          <p:cNvPr id="20" name="conclusion-2"/>
          <p:cNvGrpSpPr/>
          <p:nvPr/>
        </p:nvGrpSpPr>
        <p:grpSpPr>
          <a:xfrm>
            <a:off x="673608" y="2274570"/>
            <a:ext cx="10832592" cy="478155"/>
            <a:chOff x="673608" y="2274570"/>
            <a:chExt cx="10832592" cy="478155"/>
          </a:xfrm>
        </p:grpSpPr>
        <p:sp>
          <p:nvSpPr>
            <p:cNvPr id="14" name="TextBox 14"/>
            <p:cNvSpPr txBox="1"/>
            <p:nvPr/>
          </p:nvSpPr>
          <p:spPr>
            <a:xfrm>
              <a:off x="673608" y="2274570"/>
              <a:ext cx="1272113" cy="469392"/>
            </a:xfrm>
            <a:prstGeom prst="rect">
              <a:avLst/>
            </a:prstGeom>
            <a:noFill/>
            <a:ln>
              <a:noFill/>
            </a:ln>
          </p:spPr>
          <p:txBody>
            <a:bodyPr wrap="none" lIns="0" tIns="0" rIns="0" bIns="0" anchor="t" anchorCtr="0">
              <a:spAutoFit/>
            </a:bodyPr>
            <a:lstStyle/>
            <a:p>
              <a:pPr algn="l"/>
              <a:r>
                <a:rPr lang="ru-RU" sz="2400" b="1" dirty="0">
                  <a:solidFill>
                    <a:schemeClr val="accent2"/>
                  </a:solidFill>
                  <a:latin typeface="+mj-lt"/>
                  <a:ea typeface="+mj-ea"/>
                  <a:cs typeface="+mj-cs"/>
                </a:rPr>
                <a:t>30 из 34</a:t>
              </a:r>
            </a:p>
          </p:txBody>
        </p:sp>
        <p:grpSp>
          <p:nvGrpSpPr>
            <p:cNvPr id="17" name="Group 17"/>
            <p:cNvGrpSpPr/>
            <p:nvPr/>
          </p:nvGrpSpPr>
          <p:grpSpPr>
            <a:xfrm>
              <a:off x="2928938" y="2328862"/>
              <a:ext cx="200025" cy="257176"/>
              <a:chOff x="2928938" y="2328862"/>
              <a:chExt cx="200025" cy="257176"/>
            </a:xfrm>
          </p:grpSpPr>
          <p:sp>
            <p:nvSpPr>
              <p:cNvPr id="15" name="Freeform 15"/>
              <p:cNvSpPr/>
              <p:nvPr/>
            </p:nvSpPr>
            <p:spPr>
              <a:xfrm>
                <a:off x="2928938" y="2514600"/>
                <a:ext cx="200025" cy="71438"/>
              </a:xfrm>
              <a:custGeom>
                <a:avLst/>
                <a:gdLst/>
                <a:ahLst/>
                <a:cxnLst/>
                <a:rect l="l" t="t" r="r" b="b"/>
                <a:pathLst>
                  <a:path w="200025" h="71438">
                    <a:moveTo>
                      <a:pt x="0" y="71438"/>
                    </a:moveTo>
                    <a:lnTo>
                      <a:pt x="0" y="42862"/>
                    </a:lnTo>
                    <a:cubicBezTo>
                      <a:pt x="0" y="19190"/>
                      <a:pt x="19190" y="0"/>
                      <a:pt x="42862" y="0"/>
                    </a:cubicBezTo>
                    <a:lnTo>
                      <a:pt x="157162" y="0"/>
                    </a:lnTo>
                    <a:cubicBezTo>
                      <a:pt x="180835" y="0"/>
                      <a:pt x="200025" y="19190"/>
                      <a:pt x="200025" y="42862"/>
                    </a:cubicBezTo>
                    <a:lnTo>
                      <a:pt x="200025" y="71438"/>
                    </a:lnTo>
                    <a:lnTo>
                      <a:pt x="0" y="71438"/>
                    </a:lnTo>
                  </a:path>
                </a:pathLst>
              </a:custGeom>
              <a:noFill/>
              <a:ln w="28575">
                <a:solidFill>
                  <a:schemeClr val="accent1"/>
                </a:solidFill>
              </a:ln>
            </p:spPr>
          </p:sp>
          <p:sp>
            <p:nvSpPr>
              <p:cNvPr id="16" name="Freeform 16"/>
              <p:cNvSpPr/>
              <p:nvPr/>
            </p:nvSpPr>
            <p:spPr>
              <a:xfrm>
                <a:off x="2943225" y="2328862"/>
                <a:ext cx="171450" cy="185738"/>
              </a:xfrm>
              <a:custGeom>
                <a:avLst/>
                <a:gdLst/>
                <a:ahLst/>
                <a:cxnLst/>
                <a:rect l="l" t="t" r="r" b="b"/>
                <a:pathLst>
                  <a:path w="171450" h="185738">
                    <a:moveTo>
                      <a:pt x="57150" y="185738"/>
                    </a:moveTo>
                    <a:lnTo>
                      <a:pt x="57150" y="114300"/>
                    </a:lnTo>
                    <a:lnTo>
                      <a:pt x="0" y="114300"/>
                    </a:lnTo>
                    <a:lnTo>
                      <a:pt x="0" y="57150"/>
                    </a:lnTo>
                    <a:lnTo>
                      <a:pt x="57150" y="57150"/>
                    </a:lnTo>
                    <a:lnTo>
                      <a:pt x="57150" y="0"/>
                    </a:lnTo>
                    <a:lnTo>
                      <a:pt x="114300" y="0"/>
                    </a:lnTo>
                    <a:lnTo>
                      <a:pt x="114300" y="57150"/>
                    </a:lnTo>
                    <a:lnTo>
                      <a:pt x="171450" y="57150"/>
                    </a:lnTo>
                    <a:lnTo>
                      <a:pt x="171450" y="114300"/>
                    </a:lnTo>
                    <a:lnTo>
                      <a:pt x="114300" y="114300"/>
                    </a:lnTo>
                    <a:lnTo>
                      <a:pt x="114300" y="185738"/>
                    </a:lnTo>
                  </a:path>
                </a:pathLst>
              </a:custGeom>
              <a:noFill/>
              <a:ln w="28575">
                <a:solidFill>
                  <a:schemeClr val="accent1"/>
                </a:solidFill>
              </a:ln>
            </p:spPr>
          </p:sp>
        </p:grpSp>
        <p:sp>
          <p:nvSpPr>
            <p:cNvPr id="18" name="TextBox 18"/>
            <p:cNvSpPr txBox="1"/>
            <p:nvPr/>
          </p:nvSpPr>
          <p:spPr>
            <a:xfrm>
              <a:off x="3384042" y="2368868"/>
              <a:ext cx="6177908" cy="264033"/>
            </a:xfrm>
            <a:prstGeom prst="rect">
              <a:avLst/>
            </a:prstGeom>
            <a:noFill/>
            <a:ln>
              <a:noFill/>
            </a:ln>
          </p:spPr>
          <p:txBody>
            <a:bodyPr wrap="none" lIns="0" tIns="0" rIns="0" bIns="0" anchor="t" anchorCtr="0">
              <a:spAutoFit/>
            </a:bodyPr>
            <a:lstStyle/>
            <a:p>
              <a:pPr algn="l"/>
              <a:r>
                <a:rPr lang="ru-RU" sz="1350" dirty="0">
                  <a:solidFill>
                    <a:schemeClr val="dk1"/>
                  </a:solidFill>
                  <a:latin typeface="+mn-lt"/>
                  <a:ea typeface="+mn-ea"/>
                  <a:cs typeface="+mn-cs"/>
                </a:rPr>
                <a:t>лет с естественной убылью; худший год — 2021-й: −7,1 на 1000 человек</a:t>
              </a:r>
            </a:p>
          </p:txBody>
        </p:sp>
        <p:sp>
          <p:nvSpPr>
            <p:cNvPr id="19" name="Line 19"/>
            <p:cNvSpPr/>
            <p:nvPr/>
          </p:nvSpPr>
          <p:spPr>
            <a:xfrm>
              <a:off x="685800" y="2743200"/>
              <a:ext cx="10820400" cy="9525"/>
            </a:xfrm>
            <a:custGeom>
              <a:avLst/>
              <a:gdLst/>
              <a:ahLst/>
              <a:cxnLst/>
              <a:rect l="l" t="t" r="r" b="b"/>
              <a:pathLst>
                <a:path w="10820400" h="9525">
                  <a:moveTo>
                    <a:pt x="0" y="0"/>
                  </a:moveTo>
                  <a:lnTo>
                    <a:pt x="10820400" y="0"/>
                  </a:lnTo>
                </a:path>
              </a:pathLst>
            </a:custGeom>
            <a:noFill/>
            <a:ln w="9525">
              <a:solidFill>
                <a:schemeClr val="accent6"/>
              </a:solidFill>
            </a:ln>
          </p:spPr>
        </p:sp>
      </p:grpSp>
      <p:grpSp>
        <p:nvGrpSpPr>
          <p:cNvPr id="31" name="conclusion-3"/>
          <p:cNvGrpSpPr/>
          <p:nvPr/>
        </p:nvGrpSpPr>
        <p:grpSpPr>
          <a:xfrm>
            <a:off x="673608" y="2998470"/>
            <a:ext cx="10832592" cy="478155"/>
            <a:chOff x="673608" y="2998470"/>
            <a:chExt cx="10832592" cy="478155"/>
          </a:xfrm>
        </p:grpSpPr>
        <p:sp>
          <p:nvSpPr>
            <p:cNvPr id="21" name="TextBox 21"/>
            <p:cNvSpPr txBox="1"/>
            <p:nvPr/>
          </p:nvSpPr>
          <p:spPr>
            <a:xfrm>
              <a:off x="673608" y="2998470"/>
              <a:ext cx="621792" cy="469392"/>
            </a:xfrm>
            <a:prstGeom prst="rect">
              <a:avLst/>
            </a:prstGeom>
            <a:noFill/>
            <a:ln>
              <a:noFill/>
            </a:ln>
          </p:spPr>
          <p:txBody>
            <a:bodyPr wrap="none" lIns="0" tIns="0" rIns="0" bIns="0" anchor="t" anchorCtr="0">
              <a:spAutoFit/>
            </a:bodyPr>
            <a:lstStyle/>
            <a:p>
              <a:pPr algn="l"/>
              <a:r>
                <a:rPr lang="ru-RU" sz="2400" b="1" dirty="0">
                  <a:solidFill>
                    <a:schemeClr val="accent3"/>
                  </a:solidFill>
                  <a:latin typeface="+mj-lt"/>
                  <a:ea typeface="+mj-ea"/>
                  <a:cs typeface="+mj-cs"/>
                </a:rPr>
                <a:t>1,42</a:t>
              </a:r>
            </a:p>
          </p:txBody>
        </p:sp>
        <p:grpSp>
          <p:nvGrpSpPr>
            <p:cNvPr id="28" name="Group 28"/>
            <p:cNvGrpSpPr/>
            <p:nvPr/>
          </p:nvGrpSpPr>
          <p:grpSpPr>
            <a:xfrm>
              <a:off x="2886075" y="3052762"/>
              <a:ext cx="257175" cy="257176"/>
              <a:chOff x="2886075" y="3052762"/>
              <a:chExt cx="257175" cy="257176"/>
            </a:xfrm>
          </p:grpSpPr>
          <p:sp>
            <p:nvSpPr>
              <p:cNvPr id="22" name="Freeform 22"/>
              <p:cNvSpPr/>
              <p:nvPr/>
            </p:nvSpPr>
            <p:spPr>
              <a:xfrm>
                <a:off x="2943225" y="3252788"/>
                <a:ext cx="57150" cy="57150"/>
              </a:xfrm>
              <a:custGeom>
                <a:avLst/>
                <a:gdLst/>
                <a:ahLst/>
                <a:cxnLst/>
                <a:rect l="l" t="t" r="r" b="b"/>
                <a:pathLst>
                  <a:path w="57150" h="57150">
                    <a:moveTo>
                      <a:pt x="0" y="28575"/>
                    </a:moveTo>
                    <a:cubicBezTo>
                      <a:pt x="0" y="44357"/>
                      <a:pt x="12793" y="57150"/>
                      <a:pt x="28575" y="57150"/>
                    </a:cubicBezTo>
                    <a:cubicBezTo>
                      <a:pt x="44357" y="57150"/>
                      <a:pt x="57150" y="44357"/>
                      <a:pt x="57150" y="28575"/>
                    </a:cubicBezTo>
                    <a:cubicBezTo>
                      <a:pt x="57150" y="12793"/>
                      <a:pt x="44357" y="0"/>
                      <a:pt x="28575" y="0"/>
                    </a:cubicBezTo>
                    <a:cubicBezTo>
                      <a:pt x="12793" y="0"/>
                      <a:pt x="0" y="12793"/>
                      <a:pt x="0" y="28575"/>
                    </a:cubicBezTo>
                  </a:path>
                </a:pathLst>
              </a:custGeom>
              <a:noFill/>
              <a:ln w="28575">
                <a:solidFill>
                  <a:schemeClr val="accent1"/>
                </a:solidFill>
              </a:ln>
            </p:spPr>
          </p:sp>
          <p:sp>
            <p:nvSpPr>
              <p:cNvPr id="23" name="Freeform 23"/>
              <p:cNvSpPr/>
              <p:nvPr/>
            </p:nvSpPr>
            <p:spPr>
              <a:xfrm>
                <a:off x="3086100" y="3252788"/>
                <a:ext cx="57150" cy="57150"/>
              </a:xfrm>
              <a:custGeom>
                <a:avLst/>
                <a:gdLst/>
                <a:ahLst/>
                <a:cxnLst/>
                <a:rect l="l" t="t" r="r" b="b"/>
                <a:pathLst>
                  <a:path w="57150" h="57150">
                    <a:moveTo>
                      <a:pt x="0" y="28575"/>
                    </a:moveTo>
                    <a:cubicBezTo>
                      <a:pt x="0" y="44357"/>
                      <a:pt x="12793" y="57150"/>
                      <a:pt x="28575" y="57150"/>
                    </a:cubicBezTo>
                    <a:cubicBezTo>
                      <a:pt x="44357" y="57150"/>
                      <a:pt x="57150" y="44357"/>
                      <a:pt x="57150" y="28575"/>
                    </a:cubicBezTo>
                    <a:cubicBezTo>
                      <a:pt x="57150" y="12793"/>
                      <a:pt x="44357" y="0"/>
                      <a:pt x="28575" y="0"/>
                    </a:cubicBezTo>
                    <a:cubicBezTo>
                      <a:pt x="12793" y="0"/>
                      <a:pt x="0" y="12793"/>
                      <a:pt x="0" y="28575"/>
                    </a:cubicBezTo>
                  </a:path>
                </a:pathLst>
              </a:custGeom>
              <a:noFill/>
              <a:ln w="28575">
                <a:solidFill>
                  <a:schemeClr val="accent1"/>
                </a:solidFill>
              </a:ln>
            </p:spPr>
          </p:sp>
          <p:sp>
            <p:nvSpPr>
              <p:cNvPr id="24" name="Freeform 24"/>
              <p:cNvSpPr/>
              <p:nvPr/>
            </p:nvSpPr>
            <p:spPr>
              <a:xfrm>
                <a:off x="2886075" y="3052762"/>
                <a:ext cx="257175" cy="157167"/>
              </a:xfrm>
              <a:custGeom>
                <a:avLst/>
                <a:gdLst/>
                <a:ahLst/>
                <a:cxnLst/>
                <a:rect l="l" t="t" r="r" b="b"/>
                <a:pathLst>
                  <a:path w="257175" h="157167">
                    <a:moveTo>
                      <a:pt x="0" y="28575"/>
                    </a:moveTo>
                    <a:lnTo>
                      <a:pt x="35719" y="28575"/>
                    </a:lnTo>
                    <a:lnTo>
                      <a:pt x="59036" y="98541"/>
                    </a:lnTo>
                    <a:cubicBezTo>
                      <a:pt x="70704" y="133553"/>
                      <a:pt x="103470" y="157167"/>
                      <a:pt x="140375" y="157162"/>
                    </a:cubicBezTo>
                    <a:lnTo>
                      <a:pt x="178594" y="157162"/>
                    </a:lnTo>
                    <a:cubicBezTo>
                      <a:pt x="221993" y="157162"/>
                      <a:pt x="257175" y="121980"/>
                      <a:pt x="257175" y="78581"/>
                    </a:cubicBezTo>
                    <a:cubicBezTo>
                      <a:pt x="257175" y="35182"/>
                      <a:pt x="221993" y="0"/>
                      <a:pt x="178594" y="0"/>
                    </a:cubicBezTo>
                    <a:lnTo>
                      <a:pt x="171450" y="0"/>
                    </a:lnTo>
                    <a:lnTo>
                      <a:pt x="171450" y="85725"/>
                    </a:lnTo>
                  </a:path>
                </a:pathLst>
              </a:custGeom>
              <a:noFill/>
              <a:ln w="28575">
                <a:solidFill>
                  <a:schemeClr val="accent1"/>
                </a:solidFill>
              </a:ln>
            </p:spPr>
          </p:sp>
          <p:sp>
            <p:nvSpPr>
              <p:cNvPr id="25" name="Freeform 25"/>
              <p:cNvSpPr/>
              <p:nvPr/>
            </p:nvSpPr>
            <p:spPr>
              <a:xfrm>
                <a:off x="2943225" y="3138488"/>
                <a:ext cx="200025" cy="9525"/>
              </a:xfrm>
              <a:custGeom>
                <a:avLst/>
                <a:gdLst/>
                <a:ahLst/>
                <a:cxnLst/>
                <a:rect l="l" t="t" r="r" b="b"/>
                <a:pathLst>
                  <a:path w="200025" h="9525">
                    <a:moveTo>
                      <a:pt x="0" y="0"/>
                    </a:moveTo>
                    <a:lnTo>
                      <a:pt x="200025" y="0"/>
                    </a:lnTo>
                  </a:path>
                </a:pathLst>
              </a:custGeom>
              <a:noFill/>
              <a:ln w="28575">
                <a:solidFill>
                  <a:schemeClr val="accent1"/>
                </a:solidFill>
              </a:ln>
            </p:spPr>
          </p:sp>
          <p:sp>
            <p:nvSpPr>
              <p:cNvPr id="26" name="Freeform 26"/>
              <p:cNvSpPr/>
              <p:nvPr/>
            </p:nvSpPr>
            <p:spPr>
              <a:xfrm>
                <a:off x="2986088" y="3209925"/>
                <a:ext cx="14288" cy="42862"/>
              </a:xfrm>
              <a:custGeom>
                <a:avLst/>
                <a:gdLst/>
                <a:ahLst/>
                <a:cxnLst/>
                <a:rect l="l" t="t" r="r" b="b"/>
                <a:pathLst>
                  <a:path w="14288" h="42862">
                    <a:moveTo>
                      <a:pt x="0" y="42862"/>
                    </a:moveTo>
                    <a:lnTo>
                      <a:pt x="14288" y="0"/>
                    </a:lnTo>
                  </a:path>
                </a:pathLst>
              </a:custGeom>
              <a:noFill/>
              <a:ln w="28575">
                <a:solidFill>
                  <a:schemeClr val="accent1"/>
                </a:solidFill>
              </a:ln>
            </p:spPr>
          </p:sp>
          <p:sp>
            <p:nvSpPr>
              <p:cNvPr id="27" name="Freeform 27"/>
              <p:cNvSpPr/>
              <p:nvPr/>
            </p:nvSpPr>
            <p:spPr>
              <a:xfrm>
                <a:off x="3086100" y="3209925"/>
                <a:ext cx="14288" cy="42862"/>
              </a:xfrm>
              <a:custGeom>
                <a:avLst/>
                <a:gdLst/>
                <a:ahLst/>
                <a:cxnLst/>
                <a:rect l="l" t="t" r="r" b="b"/>
                <a:pathLst>
                  <a:path w="14288" h="42862">
                    <a:moveTo>
                      <a:pt x="0" y="0"/>
                    </a:moveTo>
                    <a:lnTo>
                      <a:pt x="14288" y="42862"/>
                    </a:lnTo>
                  </a:path>
                </a:pathLst>
              </a:custGeom>
              <a:noFill/>
              <a:ln w="28575">
                <a:solidFill>
                  <a:schemeClr val="accent1"/>
                </a:solidFill>
              </a:ln>
            </p:spPr>
          </p:sp>
        </p:grpSp>
        <p:sp>
          <p:nvSpPr>
            <p:cNvPr id="29" name="TextBox 29"/>
            <p:cNvSpPr txBox="1"/>
            <p:nvPr/>
          </p:nvSpPr>
          <p:spPr>
            <a:xfrm>
              <a:off x="3384042" y="3092768"/>
              <a:ext cx="6380041" cy="264033"/>
            </a:xfrm>
            <a:prstGeom prst="rect">
              <a:avLst/>
            </a:prstGeom>
            <a:noFill/>
            <a:ln>
              <a:noFill/>
            </a:ln>
          </p:spPr>
          <p:txBody>
            <a:bodyPr wrap="none" lIns="0" tIns="0" rIns="0" bIns="0" anchor="t" anchorCtr="0">
              <a:spAutoFit/>
            </a:bodyPr>
            <a:lstStyle/>
            <a:p>
              <a:pPr algn="l"/>
              <a:r>
                <a:rPr lang="ru-RU" sz="1350" dirty="0">
                  <a:solidFill>
                    <a:schemeClr val="dk1"/>
                  </a:solidFill>
                  <a:latin typeface="+mn-lt"/>
                  <a:ea typeface="+mn-ea"/>
                  <a:cs typeface="+mn-cs"/>
                </a:rPr>
                <a:t>рождения на женщину в 2024 году против 1,73 в 1991-м (SP.DYN.TFRT.IN)</a:t>
              </a:r>
            </a:p>
          </p:txBody>
        </p:sp>
        <p:sp>
          <p:nvSpPr>
            <p:cNvPr id="30" name="Line 30"/>
            <p:cNvSpPr/>
            <p:nvPr/>
          </p:nvSpPr>
          <p:spPr>
            <a:xfrm>
              <a:off x="685800" y="3467100"/>
              <a:ext cx="10820400" cy="9525"/>
            </a:xfrm>
            <a:custGeom>
              <a:avLst/>
              <a:gdLst/>
              <a:ahLst/>
              <a:cxnLst/>
              <a:rect l="l" t="t" r="r" b="b"/>
              <a:pathLst>
                <a:path w="10820400" h="9525">
                  <a:moveTo>
                    <a:pt x="0" y="0"/>
                  </a:moveTo>
                  <a:lnTo>
                    <a:pt x="10820400" y="0"/>
                  </a:lnTo>
                </a:path>
              </a:pathLst>
            </a:custGeom>
            <a:noFill/>
            <a:ln w="9525">
              <a:solidFill>
                <a:schemeClr val="accent6"/>
              </a:solidFill>
            </a:ln>
          </p:spPr>
        </p:sp>
      </p:grpSp>
      <p:grpSp>
        <p:nvGrpSpPr>
          <p:cNvPr id="38" name="conclusion-4"/>
          <p:cNvGrpSpPr/>
          <p:nvPr/>
        </p:nvGrpSpPr>
        <p:grpSpPr>
          <a:xfrm>
            <a:off x="673608" y="3722370"/>
            <a:ext cx="10832592" cy="725805"/>
            <a:chOff x="673608" y="3722370"/>
            <a:chExt cx="10832592" cy="725805"/>
          </a:xfrm>
        </p:grpSpPr>
        <p:sp>
          <p:nvSpPr>
            <p:cNvPr id="32" name="TextBox 32"/>
            <p:cNvSpPr txBox="1"/>
            <p:nvPr/>
          </p:nvSpPr>
          <p:spPr>
            <a:xfrm>
              <a:off x="673608" y="3722370"/>
              <a:ext cx="1493086" cy="469392"/>
            </a:xfrm>
            <a:prstGeom prst="rect">
              <a:avLst/>
            </a:prstGeom>
            <a:noFill/>
            <a:ln>
              <a:noFill/>
            </a:ln>
          </p:spPr>
          <p:txBody>
            <a:bodyPr wrap="none" lIns="0" tIns="0" rIns="0" bIns="0" anchor="t" anchorCtr="0">
              <a:spAutoFit/>
            </a:bodyPr>
            <a:lstStyle/>
            <a:p>
              <a:pPr algn="l"/>
              <a:r>
                <a:rPr lang="ru-RU" sz="2400" b="1" dirty="0">
                  <a:solidFill>
                    <a:schemeClr val="accent2"/>
                  </a:solidFill>
                  <a:latin typeface="+mj-lt"/>
                  <a:ea typeface="+mj-ea"/>
                  <a:cs typeface="+mj-cs"/>
                </a:rPr>
                <a:t>−178 тыс.</a:t>
              </a:r>
            </a:p>
          </p:txBody>
        </p:sp>
        <p:grpSp>
          <p:nvGrpSpPr>
            <p:cNvPr id="35" name="Group 35"/>
            <p:cNvGrpSpPr/>
            <p:nvPr/>
          </p:nvGrpSpPr>
          <p:grpSpPr>
            <a:xfrm>
              <a:off x="2900362" y="3819525"/>
              <a:ext cx="257175" cy="171450"/>
              <a:chOff x="2900362" y="3819525"/>
              <a:chExt cx="257175" cy="171450"/>
            </a:xfrm>
          </p:grpSpPr>
          <p:sp>
            <p:nvSpPr>
              <p:cNvPr id="33" name="Freeform 33"/>
              <p:cNvSpPr/>
              <p:nvPr/>
            </p:nvSpPr>
            <p:spPr>
              <a:xfrm>
                <a:off x="2957512" y="3819525"/>
                <a:ext cx="200025" cy="57150"/>
              </a:xfrm>
              <a:custGeom>
                <a:avLst/>
                <a:gdLst/>
                <a:ahLst/>
                <a:cxnLst/>
                <a:rect l="l" t="t" r="r" b="b"/>
                <a:pathLst>
                  <a:path w="200025" h="57150">
                    <a:moveTo>
                      <a:pt x="0" y="57150"/>
                    </a:moveTo>
                    <a:lnTo>
                      <a:pt x="200025" y="57150"/>
                    </a:lnTo>
                    <a:lnTo>
                      <a:pt x="142875" y="0"/>
                    </a:lnTo>
                  </a:path>
                </a:pathLst>
              </a:custGeom>
              <a:noFill/>
              <a:ln w="28575">
                <a:solidFill>
                  <a:schemeClr val="accent1"/>
                </a:solidFill>
              </a:ln>
            </p:spPr>
          </p:sp>
          <p:sp>
            <p:nvSpPr>
              <p:cNvPr id="34" name="Freeform 34"/>
              <p:cNvSpPr/>
              <p:nvPr/>
            </p:nvSpPr>
            <p:spPr>
              <a:xfrm>
                <a:off x="2900362" y="3933825"/>
                <a:ext cx="200025" cy="57150"/>
              </a:xfrm>
              <a:custGeom>
                <a:avLst/>
                <a:gdLst/>
                <a:ahLst/>
                <a:cxnLst/>
                <a:rect l="l" t="t" r="r" b="b"/>
                <a:pathLst>
                  <a:path w="200025" h="57150">
                    <a:moveTo>
                      <a:pt x="200025" y="0"/>
                    </a:moveTo>
                    <a:lnTo>
                      <a:pt x="0" y="0"/>
                    </a:lnTo>
                    <a:lnTo>
                      <a:pt x="57150" y="57150"/>
                    </a:lnTo>
                  </a:path>
                </a:pathLst>
              </a:custGeom>
              <a:noFill/>
              <a:ln w="28575">
                <a:solidFill>
                  <a:schemeClr val="accent1"/>
                </a:solidFill>
              </a:ln>
            </p:spPr>
          </p:sp>
        </p:grpSp>
        <p:sp>
          <p:nvSpPr>
            <p:cNvPr id="36" name="TextBox 36"/>
            <p:cNvSpPr txBox="1"/>
            <p:nvPr/>
          </p:nvSpPr>
          <p:spPr>
            <a:xfrm>
              <a:off x="3384042" y="3816668"/>
              <a:ext cx="3597432" cy="511683"/>
            </a:xfrm>
            <a:prstGeom prst="rect">
              <a:avLst/>
            </a:prstGeom>
            <a:noFill/>
            <a:ln>
              <a:noFill/>
            </a:ln>
          </p:spPr>
          <p:txBody>
            <a:bodyPr wrap="none" lIns="0" tIns="0" rIns="0" bIns="0" anchor="t" anchorCtr="0">
              <a:spAutoFit/>
            </a:bodyPr>
            <a:lstStyle/>
            <a:p>
              <a:pPr algn="l">
                <a:lnSpc>
                  <a:spcPts val="1950"/>
                </a:lnSpc>
              </a:pPr>
              <a:r>
                <a:rPr lang="ru-RU" sz="1350" dirty="0">
                  <a:solidFill>
                    <a:schemeClr val="dk1"/>
                  </a:solidFill>
                  <a:latin typeface="+mn-lt"/>
                  <a:ea typeface="+mn-ea"/>
                  <a:cs typeface="+mn-cs"/>
                </a:rPr>
                <a:t>миграционное сальдо 2024 года — впервые</a:t>
              </a:r>
              <a:br/>
              <a:r>
                <a:rPr lang="ru-RU" sz="1350" dirty="0">
                  <a:solidFill>
                    <a:schemeClr val="dk1"/>
                  </a:solidFill>
                  <a:latin typeface="+mn-lt"/>
                  <a:ea typeface="+mn-ea"/>
                  <a:cs typeface="+mn-cs"/>
                </a:rPr>
                <a:t>отрицательное с 1992 года (SM.POP.NETM)</a:t>
              </a:r>
            </a:p>
          </p:txBody>
        </p:sp>
        <p:sp>
          <p:nvSpPr>
            <p:cNvPr id="37" name="Line 37"/>
            <p:cNvSpPr/>
            <p:nvPr/>
          </p:nvSpPr>
          <p:spPr>
            <a:xfrm>
              <a:off x="685800" y="4438650"/>
              <a:ext cx="10820400" cy="9525"/>
            </a:xfrm>
            <a:custGeom>
              <a:avLst/>
              <a:gdLst/>
              <a:ahLst/>
              <a:cxnLst/>
              <a:rect l="l" t="t" r="r" b="b"/>
              <a:pathLst>
                <a:path w="10820400" h="9525">
                  <a:moveTo>
                    <a:pt x="0" y="0"/>
                  </a:moveTo>
                  <a:lnTo>
                    <a:pt x="10820400" y="0"/>
                  </a:lnTo>
                </a:path>
              </a:pathLst>
            </a:custGeom>
            <a:noFill/>
            <a:ln w="9525">
              <a:solidFill>
                <a:schemeClr val="accent6"/>
              </a:solidFill>
            </a:ln>
          </p:spPr>
        </p:sp>
      </p:grpSp>
      <p:grpSp>
        <p:nvGrpSpPr>
          <p:cNvPr id="41" name="closing-takeaway"/>
          <p:cNvGrpSpPr/>
          <p:nvPr/>
        </p:nvGrpSpPr>
        <p:grpSpPr>
          <a:xfrm>
            <a:off x="685800" y="4572000"/>
            <a:ext cx="10820400" cy="729234"/>
            <a:chOff x="685800" y="4572000"/>
            <a:chExt cx="10820400" cy="729234"/>
          </a:xfrm>
        </p:grpSpPr>
        <p:sp>
          <p:nvSpPr>
            <p:cNvPr id="39" name="Rectangle 39"/>
            <p:cNvSpPr/>
            <p:nvPr/>
          </p:nvSpPr>
          <p:spPr>
            <a:xfrm>
              <a:off x="685800" y="4572000"/>
              <a:ext cx="10820400" cy="666750"/>
            </a:xfrm>
            <a:prstGeom prst="rect">
              <a:avLst/>
            </a:prstGeom>
            <a:solidFill>
              <a:schemeClr val="lt2"/>
            </a:solidFill>
            <a:ln>
              <a:noFill/>
            </a:ln>
          </p:spPr>
        </p:sp>
        <p:sp>
          <p:nvSpPr>
            <p:cNvPr id="40" name="TextBox 40"/>
            <p:cNvSpPr txBox="1"/>
            <p:nvPr/>
          </p:nvSpPr>
          <p:spPr>
            <a:xfrm>
              <a:off x="905256" y="4663440"/>
              <a:ext cx="8447319" cy="637794"/>
            </a:xfrm>
            <a:prstGeom prst="rect">
              <a:avLst/>
            </a:prstGeom>
            <a:noFill/>
            <a:ln>
              <a:noFill/>
            </a:ln>
          </p:spPr>
          <p:txBody>
            <a:bodyPr wrap="none" lIns="0" tIns="0" rIns="0" bIns="0" anchor="t" anchorCtr="0">
              <a:spAutoFit/>
            </a:bodyPr>
            <a:lstStyle/>
            <a:p>
              <a:pPr algn="l">
                <a:lnSpc>
                  <a:spcPts val="2250"/>
                </a:lnSpc>
              </a:pPr>
              <a:r>
                <a:rPr lang="ru-RU" sz="1800" dirty="0">
                  <a:solidFill>
                    <a:schemeClr val="accent1"/>
                  </a:solidFill>
                  <a:latin typeface="+mn-lt"/>
                  <a:ea typeface="+mn-ea"/>
                  <a:cs typeface="+mn-cs"/>
                </a:rPr>
                <a:t>Численность удерживалась миграцией, а не естественным воспроизводством;</a:t>
              </a:r>
              <a:br/>
              <a:r>
                <a:rPr lang="ru-RU" sz="1800" b="1" dirty="0">
                  <a:solidFill>
                    <a:schemeClr val="accent1"/>
                  </a:solidFill>
                  <a:latin typeface="+mn-lt"/>
                  <a:ea typeface="+mn-ea"/>
                  <a:cs typeface="+mn-cs"/>
                </a:rPr>
                <a:t>в 2024 году оба слагаемых изменения численности отрицательны.</a:t>
              </a:r>
            </a:p>
          </p:txBody>
        </p:sp>
      </p:grpSp>
      <p:grpSp>
        <p:nvGrpSpPr>
          <p:cNvPr id="43" name="closing-band"/>
          <p:cNvGrpSpPr/>
          <p:nvPr/>
        </p:nvGrpSpPr>
        <p:grpSpPr>
          <a:xfrm>
            <a:off x="0" y="5334000"/>
            <a:ext cx="12192000" cy="1028700"/>
            <a:chOff x="0" y="5334000"/>
            <a:chExt cx="12192000" cy="1028700"/>
          </a:xfrm>
        </p:grpSpPr>
        <p:pic>
          <p:nvPicPr>
            <p:cNvPr id="42" name="Image 42"/>
            <p:cNvPicPr>
              <a:picLocks noChangeAspect="1"/>
            </p:cNvPicPr>
            <p:nvPr/>
          </p:nvPicPr>
          <p:blipFill>
            <a:blip r:embed="rId2"/>
            <a:srcRect l="0" t="65966" r="0" b="0"/>
            <a:stretch>
              <a:fillRect/>
            </a:stretch>
          </p:blipFill>
          <p:spPr>
            <a:xfrm>
              <a:off x="0" y="5334000"/>
              <a:ext cx="12192000" cy="1028700"/>
            </a:xfrm>
            <a:prstGeom prst="rect">
              <a:avLst/>
            </a:prstGeom>
          </p:spPr>
        </p:pic>
      </p:grpSp>
      <p:grpSp>
        <p:nvGrpSpPr>
          <p:cNvPr id="46" name="page-footer"/>
          <p:cNvGrpSpPr/>
          <p:nvPr/>
        </p:nvGrpSpPr>
        <p:grpSpPr>
          <a:xfrm>
            <a:off x="679704" y="6442710"/>
            <a:ext cx="10832592" cy="234696"/>
            <a:chOff x="679704" y="6442710"/>
            <a:chExt cx="10832592" cy="234696"/>
          </a:xfrm>
        </p:grpSpPr>
        <p:sp>
          <p:nvSpPr>
            <p:cNvPr id="44" name="TextBox 44"/>
            <p:cNvSpPr txBox="1"/>
            <p:nvPr/>
          </p:nvSpPr>
          <p:spPr>
            <a:xfrm>
              <a:off x="679704" y="6442710"/>
              <a:ext cx="7049918" cy="234696"/>
            </a:xfrm>
            <a:prstGeom prst="rect">
              <a:avLst/>
            </a:prstGeom>
            <a:noFill/>
            <a:ln>
              <a:noFill/>
            </a:ln>
          </p:spPr>
          <p:txBody>
            <a:bodyPr wrap="none" lIns="0" tIns="0" rIns="0" bIns="0" anchor="t" anchorCtr="0">
              <a:spAutoFit/>
            </a:bodyPr>
            <a:lstStyle/>
            <a:p>
              <a:pPr algn="l"/>
              <a:r>
                <a:rPr lang="ru-RU" sz="1200" dirty="0">
                  <a:solidFill>
                    <a:schemeClr val="accent5"/>
                  </a:solidFill>
                  <a:latin typeface="+mn-lt"/>
                  <a:ea typeface="+mn-ea"/>
                  <a:cs typeface="+mn-cs"/>
                </a:rPr>
                <a:t>Всемирный банк, World Development Indicators, 1991–2024 · производные величины — расчёт</a:t>
              </a:r>
            </a:p>
          </p:txBody>
        </p:sp>
        <p:sp>
          <p:nvSpPr>
            <p:cNvPr id="45" name="TextBox 45"/>
            <p:cNvSpPr txBox="1"/>
            <p:nvPr/>
          </p:nvSpPr>
          <p:spPr>
            <a:xfrm>
              <a:off x="11320402" y="6442710"/>
              <a:ext cx="191894" cy="234696"/>
            </a:xfrm>
            <a:prstGeom prst="rect">
              <a:avLst/>
            </a:prstGeom>
            <a:noFill/>
            <a:ln>
              <a:noFill/>
            </a:ln>
          </p:spPr>
          <p:txBody>
            <a:bodyPr wrap="none" lIns="0" tIns="0" rIns="0" bIns="0" anchor="t" anchorCtr="0">
              <a:spAutoFit/>
            </a:bodyPr>
            <a:lstStyle/>
            <a:p>
              <a:pPr algn="r"/>
              <a:r>
                <a:rPr lang="ru-RU" sz="1200" dirty="0">
                  <a:solidFill>
                    <a:schemeClr val="accent5"/>
                  </a:solidFill>
                  <a:latin typeface="+mn-lt"/>
                  <a:ea typeface="+mn-ea"/>
                  <a:cs typeface="+mn-cs"/>
                </a:rPr>
                <a:t>15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par>
                          <p:cTn id="8" fill="hold">
                            <p:stCondLst>
                              <p:cond delay="40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400"/>
                                        <p:tgtEl>
                                          <p:spTgt spid="13"/>
                                        </p:tgtEl>
                                      </p:cBhvr>
                                    </p:animEffect>
                                  </p:childTnLst>
                                </p:cTn>
                              </p:par>
                            </p:childTnLst>
                          </p:cTn>
                        </p:par>
                        <p:par>
                          <p:cTn id="12" fill="hold">
                            <p:stCondLst>
                              <p:cond delay="1300"/>
                            </p:stCondLst>
                            <p:childTnLst>
                              <p:par>
                                <p:cTn xmlns:p="http://schemas.openxmlformats.org/presentationml/2006/main" id="13" presetID="10" presetClass="entr" presetSubtype="0" fill="hold" grpId="0" nodeType="afterEffect">
                                  <p:stCondLst>
                                    <p:cond delay="50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400"/>
                                        <p:tgtEl>
                                          <p:spTgt spid="20"/>
                                        </p:tgtEl>
                                      </p:cBhvr>
                                    </p:animEffect>
                                  </p:childTnLst>
                                </p:cTn>
                              </p:par>
                            </p:childTnLst>
                          </p:cTn>
                        </p:par>
                        <p:par>
                          <p:cTn id="16" fill="hold">
                            <p:stCondLst>
                              <p:cond delay="2200"/>
                            </p:stCondLst>
                            <p:childTnLst>
                              <p:par>
                                <p:cTn xmlns:p="http://schemas.openxmlformats.org/presentationml/2006/main" id="17" presetID="10" presetClass="entr" presetSubtype="0" fill="hold" grpId="0" nodeType="afterEffect">
                                  <p:stCondLst>
                                    <p:cond delay="500"/>
                                  </p:stCondLst>
                                  <p:childTnLst>
                                    <p:set>
                                      <p:cBhvr>
                                        <p:cTn id="18" dur="1" fill="hold">
                                          <p:stCondLst>
                                            <p:cond delay="0"/>
                                          </p:stCondLst>
                                        </p:cTn>
                                        <p:tgtEl>
                                          <p:spTgt spid="31"/>
                                        </p:tgtEl>
                                        <p:attrNameLst>
                                          <p:attrName>style.visibility</p:attrName>
                                        </p:attrNameLst>
                                      </p:cBhvr>
                                      <p:to>
                                        <p:strVal val="visible"/>
                                      </p:to>
                                    </p:set>
                                    <p:animEffect transition="in" filter="fade">
                                      <p:cBhvr>
                                        <p:cTn id="19" dur="400"/>
                                        <p:tgtEl>
                                          <p:spTgt spid="31"/>
                                        </p:tgtEl>
                                      </p:cBhvr>
                                    </p:animEffect>
                                  </p:childTnLst>
                                </p:cTn>
                              </p:par>
                            </p:childTnLst>
                          </p:cTn>
                        </p:par>
                        <p:par>
                          <p:cTn id="20" fill="hold">
                            <p:stCondLst>
                              <p:cond delay="3100"/>
                            </p:stCondLst>
                            <p:childTnLst>
                              <p:par>
                                <p:cTn xmlns:p="http://schemas.openxmlformats.org/presentationml/2006/main" id="21" presetID="10" presetClass="entr" presetSubtype="0" fill="hold" grpId="0" nodeType="afterEffect">
                                  <p:stCondLst>
                                    <p:cond delay="500"/>
                                  </p:stCondLst>
                                  <p:childTnLst>
                                    <p:set>
                                      <p:cBhvr>
                                        <p:cTn id="22" dur="1" fill="hold">
                                          <p:stCondLst>
                                            <p:cond delay="0"/>
                                          </p:stCondLst>
                                        </p:cTn>
                                        <p:tgtEl>
                                          <p:spTgt spid="38"/>
                                        </p:tgtEl>
                                        <p:attrNameLst>
                                          <p:attrName>style.visibility</p:attrName>
                                        </p:attrNameLst>
                                      </p:cBhvr>
                                      <p:to>
                                        <p:strVal val="visible"/>
                                      </p:to>
                                    </p:set>
                                    <p:animEffect transition="in" filter="fade">
                                      <p:cBhvr>
                                        <p:cTn id="23" dur="400"/>
                                        <p:tgtEl>
                                          <p:spTgt spid="38"/>
                                        </p:tgtEl>
                                      </p:cBhvr>
                                    </p:animEffect>
                                  </p:childTnLst>
                                </p:cTn>
                              </p:par>
                            </p:childTnLst>
                          </p:cTn>
                        </p:par>
                        <p:par>
                          <p:cTn id="24" fill="hold">
                            <p:stCondLst>
                              <p:cond delay="4000"/>
                            </p:stCondLst>
                            <p:childTnLst>
                              <p:par>
                                <p:cTn xmlns:p="http://schemas.openxmlformats.org/presentationml/2006/main" id="25" presetID="10" presetClass="entr" presetSubtype="0" fill="hold" grpId="0" nodeType="afterEffect">
                                  <p:stCondLst>
                                    <p:cond delay="200"/>
                                  </p:stCondLst>
                                  <p:childTnLst>
                                    <p:set>
                                      <p:cBhvr>
                                        <p:cTn id="26" dur="1" fill="hold">
                                          <p:stCondLst>
                                            <p:cond delay="0"/>
                                          </p:stCondLst>
                                        </p:cTn>
                                        <p:tgtEl>
                                          <p:spTgt spid="41"/>
                                        </p:tgtEl>
                                        <p:attrNameLst>
                                          <p:attrName>style.visibility</p:attrName>
                                        </p:attrNameLst>
                                      </p:cBhvr>
                                      <p:to>
                                        <p:strVal val="visible"/>
                                      </p:to>
                                    </p:set>
                                    <p:animEffect transition="in" filter="fade">
                                      <p:cBhvr>
                                        <p:cTn id="27" dur="600"/>
                                        <p:tgtEl>
                                          <p:spTgt spid="41"/>
                                        </p:tgtEl>
                                      </p:cBhvr>
                                    </p:animEffect>
                                  </p:childTnLst>
                                </p:cTn>
                              </p:par>
                            </p:childTnLst>
                          </p:cTn>
                        </p:par>
                        <p:par>
                          <p:cTn id="28" fill="hold">
                            <p:stCondLst>
                              <p:cond delay="4800"/>
                            </p:stCondLst>
                            <p:childTnLst>
                              <p:par>
                                <p:cTn xmlns:p="http://schemas.openxmlformats.org/presentationml/2006/main" id="29" presetID="22" presetClass="entr" presetSubtype="1" fill="hold" grpId="0" nodeType="afterEffect">
                                  <p:stCondLst>
                                    <p:cond delay="500"/>
                                  </p:stCondLst>
                                  <p:childTnLst>
                                    <p:set>
                                      <p:cBhvr>
                                        <p:cTn id="30" dur="1" fill="hold">
                                          <p:stCondLst>
                                            <p:cond delay="0"/>
                                          </p:stCondLst>
                                        </p:cTn>
                                        <p:tgtEl>
                                          <p:spTgt spid="43"/>
                                        </p:tgtEl>
                                        <p:attrNameLst>
                                          <p:attrName>style.visibility</p:attrName>
                                        </p:attrNameLst>
                                      </p:cBhvr>
                                      <p:to>
                                        <p:strVal val="visible"/>
                                      </p:to>
                                    </p:set>
                                    <p:animEffect transition="in" filter="wipe(up)">
                                      <p:cBhvr>
                                        <p:cTn id="31" dur="7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ppt169_russia_demography_ru">
  <a:themeElements>
    <a:clrScheme name="ppt169_russia_demography_ru">
      <a:dk1>
        <a:srgbClr val="232A31"/>
      </a:dk1>
      <a:lt1>
        <a:srgbClr val="FBFAF7"/>
      </a:lt1>
      <a:dk2>
        <a:srgbClr val="1F497D"/>
      </a:dk2>
      <a:lt2>
        <a:srgbClr val="F0EDE6"/>
      </a:lt2>
      <a:accent1>
        <a:srgbClr val="1B2B3A"/>
      </a:accent1>
      <a:accent2>
        <a:srgbClr val="B3121B"/>
      </a:accent2>
      <a:accent3>
        <a:srgbClr val="2E6F8E"/>
      </a:accent3>
      <a:accent4>
        <a:srgbClr val="1B2B3A"/>
      </a:accent4>
      <a:accent5>
        <a:srgbClr val="5B6670"/>
      </a:accent5>
      <a:accent6>
        <a:srgbClr val="D5CFC4"/>
      </a:accent6>
      <a:hlink>
        <a:srgbClr val="B3121B"/>
      </a:hlink>
      <a:folHlink>
        <a:srgbClr val="2E6F8E"/>
      </a:folHlink>
    </a:clrScheme>
    <a:fontScheme name="ppt169_russia_demography_ru">
      <a:majorFont>
        <a:latin typeface="Times New Roman"/>
        <a:ea typeface="SimSun"/>
        <a:cs typeface="Times New Roman"/>
        <a:font script="Jpan" typeface="SimSun"/>
        <a:font script="Hang" typeface="SimSun"/>
        <a:font script="Hans" typeface="SimSun"/>
        <a:font script="Hant" typeface="SimSun"/>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pt169_russia_demography_r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ppt169_russia_demography_ru">
  <a:themeElements>
    <a:clrScheme name="ppt169_russia_demography_ru">
      <a:dk1>
        <a:srgbClr val="232A31"/>
      </a:dk1>
      <a:lt1>
        <a:srgbClr val="FBFAF7"/>
      </a:lt1>
      <a:dk2>
        <a:srgbClr val="1F497D"/>
      </a:dk2>
      <a:lt2>
        <a:srgbClr val="F0EDE6"/>
      </a:lt2>
      <a:accent1>
        <a:srgbClr val="1B2B3A"/>
      </a:accent1>
      <a:accent2>
        <a:srgbClr val="B3121B"/>
      </a:accent2>
      <a:accent3>
        <a:srgbClr val="2E6F8E"/>
      </a:accent3>
      <a:accent4>
        <a:srgbClr val="1B2B3A"/>
      </a:accent4>
      <a:accent5>
        <a:srgbClr val="5B6670"/>
      </a:accent5>
      <a:accent6>
        <a:srgbClr val="D5CFC4"/>
      </a:accent6>
      <a:hlink>
        <a:srgbClr val="B3121B"/>
      </a:hlink>
      <a:folHlink>
        <a:srgbClr val="2E6F8E"/>
      </a:folHlink>
    </a:clrScheme>
    <a:fontScheme name="ppt169_russia_demography_ru">
      <a:majorFont>
        <a:latin typeface="Times New Roman"/>
        <a:ea typeface="SimSun"/>
        <a:cs typeface="Times New Roman"/>
        <a:font script="Jpan" typeface="SimSun"/>
        <a:font script="Hang" typeface="SimSun"/>
        <a:font script="Hans" typeface="SimSun"/>
        <a:font script="Hant" typeface="SimSun"/>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pt169_russia_demography_r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15</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ru-RU</dc:language>
  <cp:lastModifiedBy/>
  <cp:revision>1</cp:revision>
  <dcterms:created xsi:type="dcterms:W3CDTF">2026-09-12T04:55:25Z</dcterms:created>
  <dcterms:modified xsi:type="dcterms:W3CDTF">2026-09-12T04:55:25Z</dcterms:modified>
  <cp:category/>
  <cp:contentStatus/>
</cp:coreProperties>
</file>