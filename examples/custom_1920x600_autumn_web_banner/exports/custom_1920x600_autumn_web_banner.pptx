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8288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ustom_1920x600_autumn_web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ustom_1920x600_autumn_web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5b9bfad6f4d0dee.png"/>
  <Relationship Id="rId3" Type="http://schemas.openxmlformats.org/officeDocument/2006/relationships/image" Target="../media/image_7602cfc1e1aa3ce1.png"/>
  <Relationship Id="rId4" Type="http://schemas.openxmlformats.org/officeDocument/2006/relationships/image" Target="../media/image_bd895bf5e39df0bf.png"/>
  <Relationship Id="rId5" Type="http://schemas.openxmlformats.org/officeDocument/2006/relationships/image" Target="../media/image_ec85b87918af87ae.png"/>
  <Relationship Id="rId6" Type="http://schemas.openxmlformats.org/officeDocument/2006/relationships/image" Target="../media/image_a5b7782887ca3e68.png"/>
  <Relationship Id="rId7" Type="http://schemas.openxmlformats.org/officeDocument/2006/relationships/image" Target="../media/image_1909fa05f79c7087.png"/>
  <Relationship Id="rId8" Type="http://schemas.openxmlformats.org/officeDocument/2006/relationships/image" Target="../media/image_cf937470fa18dca2.png"/>
  <Relationship Id="rId9" Type="http://schemas.openxmlformats.org/officeDocument/2006/relationships/image" Target="../media/image_cd2330e5899dd054.png"/>
  <Relationship Id="rId10" Type="http://schemas.openxmlformats.org/officeDocument/2006/relationships/image" Target="../media/image_69098af5636084db.png"/>
  <Relationship Id="rId11" Type="http://schemas.openxmlformats.org/officeDocument/2006/relationships/image" Target="../media/image_f1dc53ce7933d51d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dc36b3c522da75c.png"/>
  <Relationship Id="rId3" Type="http://schemas.openxmlformats.org/officeDocument/2006/relationships/image" Target="../media/image_a5b7782887ca3e68.png"/>
  <Relationship Id="rId4" Type="http://schemas.openxmlformats.org/officeDocument/2006/relationships/image" Target="../media/image_8c034cd9aed8249a.png"/>
  <Relationship Id="rId5" Type="http://schemas.openxmlformats.org/officeDocument/2006/relationships/image" Target="../media/image_ec85b87918af87ae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fe2c92731dab18a.png"/>
  <Relationship Id="rId3" Type="http://schemas.openxmlformats.org/officeDocument/2006/relationships/image" Target="../media/image_1909fa05f79c7087.png"/>
  <Relationship Id="rId4" Type="http://schemas.openxmlformats.org/officeDocument/2006/relationships/image" Target="../media/image_e31627d6bba228ec.png"/>
  <Relationship Id="rId5" Type="http://schemas.openxmlformats.org/officeDocument/2006/relationships/image" Target="../media/image_ec85b87918af87ae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e4696fc70351e6b.png"/>
  <Relationship Id="rId3" Type="http://schemas.openxmlformats.org/officeDocument/2006/relationships/image" Target="../media/image_db89a84374cc09f4.png"/>
  <Relationship Id="rId4" Type="http://schemas.openxmlformats.org/officeDocument/2006/relationships/image" Target="../media/image_8d6e6be26e2fa8ad.png"/>
  <Relationship Id="rId5" Type="http://schemas.openxmlformats.org/officeDocument/2006/relationships/image" Target="../media/image_cf937470fa18dca2.png"/>
  <Relationship Id="rId6" Type="http://schemas.openxmlformats.org/officeDocument/2006/relationships/image" Target="../media/image_23465f6cf1ebd2b8.png"/>
  <Relationship Id="rId7" Type="http://schemas.openxmlformats.org/officeDocument/2006/relationships/image" Target="../media/image_ec85b87918af87ae.pn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9fe65387f7baf52.png"/>
  <Relationship Id="rId3" Type="http://schemas.openxmlformats.org/officeDocument/2006/relationships/image" Target="../media/image_cd2330e5899dd054.png"/>
  <Relationship Id="rId4" Type="http://schemas.openxmlformats.org/officeDocument/2006/relationships/image" Target="../media/image_58b94a32ff934b7b.png"/>
  <Relationship Id="rId5" Type="http://schemas.openxmlformats.org/officeDocument/2006/relationships/image" Target="../media/image_ec85b87918af87ae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da66d14f1a10531.png"/>
  <Relationship Id="rId3" Type="http://schemas.openxmlformats.org/officeDocument/2006/relationships/image" Target="../media/image_ed543d01076466b0.png"/>
  <Relationship Id="rId4" Type="http://schemas.openxmlformats.org/officeDocument/2006/relationships/image" Target="../media/image_69098af5636084db.png"/>
  <Relationship Id="rId5" Type="http://schemas.openxmlformats.org/officeDocument/2006/relationships/image" Target="../media/image_592244cd94a71f66.png"/>
  <Relationship Id="rId6" Type="http://schemas.openxmlformats.org/officeDocument/2006/relationships/image" Target="../media/image_15a982e7fa2cf363.png"/>
  <Relationship Id="rId7" Type="http://schemas.openxmlformats.org/officeDocument/2006/relationships/image" Target="../media/image_ec85b87918af87ae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1dc53ce7933d51d.png"/>
  <Relationship Id="rId3" Type="http://schemas.openxmlformats.org/officeDocument/2006/relationships/image" Target="../media/image_376c330a3a778cab.png"/>
  <Relationship Id="rId4" Type="http://schemas.openxmlformats.org/officeDocument/2006/relationships/image" Target="../media/image_79343727a6cf51a9.png"/>
  <Relationship Id="rId5" Type="http://schemas.openxmlformats.org/officeDocument/2006/relationships/image" Target="../media/image_ed6f68d2553ff90e.png"/>
  <Relationship Id="rId6" Type="http://schemas.openxmlformats.org/officeDocument/2006/relationships/image" Target="../media/image_ec85b87918af87ae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pattFill prst="pct5">
          <a:fgClr>
            <a:srgbClr val="E3D8C2"/>
          </a:fgClr>
          <a:bgClr>
            <a:srgbClr val="F7F1E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438150"/>
            <a:ext cx="8064703" cy="2773680"/>
            <a:chOff x="666750" y="438150"/>
            <a:chExt cx="8064703" cy="277368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438150"/>
              <a:ext cx="7810500" cy="1092327"/>
            </a:xfrm>
            <a:prstGeom prst="rect">
              <a:avLst/>
            </a:prstGeom>
          </p:spPr>
        </p:pic>
        <p:sp>
          <p:nvSpPr>
            <p:cNvPr id="3" name="TextBox 3"/>
            <p:cNvSpPr txBox="1"/>
            <p:nvPr/>
          </p:nvSpPr>
          <p:spPr>
            <a:xfrm>
              <a:off x="666750" y="1935480"/>
              <a:ext cx="8064703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rgbClr val="2E2A26"/>
                  </a:solidFill>
                  <a:latin typeface="KaiTi"/>
                  <a:ea typeface="KaiTi"/>
                  <a:cs typeface="KaiTi"/>
                </a:rPr>
                <a:t>二十四节气手账·秋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25000" y="419100"/>
            <a:ext cx="3429000" cy="1259300"/>
            <a:chOff x="9525000" y="419100"/>
            <a:chExt cx="3429000" cy="12593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5000" y="419100"/>
              <a:ext cx="3429000" cy="125930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0143934" y="857250"/>
              <a:ext cx="219113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2026 · 六站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811250" y="571500"/>
            <a:ext cx="1047750" cy="1044702"/>
            <a:chOff x="13811250" y="571500"/>
            <a:chExt cx="1047750" cy="1044702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811250" y="571500"/>
              <a:ext cx="1047750" cy="1044702"/>
            </a:xfrm>
            <a:prstGeom prst="rect">
              <a:avLst/>
            </a:prstGeom>
          </p:spPr>
        </p:pic>
      </p:grpSp>
      <p:grpSp>
        <p:nvGrpSpPr>
          <p:cNvPr id="11" name="!!autumn-seal"/>
          <p:cNvGrpSpPr/>
          <p:nvPr/>
        </p:nvGrpSpPr>
        <p:grpSpPr>
          <a:xfrm>
            <a:off x="16135350" y="400050"/>
            <a:ext cx="1257300" cy="1262253"/>
            <a:chOff x="16135350" y="400050"/>
            <a:chExt cx="1257300" cy="1262253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135350" y="400050"/>
              <a:ext cx="1257300" cy="1262253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9620250" y="2200275"/>
            <a:ext cx="7640765" cy="876300"/>
            <a:chOff x="9620250" y="2200275"/>
            <a:chExt cx="7640765" cy="876300"/>
          </a:xfrm>
        </p:grpSpPr>
        <p:sp>
          <p:nvSpPr>
            <p:cNvPr id="12" name="TextBox 12"/>
            <p:cNvSpPr txBox="1"/>
            <p:nvPr/>
          </p:nvSpPr>
          <p:spPr>
            <a:xfrm>
              <a:off x="9620250" y="2200275"/>
              <a:ext cx="7640765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从立秋到霜降,秋天走完六站</a:t>
              </a:r>
            </a:p>
          </p:txBody>
        </p:sp>
      </p:grpSp>
      <p:grpSp>
        <p:nvGrpSpPr>
          <p:cNvPr id="21" name="!!route-spine"/>
          <p:cNvGrpSpPr/>
          <p:nvPr/>
        </p:nvGrpSpPr>
        <p:grpSpPr>
          <a:xfrm>
            <a:off x="685800" y="4095750"/>
            <a:ext cx="16916400" cy="323850"/>
            <a:chOff x="685800" y="4095750"/>
            <a:chExt cx="16916400" cy="323850"/>
          </a:xfrm>
        </p:grpSpPr>
        <p:sp>
          <p:nvSpPr>
            <p:cNvPr id="14" name="Freeform 14"/>
            <p:cNvSpPr/>
            <p:nvPr/>
          </p:nvSpPr>
          <p:spPr>
            <a:xfrm>
              <a:off x="685800" y="4095750"/>
              <a:ext cx="16916400" cy="323850"/>
            </a:xfrm>
            <a:custGeom>
              <a:avLst/>
              <a:gdLst/>
              <a:ahLst/>
              <a:cxnLst/>
              <a:rect l="l" t="t" r="r" b="b"/>
              <a:pathLst>
                <a:path w="16916400" h="323850">
                  <a:moveTo>
                    <a:pt x="0" y="152400"/>
                  </a:moveTo>
                  <a:cubicBezTo>
                    <a:pt x="1409700" y="38100"/>
                    <a:pt x="2800350" y="266700"/>
                    <a:pt x="4191000" y="133350"/>
                  </a:cubicBezTo>
                  <a:cubicBezTo>
                    <a:pt x="5600700" y="0"/>
                    <a:pt x="6953250" y="38100"/>
                    <a:pt x="8362950" y="171450"/>
                  </a:cubicBezTo>
                  <a:cubicBezTo>
                    <a:pt x="9791700" y="304800"/>
                    <a:pt x="11239500" y="57150"/>
                    <a:pt x="12649200" y="190500"/>
                  </a:cubicBezTo>
                  <a:cubicBezTo>
                    <a:pt x="14097000" y="323850"/>
                    <a:pt x="15506700" y="76200"/>
                    <a:pt x="16916400" y="133350"/>
                  </a:cubicBezTo>
                </a:path>
              </a:pathLst>
            </a:custGeom>
            <a:noFill/>
            <a:ln w="38100" cap="rnd">
              <a:solidFill>
                <a:srgbClr val="2E2A26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933575" y="4137660"/>
              <a:ext cx="171450" cy="171450"/>
            </a:xfrm>
            <a:prstGeom prst="ellipse">
              <a:avLst/>
            </a:prstGeom>
            <a:solidFill>
              <a:srgbClr val="2E2A2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783455" y="4144328"/>
              <a:ext cx="171450" cy="171450"/>
            </a:xfrm>
            <a:prstGeom prst="ellipse">
              <a:avLst/>
            </a:prstGeom>
            <a:solidFill>
              <a:srgbClr val="2E2A2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633335" y="4122420"/>
              <a:ext cx="171450" cy="171450"/>
            </a:xfrm>
            <a:prstGeom prst="ellipse">
              <a:avLst/>
            </a:prstGeom>
            <a:solidFill>
              <a:srgbClr val="2E2A26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0483215" y="4221480"/>
              <a:ext cx="171450" cy="171450"/>
            </a:xfrm>
            <a:prstGeom prst="ellipse">
              <a:avLst/>
            </a:prstGeom>
            <a:solidFill>
              <a:srgbClr val="2E2A2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3333095" y="4201478"/>
              <a:ext cx="171450" cy="171450"/>
            </a:xfrm>
            <a:prstGeom prst="ellipse">
              <a:avLst/>
            </a:prstGeom>
            <a:solidFill>
              <a:srgbClr val="2E2A2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6182975" y="4139565"/>
              <a:ext cx="171450" cy="171450"/>
            </a:xfrm>
            <a:prstGeom prst="ellipse">
              <a:avLst/>
            </a:prstGeom>
            <a:solidFill>
              <a:srgbClr val="C0503C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85800" y="3028950"/>
            <a:ext cx="2667000" cy="1054417"/>
            <a:chOff x="685800" y="3028950"/>
            <a:chExt cx="2667000" cy="1054417"/>
          </a:xfrm>
        </p:grpSpPr>
        <p:sp>
          <p:nvSpPr>
            <p:cNvPr id="22" name="Freeform 22"/>
            <p:cNvSpPr/>
            <p:nvPr/>
          </p:nvSpPr>
          <p:spPr>
            <a:xfrm>
              <a:off x="685800" y="3028950"/>
              <a:ext cx="2667000" cy="990600"/>
            </a:xfrm>
            <a:prstGeom prst="plaque">
              <a:avLst/>
            </a:prstGeom>
            <a:solidFill>
              <a:srgbClr val="A9C6A0"/>
            </a:solidFill>
            <a:ln w="28575">
              <a:solidFill>
                <a:srgbClr val="2E2A26"/>
              </a:solidFill>
            </a:ln>
          </p:spPr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8200" y="3133725"/>
              <a:ext cx="762000" cy="764858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1699260" y="3200400"/>
              <a:ext cx="838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立秋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3070" y="3643312"/>
              <a:ext cx="9618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4A4239"/>
                  </a:solidFill>
                  <a:latin typeface="Microsoft YaHei"/>
                  <a:ea typeface="Microsoft YaHei"/>
                  <a:cs typeface="Microsoft YaHei"/>
                </a:rPr>
                <a:t>8月7日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535680" y="4419600"/>
            <a:ext cx="2667000" cy="1054417"/>
            <a:chOff x="3535680" y="4419600"/>
            <a:chExt cx="2667000" cy="1054417"/>
          </a:xfrm>
        </p:grpSpPr>
        <p:sp>
          <p:nvSpPr>
            <p:cNvPr id="27" name="Freeform 27"/>
            <p:cNvSpPr/>
            <p:nvPr/>
          </p:nvSpPr>
          <p:spPr>
            <a:xfrm>
              <a:off x="3535680" y="4419600"/>
              <a:ext cx="2667000" cy="990600"/>
            </a:xfrm>
            <a:prstGeom prst="plaque">
              <a:avLst/>
            </a:prstGeom>
            <a:solidFill>
              <a:srgbClr val="E7B183"/>
            </a:solidFill>
            <a:ln w="28575">
              <a:solidFill>
                <a:srgbClr val="2E2A26"/>
              </a:solidFill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88080" y="4505325"/>
              <a:ext cx="762000" cy="800862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4549140" y="4591050"/>
              <a:ext cx="838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处暑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52950" y="5033962"/>
              <a:ext cx="11284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4A4239"/>
                  </a:solidFill>
                  <a:latin typeface="Microsoft YaHei"/>
                  <a:ea typeface="Microsoft YaHei"/>
                  <a:cs typeface="Microsoft YaHei"/>
                </a:rPr>
                <a:t>8月23日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385560" y="3028950"/>
            <a:ext cx="2667000" cy="1054417"/>
            <a:chOff x="6385560" y="3028950"/>
            <a:chExt cx="2667000" cy="1054417"/>
          </a:xfrm>
        </p:grpSpPr>
        <p:sp>
          <p:nvSpPr>
            <p:cNvPr id="32" name="Freeform 32"/>
            <p:cNvSpPr/>
            <p:nvPr/>
          </p:nvSpPr>
          <p:spPr>
            <a:xfrm>
              <a:off x="6385560" y="3028950"/>
              <a:ext cx="2667000" cy="990600"/>
            </a:xfrm>
            <a:prstGeom prst="plaque">
              <a:avLst/>
            </a:prstGeom>
            <a:solidFill>
              <a:srgbClr val="9FC3D4"/>
            </a:solidFill>
            <a:ln w="28575">
              <a:solidFill>
                <a:srgbClr val="2E2A26"/>
              </a:solidFill>
            </a:ln>
          </p:spPr>
        </p:sp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76060" y="3105150"/>
              <a:ext cx="685800" cy="819340"/>
            </a:xfrm>
            <a:prstGeom prst="rect">
              <a:avLst/>
            </a:prstGeom>
          </p:spPr>
        </p:pic>
        <p:sp>
          <p:nvSpPr>
            <p:cNvPr id="34" name="TextBox 34"/>
            <p:cNvSpPr txBox="1"/>
            <p:nvPr/>
          </p:nvSpPr>
          <p:spPr>
            <a:xfrm>
              <a:off x="7399020" y="3200400"/>
              <a:ext cx="838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白露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02830" y="3643312"/>
              <a:ext cx="9618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4A4239"/>
                  </a:solidFill>
                  <a:latin typeface="Microsoft YaHei"/>
                  <a:ea typeface="Microsoft YaHei"/>
                  <a:cs typeface="Microsoft YaHei"/>
                </a:rPr>
                <a:t>9月7日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235440" y="4419600"/>
            <a:ext cx="2667000" cy="1054417"/>
            <a:chOff x="9235440" y="4419600"/>
            <a:chExt cx="2667000" cy="1054417"/>
          </a:xfrm>
        </p:grpSpPr>
        <p:sp>
          <p:nvSpPr>
            <p:cNvPr id="37" name="Freeform 37"/>
            <p:cNvSpPr/>
            <p:nvPr/>
          </p:nvSpPr>
          <p:spPr>
            <a:xfrm>
              <a:off x="9235440" y="4419600"/>
              <a:ext cx="2667000" cy="990600"/>
            </a:xfrm>
            <a:prstGeom prst="plaque">
              <a:avLst/>
            </a:prstGeom>
            <a:solidFill>
              <a:srgbClr val="E3C263"/>
            </a:solidFill>
            <a:ln w="28575">
              <a:solidFill>
                <a:srgbClr val="2E2A26"/>
              </a:solidFill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387840" y="4476750"/>
              <a:ext cx="762000" cy="853535"/>
            </a:xfrm>
            <a:prstGeom prst="rect">
              <a:avLst/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10248900" y="4591050"/>
              <a:ext cx="838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秋分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252710" y="5033962"/>
              <a:ext cx="11284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4A4239"/>
                  </a:solidFill>
                  <a:latin typeface="Microsoft YaHei"/>
                  <a:ea typeface="Microsoft YaHei"/>
                  <a:cs typeface="Microsoft YaHei"/>
                </a:rPr>
                <a:t>9月23日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085320" y="3028950"/>
            <a:ext cx="2667000" cy="1054417"/>
            <a:chOff x="12085320" y="3028950"/>
            <a:chExt cx="2667000" cy="1054417"/>
          </a:xfrm>
        </p:grpSpPr>
        <p:sp>
          <p:nvSpPr>
            <p:cNvPr id="42" name="Freeform 42"/>
            <p:cNvSpPr/>
            <p:nvPr/>
          </p:nvSpPr>
          <p:spPr>
            <a:xfrm>
              <a:off x="12085320" y="3028950"/>
              <a:ext cx="2667000" cy="990600"/>
            </a:xfrm>
            <a:prstGeom prst="plaque">
              <a:avLst/>
            </a:prstGeom>
            <a:solidFill>
              <a:srgbClr val="B7A2C8"/>
            </a:solidFill>
            <a:ln w="28575">
              <a:solidFill>
                <a:srgbClr val="2E2A26"/>
              </a:solidFill>
            </a:ln>
          </p:spPr>
        </p:sp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237720" y="3143250"/>
              <a:ext cx="762000" cy="753428"/>
            </a:xfrm>
            <a:prstGeom prst="rect">
              <a:avLst/>
            </a:prstGeom>
          </p:spPr>
        </p:pic>
        <p:sp>
          <p:nvSpPr>
            <p:cNvPr id="44" name="TextBox 44"/>
            <p:cNvSpPr txBox="1"/>
            <p:nvPr/>
          </p:nvSpPr>
          <p:spPr>
            <a:xfrm>
              <a:off x="13098780" y="3200400"/>
              <a:ext cx="838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寒露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102590" y="3643312"/>
              <a:ext cx="11284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4A4239"/>
                  </a:solidFill>
                  <a:latin typeface="Microsoft YaHei"/>
                  <a:ea typeface="Microsoft YaHei"/>
                  <a:cs typeface="Microsoft YaHei"/>
                </a:rPr>
                <a:t>10月8日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4935200" y="4419600"/>
            <a:ext cx="2667000" cy="1054417"/>
            <a:chOff x="14935200" y="4419600"/>
            <a:chExt cx="2667000" cy="1054417"/>
          </a:xfrm>
        </p:grpSpPr>
        <p:sp>
          <p:nvSpPr>
            <p:cNvPr id="47" name="Freeform 47"/>
            <p:cNvSpPr/>
            <p:nvPr/>
          </p:nvSpPr>
          <p:spPr>
            <a:xfrm>
              <a:off x="14935200" y="4419600"/>
              <a:ext cx="2667000" cy="990600"/>
            </a:xfrm>
            <a:prstGeom prst="plaque">
              <a:avLst/>
            </a:prstGeom>
            <a:solidFill>
              <a:srgbClr val="C6D5DD"/>
            </a:solidFill>
            <a:ln w="28575">
              <a:solidFill>
                <a:srgbClr val="2E2A26"/>
              </a:solidFill>
            </a:ln>
          </p:spPr>
        </p:sp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5087600" y="4552950"/>
              <a:ext cx="762000" cy="713804"/>
            </a:xfrm>
            <a:prstGeom prst="rect">
              <a:avLst/>
            </a:prstGeom>
          </p:spPr>
        </p:pic>
        <p:sp>
          <p:nvSpPr>
            <p:cNvPr id="49" name="TextBox 49"/>
            <p:cNvSpPr txBox="1"/>
            <p:nvPr/>
          </p:nvSpPr>
          <p:spPr>
            <a:xfrm>
              <a:off x="15948660" y="4591050"/>
              <a:ext cx="838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霜降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5952470" y="50339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4A4239"/>
                  </a:solidFill>
                  <a:latin typeface="Microsoft YaHei"/>
                  <a:ea typeface="Microsoft YaHei"/>
                  <a:cs typeface="Microsoft YaHei"/>
                </a:rPr>
                <a:t>10月23日</a:t>
              </a:r>
            </a:p>
          </p:txBody>
        </p:sp>
      </p:grpSp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3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0" accel="100000" fill="hold">
                                          <p:stCondLst>
                                            <p:cond delay="63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8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9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200"/>
                            </p:stCondLst>
                            <p:childTnLst>
                              <p:par>
                                <p:cTn id="27" presetID="3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 decel="100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32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2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2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" accel="100000" fill="hold">
                                          <p:stCondLst>
                                            <p:cond delay="32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" accel="100000" fill="hold">
                                          <p:stCondLst>
                                            <p:cond delay="32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100"/>
                            </p:stCondLst>
                            <p:childTnLst>
                              <p:par>
                                <p:cTn id="36" presetID="3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20" decel="100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32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2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2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" accel="100000" fill="hold">
                                          <p:stCondLst>
                                            <p:cond delay="32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" accel="100000" fill="hold">
                                          <p:stCondLst>
                                            <p:cond delay="32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3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 decel="100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32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2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2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" accel="100000" fill="hold">
                                          <p:stCondLst>
                                            <p:cond delay="32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" accel="100000" fill="hold">
                                          <p:stCondLst>
                                            <p:cond delay="32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900"/>
                            </p:stCondLst>
                            <p:childTnLst>
                              <p:par>
                                <p:cTn id="54" presetID="3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20" decel="100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32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2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2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0" accel="100000" fill="hold">
                                          <p:stCondLst>
                                            <p:cond delay="32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0" accel="100000" fill="hold">
                                          <p:stCondLst>
                                            <p:cond delay="32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800"/>
                            </p:stCondLst>
                            <p:childTnLst>
                              <p:par>
                                <p:cTn id="63" presetID="3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20" decel="100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32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2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2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" accel="100000" fill="hold">
                                          <p:stCondLst>
                                            <p:cond delay="32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80" accel="100000" fill="hold">
                                          <p:stCondLst>
                                            <p:cond delay="32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700"/>
                            </p:stCondLst>
                            <p:childTnLst>
                              <p:par>
                                <p:cTn id="72" presetID="3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20" decel="100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32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2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2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0" accel="100000" fill="hold">
                                          <p:stCondLst>
                                            <p:cond delay="32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80" accel="100000" fill="hold">
                                          <p:stCondLst>
                                            <p:cond delay="32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600"/>
                            </p:stCondLst>
                            <p:childTnLst>
                              <p:par>
                                <p:cTn id="81" presetID="2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500"/>
                            </p:stCondLst>
                            <p:childTnLst>
                              <p:par>
                                <p:cTn id="86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pattFill prst="pct5">
          <a:fgClr>
            <a:srgbClr val="E3D8C2"/>
          </a:fgClr>
          <a:bgClr>
            <a:srgbClr val="F7F1E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4850" y="533400"/>
            <a:ext cx="4739259" cy="3120390"/>
            <a:chOff x="704850" y="533400"/>
            <a:chExt cx="4739259" cy="312039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533400"/>
              <a:ext cx="3143250" cy="1459992"/>
            </a:xfrm>
            <a:prstGeom prst="rect">
              <a:avLst/>
            </a:prstGeom>
          </p:spPr>
        </p:pic>
        <p:sp>
          <p:nvSpPr>
            <p:cNvPr id="3" name="TextBox 3"/>
            <p:cNvSpPr txBox="1"/>
            <p:nvPr/>
          </p:nvSpPr>
          <p:spPr>
            <a:xfrm>
              <a:off x="704850" y="2145030"/>
              <a:ext cx="1915668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rgbClr val="2E2A26"/>
                  </a:solidFill>
                  <a:latin typeface="KaiTi"/>
                  <a:ea typeface="KaiTi"/>
                  <a:cs typeface="KaiTi"/>
                </a:rPr>
                <a:t>立秋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8660" y="3067050"/>
              <a:ext cx="473544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7A6E60"/>
                  </a:solidFill>
                  <a:latin typeface="Microsoft YaHei"/>
                  <a:ea typeface="Microsoft YaHei"/>
                  <a:cs typeface="Microsoft YaHei"/>
                </a:rPr>
                <a:t>2026年8月7日 19:43 交节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57950" y="481012"/>
            <a:ext cx="2929890" cy="2679383"/>
            <a:chOff x="6457950" y="481012"/>
            <a:chExt cx="2929890" cy="2679383"/>
          </a:xfrm>
        </p:grpSpPr>
        <p:sp>
          <p:nvSpPr>
            <p:cNvPr id="6" name="Freeform 6"/>
            <p:cNvSpPr/>
            <p:nvPr/>
          </p:nvSpPr>
          <p:spPr>
            <a:xfrm>
              <a:off x="6457950" y="952500"/>
              <a:ext cx="133350" cy="2095500"/>
            </a:xfrm>
            <a:custGeom>
              <a:avLst/>
              <a:gdLst/>
              <a:ahLst/>
              <a:cxnLst/>
              <a:rect l="l" t="t" r="r" b="b"/>
              <a:pathLst>
                <a:path w="133350" h="2095500">
                  <a:moveTo>
                    <a:pt x="57150" y="0"/>
                  </a:moveTo>
                  <a:cubicBezTo>
                    <a:pt x="133350" y="571500"/>
                    <a:pt x="0" y="1181100"/>
                    <a:pt x="76200" y="2095500"/>
                  </a:cubicBezTo>
                </a:path>
              </a:pathLst>
            </a:custGeom>
            <a:noFill/>
            <a:ln w="38100" cap="rnd">
              <a:solidFill>
                <a:srgbClr val="2E2A2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32270" y="481012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7A6E60"/>
                  </a:solidFill>
                  <a:latin typeface="Microsoft YaHei"/>
                  <a:ea typeface="Microsoft YaHei"/>
                  <a:cs typeface="Microsoft YaHei"/>
                </a:rPr>
                <a:t>三候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24650" y="912495"/>
              <a:ext cx="266319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850"/>
                </a:lnSpc>
              </a:pPr>
              <a:r>
                <a:rPr lang="zh-CN" sz="39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一候 凉风至</a:t>
              </a:r>
              <a:br/>
              <a:r>
                <a:rPr lang="zh-CN" sz="39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二候 白露降</a:t>
              </a:r>
              <a:br/>
              <a:r>
                <a:rPr lang="zh-CN" sz="39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三候 寒蝉鸣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382500" y="571500"/>
            <a:ext cx="4191000" cy="2390108"/>
            <a:chOff x="12382500" y="571500"/>
            <a:chExt cx="4191000" cy="2390108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382500" y="571500"/>
              <a:ext cx="2381250" cy="2390108"/>
            </a:xfrm>
            <a:prstGeom prst="rect">
              <a:avLst/>
            </a:prstGeom>
          </p:spPr>
        </p:pic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335250" y="1143000"/>
              <a:ext cx="1238250" cy="1689164"/>
            </a:xfrm>
            <a:prstGeom prst="rect">
              <a:avLst/>
            </a:prstGeom>
          </p:spPr>
        </p:pic>
      </p:grpSp>
      <p:grpSp>
        <p:nvGrpSpPr>
          <p:cNvPr id="15" name="!!route-spine"/>
          <p:cNvGrpSpPr/>
          <p:nvPr/>
        </p:nvGrpSpPr>
        <p:grpSpPr>
          <a:xfrm>
            <a:off x="723900" y="3670935"/>
            <a:ext cx="16840200" cy="171450"/>
            <a:chOff x="723900" y="3670935"/>
            <a:chExt cx="16840200" cy="171450"/>
          </a:xfrm>
        </p:grpSpPr>
        <p:sp>
          <p:nvSpPr>
            <p:cNvPr id="13" name="Freeform 13"/>
            <p:cNvSpPr/>
            <p:nvPr/>
          </p:nvSpPr>
          <p:spPr>
            <a:xfrm>
              <a:off x="723900" y="3695700"/>
              <a:ext cx="16840200" cy="133350"/>
            </a:xfrm>
            <a:custGeom>
              <a:avLst/>
              <a:gdLst/>
              <a:ahLst/>
              <a:cxnLst/>
              <a:rect l="l" t="t" r="r" b="b"/>
              <a:pathLst>
                <a:path w="16840200" h="133350">
                  <a:moveTo>
                    <a:pt x="0" y="76200"/>
                  </a:moveTo>
                  <a:cubicBezTo>
                    <a:pt x="3086100" y="19050"/>
                    <a:pt x="5943600" y="133350"/>
                    <a:pt x="8801100" y="66675"/>
                  </a:cubicBezTo>
                  <a:cubicBezTo>
                    <a:pt x="11658600" y="0"/>
                    <a:pt x="14135100" y="114300"/>
                    <a:pt x="16840200" y="57150"/>
                  </a:cubicBezTo>
                </a:path>
              </a:pathLst>
            </a:custGeom>
            <a:noFill/>
            <a:ln w="38100" cap="rnd">
              <a:solidFill>
                <a:srgbClr val="2E2A26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933575" y="3670935"/>
              <a:ext cx="171450" cy="171450"/>
            </a:xfrm>
            <a:prstGeom prst="ellipse">
              <a:avLst/>
            </a:prstGeom>
            <a:solidFill>
              <a:srgbClr val="C0503C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85800" y="3924300"/>
            <a:ext cx="14859000" cy="1333500"/>
            <a:chOff x="685800" y="3924300"/>
            <a:chExt cx="14859000" cy="1333500"/>
          </a:xfrm>
        </p:grpSpPr>
        <p:sp>
          <p:nvSpPr>
            <p:cNvPr id="16" name="Freeform 16"/>
            <p:cNvSpPr/>
            <p:nvPr/>
          </p:nvSpPr>
          <p:spPr>
            <a:xfrm>
              <a:off x="685800" y="3924300"/>
              <a:ext cx="14859000" cy="1333500"/>
            </a:xfrm>
            <a:prstGeom prst="wave">
              <a:avLst/>
            </a:prstGeom>
            <a:solidFill>
              <a:srgbClr val="A9C6A0"/>
            </a:solidFill>
            <a:ln w="28575">
              <a:solidFill>
                <a:srgbClr val="2E2A2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8700" y="4276725"/>
              <a:ext cx="12820269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秤一秤,别急着进补,先把</a:t>
              </a:r>
              <a:r>
                <a:rPr lang="zh-CN" sz="4500" b="1" dirty="0">
                  <a:solidFill>
                    <a:srgbClr val="C0503C"/>
                  </a:solidFill>
                  <a:latin typeface="Microsoft YaHei"/>
                  <a:ea typeface="Microsoft YaHei"/>
                  <a:cs typeface="Microsoft YaHei"/>
                </a:rPr>
                <a:t>西瓜的最后一口</a:t>
              </a:r>
              <a:r>
                <a:rPr lang="zh-CN" sz="45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啃完。</a:t>
              </a:r>
            </a:p>
          </p:txBody>
        </p:sp>
      </p:grpSp>
      <p:grpSp>
        <p:nvGrpSpPr>
          <p:cNvPr id="20" name="!!autumn-seal"/>
          <p:cNvGrpSpPr/>
          <p:nvPr/>
        </p:nvGrpSpPr>
        <p:grpSpPr>
          <a:xfrm>
            <a:off x="16192500" y="3962400"/>
            <a:ext cx="1238250" cy="1243108"/>
            <a:chOff x="16192500" y="3962400"/>
            <a:chExt cx="1238250" cy="1243108"/>
          </a:xfrm>
        </p:grpSpPr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192500" y="3962400"/>
              <a:ext cx="1238250" cy="1243108"/>
            </a:xfrm>
            <a:prstGeom prst="rect">
              <a:avLst/>
            </a:prstGeom>
          </p:spPr>
        </p:pic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00"/>
                            </p:stCondLst>
                            <p:childTnLst>
                              <p:par>
                                <p:cTn id="16" presetID="3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4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1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pattFill prst="pct5">
          <a:fgClr>
            <a:srgbClr val="E3D8C2"/>
          </a:fgClr>
          <a:bgClr>
            <a:srgbClr val="F7F1E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2950" y="495300"/>
            <a:ext cx="4961382" cy="3310890"/>
            <a:chOff x="742950" y="495300"/>
            <a:chExt cx="4961382" cy="331089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495300"/>
              <a:ext cx="3048000" cy="1807559"/>
            </a:xfrm>
            <a:prstGeom prst="rect">
              <a:avLst/>
            </a:prstGeom>
          </p:spPr>
        </p:pic>
        <p:sp>
          <p:nvSpPr>
            <p:cNvPr id="3" name="TextBox 3"/>
            <p:cNvSpPr txBox="1"/>
            <p:nvPr/>
          </p:nvSpPr>
          <p:spPr>
            <a:xfrm>
              <a:off x="742950" y="2335530"/>
              <a:ext cx="1915668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rgbClr val="2E2A26"/>
                  </a:solidFill>
                  <a:latin typeface="KaiTi"/>
                  <a:ea typeface="KaiTi"/>
                  <a:cs typeface="KaiTi"/>
                </a:rPr>
                <a:t>处暑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6760" y="3219450"/>
              <a:ext cx="495757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7A6E60"/>
                  </a:solidFill>
                  <a:latin typeface="Microsoft YaHei"/>
                  <a:ea typeface="Microsoft YaHei"/>
                  <a:cs typeface="Microsoft YaHei"/>
                </a:rPr>
                <a:t>2026年8月23日 10:19 交节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38900" y="457200"/>
            <a:ext cx="5753100" cy="3122295"/>
            <a:chOff x="6438900" y="457200"/>
            <a:chExt cx="5753100" cy="3122295"/>
          </a:xfrm>
        </p:grpSpPr>
        <p:sp>
          <p:nvSpPr>
            <p:cNvPr id="6" name="Freeform 6"/>
            <p:cNvSpPr/>
            <p:nvPr/>
          </p:nvSpPr>
          <p:spPr>
            <a:xfrm>
              <a:off x="6438900" y="457200"/>
              <a:ext cx="5753100" cy="3086100"/>
            </a:xfrm>
            <a:prstGeom prst="snipRoundRect">
              <a:avLst/>
            </a:prstGeom>
            <a:solidFill>
              <a:srgbClr val="E7B183"/>
            </a:solidFill>
            <a:ln w="28575">
              <a:solidFill>
                <a:srgbClr val="2E2A2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32270" y="823912"/>
              <a:ext cx="340013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4A4239"/>
                  </a:solidFill>
                  <a:latin typeface="Microsoft YaHei"/>
                  <a:ea typeface="Microsoft YaHei"/>
                  <a:cs typeface="Microsoft YaHei"/>
                </a:rPr>
                <a:t>三候 · 月令七十二候集解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24650" y="1331595"/>
              <a:ext cx="315849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850"/>
                </a:lnSpc>
              </a:pPr>
              <a:r>
                <a:rPr lang="zh-CN" sz="39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一候 鹰乃祭鸟</a:t>
              </a:r>
              <a:br/>
              <a:r>
                <a:rPr lang="zh-CN" sz="39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二候 天地始肃</a:t>
              </a:r>
              <a:br/>
              <a:r>
                <a:rPr lang="zh-CN" sz="39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三候 禾乃登</a:t>
              </a:r>
            </a:p>
          </p:txBody>
        </p:sp>
      </p:grpSp>
      <p:grpSp>
        <p:nvGrpSpPr>
          <p:cNvPr id="12" name="!!route-spine"/>
          <p:cNvGrpSpPr/>
          <p:nvPr/>
        </p:nvGrpSpPr>
        <p:grpSpPr>
          <a:xfrm>
            <a:off x="12263438" y="495300"/>
            <a:ext cx="171450" cy="3009900"/>
            <a:chOff x="12263438" y="495300"/>
            <a:chExt cx="171450" cy="3009900"/>
          </a:xfrm>
        </p:grpSpPr>
        <p:sp>
          <p:nvSpPr>
            <p:cNvPr id="10" name="Freeform 10"/>
            <p:cNvSpPr/>
            <p:nvPr/>
          </p:nvSpPr>
          <p:spPr>
            <a:xfrm>
              <a:off x="12277725" y="495300"/>
              <a:ext cx="152400" cy="3009900"/>
            </a:xfrm>
            <a:custGeom>
              <a:avLst/>
              <a:gdLst/>
              <a:ahLst/>
              <a:cxnLst/>
              <a:rect l="l" t="t" r="r" b="b"/>
              <a:pathLst>
                <a:path w="152400" h="3009900">
                  <a:moveTo>
                    <a:pt x="76200" y="0"/>
                  </a:moveTo>
                  <a:cubicBezTo>
                    <a:pt x="0" y="838200"/>
                    <a:pt x="152400" y="1847850"/>
                    <a:pt x="66675" y="3009900"/>
                  </a:cubicBezTo>
                </a:path>
              </a:pathLst>
            </a:custGeom>
            <a:noFill/>
            <a:ln w="38100" cap="rnd">
              <a:solidFill>
                <a:srgbClr val="2E2A2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2263438" y="1914525"/>
              <a:ext cx="171450" cy="171450"/>
            </a:xfrm>
            <a:prstGeom prst="ellipse">
              <a:avLst/>
            </a:prstGeom>
            <a:solidFill>
              <a:srgbClr val="C0503C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2954000" y="495300"/>
            <a:ext cx="4476750" cy="2703004"/>
            <a:chOff x="12954000" y="495300"/>
            <a:chExt cx="4476750" cy="2703004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54000" y="495300"/>
              <a:ext cx="2571750" cy="2703004"/>
            </a:xfrm>
            <a:prstGeom prst="rect">
              <a:avLst/>
            </a:prstGeom>
          </p:spPr>
        </p:pic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811500" y="1714500"/>
              <a:ext cx="1619250" cy="1258729"/>
            </a:xfrm>
            <a:prstGeom prst="rect">
              <a:avLst/>
            </a:prstGeom>
          </p:spPr>
        </p:pic>
        <p:sp>
          <p:nvSpPr>
            <p:cNvPr id="15" name="Ellipse 15"/>
            <p:cNvSpPr/>
            <p:nvPr/>
          </p:nvSpPr>
          <p:spPr>
            <a:xfrm>
              <a:off x="16030575" y="790575"/>
              <a:ext cx="133350" cy="133350"/>
            </a:xfrm>
            <a:prstGeom prst="ellipse">
              <a:avLst/>
            </a:prstGeom>
            <a:solidFill>
              <a:srgbClr val="E7B183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6383000" y="590550"/>
              <a:ext cx="190500" cy="190500"/>
            </a:xfrm>
            <a:prstGeom prst="ellipse">
              <a:avLst/>
            </a:prstGeom>
            <a:solidFill>
              <a:srgbClr val="E7B18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6878300" y="857250"/>
              <a:ext cx="114300" cy="114300"/>
            </a:xfrm>
            <a:prstGeom prst="ellipse">
              <a:avLst/>
            </a:prstGeom>
            <a:solidFill>
              <a:srgbClr val="E7B183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23900" y="3848100"/>
            <a:ext cx="15011400" cy="1485900"/>
            <a:chOff x="723900" y="3848100"/>
            <a:chExt cx="15011400" cy="1485900"/>
          </a:xfrm>
        </p:grpSpPr>
        <p:sp>
          <p:nvSpPr>
            <p:cNvPr id="19" name="Freeform 19"/>
            <p:cNvSpPr/>
            <p:nvPr/>
          </p:nvSpPr>
          <p:spPr>
            <a:xfrm>
              <a:off x="723900" y="3848100"/>
              <a:ext cx="15011400" cy="1485900"/>
            </a:xfrm>
            <a:prstGeom prst="round2DiagRect">
              <a:avLst/>
            </a:prstGeom>
            <a:noFill/>
            <a:ln w="38100">
              <a:solidFill>
                <a:srgbClr val="2E2A2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19200" y="4295775"/>
              <a:ext cx="12820269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暑气打包退场,找个傍晚去水边,把</a:t>
              </a:r>
              <a:r>
                <a:rPr lang="zh-CN" sz="4500" b="1" dirty="0">
                  <a:solidFill>
                    <a:srgbClr val="C0503C"/>
                  </a:solidFill>
                  <a:latin typeface="Microsoft YaHei"/>
                  <a:ea typeface="Microsoft YaHei"/>
                  <a:cs typeface="Microsoft YaHei"/>
                </a:rPr>
                <a:t>一盏灯</a:t>
              </a:r>
              <a:r>
                <a:rPr lang="zh-CN" sz="45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放走。</a:t>
              </a:r>
            </a:p>
          </p:txBody>
        </p:sp>
      </p:grpSp>
      <p:grpSp>
        <p:nvGrpSpPr>
          <p:cNvPr id="23" name="!!autumn-seal"/>
          <p:cNvGrpSpPr/>
          <p:nvPr/>
        </p:nvGrpSpPr>
        <p:grpSpPr>
          <a:xfrm>
            <a:off x="16249650" y="3924300"/>
            <a:ext cx="1219200" cy="1224058"/>
            <a:chOff x="16249650" y="3924300"/>
            <a:chExt cx="1219200" cy="1224058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249650" y="3924300"/>
              <a:ext cx="1219200" cy="1224058"/>
            </a:xfrm>
            <a:prstGeom prst="rect">
              <a:avLst/>
            </a:prstGeom>
          </p:spPr>
        </p:pic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3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 decel="10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1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pattFill prst="pct5">
          <a:fgClr>
            <a:srgbClr val="E3D8C2"/>
          </a:fgClr>
          <a:bgClr>
            <a:srgbClr val="F7F1E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2950" y="419100"/>
            <a:ext cx="4739259" cy="3329940"/>
            <a:chOff x="742950" y="419100"/>
            <a:chExt cx="4739259" cy="332994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419100"/>
              <a:ext cx="3048000" cy="1737836"/>
            </a:xfrm>
            <a:prstGeom prst="rect">
              <a:avLst/>
            </a:prstGeom>
          </p:spPr>
        </p:pic>
        <p:sp>
          <p:nvSpPr>
            <p:cNvPr id="3" name="TextBox 3"/>
            <p:cNvSpPr txBox="1"/>
            <p:nvPr/>
          </p:nvSpPr>
          <p:spPr>
            <a:xfrm>
              <a:off x="742950" y="2240280"/>
              <a:ext cx="1915668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rgbClr val="2E2A26"/>
                  </a:solidFill>
                  <a:latin typeface="KaiTi"/>
                  <a:ea typeface="KaiTi"/>
                  <a:cs typeface="KaiTi"/>
                </a:rPr>
                <a:t>白露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6760" y="3162300"/>
              <a:ext cx="473544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7A6E60"/>
                  </a:solidFill>
                  <a:latin typeface="Microsoft YaHei"/>
                  <a:ea typeface="Microsoft YaHei"/>
                  <a:cs typeface="Microsoft YaHei"/>
                </a:rPr>
                <a:t>2026年9月7日 22:41 交节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381750" y="514350"/>
            <a:ext cx="6229350" cy="2743200"/>
            <a:chOff x="6381750" y="514350"/>
            <a:chExt cx="6229350" cy="2743200"/>
          </a:xfrm>
        </p:grpSpPr>
        <p:sp>
          <p:nvSpPr>
            <p:cNvPr id="6" name="Freeform 6"/>
            <p:cNvSpPr/>
            <p:nvPr/>
          </p:nvSpPr>
          <p:spPr>
            <a:xfrm>
              <a:off x="6381750" y="514350"/>
              <a:ext cx="6229350" cy="2743200"/>
            </a:xfrm>
            <a:custGeom>
              <a:avLst/>
              <a:gdLst/>
              <a:ahLst/>
              <a:cxnLst/>
              <a:rect l="l" t="t" r="r" b="b"/>
              <a:pathLst>
                <a:path w="6229350" h="2743200">
                  <a:moveTo>
                    <a:pt x="95250" y="114300"/>
                  </a:moveTo>
                  <a:cubicBezTo>
                    <a:pt x="2190750" y="0"/>
                    <a:pt x="4286250" y="190500"/>
                    <a:pt x="6153150" y="76200"/>
                  </a:cubicBezTo>
                  <a:cubicBezTo>
                    <a:pt x="6229350" y="914400"/>
                    <a:pt x="6115050" y="1866900"/>
                    <a:pt x="6172200" y="2628900"/>
                  </a:cubicBezTo>
                  <a:cubicBezTo>
                    <a:pt x="4095750" y="2743200"/>
                    <a:pt x="2000250" y="2590800"/>
                    <a:pt x="76200" y="2686050"/>
                  </a:cubicBezTo>
                  <a:cubicBezTo>
                    <a:pt x="0" y="1866900"/>
                    <a:pt x="152400" y="914400"/>
                    <a:pt x="95250" y="114300"/>
                  </a:cubicBezTo>
                  <a:close/>
                </a:path>
              </a:pathLst>
            </a:custGeom>
            <a:solidFill>
              <a:srgbClr val="9FC3D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62750" y="912495"/>
              <a:ext cx="315849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850"/>
                </a:lnSpc>
              </a:pPr>
              <a:r>
                <a:rPr lang="zh-CN" sz="39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一候 鸿雁来</a:t>
              </a:r>
              <a:br/>
              <a:r>
                <a:rPr lang="zh-CN" sz="39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二候 玄鸟归</a:t>
              </a:r>
              <a:br/>
              <a:r>
                <a:rPr lang="zh-CN" sz="39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三候 群鸟养羞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144500" y="523875"/>
            <a:ext cx="3867150" cy="3146107"/>
            <a:chOff x="13144500" y="523875"/>
            <a:chExt cx="3867150" cy="3146107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44500" y="523875"/>
              <a:ext cx="1714500" cy="1365218"/>
            </a:xfrm>
            <a:prstGeom prst="rect">
              <a:avLst/>
            </a:prstGeom>
          </p:spPr>
        </p:pic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87650" y="571500"/>
              <a:ext cx="1524000" cy="1485614"/>
            </a:xfrm>
            <a:prstGeom prst="rect">
              <a:avLst/>
            </a:prstGeom>
          </p:spPr>
        </p:pic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001750" y="2190750"/>
              <a:ext cx="1238250" cy="1479232"/>
            </a:xfrm>
            <a:prstGeom prst="rect">
              <a:avLst/>
            </a:prstGeom>
          </p:spPr>
        </p:pic>
      </p:grpSp>
      <p:grpSp>
        <p:nvGrpSpPr>
          <p:cNvPr id="15" name="!!route-spine"/>
          <p:cNvGrpSpPr/>
          <p:nvPr/>
        </p:nvGrpSpPr>
        <p:grpSpPr>
          <a:xfrm>
            <a:off x="723900" y="3724275"/>
            <a:ext cx="16878300" cy="203835"/>
            <a:chOff x="723900" y="3724275"/>
            <a:chExt cx="16878300" cy="203835"/>
          </a:xfrm>
        </p:grpSpPr>
        <p:sp>
          <p:nvSpPr>
            <p:cNvPr id="13" name="Freeform 13"/>
            <p:cNvSpPr/>
            <p:nvPr/>
          </p:nvSpPr>
          <p:spPr>
            <a:xfrm>
              <a:off x="723900" y="3724275"/>
              <a:ext cx="16878300" cy="171450"/>
            </a:xfrm>
            <a:custGeom>
              <a:avLst/>
              <a:gdLst/>
              <a:ahLst/>
              <a:cxnLst/>
              <a:rect l="l" t="t" r="r" b="b"/>
              <a:pathLst>
                <a:path w="16878300" h="171450">
                  <a:moveTo>
                    <a:pt x="0" y="104775"/>
                  </a:moveTo>
                  <a:cubicBezTo>
                    <a:pt x="3276600" y="28575"/>
                    <a:pt x="5562600" y="161925"/>
                    <a:pt x="7848600" y="85725"/>
                  </a:cubicBezTo>
                  <a:cubicBezTo>
                    <a:pt x="10515600" y="0"/>
                    <a:pt x="13373100" y="171450"/>
                    <a:pt x="16878300" y="85725"/>
                  </a:cubicBezTo>
                </a:path>
              </a:pathLst>
            </a:custGeom>
            <a:noFill/>
            <a:ln w="38100" cap="rnd">
              <a:solidFill>
                <a:srgbClr val="2E2A26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629525" y="3756660"/>
              <a:ext cx="171450" cy="171450"/>
            </a:xfrm>
            <a:prstGeom prst="ellipse">
              <a:avLst/>
            </a:prstGeom>
            <a:solidFill>
              <a:srgbClr val="C0503C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723900" y="4019550"/>
            <a:ext cx="10096500" cy="1685925"/>
            <a:chOff x="723900" y="4019550"/>
            <a:chExt cx="10096500" cy="1685925"/>
          </a:xfrm>
        </p:grpSpPr>
        <p:sp>
          <p:nvSpPr>
            <p:cNvPr id="16" name="Freeform 16"/>
            <p:cNvSpPr/>
            <p:nvPr/>
          </p:nvSpPr>
          <p:spPr>
            <a:xfrm>
              <a:off x="723900" y="4019550"/>
              <a:ext cx="10096500" cy="1524000"/>
            </a:xfrm>
            <a:prstGeom prst="bracketPair">
              <a:avLst/>
            </a:prstGeom>
            <a:noFill/>
            <a:ln w="38100">
              <a:solidFill>
                <a:srgbClr val="2E2A2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14450" y="4124325"/>
              <a:ext cx="8039100" cy="1581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550"/>
                </a:lnSpc>
              </a:pPr>
              <a:r>
                <a:rPr lang="zh-CN" sz="45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早晚加一件;泡一壶</a:t>
              </a:r>
              <a:r>
                <a:rPr lang="zh-CN" sz="4500" b="1" dirty="0">
                  <a:solidFill>
                    <a:srgbClr val="C0503C"/>
                  </a:solidFill>
                  <a:latin typeface="Microsoft YaHei"/>
                  <a:ea typeface="Microsoft YaHei"/>
                  <a:cs typeface="Microsoft YaHei"/>
                </a:rPr>
                <a:t>秋白露</a:t>
              </a:r>
              <a:r>
                <a:rPr lang="en-US" sz="45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,</a:t>
              </a:r>
              <a:br/>
              <a:r>
                <a:rPr lang="zh-CN" sz="45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看院子里的露水什么时候结上。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239500" y="4057650"/>
            <a:ext cx="4125182" cy="1504188"/>
            <a:chOff x="11239500" y="4057650"/>
            <a:chExt cx="4125182" cy="1504188"/>
          </a:xfrm>
        </p:grpSpPr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39500" y="4057650"/>
              <a:ext cx="1333500" cy="1504188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12752070" y="4672012"/>
              <a:ext cx="261261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7A6E60"/>
                  </a:solidFill>
                  <a:latin typeface="Microsoft YaHei"/>
                  <a:ea typeface="Microsoft YaHei"/>
                  <a:cs typeface="Microsoft YaHei"/>
                </a:rPr>
                <a:t>福州:白露必吃龙眼</a:t>
              </a:r>
            </a:p>
          </p:txBody>
        </p:sp>
      </p:grpSp>
      <p:grpSp>
        <p:nvGrpSpPr>
          <p:cNvPr id="23" name="!!autumn-seal"/>
          <p:cNvGrpSpPr/>
          <p:nvPr/>
        </p:nvGrpSpPr>
        <p:grpSpPr>
          <a:xfrm>
            <a:off x="16097250" y="4076700"/>
            <a:ext cx="1428750" cy="1434370"/>
            <a:chOff x="16097250" y="4076700"/>
            <a:chExt cx="1428750" cy="143437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097250" y="4076700"/>
              <a:ext cx="1428750" cy="1434370"/>
            </a:xfrm>
            <a:prstGeom prst="rect">
              <a:avLst/>
            </a:prstGeom>
          </p:spPr>
        </p:pic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7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54" presetClass="entr" presetSubtype="0" ac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50"/>
                            </p:stCondLst>
                            <p:childTnLst>
                              <p:par>
                                <p:cTn id="29" presetID="2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150"/>
                            </p:stCondLst>
                            <p:childTnLst>
                              <p:par>
                                <p:cTn id="35" presetID="3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60" decel="10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36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6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6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" accel="100000" fill="hold">
                                          <p:stCondLst>
                                            <p:cond delay="36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0" accel="100000" fill="hold">
                                          <p:stCondLst>
                                            <p:cond delay="36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1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pattFill prst="pct5">
          <a:fgClr>
            <a:srgbClr val="E3D8C2"/>
          </a:fgClr>
          <a:bgClr>
            <a:srgbClr val="F7F1E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2950" y="419100"/>
            <a:ext cx="4961382" cy="3234690"/>
            <a:chOff x="742950" y="419100"/>
            <a:chExt cx="4961382" cy="323469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419100"/>
              <a:ext cx="3143250" cy="1576006"/>
            </a:xfrm>
            <a:prstGeom prst="rect">
              <a:avLst/>
            </a:prstGeom>
          </p:spPr>
        </p:pic>
        <p:sp>
          <p:nvSpPr>
            <p:cNvPr id="3" name="TextBox 3"/>
            <p:cNvSpPr txBox="1"/>
            <p:nvPr/>
          </p:nvSpPr>
          <p:spPr>
            <a:xfrm>
              <a:off x="742950" y="2106930"/>
              <a:ext cx="1915668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rgbClr val="2E2A26"/>
                  </a:solidFill>
                  <a:latin typeface="KaiTi"/>
                  <a:ea typeface="KaiTi"/>
                  <a:cs typeface="KaiTi"/>
                </a:rPr>
                <a:t>秋分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6760" y="3067050"/>
              <a:ext cx="495757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7A6E60"/>
                  </a:solidFill>
                  <a:latin typeface="Microsoft YaHei"/>
                  <a:ea typeface="Microsoft YaHei"/>
                  <a:cs typeface="Microsoft YaHei"/>
                </a:rPr>
                <a:t>2026年9月23日 08:05 交节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351270" y="476250"/>
            <a:ext cx="2297430" cy="3340417"/>
            <a:chOff x="6351270" y="476250"/>
            <a:chExt cx="2297430" cy="3340417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62700" y="476250"/>
              <a:ext cx="2286000" cy="2560701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6351270" y="3033712"/>
              <a:ext cx="2065972" cy="7829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2250" dirty="0">
                  <a:solidFill>
                    <a:srgbClr val="7A6E60"/>
                  </a:solidFill>
                  <a:latin typeface="Microsoft YaHei"/>
                  <a:ea typeface="Microsoft YaHei"/>
                  <a:cs typeface="Microsoft YaHei"/>
                </a:rPr>
                <a:t>竖蛋 · 秋汤</a:t>
              </a:r>
              <a:br/>
              <a:r>
                <a:rPr lang="zh-CN" sz="2250" dirty="0">
                  <a:solidFill>
                    <a:srgbClr val="7A6E60"/>
                  </a:solidFill>
                  <a:latin typeface="Microsoft YaHei"/>
                  <a:ea typeface="Microsoft YaHei"/>
                  <a:cs typeface="Microsoft YaHei"/>
                </a:rPr>
                <a:t>送秋牛 · 放风筝</a:t>
              </a:r>
            </a:p>
          </p:txBody>
        </p:sp>
      </p:grpSp>
      <p:grpSp>
        <p:nvGrpSpPr>
          <p:cNvPr id="11" name="!!route-spine"/>
          <p:cNvGrpSpPr/>
          <p:nvPr/>
        </p:nvGrpSpPr>
        <p:grpSpPr>
          <a:xfrm>
            <a:off x="9048750" y="438150"/>
            <a:ext cx="171450" cy="3181350"/>
            <a:chOff x="9048750" y="438150"/>
            <a:chExt cx="171450" cy="3181350"/>
          </a:xfrm>
        </p:grpSpPr>
        <p:sp>
          <p:nvSpPr>
            <p:cNvPr id="9" name="Freeform 9"/>
            <p:cNvSpPr/>
            <p:nvPr/>
          </p:nvSpPr>
          <p:spPr>
            <a:xfrm>
              <a:off x="9058275" y="438150"/>
              <a:ext cx="161925" cy="3181350"/>
            </a:xfrm>
            <a:custGeom>
              <a:avLst/>
              <a:gdLst/>
              <a:ahLst/>
              <a:cxnLst/>
              <a:rect l="l" t="t" r="r" b="b"/>
              <a:pathLst>
                <a:path w="161925" h="3181350">
                  <a:moveTo>
                    <a:pt x="85725" y="0"/>
                  </a:moveTo>
                  <a:cubicBezTo>
                    <a:pt x="9525" y="800100"/>
                    <a:pt x="161925" y="1657350"/>
                    <a:pt x="76200" y="2038350"/>
                  </a:cubicBezTo>
                  <a:cubicBezTo>
                    <a:pt x="0" y="2514600"/>
                    <a:pt x="142875" y="2895600"/>
                    <a:pt x="85725" y="3181350"/>
                  </a:cubicBezTo>
                </a:path>
              </a:pathLst>
            </a:custGeom>
            <a:noFill/>
            <a:ln w="38100" cap="rnd">
              <a:solidFill>
                <a:srgbClr val="2E2A26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9048750" y="2390775"/>
              <a:ext cx="171450" cy="171450"/>
            </a:xfrm>
            <a:prstGeom prst="ellipse">
              <a:avLst/>
            </a:prstGeom>
            <a:solidFill>
              <a:srgbClr val="C0503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9601200" y="588645"/>
            <a:ext cx="6427470" cy="1447800"/>
            <a:chOff x="9601200" y="588645"/>
            <a:chExt cx="6427470" cy="1447800"/>
          </a:xfrm>
        </p:grpSpPr>
        <p:sp>
          <p:nvSpPr>
            <p:cNvPr id="12" name="TextBox 12"/>
            <p:cNvSpPr txBox="1"/>
            <p:nvPr/>
          </p:nvSpPr>
          <p:spPr>
            <a:xfrm>
              <a:off x="9601200" y="588645"/>
              <a:ext cx="642747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400"/>
                </a:lnSpc>
              </a:pPr>
              <a:r>
                <a:rPr lang="zh-CN" sz="39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一候 雷始收声 二候 蛰虫坯户</a:t>
              </a:r>
              <a:br/>
              <a:r>
                <a:rPr lang="zh-CN" sz="39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三候 水始涸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25000" y="2286000"/>
            <a:ext cx="3048000" cy="952500"/>
            <a:chOff x="9525000" y="2286000"/>
            <a:chExt cx="3048000" cy="952500"/>
          </a:xfrm>
        </p:grpSpPr>
        <p:sp>
          <p:nvSpPr>
            <p:cNvPr id="14" name="Freeform 14"/>
            <p:cNvSpPr/>
            <p:nvPr/>
          </p:nvSpPr>
          <p:spPr>
            <a:xfrm>
              <a:off x="9525000" y="2286000"/>
              <a:ext cx="3048000" cy="952500"/>
            </a:xfrm>
            <a:prstGeom prst="leftRightArrow">
              <a:avLst/>
            </a:prstGeom>
            <a:solidFill>
              <a:srgbClr val="E3C263"/>
            </a:solidFill>
            <a:ln w="28575">
              <a:solidFill>
                <a:srgbClr val="2E2A2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397681" y="2571750"/>
              <a:ext cx="130263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昼 = 夜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934950" y="2057400"/>
            <a:ext cx="4667250" cy="1333500"/>
            <a:chOff x="12934950" y="2057400"/>
            <a:chExt cx="4667250" cy="1333500"/>
          </a:xfrm>
        </p:grpSpPr>
        <p:sp>
          <p:nvSpPr>
            <p:cNvPr id="17" name="Freeform 17"/>
            <p:cNvSpPr/>
            <p:nvPr/>
          </p:nvSpPr>
          <p:spPr>
            <a:xfrm>
              <a:off x="12934950" y="2057400"/>
              <a:ext cx="4667250" cy="1333500"/>
            </a:xfrm>
            <a:prstGeom prst="wedgeRoundRectCallout">
              <a:avLst>
                <a:gd name="adj1" fmla="val -35000"/>
                <a:gd name="adj2" fmla="val 55000"/>
                <a:gd name="adj3" fmla="val 16667"/>
              </a:avLst>
            </a:prstGeom>
            <a:noFill/>
            <a:ln w="28575">
              <a:solidFill>
                <a:srgbClr val="2E2A2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247370" y="2424112"/>
              <a:ext cx="2608898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2018 年起,农历秋分</a:t>
              </a:r>
              <a:br/>
              <a:r>
                <a:rPr lang="zh-CN" sz="225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定为中国农民丰收节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47700" y="3848100"/>
            <a:ext cx="13792200" cy="1819275"/>
            <a:chOff x="647700" y="3848100"/>
            <a:chExt cx="13792200" cy="1819275"/>
          </a:xfrm>
        </p:grpSpPr>
        <p:sp>
          <p:nvSpPr>
            <p:cNvPr id="20" name="Freeform 20"/>
            <p:cNvSpPr/>
            <p:nvPr/>
          </p:nvSpPr>
          <p:spPr>
            <a:xfrm>
              <a:off x="647700" y="3848100"/>
              <a:ext cx="13792200" cy="1676400"/>
            </a:xfrm>
            <a:custGeom>
              <a:avLst/>
              <a:gdLst/>
              <a:ahLst/>
              <a:cxnLst/>
              <a:rect l="l" t="t" r="r" b="b"/>
              <a:pathLst>
                <a:path w="13792200" h="1676400">
                  <a:moveTo>
                    <a:pt x="95250" y="95250"/>
                  </a:moveTo>
                  <a:cubicBezTo>
                    <a:pt x="4114800" y="0"/>
                    <a:pt x="8496300" y="190500"/>
                    <a:pt x="13716000" y="76200"/>
                  </a:cubicBezTo>
                  <a:cubicBezTo>
                    <a:pt x="13792200" y="628650"/>
                    <a:pt x="13677900" y="1181100"/>
                    <a:pt x="13754100" y="1581150"/>
                  </a:cubicBezTo>
                  <a:cubicBezTo>
                    <a:pt x="8877300" y="1676400"/>
                    <a:pt x="4305300" y="1504950"/>
                    <a:pt x="76200" y="1600200"/>
                  </a:cubicBezTo>
                  <a:cubicBezTo>
                    <a:pt x="0" y="1104900"/>
                    <a:pt x="152400" y="571500"/>
                    <a:pt x="95250" y="95250"/>
                  </a:cubicBezTo>
                  <a:close/>
                </a:path>
              </a:pathLst>
            </a:custGeom>
            <a:solidFill>
              <a:srgbClr val="E3C26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19200" y="4086225"/>
              <a:ext cx="9239250" cy="1581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550"/>
                </a:lnSpc>
              </a:pPr>
              <a:r>
                <a:rPr lang="zh-CN" sz="45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昼夜刚好</a:t>
              </a:r>
              <a:r>
                <a:rPr lang="zh-CN" sz="4500" b="1" dirty="0">
                  <a:solidFill>
                    <a:srgbClr val="C0503C"/>
                  </a:solidFill>
                  <a:latin typeface="Microsoft YaHei"/>
                  <a:ea typeface="Microsoft YaHei"/>
                  <a:cs typeface="Microsoft YaHei"/>
                </a:rPr>
                <a:t>一样长</a:t>
              </a:r>
              <a:r>
                <a:rPr lang="zh-CN" sz="45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,去田里或菜场逛逛,</a:t>
              </a:r>
              <a:br/>
              <a:r>
                <a:rPr lang="zh-CN" sz="45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这天全国的农民过节。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763750" y="3924300"/>
            <a:ext cx="1143000" cy="1383887"/>
            <a:chOff x="14763750" y="3924300"/>
            <a:chExt cx="1143000" cy="1383887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763750" y="3924300"/>
              <a:ext cx="1143000" cy="1383887"/>
            </a:xfrm>
            <a:prstGeom prst="rect">
              <a:avLst/>
            </a:prstGeom>
          </p:spPr>
        </p:pic>
      </p:grpSp>
      <p:grpSp>
        <p:nvGrpSpPr>
          <p:cNvPr id="26" name="!!autumn-seal"/>
          <p:cNvGrpSpPr/>
          <p:nvPr/>
        </p:nvGrpSpPr>
        <p:grpSpPr>
          <a:xfrm>
            <a:off x="16430625" y="4095750"/>
            <a:ext cx="1143000" cy="1147477"/>
            <a:chOff x="16430625" y="4095750"/>
            <a:chExt cx="1143000" cy="1147477"/>
          </a:xfrm>
        </p:grpSpPr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430625" y="4095750"/>
              <a:ext cx="1143000" cy="1147477"/>
            </a:xfrm>
            <a:prstGeom prst="rect">
              <a:avLst/>
            </a:prstGeom>
          </p:spPr>
        </p:pic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3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9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55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50"/>
                            </p:stCondLst>
                            <p:childTnLst>
                              <p:par>
                                <p:cTn id="35" presetID="3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6100"/>
                            </p:stCondLst>
                            <p:childTnLst>
                              <p:par>
                                <p:cTn id="42" presetID="2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7200"/>
                            </p:stCondLst>
                            <p:childTnLst>
                              <p:par>
                                <p:cTn id="48" presetID="3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60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36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6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6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90" accel="100000" fill="hold">
                                          <p:stCondLst>
                                            <p:cond delay="36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90" accel="100000" fill="hold">
                                          <p:stCondLst>
                                            <p:cond delay="36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15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pattFill prst="pct5">
          <a:fgClr>
            <a:srgbClr val="E3D8C2"/>
          </a:fgClr>
          <a:bgClr>
            <a:srgbClr val="F7F1E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2950" y="381000"/>
            <a:ext cx="4961382" cy="3310890"/>
            <a:chOff x="742950" y="381000"/>
            <a:chExt cx="4961382" cy="331089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381000"/>
              <a:ext cx="3143250" cy="1868519"/>
            </a:xfrm>
            <a:prstGeom prst="rect">
              <a:avLst/>
            </a:prstGeom>
          </p:spPr>
        </p:pic>
        <p:sp>
          <p:nvSpPr>
            <p:cNvPr id="3" name="TextBox 3"/>
            <p:cNvSpPr txBox="1"/>
            <p:nvPr/>
          </p:nvSpPr>
          <p:spPr>
            <a:xfrm>
              <a:off x="742950" y="2221230"/>
              <a:ext cx="1915668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rgbClr val="2E2A26"/>
                  </a:solidFill>
                  <a:latin typeface="KaiTi"/>
                  <a:ea typeface="KaiTi"/>
                  <a:cs typeface="KaiTi"/>
                </a:rPr>
                <a:t>寒露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6760" y="3105150"/>
              <a:ext cx="495757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7A6E60"/>
                  </a:solidFill>
                  <a:latin typeface="Microsoft YaHei"/>
                  <a:ea typeface="Microsoft YaHei"/>
                  <a:cs typeface="Microsoft YaHei"/>
                </a:rPr>
                <a:t>2026年10月8日 14:29 交节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0" y="571500"/>
            <a:ext cx="4953000" cy="969645"/>
            <a:chOff x="6667500" y="571500"/>
            <a:chExt cx="4953000" cy="969645"/>
          </a:xfrm>
        </p:grpSpPr>
        <p:sp>
          <p:nvSpPr>
            <p:cNvPr id="6" name="Freeform 6"/>
            <p:cNvSpPr/>
            <p:nvPr/>
          </p:nvSpPr>
          <p:spPr>
            <a:xfrm>
              <a:off x="6667500" y="571500"/>
              <a:ext cx="4953000" cy="914400"/>
            </a:xfrm>
            <a:prstGeom prst="chevron">
              <a:avLst/>
            </a:prstGeom>
            <a:solidFill>
              <a:srgbClr val="B7A2C8"/>
            </a:solidFill>
            <a:ln w="28575">
              <a:solidFill>
                <a:srgbClr val="2E2A2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15200" y="779145"/>
              <a:ext cx="334571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一候 鸿雁来宾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191500" y="1809750"/>
            <a:ext cx="5905500" cy="969645"/>
            <a:chOff x="8191500" y="1809750"/>
            <a:chExt cx="5905500" cy="969645"/>
          </a:xfrm>
        </p:grpSpPr>
        <p:sp>
          <p:nvSpPr>
            <p:cNvPr id="9" name="Freeform 9"/>
            <p:cNvSpPr/>
            <p:nvPr/>
          </p:nvSpPr>
          <p:spPr>
            <a:xfrm>
              <a:off x="8191500" y="1809750"/>
              <a:ext cx="5905500" cy="914400"/>
            </a:xfrm>
            <a:prstGeom prst="chevron">
              <a:avLst/>
            </a:prstGeom>
            <a:solidFill>
              <a:srgbClr val="B7A2C8"/>
            </a:solidFill>
            <a:ln w="28575">
              <a:solidFill>
                <a:srgbClr val="2E2A2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39200" y="2017395"/>
              <a:ext cx="4395749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二候 雀入大水为蛤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15500" y="3048000"/>
            <a:ext cx="4953000" cy="969645"/>
            <a:chOff x="9715500" y="3048000"/>
            <a:chExt cx="4953000" cy="969645"/>
          </a:xfrm>
        </p:grpSpPr>
        <p:sp>
          <p:nvSpPr>
            <p:cNvPr id="12" name="Freeform 12"/>
            <p:cNvSpPr/>
            <p:nvPr/>
          </p:nvSpPr>
          <p:spPr>
            <a:xfrm>
              <a:off x="9715500" y="3048000"/>
              <a:ext cx="4953000" cy="914400"/>
            </a:xfrm>
            <a:prstGeom prst="chevron">
              <a:avLst/>
            </a:prstGeom>
            <a:solidFill>
              <a:srgbClr val="B7A2C8"/>
            </a:solidFill>
            <a:ln w="28575">
              <a:solidFill>
                <a:srgbClr val="2E2A2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363200" y="3255645"/>
              <a:ext cx="334571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三候 菊有黄花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049500" y="552450"/>
            <a:ext cx="2571750" cy="1227010"/>
            <a:chOff x="15049500" y="552450"/>
            <a:chExt cx="2571750" cy="122701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049500" y="552450"/>
              <a:ext cx="1428750" cy="1227010"/>
            </a:xfrm>
            <a:prstGeom prst="rect">
              <a:avLst/>
            </a:prstGeom>
          </p:spPr>
        </p:pic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83000" y="552450"/>
              <a:ext cx="1238250" cy="1224344"/>
            </a:xfrm>
            <a:prstGeom prst="rect">
              <a:avLst/>
            </a:prstGeom>
          </p:spPr>
        </p:pic>
      </p:grpSp>
      <p:grpSp>
        <p:nvGrpSpPr>
          <p:cNvPr id="19" name="Group 19"/>
          <p:cNvGrpSpPr/>
          <p:nvPr/>
        </p:nvGrpSpPr>
        <p:grpSpPr>
          <a:xfrm>
            <a:off x="15049500" y="2647950"/>
            <a:ext cx="1714500" cy="1251966"/>
            <a:chOff x="15049500" y="2647950"/>
            <a:chExt cx="1714500" cy="1251966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049500" y="2647950"/>
              <a:ext cx="1714500" cy="1251966"/>
            </a:xfrm>
            <a:prstGeom prst="rect">
              <a:avLst/>
            </a:prstGeom>
          </p:spPr>
        </p:pic>
      </p:grpSp>
      <p:grpSp>
        <p:nvGrpSpPr>
          <p:cNvPr id="22" name="!!route-spine"/>
          <p:cNvGrpSpPr/>
          <p:nvPr/>
        </p:nvGrpSpPr>
        <p:grpSpPr>
          <a:xfrm>
            <a:off x="723900" y="3800475"/>
            <a:ext cx="8420100" cy="196215"/>
            <a:chOff x="723900" y="3800475"/>
            <a:chExt cx="8420100" cy="196215"/>
          </a:xfrm>
        </p:grpSpPr>
        <p:sp>
          <p:nvSpPr>
            <p:cNvPr id="20" name="Freeform 20"/>
            <p:cNvSpPr/>
            <p:nvPr/>
          </p:nvSpPr>
          <p:spPr>
            <a:xfrm>
              <a:off x="723900" y="3800475"/>
              <a:ext cx="8420100" cy="161925"/>
            </a:xfrm>
            <a:custGeom>
              <a:avLst/>
              <a:gdLst/>
              <a:ahLst/>
              <a:cxnLst/>
              <a:rect l="l" t="t" r="r" b="b"/>
              <a:pathLst>
                <a:path w="8420100" h="161925">
                  <a:moveTo>
                    <a:pt x="0" y="104775"/>
                  </a:moveTo>
                  <a:cubicBezTo>
                    <a:pt x="1752600" y="28575"/>
                    <a:pt x="3276600" y="161925"/>
                    <a:pt x="4991100" y="76200"/>
                  </a:cubicBezTo>
                  <a:cubicBezTo>
                    <a:pt x="6515100" y="0"/>
                    <a:pt x="7658100" y="123825"/>
                    <a:pt x="8420100" y="66675"/>
                  </a:cubicBezTo>
                </a:path>
              </a:pathLst>
            </a:custGeom>
            <a:noFill/>
            <a:ln w="38100" cap="rnd">
              <a:solidFill>
                <a:srgbClr val="2E2A26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4676775" y="3825240"/>
              <a:ext cx="171450" cy="171450"/>
            </a:xfrm>
            <a:prstGeom prst="ellipse">
              <a:avLst/>
            </a:prstGeom>
            <a:solidFill>
              <a:srgbClr val="C0503C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47700" y="4171950"/>
            <a:ext cx="12668250" cy="1333500"/>
            <a:chOff x="647700" y="4171950"/>
            <a:chExt cx="12668250" cy="1333500"/>
          </a:xfrm>
        </p:grpSpPr>
        <p:sp>
          <p:nvSpPr>
            <p:cNvPr id="23" name="Freeform 23"/>
            <p:cNvSpPr/>
            <p:nvPr/>
          </p:nvSpPr>
          <p:spPr>
            <a:xfrm>
              <a:off x="647700" y="4171950"/>
              <a:ext cx="12668250" cy="1333500"/>
            </a:xfrm>
            <a:custGeom>
              <a:avLst/>
              <a:gdLst/>
              <a:ahLst/>
              <a:cxnLst/>
              <a:rect l="l" t="t" r="r" b="b"/>
              <a:pathLst>
                <a:path w="12668250" h="1333500">
                  <a:moveTo>
                    <a:pt x="95250" y="95250"/>
                  </a:moveTo>
                  <a:cubicBezTo>
                    <a:pt x="3352800" y="0"/>
                    <a:pt x="7924800" y="171450"/>
                    <a:pt x="12592050" y="57150"/>
                  </a:cubicBezTo>
                  <a:cubicBezTo>
                    <a:pt x="12668250" y="495300"/>
                    <a:pt x="12553950" y="914400"/>
                    <a:pt x="12630150" y="1257300"/>
                  </a:cubicBezTo>
                  <a:cubicBezTo>
                    <a:pt x="8877300" y="1333500"/>
                    <a:pt x="4114800" y="1162050"/>
                    <a:pt x="76200" y="1257300"/>
                  </a:cubicBezTo>
                  <a:cubicBezTo>
                    <a:pt x="0" y="857250"/>
                    <a:pt x="152400" y="457200"/>
                    <a:pt x="95250" y="95250"/>
                  </a:cubicBezTo>
                  <a:close/>
                </a:path>
              </a:pathLst>
            </a:custGeom>
            <a:noFill/>
            <a:ln w="38100">
              <a:solidFill>
                <a:srgbClr val="2E2A2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3950" y="4276725"/>
              <a:ext cx="11002899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把凉鞋收起来,</a:t>
              </a:r>
              <a:r>
                <a:rPr lang="zh-CN" sz="4500" b="1" dirty="0">
                  <a:solidFill>
                    <a:srgbClr val="C0503C"/>
                  </a:solidFill>
                  <a:latin typeface="Microsoft YaHei"/>
                  <a:ea typeface="Microsoft YaHei"/>
                  <a:cs typeface="Microsoft YaHei"/>
                </a:rPr>
                <a:t>登一次高</a:t>
              </a:r>
              <a:r>
                <a:rPr lang="zh-CN" sz="45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,回家吃点芝麻。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1570" y="5053012"/>
              <a:ext cx="45662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7A6E60"/>
                  </a:solidFill>
                  <a:latin typeface="Microsoft YaHei"/>
                  <a:ea typeface="Microsoft YaHei"/>
                  <a:cs typeface="Microsoft YaHei"/>
                </a:rPr>
                <a:t>寒露三候另有传本作「菊有黄华」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639800" y="4191000"/>
            <a:ext cx="1619250" cy="1348359"/>
            <a:chOff x="13639800" y="4191000"/>
            <a:chExt cx="1619250" cy="1348359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639800" y="4191000"/>
              <a:ext cx="1619250" cy="1348359"/>
            </a:xfrm>
            <a:prstGeom prst="rect">
              <a:avLst/>
            </a:prstGeom>
          </p:spPr>
        </p:pic>
      </p:grpSp>
      <p:grpSp>
        <p:nvGrpSpPr>
          <p:cNvPr id="30" name="!!autumn-seal"/>
          <p:cNvGrpSpPr/>
          <p:nvPr/>
        </p:nvGrpSpPr>
        <p:grpSpPr>
          <a:xfrm>
            <a:off x="16097250" y="4238625"/>
            <a:ext cx="1143000" cy="1147477"/>
            <a:chOff x="16097250" y="4238625"/>
            <a:chExt cx="1143000" cy="1147477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097250" y="4238625"/>
              <a:ext cx="1143000" cy="1147477"/>
            </a:xfrm>
            <a:prstGeom prst="rect">
              <a:avLst/>
            </a:prstGeom>
          </p:spPr>
        </p:pic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54" presetClass="entr" presetSubtype="0" ac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50"/>
                            </p:stCondLst>
                            <p:childTnLst>
                              <p:par>
                                <p:cTn id="20" presetID="54" presetClass="entr" presetSubtype="0" ac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54" presetClass="entr" presetSubtype="0" ac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450"/>
                            </p:stCondLst>
                            <p:childTnLst>
                              <p:par>
                                <p:cTn id="36" presetID="3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4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4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4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5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800"/>
                            </p:stCondLst>
                            <p:childTnLst>
                              <p:par>
                                <p:cTn id="55" presetID="2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900"/>
                            </p:stCondLst>
                            <p:childTnLst>
                              <p:par>
                                <p:cTn id="61" presetID="3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60" decel="100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36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6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6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90" accel="100000" fill="hold">
                                          <p:stCondLst>
                                            <p:cond delay="36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90" accel="100000" fill="hold">
                                          <p:stCondLst>
                                            <p:cond delay="36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85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pattFill prst="pct5">
          <a:fgClr>
            <a:srgbClr val="E3D8C2"/>
          </a:fgClr>
          <a:bgClr>
            <a:srgbClr val="F7F1E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62000" y="476250"/>
            <a:ext cx="4095750" cy="3019044"/>
            <a:chOff x="762000" y="476250"/>
            <a:chExt cx="4095750" cy="3019044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476250"/>
              <a:ext cx="2524125" cy="2364581"/>
            </a:xfrm>
            <a:prstGeom prst="rect">
              <a:avLst/>
            </a:prstGeom>
          </p:spPr>
        </p:pic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19500" y="571500"/>
              <a:ext cx="1238250" cy="1480661"/>
            </a:xfrm>
            <a:prstGeom prst="rect">
              <a:avLst/>
            </a:prstGeom>
          </p:spPr>
        </p:pic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19500" y="2381250"/>
              <a:ext cx="1143000" cy="1114044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5314950" y="514350"/>
            <a:ext cx="5905500" cy="3511867"/>
            <a:chOff x="5314950" y="514350"/>
            <a:chExt cx="5905500" cy="3511867"/>
          </a:xfrm>
        </p:grpSpPr>
        <p:sp>
          <p:nvSpPr>
            <p:cNvPr id="6" name="Freeform 6"/>
            <p:cNvSpPr/>
            <p:nvPr/>
          </p:nvSpPr>
          <p:spPr>
            <a:xfrm>
              <a:off x="5314950" y="514350"/>
              <a:ext cx="5905500" cy="2724150"/>
            </a:xfrm>
            <a:custGeom>
              <a:avLst/>
              <a:gdLst/>
              <a:ahLst/>
              <a:cxnLst/>
              <a:rect l="l" t="t" r="r" b="b"/>
              <a:pathLst>
                <a:path w="5905500" h="2724150">
                  <a:moveTo>
                    <a:pt x="95250" y="114300"/>
                  </a:moveTo>
                  <a:cubicBezTo>
                    <a:pt x="2114550" y="0"/>
                    <a:pt x="4114800" y="190500"/>
                    <a:pt x="5829300" y="76200"/>
                  </a:cubicBezTo>
                  <a:cubicBezTo>
                    <a:pt x="5905500" y="914400"/>
                    <a:pt x="5791200" y="1866900"/>
                    <a:pt x="5848350" y="2609850"/>
                  </a:cubicBezTo>
                  <a:cubicBezTo>
                    <a:pt x="4019550" y="2724150"/>
                    <a:pt x="1924050" y="2571750"/>
                    <a:pt x="76200" y="2667000"/>
                  </a:cubicBezTo>
                  <a:cubicBezTo>
                    <a:pt x="0" y="1866900"/>
                    <a:pt x="152400" y="914400"/>
                    <a:pt x="95250" y="114300"/>
                  </a:cubicBezTo>
                  <a:close/>
                </a:path>
              </a:pathLst>
            </a:custGeom>
            <a:solidFill>
              <a:srgbClr val="C6D5DD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95950" y="817245"/>
              <a:ext cx="315849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850"/>
                </a:lnSpc>
              </a:pPr>
              <a:r>
                <a:rPr lang="zh-CN" sz="39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一候 豺乃祭兽</a:t>
              </a:r>
              <a:br/>
              <a:r>
                <a:rPr lang="zh-CN" sz="39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二候 草木黄落</a:t>
              </a:r>
              <a:br/>
              <a:r>
                <a:rPr lang="zh-CN" sz="39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三候 蛰虫咸俯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03570" y="3224212"/>
              <a:ext cx="4023360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2250" dirty="0">
                  <a:solidFill>
                    <a:srgbClr val="7A6E60"/>
                  </a:solidFill>
                  <a:latin typeface="Microsoft YaHei"/>
                  <a:ea typeface="Microsoft YaHei"/>
                  <a:cs typeface="Microsoft YaHei"/>
                </a:rPr>
                <a:t>候名依《月令七十二候集解》</a:t>
              </a:r>
              <a:br/>
              <a:r>
                <a:rPr lang="zh-CN" sz="2250" dirty="0">
                  <a:solidFill>
                    <a:srgbClr val="7A6E60"/>
                  </a:solidFill>
                  <a:latin typeface="Microsoft YaHei"/>
                  <a:ea typeface="Microsoft YaHei"/>
                  <a:cs typeface="Microsoft YaHei"/>
                </a:rPr>
                <a:t>北京市园林绿化局作「豺祭兽」</a:t>
              </a:r>
            </a:p>
          </p:txBody>
        </p:sp>
      </p:grpSp>
      <p:grpSp>
        <p:nvGrpSpPr>
          <p:cNvPr id="13" name="!!route-spine"/>
          <p:cNvGrpSpPr/>
          <p:nvPr/>
        </p:nvGrpSpPr>
        <p:grpSpPr>
          <a:xfrm>
            <a:off x="11391900" y="438150"/>
            <a:ext cx="247650" cy="3609975"/>
            <a:chOff x="11391900" y="438150"/>
            <a:chExt cx="247650" cy="3609975"/>
          </a:xfrm>
        </p:grpSpPr>
        <p:sp>
          <p:nvSpPr>
            <p:cNvPr id="10" name="Freeform 10"/>
            <p:cNvSpPr/>
            <p:nvPr/>
          </p:nvSpPr>
          <p:spPr>
            <a:xfrm>
              <a:off x="11439525" y="438150"/>
              <a:ext cx="161925" cy="3486150"/>
            </a:xfrm>
            <a:custGeom>
              <a:avLst/>
              <a:gdLst/>
              <a:ahLst/>
              <a:cxnLst/>
              <a:rect l="l" t="t" r="r" b="b"/>
              <a:pathLst>
                <a:path w="161925" h="3486150">
                  <a:moveTo>
                    <a:pt x="85725" y="0"/>
                  </a:moveTo>
                  <a:cubicBezTo>
                    <a:pt x="9525" y="800100"/>
                    <a:pt x="161925" y="1752600"/>
                    <a:pt x="76200" y="2419350"/>
                  </a:cubicBezTo>
                  <a:cubicBezTo>
                    <a:pt x="0" y="2895600"/>
                    <a:pt x="123825" y="3238500"/>
                    <a:pt x="76200" y="3486150"/>
                  </a:cubicBezTo>
                </a:path>
              </a:pathLst>
            </a:custGeom>
            <a:noFill/>
            <a:ln w="38100" cap="rnd">
              <a:solidFill>
                <a:srgbClr val="2E2A2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1430000" y="2771775"/>
              <a:ext cx="171450" cy="171450"/>
            </a:xfrm>
            <a:prstGeom prst="ellipse">
              <a:avLst/>
            </a:prstGeom>
            <a:solidFill>
              <a:srgbClr val="C0503C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1391900" y="3800475"/>
              <a:ext cx="247650" cy="247650"/>
            </a:xfrm>
            <a:prstGeom prst="ellipse">
              <a:avLst/>
            </a:prstGeom>
            <a:solidFill>
              <a:srgbClr val="C0503C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1887200" y="381000"/>
            <a:ext cx="5183505" cy="3721417"/>
            <a:chOff x="11887200" y="381000"/>
            <a:chExt cx="5183505" cy="3721417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906250" y="381000"/>
              <a:ext cx="3143250" cy="1872044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11887200" y="2202180"/>
              <a:ext cx="1915668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rgbClr val="2E2A26"/>
                  </a:solidFill>
                  <a:latin typeface="KaiTi"/>
                  <a:ea typeface="KaiTi"/>
                  <a:cs typeface="KaiTi"/>
                </a:rPr>
                <a:t>霜降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891010" y="3162300"/>
              <a:ext cx="517969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7A6E60"/>
                  </a:solidFill>
                  <a:latin typeface="Microsoft YaHei"/>
                  <a:ea typeface="Microsoft YaHei"/>
                  <a:cs typeface="Microsoft YaHei"/>
                </a:rPr>
                <a:t>2026年10月23日 17:38 交节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894820" y="3662362"/>
              <a:ext cx="291550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7A6E60"/>
                  </a:solidFill>
                  <a:latin typeface="Microsoft YaHei"/>
                  <a:ea typeface="Microsoft YaHei"/>
                  <a:cs typeface="Microsoft YaHei"/>
                </a:rPr>
                <a:t>交节时刻:香港天文台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4095750"/>
            <a:ext cx="13487400" cy="1333500"/>
            <a:chOff x="723900" y="4095750"/>
            <a:chExt cx="13487400" cy="1333500"/>
          </a:xfrm>
        </p:grpSpPr>
        <p:sp>
          <p:nvSpPr>
            <p:cNvPr id="19" name="Freeform 19"/>
            <p:cNvSpPr/>
            <p:nvPr/>
          </p:nvSpPr>
          <p:spPr>
            <a:xfrm>
              <a:off x="723900" y="4095750"/>
              <a:ext cx="13487400" cy="1333500"/>
            </a:xfrm>
            <a:prstGeom prst="foldedCorner">
              <a:avLst/>
            </a:prstGeom>
            <a:solidFill>
              <a:srgbClr val="C6D5DD"/>
            </a:solidFill>
            <a:ln w="28575">
              <a:solidFill>
                <a:srgbClr val="2E2A2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19200" y="4143375"/>
              <a:ext cx="12214479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秋天最后一站,</a:t>
              </a:r>
              <a:r>
                <a:rPr lang="zh-CN" sz="4500" b="1" dirty="0">
                  <a:solidFill>
                    <a:srgbClr val="C0503C"/>
                  </a:solidFill>
                  <a:latin typeface="Microsoft YaHei"/>
                  <a:ea typeface="Microsoft YaHei"/>
                  <a:cs typeface="Microsoft YaHei"/>
                </a:rPr>
                <a:t>买几只软柿子</a:t>
              </a:r>
              <a:r>
                <a:rPr lang="zh-CN" sz="450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,给秋天收个尾。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26820" y="4976812"/>
              <a:ext cx="533866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2E2A26"/>
                  </a:solidFill>
                  <a:latin typeface="Microsoft YaHei"/>
                  <a:ea typeface="Microsoft YaHei"/>
                  <a:cs typeface="Microsoft YaHei"/>
                </a:rPr>
                <a:t>11月7日 17:52 立冬,这一季秋在此收尾</a:t>
              </a:r>
            </a:p>
          </p:txBody>
        </p:sp>
      </p:grpSp>
      <p:grpSp>
        <p:nvGrpSpPr>
          <p:cNvPr id="24" name="!!autumn-seal"/>
          <p:cNvGrpSpPr/>
          <p:nvPr/>
        </p:nvGrpSpPr>
        <p:grpSpPr>
          <a:xfrm>
            <a:off x="14668500" y="4095750"/>
            <a:ext cx="1333500" cy="1338739"/>
            <a:chOff x="14668500" y="4095750"/>
            <a:chExt cx="1333500" cy="1338739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668500" y="4095750"/>
              <a:ext cx="1333500" cy="1338739"/>
            </a:xfrm>
            <a:prstGeom prst="rect">
              <a:avLst/>
            </a:prstGeom>
          </p:spPr>
        </p:pic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75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50"/>
                            </p:stCondLst>
                            <p:childTnLst>
                              <p:par>
                                <p:cTn id="26" presetID="2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15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ustom_1920x600_autumn_web">
  <a:themeElements>
    <a:clrScheme name="custom_1920x600_autumn_web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_1920x600_autumn_web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_1920x600_autumn_web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2026-09-04T11:41:30Z</dcterms:created>
  <dcterms:modified xsi:type="dcterms:W3CDTF">2026-09-04T11:41:30Z</dcterms:modified>
  <cp:category/>
  <cp:contentStatus/>
</cp:coreProperties>
</file>