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5"/>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  <Relationship Id="rId25"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zh-C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zh-C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zh-C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zh-CN"/>
          </a:p>
        </p:txBody>
      </p:sp>
    </p:spTree>
  </p:cSld>
  <p:clrMap bg1="lt1" tx1="dk1" bg2="lt2" tx2="dk2" accent1="accent1" accent2="accent2" accent3="accent3" accent4="accent4" accent5="accent5" accent6="accent6" hlink="hlink" folHlink="folHlink"/>
  <p:hf/>
  <p:notesStyle>
    <a:lvl1pPr marL="0" algn="l">
      <a:defRPr sz="1200" lang="zh-C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欢迎打开这一期的 zine 文化指南。这本不只是一份关于独立出版的入门手册，它本身也是用 zine 的语言做的：暖米色纸面、套色错位的标题、复印机感的等宽字。接下来的十八页里，我们从一张纸说起，一路走到全球独立书店的门口，再回到你自己的书桌前。准备好了，我们就开始。</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在正式进入内容之前，先用一分钟看一下这本指南的结构。一共五个部分，从最小的概念到最大的行动：第一节解释 zine 到底是什么，第二节讲它的灵魂工艺 Risograph，第三节教你怎么自己折一本，第四节带你逛遍全球和中国的独立书店，最后一节告诉你怎么逛、怎么收藏、怎么开始动手。每一节的页码都标在右边，你可以从感兴趣的地方读起。</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第一个问题：zine 到底是什么。最简洁的定义是 ——杂志减去商业逻辑、减去编辑把关、再减去规模。所以 zine 是自制的、印量极小的、内容完全由作者主权的出版物。它可以是手写、可以是拼贴、可以是漫画、可以是宣言。关键的边界是这一条：一旦一本 zine 进入大规模发行和编辑流程，它就不再是 zine 了。</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zine 不是新东西，它有一百年的浪潮史。一九二零年代，哈莱姆文艺复兴时期就有黑人创作者自费出版的小册子。一九三零年代，科幻迷办起同人志，"fanzine" 这个词在一九四零年由 Russ Chauvenet 创造。一九七六年，朋克随着复印机的普及而引爆 zine 文化，Sniffin' Glue 成为标志。一九九一年，Riot Grrrl 把 zine 推向第三波女性主义，Kathleen Hanna 的 Bikini Kill 同名 zine 至今仍是范式。今天，zine 文化在书展和图书馆的收藏中复兴 —— 它一直在，只是换了形式。</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讲完 zine 的简史，我们看它的灵魂工艺：Risograph。Risograph 是日本理想科学工业一九四六年起家、一九八六年推出的复印机产品。它本来是为了在战后日本提供一种便宜环保的印刷方案，没想到几十年后成了独立艺术的核心工具。它的四大视觉特征 —— 限定调色、套色错位、半色调网点、油墨叠印 —— 全是技术限制，但艺术家把这些限制变成了语言。你正在看的这页就用了套色错位和半色调，是在 SVG 里模拟的。</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Risograph 的工作流程其实只有五步。一，接收数字图像；二，把图像在纤维基母版上烧蚀成像素小孔；三，母版包裹彩色墨筒，每个墨筒只装一种颜色；四，墨筒滚压把油墨渗到纸上；五，换墨筒再印一次，多色就用多次过纸完成。每次过纸都会有一到三像素的偏移，这就是套色错位 —— 在别的印刷工艺里这是缺陷，在 Risograph 这里是签名。</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讲了这么多概念，我们来动手。一张 A4 纸就能折出一本八页的 zine，全部步骤只有四步。一，沿长边对折、短边对折、再中线对折，得到八个矩形；二，从对折边沿剪到中心点，只剪这一刀；三，两手捏纸的两端往中心推，纸会自动立体折叠成一本小册子；四，填内容，没有任何规则。唯一的硬约束是 —— 折叠 zine 的总页数必须是 4 的倍数。</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那么"内容"具体能填什么？六类常见的方向：草图和漫画，把字写丑、把人画歪反而是风格；诗、宣言、短文，Riot Grrrl Manifesto 就是范式；带插图的食谱或者教程，最普及的实用方向；家庭照片配私人写作，主权大于隐私；杂志撕页加胶带的拼贴，物质感是复印机救不了的部分；以及纯色块、纯纹理的实验性视觉 —— 没有信息也是一种信息。挑一种、或者全部混在一起，都对。</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聊完做法，我们去逛书店。第一站东京神保町，是全球最大最古老的旧书街之一。一百三十到一百八十家书店密集分布在靖国通和白山通的交叉口，从一八七五年的 Takayama Honten 老店，到二零一五年才开张的 Morioka Shoten —— 那家奇店每周只卖一本书。在原宿的 Utrecht 还藏着日本最大的独立 zine 收藏之一。Time Out 在二零二五年把这里评为全球最酷街区，对喜欢书的人来说，这是名副其实的朝圣地。</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接下来一口气看三座城市。巴黎的 Shakespeare and Company，从一九五一年起接纳数千位 tumbleweeds 写作者住宿，条件只有三个：每天读一小时、写一页自传、店里帮工 —— 书店在这里是写作者的收容所。伦敦的 Daunt 按国家分类藏书，Word on the Water 是停在运河上的荷兰船改造的 —— 书店在这里是场景即体验。纽约的 Strand 有两百五十万册藏书，自称十八英里书架；二零二一年开的 Yu and Me Books 是华埠首家亚裔女性书店 —— 书店在这里是社区基础设施。三种姿态，没有对错。</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欧洲独立书店的最后一站，柏林的 Bücherbogen。它藏在 S-Bahn 高架桥下的砖砌拱顶里，火车从头顶轰隆隆开过，下面是一架架艺术、设计、摄影、电影和建筑的专门书。它没有什么都卖，它只卖这五个主题 —— 但在这五个主题上做到极致。这就是欧洲独立书店常见的范式：不要全面，要绝对。</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把镜头转回中国大陆。这张地图列了十五家有 zine 倾向的独立书店，从最具 zine 圣地属性的三家开始：上海的香蕉鱼 —— 中国大陆首家专注独立出版的艺术书店，自营 Risograph 工作室；宁波的假杂志 —— 国内最早的独立摄影出版机构；郑州的野狗 —— 精选两百多种国内外独立杂志。下面还有舟山的一爿旧店、武汉的 Combo、西安的 Protopaper —— 都是独立出版的兼营空间。再往下是国际杂志为主、或者纯文学综合的书店。这份名单不全，但你按这张图走一圈，中国 zine 的现场就立体起来了。</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如果你想一次性见到所有这些独立出版方，那就去书展。中国艺术书展有两颗双子星：abC Art Book Fair 二零一五年创办，每年在北京和上海双城举办，第六届上海站汇集了一百四十五家中国艺术出版方加四十一家国际出版方，参观人数超过一万。紧随其后的是 UNFOLD Shanghai Art Book Fair，通常在 abC 之后一周开幕，摊位费更高但客流更大。两个书展连开两周，已经是中国独立出版圈每年最重要的物理朝圣 —— 上海这两周值得专程一趟。</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如果你是第一次去独立书店，有四条建议。一，看选品就是看店主，独立书店的本质是一群人的精神书架，选品就是店主在跟你对话；二，至少留一小时，浏览本身就是产品，在书架前发呆是一种合法消费；三，带现金，有些小店不接受电子支付，现金还能减少手续费；四，拍照前先问，多数独立书店对拍照敏感。补充一句额外提醒 —— 主流出版社的书随便哪里买都行，在独立书店要买的是独立出版物和艺术家自费书，那才是真正的核心目标。</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接着说怎么收藏 zine。也是四条。一，从一本起步，不要一开始就立一百本的目标，找你最关心的一个主题滚雪球；二，买回来用塑料封套保护，zine 是一次性印刷，二次印刷罕见，一本破损就是一本绝版；三，跟踪你喜欢的作者和出版方的 Instagram，新刊首发是抢的，一百份卖完就没了；四，参加 abC 和 UNFOLD，书展现场就是新刊首发加作者签售。长期玩家的秘诀是 —— 给自己定一个窄锚点，五年后你就拥有了这个主题的小型博物馆。</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读到这里，最后一步：你自己做一本。四步起手，一个周末就够。一，选一个真心关心的主题，不必宏大，小猫、早餐、通勤路都行；二，折一张 A4，用第七页教的方法，三十秒完成；三，填这八页，手写、拼贴、复印旧照片都可以，第一本粗糙就对了；四，印十份，五份送朋友，五份寄给独立书店。当你寄出第一本的那一刻，你就是 zine 出版者了 —— 这个门槛不是商业注册、不是 ISBN、不是销量，就是寄出的那一秒。</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这一页是来源声明。这本指南里所有的事实、数字、人名都来自二十个公开来源 —— 维基百科为主，加上 The Creative Independent、AFAR、Time Out、Sixth Tone 等独立媒体，以及数英、搜狐、知乎上中文社区整理的独立书店清单。所有图像是用 PPT Master 的 screen-print × duotone 风格通过 Gemini 3.1 Flash Image 合成的，参考图来自 Wikimedia Commons CC BY 2.0 授权 ——不构成任何品牌或商标的关联。</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最后一句话，也是这本 zine 想留给你的全部 ——印一份，送一份，换一份。zine 是这个世界上最小的出版社，但它也可以是你的出版社。你不需要等到任何资格、任何流量、任何许可。一张纸 + 一台复印机 + 一家愿意上架的书店 —— 整个生态就成立了。下一本 zine 在等你。</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ppt169_indie_bookstore_zine_guide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ppt169_indie_bookstore_zine_guide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7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5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4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3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2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1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0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95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5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500" kern="1200">
          <a:solidFill>
            <a:schemeClr val="tx1"/>
          </a:solidFill>
          <a:latin typeface="+mn-lt"/>
          <a:ea typeface="+mn-ea"/>
          <a:cs typeface="+mn-cs"/>
        </a:defRPr>
      </a:lvl1pPr>
      <a:lvl2pPr marL="457200" algn="l" defTabSz="457200" rtl="0" eaLnBrk="1" latinLnBrk="0" hangingPunct="1">
        <a:defRPr sz="1400" kern="1200">
          <a:solidFill>
            <a:schemeClr val="tx1"/>
          </a:solidFill>
          <a:latin typeface="+mn-lt"/>
          <a:ea typeface="+mn-ea"/>
          <a:cs typeface="+mn-cs"/>
        </a:defRPr>
      </a:lvl2pPr>
      <a:lvl3pPr marL="914400" algn="l" defTabSz="457200" rtl="0" eaLnBrk="1" latinLnBrk="0" hangingPunct="1">
        <a:defRPr sz="13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100" kern="1200">
          <a:solidFill>
            <a:schemeClr val="tx1"/>
          </a:solidFill>
          <a:latin typeface="+mn-lt"/>
          <a:ea typeface="+mn-ea"/>
          <a:cs typeface="+mn-cs"/>
        </a:defRPr>
      </a:lvl5pPr>
      <a:lvl6pPr marL="2286000" algn="l" defTabSz="457200" rtl="0" eaLnBrk="1" latinLnBrk="0" hangingPunct="1">
        <a:defRPr sz="1050" kern="1200">
          <a:solidFill>
            <a:schemeClr val="tx1"/>
          </a:solidFill>
          <a:latin typeface="+mn-lt"/>
          <a:ea typeface="+mn-ea"/>
          <a:cs typeface="+mn-cs"/>
        </a:defRPr>
      </a:lvl6pPr>
      <a:lvl7pPr marL="2743200" algn="l" defTabSz="457200" rtl="0" eaLnBrk="1" latinLnBrk="0" hangingPunct="1">
        <a:defRPr sz="950" kern="1200">
          <a:solidFill>
            <a:schemeClr val="tx1"/>
          </a:solidFill>
          <a:latin typeface="+mn-lt"/>
          <a:ea typeface="+mn-ea"/>
          <a:cs typeface="+mn-cs"/>
        </a:defRPr>
      </a:lvl7pPr>
      <a:lvl8pPr marL="3200400" algn="l" defTabSz="457200" rtl="0" eaLnBrk="1" latinLnBrk="0" hangingPunct="1">
        <a:defRPr sz="85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0c5631229dae6d3c.jp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ee23121d22a21515.jpg"/>
  <Relationship Id="rId3"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243222dd7d207e95.jpg"/>
  <Relationship Id="rId3"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ea6bc552c322dfa0.jpg"/>
  <Relationship Id="rId3"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eb51cf6a6ac9fbe3.jpg"/>
  <Relationship Id="rId3"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7376723acc74bece.jpg"/>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0b6005e81bcf48ab.jpg"/>
  <Relationship Id="rId3"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ad8069e53ba9051b.jpg"/>
  <Relationship Id="rId3"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d3a74fae348674f7.jpg"/>
  <Relationship Id="rId3"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6ae9c461217432d8.jpg"/>
  <Relationship Id="rId3" Type="http://schemas.openxmlformats.org/officeDocument/2006/relationships/notesSlide" Target="../notesSlides/notesSlide18.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Group 3"/>
          <p:cNvGrpSpPr/>
          <p:nvPr/>
        </p:nvGrpSpPr>
        <p:grpSpPr>
          <a:xfrm>
            <a:off x="0" y="0"/>
            <a:ext cx="12192000" cy="6858000"/>
            <a:chOff x="0" y="0"/>
            <a:chExt cx="12192000" cy="6858000"/>
          </a:xfrm>
        </p:grpSpPr>
        <p:pic>
          <p:nvPicPr>
            <p:cNvPr id="2" name="Image 2"/>
            <p:cNvPicPr>
              <a:picLocks noChangeAspect="1"/>
            </p:cNvPicPr>
            <p:nvPr/>
          </p:nvPicPr>
          <p:blipFill>
            <a:blip r:embed="rId2"/>
            <a:stretch>
              <a:fillRect/>
            </a:stretch>
          </p:blipFill>
          <p:spPr>
            <a:xfrm>
              <a:off x="0" y="0"/>
              <a:ext cx="12192000" cy="6858000"/>
            </a:xfrm>
            <a:prstGeom prst="rect">
              <a:avLst/>
            </a:prstGeom>
          </p:spPr>
        </p:pic>
      </p:grpSp>
      <p:sp>
        <p:nvSpPr>
          <p:cNvPr id="4" name="Rectangle 4"/>
          <p:cNvSpPr/>
          <p:nvPr/>
        </p:nvSpPr>
        <p:spPr>
          <a:xfrm>
            <a:off x="0" y="0"/>
            <a:ext cx="12192000" cy="6858000"/>
          </a:xfrm>
          <a:prstGeom prst="rect">
            <a:avLst/>
          </a:prstGeom>
          <a:pattFill prst="ltUpDiag">
            <a:fgClr>
              <a:schemeClr val="dk1">
                <a:alpha val="7200"/>
              </a:schemeClr>
            </a:fgClr>
            <a:bgClr>
              <a:srgbClr val="FFFFFF">
                <a:alpha val="40000"/>
              </a:srgbClr>
            </a:bgClr>
          </a:pattFill>
          <a:ln>
            <a:noFill/>
          </a:ln>
        </p:spPr>
      </p:sp>
      <p:grpSp>
        <p:nvGrpSpPr>
          <p:cNvPr id="10" name="Group 10"/>
          <p:cNvGrpSpPr/>
          <p:nvPr/>
        </p:nvGrpSpPr>
        <p:grpSpPr>
          <a:xfrm>
            <a:off x="539496" y="476250"/>
            <a:ext cx="11086338" cy="371475"/>
            <a:chOff x="539496" y="476250"/>
            <a:chExt cx="11086338" cy="371475"/>
          </a:xfrm>
        </p:grpSpPr>
        <p:sp>
          <p:nvSpPr>
            <p:cNvPr id="5" name="Rectangle 5"/>
            <p:cNvSpPr/>
            <p:nvPr/>
          </p:nvSpPr>
          <p:spPr>
            <a:xfrm>
              <a:off x="571500" y="476250"/>
              <a:ext cx="2095500" cy="342900"/>
            </a:xfrm>
            <a:prstGeom prst="rect">
              <a:avLst/>
            </a:prstGeom>
            <a:solidFill>
              <a:schemeClr val="accent1"/>
            </a:solidFill>
            <a:ln>
              <a:noFill/>
            </a:ln>
          </p:spPr>
        </p:sp>
        <p:sp>
          <p:nvSpPr>
            <p:cNvPr id="6" name="Rectangle 6"/>
            <p:cNvSpPr/>
            <p:nvPr/>
          </p:nvSpPr>
          <p:spPr>
            <a:xfrm>
              <a:off x="600075" y="504825"/>
              <a:ext cx="2095500" cy="342900"/>
            </a:xfrm>
            <a:prstGeom prst="rect">
              <a:avLst/>
            </a:prstGeom>
            <a:solidFill>
              <a:schemeClr val="accent2">
                <a:alpha val="85000"/>
              </a:schemeClr>
            </a:solidFill>
            <a:ln>
              <a:noFill/>
            </a:ln>
          </p:spPr>
        </p:sp>
        <p:sp>
          <p:nvSpPr>
            <p:cNvPr id="7" name="Rectangle 7"/>
            <p:cNvSpPr/>
            <p:nvPr/>
          </p:nvSpPr>
          <p:spPr>
            <a:xfrm>
              <a:off x="571500" y="476250"/>
              <a:ext cx="2095500" cy="342900"/>
            </a:xfrm>
            <a:prstGeom prst="rect">
              <a:avLst/>
            </a:prstGeom>
            <a:solidFill>
              <a:schemeClr val="accent1"/>
            </a:solidFill>
            <a:ln>
              <a:noFill/>
            </a:ln>
          </p:spPr>
        </p:sp>
        <p:sp>
          <p:nvSpPr>
            <p:cNvPr id="8" name="TextBox 8"/>
            <p:cNvSpPr txBox="1"/>
            <p:nvPr/>
          </p:nvSpPr>
          <p:spPr>
            <a:xfrm>
              <a:off x="539496" y="552450"/>
              <a:ext cx="2159508" cy="293370"/>
            </a:xfrm>
            <a:prstGeom prst="rect">
              <a:avLst/>
            </a:prstGeom>
            <a:noFill/>
            <a:ln>
              <a:noFill/>
            </a:ln>
          </p:spPr>
          <p:txBody>
            <a:bodyPr wrap="none" lIns="0" tIns="0" rIns="0" bIns="0" anchor="t" anchorCtr="0">
              <a:spAutoFit/>
            </a:bodyPr>
            <a:lstStyle/>
            <a:p>
              <a:pPr algn="ctr"/>
              <a:r>
                <a:rPr lang="zh-CN" sz="1500" spc="225" dirty="0">
                  <a:solidFill>
                    <a:srgbClr val="F5EFE0"/>
                  </a:solidFill>
                  <a:latin typeface="+mj-lt"/>
                  <a:ea typeface="+mj-ea"/>
                  <a:cs typeface="+mj-cs"/>
                </a:rPr>
                <a:t>ISSUE №01 · 2026</a:t>
              </a:r>
            </a:p>
          </p:txBody>
        </p:sp>
        <p:sp>
          <p:nvSpPr>
            <p:cNvPr id="9" name="TextBox 9"/>
            <p:cNvSpPr txBox="1"/>
            <p:nvPr/>
          </p:nvSpPr>
          <p:spPr>
            <a:xfrm>
              <a:off x="8984437" y="629602"/>
              <a:ext cx="2641397" cy="205359"/>
            </a:xfrm>
            <a:prstGeom prst="rect">
              <a:avLst/>
            </a:prstGeom>
            <a:noFill/>
            <a:ln>
              <a:noFill/>
            </a:ln>
          </p:spPr>
          <p:txBody>
            <a:bodyPr wrap="none" lIns="0" tIns="0" rIns="0" bIns="0" anchor="t" anchorCtr="0">
              <a:spAutoFit/>
            </a:bodyPr>
            <a:lstStyle/>
            <a:p>
              <a:pPr algn="r"/>
              <a:r>
                <a:rPr lang="zh-CN" sz="1050" spc="150" dirty="0">
                  <a:solidFill>
                    <a:schemeClr val="dk1"/>
                  </a:solidFill>
                  <a:latin typeface="Consolas"/>
                  <a:ea typeface="Consolas"/>
                  <a:cs typeface="Consolas"/>
                </a:rPr>
                <a:t>PPT MASTER · RISO ZINE DEMO</a:t>
              </a:r>
            </a:p>
          </p:txBody>
        </p:sp>
      </p:grpSp>
      <p:grpSp>
        <p:nvGrpSpPr>
          <p:cNvPr id="13" name="Group 13"/>
          <p:cNvGrpSpPr/>
          <p:nvPr/>
        </p:nvGrpSpPr>
        <p:grpSpPr>
          <a:xfrm>
            <a:off x="10858500" y="1333500"/>
            <a:ext cx="1362075" cy="409575"/>
            <a:chOff x="10858500" y="1333500"/>
            <a:chExt cx="1362075" cy="409575"/>
          </a:xfrm>
        </p:grpSpPr>
        <p:sp>
          <p:nvSpPr>
            <p:cNvPr id="11" name="Polygon 11"/>
            <p:cNvSpPr/>
            <p:nvPr/>
          </p:nvSpPr>
          <p:spPr>
            <a:xfrm>
              <a:off x="10858500" y="1333500"/>
              <a:ext cx="1333500" cy="381000"/>
            </a:xfrm>
            <a:custGeom>
              <a:avLst/>
              <a:gdLst/>
              <a:ahLst/>
              <a:cxnLst/>
              <a:rect l="l" t="t" r="r" b="b"/>
              <a:pathLst>
                <a:path w="1333500" h="381000">
                  <a:moveTo>
                    <a:pt x="1333500" y="0"/>
                  </a:moveTo>
                  <a:lnTo>
                    <a:pt x="1333500" y="381000"/>
                  </a:lnTo>
                  <a:lnTo>
                    <a:pt x="0" y="381000"/>
                  </a:lnTo>
                  <a:lnTo>
                    <a:pt x="381000" y="0"/>
                  </a:lnTo>
                  <a:close/>
                </a:path>
              </a:pathLst>
            </a:custGeom>
            <a:solidFill>
              <a:schemeClr val="accent2"/>
            </a:solidFill>
            <a:ln>
              <a:noFill/>
            </a:ln>
          </p:spPr>
        </p:sp>
        <p:sp>
          <p:nvSpPr>
            <p:cNvPr id="12" name="Polygon 12"/>
            <p:cNvSpPr/>
            <p:nvPr/>
          </p:nvSpPr>
          <p:spPr>
            <a:xfrm>
              <a:off x="10887075" y="1362075"/>
              <a:ext cx="1333500" cy="381000"/>
            </a:xfrm>
            <a:custGeom>
              <a:avLst/>
              <a:gdLst/>
              <a:ahLst/>
              <a:cxnLst/>
              <a:rect l="l" t="t" r="r" b="b"/>
              <a:pathLst>
                <a:path w="1333500" h="381000">
                  <a:moveTo>
                    <a:pt x="1333500" y="0"/>
                  </a:moveTo>
                  <a:lnTo>
                    <a:pt x="1333500" y="381000"/>
                  </a:lnTo>
                  <a:lnTo>
                    <a:pt x="0" y="381000"/>
                  </a:lnTo>
                  <a:lnTo>
                    <a:pt x="381000" y="0"/>
                  </a:lnTo>
                  <a:close/>
                </a:path>
              </a:pathLst>
            </a:custGeom>
            <a:solidFill>
              <a:schemeClr val="accent1">
                <a:alpha val="55000"/>
              </a:schemeClr>
            </a:solidFill>
            <a:ln>
              <a:noFill/>
            </a:ln>
          </p:spPr>
        </p:sp>
      </p:grpSp>
      <p:grpSp>
        <p:nvGrpSpPr>
          <p:cNvPr id="20" name="Group 20"/>
          <p:cNvGrpSpPr/>
          <p:nvPr/>
        </p:nvGrpSpPr>
        <p:grpSpPr>
          <a:xfrm>
            <a:off x="533400" y="3362325"/>
            <a:ext cx="3607460" cy="2958465"/>
            <a:chOff x="533400" y="3362325"/>
            <a:chExt cx="3607460" cy="2958465"/>
          </a:xfrm>
        </p:grpSpPr>
        <p:sp>
          <p:nvSpPr>
            <p:cNvPr id="14" name="TextBox 14"/>
            <p:cNvSpPr txBox="1"/>
            <p:nvPr/>
          </p:nvSpPr>
          <p:spPr>
            <a:xfrm>
              <a:off x="552450" y="3381375"/>
              <a:ext cx="2054352" cy="1447800"/>
            </a:xfrm>
            <a:prstGeom prst="rect">
              <a:avLst/>
            </a:prstGeom>
            <a:noFill/>
            <a:ln>
              <a:noFill/>
            </a:ln>
          </p:spPr>
          <p:txBody>
            <a:bodyPr wrap="none" lIns="0" tIns="0" rIns="0" bIns="0" anchor="t" anchorCtr="0">
              <a:spAutoFit/>
            </a:bodyPr>
            <a:lstStyle/>
            <a:p>
              <a:pPr algn="l"/>
              <a:r>
                <a:rPr lang="zh-CN" sz="7500" spc="-150" dirty="0">
                  <a:solidFill>
                    <a:schemeClr val="accent2"/>
                  </a:solidFill>
                  <a:latin typeface="+mj-lt"/>
                  <a:ea typeface="+mj-ea"/>
                  <a:cs typeface="+mj-cs"/>
                </a:rPr>
                <a:t>ZINE</a:t>
              </a:r>
            </a:p>
          </p:txBody>
        </p:sp>
        <p:sp>
          <p:nvSpPr>
            <p:cNvPr id="15" name="TextBox 15"/>
            <p:cNvSpPr txBox="1"/>
            <p:nvPr/>
          </p:nvSpPr>
          <p:spPr>
            <a:xfrm>
              <a:off x="533400" y="3362325"/>
              <a:ext cx="2054352" cy="1447800"/>
            </a:xfrm>
            <a:prstGeom prst="rect">
              <a:avLst/>
            </a:prstGeom>
            <a:noFill/>
            <a:ln>
              <a:noFill/>
            </a:ln>
          </p:spPr>
          <p:txBody>
            <a:bodyPr wrap="none" lIns="0" tIns="0" rIns="0" bIns="0" anchor="t" anchorCtr="0">
              <a:spAutoFit/>
            </a:bodyPr>
            <a:lstStyle/>
            <a:p>
              <a:pPr algn="l"/>
              <a:r>
                <a:rPr lang="zh-CN" sz="7500" spc="-150" dirty="0">
                  <a:solidFill>
                    <a:schemeClr val="accent1"/>
                  </a:solidFill>
                  <a:latin typeface="+mj-lt"/>
                  <a:ea typeface="+mj-ea"/>
                  <a:cs typeface="+mj-cs"/>
                </a:rPr>
                <a:t>ZINE</a:t>
              </a:r>
            </a:p>
          </p:txBody>
        </p:sp>
        <p:sp>
          <p:nvSpPr>
            <p:cNvPr id="16" name="TextBox 16"/>
            <p:cNvSpPr txBox="1"/>
            <p:nvPr/>
          </p:nvSpPr>
          <p:spPr>
            <a:xfrm>
              <a:off x="552450" y="4431030"/>
              <a:ext cx="3588410" cy="1276350"/>
            </a:xfrm>
            <a:prstGeom prst="rect">
              <a:avLst/>
            </a:prstGeom>
            <a:noFill/>
            <a:ln>
              <a:noFill/>
            </a:ln>
          </p:spPr>
          <p:txBody>
            <a:bodyPr wrap="none" lIns="0" tIns="0" rIns="0" bIns="0" anchor="t" anchorCtr="0">
              <a:spAutoFit/>
            </a:bodyPr>
            <a:lstStyle/>
            <a:p>
              <a:pPr algn="l"/>
              <a:r>
                <a:rPr lang="zh-CN" sz="6600" spc="-75" dirty="0">
                  <a:solidFill>
                    <a:schemeClr val="accent2"/>
                  </a:solidFill>
                  <a:latin typeface="+mj-lt"/>
                  <a:ea typeface="+mj-ea"/>
                  <a:cs typeface="+mj-cs"/>
                </a:rPr>
                <a:t>CULTURE</a:t>
              </a:r>
            </a:p>
          </p:txBody>
        </p:sp>
        <p:sp>
          <p:nvSpPr>
            <p:cNvPr id="17" name="TextBox 17"/>
            <p:cNvSpPr txBox="1"/>
            <p:nvPr/>
          </p:nvSpPr>
          <p:spPr>
            <a:xfrm>
              <a:off x="533400" y="4411980"/>
              <a:ext cx="3588410" cy="1276350"/>
            </a:xfrm>
            <a:prstGeom prst="rect">
              <a:avLst/>
            </a:prstGeom>
            <a:noFill/>
            <a:ln>
              <a:noFill/>
            </a:ln>
          </p:spPr>
          <p:txBody>
            <a:bodyPr wrap="none" lIns="0" tIns="0" rIns="0" bIns="0" anchor="t" anchorCtr="0">
              <a:spAutoFit/>
            </a:bodyPr>
            <a:lstStyle/>
            <a:p>
              <a:pPr algn="l"/>
              <a:r>
                <a:rPr lang="zh-CN" sz="6600" spc="-75" dirty="0">
                  <a:solidFill>
                    <a:schemeClr val="dk1"/>
                  </a:solidFill>
                  <a:latin typeface="+mj-lt"/>
                  <a:ea typeface="+mj-ea"/>
                  <a:cs typeface="+mj-cs"/>
                </a:rPr>
                <a:t>CULTURE</a:t>
              </a:r>
            </a:p>
          </p:txBody>
        </p:sp>
        <p:sp>
          <p:nvSpPr>
            <p:cNvPr id="18" name="TextBox 18"/>
            <p:cNvSpPr txBox="1"/>
            <p:nvPr/>
          </p:nvSpPr>
          <p:spPr>
            <a:xfrm>
              <a:off x="552450" y="5387340"/>
              <a:ext cx="1702308" cy="933450"/>
            </a:xfrm>
            <a:prstGeom prst="rect">
              <a:avLst/>
            </a:prstGeom>
            <a:noFill/>
            <a:ln>
              <a:noFill/>
            </a:ln>
          </p:spPr>
          <p:txBody>
            <a:bodyPr wrap="none" lIns="0" tIns="0" rIns="0" bIns="0" anchor="t" anchorCtr="0">
              <a:spAutoFit/>
            </a:bodyPr>
            <a:lstStyle/>
            <a:p>
              <a:pPr algn="l"/>
              <a:r>
                <a:rPr lang="zh-CN" sz="4800" spc="-75" dirty="0">
                  <a:solidFill>
                    <a:schemeClr val="accent2"/>
                  </a:solidFill>
                  <a:latin typeface="+mj-lt"/>
                  <a:ea typeface="+mj-ea"/>
                  <a:cs typeface="+mj-cs"/>
                </a:rPr>
                <a:t>GUIDE</a:t>
              </a:r>
            </a:p>
          </p:txBody>
        </p:sp>
        <p:sp>
          <p:nvSpPr>
            <p:cNvPr id="19" name="TextBox 19"/>
            <p:cNvSpPr txBox="1"/>
            <p:nvPr/>
          </p:nvSpPr>
          <p:spPr>
            <a:xfrm>
              <a:off x="533400" y="5368290"/>
              <a:ext cx="1702308" cy="933450"/>
            </a:xfrm>
            <a:prstGeom prst="rect">
              <a:avLst/>
            </a:prstGeom>
            <a:noFill/>
            <a:ln>
              <a:noFill/>
            </a:ln>
          </p:spPr>
          <p:txBody>
            <a:bodyPr wrap="none" lIns="0" tIns="0" rIns="0" bIns="0" anchor="t" anchorCtr="0">
              <a:spAutoFit/>
            </a:bodyPr>
            <a:lstStyle/>
            <a:p>
              <a:pPr algn="l"/>
              <a:r>
                <a:rPr lang="zh-CN" sz="4800" spc="-75" dirty="0">
                  <a:solidFill>
                    <a:schemeClr val="accent1"/>
                  </a:solidFill>
                  <a:latin typeface="+mj-lt"/>
                  <a:ea typeface="+mj-ea"/>
                  <a:cs typeface="+mj-cs"/>
                </a:rPr>
                <a:t>GUIDE</a:t>
              </a:r>
            </a:p>
          </p:txBody>
        </p:sp>
      </p:grpSp>
      <p:grpSp>
        <p:nvGrpSpPr>
          <p:cNvPr id="30" name="Group 30"/>
          <p:cNvGrpSpPr/>
          <p:nvPr/>
        </p:nvGrpSpPr>
        <p:grpSpPr>
          <a:xfrm>
            <a:off x="8572500" y="2095500"/>
            <a:ext cx="3076575" cy="1933575"/>
            <a:chOff x="8572500" y="2095500"/>
            <a:chExt cx="3076575" cy="1933575"/>
          </a:xfrm>
        </p:grpSpPr>
        <p:sp>
          <p:nvSpPr>
            <p:cNvPr id="21" name="Rectangle 21"/>
            <p:cNvSpPr/>
            <p:nvPr/>
          </p:nvSpPr>
          <p:spPr>
            <a:xfrm>
              <a:off x="8572500" y="2095500"/>
              <a:ext cx="3048000" cy="1905000"/>
            </a:xfrm>
            <a:prstGeom prst="rect">
              <a:avLst/>
            </a:prstGeom>
            <a:solidFill>
              <a:schemeClr val="lt1">
                <a:alpha val="92000"/>
              </a:schemeClr>
            </a:solidFill>
            <a:ln>
              <a:noFill/>
            </a:ln>
          </p:spPr>
        </p:sp>
        <p:sp>
          <p:nvSpPr>
            <p:cNvPr id="22" name="Rectangle 22"/>
            <p:cNvSpPr/>
            <p:nvPr/>
          </p:nvSpPr>
          <p:spPr>
            <a:xfrm>
              <a:off x="8601075" y="2124075"/>
              <a:ext cx="3048000" cy="1905000"/>
            </a:xfrm>
            <a:prstGeom prst="rect">
              <a:avLst/>
            </a:prstGeom>
            <a:solidFill>
              <a:schemeClr val="accent1">
                <a:alpha val="18000"/>
              </a:schemeClr>
            </a:solidFill>
            <a:ln>
              <a:noFill/>
            </a:ln>
          </p:spPr>
        </p:sp>
        <p:sp>
          <p:nvSpPr>
            <p:cNvPr id="23" name="Rectangle 23"/>
            <p:cNvSpPr/>
            <p:nvPr/>
          </p:nvSpPr>
          <p:spPr>
            <a:xfrm>
              <a:off x="8572500" y="2095500"/>
              <a:ext cx="3048000" cy="1905000"/>
            </a:xfrm>
            <a:prstGeom prst="rect">
              <a:avLst/>
            </a:prstGeom>
            <a:solidFill>
              <a:schemeClr val="lt1">
                <a:alpha val="94000"/>
              </a:schemeClr>
            </a:solidFill>
            <a:ln>
              <a:noFill/>
            </a:ln>
          </p:spPr>
        </p:sp>
        <p:sp>
          <p:nvSpPr>
            <p:cNvPr id="24" name="Line 24"/>
            <p:cNvSpPr/>
            <p:nvPr/>
          </p:nvSpPr>
          <p:spPr>
            <a:xfrm>
              <a:off x="8763000" y="2362200"/>
              <a:ext cx="2667000" cy="9525"/>
            </a:xfrm>
            <a:custGeom>
              <a:avLst/>
              <a:gdLst/>
              <a:ahLst/>
              <a:cxnLst/>
              <a:rect l="l" t="t" r="r" b="b"/>
              <a:pathLst>
                <a:path w="2667000" h="9525">
                  <a:moveTo>
                    <a:pt x="0" y="0"/>
                  </a:moveTo>
                  <a:lnTo>
                    <a:pt x="2667000" y="0"/>
                  </a:lnTo>
                </a:path>
              </a:pathLst>
            </a:custGeom>
            <a:noFill/>
            <a:ln w="19050">
              <a:solidFill>
                <a:schemeClr val="accent4"/>
              </a:solidFill>
            </a:ln>
          </p:spPr>
        </p:sp>
        <p:sp>
          <p:nvSpPr>
            <p:cNvPr id="25" name="TextBox 25"/>
            <p:cNvSpPr txBox="1"/>
            <p:nvPr/>
          </p:nvSpPr>
          <p:spPr>
            <a:xfrm>
              <a:off x="8754618" y="2526982"/>
              <a:ext cx="1349502"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mn-lt"/>
                  <a:ea typeface="+mn-ea"/>
                  <a:cs typeface="+mn-cs"/>
                </a:rPr>
                <a:t>一份从一张纸</a:t>
              </a:r>
            </a:p>
          </p:txBody>
        </p:sp>
        <p:sp>
          <p:nvSpPr>
            <p:cNvPr id="26" name="TextBox 26"/>
            <p:cNvSpPr txBox="1"/>
            <p:nvPr/>
          </p:nvSpPr>
          <p:spPr>
            <a:xfrm>
              <a:off x="8754618" y="2831782"/>
              <a:ext cx="1127379"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mn-lt"/>
                  <a:ea typeface="+mn-ea"/>
                  <a:cs typeface="+mn-cs"/>
                </a:rPr>
                <a:t>到一家书店</a:t>
              </a:r>
            </a:p>
          </p:txBody>
        </p:sp>
        <p:sp>
          <p:nvSpPr>
            <p:cNvPr id="27" name="TextBox 27"/>
            <p:cNvSpPr txBox="1"/>
            <p:nvPr/>
          </p:nvSpPr>
          <p:spPr>
            <a:xfrm>
              <a:off x="8754618" y="3136582"/>
              <a:ext cx="1571625"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的独立出版地图</a:t>
              </a:r>
            </a:p>
          </p:txBody>
        </p:sp>
        <p:sp>
          <p:nvSpPr>
            <p:cNvPr id="28" name="Line 28"/>
            <p:cNvSpPr/>
            <p:nvPr/>
          </p:nvSpPr>
          <p:spPr>
            <a:xfrm>
              <a:off x="8763000" y="3600450"/>
              <a:ext cx="2667000" cy="9525"/>
            </a:xfrm>
            <a:custGeom>
              <a:avLst/>
              <a:gdLst/>
              <a:ahLst/>
              <a:cxnLst/>
              <a:rect l="l" t="t" r="r" b="b"/>
              <a:pathLst>
                <a:path w="2667000" h="9525">
                  <a:moveTo>
                    <a:pt x="0" y="0"/>
                  </a:moveTo>
                  <a:lnTo>
                    <a:pt x="2667000" y="0"/>
                  </a:lnTo>
                </a:path>
              </a:pathLst>
            </a:custGeom>
            <a:noFill/>
            <a:ln w="19050">
              <a:solidFill>
                <a:schemeClr val="accent4"/>
              </a:solidFill>
            </a:ln>
          </p:spPr>
        </p:sp>
        <p:sp>
          <p:nvSpPr>
            <p:cNvPr id="29" name="TextBox 29"/>
            <p:cNvSpPr txBox="1"/>
            <p:nvPr/>
          </p:nvSpPr>
          <p:spPr>
            <a:xfrm>
              <a:off x="8758047" y="3742849"/>
              <a:ext cx="2019188" cy="190690"/>
            </a:xfrm>
            <a:prstGeom prst="rect">
              <a:avLst/>
            </a:prstGeom>
            <a:noFill/>
            <a:ln>
              <a:noFill/>
            </a:ln>
          </p:spPr>
          <p:txBody>
            <a:bodyPr wrap="none" lIns="0" tIns="0" rIns="0" bIns="0" anchor="t" anchorCtr="0">
              <a:spAutoFit/>
            </a:bodyPr>
            <a:lstStyle/>
            <a:p>
              <a:pPr algn="l"/>
              <a:r>
                <a:rPr lang="zh-CN" sz="980" spc="150" dirty="0">
                  <a:solidFill>
                    <a:schemeClr val="dk2"/>
                  </a:solidFill>
                  <a:latin typeface="Consolas"/>
                  <a:ea typeface="Consolas"/>
                  <a:cs typeface="Consolas"/>
                </a:rPr>
                <a:t>INDIE BOOKSTORE × ZINE</a:t>
              </a:r>
            </a:p>
          </p:txBody>
        </p:sp>
      </p:grpSp>
      <p:grpSp>
        <p:nvGrpSpPr>
          <p:cNvPr id="34" name="Group 34"/>
          <p:cNvGrpSpPr/>
          <p:nvPr/>
        </p:nvGrpSpPr>
        <p:grpSpPr>
          <a:xfrm>
            <a:off x="566547" y="6334125"/>
            <a:ext cx="11058906" cy="342614"/>
            <a:chOff x="566547" y="6334125"/>
            <a:chExt cx="11058906" cy="342614"/>
          </a:xfrm>
        </p:grpSpPr>
        <p:sp>
          <p:nvSpPr>
            <p:cNvPr id="31" name="Line 31"/>
            <p:cNvSpPr/>
            <p:nvPr/>
          </p:nvSpPr>
          <p:spPr>
            <a:xfrm>
              <a:off x="571500" y="6334125"/>
              <a:ext cx="11049000" cy="9525"/>
            </a:xfrm>
            <a:custGeom>
              <a:avLst/>
              <a:gdLst/>
              <a:ahLst/>
              <a:cxnLst/>
              <a:rect l="l" t="t" r="r" b="b"/>
              <a:pathLst>
                <a:path w="11049000" h="9525">
                  <a:moveTo>
                    <a:pt x="0" y="0"/>
                  </a:moveTo>
                  <a:lnTo>
                    <a:pt x="11049000" y="0"/>
                  </a:lnTo>
                </a:path>
              </a:pathLst>
            </a:custGeom>
            <a:noFill/>
            <a:ln w="19050">
              <a:solidFill>
                <a:schemeClr val="accent4"/>
              </a:solidFill>
            </a:ln>
          </p:spPr>
        </p:sp>
        <p:sp>
          <p:nvSpPr>
            <p:cNvPr id="32" name="TextBox 32"/>
            <p:cNvSpPr txBox="1"/>
            <p:nvPr/>
          </p:nvSpPr>
          <p:spPr>
            <a:xfrm>
              <a:off x="566547" y="6486049"/>
              <a:ext cx="4904384" cy="190690"/>
            </a:xfrm>
            <a:prstGeom prst="rect">
              <a:avLst/>
            </a:prstGeom>
            <a:noFill/>
            <a:ln>
              <a:noFill/>
            </a:ln>
          </p:spPr>
          <p:txBody>
            <a:bodyPr wrap="none" lIns="0" tIns="0" rIns="0" bIns="0" anchor="t" anchorCtr="0">
              <a:spAutoFit/>
            </a:bodyPr>
            <a:lstStyle/>
            <a:p>
              <a:pPr algn="l"/>
              <a:r>
                <a:rPr lang="zh-CN" sz="980" spc="150" dirty="0">
                  <a:solidFill>
                    <a:schemeClr val="dk1"/>
                  </a:solidFill>
                  <a:latin typeface="Consolas"/>
                  <a:ea typeface="Consolas"/>
                  <a:cs typeface="Consolas"/>
                </a:rPr>
                <a:t>PRINTED IN RISOGRAPH NAVY + FLUO PINK · ON CREAM PAPER</a:t>
              </a:r>
            </a:p>
          </p:txBody>
        </p:sp>
        <p:sp>
          <p:nvSpPr>
            <p:cNvPr id="33" name="TextBox 33"/>
            <p:cNvSpPr txBox="1"/>
            <p:nvPr/>
          </p:nvSpPr>
          <p:spPr>
            <a:xfrm>
              <a:off x="9564019" y="6486049"/>
              <a:ext cx="2061434" cy="190690"/>
            </a:xfrm>
            <a:prstGeom prst="rect">
              <a:avLst/>
            </a:prstGeom>
            <a:noFill/>
            <a:ln>
              <a:noFill/>
            </a:ln>
          </p:spPr>
          <p:txBody>
            <a:bodyPr wrap="none" lIns="0" tIns="0" rIns="0" bIns="0" anchor="t" anchorCtr="0">
              <a:spAutoFit/>
            </a:bodyPr>
            <a:lstStyle/>
            <a:p>
              <a:pPr algn="r"/>
              <a:r>
                <a:rPr lang="zh-CN" sz="980" spc="150" dirty="0">
                  <a:solidFill>
                    <a:schemeClr val="dk1"/>
                  </a:solidFill>
                  <a:latin typeface="Consolas"/>
                  <a:ea typeface="Consolas"/>
                  <a:cs typeface="Consolas"/>
                </a:rPr>
                <a:t>EDITION 2026 · 18 PAGES</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childTnLst>
                          </p:cTn>
                        </p:par>
                        <p:par>
                          <p:cTn id="8" fill="hold">
                            <p:stCondLst>
                              <p:cond delay="450"/>
                            </p:stCondLst>
                            <p:childTnLst>
                              <p:par>
                                <p:cTn xmlns:p="http://schemas.openxmlformats.org/presentationml/2006/main" id="9" presetID="1" presetClass="entr" presetSubtype="0" fill="hold" grpId="0" nodeType="afterEffect">
                                  <p:stCondLst>
                                    <p:cond delay="100"/>
                                  </p:stCondLst>
                                  <p:childTnLst>
                                    <p:set>
                                      <p:cBhvr>
                                        <p:cTn id="10" dur="1" fill="hold">
                                          <p:stCondLst>
                                            <p:cond delay="0"/>
                                          </p:stCondLst>
                                        </p:cTn>
                                        <p:tgtEl>
                                          <p:spTgt spid="13"/>
                                        </p:tgtEl>
                                        <p:attrNameLst>
                                          <p:attrName>style.visibility</p:attrName>
                                        </p:attrNameLst>
                                      </p:cBhvr>
                                      <p:to>
                                        <p:strVal val="visible"/>
                                      </p:to>
                                    </p:set>
                                  </p:childTnLst>
                                </p:cTn>
                              </p:par>
                            </p:childTnLst>
                          </p:cTn>
                        </p:par>
                        <p:par>
                          <p:cTn id="11" fill="hold">
                            <p:stCondLst>
                              <p:cond delay="850"/>
                            </p:stCondLst>
                            <p:childTnLst>
                              <p:par>
                                <p:cTn xmlns:p="http://schemas.openxmlformats.org/presentationml/2006/main" id="12" presetID="1" presetClass="entr" presetSubtype="0" fill="hold" grpId="0" nodeType="afterEffect">
                                  <p:stCondLst>
                                    <p:cond delay="200"/>
                                  </p:stCondLst>
                                  <p:childTnLst>
                                    <p:set>
                                      <p:cBhvr>
                                        <p:cTn id="13" dur="1" fill="hold">
                                          <p:stCondLst>
                                            <p:cond delay="0"/>
                                          </p:stCondLst>
                                        </p:cTn>
                                        <p:tgtEl>
                                          <p:spTgt spid="20"/>
                                        </p:tgtEl>
                                        <p:attrNameLst>
                                          <p:attrName>style.visibility</p:attrName>
                                        </p:attrNameLst>
                                      </p:cBhvr>
                                      <p:to>
                                        <p:strVal val="visible"/>
                                      </p:to>
                                    </p:set>
                                  </p:childTnLst>
                                </p:cTn>
                              </p:par>
                            </p:childTnLst>
                          </p:cTn>
                        </p:par>
                        <p:par>
                          <p:cTn id="14" fill="hold">
                            <p:stCondLst>
                              <p:cond delay="1350"/>
                            </p:stCondLst>
                            <p:childTnLst>
                              <p:par>
                                <p:cTn xmlns:p="http://schemas.openxmlformats.org/presentationml/2006/main" id="15" presetID="22" presetClass="entr" presetSubtype="4" fill="hold" grpId="0" nodeType="afterEffect">
                                  <p:stCondLst>
                                    <p:cond delay="200"/>
                                  </p:stCondLst>
                                  <p:childTnLst>
                                    <p:set>
                                      <p:cBhvr>
                                        <p:cTn id="16" dur="1" fill="hold">
                                          <p:stCondLst>
                                            <p:cond delay="0"/>
                                          </p:stCondLst>
                                        </p:cTn>
                                        <p:tgtEl>
                                          <p:spTgt spid="30"/>
                                        </p:tgtEl>
                                        <p:attrNameLst>
                                          <p:attrName>style.visibility</p:attrName>
                                        </p:attrNameLst>
                                      </p:cBhvr>
                                      <p:to>
                                        <p:strVal val="visible"/>
                                      </p:to>
                                    </p:set>
                                    <p:animEffect transition="in" filter="wipe(down)">
                                      <p:cBhvr>
                                        <p:cTn id="17"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pattFill prst="ltUpDiag">
            <a:fgClr>
              <a:schemeClr val="dk1">
                <a:alpha val="12000"/>
              </a:schemeClr>
            </a:fgClr>
            <a:bgClr>
              <a:srgbClr val="FFFFFF"/>
            </a:bgClr>
          </a:pattFill>
          <a:ln>
            <a:noFill/>
          </a:ln>
        </p:spPr>
      </p:sp>
      <p:grpSp>
        <p:nvGrpSpPr>
          <p:cNvPr id="8" name="Group 8"/>
          <p:cNvGrpSpPr/>
          <p:nvPr/>
        </p:nvGrpSpPr>
        <p:grpSpPr>
          <a:xfrm>
            <a:off x="571500" y="512445"/>
            <a:ext cx="4577334" cy="798766"/>
            <a:chOff x="571500" y="512445"/>
            <a:chExt cx="4577334" cy="798766"/>
          </a:xfrm>
        </p:grpSpPr>
        <p:sp>
          <p:nvSpPr>
            <p:cNvPr id="3" name="Rectangle 3"/>
            <p:cNvSpPr/>
            <p:nvPr/>
          </p:nvSpPr>
          <p:spPr>
            <a:xfrm>
              <a:off x="571500" y="533400"/>
              <a:ext cx="133350" cy="647700"/>
            </a:xfrm>
            <a:prstGeom prst="rect">
              <a:avLst/>
            </a:prstGeom>
            <a:solidFill>
              <a:schemeClr val="accent1"/>
            </a:solidFill>
            <a:ln>
              <a:noFill/>
            </a:ln>
          </p:spPr>
        </p:sp>
        <p:sp>
          <p:nvSpPr>
            <p:cNvPr id="4" name="Rectangle 4"/>
            <p:cNvSpPr/>
            <p:nvPr/>
          </p:nvSpPr>
          <p:spPr>
            <a:xfrm>
              <a:off x="600075" y="561975"/>
              <a:ext cx="133350" cy="647700"/>
            </a:xfrm>
            <a:prstGeom prst="rect">
              <a:avLst/>
            </a:prstGeom>
            <a:solidFill>
              <a:schemeClr val="accent2">
                <a:alpha val="70000"/>
              </a:schemeClr>
            </a:solidFill>
            <a:ln>
              <a:noFill/>
            </a:ln>
          </p:spPr>
        </p:sp>
        <p:sp>
          <p:nvSpPr>
            <p:cNvPr id="5" name="Rectangle 5"/>
            <p:cNvSpPr/>
            <p:nvPr/>
          </p:nvSpPr>
          <p:spPr>
            <a:xfrm>
              <a:off x="571500" y="533400"/>
              <a:ext cx="133350" cy="647700"/>
            </a:xfrm>
            <a:prstGeom prst="rect">
              <a:avLst/>
            </a:prstGeom>
            <a:solidFill>
              <a:schemeClr val="accent1"/>
            </a:solidFill>
            <a:ln>
              <a:noFill/>
            </a:ln>
          </p:spPr>
        </p:sp>
        <p:sp>
          <p:nvSpPr>
            <p:cNvPr id="6" name="TextBox 6"/>
            <p:cNvSpPr txBox="1"/>
            <p:nvPr/>
          </p:nvSpPr>
          <p:spPr>
            <a:xfrm>
              <a:off x="857250" y="512445"/>
              <a:ext cx="4209288" cy="762000"/>
            </a:xfrm>
            <a:prstGeom prst="rect">
              <a:avLst/>
            </a:prstGeom>
            <a:noFill/>
            <a:ln>
              <a:noFill/>
            </a:ln>
          </p:spPr>
          <p:txBody>
            <a:bodyPr wrap="none" lIns="0" tIns="0" rIns="0" bIns="0" anchor="t" anchorCtr="0">
              <a:spAutoFit/>
            </a:bodyPr>
            <a:lstStyle/>
            <a:p>
              <a:pPr algn="l"/>
              <a:r>
                <a:rPr lang="zh-CN" sz="3900" spc="-75" dirty="0">
                  <a:solidFill>
                    <a:schemeClr val="dk1"/>
                  </a:solidFill>
                  <a:latin typeface="+mj-lt"/>
                  <a:ea typeface="+mj-ea"/>
                  <a:cs typeface="+mj-cs"/>
                </a:rPr>
                <a:t>CONTENTS / 目录</a:t>
              </a:r>
            </a:p>
          </p:txBody>
        </p:sp>
        <p:sp>
          <p:nvSpPr>
            <p:cNvPr id="7" name="TextBox 7"/>
            <p:cNvSpPr txBox="1"/>
            <p:nvPr/>
          </p:nvSpPr>
          <p:spPr>
            <a:xfrm>
              <a:off x="870966" y="1105852"/>
              <a:ext cx="4277868" cy="205359"/>
            </a:xfrm>
            <a:prstGeom prst="rect">
              <a:avLst/>
            </a:prstGeom>
            <a:noFill/>
            <a:ln>
              <a:noFill/>
            </a:ln>
          </p:spPr>
          <p:txBody>
            <a:bodyPr wrap="none" lIns="0" tIns="0" rIns="0" bIns="0" anchor="t" anchorCtr="0">
              <a:spAutoFit/>
            </a:bodyPr>
            <a:lstStyle/>
            <a:p>
              <a:pPr algn="l"/>
              <a:r>
                <a:rPr lang="zh-CN" sz="1050" spc="225" dirty="0">
                  <a:solidFill>
                    <a:schemeClr val="dk2"/>
                  </a:solidFill>
                  <a:latin typeface="Consolas"/>
                  <a:ea typeface="Consolas"/>
                  <a:cs typeface="Consolas"/>
                </a:rPr>
                <a:t>FIVE PARTS · 18 PAGES · READ IN ANY ORDER</a:t>
              </a:r>
            </a:p>
          </p:txBody>
        </p:sp>
      </p:grpSp>
      <p:sp>
        <p:nvSpPr>
          <p:cNvPr id="9" name="Line 9"/>
          <p:cNvSpPr/>
          <p:nvPr/>
        </p:nvSpPr>
        <p:spPr>
          <a:xfrm>
            <a:off x="571500" y="1447800"/>
            <a:ext cx="11049000" cy="9525"/>
          </a:xfrm>
          <a:custGeom>
            <a:avLst/>
            <a:gdLst/>
            <a:ahLst/>
            <a:cxnLst/>
            <a:rect l="l" t="t" r="r" b="b"/>
            <a:pathLst>
              <a:path w="11049000" h="9525">
                <a:moveTo>
                  <a:pt x="0" y="0"/>
                </a:moveTo>
                <a:lnTo>
                  <a:pt x="11049000" y="0"/>
                </a:lnTo>
              </a:path>
            </a:pathLst>
          </a:custGeom>
          <a:noFill/>
          <a:ln w="28575">
            <a:solidFill>
              <a:schemeClr val="accent4"/>
            </a:solidFill>
          </a:ln>
        </p:spPr>
      </p:sp>
      <p:grpSp>
        <p:nvGrpSpPr>
          <p:cNvPr id="18" name="Group 18"/>
          <p:cNvGrpSpPr/>
          <p:nvPr/>
        </p:nvGrpSpPr>
        <p:grpSpPr>
          <a:xfrm>
            <a:off x="571500" y="1714500"/>
            <a:ext cx="11049000" cy="803529"/>
            <a:chOff x="571500" y="1714500"/>
            <a:chExt cx="11049000" cy="803529"/>
          </a:xfrm>
        </p:grpSpPr>
        <p:sp>
          <p:nvSpPr>
            <p:cNvPr id="10" name="Rectangle 10"/>
            <p:cNvSpPr/>
            <p:nvPr/>
          </p:nvSpPr>
          <p:spPr>
            <a:xfrm>
              <a:off x="571500" y="1714500"/>
              <a:ext cx="723900" cy="723900"/>
            </a:xfrm>
            <a:prstGeom prst="rect">
              <a:avLst/>
            </a:prstGeom>
            <a:solidFill>
              <a:schemeClr val="accent2"/>
            </a:solidFill>
            <a:ln>
              <a:noFill/>
            </a:ln>
          </p:spPr>
        </p:sp>
        <p:sp>
          <p:nvSpPr>
            <p:cNvPr id="11" name="Rectangle 11"/>
            <p:cNvSpPr/>
            <p:nvPr/>
          </p:nvSpPr>
          <p:spPr>
            <a:xfrm>
              <a:off x="600075" y="1743075"/>
              <a:ext cx="723900" cy="723900"/>
            </a:xfrm>
            <a:prstGeom prst="rect">
              <a:avLst/>
            </a:prstGeom>
            <a:solidFill>
              <a:schemeClr val="accent1">
                <a:alpha val="55000"/>
              </a:schemeClr>
            </a:solidFill>
            <a:ln>
              <a:noFill/>
            </a:ln>
          </p:spPr>
        </p:sp>
        <p:sp>
          <p:nvSpPr>
            <p:cNvPr id="12" name="Rectangle 12"/>
            <p:cNvSpPr/>
            <p:nvPr/>
          </p:nvSpPr>
          <p:spPr>
            <a:xfrm>
              <a:off x="571500" y="1714500"/>
              <a:ext cx="723900" cy="723900"/>
            </a:xfrm>
            <a:prstGeom prst="rect">
              <a:avLst/>
            </a:prstGeom>
            <a:solidFill>
              <a:schemeClr val="accent2"/>
            </a:solidFill>
            <a:ln>
              <a:noFill/>
            </a:ln>
          </p:spPr>
        </p:sp>
        <p:sp>
          <p:nvSpPr>
            <p:cNvPr id="13" name="TextBox 13"/>
            <p:cNvSpPr txBox="1"/>
            <p:nvPr/>
          </p:nvSpPr>
          <p:spPr>
            <a:xfrm>
              <a:off x="672351" y="1872615"/>
              <a:ext cx="522199" cy="645414"/>
            </a:xfrm>
            <a:prstGeom prst="rect">
              <a:avLst/>
            </a:prstGeom>
            <a:noFill/>
            <a:ln>
              <a:noFill/>
            </a:ln>
          </p:spPr>
          <p:txBody>
            <a:bodyPr wrap="none" lIns="0" tIns="0" rIns="0" bIns="0" anchor="t" anchorCtr="0">
              <a:spAutoFit/>
            </a:bodyPr>
            <a:lstStyle/>
            <a:p>
              <a:pPr algn="ctr"/>
              <a:r>
                <a:rPr lang="zh-CN" sz="3300" dirty="0">
                  <a:solidFill>
                    <a:srgbClr val="F5EFE0"/>
                  </a:solidFill>
                  <a:latin typeface="+mj-lt"/>
                  <a:ea typeface="+mj-ea"/>
                  <a:cs typeface="+mj-cs"/>
                </a:rPr>
                <a:t>01</a:t>
              </a:r>
            </a:p>
          </p:txBody>
        </p:sp>
        <p:sp>
          <p:nvSpPr>
            <p:cNvPr id="14" name="TextBox 14"/>
            <p:cNvSpPr txBox="1"/>
            <p:nvPr/>
          </p:nvSpPr>
          <p:spPr>
            <a:xfrm>
              <a:off x="1514094" y="1789748"/>
              <a:ext cx="3228960" cy="381381"/>
            </a:xfrm>
            <a:prstGeom prst="rect">
              <a:avLst/>
            </a:prstGeom>
            <a:noFill/>
            <a:ln>
              <a:noFill/>
            </a:ln>
          </p:spPr>
          <p:txBody>
            <a:bodyPr wrap="none" lIns="0" tIns="0" rIns="0" bIns="0" anchor="t" anchorCtr="0">
              <a:spAutoFit/>
            </a:bodyPr>
            <a:lstStyle/>
            <a:p>
              <a:pPr algn="l"/>
              <a:r>
                <a:rPr lang="zh-CN" sz="1950" b="1" dirty="0">
                  <a:solidFill>
                    <a:schemeClr val="dk1"/>
                  </a:solidFill>
                  <a:latin typeface="+mn-lt"/>
                  <a:ea typeface="+mn-ea"/>
                  <a:cs typeface="+mn-cs"/>
                </a:rPr>
                <a:t>ZINE 是什么 + 简史四浪潮</a:t>
              </a:r>
            </a:p>
          </p:txBody>
        </p:sp>
        <p:sp>
          <p:nvSpPr>
            <p:cNvPr id="15" name="TextBox 15"/>
            <p:cNvSpPr txBox="1"/>
            <p:nvPr/>
          </p:nvSpPr>
          <p:spPr>
            <a:xfrm>
              <a:off x="1517904" y="2156460"/>
              <a:ext cx="4020781" cy="234696"/>
            </a:xfrm>
            <a:prstGeom prst="rect">
              <a:avLst/>
            </a:prstGeom>
            <a:noFill/>
            <a:ln>
              <a:noFill/>
            </a:ln>
          </p:spPr>
          <p:txBody>
            <a:bodyPr wrap="none" lIns="0" tIns="0" rIns="0" bIns="0" anchor="t" anchorCtr="0">
              <a:spAutoFit/>
            </a:bodyPr>
            <a:lstStyle/>
            <a:p>
              <a:pPr algn="l"/>
              <a:r>
                <a:rPr lang="zh-CN" sz="1200" dirty="0">
                  <a:solidFill>
                    <a:schemeClr val="dk2"/>
                  </a:solidFill>
                  <a:latin typeface="+mn-lt"/>
                  <a:ea typeface="+mn-ea"/>
                  <a:cs typeface="+mn-cs"/>
                </a:rPr>
                <a:t>从科幻同人志到 Riot Grrrl，一百年里 zine 的四次浪潮</a:t>
              </a:r>
            </a:p>
          </p:txBody>
        </p:sp>
        <p:sp>
          <p:nvSpPr>
            <p:cNvPr id="16" name="Rectangle 16"/>
            <p:cNvSpPr/>
            <p:nvPr/>
          </p:nvSpPr>
          <p:spPr>
            <a:xfrm>
              <a:off x="10096500" y="1847850"/>
              <a:ext cx="1524000" cy="457200"/>
            </a:xfrm>
            <a:prstGeom prst="rect">
              <a:avLst/>
            </a:prstGeom>
            <a:solidFill>
              <a:schemeClr val="accent1"/>
            </a:solidFill>
            <a:ln>
              <a:noFill/>
            </a:ln>
          </p:spPr>
        </p:sp>
        <p:sp>
          <p:nvSpPr>
            <p:cNvPr id="17" name="TextBox 17"/>
            <p:cNvSpPr txBox="1"/>
            <p:nvPr/>
          </p:nvSpPr>
          <p:spPr>
            <a:xfrm>
              <a:off x="10317682" y="2006918"/>
              <a:ext cx="1081636" cy="264033"/>
            </a:xfrm>
            <a:prstGeom prst="rect">
              <a:avLst/>
            </a:prstGeom>
            <a:noFill/>
            <a:ln>
              <a:noFill/>
            </a:ln>
          </p:spPr>
          <p:txBody>
            <a:bodyPr wrap="none" lIns="0" tIns="0" rIns="0" bIns="0" anchor="t" anchorCtr="0">
              <a:spAutoFit/>
            </a:bodyPr>
            <a:lstStyle/>
            <a:p>
              <a:pPr algn="ctr"/>
              <a:r>
                <a:rPr lang="zh-CN" sz="1350" b="1" spc="150" dirty="0">
                  <a:solidFill>
                    <a:srgbClr val="F5EFE0"/>
                  </a:solidFill>
                  <a:latin typeface="Consolas"/>
                  <a:ea typeface="Consolas"/>
                  <a:cs typeface="Consolas"/>
                </a:rPr>
                <a:t>P03 — P04</a:t>
              </a:r>
            </a:p>
          </p:txBody>
        </p:sp>
      </p:grpSp>
      <p:grpSp>
        <p:nvGrpSpPr>
          <p:cNvPr id="27" name="Group 27"/>
          <p:cNvGrpSpPr/>
          <p:nvPr/>
        </p:nvGrpSpPr>
        <p:grpSpPr>
          <a:xfrm>
            <a:off x="571500" y="2667000"/>
            <a:ext cx="11049000" cy="803529"/>
            <a:chOff x="571500" y="2667000"/>
            <a:chExt cx="11049000" cy="803529"/>
          </a:xfrm>
        </p:grpSpPr>
        <p:sp>
          <p:nvSpPr>
            <p:cNvPr id="19" name="Rectangle 19"/>
            <p:cNvSpPr/>
            <p:nvPr/>
          </p:nvSpPr>
          <p:spPr>
            <a:xfrm>
              <a:off x="571500" y="2667000"/>
              <a:ext cx="723900" cy="723900"/>
            </a:xfrm>
            <a:prstGeom prst="rect">
              <a:avLst/>
            </a:prstGeom>
            <a:solidFill>
              <a:schemeClr val="accent1"/>
            </a:solidFill>
            <a:ln>
              <a:noFill/>
            </a:ln>
          </p:spPr>
        </p:sp>
        <p:sp>
          <p:nvSpPr>
            <p:cNvPr id="20" name="Rectangle 20"/>
            <p:cNvSpPr/>
            <p:nvPr/>
          </p:nvSpPr>
          <p:spPr>
            <a:xfrm>
              <a:off x="600075" y="2695575"/>
              <a:ext cx="723900" cy="723900"/>
            </a:xfrm>
            <a:prstGeom prst="rect">
              <a:avLst/>
            </a:prstGeom>
            <a:solidFill>
              <a:schemeClr val="accent2">
                <a:alpha val="55000"/>
              </a:schemeClr>
            </a:solidFill>
            <a:ln>
              <a:noFill/>
            </a:ln>
          </p:spPr>
        </p:sp>
        <p:sp>
          <p:nvSpPr>
            <p:cNvPr id="21" name="Rectangle 21"/>
            <p:cNvSpPr/>
            <p:nvPr/>
          </p:nvSpPr>
          <p:spPr>
            <a:xfrm>
              <a:off x="571500" y="2667000"/>
              <a:ext cx="723900" cy="723900"/>
            </a:xfrm>
            <a:prstGeom prst="rect">
              <a:avLst/>
            </a:prstGeom>
            <a:solidFill>
              <a:schemeClr val="accent1"/>
            </a:solidFill>
            <a:ln>
              <a:noFill/>
            </a:ln>
          </p:spPr>
        </p:sp>
        <p:sp>
          <p:nvSpPr>
            <p:cNvPr id="22" name="TextBox 22"/>
            <p:cNvSpPr txBox="1"/>
            <p:nvPr/>
          </p:nvSpPr>
          <p:spPr>
            <a:xfrm>
              <a:off x="672351" y="2825115"/>
              <a:ext cx="522199" cy="645414"/>
            </a:xfrm>
            <a:prstGeom prst="rect">
              <a:avLst/>
            </a:prstGeom>
            <a:noFill/>
            <a:ln>
              <a:noFill/>
            </a:ln>
          </p:spPr>
          <p:txBody>
            <a:bodyPr wrap="none" lIns="0" tIns="0" rIns="0" bIns="0" anchor="t" anchorCtr="0">
              <a:spAutoFit/>
            </a:bodyPr>
            <a:lstStyle/>
            <a:p>
              <a:pPr algn="ctr"/>
              <a:r>
                <a:rPr lang="zh-CN" sz="3300" dirty="0">
                  <a:solidFill>
                    <a:srgbClr val="F5EFE0"/>
                  </a:solidFill>
                  <a:latin typeface="+mj-lt"/>
                  <a:ea typeface="+mj-ea"/>
                  <a:cs typeface="+mj-cs"/>
                </a:rPr>
                <a:t>02</a:t>
              </a:r>
            </a:p>
          </p:txBody>
        </p:sp>
        <p:sp>
          <p:nvSpPr>
            <p:cNvPr id="23" name="TextBox 23"/>
            <p:cNvSpPr txBox="1"/>
            <p:nvPr/>
          </p:nvSpPr>
          <p:spPr>
            <a:xfrm>
              <a:off x="1514094" y="2742248"/>
              <a:ext cx="4250196" cy="381381"/>
            </a:xfrm>
            <a:prstGeom prst="rect">
              <a:avLst/>
            </a:prstGeom>
            <a:noFill/>
            <a:ln>
              <a:noFill/>
            </a:ln>
          </p:spPr>
          <p:txBody>
            <a:bodyPr wrap="none" lIns="0" tIns="0" rIns="0" bIns="0" anchor="t" anchorCtr="0">
              <a:spAutoFit/>
            </a:bodyPr>
            <a:lstStyle/>
            <a:p>
              <a:pPr algn="l"/>
              <a:r>
                <a:rPr lang="zh-CN" sz="1950" b="1" dirty="0">
                  <a:solidFill>
                    <a:schemeClr val="dk1"/>
                  </a:solidFill>
                  <a:latin typeface="+mn-lt"/>
                  <a:ea typeface="+mn-ea"/>
                  <a:cs typeface="+mn-cs"/>
                </a:rPr>
                <a:t>RISOGRAPH：zine 工艺的灵魂载体</a:t>
              </a:r>
            </a:p>
          </p:txBody>
        </p:sp>
        <p:sp>
          <p:nvSpPr>
            <p:cNvPr id="24" name="TextBox 24"/>
            <p:cNvSpPr txBox="1"/>
            <p:nvPr/>
          </p:nvSpPr>
          <p:spPr>
            <a:xfrm>
              <a:off x="1517904" y="3108960"/>
              <a:ext cx="4486961" cy="234696"/>
            </a:xfrm>
            <a:prstGeom prst="rect">
              <a:avLst/>
            </a:prstGeom>
            <a:noFill/>
            <a:ln>
              <a:noFill/>
            </a:ln>
          </p:spPr>
          <p:txBody>
            <a:bodyPr wrap="none" lIns="0" tIns="0" rIns="0" bIns="0" anchor="t" anchorCtr="0">
              <a:spAutoFit/>
            </a:bodyPr>
            <a:lstStyle/>
            <a:p>
              <a:pPr algn="l"/>
              <a:r>
                <a:rPr lang="zh-CN" sz="1200" dirty="0">
                  <a:solidFill>
                    <a:schemeClr val="dk2"/>
                  </a:solidFill>
                  <a:latin typeface="+mn-lt"/>
                  <a:ea typeface="+mn-ea"/>
                  <a:cs typeface="+mn-cs"/>
                </a:rPr>
                <a:t>套色错位、半色调、限定色 —— 让一台日本复印机变成艺术工具</a:t>
              </a:r>
            </a:p>
          </p:txBody>
        </p:sp>
        <p:sp>
          <p:nvSpPr>
            <p:cNvPr id="25" name="Rectangle 25"/>
            <p:cNvSpPr/>
            <p:nvPr/>
          </p:nvSpPr>
          <p:spPr>
            <a:xfrm>
              <a:off x="10096500" y="2800350"/>
              <a:ext cx="1524000" cy="457200"/>
            </a:xfrm>
            <a:prstGeom prst="rect">
              <a:avLst/>
            </a:prstGeom>
            <a:solidFill>
              <a:schemeClr val="accent1"/>
            </a:solidFill>
            <a:ln>
              <a:noFill/>
            </a:ln>
          </p:spPr>
        </p:sp>
        <p:sp>
          <p:nvSpPr>
            <p:cNvPr id="26" name="TextBox 26"/>
            <p:cNvSpPr txBox="1"/>
            <p:nvPr/>
          </p:nvSpPr>
          <p:spPr>
            <a:xfrm>
              <a:off x="10317682" y="2959418"/>
              <a:ext cx="1081636" cy="264033"/>
            </a:xfrm>
            <a:prstGeom prst="rect">
              <a:avLst/>
            </a:prstGeom>
            <a:noFill/>
            <a:ln>
              <a:noFill/>
            </a:ln>
          </p:spPr>
          <p:txBody>
            <a:bodyPr wrap="none" lIns="0" tIns="0" rIns="0" bIns="0" anchor="t" anchorCtr="0">
              <a:spAutoFit/>
            </a:bodyPr>
            <a:lstStyle/>
            <a:p>
              <a:pPr algn="ctr"/>
              <a:r>
                <a:rPr lang="zh-CN" sz="1350" b="1" spc="150" dirty="0">
                  <a:solidFill>
                    <a:srgbClr val="F5EFE0"/>
                  </a:solidFill>
                  <a:latin typeface="Consolas"/>
                  <a:ea typeface="Consolas"/>
                  <a:cs typeface="Consolas"/>
                </a:rPr>
                <a:t>P05 — P06</a:t>
              </a:r>
            </a:p>
          </p:txBody>
        </p:sp>
      </p:grpSp>
      <p:grpSp>
        <p:nvGrpSpPr>
          <p:cNvPr id="36" name="Group 36"/>
          <p:cNvGrpSpPr/>
          <p:nvPr/>
        </p:nvGrpSpPr>
        <p:grpSpPr>
          <a:xfrm>
            <a:off x="571500" y="3619500"/>
            <a:ext cx="11049000" cy="803529"/>
            <a:chOff x="571500" y="3619500"/>
            <a:chExt cx="11049000" cy="803529"/>
          </a:xfrm>
        </p:grpSpPr>
        <p:sp>
          <p:nvSpPr>
            <p:cNvPr id="28" name="Rectangle 28"/>
            <p:cNvSpPr/>
            <p:nvPr/>
          </p:nvSpPr>
          <p:spPr>
            <a:xfrm>
              <a:off x="571500" y="3619500"/>
              <a:ext cx="723900" cy="723900"/>
            </a:xfrm>
            <a:prstGeom prst="rect">
              <a:avLst/>
            </a:prstGeom>
            <a:solidFill>
              <a:schemeClr val="accent3"/>
            </a:solidFill>
            <a:ln>
              <a:noFill/>
            </a:ln>
          </p:spPr>
        </p:sp>
        <p:sp>
          <p:nvSpPr>
            <p:cNvPr id="29" name="Rectangle 29"/>
            <p:cNvSpPr/>
            <p:nvPr/>
          </p:nvSpPr>
          <p:spPr>
            <a:xfrm>
              <a:off x="600075" y="3648075"/>
              <a:ext cx="723900" cy="723900"/>
            </a:xfrm>
            <a:prstGeom prst="rect">
              <a:avLst/>
            </a:prstGeom>
            <a:solidFill>
              <a:schemeClr val="accent1">
                <a:alpha val="55000"/>
              </a:schemeClr>
            </a:solidFill>
            <a:ln>
              <a:noFill/>
            </a:ln>
          </p:spPr>
        </p:sp>
        <p:sp>
          <p:nvSpPr>
            <p:cNvPr id="30" name="Rectangle 30"/>
            <p:cNvSpPr/>
            <p:nvPr/>
          </p:nvSpPr>
          <p:spPr>
            <a:xfrm>
              <a:off x="571500" y="3619500"/>
              <a:ext cx="723900" cy="723900"/>
            </a:xfrm>
            <a:prstGeom prst="rect">
              <a:avLst/>
            </a:prstGeom>
            <a:solidFill>
              <a:schemeClr val="accent3"/>
            </a:solidFill>
            <a:ln>
              <a:noFill/>
            </a:ln>
          </p:spPr>
        </p:sp>
        <p:sp>
          <p:nvSpPr>
            <p:cNvPr id="31" name="TextBox 31"/>
            <p:cNvSpPr txBox="1"/>
            <p:nvPr/>
          </p:nvSpPr>
          <p:spPr>
            <a:xfrm>
              <a:off x="672351" y="3777615"/>
              <a:ext cx="522199" cy="645414"/>
            </a:xfrm>
            <a:prstGeom prst="rect">
              <a:avLst/>
            </a:prstGeom>
            <a:noFill/>
            <a:ln>
              <a:noFill/>
            </a:ln>
          </p:spPr>
          <p:txBody>
            <a:bodyPr wrap="none" lIns="0" tIns="0" rIns="0" bIns="0" anchor="t" anchorCtr="0">
              <a:spAutoFit/>
            </a:bodyPr>
            <a:lstStyle/>
            <a:p>
              <a:pPr algn="ctr"/>
              <a:r>
                <a:rPr lang="zh-CN" sz="3300" dirty="0">
                  <a:solidFill>
                    <a:srgbClr val="F5EFE0"/>
                  </a:solidFill>
                  <a:latin typeface="+mj-lt"/>
                  <a:ea typeface="+mj-ea"/>
                  <a:cs typeface="+mj-cs"/>
                </a:rPr>
                <a:t>03</a:t>
              </a:r>
            </a:p>
          </p:txBody>
        </p:sp>
        <p:sp>
          <p:nvSpPr>
            <p:cNvPr id="32" name="TextBox 32"/>
            <p:cNvSpPr txBox="1"/>
            <p:nvPr/>
          </p:nvSpPr>
          <p:spPr>
            <a:xfrm>
              <a:off x="1514094" y="3694748"/>
              <a:ext cx="2616670" cy="381381"/>
            </a:xfrm>
            <a:prstGeom prst="rect">
              <a:avLst/>
            </a:prstGeom>
            <a:noFill/>
            <a:ln>
              <a:noFill/>
            </a:ln>
          </p:spPr>
          <p:txBody>
            <a:bodyPr wrap="none" lIns="0" tIns="0" rIns="0" bIns="0" anchor="t" anchorCtr="0">
              <a:spAutoFit/>
            </a:bodyPr>
            <a:lstStyle/>
            <a:p>
              <a:pPr algn="l"/>
              <a:r>
                <a:rPr lang="zh-CN" sz="1950" b="1" dirty="0">
                  <a:solidFill>
                    <a:schemeClr val="dk1"/>
                  </a:solidFill>
                  <a:latin typeface="+mn-lt"/>
                  <a:ea typeface="+mn-ea"/>
                  <a:cs typeface="+mn-cs"/>
                </a:rPr>
                <a:t>怎么自己做一本 ZINE</a:t>
              </a:r>
            </a:p>
          </p:txBody>
        </p:sp>
        <p:sp>
          <p:nvSpPr>
            <p:cNvPr id="33" name="TextBox 33"/>
            <p:cNvSpPr txBox="1"/>
            <p:nvPr/>
          </p:nvSpPr>
          <p:spPr>
            <a:xfrm>
              <a:off x="1517904" y="4061460"/>
              <a:ext cx="3349142" cy="234696"/>
            </a:xfrm>
            <a:prstGeom prst="rect">
              <a:avLst/>
            </a:prstGeom>
            <a:noFill/>
            <a:ln>
              <a:noFill/>
            </a:ln>
          </p:spPr>
          <p:txBody>
            <a:bodyPr wrap="none" lIns="0" tIns="0" rIns="0" bIns="0" anchor="t" anchorCtr="0">
              <a:spAutoFit/>
            </a:bodyPr>
            <a:lstStyle/>
            <a:p>
              <a:pPr algn="l"/>
              <a:r>
                <a:rPr lang="zh-CN" sz="1200" dirty="0">
                  <a:solidFill>
                    <a:schemeClr val="dk2"/>
                  </a:solidFill>
                  <a:latin typeface="+mn-lt"/>
                  <a:ea typeface="+mn-ea"/>
                  <a:cs typeface="+mn-cs"/>
                </a:rPr>
                <a:t>八页折叠法 + 内容类型清单 —— 一张 A4 就够</a:t>
              </a:r>
            </a:p>
          </p:txBody>
        </p:sp>
        <p:sp>
          <p:nvSpPr>
            <p:cNvPr id="34" name="Rectangle 34"/>
            <p:cNvSpPr/>
            <p:nvPr/>
          </p:nvSpPr>
          <p:spPr>
            <a:xfrm>
              <a:off x="10096500" y="3752850"/>
              <a:ext cx="1524000" cy="457200"/>
            </a:xfrm>
            <a:prstGeom prst="rect">
              <a:avLst/>
            </a:prstGeom>
            <a:solidFill>
              <a:schemeClr val="accent1"/>
            </a:solidFill>
            <a:ln>
              <a:noFill/>
            </a:ln>
          </p:spPr>
        </p:sp>
        <p:sp>
          <p:nvSpPr>
            <p:cNvPr id="35" name="TextBox 35"/>
            <p:cNvSpPr txBox="1"/>
            <p:nvPr/>
          </p:nvSpPr>
          <p:spPr>
            <a:xfrm>
              <a:off x="10317682" y="3911918"/>
              <a:ext cx="1081636" cy="264033"/>
            </a:xfrm>
            <a:prstGeom prst="rect">
              <a:avLst/>
            </a:prstGeom>
            <a:noFill/>
            <a:ln>
              <a:noFill/>
            </a:ln>
          </p:spPr>
          <p:txBody>
            <a:bodyPr wrap="none" lIns="0" tIns="0" rIns="0" bIns="0" anchor="t" anchorCtr="0">
              <a:spAutoFit/>
            </a:bodyPr>
            <a:lstStyle/>
            <a:p>
              <a:pPr algn="ctr"/>
              <a:r>
                <a:rPr lang="zh-CN" sz="1350" b="1" spc="150" dirty="0">
                  <a:solidFill>
                    <a:srgbClr val="F5EFE0"/>
                  </a:solidFill>
                  <a:latin typeface="Consolas"/>
                  <a:ea typeface="Consolas"/>
                  <a:cs typeface="Consolas"/>
                </a:rPr>
                <a:t>P07 — P08</a:t>
              </a:r>
            </a:p>
          </p:txBody>
        </p:sp>
      </p:grpSp>
      <p:grpSp>
        <p:nvGrpSpPr>
          <p:cNvPr id="45" name="Group 45"/>
          <p:cNvGrpSpPr/>
          <p:nvPr/>
        </p:nvGrpSpPr>
        <p:grpSpPr>
          <a:xfrm>
            <a:off x="571500" y="4572000"/>
            <a:ext cx="11049000" cy="803529"/>
            <a:chOff x="571500" y="4572000"/>
            <a:chExt cx="11049000" cy="803529"/>
          </a:xfrm>
        </p:grpSpPr>
        <p:sp>
          <p:nvSpPr>
            <p:cNvPr id="37" name="Rectangle 37"/>
            <p:cNvSpPr/>
            <p:nvPr/>
          </p:nvSpPr>
          <p:spPr>
            <a:xfrm>
              <a:off x="571500" y="4572000"/>
              <a:ext cx="723900" cy="723900"/>
            </a:xfrm>
            <a:prstGeom prst="rect">
              <a:avLst/>
            </a:prstGeom>
            <a:solidFill>
              <a:schemeClr val="accent1"/>
            </a:solidFill>
            <a:ln>
              <a:noFill/>
            </a:ln>
          </p:spPr>
        </p:sp>
        <p:sp>
          <p:nvSpPr>
            <p:cNvPr id="38" name="Rectangle 38"/>
            <p:cNvSpPr/>
            <p:nvPr/>
          </p:nvSpPr>
          <p:spPr>
            <a:xfrm>
              <a:off x="600075" y="4600575"/>
              <a:ext cx="723900" cy="723900"/>
            </a:xfrm>
            <a:prstGeom prst="rect">
              <a:avLst/>
            </a:prstGeom>
            <a:solidFill>
              <a:schemeClr val="accent2">
                <a:alpha val="55000"/>
              </a:schemeClr>
            </a:solidFill>
            <a:ln>
              <a:noFill/>
            </a:ln>
          </p:spPr>
        </p:sp>
        <p:sp>
          <p:nvSpPr>
            <p:cNvPr id="39" name="Rectangle 39"/>
            <p:cNvSpPr/>
            <p:nvPr/>
          </p:nvSpPr>
          <p:spPr>
            <a:xfrm>
              <a:off x="571500" y="4572000"/>
              <a:ext cx="723900" cy="723900"/>
            </a:xfrm>
            <a:prstGeom prst="rect">
              <a:avLst/>
            </a:prstGeom>
            <a:solidFill>
              <a:schemeClr val="accent1"/>
            </a:solidFill>
            <a:ln>
              <a:noFill/>
            </a:ln>
          </p:spPr>
        </p:sp>
        <p:sp>
          <p:nvSpPr>
            <p:cNvPr id="40" name="TextBox 40"/>
            <p:cNvSpPr txBox="1"/>
            <p:nvPr/>
          </p:nvSpPr>
          <p:spPr>
            <a:xfrm>
              <a:off x="672351" y="4730115"/>
              <a:ext cx="522199" cy="645414"/>
            </a:xfrm>
            <a:prstGeom prst="rect">
              <a:avLst/>
            </a:prstGeom>
            <a:noFill/>
            <a:ln>
              <a:noFill/>
            </a:ln>
          </p:spPr>
          <p:txBody>
            <a:bodyPr wrap="none" lIns="0" tIns="0" rIns="0" bIns="0" anchor="t" anchorCtr="0">
              <a:spAutoFit/>
            </a:bodyPr>
            <a:lstStyle/>
            <a:p>
              <a:pPr algn="ctr"/>
              <a:r>
                <a:rPr lang="zh-CN" sz="3300" dirty="0">
                  <a:solidFill>
                    <a:srgbClr val="F5EFE0"/>
                  </a:solidFill>
                  <a:latin typeface="+mj-lt"/>
                  <a:ea typeface="+mj-ea"/>
                  <a:cs typeface="+mj-cs"/>
                </a:rPr>
                <a:t>04</a:t>
              </a:r>
            </a:p>
          </p:txBody>
        </p:sp>
        <p:sp>
          <p:nvSpPr>
            <p:cNvPr id="41" name="TextBox 41"/>
            <p:cNvSpPr txBox="1"/>
            <p:nvPr/>
          </p:nvSpPr>
          <p:spPr>
            <a:xfrm>
              <a:off x="1514094" y="4647248"/>
              <a:ext cx="2961882" cy="381381"/>
            </a:xfrm>
            <a:prstGeom prst="rect">
              <a:avLst/>
            </a:prstGeom>
            <a:noFill/>
            <a:ln>
              <a:noFill/>
            </a:ln>
          </p:spPr>
          <p:txBody>
            <a:bodyPr wrap="none" lIns="0" tIns="0" rIns="0" bIns="0" anchor="t" anchorCtr="0">
              <a:spAutoFit/>
            </a:bodyPr>
            <a:lstStyle/>
            <a:p>
              <a:pPr algn="l"/>
              <a:r>
                <a:rPr lang="zh-CN" sz="1950" b="1" dirty="0">
                  <a:solidFill>
                    <a:schemeClr val="dk1"/>
                  </a:solidFill>
                  <a:latin typeface="+mn-lt"/>
                  <a:ea typeface="+mn-ea"/>
                  <a:cs typeface="+mn-cs"/>
                </a:rPr>
                <a:t>全球 + 中国独立书店地图</a:t>
              </a:r>
            </a:p>
          </p:txBody>
        </p:sp>
        <p:sp>
          <p:nvSpPr>
            <p:cNvPr id="42" name="TextBox 42"/>
            <p:cNvSpPr txBox="1"/>
            <p:nvPr/>
          </p:nvSpPr>
          <p:spPr>
            <a:xfrm>
              <a:off x="1517904" y="5013960"/>
              <a:ext cx="5218661" cy="234696"/>
            </a:xfrm>
            <a:prstGeom prst="rect">
              <a:avLst/>
            </a:prstGeom>
            <a:noFill/>
            <a:ln>
              <a:noFill/>
            </a:ln>
          </p:spPr>
          <p:txBody>
            <a:bodyPr wrap="none" lIns="0" tIns="0" rIns="0" bIns="0" anchor="t" anchorCtr="0">
              <a:spAutoFit/>
            </a:bodyPr>
            <a:lstStyle/>
            <a:p>
              <a:pPr algn="l"/>
              <a:r>
                <a:rPr lang="zh-CN" sz="1200" dirty="0">
                  <a:solidFill>
                    <a:schemeClr val="dk2"/>
                  </a:solidFill>
                  <a:latin typeface="+mn-lt"/>
                  <a:ea typeface="+mn-ea"/>
                  <a:cs typeface="+mn-cs"/>
                </a:rPr>
                <a:t>神保町 / Shakespeare &amp; Co / 香蕉鱼 / 假杂志 + abC × UNFOLD 双书展</a:t>
              </a:r>
            </a:p>
          </p:txBody>
        </p:sp>
        <p:sp>
          <p:nvSpPr>
            <p:cNvPr id="43" name="Rectangle 43"/>
            <p:cNvSpPr/>
            <p:nvPr/>
          </p:nvSpPr>
          <p:spPr>
            <a:xfrm>
              <a:off x="10096500" y="4705350"/>
              <a:ext cx="1524000" cy="457200"/>
            </a:xfrm>
            <a:prstGeom prst="rect">
              <a:avLst/>
            </a:prstGeom>
            <a:solidFill>
              <a:schemeClr val="accent1"/>
            </a:solidFill>
            <a:ln>
              <a:noFill/>
            </a:ln>
          </p:spPr>
        </p:sp>
        <p:sp>
          <p:nvSpPr>
            <p:cNvPr id="44" name="TextBox 44"/>
            <p:cNvSpPr txBox="1"/>
            <p:nvPr/>
          </p:nvSpPr>
          <p:spPr>
            <a:xfrm>
              <a:off x="10317682" y="4864418"/>
              <a:ext cx="1081636" cy="264033"/>
            </a:xfrm>
            <a:prstGeom prst="rect">
              <a:avLst/>
            </a:prstGeom>
            <a:noFill/>
            <a:ln>
              <a:noFill/>
            </a:ln>
          </p:spPr>
          <p:txBody>
            <a:bodyPr wrap="none" lIns="0" tIns="0" rIns="0" bIns="0" anchor="t" anchorCtr="0">
              <a:spAutoFit/>
            </a:bodyPr>
            <a:lstStyle/>
            <a:p>
              <a:pPr algn="ctr"/>
              <a:r>
                <a:rPr lang="zh-CN" sz="1350" b="1" spc="150" dirty="0">
                  <a:solidFill>
                    <a:srgbClr val="F5EFE0"/>
                  </a:solidFill>
                  <a:latin typeface="Consolas"/>
                  <a:ea typeface="Consolas"/>
                  <a:cs typeface="Consolas"/>
                </a:rPr>
                <a:t>P09 — P13</a:t>
              </a:r>
            </a:p>
          </p:txBody>
        </p:sp>
      </p:grpSp>
      <p:grpSp>
        <p:nvGrpSpPr>
          <p:cNvPr id="54" name="Group 54"/>
          <p:cNvGrpSpPr/>
          <p:nvPr/>
        </p:nvGrpSpPr>
        <p:grpSpPr>
          <a:xfrm>
            <a:off x="571500" y="5524500"/>
            <a:ext cx="11049000" cy="803529"/>
            <a:chOff x="571500" y="5524500"/>
            <a:chExt cx="11049000" cy="803529"/>
          </a:xfrm>
        </p:grpSpPr>
        <p:sp>
          <p:nvSpPr>
            <p:cNvPr id="46" name="Rectangle 46"/>
            <p:cNvSpPr/>
            <p:nvPr/>
          </p:nvSpPr>
          <p:spPr>
            <a:xfrm>
              <a:off x="571500" y="5524500"/>
              <a:ext cx="723900" cy="723900"/>
            </a:xfrm>
            <a:prstGeom prst="rect">
              <a:avLst/>
            </a:prstGeom>
            <a:solidFill>
              <a:schemeClr val="accent2"/>
            </a:solidFill>
            <a:ln>
              <a:noFill/>
            </a:ln>
          </p:spPr>
        </p:sp>
        <p:sp>
          <p:nvSpPr>
            <p:cNvPr id="47" name="Rectangle 47"/>
            <p:cNvSpPr/>
            <p:nvPr/>
          </p:nvSpPr>
          <p:spPr>
            <a:xfrm>
              <a:off x="600075" y="5553075"/>
              <a:ext cx="723900" cy="723900"/>
            </a:xfrm>
            <a:prstGeom prst="rect">
              <a:avLst/>
            </a:prstGeom>
            <a:solidFill>
              <a:schemeClr val="accent1">
                <a:alpha val="55000"/>
              </a:schemeClr>
            </a:solidFill>
            <a:ln>
              <a:noFill/>
            </a:ln>
          </p:spPr>
        </p:sp>
        <p:sp>
          <p:nvSpPr>
            <p:cNvPr id="48" name="Rectangle 48"/>
            <p:cNvSpPr/>
            <p:nvPr/>
          </p:nvSpPr>
          <p:spPr>
            <a:xfrm>
              <a:off x="571500" y="5524500"/>
              <a:ext cx="723900" cy="723900"/>
            </a:xfrm>
            <a:prstGeom prst="rect">
              <a:avLst/>
            </a:prstGeom>
            <a:solidFill>
              <a:schemeClr val="accent2"/>
            </a:solidFill>
            <a:ln>
              <a:noFill/>
            </a:ln>
          </p:spPr>
        </p:sp>
        <p:sp>
          <p:nvSpPr>
            <p:cNvPr id="49" name="TextBox 49"/>
            <p:cNvSpPr txBox="1"/>
            <p:nvPr/>
          </p:nvSpPr>
          <p:spPr>
            <a:xfrm>
              <a:off x="672351" y="5682615"/>
              <a:ext cx="522199" cy="645414"/>
            </a:xfrm>
            <a:prstGeom prst="rect">
              <a:avLst/>
            </a:prstGeom>
            <a:noFill/>
            <a:ln>
              <a:noFill/>
            </a:ln>
          </p:spPr>
          <p:txBody>
            <a:bodyPr wrap="none" lIns="0" tIns="0" rIns="0" bIns="0" anchor="t" anchorCtr="0">
              <a:spAutoFit/>
            </a:bodyPr>
            <a:lstStyle/>
            <a:p>
              <a:pPr algn="ctr"/>
              <a:r>
                <a:rPr lang="zh-CN" sz="3300" dirty="0">
                  <a:solidFill>
                    <a:srgbClr val="F5EFE0"/>
                  </a:solidFill>
                  <a:latin typeface="+mj-lt"/>
                  <a:ea typeface="+mj-ea"/>
                  <a:cs typeface="+mj-cs"/>
                </a:rPr>
                <a:t>05</a:t>
              </a:r>
            </a:p>
          </p:txBody>
        </p:sp>
        <p:sp>
          <p:nvSpPr>
            <p:cNvPr id="50" name="TextBox 50"/>
            <p:cNvSpPr txBox="1"/>
            <p:nvPr/>
          </p:nvSpPr>
          <p:spPr>
            <a:xfrm>
              <a:off x="1514094" y="5599748"/>
              <a:ext cx="3541370" cy="381381"/>
            </a:xfrm>
            <a:prstGeom prst="rect">
              <a:avLst/>
            </a:prstGeom>
            <a:noFill/>
            <a:ln>
              <a:noFill/>
            </a:ln>
          </p:spPr>
          <p:txBody>
            <a:bodyPr wrap="none" lIns="0" tIns="0" rIns="0" bIns="0" anchor="t" anchorCtr="0">
              <a:spAutoFit/>
            </a:bodyPr>
            <a:lstStyle/>
            <a:p>
              <a:pPr algn="l"/>
              <a:r>
                <a:rPr lang="zh-CN" sz="1950" b="1" dirty="0">
                  <a:solidFill>
                    <a:schemeClr val="dk1"/>
                  </a:solidFill>
                  <a:latin typeface="+mn-lt"/>
                  <a:ea typeface="+mn-ea"/>
                  <a:cs typeface="+mn-cs"/>
                </a:rPr>
                <a:t>怎么逛 / 怎么收藏 / 行动清单</a:t>
              </a:r>
            </a:p>
          </p:txBody>
        </p:sp>
        <p:sp>
          <p:nvSpPr>
            <p:cNvPr id="51" name="TextBox 51"/>
            <p:cNvSpPr txBox="1"/>
            <p:nvPr/>
          </p:nvSpPr>
          <p:spPr>
            <a:xfrm>
              <a:off x="1517904" y="5966460"/>
              <a:ext cx="3194609" cy="234696"/>
            </a:xfrm>
            <a:prstGeom prst="rect">
              <a:avLst/>
            </a:prstGeom>
            <a:noFill/>
            <a:ln>
              <a:noFill/>
            </a:ln>
          </p:spPr>
          <p:txBody>
            <a:bodyPr wrap="none" lIns="0" tIns="0" rIns="0" bIns="0" anchor="t" anchorCtr="0">
              <a:spAutoFit/>
            </a:bodyPr>
            <a:lstStyle/>
            <a:p>
              <a:pPr algn="l"/>
              <a:r>
                <a:rPr lang="zh-CN" sz="1200" dirty="0">
                  <a:solidFill>
                    <a:schemeClr val="dk2"/>
                  </a:solidFill>
                  <a:latin typeface="+mn-lt"/>
                  <a:ea typeface="+mn-ea"/>
                  <a:cs typeface="+mn-cs"/>
                </a:rPr>
                <a:t>从读者到作者，你的第一本 zine 在 4 步之外</a:t>
              </a:r>
            </a:p>
          </p:txBody>
        </p:sp>
        <p:sp>
          <p:nvSpPr>
            <p:cNvPr id="52" name="Rectangle 52"/>
            <p:cNvSpPr/>
            <p:nvPr/>
          </p:nvSpPr>
          <p:spPr>
            <a:xfrm>
              <a:off x="10096500" y="5657850"/>
              <a:ext cx="1524000" cy="457200"/>
            </a:xfrm>
            <a:prstGeom prst="rect">
              <a:avLst/>
            </a:prstGeom>
            <a:solidFill>
              <a:schemeClr val="accent1"/>
            </a:solidFill>
            <a:ln>
              <a:noFill/>
            </a:ln>
          </p:spPr>
        </p:sp>
        <p:sp>
          <p:nvSpPr>
            <p:cNvPr id="53" name="TextBox 53"/>
            <p:cNvSpPr txBox="1"/>
            <p:nvPr/>
          </p:nvSpPr>
          <p:spPr>
            <a:xfrm>
              <a:off x="10317682" y="5816918"/>
              <a:ext cx="1081636" cy="264033"/>
            </a:xfrm>
            <a:prstGeom prst="rect">
              <a:avLst/>
            </a:prstGeom>
            <a:noFill/>
            <a:ln>
              <a:noFill/>
            </a:ln>
          </p:spPr>
          <p:txBody>
            <a:bodyPr wrap="none" lIns="0" tIns="0" rIns="0" bIns="0" anchor="t" anchorCtr="0">
              <a:spAutoFit/>
            </a:bodyPr>
            <a:lstStyle/>
            <a:p>
              <a:pPr algn="ctr"/>
              <a:r>
                <a:rPr lang="zh-CN" sz="1350" b="1" spc="150" dirty="0">
                  <a:solidFill>
                    <a:srgbClr val="F5EFE0"/>
                  </a:solidFill>
                  <a:latin typeface="Consolas"/>
                  <a:ea typeface="Consolas"/>
                  <a:cs typeface="Consolas"/>
                </a:rPr>
                <a:t>P14 — P18</a:t>
              </a:r>
            </a:p>
          </p:txBody>
        </p:sp>
      </p:grpSp>
      <p:grpSp>
        <p:nvGrpSpPr>
          <p:cNvPr id="58" name="Group 58"/>
          <p:cNvGrpSpPr/>
          <p:nvPr/>
        </p:nvGrpSpPr>
        <p:grpSpPr>
          <a:xfrm>
            <a:off x="566738" y="6572250"/>
            <a:ext cx="11058524" cy="244316"/>
            <a:chOff x="566738" y="6572250"/>
            <a:chExt cx="11058524" cy="244316"/>
          </a:xfrm>
        </p:grpSpPr>
        <p:sp>
          <p:nvSpPr>
            <p:cNvPr id="55" name="Line 55"/>
            <p:cNvSpPr/>
            <p:nvPr/>
          </p:nvSpPr>
          <p:spPr>
            <a:xfrm>
              <a:off x="571500" y="6572250"/>
              <a:ext cx="11049000" cy="9525"/>
            </a:xfrm>
            <a:custGeom>
              <a:avLst/>
              <a:gdLst/>
              <a:ahLst/>
              <a:cxnLst/>
              <a:rect l="l" t="t" r="r" b="b"/>
              <a:pathLst>
                <a:path w="11049000" h="9525">
                  <a:moveTo>
                    <a:pt x="0" y="0"/>
                  </a:moveTo>
                  <a:lnTo>
                    <a:pt x="11049000" y="0"/>
                  </a:lnTo>
                </a:path>
              </a:pathLst>
            </a:custGeom>
            <a:noFill/>
            <a:ln w="9525">
              <a:solidFill>
                <a:schemeClr val="accent4"/>
              </a:solidFill>
            </a:ln>
          </p:spPr>
        </p:sp>
        <p:sp>
          <p:nvSpPr>
            <p:cNvPr id="56" name="TextBox 56"/>
            <p:cNvSpPr txBox="1"/>
            <p:nvPr/>
          </p:nvSpPr>
          <p:spPr>
            <a:xfrm>
              <a:off x="566738" y="6654641"/>
              <a:ext cx="1150005" cy="161925"/>
            </a:xfrm>
            <a:prstGeom prst="rect">
              <a:avLst/>
            </a:prstGeom>
            <a:noFill/>
            <a:ln>
              <a:noFill/>
            </a:ln>
          </p:spPr>
          <p:txBody>
            <a:bodyPr wrap="none" lIns="0" tIns="0" rIns="0" bIns="0" anchor="t" anchorCtr="0">
              <a:spAutoFit/>
            </a:bodyPr>
            <a:lstStyle/>
            <a:p>
              <a:pPr algn="l"/>
              <a:r>
                <a:rPr lang="zh-CN" sz="820" spc="150" dirty="0">
                  <a:solidFill>
                    <a:schemeClr val="dk2"/>
                  </a:solidFill>
                  <a:latin typeface="Consolas"/>
                  <a:ea typeface="Consolas"/>
                  <a:cs typeface="Consolas"/>
                </a:rPr>
                <a:t>CONTENTS — P02</a:t>
              </a:r>
            </a:p>
          </p:txBody>
        </p:sp>
        <p:sp>
          <p:nvSpPr>
            <p:cNvPr id="57" name="TextBox 57"/>
            <p:cNvSpPr txBox="1"/>
            <p:nvPr/>
          </p:nvSpPr>
          <p:spPr>
            <a:xfrm>
              <a:off x="9212450" y="6654641"/>
              <a:ext cx="2412812" cy="161925"/>
            </a:xfrm>
            <a:prstGeom prst="rect">
              <a:avLst/>
            </a:prstGeom>
            <a:noFill/>
            <a:ln>
              <a:noFill/>
            </a:ln>
          </p:spPr>
          <p:txBody>
            <a:bodyPr wrap="none" lIns="0" tIns="0" rIns="0" bIns="0" anchor="t" anchorCtr="0">
              <a:spAutoFit/>
            </a:bodyPr>
            <a:lstStyle/>
            <a:p>
              <a:pPr algn="r"/>
              <a:r>
                <a:rPr lang="zh-CN" sz="820" spc="150" dirty="0">
                  <a:solidFill>
                    <a:schemeClr val="dk2"/>
                  </a:solidFill>
                  <a:latin typeface="Consolas"/>
                  <a:ea typeface="Consolas"/>
                  <a:cs typeface="Consolas"/>
                </a:rPr>
                <a:t>RISO NAVY × FLUO PINK ON CREAM</a:t>
              </a:r>
            </a:p>
          </p:txBody>
        </p:sp>
      </p:grpSp>
    </p:spTree>
  </p:cSld>
  <p:clrMapOvr>
    <a:masterClrMapping/>
  </p:clrMapOvr>
  <p:transition xmlns:p14="http://schemas.microsoft.com/office/powerpoint/2010/main" p14:dur="35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300"/>
                                        <p:tgtEl>
                                          <p:spTgt spid="18"/>
                                        </p:tgtEl>
                                      </p:cBhvr>
                                    </p:animEffect>
                                  </p:childTnLst>
                                </p:cTn>
                              </p:par>
                            </p:childTnLst>
                          </p:cTn>
                        </p:par>
                        <p:par>
                          <p:cTn id="8" fill="hold">
                            <p:stCondLst>
                              <p:cond delay="300"/>
                            </p:stCondLst>
                            <p:childTnLst>
                              <p:par>
                                <p:cTn xmlns:p="http://schemas.openxmlformats.org/presentationml/2006/main" id="9" presetID="10" presetClass="entr" presetSubtype="0" fill="hold" grpId="0" nodeType="afterEffect">
                                  <p:stCondLst>
                                    <p:cond delay="120"/>
                                  </p:stCondLst>
                                  <p:childTnLst>
                                    <p:set>
                                      <p:cBhvr>
                                        <p:cTn id="10" dur="1" fill="hold">
                                          <p:stCondLst>
                                            <p:cond delay="0"/>
                                          </p:stCondLst>
                                        </p:cTn>
                                        <p:tgtEl>
                                          <p:spTgt spid="27"/>
                                        </p:tgtEl>
                                        <p:attrNameLst>
                                          <p:attrName>style.visibility</p:attrName>
                                        </p:attrNameLst>
                                      </p:cBhvr>
                                      <p:to>
                                        <p:strVal val="visible"/>
                                      </p:to>
                                    </p:set>
                                    <p:animEffect transition="in" filter="fade">
                                      <p:cBhvr>
                                        <p:cTn id="11" dur="300"/>
                                        <p:tgtEl>
                                          <p:spTgt spid="27"/>
                                        </p:tgtEl>
                                      </p:cBhvr>
                                    </p:animEffect>
                                  </p:childTnLst>
                                </p:cTn>
                              </p:par>
                            </p:childTnLst>
                          </p:cTn>
                        </p:par>
                        <p:par>
                          <p:cTn id="12" fill="hold">
                            <p:stCondLst>
                              <p:cond delay="720"/>
                            </p:stCondLst>
                            <p:childTnLst>
                              <p:par>
                                <p:cTn xmlns:p="http://schemas.openxmlformats.org/presentationml/2006/main" id="13" presetID="10" presetClass="entr" presetSubtype="0" fill="hold" grpId="0" nodeType="afterEffect">
                                  <p:stCondLst>
                                    <p:cond delay="120"/>
                                  </p:stCondLst>
                                  <p:childTnLst>
                                    <p:set>
                                      <p:cBhvr>
                                        <p:cTn id="14" dur="1" fill="hold">
                                          <p:stCondLst>
                                            <p:cond delay="0"/>
                                          </p:stCondLst>
                                        </p:cTn>
                                        <p:tgtEl>
                                          <p:spTgt spid="36"/>
                                        </p:tgtEl>
                                        <p:attrNameLst>
                                          <p:attrName>style.visibility</p:attrName>
                                        </p:attrNameLst>
                                      </p:cBhvr>
                                      <p:to>
                                        <p:strVal val="visible"/>
                                      </p:to>
                                    </p:set>
                                    <p:animEffect transition="in" filter="fade">
                                      <p:cBhvr>
                                        <p:cTn id="15" dur="300"/>
                                        <p:tgtEl>
                                          <p:spTgt spid="36"/>
                                        </p:tgtEl>
                                      </p:cBhvr>
                                    </p:animEffect>
                                  </p:childTnLst>
                                </p:cTn>
                              </p:par>
                            </p:childTnLst>
                          </p:cTn>
                        </p:par>
                        <p:par>
                          <p:cTn id="16" fill="hold">
                            <p:stCondLst>
                              <p:cond delay="1140"/>
                            </p:stCondLst>
                            <p:childTnLst>
                              <p:par>
                                <p:cTn xmlns:p="http://schemas.openxmlformats.org/presentationml/2006/main" id="17" presetID="10" presetClass="entr" presetSubtype="0" fill="hold" grpId="0" nodeType="afterEffect">
                                  <p:stCondLst>
                                    <p:cond delay="120"/>
                                  </p:stCondLst>
                                  <p:childTnLst>
                                    <p:set>
                                      <p:cBhvr>
                                        <p:cTn id="18" dur="1" fill="hold">
                                          <p:stCondLst>
                                            <p:cond delay="0"/>
                                          </p:stCondLst>
                                        </p:cTn>
                                        <p:tgtEl>
                                          <p:spTgt spid="45"/>
                                        </p:tgtEl>
                                        <p:attrNameLst>
                                          <p:attrName>style.visibility</p:attrName>
                                        </p:attrNameLst>
                                      </p:cBhvr>
                                      <p:to>
                                        <p:strVal val="visible"/>
                                      </p:to>
                                    </p:set>
                                    <p:animEffect transition="in" filter="fade">
                                      <p:cBhvr>
                                        <p:cTn id="19" dur="300"/>
                                        <p:tgtEl>
                                          <p:spTgt spid="45"/>
                                        </p:tgtEl>
                                      </p:cBhvr>
                                    </p:animEffect>
                                  </p:childTnLst>
                                </p:cTn>
                              </p:par>
                            </p:childTnLst>
                          </p:cTn>
                        </p:par>
                        <p:par>
                          <p:cTn id="20" fill="hold">
                            <p:stCondLst>
                              <p:cond delay="1560"/>
                            </p:stCondLst>
                            <p:childTnLst>
                              <p:par>
                                <p:cTn xmlns:p="http://schemas.openxmlformats.org/presentationml/2006/main" id="21" presetID="10" presetClass="entr" presetSubtype="0" fill="hold" grpId="0" nodeType="afterEffect">
                                  <p:stCondLst>
                                    <p:cond delay="120"/>
                                  </p:stCondLst>
                                  <p:childTnLst>
                                    <p:set>
                                      <p:cBhvr>
                                        <p:cTn id="22" dur="1" fill="hold">
                                          <p:stCondLst>
                                            <p:cond delay="0"/>
                                          </p:stCondLst>
                                        </p:cTn>
                                        <p:tgtEl>
                                          <p:spTgt spid="54"/>
                                        </p:tgtEl>
                                        <p:attrNameLst>
                                          <p:attrName>style.visibility</p:attrName>
                                        </p:attrNameLst>
                                      </p:cBhvr>
                                      <p:to>
                                        <p:strVal val="visible"/>
                                      </p:to>
                                    </p:set>
                                    <p:animEffect transition="in" filter="fade">
                                      <p:cBhvr>
                                        <p:cTn id="23" dur="3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pattFill prst="ltUpDiag">
            <a:fgClr>
              <a:schemeClr val="dk1">
                <a:alpha val="10000"/>
              </a:schemeClr>
            </a:fgClr>
            <a:bgClr>
              <a:srgbClr val="FFFFFF"/>
            </a:bgClr>
          </a:pattFill>
          <a:ln>
            <a:noFill/>
          </a:ln>
        </p:spPr>
      </p:sp>
      <p:grpSp>
        <p:nvGrpSpPr>
          <p:cNvPr id="7" name="Group 7"/>
          <p:cNvGrpSpPr/>
          <p:nvPr/>
        </p:nvGrpSpPr>
        <p:grpSpPr>
          <a:xfrm>
            <a:off x="571500" y="571500"/>
            <a:ext cx="2686050" cy="6019800"/>
            <a:chOff x="571500" y="571500"/>
            <a:chExt cx="2686050" cy="6019800"/>
          </a:xfrm>
        </p:grpSpPr>
        <p:sp>
          <p:nvSpPr>
            <p:cNvPr id="3" name="Rectangle 3"/>
            <p:cNvSpPr/>
            <p:nvPr/>
          </p:nvSpPr>
          <p:spPr>
            <a:xfrm>
              <a:off x="590550" y="590550"/>
              <a:ext cx="2667000" cy="5676900"/>
            </a:xfrm>
            <a:prstGeom prst="rect">
              <a:avLst/>
            </a:prstGeom>
            <a:solidFill>
              <a:schemeClr val="accent2"/>
            </a:solidFill>
            <a:ln>
              <a:noFill/>
            </a:ln>
          </p:spPr>
        </p:sp>
        <p:pic>
          <p:nvPicPr>
            <p:cNvPr id="4" name="Image 4"/>
            <p:cNvPicPr>
              <a:picLocks noChangeAspect="1"/>
            </p:cNvPicPr>
            <p:nvPr/>
          </p:nvPicPr>
          <p:blipFill>
            <a:blip r:embed="rId2"/>
            <a:srcRect l="36787" t="0" r="36787" b="0"/>
            <a:stretch>
              <a:fillRect/>
            </a:stretch>
          </p:blipFill>
          <p:spPr>
            <a:xfrm>
              <a:off x="571500" y="571500"/>
              <a:ext cx="2667000" cy="5676900"/>
            </a:xfrm>
            <a:prstGeom prst="rect">
              <a:avLst/>
            </a:prstGeom>
          </p:spPr>
        </p:pic>
        <p:sp>
          <p:nvSpPr>
            <p:cNvPr id="5" name="Rectangle 5"/>
            <p:cNvSpPr/>
            <p:nvPr/>
          </p:nvSpPr>
          <p:spPr>
            <a:xfrm>
              <a:off x="571500" y="6286500"/>
              <a:ext cx="2667000" cy="304800"/>
            </a:xfrm>
            <a:prstGeom prst="rect">
              <a:avLst/>
            </a:prstGeom>
            <a:solidFill>
              <a:schemeClr val="accent1"/>
            </a:solidFill>
            <a:ln>
              <a:noFill/>
            </a:ln>
          </p:spPr>
        </p:sp>
        <p:sp>
          <p:nvSpPr>
            <p:cNvPr id="6" name="TextBox 6"/>
            <p:cNvSpPr txBox="1"/>
            <p:nvPr/>
          </p:nvSpPr>
          <p:spPr>
            <a:xfrm>
              <a:off x="693687" y="6389370"/>
              <a:ext cx="2422627" cy="176212"/>
            </a:xfrm>
            <a:prstGeom prst="rect">
              <a:avLst/>
            </a:prstGeom>
            <a:noFill/>
            <a:ln>
              <a:noFill/>
            </a:ln>
          </p:spPr>
          <p:txBody>
            <a:bodyPr wrap="none" lIns="0" tIns="0" rIns="0" bIns="0" anchor="t" anchorCtr="0">
              <a:spAutoFit/>
            </a:bodyPr>
            <a:lstStyle/>
            <a:p>
              <a:pPr algn="ctr"/>
              <a:r>
                <a:rPr lang="zh-CN" sz="900" spc="150" dirty="0">
                  <a:solidFill>
                    <a:srgbClr val="F5EFE0"/>
                  </a:solidFill>
                  <a:latin typeface="Consolas"/>
                  <a:ea typeface="Consolas"/>
                  <a:cs typeface="Consolas"/>
                </a:rPr>
                <a:t>A CENTURY OF SELF-PUBLISHING</a:t>
              </a:r>
            </a:p>
          </p:txBody>
        </p:sp>
      </p:grpSp>
      <p:grpSp>
        <p:nvGrpSpPr>
          <p:cNvPr id="10" name="Group 10"/>
          <p:cNvGrpSpPr/>
          <p:nvPr/>
        </p:nvGrpSpPr>
        <p:grpSpPr>
          <a:xfrm>
            <a:off x="3614547" y="847249"/>
            <a:ext cx="2580467" cy="267176"/>
            <a:chOff x="3614547" y="847249"/>
            <a:chExt cx="2580467" cy="267176"/>
          </a:xfrm>
        </p:grpSpPr>
        <p:sp>
          <p:nvSpPr>
            <p:cNvPr id="8" name="TextBox 8"/>
            <p:cNvSpPr txBox="1"/>
            <p:nvPr/>
          </p:nvSpPr>
          <p:spPr>
            <a:xfrm>
              <a:off x="3614547" y="847249"/>
              <a:ext cx="2580467" cy="190690"/>
            </a:xfrm>
            <a:prstGeom prst="rect">
              <a:avLst/>
            </a:prstGeom>
            <a:noFill/>
            <a:ln>
              <a:noFill/>
            </a:ln>
          </p:spPr>
          <p:txBody>
            <a:bodyPr wrap="none" lIns="0" tIns="0" rIns="0" bIns="0" anchor="t" anchorCtr="0">
              <a:spAutoFit/>
            </a:bodyPr>
            <a:lstStyle/>
            <a:p>
              <a:pPr algn="l"/>
              <a:r>
                <a:rPr lang="zh-CN" sz="980" spc="300" dirty="0">
                  <a:solidFill>
                    <a:schemeClr val="dk2"/>
                  </a:solidFill>
                  <a:latin typeface="Consolas"/>
                  <a:ea typeface="Consolas"/>
                  <a:cs typeface="Consolas"/>
                </a:rPr>
                <a:t>PART 01 · WHAT IS A ZINE</a:t>
              </a:r>
            </a:p>
          </p:txBody>
        </p:sp>
        <p:sp>
          <p:nvSpPr>
            <p:cNvPr id="9" name="Line 9"/>
            <p:cNvSpPr/>
            <p:nvPr/>
          </p:nvSpPr>
          <p:spPr>
            <a:xfrm>
              <a:off x="3619500" y="1104900"/>
              <a:ext cx="1524000" cy="9525"/>
            </a:xfrm>
            <a:custGeom>
              <a:avLst/>
              <a:gdLst/>
              <a:ahLst/>
              <a:cxnLst/>
              <a:rect l="l" t="t" r="r" b="b"/>
              <a:pathLst>
                <a:path w="1524000" h="9525">
                  <a:moveTo>
                    <a:pt x="0" y="0"/>
                  </a:moveTo>
                  <a:lnTo>
                    <a:pt x="1524000" y="0"/>
                  </a:lnTo>
                </a:path>
              </a:pathLst>
            </a:custGeom>
            <a:noFill/>
            <a:ln w="28575">
              <a:solidFill>
                <a:schemeClr val="accent1"/>
              </a:solidFill>
            </a:ln>
          </p:spPr>
        </p:sp>
      </p:grpSp>
      <p:grpSp>
        <p:nvGrpSpPr>
          <p:cNvPr id="21" name="Group 21"/>
          <p:cNvGrpSpPr/>
          <p:nvPr/>
        </p:nvGrpSpPr>
        <p:grpSpPr>
          <a:xfrm>
            <a:off x="3581400" y="1205865"/>
            <a:ext cx="6925056" cy="1876425"/>
            <a:chOff x="3581400" y="1205865"/>
            <a:chExt cx="6925056" cy="1876425"/>
          </a:xfrm>
        </p:grpSpPr>
        <p:sp>
          <p:nvSpPr>
            <p:cNvPr id="11" name="TextBox 11"/>
            <p:cNvSpPr txBox="1"/>
            <p:nvPr/>
          </p:nvSpPr>
          <p:spPr>
            <a:xfrm>
              <a:off x="3600450" y="1224915"/>
              <a:ext cx="1753514" cy="1219200"/>
            </a:xfrm>
            <a:prstGeom prst="rect">
              <a:avLst/>
            </a:prstGeom>
            <a:noFill/>
            <a:ln>
              <a:noFill/>
            </a:ln>
          </p:spPr>
          <p:txBody>
            <a:bodyPr wrap="none" lIns="0" tIns="0" rIns="0" bIns="0" anchor="t" anchorCtr="0">
              <a:spAutoFit/>
            </a:bodyPr>
            <a:lstStyle/>
            <a:p>
              <a:pPr algn="l"/>
              <a:r>
                <a:rPr lang="zh-CN" sz="6300" spc="-75" dirty="0">
                  <a:solidFill>
                    <a:schemeClr val="accent2"/>
                  </a:solidFill>
                  <a:latin typeface="+mj-lt"/>
                  <a:ea typeface="+mj-ea"/>
                  <a:cs typeface="+mj-cs"/>
                </a:rPr>
                <a:t>ZINE</a:t>
              </a:r>
            </a:p>
          </p:txBody>
        </p:sp>
        <p:sp>
          <p:nvSpPr>
            <p:cNvPr id="12" name="TextBox 12"/>
            <p:cNvSpPr txBox="1"/>
            <p:nvPr/>
          </p:nvSpPr>
          <p:spPr>
            <a:xfrm>
              <a:off x="3581400" y="1205865"/>
              <a:ext cx="1753514" cy="1219200"/>
            </a:xfrm>
            <a:prstGeom prst="rect">
              <a:avLst/>
            </a:prstGeom>
            <a:noFill/>
            <a:ln>
              <a:noFill/>
            </a:ln>
          </p:spPr>
          <p:txBody>
            <a:bodyPr wrap="none" lIns="0" tIns="0" rIns="0" bIns="0" anchor="t" anchorCtr="0">
              <a:spAutoFit/>
            </a:bodyPr>
            <a:lstStyle/>
            <a:p>
              <a:pPr algn="l"/>
              <a:r>
                <a:rPr lang="zh-CN" sz="6300" spc="-75" dirty="0">
                  <a:solidFill>
                    <a:schemeClr val="dk1"/>
                  </a:solidFill>
                  <a:latin typeface="+mj-lt"/>
                  <a:ea typeface="+mj-ea"/>
                  <a:cs typeface="+mj-cs"/>
                </a:rPr>
                <a:t>ZINE</a:t>
              </a:r>
            </a:p>
          </p:txBody>
        </p:sp>
        <p:sp>
          <p:nvSpPr>
            <p:cNvPr id="13" name="TextBox 13"/>
            <p:cNvSpPr txBox="1"/>
            <p:nvPr/>
          </p:nvSpPr>
          <p:spPr>
            <a:xfrm>
              <a:off x="5810250" y="1224915"/>
              <a:ext cx="504558" cy="1219200"/>
            </a:xfrm>
            <a:prstGeom prst="rect">
              <a:avLst/>
            </a:prstGeom>
            <a:noFill/>
            <a:ln>
              <a:noFill/>
            </a:ln>
          </p:spPr>
          <p:txBody>
            <a:bodyPr wrap="none" lIns="0" tIns="0" rIns="0" bIns="0" anchor="t" anchorCtr="0">
              <a:spAutoFit/>
            </a:bodyPr>
            <a:lstStyle/>
            <a:p>
              <a:pPr algn="l"/>
              <a:r>
                <a:rPr lang="zh-CN" sz="6300" dirty="0">
                  <a:solidFill>
                    <a:schemeClr val="dk1"/>
                  </a:solidFill>
                  <a:latin typeface="+mj-lt"/>
                  <a:ea typeface="+mj-ea"/>
                  <a:cs typeface="+mj-cs"/>
                </a:rPr>
                <a:t>=</a:t>
              </a:r>
            </a:p>
          </p:txBody>
        </p:sp>
        <p:sp>
          <p:nvSpPr>
            <p:cNvPr id="14" name="TextBox 14"/>
            <p:cNvSpPr txBox="1"/>
            <p:nvPr/>
          </p:nvSpPr>
          <p:spPr>
            <a:xfrm>
              <a:off x="6457950" y="1224915"/>
              <a:ext cx="3861511" cy="1219200"/>
            </a:xfrm>
            <a:prstGeom prst="rect">
              <a:avLst/>
            </a:prstGeom>
            <a:noFill/>
            <a:ln>
              <a:noFill/>
            </a:ln>
          </p:spPr>
          <p:txBody>
            <a:bodyPr wrap="none" lIns="0" tIns="0" rIns="0" bIns="0" anchor="t" anchorCtr="0">
              <a:spAutoFit/>
            </a:bodyPr>
            <a:lstStyle/>
            <a:p>
              <a:pPr algn="l"/>
              <a:r>
                <a:rPr lang="zh-CN" sz="6300" spc="-75" dirty="0">
                  <a:solidFill>
                    <a:schemeClr val="accent1"/>
                  </a:solidFill>
                  <a:latin typeface="+mj-lt"/>
                  <a:ea typeface="+mj-ea"/>
                  <a:cs typeface="+mj-cs"/>
                </a:rPr>
                <a:t>MAGAZINE</a:t>
              </a:r>
            </a:p>
          </p:txBody>
        </p:sp>
        <p:sp>
          <p:nvSpPr>
            <p:cNvPr id="15" name="TextBox 15"/>
            <p:cNvSpPr txBox="1"/>
            <p:nvPr/>
          </p:nvSpPr>
          <p:spPr>
            <a:xfrm>
              <a:off x="3600450" y="2148840"/>
              <a:ext cx="393497" cy="933450"/>
            </a:xfrm>
            <a:prstGeom prst="rect">
              <a:avLst/>
            </a:prstGeom>
            <a:noFill/>
            <a:ln>
              <a:noFill/>
            </a:ln>
          </p:spPr>
          <p:txBody>
            <a:bodyPr wrap="none" lIns="0" tIns="0" rIns="0" bIns="0" anchor="t" anchorCtr="0">
              <a:spAutoFit/>
            </a:bodyPr>
            <a:lstStyle/>
            <a:p>
              <a:pPr algn="l"/>
              <a:r>
                <a:rPr lang="zh-CN" sz="4800" dirty="0">
                  <a:solidFill>
                    <a:schemeClr val="accent2"/>
                  </a:solidFill>
                  <a:latin typeface="+mj-lt"/>
                  <a:ea typeface="+mj-ea"/>
                  <a:cs typeface="+mj-cs"/>
                </a:rPr>
                <a:t>−</a:t>
              </a:r>
            </a:p>
          </p:txBody>
        </p:sp>
        <p:sp>
          <p:nvSpPr>
            <p:cNvPr id="16" name="TextBox 16"/>
            <p:cNvSpPr txBox="1"/>
            <p:nvPr/>
          </p:nvSpPr>
          <p:spPr>
            <a:xfrm>
              <a:off x="4174236" y="2310765"/>
              <a:ext cx="1810512" cy="645414"/>
            </a:xfrm>
            <a:prstGeom prst="rect">
              <a:avLst/>
            </a:prstGeom>
            <a:noFill/>
            <a:ln>
              <a:noFill/>
            </a:ln>
          </p:spPr>
          <p:txBody>
            <a:bodyPr wrap="none" lIns="0" tIns="0" rIns="0" bIns="0" anchor="t" anchorCtr="0">
              <a:spAutoFit/>
            </a:bodyPr>
            <a:lstStyle/>
            <a:p>
              <a:pPr algn="l"/>
              <a:r>
                <a:rPr lang="zh-CN" sz="3300" b="1" dirty="0">
                  <a:solidFill>
                    <a:schemeClr val="dk1"/>
                  </a:solidFill>
                  <a:latin typeface="+mn-lt"/>
                  <a:ea typeface="+mn-ea"/>
                  <a:cs typeface="+mn-cs"/>
                </a:rPr>
                <a:t>商业逻辑</a:t>
              </a:r>
            </a:p>
          </p:txBody>
        </p:sp>
        <p:sp>
          <p:nvSpPr>
            <p:cNvPr id="17" name="TextBox 17"/>
            <p:cNvSpPr txBox="1"/>
            <p:nvPr/>
          </p:nvSpPr>
          <p:spPr>
            <a:xfrm>
              <a:off x="6345936" y="2310765"/>
              <a:ext cx="290080" cy="645414"/>
            </a:xfrm>
            <a:prstGeom prst="rect">
              <a:avLst/>
            </a:prstGeom>
            <a:noFill/>
            <a:ln>
              <a:noFill/>
            </a:ln>
          </p:spPr>
          <p:txBody>
            <a:bodyPr wrap="none" lIns="0" tIns="0" rIns="0" bIns="0" anchor="t" anchorCtr="0">
              <a:spAutoFit/>
            </a:bodyPr>
            <a:lstStyle/>
            <a:p>
              <a:pPr algn="l"/>
              <a:r>
                <a:rPr lang="zh-CN" sz="3300" b="1" dirty="0">
                  <a:solidFill>
                    <a:schemeClr val="dk1"/>
                  </a:solidFill>
                  <a:latin typeface="+mn-lt"/>
                  <a:ea typeface="+mn-ea"/>
                  <a:cs typeface="+mn-cs"/>
                </a:rPr>
                <a:t>−</a:t>
              </a:r>
            </a:p>
          </p:txBody>
        </p:sp>
        <p:sp>
          <p:nvSpPr>
            <p:cNvPr id="18" name="TextBox 18"/>
            <p:cNvSpPr txBox="1"/>
            <p:nvPr/>
          </p:nvSpPr>
          <p:spPr>
            <a:xfrm>
              <a:off x="6879336" y="2310765"/>
              <a:ext cx="1810512" cy="645414"/>
            </a:xfrm>
            <a:prstGeom prst="rect">
              <a:avLst/>
            </a:prstGeom>
            <a:noFill/>
            <a:ln>
              <a:noFill/>
            </a:ln>
          </p:spPr>
          <p:txBody>
            <a:bodyPr wrap="none" lIns="0" tIns="0" rIns="0" bIns="0" anchor="t" anchorCtr="0">
              <a:spAutoFit/>
            </a:bodyPr>
            <a:lstStyle/>
            <a:p>
              <a:pPr algn="l"/>
              <a:r>
                <a:rPr lang="zh-CN" sz="3300" b="1" dirty="0">
                  <a:solidFill>
                    <a:schemeClr val="dk1"/>
                  </a:solidFill>
                  <a:latin typeface="+mn-lt"/>
                  <a:ea typeface="+mn-ea"/>
                  <a:cs typeface="+mn-cs"/>
                </a:rPr>
                <a:t>编辑把关</a:t>
              </a:r>
            </a:p>
          </p:txBody>
        </p:sp>
        <p:sp>
          <p:nvSpPr>
            <p:cNvPr id="19" name="TextBox 19"/>
            <p:cNvSpPr txBox="1"/>
            <p:nvPr/>
          </p:nvSpPr>
          <p:spPr>
            <a:xfrm>
              <a:off x="9051036" y="2310765"/>
              <a:ext cx="290080" cy="645414"/>
            </a:xfrm>
            <a:prstGeom prst="rect">
              <a:avLst/>
            </a:prstGeom>
            <a:noFill/>
            <a:ln>
              <a:noFill/>
            </a:ln>
          </p:spPr>
          <p:txBody>
            <a:bodyPr wrap="none" lIns="0" tIns="0" rIns="0" bIns="0" anchor="t" anchorCtr="0">
              <a:spAutoFit/>
            </a:bodyPr>
            <a:lstStyle/>
            <a:p>
              <a:pPr algn="l"/>
              <a:r>
                <a:rPr lang="zh-CN" sz="3300" b="1" dirty="0">
                  <a:solidFill>
                    <a:schemeClr val="dk1"/>
                  </a:solidFill>
                  <a:latin typeface="+mn-lt"/>
                  <a:ea typeface="+mn-ea"/>
                  <a:cs typeface="+mn-cs"/>
                </a:rPr>
                <a:t>−</a:t>
              </a:r>
            </a:p>
          </p:txBody>
        </p:sp>
        <p:sp>
          <p:nvSpPr>
            <p:cNvPr id="20" name="TextBox 20"/>
            <p:cNvSpPr txBox="1"/>
            <p:nvPr/>
          </p:nvSpPr>
          <p:spPr>
            <a:xfrm>
              <a:off x="9584436" y="2310765"/>
              <a:ext cx="922020" cy="645414"/>
            </a:xfrm>
            <a:prstGeom prst="rect">
              <a:avLst/>
            </a:prstGeom>
            <a:noFill/>
            <a:ln>
              <a:noFill/>
            </a:ln>
          </p:spPr>
          <p:txBody>
            <a:bodyPr wrap="none" lIns="0" tIns="0" rIns="0" bIns="0" anchor="t" anchorCtr="0">
              <a:spAutoFit/>
            </a:bodyPr>
            <a:lstStyle/>
            <a:p>
              <a:pPr algn="l"/>
              <a:r>
                <a:rPr lang="zh-CN" sz="3300" b="1" dirty="0">
                  <a:solidFill>
                    <a:schemeClr val="dk1"/>
                  </a:solidFill>
                  <a:latin typeface="+mn-lt"/>
                  <a:ea typeface="+mn-ea"/>
                  <a:cs typeface="+mn-cs"/>
                </a:rPr>
                <a:t>规模</a:t>
              </a:r>
            </a:p>
          </p:txBody>
        </p:sp>
      </p:grpSp>
      <p:sp>
        <p:nvSpPr>
          <p:cNvPr id="22" name="Line 22"/>
          <p:cNvSpPr/>
          <p:nvPr/>
        </p:nvSpPr>
        <p:spPr>
          <a:xfrm>
            <a:off x="3619500" y="3124200"/>
            <a:ext cx="8001000" cy="9525"/>
          </a:xfrm>
          <a:custGeom>
            <a:avLst/>
            <a:gdLst/>
            <a:ahLst/>
            <a:cxnLst/>
            <a:rect l="l" t="t" r="r" b="b"/>
            <a:pathLst>
              <a:path w="8001000" h="9525">
                <a:moveTo>
                  <a:pt x="0" y="0"/>
                </a:moveTo>
                <a:lnTo>
                  <a:pt x="8001000" y="0"/>
                </a:lnTo>
              </a:path>
            </a:pathLst>
          </a:custGeom>
          <a:noFill/>
          <a:ln w="19050">
            <a:solidFill>
              <a:schemeClr val="accent4"/>
            </a:solidFill>
          </a:ln>
        </p:spPr>
      </p:sp>
      <p:grpSp>
        <p:nvGrpSpPr>
          <p:cNvPr id="27" name="Group 27"/>
          <p:cNvGrpSpPr/>
          <p:nvPr/>
        </p:nvGrpSpPr>
        <p:grpSpPr>
          <a:xfrm>
            <a:off x="3619500" y="3429000"/>
            <a:ext cx="4007053" cy="638556"/>
            <a:chOff x="3619500" y="3429000"/>
            <a:chExt cx="4007053" cy="638556"/>
          </a:xfrm>
        </p:grpSpPr>
        <p:sp>
          <p:nvSpPr>
            <p:cNvPr id="23" name="Rectangle 23"/>
            <p:cNvSpPr/>
            <p:nvPr/>
          </p:nvSpPr>
          <p:spPr>
            <a:xfrm>
              <a:off x="3619500" y="3429000"/>
              <a:ext cx="571500" cy="571500"/>
            </a:xfrm>
            <a:prstGeom prst="rect">
              <a:avLst/>
            </a:prstGeom>
            <a:solidFill>
              <a:schemeClr val="accent1"/>
            </a:solidFill>
            <a:ln>
              <a:noFill/>
            </a:ln>
          </p:spPr>
        </p:sp>
        <p:sp>
          <p:nvSpPr>
            <p:cNvPr id="24" name="TextBox 24"/>
            <p:cNvSpPr txBox="1"/>
            <p:nvPr/>
          </p:nvSpPr>
          <p:spPr>
            <a:xfrm>
              <a:off x="3674669" y="3569970"/>
              <a:ext cx="461162" cy="469392"/>
            </a:xfrm>
            <a:prstGeom prst="rect">
              <a:avLst/>
            </a:prstGeom>
            <a:noFill/>
            <a:ln>
              <a:noFill/>
            </a:ln>
          </p:spPr>
          <p:txBody>
            <a:bodyPr wrap="none" lIns="0" tIns="0" rIns="0" bIns="0" anchor="t" anchorCtr="0">
              <a:spAutoFit/>
            </a:bodyPr>
            <a:lstStyle/>
            <a:p>
              <a:pPr algn="ctr" marL="259080" indent="-259080">
                <a:buClr>
                  <a:srgbClr val="F5EFE0"/>
                </a:buClr>
                <a:buSzTx/>
                <a:buFontTx/>
                <a:buChar char="•"/>
              </a:pPr>
              <a:r>
                <a:rPr lang="zh-CN" sz="2400" dirty="0">
                  <a:solidFill>
                    <a:srgbClr val="F5EFE0"/>
                  </a:solidFill>
                  <a:latin typeface="+mj-lt"/>
                  <a:ea typeface="+mj-ea"/>
                  <a:cs typeface="+mj-cs"/>
                </a:rPr>
                <a:t>1</a:t>
              </a:r>
            </a:p>
          </p:txBody>
        </p:sp>
        <p:sp>
          <p:nvSpPr>
            <p:cNvPr id="25" name="TextBox 25"/>
            <p:cNvSpPr txBox="1"/>
            <p:nvPr/>
          </p:nvSpPr>
          <p:spPr>
            <a:xfrm>
              <a:off x="4372356" y="3520440"/>
              <a:ext cx="1472184"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自制、非商业</a:t>
              </a:r>
            </a:p>
          </p:txBody>
        </p:sp>
        <p:sp>
          <p:nvSpPr>
            <p:cNvPr id="26" name="TextBox 26"/>
            <p:cNvSpPr txBox="1"/>
            <p:nvPr/>
          </p:nvSpPr>
          <p:spPr>
            <a:xfrm>
              <a:off x="4375404" y="3832860"/>
              <a:ext cx="3251149" cy="234696"/>
            </a:xfrm>
            <a:prstGeom prst="rect">
              <a:avLst/>
            </a:prstGeom>
            <a:noFill/>
            <a:ln>
              <a:noFill/>
            </a:ln>
          </p:spPr>
          <p:txBody>
            <a:bodyPr wrap="none" lIns="0" tIns="0" rIns="0" bIns="0" anchor="t" anchorCtr="0">
              <a:spAutoFit/>
            </a:bodyPr>
            <a:lstStyle/>
            <a:p>
              <a:pPr algn="l"/>
              <a:r>
                <a:rPr lang="zh-CN" sz="1200" dirty="0">
                  <a:solidFill>
                    <a:schemeClr val="dk2"/>
                  </a:solidFill>
                  <a:latin typeface="+mn-lt"/>
                  <a:ea typeface="+mn-ea"/>
                  <a:cs typeface="+mn-cs"/>
                </a:rPr>
                <a:t>印量极小，多在 1000 份以内，常少于 100 份</a:t>
              </a:r>
            </a:p>
          </p:txBody>
        </p:sp>
      </p:grpSp>
      <p:grpSp>
        <p:nvGrpSpPr>
          <p:cNvPr id="32" name="Group 32"/>
          <p:cNvGrpSpPr/>
          <p:nvPr/>
        </p:nvGrpSpPr>
        <p:grpSpPr>
          <a:xfrm>
            <a:off x="3619500" y="4191000"/>
            <a:ext cx="5428640" cy="638556"/>
            <a:chOff x="3619500" y="4191000"/>
            <a:chExt cx="5428640" cy="638556"/>
          </a:xfrm>
        </p:grpSpPr>
        <p:sp>
          <p:nvSpPr>
            <p:cNvPr id="28" name="Rectangle 28"/>
            <p:cNvSpPr/>
            <p:nvPr/>
          </p:nvSpPr>
          <p:spPr>
            <a:xfrm>
              <a:off x="3619500" y="4191000"/>
              <a:ext cx="571500" cy="571500"/>
            </a:xfrm>
            <a:prstGeom prst="rect">
              <a:avLst/>
            </a:prstGeom>
            <a:solidFill>
              <a:schemeClr val="accent2"/>
            </a:solidFill>
            <a:ln>
              <a:noFill/>
            </a:ln>
          </p:spPr>
        </p:sp>
        <p:sp>
          <p:nvSpPr>
            <p:cNvPr id="29" name="TextBox 29"/>
            <p:cNvSpPr txBox="1"/>
            <p:nvPr/>
          </p:nvSpPr>
          <p:spPr>
            <a:xfrm>
              <a:off x="3674669" y="4331970"/>
              <a:ext cx="461162" cy="469392"/>
            </a:xfrm>
            <a:prstGeom prst="rect">
              <a:avLst/>
            </a:prstGeom>
            <a:noFill/>
            <a:ln>
              <a:noFill/>
            </a:ln>
          </p:spPr>
          <p:txBody>
            <a:bodyPr wrap="none" lIns="0" tIns="0" rIns="0" bIns="0" anchor="t" anchorCtr="0">
              <a:spAutoFit/>
            </a:bodyPr>
            <a:lstStyle/>
            <a:p>
              <a:pPr algn="ctr" marL="259080" indent="-259080">
                <a:buClr>
                  <a:srgbClr val="F5EFE0"/>
                </a:buClr>
                <a:buSzTx/>
                <a:buFontTx/>
                <a:buChar char="•"/>
              </a:pPr>
              <a:r>
                <a:rPr lang="zh-CN" sz="2400" dirty="0">
                  <a:solidFill>
                    <a:srgbClr val="F5EFE0"/>
                  </a:solidFill>
                  <a:latin typeface="+mj-lt"/>
                  <a:ea typeface="+mj-ea"/>
                  <a:cs typeface="+mj-cs"/>
                </a:rPr>
                <a:t>2</a:t>
              </a:r>
            </a:p>
          </p:txBody>
        </p:sp>
        <p:sp>
          <p:nvSpPr>
            <p:cNvPr id="30" name="TextBox 30"/>
            <p:cNvSpPr txBox="1"/>
            <p:nvPr/>
          </p:nvSpPr>
          <p:spPr>
            <a:xfrm>
              <a:off x="4372356" y="4282440"/>
              <a:ext cx="2199132"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装订简单、内容混合</a:t>
              </a:r>
            </a:p>
          </p:txBody>
        </p:sp>
        <p:sp>
          <p:nvSpPr>
            <p:cNvPr id="31" name="TextBox 31"/>
            <p:cNvSpPr txBox="1"/>
            <p:nvPr/>
          </p:nvSpPr>
          <p:spPr>
            <a:xfrm>
              <a:off x="4375404" y="4594860"/>
              <a:ext cx="4672736" cy="234696"/>
            </a:xfrm>
            <a:prstGeom prst="rect">
              <a:avLst/>
            </a:prstGeom>
            <a:noFill/>
            <a:ln>
              <a:noFill/>
            </a:ln>
          </p:spPr>
          <p:txBody>
            <a:bodyPr wrap="none" lIns="0" tIns="0" rIns="0" bIns="0" anchor="t" anchorCtr="0">
              <a:spAutoFit/>
            </a:bodyPr>
            <a:lstStyle/>
            <a:p>
              <a:pPr algn="l"/>
              <a:r>
                <a:rPr lang="zh-CN" sz="1200" dirty="0">
                  <a:solidFill>
                    <a:schemeClr val="dk2"/>
                  </a:solidFill>
                  <a:latin typeface="+mn-lt"/>
                  <a:ea typeface="+mn-ea"/>
                  <a:cs typeface="+mn-cs"/>
                </a:rPr>
                <a:t>订书钉/折页/手工缝；手写/打字/拼贴/漫画/摄影/宣言全部上场</a:t>
              </a:r>
            </a:p>
          </p:txBody>
        </p:sp>
      </p:grpSp>
      <p:grpSp>
        <p:nvGrpSpPr>
          <p:cNvPr id="37" name="Group 37"/>
          <p:cNvGrpSpPr/>
          <p:nvPr/>
        </p:nvGrpSpPr>
        <p:grpSpPr>
          <a:xfrm>
            <a:off x="3619500" y="4953000"/>
            <a:ext cx="5331714" cy="638556"/>
            <a:chOff x="3619500" y="4953000"/>
            <a:chExt cx="5331714" cy="638556"/>
          </a:xfrm>
        </p:grpSpPr>
        <p:sp>
          <p:nvSpPr>
            <p:cNvPr id="33" name="Rectangle 33"/>
            <p:cNvSpPr/>
            <p:nvPr/>
          </p:nvSpPr>
          <p:spPr>
            <a:xfrm>
              <a:off x="3619500" y="4953000"/>
              <a:ext cx="571500" cy="571500"/>
            </a:xfrm>
            <a:prstGeom prst="rect">
              <a:avLst/>
            </a:prstGeom>
            <a:solidFill>
              <a:schemeClr val="accent3"/>
            </a:solidFill>
            <a:ln>
              <a:noFill/>
            </a:ln>
          </p:spPr>
        </p:sp>
        <p:sp>
          <p:nvSpPr>
            <p:cNvPr id="34" name="TextBox 34"/>
            <p:cNvSpPr txBox="1"/>
            <p:nvPr/>
          </p:nvSpPr>
          <p:spPr>
            <a:xfrm>
              <a:off x="3674669" y="5093970"/>
              <a:ext cx="461162" cy="469392"/>
            </a:xfrm>
            <a:prstGeom prst="rect">
              <a:avLst/>
            </a:prstGeom>
            <a:noFill/>
            <a:ln>
              <a:noFill/>
            </a:ln>
          </p:spPr>
          <p:txBody>
            <a:bodyPr wrap="none" lIns="0" tIns="0" rIns="0" bIns="0" anchor="t" anchorCtr="0">
              <a:spAutoFit/>
            </a:bodyPr>
            <a:lstStyle/>
            <a:p>
              <a:pPr algn="ctr" marL="259080" indent="-259080">
                <a:buClr>
                  <a:srgbClr val="F5EFE0"/>
                </a:buClr>
                <a:buSzTx/>
                <a:buFontTx/>
                <a:buChar char="•"/>
              </a:pPr>
              <a:r>
                <a:rPr lang="zh-CN" sz="2400" dirty="0">
                  <a:solidFill>
                    <a:srgbClr val="F5EFE0"/>
                  </a:solidFill>
                  <a:latin typeface="+mj-lt"/>
                  <a:ea typeface="+mj-ea"/>
                  <a:cs typeface="+mj-cs"/>
                </a:rPr>
                <a:t>3</a:t>
              </a:r>
            </a:p>
          </p:txBody>
        </p:sp>
        <p:sp>
          <p:nvSpPr>
            <p:cNvPr id="35" name="TextBox 35"/>
            <p:cNvSpPr txBox="1"/>
            <p:nvPr/>
          </p:nvSpPr>
          <p:spPr>
            <a:xfrm>
              <a:off x="4372356" y="5044440"/>
              <a:ext cx="1472184"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完全作者主权</a:t>
              </a:r>
            </a:p>
          </p:txBody>
        </p:sp>
        <p:sp>
          <p:nvSpPr>
            <p:cNvPr id="36" name="TextBox 36"/>
            <p:cNvSpPr txBox="1"/>
            <p:nvPr/>
          </p:nvSpPr>
          <p:spPr>
            <a:xfrm>
              <a:off x="4375404" y="5356860"/>
              <a:ext cx="4575810" cy="234696"/>
            </a:xfrm>
            <a:prstGeom prst="rect">
              <a:avLst/>
            </a:prstGeom>
            <a:noFill/>
            <a:ln>
              <a:noFill/>
            </a:ln>
          </p:spPr>
          <p:txBody>
            <a:bodyPr wrap="none" lIns="0" tIns="0" rIns="0" bIns="0" anchor="t" anchorCtr="0">
              <a:spAutoFit/>
            </a:bodyPr>
            <a:lstStyle/>
            <a:p>
              <a:pPr algn="l"/>
              <a:r>
                <a:rPr lang="zh-CN" sz="1200" dirty="0">
                  <a:solidFill>
                    <a:schemeClr val="dk2"/>
                  </a:solidFill>
                  <a:latin typeface="+mn-lt"/>
                  <a:ea typeface="+mn-ea"/>
                  <a:cs typeface="+mn-cs"/>
                </a:rPr>
                <a:t>没有编辑、没有把关、没有商业审查 —— 这就是 zine 的精神底色</a:t>
              </a:r>
            </a:p>
          </p:txBody>
        </p:sp>
      </p:grpSp>
      <p:grpSp>
        <p:nvGrpSpPr>
          <p:cNvPr id="43" name="Group 43"/>
          <p:cNvGrpSpPr/>
          <p:nvPr/>
        </p:nvGrpSpPr>
        <p:grpSpPr>
          <a:xfrm>
            <a:off x="3619500" y="5810250"/>
            <a:ext cx="8029575" cy="638175"/>
            <a:chOff x="3619500" y="5810250"/>
            <a:chExt cx="8029575" cy="638175"/>
          </a:xfrm>
        </p:grpSpPr>
        <p:sp>
          <p:nvSpPr>
            <p:cNvPr id="38" name="Rectangle 38"/>
            <p:cNvSpPr/>
            <p:nvPr/>
          </p:nvSpPr>
          <p:spPr>
            <a:xfrm>
              <a:off x="3619500" y="5810250"/>
              <a:ext cx="8001000" cy="609600"/>
            </a:xfrm>
            <a:prstGeom prst="rect">
              <a:avLst/>
            </a:prstGeom>
            <a:solidFill>
              <a:schemeClr val="dk1"/>
            </a:solidFill>
            <a:ln>
              <a:noFill/>
            </a:ln>
          </p:spPr>
        </p:sp>
        <p:sp>
          <p:nvSpPr>
            <p:cNvPr id="39" name="Rectangle 39"/>
            <p:cNvSpPr/>
            <p:nvPr/>
          </p:nvSpPr>
          <p:spPr>
            <a:xfrm>
              <a:off x="3648075" y="5838825"/>
              <a:ext cx="8001000" cy="609600"/>
            </a:xfrm>
            <a:prstGeom prst="rect">
              <a:avLst/>
            </a:prstGeom>
            <a:solidFill>
              <a:schemeClr val="accent2">
                <a:alpha val="85000"/>
              </a:schemeClr>
            </a:solidFill>
            <a:ln>
              <a:noFill/>
            </a:ln>
          </p:spPr>
        </p:sp>
        <p:sp>
          <p:nvSpPr>
            <p:cNvPr id="40" name="Rectangle 40"/>
            <p:cNvSpPr/>
            <p:nvPr/>
          </p:nvSpPr>
          <p:spPr>
            <a:xfrm>
              <a:off x="3619500" y="5810250"/>
              <a:ext cx="8001000" cy="609600"/>
            </a:xfrm>
            <a:prstGeom prst="rect">
              <a:avLst/>
            </a:prstGeom>
            <a:solidFill>
              <a:schemeClr val="dk1"/>
            </a:solidFill>
            <a:ln>
              <a:noFill/>
            </a:ln>
          </p:spPr>
        </p:sp>
        <p:sp>
          <p:nvSpPr>
            <p:cNvPr id="41" name="TextBox 41"/>
            <p:cNvSpPr txBox="1"/>
            <p:nvPr/>
          </p:nvSpPr>
          <p:spPr>
            <a:xfrm>
              <a:off x="3840480" y="6029325"/>
              <a:ext cx="1088498" cy="293370"/>
            </a:xfrm>
            <a:prstGeom prst="rect">
              <a:avLst/>
            </a:prstGeom>
            <a:noFill/>
            <a:ln>
              <a:noFill/>
            </a:ln>
          </p:spPr>
          <p:txBody>
            <a:bodyPr wrap="none" lIns="0" tIns="0" rIns="0" bIns="0" anchor="t" anchorCtr="0">
              <a:spAutoFit/>
            </a:bodyPr>
            <a:lstStyle/>
            <a:p>
              <a:pPr algn="l"/>
              <a:r>
                <a:rPr lang="zh-CN" sz="1500" b="1" dirty="0">
                  <a:solidFill>
                    <a:srgbClr val="F5EFE0"/>
                  </a:solidFill>
                  <a:latin typeface="+mn-lt"/>
                  <a:ea typeface="+mn-ea"/>
                  <a:cs typeface="+mn-cs"/>
                </a:rPr>
                <a:t>关键边界 ＞</a:t>
              </a:r>
            </a:p>
          </p:txBody>
        </p:sp>
        <p:sp>
          <p:nvSpPr>
            <p:cNvPr id="42" name="TextBox 42"/>
            <p:cNvSpPr txBox="1"/>
            <p:nvPr/>
          </p:nvSpPr>
          <p:spPr>
            <a:xfrm>
              <a:off x="4946142" y="6045518"/>
              <a:ext cx="5847474" cy="264033"/>
            </a:xfrm>
            <a:prstGeom prst="rect">
              <a:avLst/>
            </a:prstGeom>
            <a:noFill/>
            <a:ln>
              <a:noFill/>
            </a:ln>
          </p:spPr>
          <p:txBody>
            <a:bodyPr wrap="none" lIns="0" tIns="0" rIns="0" bIns="0" anchor="t" anchorCtr="0">
              <a:spAutoFit/>
            </a:bodyPr>
            <a:lstStyle/>
            <a:p>
              <a:pPr algn="l"/>
              <a:r>
                <a:rPr lang="zh-CN" sz="1350" dirty="0">
                  <a:solidFill>
                    <a:srgbClr val="F5EFE0"/>
                  </a:solidFill>
                  <a:latin typeface="+mn-lt"/>
                  <a:ea typeface="+mn-ea"/>
                  <a:cs typeface="+mn-cs"/>
                </a:rPr>
                <a:t>一本 zine 一旦进入大规模发行 + 编辑流程 + 利润逻辑，它就不再是 zine</a:t>
              </a:r>
            </a:p>
          </p:txBody>
        </p:sp>
      </p:grpSp>
      <p:grpSp>
        <p:nvGrpSpPr>
          <p:cNvPr id="46" name="Group 46"/>
          <p:cNvGrpSpPr/>
          <p:nvPr/>
        </p:nvGrpSpPr>
        <p:grpSpPr>
          <a:xfrm>
            <a:off x="3614738" y="6616541"/>
            <a:ext cx="8010525" cy="161925"/>
            <a:chOff x="3614738" y="6616541"/>
            <a:chExt cx="8010525" cy="161925"/>
          </a:xfrm>
        </p:grpSpPr>
        <p:sp>
          <p:nvSpPr>
            <p:cNvPr id="44" name="TextBox 44"/>
            <p:cNvSpPr txBox="1"/>
            <p:nvPr/>
          </p:nvSpPr>
          <p:spPr>
            <a:xfrm>
              <a:off x="3614738" y="6616541"/>
              <a:ext cx="1517127" cy="161925"/>
            </a:xfrm>
            <a:prstGeom prst="rect">
              <a:avLst/>
            </a:prstGeom>
            <a:noFill/>
            <a:ln>
              <a:noFill/>
            </a:ln>
          </p:spPr>
          <p:txBody>
            <a:bodyPr wrap="none" lIns="0" tIns="0" rIns="0" bIns="0" anchor="t" anchorCtr="0">
              <a:spAutoFit/>
            </a:bodyPr>
            <a:lstStyle/>
            <a:p>
              <a:pPr algn="l"/>
              <a:r>
                <a:rPr lang="zh-CN" sz="820" spc="150" dirty="0">
                  <a:solidFill>
                    <a:schemeClr val="dk2"/>
                  </a:solidFill>
                  <a:latin typeface="Consolas"/>
                  <a:ea typeface="Consolas"/>
                  <a:cs typeface="Consolas"/>
                </a:rPr>
                <a:t>P03 · WHAT IS A ZINE</a:t>
              </a:r>
            </a:p>
          </p:txBody>
        </p:sp>
        <p:sp>
          <p:nvSpPr>
            <p:cNvPr id="45" name="TextBox 45"/>
            <p:cNvSpPr txBox="1"/>
            <p:nvPr/>
          </p:nvSpPr>
          <p:spPr>
            <a:xfrm>
              <a:off x="8563552" y="6616541"/>
              <a:ext cx="3061711" cy="161925"/>
            </a:xfrm>
            <a:prstGeom prst="rect">
              <a:avLst/>
            </a:prstGeom>
            <a:noFill/>
            <a:ln>
              <a:noFill/>
            </a:ln>
          </p:spPr>
          <p:txBody>
            <a:bodyPr wrap="none" lIns="0" tIns="0" rIns="0" bIns="0" anchor="t" anchorCtr="0">
              <a:spAutoFit/>
            </a:bodyPr>
            <a:lstStyle/>
            <a:p>
              <a:pPr algn="r"/>
              <a:r>
                <a:rPr lang="zh-CN" sz="820" spc="150" dirty="0">
                  <a:solidFill>
                    <a:schemeClr val="dk2"/>
                  </a:solidFill>
                  <a:latin typeface="Consolas"/>
                  <a:ea typeface="Consolas"/>
                  <a:cs typeface="Consolas"/>
                </a:rPr>
                <a:t>ZINE = MAG − COMMERCE − EDITOR − SCALE</a:t>
              </a:r>
            </a:p>
          </p:txBody>
        </p:sp>
      </p:grpSp>
    </p:spTree>
  </p:cSld>
  <p:clrMapOvr>
    <a:masterClrMapping/>
  </p:clrMapOvr>
  <p:transition xmlns:p14="http://schemas.microsoft.com/office/powerpoint/2010/main" p14:dur="400">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22" presetClass="entr" presetSubtype="4"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par>
                          <p:cTn id="8" fill="hold">
                            <p:stCondLst>
                              <p:cond delay="500"/>
                            </p:stCondLst>
                            <p:childTnLst>
                              <p:par>
                                <p:cTn xmlns:p="http://schemas.openxmlformats.org/presentationml/2006/main" id="9" presetID="1" presetClass="entr" presetSubtype="0" fill="hold" grpId="0" nodeType="afterEffect">
                                  <p:stCondLst>
                                    <p:cond delay="150"/>
                                  </p:stCondLst>
                                  <p:childTnLst>
                                    <p:set>
                                      <p:cBhvr>
                                        <p:cTn id="10" dur="1" fill="hold">
                                          <p:stCondLst>
                                            <p:cond delay="0"/>
                                          </p:stCondLst>
                                        </p:cTn>
                                        <p:tgtEl>
                                          <p:spTgt spid="21"/>
                                        </p:tgtEl>
                                        <p:attrNameLst>
                                          <p:attrName>style.visibility</p:attrName>
                                        </p:attrNameLst>
                                      </p:cBhvr>
                                      <p:to>
                                        <p:strVal val="visible"/>
                                      </p:to>
                                    </p:set>
                                  </p:childTnLst>
                                </p:cTn>
                              </p:par>
                            </p:childTnLst>
                          </p:cTn>
                        </p:par>
                        <p:par>
                          <p:cTn id="11" fill="hold">
                            <p:stCondLst>
                              <p:cond delay="950"/>
                            </p:stCondLst>
                            <p:childTnLst>
                              <p:par>
                                <p:cTn xmlns:p="http://schemas.openxmlformats.org/presentationml/2006/main" id="12" presetID="10" presetClass="entr" presetSubtype="0" fill="hold" grpId="0" nodeType="afterEffect">
                                  <p:stCondLst>
                                    <p:cond delay="180"/>
                                  </p:stCondLst>
                                  <p:childTnLst>
                                    <p:set>
                                      <p:cBhvr>
                                        <p:cTn id="13" dur="1" fill="hold">
                                          <p:stCondLst>
                                            <p:cond delay="0"/>
                                          </p:stCondLst>
                                        </p:cTn>
                                        <p:tgtEl>
                                          <p:spTgt spid="27"/>
                                        </p:tgtEl>
                                        <p:attrNameLst>
                                          <p:attrName>style.visibility</p:attrName>
                                        </p:attrNameLst>
                                      </p:cBhvr>
                                      <p:to>
                                        <p:strVal val="visible"/>
                                      </p:to>
                                    </p:set>
                                    <p:animEffect transition="in" filter="fade">
                                      <p:cBhvr>
                                        <p:cTn id="14" dur="400"/>
                                        <p:tgtEl>
                                          <p:spTgt spid="27"/>
                                        </p:tgtEl>
                                      </p:cBhvr>
                                    </p:animEffect>
                                  </p:childTnLst>
                                </p:cTn>
                              </p:par>
                            </p:childTnLst>
                          </p:cTn>
                        </p:par>
                        <p:par>
                          <p:cTn id="15" fill="hold">
                            <p:stCondLst>
                              <p:cond delay="1530"/>
                            </p:stCondLst>
                            <p:childTnLst>
                              <p:par>
                                <p:cTn xmlns:p="http://schemas.openxmlformats.org/presentationml/2006/main" id="16" presetID="10" presetClass="entr" presetSubtype="0" fill="hold" grpId="0" nodeType="afterEffect">
                                  <p:stCondLst>
                                    <p:cond delay="180"/>
                                  </p:stCondLst>
                                  <p:childTnLst>
                                    <p:set>
                                      <p:cBhvr>
                                        <p:cTn id="17" dur="1" fill="hold">
                                          <p:stCondLst>
                                            <p:cond delay="0"/>
                                          </p:stCondLst>
                                        </p:cTn>
                                        <p:tgtEl>
                                          <p:spTgt spid="32"/>
                                        </p:tgtEl>
                                        <p:attrNameLst>
                                          <p:attrName>style.visibility</p:attrName>
                                        </p:attrNameLst>
                                      </p:cBhvr>
                                      <p:to>
                                        <p:strVal val="visible"/>
                                      </p:to>
                                    </p:set>
                                    <p:animEffect transition="in" filter="fade">
                                      <p:cBhvr>
                                        <p:cTn id="18" dur="400"/>
                                        <p:tgtEl>
                                          <p:spTgt spid="32"/>
                                        </p:tgtEl>
                                      </p:cBhvr>
                                    </p:animEffect>
                                  </p:childTnLst>
                                </p:cTn>
                              </p:par>
                            </p:childTnLst>
                          </p:cTn>
                        </p:par>
                        <p:par>
                          <p:cTn id="19" fill="hold">
                            <p:stCondLst>
                              <p:cond delay="2110"/>
                            </p:stCondLst>
                            <p:childTnLst>
                              <p:par>
                                <p:cTn xmlns:p="http://schemas.openxmlformats.org/presentationml/2006/main" id="20" presetID="10" presetClass="entr" presetSubtype="0" fill="hold" grpId="0" nodeType="afterEffect">
                                  <p:stCondLst>
                                    <p:cond delay="180"/>
                                  </p:stCondLst>
                                  <p:childTnLst>
                                    <p:set>
                                      <p:cBhvr>
                                        <p:cTn id="21" dur="1" fill="hold">
                                          <p:stCondLst>
                                            <p:cond delay="0"/>
                                          </p:stCondLst>
                                        </p:cTn>
                                        <p:tgtEl>
                                          <p:spTgt spid="37"/>
                                        </p:tgtEl>
                                        <p:attrNameLst>
                                          <p:attrName>style.visibility</p:attrName>
                                        </p:attrNameLst>
                                      </p:cBhvr>
                                      <p:to>
                                        <p:strVal val="visible"/>
                                      </p:to>
                                    </p:set>
                                    <p:animEffect transition="in" filter="fade">
                                      <p:cBhvr>
                                        <p:cTn id="22" dur="400"/>
                                        <p:tgtEl>
                                          <p:spTgt spid="37"/>
                                        </p:tgtEl>
                                      </p:cBhvr>
                                    </p:animEffect>
                                  </p:childTnLst>
                                </p:cTn>
                              </p:par>
                            </p:childTnLst>
                          </p:cTn>
                        </p:par>
                        <p:par>
                          <p:cTn id="23" fill="hold">
                            <p:stCondLst>
                              <p:cond delay="2690"/>
                            </p:stCondLst>
                            <p:childTnLst>
                              <p:par>
                                <p:cTn xmlns:p="http://schemas.openxmlformats.org/presentationml/2006/main" id="24" presetID="22" presetClass="entr" presetSubtype="4" fill="hold" grpId="0" nodeType="afterEffect">
                                  <p:stCondLst>
                                    <p:cond delay="200"/>
                                  </p:stCondLst>
                                  <p:childTnLst>
                                    <p:set>
                                      <p:cBhvr>
                                        <p:cTn id="25" dur="1" fill="hold">
                                          <p:stCondLst>
                                            <p:cond delay="0"/>
                                          </p:stCondLst>
                                        </p:cTn>
                                        <p:tgtEl>
                                          <p:spTgt spid="43"/>
                                        </p:tgtEl>
                                        <p:attrNameLst>
                                          <p:attrName>style.visibility</p:attrName>
                                        </p:attrNameLst>
                                      </p:cBhvr>
                                      <p:to>
                                        <p:strVal val="visible"/>
                                      </p:to>
                                    </p:set>
                                    <p:animEffect transition="in" filter="wipe(down)">
                                      <p:cBhvr>
                                        <p:cTn id="26" dur="45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pattFill prst="ltUpDiag">
            <a:fgClr>
              <a:schemeClr val="dk1">
                <a:alpha val="10000"/>
              </a:schemeClr>
            </a:fgClr>
            <a:bgClr>
              <a:srgbClr val="FFFFFF"/>
            </a:bgClr>
          </a:pattFill>
          <a:ln>
            <a:noFill/>
          </a:ln>
        </p:spPr>
      </p:sp>
      <p:grpSp>
        <p:nvGrpSpPr>
          <p:cNvPr id="8" name="Group 8"/>
          <p:cNvGrpSpPr/>
          <p:nvPr/>
        </p:nvGrpSpPr>
        <p:grpSpPr>
          <a:xfrm>
            <a:off x="571500" y="533400"/>
            <a:ext cx="6088075" cy="771239"/>
            <a:chOff x="571500" y="533400"/>
            <a:chExt cx="6088075" cy="771239"/>
          </a:xfrm>
        </p:grpSpPr>
        <p:sp>
          <p:nvSpPr>
            <p:cNvPr id="3" name="Rectangle 3"/>
            <p:cNvSpPr/>
            <p:nvPr/>
          </p:nvSpPr>
          <p:spPr>
            <a:xfrm>
              <a:off x="571500" y="533400"/>
              <a:ext cx="133350" cy="647700"/>
            </a:xfrm>
            <a:prstGeom prst="rect">
              <a:avLst/>
            </a:prstGeom>
            <a:solidFill>
              <a:schemeClr val="accent1"/>
            </a:solidFill>
            <a:ln>
              <a:noFill/>
            </a:ln>
          </p:spPr>
        </p:sp>
        <p:sp>
          <p:nvSpPr>
            <p:cNvPr id="4" name="Rectangle 4"/>
            <p:cNvSpPr/>
            <p:nvPr/>
          </p:nvSpPr>
          <p:spPr>
            <a:xfrm>
              <a:off x="600075" y="561975"/>
              <a:ext cx="133350" cy="647700"/>
            </a:xfrm>
            <a:prstGeom prst="rect">
              <a:avLst/>
            </a:prstGeom>
            <a:solidFill>
              <a:schemeClr val="accent2">
                <a:alpha val="70000"/>
              </a:schemeClr>
            </a:solidFill>
            <a:ln>
              <a:noFill/>
            </a:ln>
          </p:spPr>
        </p:sp>
        <p:sp>
          <p:nvSpPr>
            <p:cNvPr id="5" name="Rectangle 5"/>
            <p:cNvSpPr/>
            <p:nvPr/>
          </p:nvSpPr>
          <p:spPr>
            <a:xfrm>
              <a:off x="571500" y="533400"/>
              <a:ext cx="133350" cy="647700"/>
            </a:xfrm>
            <a:prstGeom prst="rect">
              <a:avLst/>
            </a:prstGeom>
            <a:solidFill>
              <a:schemeClr val="accent1"/>
            </a:solidFill>
            <a:ln>
              <a:noFill/>
            </a:ln>
          </p:spPr>
        </p:sp>
        <p:sp>
          <p:nvSpPr>
            <p:cNvPr id="6" name="TextBox 6"/>
            <p:cNvSpPr txBox="1"/>
            <p:nvPr/>
          </p:nvSpPr>
          <p:spPr>
            <a:xfrm>
              <a:off x="858012" y="544830"/>
              <a:ext cx="5801563" cy="704088"/>
            </a:xfrm>
            <a:prstGeom prst="rect">
              <a:avLst/>
            </a:prstGeom>
            <a:noFill/>
            <a:ln>
              <a:noFill/>
            </a:ln>
          </p:spPr>
          <p:txBody>
            <a:bodyPr wrap="none" lIns="0" tIns="0" rIns="0" bIns="0" anchor="t" anchorCtr="0">
              <a:spAutoFit/>
            </a:bodyPr>
            <a:lstStyle/>
            <a:p>
              <a:pPr algn="l"/>
              <a:r>
                <a:rPr lang="zh-CN" sz="3600" spc="-75" dirty="0">
                  <a:solidFill>
                    <a:schemeClr val="dk1"/>
                  </a:solidFill>
                  <a:latin typeface="+mj-lt"/>
                  <a:ea typeface="+mj-ea"/>
                  <a:cs typeface="+mj-cs"/>
                </a:rPr>
                <a:t>一百年里 ZINE 的四次浪潮</a:t>
              </a:r>
            </a:p>
          </p:txBody>
        </p:sp>
        <p:sp>
          <p:nvSpPr>
            <p:cNvPr id="7" name="TextBox 7"/>
            <p:cNvSpPr txBox="1"/>
            <p:nvPr/>
          </p:nvSpPr>
          <p:spPr>
            <a:xfrm>
              <a:off x="871347" y="1113949"/>
              <a:ext cx="4520128" cy="190690"/>
            </a:xfrm>
            <a:prstGeom prst="rect">
              <a:avLst/>
            </a:prstGeom>
            <a:noFill/>
            <a:ln>
              <a:noFill/>
            </a:ln>
          </p:spPr>
          <p:txBody>
            <a:bodyPr wrap="none" lIns="0" tIns="0" rIns="0" bIns="0" anchor="t" anchorCtr="0">
              <a:spAutoFit/>
            </a:bodyPr>
            <a:lstStyle/>
            <a:p>
              <a:pPr algn="l"/>
              <a:r>
                <a:rPr lang="zh-CN" sz="980" spc="225" dirty="0">
                  <a:solidFill>
                    <a:schemeClr val="dk2"/>
                  </a:solidFill>
                  <a:latin typeface="Consolas"/>
                  <a:ea typeface="Consolas"/>
                  <a:cs typeface="Consolas"/>
                </a:rPr>
                <a:t>FOUR WAVES OF SELF-PUBLISHING · 1920s — 2026</a:t>
              </a:r>
            </a:p>
          </p:txBody>
        </p:sp>
      </p:grpSp>
      <p:sp>
        <p:nvSpPr>
          <p:cNvPr id="9" name="Line 9"/>
          <p:cNvSpPr/>
          <p:nvPr/>
        </p:nvSpPr>
        <p:spPr>
          <a:xfrm>
            <a:off x="571500" y="1447800"/>
            <a:ext cx="11049000" cy="9525"/>
          </a:xfrm>
          <a:custGeom>
            <a:avLst/>
            <a:gdLst/>
            <a:ahLst/>
            <a:cxnLst/>
            <a:rect l="l" t="t" r="r" b="b"/>
            <a:pathLst>
              <a:path w="11049000" h="9525">
                <a:moveTo>
                  <a:pt x="0" y="0"/>
                </a:moveTo>
                <a:lnTo>
                  <a:pt x="11049000" y="0"/>
                </a:lnTo>
              </a:path>
            </a:pathLst>
          </a:custGeom>
          <a:noFill/>
          <a:ln w="28575">
            <a:solidFill>
              <a:schemeClr val="accent4"/>
            </a:solidFill>
          </a:ln>
        </p:spPr>
      </p:sp>
      <p:grpSp>
        <p:nvGrpSpPr>
          <p:cNvPr id="14" name="Group 14"/>
          <p:cNvGrpSpPr/>
          <p:nvPr/>
        </p:nvGrpSpPr>
        <p:grpSpPr>
          <a:xfrm>
            <a:off x="952500" y="3771900"/>
            <a:ext cx="10572750" cy="285750"/>
            <a:chOff x="952500" y="3771900"/>
            <a:chExt cx="10572750" cy="285750"/>
          </a:xfrm>
        </p:grpSpPr>
        <p:sp>
          <p:nvSpPr>
            <p:cNvPr id="10" name="Rectangle 10"/>
            <p:cNvSpPr/>
            <p:nvPr/>
          </p:nvSpPr>
          <p:spPr>
            <a:xfrm>
              <a:off x="952500" y="3848100"/>
              <a:ext cx="10287000" cy="133350"/>
            </a:xfrm>
            <a:prstGeom prst="rect">
              <a:avLst/>
            </a:prstGeom>
            <a:solidFill>
              <a:schemeClr val="accent1"/>
            </a:solidFill>
            <a:ln>
              <a:noFill/>
            </a:ln>
          </p:spPr>
        </p:sp>
        <p:sp>
          <p:nvSpPr>
            <p:cNvPr id="11" name="Rectangle 11"/>
            <p:cNvSpPr/>
            <p:nvPr/>
          </p:nvSpPr>
          <p:spPr>
            <a:xfrm>
              <a:off x="981075" y="3876675"/>
              <a:ext cx="10287000" cy="133350"/>
            </a:xfrm>
            <a:prstGeom prst="rect">
              <a:avLst/>
            </a:prstGeom>
            <a:solidFill>
              <a:schemeClr val="accent2">
                <a:alpha val="70000"/>
              </a:schemeClr>
            </a:solidFill>
            <a:ln>
              <a:noFill/>
            </a:ln>
          </p:spPr>
        </p:sp>
        <p:sp>
          <p:nvSpPr>
            <p:cNvPr id="12" name="Rectangle 12"/>
            <p:cNvSpPr/>
            <p:nvPr/>
          </p:nvSpPr>
          <p:spPr>
            <a:xfrm>
              <a:off x="952500" y="3848100"/>
              <a:ext cx="10287000" cy="133350"/>
            </a:xfrm>
            <a:prstGeom prst="rect">
              <a:avLst/>
            </a:prstGeom>
            <a:solidFill>
              <a:schemeClr val="accent1"/>
            </a:solidFill>
            <a:ln>
              <a:noFill/>
            </a:ln>
          </p:spPr>
        </p:sp>
        <p:sp>
          <p:nvSpPr>
            <p:cNvPr id="13" name="Polygon 13"/>
            <p:cNvSpPr/>
            <p:nvPr/>
          </p:nvSpPr>
          <p:spPr>
            <a:xfrm>
              <a:off x="11239500" y="3771900"/>
              <a:ext cx="285750" cy="285750"/>
            </a:xfrm>
            <a:custGeom>
              <a:avLst/>
              <a:gdLst/>
              <a:ahLst/>
              <a:cxnLst/>
              <a:rect l="l" t="t" r="r" b="b"/>
              <a:pathLst>
                <a:path w="285750" h="285750">
                  <a:moveTo>
                    <a:pt x="0" y="0"/>
                  </a:moveTo>
                  <a:lnTo>
                    <a:pt x="285750" y="142875"/>
                  </a:lnTo>
                  <a:lnTo>
                    <a:pt x="0" y="285750"/>
                  </a:lnTo>
                  <a:close/>
                </a:path>
              </a:pathLst>
            </a:custGeom>
            <a:solidFill>
              <a:schemeClr val="accent1"/>
            </a:solidFill>
            <a:ln>
              <a:noFill/>
            </a:ln>
          </p:spPr>
        </p:sp>
      </p:grpSp>
      <p:grpSp>
        <p:nvGrpSpPr>
          <p:cNvPr id="20" name="Group 20"/>
          <p:cNvGrpSpPr/>
          <p:nvPr/>
        </p:nvGrpSpPr>
        <p:grpSpPr>
          <a:xfrm>
            <a:off x="1485900" y="3657600"/>
            <a:ext cx="8696325" cy="514350"/>
            <a:chOff x="1485900" y="3657600"/>
            <a:chExt cx="8696325" cy="514350"/>
          </a:xfrm>
        </p:grpSpPr>
        <p:sp>
          <p:nvSpPr>
            <p:cNvPr id="15" name="Line 15"/>
            <p:cNvSpPr/>
            <p:nvPr/>
          </p:nvSpPr>
          <p:spPr>
            <a:xfrm>
              <a:off x="1485900" y="3657600"/>
              <a:ext cx="9525" cy="514350"/>
            </a:xfrm>
            <a:custGeom>
              <a:avLst/>
              <a:gdLst/>
              <a:ahLst/>
              <a:cxnLst/>
              <a:rect l="l" t="t" r="r" b="b"/>
              <a:pathLst>
                <a:path w="9525" h="514350">
                  <a:moveTo>
                    <a:pt x="0" y="0"/>
                  </a:moveTo>
                  <a:lnTo>
                    <a:pt x="0" y="514350"/>
                  </a:lnTo>
                </a:path>
              </a:pathLst>
            </a:custGeom>
            <a:noFill/>
            <a:ln w="28575">
              <a:solidFill>
                <a:schemeClr val="accent4"/>
              </a:solidFill>
            </a:ln>
          </p:spPr>
        </p:sp>
        <p:sp>
          <p:nvSpPr>
            <p:cNvPr id="16" name="Line 16"/>
            <p:cNvSpPr/>
            <p:nvPr/>
          </p:nvSpPr>
          <p:spPr>
            <a:xfrm>
              <a:off x="3657600" y="3657600"/>
              <a:ext cx="9525" cy="514350"/>
            </a:xfrm>
            <a:custGeom>
              <a:avLst/>
              <a:gdLst/>
              <a:ahLst/>
              <a:cxnLst/>
              <a:rect l="l" t="t" r="r" b="b"/>
              <a:pathLst>
                <a:path w="9525" h="514350">
                  <a:moveTo>
                    <a:pt x="0" y="0"/>
                  </a:moveTo>
                  <a:lnTo>
                    <a:pt x="0" y="514350"/>
                  </a:lnTo>
                </a:path>
              </a:pathLst>
            </a:custGeom>
            <a:noFill/>
            <a:ln w="28575">
              <a:solidFill>
                <a:schemeClr val="accent4"/>
              </a:solidFill>
            </a:ln>
          </p:spPr>
        </p:sp>
        <p:sp>
          <p:nvSpPr>
            <p:cNvPr id="17" name="Line 17"/>
            <p:cNvSpPr/>
            <p:nvPr/>
          </p:nvSpPr>
          <p:spPr>
            <a:xfrm>
              <a:off x="5829300" y="3657600"/>
              <a:ext cx="9525" cy="514350"/>
            </a:xfrm>
            <a:custGeom>
              <a:avLst/>
              <a:gdLst/>
              <a:ahLst/>
              <a:cxnLst/>
              <a:rect l="l" t="t" r="r" b="b"/>
              <a:pathLst>
                <a:path w="9525" h="514350">
                  <a:moveTo>
                    <a:pt x="0" y="0"/>
                  </a:moveTo>
                  <a:lnTo>
                    <a:pt x="0" y="514350"/>
                  </a:lnTo>
                </a:path>
              </a:pathLst>
            </a:custGeom>
            <a:noFill/>
            <a:ln w="28575">
              <a:solidFill>
                <a:schemeClr val="accent4"/>
              </a:solidFill>
            </a:ln>
          </p:spPr>
        </p:sp>
        <p:sp>
          <p:nvSpPr>
            <p:cNvPr id="18" name="Line 18"/>
            <p:cNvSpPr/>
            <p:nvPr/>
          </p:nvSpPr>
          <p:spPr>
            <a:xfrm>
              <a:off x="8001000" y="3657600"/>
              <a:ext cx="9525" cy="514350"/>
            </a:xfrm>
            <a:custGeom>
              <a:avLst/>
              <a:gdLst/>
              <a:ahLst/>
              <a:cxnLst/>
              <a:rect l="l" t="t" r="r" b="b"/>
              <a:pathLst>
                <a:path w="9525" h="514350">
                  <a:moveTo>
                    <a:pt x="0" y="0"/>
                  </a:moveTo>
                  <a:lnTo>
                    <a:pt x="0" y="514350"/>
                  </a:lnTo>
                </a:path>
              </a:pathLst>
            </a:custGeom>
            <a:noFill/>
            <a:ln w="28575">
              <a:solidFill>
                <a:schemeClr val="accent4"/>
              </a:solidFill>
            </a:ln>
          </p:spPr>
        </p:sp>
        <p:sp>
          <p:nvSpPr>
            <p:cNvPr id="19" name="Line 19"/>
            <p:cNvSpPr/>
            <p:nvPr/>
          </p:nvSpPr>
          <p:spPr>
            <a:xfrm>
              <a:off x="10172700" y="3657600"/>
              <a:ext cx="9525" cy="514350"/>
            </a:xfrm>
            <a:custGeom>
              <a:avLst/>
              <a:gdLst/>
              <a:ahLst/>
              <a:cxnLst/>
              <a:rect l="l" t="t" r="r" b="b"/>
              <a:pathLst>
                <a:path w="9525" h="514350">
                  <a:moveTo>
                    <a:pt x="0" y="0"/>
                  </a:moveTo>
                  <a:lnTo>
                    <a:pt x="0" y="514350"/>
                  </a:lnTo>
                </a:path>
              </a:pathLst>
            </a:custGeom>
            <a:noFill/>
            <a:ln w="28575">
              <a:solidFill>
                <a:schemeClr val="accent4"/>
              </a:solidFill>
            </a:ln>
          </p:spPr>
        </p:sp>
      </p:grpSp>
      <p:grpSp>
        <p:nvGrpSpPr>
          <p:cNvPr id="33" name="Group 33"/>
          <p:cNvGrpSpPr/>
          <p:nvPr/>
        </p:nvGrpSpPr>
        <p:grpSpPr>
          <a:xfrm>
            <a:off x="647700" y="1545908"/>
            <a:ext cx="1743075" cy="2302192"/>
            <a:chOff x="647700" y="1545908"/>
            <a:chExt cx="1743075" cy="2302192"/>
          </a:xfrm>
        </p:grpSpPr>
        <p:sp>
          <p:nvSpPr>
            <p:cNvPr id="21" name="TextBox 21"/>
            <p:cNvSpPr txBox="1"/>
            <p:nvPr/>
          </p:nvSpPr>
          <p:spPr>
            <a:xfrm>
              <a:off x="886825" y="1564958"/>
              <a:ext cx="1198150" cy="616077"/>
            </a:xfrm>
            <a:prstGeom prst="rect">
              <a:avLst/>
            </a:prstGeom>
            <a:noFill/>
            <a:ln>
              <a:noFill/>
            </a:ln>
          </p:spPr>
          <p:txBody>
            <a:bodyPr wrap="none" lIns="0" tIns="0" rIns="0" bIns="0" anchor="t" anchorCtr="0">
              <a:spAutoFit/>
            </a:bodyPr>
            <a:lstStyle/>
            <a:p>
              <a:pPr algn="ctr"/>
              <a:r>
                <a:rPr lang="zh-CN" sz="3150" dirty="0">
                  <a:solidFill>
                    <a:schemeClr val="accent2"/>
                  </a:solidFill>
                  <a:latin typeface="+mj-lt"/>
                  <a:ea typeface="+mj-ea"/>
                  <a:cs typeface="+mj-cs"/>
                </a:rPr>
                <a:t>1920s</a:t>
              </a:r>
            </a:p>
          </p:txBody>
        </p:sp>
        <p:sp>
          <p:nvSpPr>
            <p:cNvPr id="22" name="TextBox 22"/>
            <p:cNvSpPr txBox="1"/>
            <p:nvPr/>
          </p:nvSpPr>
          <p:spPr>
            <a:xfrm>
              <a:off x="867775" y="1545908"/>
              <a:ext cx="1198150" cy="616077"/>
            </a:xfrm>
            <a:prstGeom prst="rect">
              <a:avLst/>
            </a:prstGeom>
            <a:noFill/>
            <a:ln>
              <a:noFill/>
            </a:ln>
          </p:spPr>
          <p:txBody>
            <a:bodyPr wrap="none" lIns="0" tIns="0" rIns="0" bIns="0" anchor="t" anchorCtr="0">
              <a:spAutoFit/>
            </a:bodyPr>
            <a:lstStyle/>
            <a:p>
              <a:pPr algn="ctr"/>
              <a:r>
                <a:rPr lang="zh-CN" sz="3150" dirty="0">
                  <a:solidFill>
                    <a:schemeClr val="dk1"/>
                  </a:solidFill>
                  <a:latin typeface="+mj-lt"/>
                  <a:ea typeface="+mj-ea"/>
                  <a:cs typeface="+mj-cs"/>
                </a:rPr>
                <a:t>1920s</a:t>
              </a:r>
            </a:p>
          </p:txBody>
        </p:sp>
        <p:sp>
          <p:nvSpPr>
            <p:cNvPr id="23" name="Rectangle 23"/>
            <p:cNvSpPr/>
            <p:nvPr/>
          </p:nvSpPr>
          <p:spPr>
            <a:xfrm>
              <a:off x="647700" y="2095500"/>
              <a:ext cx="1714500" cy="1485900"/>
            </a:xfrm>
            <a:prstGeom prst="rect">
              <a:avLst/>
            </a:prstGeom>
            <a:solidFill>
              <a:schemeClr val="dk1"/>
            </a:solidFill>
            <a:ln>
              <a:noFill/>
            </a:ln>
          </p:spPr>
        </p:sp>
        <p:sp>
          <p:nvSpPr>
            <p:cNvPr id="24" name="Rectangle 24"/>
            <p:cNvSpPr/>
            <p:nvPr/>
          </p:nvSpPr>
          <p:spPr>
            <a:xfrm>
              <a:off x="676275" y="2124075"/>
              <a:ext cx="1714500" cy="1485900"/>
            </a:xfrm>
            <a:prstGeom prst="rect">
              <a:avLst/>
            </a:prstGeom>
            <a:solidFill>
              <a:schemeClr val="accent1">
                <a:alpha val="50000"/>
              </a:schemeClr>
            </a:solidFill>
            <a:ln>
              <a:noFill/>
            </a:ln>
          </p:spPr>
        </p:sp>
        <p:sp>
          <p:nvSpPr>
            <p:cNvPr id="25" name="Rectangle 25"/>
            <p:cNvSpPr/>
            <p:nvPr/>
          </p:nvSpPr>
          <p:spPr>
            <a:xfrm>
              <a:off x="647700" y="2095500"/>
              <a:ext cx="1714500" cy="1485900"/>
            </a:xfrm>
            <a:prstGeom prst="rect">
              <a:avLst/>
            </a:prstGeom>
            <a:solidFill>
              <a:schemeClr val="dk1"/>
            </a:solidFill>
            <a:ln>
              <a:noFill/>
            </a:ln>
          </p:spPr>
        </p:sp>
        <p:sp>
          <p:nvSpPr>
            <p:cNvPr id="26" name="Rectangle 26"/>
            <p:cNvSpPr/>
            <p:nvPr/>
          </p:nvSpPr>
          <p:spPr>
            <a:xfrm>
              <a:off x="647700" y="2095500"/>
              <a:ext cx="1714500" cy="323850"/>
            </a:xfrm>
            <a:prstGeom prst="rect">
              <a:avLst/>
            </a:prstGeom>
            <a:solidFill>
              <a:schemeClr val="accent2"/>
            </a:solidFill>
            <a:ln>
              <a:noFill/>
            </a:ln>
          </p:spPr>
        </p:sp>
        <p:sp>
          <p:nvSpPr>
            <p:cNvPr id="27" name="TextBox 27"/>
            <p:cNvSpPr txBox="1"/>
            <p:nvPr/>
          </p:nvSpPr>
          <p:spPr>
            <a:xfrm>
              <a:off x="1075563" y="2210752"/>
              <a:ext cx="858774" cy="205359"/>
            </a:xfrm>
            <a:prstGeom prst="rect">
              <a:avLst/>
            </a:prstGeom>
            <a:noFill/>
            <a:ln>
              <a:noFill/>
            </a:ln>
          </p:spPr>
          <p:txBody>
            <a:bodyPr wrap="none" lIns="0" tIns="0" rIns="0" bIns="0" anchor="t" anchorCtr="0">
              <a:spAutoFit/>
            </a:bodyPr>
            <a:lstStyle/>
            <a:p>
              <a:pPr algn="ctr"/>
              <a:r>
                <a:rPr lang="zh-CN" sz="1050" b="1" dirty="0">
                  <a:solidFill>
                    <a:srgbClr val="F5EFE0"/>
                  </a:solidFill>
                  <a:latin typeface="+mn-lt"/>
                  <a:ea typeface="+mn-ea"/>
                  <a:cs typeface="+mn-cs"/>
                </a:rPr>
                <a:t>业余出版火种</a:t>
              </a:r>
            </a:p>
          </p:txBody>
        </p:sp>
        <p:sp>
          <p:nvSpPr>
            <p:cNvPr id="28" name="TextBox 28"/>
            <p:cNvSpPr txBox="1"/>
            <p:nvPr/>
          </p:nvSpPr>
          <p:spPr>
            <a:xfrm>
              <a:off x="1038250" y="2580799"/>
              <a:ext cx="933399" cy="190690"/>
            </a:xfrm>
            <a:prstGeom prst="rect">
              <a:avLst/>
            </a:prstGeom>
            <a:noFill/>
            <a:ln>
              <a:noFill/>
            </a:ln>
          </p:spPr>
          <p:txBody>
            <a:bodyPr wrap="none" lIns="0" tIns="0" rIns="0" bIns="0" anchor="t" anchorCtr="0">
              <a:spAutoFit/>
            </a:bodyPr>
            <a:lstStyle/>
            <a:p>
              <a:pPr algn="ctr"/>
              <a:r>
                <a:rPr lang="zh-CN" sz="980" dirty="0">
                  <a:solidFill>
                    <a:srgbClr val="F5EFE0"/>
                  </a:solidFill>
                  <a:latin typeface="+mn-lt"/>
                  <a:ea typeface="+mn-ea"/>
                  <a:cs typeface="+mn-cs"/>
                </a:rPr>
                <a:t>哈莱姆文艺复兴</a:t>
              </a:r>
            </a:p>
          </p:txBody>
        </p:sp>
        <p:sp>
          <p:nvSpPr>
            <p:cNvPr id="29" name="TextBox 29"/>
            <p:cNvSpPr txBox="1"/>
            <p:nvPr/>
          </p:nvSpPr>
          <p:spPr>
            <a:xfrm>
              <a:off x="945901" y="2771299"/>
              <a:ext cx="1118098" cy="190690"/>
            </a:xfrm>
            <a:prstGeom prst="rect">
              <a:avLst/>
            </a:prstGeom>
            <a:noFill/>
            <a:ln>
              <a:noFill/>
            </a:ln>
          </p:spPr>
          <p:txBody>
            <a:bodyPr wrap="none" lIns="0" tIns="0" rIns="0" bIns="0" anchor="t" anchorCtr="0">
              <a:spAutoFit/>
            </a:bodyPr>
            <a:lstStyle/>
            <a:p>
              <a:pPr algn="ctr"/>
              <a:r>
                <a:rPr lang="zh-CN" sz="980" dirty="0">
                  <a:solidFill>
                    <a:srgbClr val="F5EFE0"/>
                  </a:solidFill>
                  <a:latin typeface="+mn-lt"/>
                  <a:ea typeface="+mn-ea"/>
                  <a:cs typeface="+mn-cs"/>
                </a:rPr>
                <a:t>黑人创作 *FIRE!!*</a:t>
              </a:r>
            </a:p>
          </p:txBody>
        </p:sp>
        <p:sp>
          <p:nvSpPr>
            <p:cNvPr id="30" name="TextBox 30"/>
            <p:cNvSpPr txBox="1"/>
            <p:nvPr/>
          </p:nvSpPr>
          <p:spPr>
            <a:xfrm>
              <a:off x="1113828" y="2997041"/>
              <a:ext cx="782244" cy="161925"/>
            </a:xfrm>
            <a:prstGeom prst="rect">
              <a:avLst/>
            </a:prstGeom>
            <a:noFill/>
            <a:ln>
              <a:noFill/>
            </a:ln>
          </p:spPr>
          <p:txBody>
            <a:bodyPr wrap="none" lIns="0" tIns="0" rIns="0" bIns="0" anchor="t" anchorCtr="0">
              <a:spAutoFit/>
            </a:bodyPr>
            <a:lstStyle/>
            <a:p>
              <a:pPr algn="ctr"/>
              <a:r>
                <a:rPr lang="zh-CN" sz="820" dirty="0">
                  <a:solidFill>
                    <a:srgbClr val="F5EFE0">
                      <a:alphaMod val="85000"/>
                    </a:srgbClr>
                  </a:solidFill>
                  <a:latin typeface="+mn-lt"/>
                  <a:ea typeface="+mn-ea"/>
                  <a:cs typeface="+mn-cs"/>
                </a:rPr>
                <a:t>自由独立地表达</a:t>
              </a:r>
            </a:p>
          </p:txBody>
        </p:sp>
        <p:sp>
          <p:nvSpPr>
            <p:cNvPr id="31" name="TextBox 31"/>
            <p:cNvSpPr txBox="1"/>
            <p:nvPr/>
          </p:nvSpPr>
          <p:spPr>
            <a:xfrm>
              <a:off x="1285476" y="3320891"/>
              <a:ext cx="438948" cy="161925"/>
            </a:xfrm>
            <a:prstGeom prst="rect">
              <a:avLst/>
            </a:prstGeom>
            <a:noFill/>
            <a:ln>
              <a:noFill/>
            </a:ln>
          </p:spPr>
          <p:txBody>
            <a:bodyPr wrap="none" lIns="0" tIns="0" rIns="0" bIns="0" anchor="t" anchorCtr="0">
              <a:spAutoFit/>
            </a:bodyPr>
            <a:lstStyle/>
            <a:p>
              <a:pPr algn="ctr"/>
              <a:r>
                <a:rPr lang="zh-CN" sz="820" spc="150" dirty="0">
                  <a:solidFill>
                    <a:schemeClr val="accent2"/>
                  </a:solidFill>
                  <a:latin typeface="Consolas"/>
                  <a:ea typeface="Consolas"/>
                  <a:cs typeface="Consolas"/>
                </a:rPr>
                <a:t>EMBER</a:t>
              </a:r>
            </a:p>
          </p:txBody>
        </p:sp>
        <p:sp>
          <p:nvSpPr>
            <p:cNvPr id="32" name="Line 32"/>
            <p:cNvSpPr/>
            <p:nvPr/>
          </p:nvSpPr>
          <p:spPr>
            <a:xfrm>
              <a:off x="1485900" y="3600450"/>
              <a:ext cx="9525" cy="247650"/>
            </a:xfrm>
            <a:custGeom>
              <a:avLst/>
              <a:gdLst/>
              <a:ahLst/>
              <a:cxnLst/>
              <a:rect l="l" t="t" r="r" b="b"/>
              <a:pathLst>
                <a:path w="9525" h="247650">
                  <a:moveTo>
                    <a:pt x="0" y="0"/>
                  </a:moveTo>
                  <a:lnTo>
                    <a:pt x="0" y="247650"/>
                  </a:lnTo>
                </a:path>
              </a:pathLst>
            </a:custGeom>
            <a:noFill/>
            <a:ln w="28575">
              <a:solidFill>
                <a:schemeClr val="accent2"/>
              </a:solidFill>
              <a:custDash>
                <a:ds d="100000" sp="100000"/>
              </a:custDash>
            </a:ln>
          </p:spPr>
        </p:sp>
      </p:grpSp>
      <p:grpSp>
        <p:nvGrpSpPr>
          <p:cNvPr id="47" name="Group 47"/>
          <p:cNvGrpSpPr/>
          <p:nvPr/>
        </p:nvGrpSpPr>
        <p:grpSpPr>
          <a:xfrm>
            <a:off x="2819400" y="3981450"/>
            <a:ext cx="1743075" cy="2238375"/>
            <a:chOff x="2819400" y="3981450"/>
            <a:chExt cx="1743075" cy="2238375"/>
          </a:xfrm>
        </p:grpSpPr>
        <p:sp>
          <p:nvSpPr>
            <p:cNvPr id="34" name="Line 34"/>
            <p:cNvSpPr/>
            <p:nvPr/>
          </p:nvSpPr>
          <p:spPr>
            <a:xfrm>
              <a:off x="3657600" y="3981450"/>
              <a:ext cx="9525" cy="266700"/>
            </a:xfrm>
            <a:custGeom>
              <a:avLst/>
              <a:gdLst/>
              <a:ahLst/>
              <a:cxnLst/>
              <a:rect l="l" t="t" r="r" b="b"/>
              <a:pathLst>
                <a:path w="9525" h="266700">
                  <a:moveTo>
                    <a:pt x="0" y="0"/>
                  </a:moveTo>
                  <a:lnTo>
                    <a:pt x="0" y="266700"/>
                  </a:lnTo>
                </a:path>
              </a:pathLst>
            </a:custGeom>
            <a:noFill/>
            <a:ln w="28575">
              <a:solidFill>
                <a:schemeClr val="accent2"/>
              </a:solidFill>
              <a:custDash>
                <a:ds d="100000" sp="100000"/>
              </a:custDash>
            </a:ln>
          </p:spPr>
        </p:sp>
        <p:sp>
          <p:nvSpPr>
            <p:cNvPr id="35" name="TextBox 35"/>
            <p:cNvSpPr txBox="1"/>
            <p:nvPr/>
          </p:nvSpPr>
          <p:spPr>
            <a:xfrm>
              <a:off x="3058525" y="4193858"/>
              <a:ext cx="1198150" cy="616077"/>
            </a:xfrm>
            <a:prstGeom prst="rect">
              <a:avLst/>
            </a:prstGeom>
            <a:noFill/>
            <a:ln>
              <a:noFill/>
            </a:ln>
          </p:spPr>
          <p:txBody>
            <a:bodyPr wrap="none" lIns="0" tIns="0" rIns="0" bIns="0" anchor="t" anchorCtr="0">
              <a:spAutoFit/>
            </a:bodyPr>
            <a:lstStyle/>
            <a:p>
              <a:pPr algn="ctr"/>
              <a:r>
                <a:rPr lang="zh-CN" sz="3150" dirty="0">
                  <a:solidFill>
                    <a:schemeClr val="accent2"/>
                  </a:solidFill>
                  <a:latin typeface="+mj-lt"/>
                  <a:ea typeface="+mj-ea"/>
                  <a:cs typeface="+mj-cs"/>
                </a:rPr>
                <a:t>1930s</a:t>
              </a:r>
            </a:p>
          </p:txBody>
        </p:sp>
        <p:sp>
          <p:nvSpPr>
            <p:cNvPr id="36" name="TextBox 36"/>
            <p:cNvSpPr txBox="1"/>
            <p:nvPr/>
          </p:nvSpPr>
          <p:spPr>
            <a:xfrm>
              <a:off x="3039475" y="4174808"/>
              <a:ext cx="1198150" cy="616077"/>
            </a:xfrm>
            <a:prstGeom prst="rect">
              <a:avLst/>
            </a:prstGeom>
            <a:noFill/>
            <a:ln>
              <a:noFill/>
            </a:ln>
          </p:spPr>
          <p:txBody>
            <a:bodyPr wrap="none" lIns="0" tIns="0" rIns="0" bIns="0" anchor="t" anchorCtr="0">
              <a:spAutoFit/>
            </a:bodyPr>
            <a:lstStyle/>
            <a:p>
              <a:pPr algn="ctr"/>
              <a:r>
                <a:rPr lang="zh-CN" sz="3150" dirty="0">
                  <a:solidFill>
                    <a:schemeClr val="dk1"/>
                  </a:solidFill>
                  <a:latin typeface="+mj-lt"/>
                  <a:ea typeface="+mj-ea"/>
                  <a:cs typeface="+mj-cs"/>
                </a:rPr>
                <a:t>1930s</a:t>
              </a:r>
            </a:p>
          </p:txBody>
        </p:sp>
        <p:sp>
          <p:nvSpPr>
            <p:cNvPr id="37" name="Rectangle 37"/>
            <p:cNvSpPr/>
            <p:nvPr/>
          </p:nvSpPr>
          <p:spPr>
            <a:xfrm>
              <a:off x="2819400" y="4705350"/>
              <a:ext cx="1714500" cy="1485900"/>
            </a:xfrm>
            <a:prstGeom prst="rect">
              <a:avLst/>
            </a:prstGeom>
            <a:solidFill>
              <a:schemeClr val="dk1"/>
            </a:solidFill>
            <a:ln>
              <a:noFill/>
            </a:ln>
          </p:spPr>
        </p:sp>
        <p:sp>
          <p:nvSpPr>
            <p:cNvPr id="38" name="Rectangle 38"/>
            <p:cNvSpPr/>
            <p:nvPr/>
          </p:nvSpPr>
          <p:spPr>
            <a:xfrm>
              <a:off x="2847975" y="4733925"/>
              <a:ext cx="1714500" cy="1485900"/>
            </a:xfrm>
            <a:prstGeom prst="rect">
              <a:avLst/>
            </a:prstGeom>
            <a:solidFill>
              <a:schemeClr val="accent2">
                <a:alpha val="50000"/>
              </a:schemeClr>
            </a:solidFill>
            <a:ln>
              <a:noFill/>
            </a:ln>
          </p:spPr>
        </p:sp>
        <p:sp>
          <p:nvSpPr>
            <p:cNvPr id="39" name="Rectangle 39"/>
            <p:cNvSpPr/>
            <p:nvPr/>
          </p:nvSpPr>
          <p:spPr>
            <a:xfrm>
              <a:off x="2819400" y="4705350"/>
              <a:ext cx="1714500" cy="1485900"/>
            </a:xfrm>
            <a:prstGeom prst="rect">
              <a:avLst/>
            </a:prstGeom>
            <a:solidFill>
              <a:schemeClr val="dk1"/>
            </a:solidFill>
            <a:ln>
              <a:noFill/>
            </a:ln>
          </p:spPr>
        </p:sp>
        <p:sp>
          <p:nvSpPr>
            <p:cNvPr id="40" name="Rectangle 40"/>
            <p:cNvSpPr/>
            <p:nvPr/>
          </p:nvSpPr>
          <p:spPr>
            <a:xfrm>
              <a:off x="2819400" y="4705350"/>
              <a:ext cx="1714500" cy="323850"/>
            </a:xfrm>
            <a:prstGeom prst="rect">
              <a:avLst/>
            </a:prstGeom>
            <a:solidFill>
              <a:schemeClr val="accent1"/>
            </a:solidFill>
            <a:ln>
              <a:noFill/>
            </a:ln>
          </p:spPr>
        </p:sp>
        <p:sp>
          <p:nvSpPr>
            <p:cNvPr id="41" name="TextBox 41"/>
            <p:cNvSpPr txBox="1"/>
            <p:nvPr/>
          </p:nvSpPr>
          <p:spPr>
            <a:xfrm>
              <a:off x="3317938" y="4820602"/>
              <a:ext cx="717423" cy="205359"/>
            </a:xfrm>
            <a:prstGeom prst="rect">
              <a:avLst/>
            </a:prstGeom>
            <a:noFill/>
            <a:ln>
              <a:noFill/>
            </a:ln>
          </p:spPr>
          <p:txBody>
            <a:bodyPr wrap="none" lIns="0" tIns="0" rIns="0" bIns="0" anchor="t" anchorCtr="0">
              <a:spAutoFit/>
            </a:bodyPr>
            <a:lstStyle/>
            <a:p>
              <a:pPr algn="ctr"/>
              <a:r>
                <a:rPr lang="zh-CN" sz="1050" b="1" dirty="0">
                  <a:solidFill>
                    <a:srgbClr val="F5EFE0"/>
                  </a:solidFill>
                  <a:latin typeface="+mn-lt"/>
                  <a:ea typeface="+mn-ea"/>
                  <a:cs typeface="+mn-cs"/>
                </a:rPr>
                <a:t>科幻同人志</a:t>
              </a:r>
            </a:p>
          </p:txBody>
        </p:sp>
        <p:sp>
          <p:nvSpPr>
            <p:cNvPr id="42" name="TextBox 42"/>
            <p:cNvSpPr txBox="1"/>
            <p:nvPr/>
          </p:nvSpPr>
          <p:spPr>
            <a:xfrm>
              <a:off x="2946842" y="5190649"/>
              <a:ext cx="1459616" cy="190690"/>
            </a:xfrm>
            <a:prstGeom prst="rect">
              <a:avLst/>
            </a:prstGeom>
            <a:noFill/>
            <a:ln>
              <a:noFill/>
            </a:ln>
          </p:spPr>
          <p:txBody>
            <a:bodyPr wrap="none" lIns="0" tIns="0" rIns="0" bIns="0" anchor="t" anchorCtr="0">
              <a:spAutoFit/>
            </a:bodyPr>
            <a:lstStyle/>
            <a:p>
              <a:pPr algn="ctr"/>
              <a:r>
                <a:rPr lang="zh-CN" sz="980" dirty="0">
                  <a:solidFill>
                    <a:srgbClr val="F5EFE0"/>
                  </a:solidFill>
                  <a:latin typeface="+mn-lt"/>
                  <a:ea typeface="+mn-ea"/>
                  <a:cs typeface="+mn-cs"/>
                </a:rPr>
                <a:t>*THE COMET*（1930）</a:t>
              </a:r>
            </a:p>
          </p:txBody>
        </p:sp>
        <p:sp>
          <p:nvSpPr>
            <p:cNvPr id="43" name="TextBox 43"/>
            <p:cNvSpPr txBox="1"/>
            <p:nvPr/>
          </p:nvSpPr>
          <p:spPr>
            <a:xfrm>
              <a:off x="3143987" y="5381149"/>
              <a:ext cx="1065327" cy="190690"/>
            </a:xfrm>
            <a:prstGeom prst="rect">
              <a:avLst/>
            </a:prstGeom>
            <a:noFill/>
            <a:ln>
              <a:noFill/>
            </a:ln>
          </p:spPr>
          <p:txBody>
            <a:bodyPr wrap="none" lIns="0" tIns="0" rIns="0" bIns="0" anchor="t" anchorCtr="0">
              <a:spAutoFit/>
            </a:bodyPr>
            <a:lstStyle/>
            <a:p>
              <a:pPr algn="ctr"/>
              <a:r>
                <a:rPr lang="zh-CN" sz="980" dirty="0">
                  <a:solidFill>
                    <a:srgbClr val="F5EFE0"/>
                  </a:solidFill>
                  <a:latin typeface="+mn-lt"/>
                  <a:ea typeface="+mn-ea"/>
                  <a:cs typeface="+mn-cs"/>
                </a:rPr>
                <a:t>第一本科幻同人志</a:t>
              </a:r>
            </a:p>
          </p:txBody>
        </p:sp>
        <p:sp>
          <p:nvSpPr>
            <p:cNvPr id="44" name="TextBox 44"/>
            <p:cNvSpPr txBox="1"/>
            <p:nvPr/>
          </p:nvSpPr>
          <p:spPr>
            <a:xfrm>
              <a:off x="3091619" y="5606891"/>
              <a:ext cx="1170061" cy="161925"/>
            </a:xfrm>
            <a:prstGeom prst="rect">
              <a:avLst/>
            </a:prstGeom>
            <a:noFill/>
            <a:ln>
              <a:noFill/>
            </a:ln>
          </p:spPr>
          <p:txBody>
            <a:bodyPr wrap="none" lIns="0" tIns="0" rIns="0" bIns="0" anchor="t" anchorCtr="0">
              <a:spAutoFit/>
            </a:bodyPr>
            <a:lstStyle/>
            <a:p>
              <a:pPr algn="ctr"/>
              <a:r>
                <a:rPr lang="zh-CN" sz="820" dirty="0">
                  <a:solidFill>
                    <a:srgbClr val="F5EFE0">
                      <a:alphaMod val="85000"/>
                    </a:srgbClr>
                  </a:solidFill>
                  <a:latin typeface="+mn-lt"/>
                  <a:ea typeface="+mn-ea"/>
                  <a:cs typeface="+mn-cs"/>
                </a:rPr>
                <a:t>1940 RUSS CHAUVENET</a:t>
              </a:r>
            </a:p>
          </p:txBody>
        </p:sp>
        <p:sp>
          <p:nvSpPr>
            <p:cNvPr id="45" name="TextBox 45"/>
            <p:cNvSpPr txBox="1"/>
            <p:nvPr/>
          </p:nvSpPr>
          <p:spPr>
            <a:xfrm>
              <a:off x="3164517" y="5778341"/>
              <a:ext cx="1024265" cy="161925"/>
            </a:xfrm>
            <a:prstGeom prst="rect">
              <a:avLst/>
            </a:prstGeom>
            <a:noFill/>
            <a:ln>
              <a:noFill/>
            </a:ln>
          </p:spPr>
          <p:txBody>
            <a:bodyPr wrap="none" lIns="0" tIns="0" rIns="0" bIns="0" anchor="t" anchorCtr="0">
              <a:spAutoFit/>
            </a:bodyPr>
            <a:lstStyle/>
            <a:p>
              <a:pPr algn="ctr"/>
              <a:r>
                <a:rPr lang="zh-CN" sz="820" dirty="0">
                  <a:solidFill>
                    <a:srgbClr val="F5EFE0">
                      <a:alphaMod val="85000"/>
                    </a:srgbClr>
                  </a:solidFill>
                  <a:latin typeface="+mn-lt"/>
                  <a:ea typeface="+mn-ea"/>
                  <a:cs typeface="+mn-cs"/>
                </a:rPr>
                <a:t>创造"FANZINE"一词</a:t>
              </a:r>
            </a:p>
          </p:txBody>
        </p:sp>
        <p:sp>
          <p:nvSpPr>
            <p:cNvPr id="46" name="TextBox 46"/>
            <p:cNvSpPr txBox="1"/>
            <p:nvPr/>
          </p:nvSpPr>
          <p:spPr>
            <a:xfrm>
              <a:off x="3226961" y="6006941"/>
              <a:ext cx="899378" cy="161925"/>
            </a:xfrm>
            <a:prstGeom prst="rect">
              <a:avLst/>
            </a:prstGeom>
            <a:noFill/>
            <a:ln>
              <a:noFill/>
            </a:ln>
          </p:spPr>
          <p:txBody>
            <a:bodyPr wrap="none" lIns="0" tIns="0" rIns="0" bIns="0" anchor="t" anchorCtr="0">
              <a:spAutoFit/>
            </a:bodyPr>
            <a:lstStyle/>
            <a:p>
              <a:pPr algn="ctr"/>
              <a:r>
                <a:rPr lang="zh-CN" sz="820" spc="150" dirty="0">
                  <a:solidFill>
                    <a:schemeClr val="accent1"/>
                  </a:solidFill>
                  <a:latin typeface="Consolas"/>
                  <a:ea typeface="Consolas"/>
                  <a:cs typeface="Consolas"/>
                </a:rPr>
                <a:t>CRYSTALLIZE</a:t>
              </a:r>
            </a:p>
          </p:txBody>
        </p:sp>
      </p:grpSp>
      <p:grpSp>
        <p:nvGrpSpPr>
          <p:cNvPr id="60" name="Group 60"/>
          <p:cNvGrpSpPr/>
          <p:nvPr/>
        </p:nvGrpSpPr>
        <p:grpSpPr>
          <a:xfrm>
            <a:off x="4991100" y="1545908"/>
            <a:ext cx="1743075" cy="2302192"/>
            <a:chOff x="4991100" y="1545908"/>
            <a:chExt cx="1743075" cy="2302192"/>
          </a:xfrm>
        </p:grpSpPr>
        <p:sp>
          <p:nvSpPr>
            <p:cNvPr id="48" name="TextBox 48"/>
            <p:cNvSpPr txBox="1"/>
            <p:nvPr/>
          </p:nvSpPr>
          <p:spPr>
            <a:xfrm>
              <a:off x="5346840" y="1564958"/>
              <a:ext cx="964921" cy="616077"/>
            </a:xfrm>
            <a:prstGeom prst="rect">
              <a:avLst/>
            </a:prstGeom>
            <a:noFill/>
            <a:ln>
              <a:noFill/>
            </a:ln>
          </p:spPr>
          <p:txBody>
            <a:bodyPr wrap="none" lIns="0" tIns="0" rIns="0" bIns="0" anchor="t" anchorCtr="0">
              <a:spAutoFit/>
            </a:bodyPr>
            <a:lstStyle/>
            <a:p>
              <a:pPr algn="ctr"/>
              <a:r>
                <a:rPr lang="zh-CN" sz="3150" dirty="0">
                  <a:solidFill>
                    <a:schemeClr val="accent2"/>
                  </a:solidFill>
                  <a:latin typeface="+mj-lt"/>
                  <a:ea typeface="+mj-ea"/>
                  <a:cs typeface="+mj-cs"/>
                </a:rPr>
                <a:t>1976</a:t>
              </a:r>
            </a:p>
          </p:txBody>
        </p:sp>
        <p:sp>
          <p:nvSpPr>
            <p:cNvPr id="49" name="TextBox 49"/>
            <p:cNvSpPr txBox="1"/>
            <p:nvPr/>
          </p:nvSpPr>
          <p:spPr>
            <a:xfrm>
              <a:off x="5327790" y="1545908"/>
              <a:ext cx="964921" cy="616077"/>
            </a:xfrm>
            <a:prstGeom prst="rect">
              <a:avLst/>
            </a:prstGeom>
            <a:noFill/>
            <a:ln>
              <a:noFill/>
            </a:ln>
          </p:spPr>
          <p:txBody>
            <a:bodyPr wrap="none" lIns="0" tIns="0" rIns="0" bIns="0" anchor="t" anchorCtr="0">
              <a:spAutoFit/>
            </a:bodyPr>
            <a:lstStyle/>
            <a:p>
              <a:pPr algn="ctr"/>
              <a:r>
                <a:rPr lang="zh-CN" sz="3150" dirty="0">
                  <a:solidFill>
                    <a:schemeClr val="dk1"/>
                  </a:solidFill>
                  <a:latin typeface="+mj-lt"/>
                  <a:ea typeface="+mj-ea"/>
                  <a:cs typeface="+mj-cs"/>
                </a:rPr>
                <a:t>1976</a:t>
              </a:r>
            </a:p>
          </p:txBody>
        </p:sp>
        <p:sp>
          <p:nvSpPr>
            <p:cNvPr id="50" name="Rectangle 50"/>
            <p:cNvSpPr/>
            <p:nvPr/>
          </p:nvSpPr>
          <p:spPr>
            <a:xfrm>
              <a:off x="4991100" y="2095500"/>
              <a:ext cx="1714500" cy="1485900"/>
            </a:xfrm>
            <a:prstGeom prst="rect">
              <a:avLst/>
            </a:prstGeom>
            <a:solidFill>
              <a:schemeClr val="dk1"/>
            </a:solidFill>
            <a:ln>
              <a:noFill/>
            </a:ln>
          </p:spPr>
        </p:sp>
        <p:sp>
          <p:nvSpPr>
            <p:cNvPr id="51" name="Rectangle 51"/>
            <p:cNvSpPr/>
            <p:nvPr/>
          </p:nvSpPr>
          <p:spPr>
            <a:xfrm>
              <a:off x="5019675" y="2124075"/>
              <a:ext cx="1714500" cy="1485900"/>
            </a:xfrm>
            <a:prstGeom prst="rect">
              <a:avLst/>
            </a:prstGeom>
            <a:solidFill>
              <a:schemeClr val="accent1">
                <a:alpha val="50000"/>
              </a:schemeClr>
            </a:solidFill>
            <a:ln>
              <a:noFill/>
            </a:ln>
          </p:spPr>
        </p:sp>
        <p:sp>
          <p:nvSpPr>
            <p:cNvPr id="52" name="Rectangle 52"/>
            <p:cNvSpPr/>
            <p:nvPr/>
          </p:nvSpPr>
          <p:spPr>
            <a:xfrm>
              <a:off x="4991100" y="2095500"/>
              <a:ext cx="1714500" cy="1485900"/>
            </a:xfrm>
            <a:prstGeom prst="rect">
              <a:avLst/>
            </a:prstGeom>
            <a:solidFill>
              <a:schemeClr val="dk1"/>
            </a:solidFill>
            <a:ln>
              <a:noFill/>
            </a:ln>
          </p:spPr>
        </p:sp>
        <p:sp>
          <p:nvSpPr>
            <p:cNvPr id="53" name="Rectangle 53"/>
            <p:cNvSpPr/>
            <p:nvPr/>
          </p:nvSpPr>
          <p:spPr>
            <a:xfrm>
              <a:off x="4991100" y="2095500"/>
              <a:ext cx="1714500" cy="323850"/>
            </a:xfrm>
            <a:prstGeom prst="rect">
              <a:avLst/>
            </a:prstGeom>
            <a:solidFill>
              <a:schemeClr val="accent3"/>
            </a:solidFill>
            <a:ln>
              <a:noFill/>
            </a:ln>
          </p:spPr>
        </p:sp>
        <p:sp>
          <p:nvSpPr>
            <p:cNvPr id="54" name="TextBox 54"/>
            <p:cNvSpPr txBox="1"/>
            <p:nvPr/>
          </p:nvSpPr>
          <p:spPr>
            <a:xfrm>
              <a:off x="5344367" y="2210752"/>
              <a:ext cx="1007966" cy="205359"/>
            </a:xfrm>
            <a:prstGeom prst="rect">
              <a:avLst/>
            </a:prstGeom>
            <a:noFill/>
            <a:ln>
              <a:noFill/>
            </a:ln>
          </p:spPr>
          <p:txBody>
            <a:bodyPr wrap="none" lIns="0" tIns="0" rIns="0" bIns="0" anchor="t" anchorCtr="0">
              <a:spAutoFit/>
            </a:bodyPr>
            <a:lstStyle/>
            <a:p>
              <a:pPr algn="ctr"/>
              <a:r>
                <a:rPr lang="zh-CN" sz="1050" b="1" dirty="0">
                  <a:solidFill>
                    <a:schemeClr val="dk1"/>
                  </a:solidFill>
                  <a:latin typeface="+mn-lt"/>
                  <a:ea typeface="+mn-ea"/>
                  <a:cs typeface="+mn-cs"/>
                </a:rPr>
                <a:t>朋克 ZINE 浪潮</a:t>
              </a:r>
            </a:p>
          </p:txBody>
        </p:sp>
        <p:sp>
          <p:nvSpPr>
            <p:cNvPr id="55" name="TextBox 55"/>
            <p:cNvSpPr txBox="1"/>
            <p:nvPr/>
          </p:nvSpPr>
          <p:spPr>
            <a:xfrm>
              <a:off x="5320665" y="2580799"/>
              <a:ext cx="1055370" cy="190690"/>
            </a:xfrm>
            <a:prstGeom prst="rect">
              <a:avLst/>
            </a:prstGeom>
            <a:noFill/>
            <a:ln>
              <a:noFill/>
            </a:ln>
          </p:spPr>
          <p:txBody>
            <a:bodyPr wrap="none" lIns="0" tIns="0" rIns="0" bIns="0" anchor="t" anchorCtr="0">
              <a:spAutoFit/>
            </a:bodyPr>
            <a:lstStyle/>
            <a:p>
              <a:pPr algn="ctr"/>
              <a:r>
                <a:rPr lang="zh-CN" sz="980" dirty="0">
                  <a:solidFill>
                    <a:srgbClr val="F5EFE0"/>
                  </a:solidFill>
                  <a:latin typeface="+mn-lt"/>
                  <a:ea typeface="+mn-ea"/>
                  <a:cs typeface="+mn-cs"/>
                </a:rPr>
                <a:t>*SNIFFIN' GLUE*</a:t>
              </a:r>
            </a:p>
          </p:txBody>
        </p:sp>
        <p:sp>
          <p:nvSpPr>
            <p:cNvPr id="56" name="TextBox 56"/>
            <p:cNvSpPr txBox="1"/>
            <p:nvPr/>
          </p:nvSpPr>
          <p:spPr>
            <a:xfrm>
              <a:off x="5303241" y="2771299"/>
              <a:ext cx="1090219" cy="190690"/>
            </a:xfrm>
            <a:prstGeom prst="rect">
              <a:avLst/>
            </a:prstGeom>
            <a:noFill/>
            <a:ln>
              <a:noFill/>
            </a:ln>
          </p:spPr>
          <p:txBody>
            <a:bodyPr wrap="none" lIns="0" tIns="0" rIns="0" bIns="0" anchor="t" anchorCtr="0">
              <a:spAutoFit/>
            </a:bodyPr>
            <a:lstStyle/>
            <a:p>
              <a:pPr algn="ctr"/>
              <a:r>
                <a:rPr lang="zh-CN" sz="980" dirty="0">
                  <a:solidFill>
                    <a:srgbClr val="F5EFE0"/>
                  </a:solidFill>
                  <a:latin typeface="+mn-lt"/>
                  <a:ea typeface="+mn-ea"/>
                  <a:cs typeface="+mn-cs"/>
                </a:rPr>
                <a:t>MARK PERRY 创办</a:t>
              </a:r>
            </a:p>
          </p:txBody>
        </p:sp>
        <p:sp>
          <p:nvSpPr>
            <p:cNvPr id="57" name="TextBox 57"/>
            <p:cNvSpPr txBox="1"/>
            <p:nvPr/>
          </p:nvSpPr>
          <p:spPr>
            <a:xfrm>
              <a:off x="5283366" y="2997041"/>
              <a:ext cx="1129967" cy="161925"/>
            </a:xfrm>
            <a:prstGeom prst="rect">
              <a:avLst/>
            </a:prstGeom>
            <a:noFill/>
            <a:ln>
              <a:noFill/>
            </a:ln>
          </p:spPr>
          <p:txBody>
            <a:bodyPr wrap="none" lIns="0" tIns="0" rIns="0" bIns="0" anchor="t" anchorCtr="0">
              <a:spAutoFit/>
            </a:bodyPr>
            <a:lstStyle/>
            <a:p>
              <a:pPr algn="ctr"/>
              <a:r>
                <a:rPr lang="zh-CN" sz="820" dirty="0">
                  <a:solidFill>
                    <a:srgbClr val="F5EFE0">
                      <a:alphaMod val="85000"/>
                    </a:srgbClr>
                  </a:solidFill>
                  <a:latin typeface="+mn-lt"/>
                  <a:ea typeface="+mn-ea"/>
                  <a:cs typeface="+mn-cs"/>
                </a:rPr>
                <a:t>复印机普及 + 工薪阶层</a:t>
              </a:r>
            </a:p>
          </p:txBody>
        </p:sp>
        <p:sp>
          <p:nvSpPr>
            <p:cNvPr id="58" name="TextBox 58"/>
            <p:cNvSpPr txBox="1"/>
            <p:nvPr/>
          </p:nvSpPr>
          <p:spPr>
            <a:xfrm>
              <a:off x="5319006" y="3320891"/>
              <a:ext cx="1058687" cy="161925"/>
            </a:xfrm>
            <a:prstGeom prst="rect">
              <a:avLst/>
            </a:prstGeom>
            <a:noFill/>
            <a:ln>
              <a:noFill/>
            </a:ln>
          </p:spPr>
          <p:txBody>
            <a:bodyPr wrap="none" lIns="0" tIns="0" rIns="0" bIns="0" anchor="t" anchorCtr="0">
              <a:spAutoFit/>
            </a:bodyPr>
            <a:lstStyle/>
            <a:p>
              <a:pPr algn="ctr"/>
              <a:r>
                <a:rPr lang="zh-CN" sz="820" spc="150" dirty="0">
                  <a:solidFill>
                    <a:schemeClr val="accent3"/>
                  </a:solidFill>
                  <a:latin typeface="Consolas"/>
                  <a:ea typeface="Consolas"/>
                  <a:cs typeface="Consolas"/>
                </a:rPr>
                <a:t>DIY EXPLOSION</a:t>
              </a:r>
            </a:p>
          </p:txBody>
        </p:sp>
        <p:sp>
          <p:nvSpPr>
            <p:cNvPr id="59" name="Line 59"/>
            <p:cNvSpPr/>
            <p:nvPr/>
          </p:nvSpPr>
          <p:spPr>
            <a:xfrm>
              <a:off x="5829300" y="3600450"/>
              <a:ext cx="9525" cy="247650"/>
            </a:xfrm>
            <a:custGeom>
              <a:avLst/>
              <a:gdLst/>
              <a:ahLst/>
              <a:cxnLst/>
              <a:rect l="l" t="t" r="r" b="b"/>
              <a:pathLst>
                <a:path w="9525" h="247650">
                  <a:moveTo>
                    <a:pt x="0" y="0"/>
                  </a:moveTo>
                  <a:lnTo>
                    <a:pt x="0" y="247650"/>
                  </a:lnTo>
                </a:path>
              </a:pathLst>
            </a:custGeom>
            <a:noFill/>
            <a:ln w="28575">
              <a:solidFill>
                <a:schemeClr val="accent3"/>
              </a:solidFill>
              <a:custDash>
                <a:ds d="100000" sp="100000"/>
              </a:custDash>
            </a:ln>
          </p:spPr>
        </p:sp>
      </p:grpSp>
      <p:grpSp>
        <p:nvGrpSpPr>
          <p:cNvPr id="74" name="Group 74"/>
          <p:cNvGrpSpPr/>
          <p:nvPr/>
        </p:nvGrpSpPr>
        <p:grpSpPr>
          <a:xfrm>
            <a:off x="7162800" y="3981450"/>
            <a:ext cx="1743075" cy="2238375"/>
            <a:chOff x="7162800" y="3981450"/>
            <a:chExt cx="1743075" cy="2238375"/>
          </a:xfrm>
        </p:grpSpPr>
        <p:sp>
          <p:nvSpPr>
            <p:cNvPr id="61" name="Line 61"/>
            <p:cNvSpPr/>
            <p:nvPr/>
          </p:nvSpPr>
          <p:spPr>
            <a:xfrm>
              <a:off x="8001000" y="3981450"/>
              <a:ext cx="9525" cy="266700"/>
            </a:xfrm>
            <a:custGeom>
              <a:avLst/>
              <a:gdLst/>
              <a:ahLst/>
              <a:cxnLst/>
              <a:rect l="l" t="t" r="r" b="b"/>
              <a:pathLst>
                <a:path w="9525" h="266700">
                  <a:moveTo>
                    <a:pt x="0" y="0"/>
                  </a:moveTo>
                  <a:lnTo>
                    <a:pt x="0" y="266700"/>
                  </a:lnTo>
                </a:path>
              </a:pathLst>
            </a:custGeom>
            <a:noFill/>
            <a:ln w="28575">
              <a:solidFill>
                <a:schemeClr val="accent2"/>
              </a:solidFill>
              <a:custDash>
                <a:ds d="100000" sp="100000"/>
              </a:custDash>
            </a:ln>
          </p:spPr>
        </p:sp>
        <p:sp>
          <p:nvSpPr>
            <p:cNvPr id="62" name="TextBox 62"/>
            <p:cNvSpPr txBox="1"/>
            <p:nvPr/>
          </p:nvSpPr>
          <p:spPr>
            <a:xfrm>
              <a:off x="7518540" y="4193858"/>
              <a:ext cx="964921" cy="616077"/>
            </a:xfrm>
            <a:prstGeom prst="rect">
              <a:avLst/>
            </a:prstGeom>
            <a:noFill/>
            <a:ln>
              <a:noFill/>
            </a:ln>
          </p:spPr>
          <p:txBody>
            <a:bodyPr wrap="none" lIns="0" tIns="0" rIns="0" bIns="0" anchor="t" anchorCtr="0">
              <a:spAutoFit/>
            </a:bodyPr>
            <a:lstStyle/>
            <a:p>
              <a:pPr algn="ctr"/>
              <a:r>
                <a:rPr lang="zh-CN" sz="3150" dirty="0">
                  <a:solidFill>
                    <a:schemeClr val="accent2"/>
                  </a:solidFill>
                  <a:latin typeface="+mj-lt"/>
                  <a:ea typeface="+mj-ea"/>
                  <a:cs typeface="+mj-cs"/>
                </a:rPr>
                <a:t>1991</a:t>
              </a:r>
            </a:p>
          </p:txBody>
        </p:sp>
        <p:sp>
          <p:nvSpPr>
            <p:cNvPr id="63" name="TextBox 63"/>
            <p:cNvSpPr txBox="1"/>
            <p:nvPr/>
          </p:nvSpPr>
          <p:spPr>
            <a:xfrm>
              <a:off x="7499490" y="4174808"/>
              <a:ext cx="964921" cy="616077"/>
            </a:xfrm>
            <a:prstGeom prst="rect">
              <a:avLst/>
            </a:prstGeom>
            <a:noFill/>
            <a:ln>
              <a:noFill/>
            </a:ln>
          </p:spPr>
          <p:txBody>
            <a:bodyPr wrap="none" lIns="0" tIns="0" rIns="0" bIns="0" anchor="t" anchorCtr="0">
              <a:spAutoFit/>
            </a:bodyPr>
            <a:lstStyle/>
            <a:p>
              <a:pPr algn="ctr"/>
              <a:r>
                <a:rPr lang="zh-CN" sz="3150" dirty="0">
                  <a:solidFill>
                    <a:schemeClr val="dk1"/>
                  </a:solidFill>
                  <a:latin typeface="+mj-lt"/>
                  <a:ea typeface="+mj-ea"/>
                  <a:cs typeface="+mj-cs"/>
                </a:rPr>
                <a:t>1991</a:t>
              </a:r>
            </a:p>
          </p:txBody>
        </p:sp>
        <p:sp>
          <p:nvSpPr>
            <p:cNvPr id="64" name="Rectangle 64"/>
            <p:cNvSpPr/>
            <p:nvPr/>
          </p:nvSpPr>
          <p:spPr>
            <a:xfrm>
              <a:off x="7162800" y="4705350"/>
              <a:ext cx="1714500" cy="1485900"/>
            </a:xfrm>
            <a:prstGeom prst="rect">
              <a:avLst/>
            </a:prstGeom>
            <a:solidFill>
              <a:schemeClr val="accent2"/>
            </a:solidFill>
            <a:ln>
              <a:noFill/>
            </a:ln>
          </p:spPr>
        </p:sp>
        <p:sp>
          <p:nvSpPr>
            <p:cNvPr id="65" name="Rectangle 65"/>
            <p:cNvSpPr/>
            <p:nvPr/>
          </p:nvSpPr>
          <p:spPr>
            <a:xfrm>
              <a:off x="7191375" y="4733925"/>
              <a:ext cx="1714500" cy="1485900"/>
            </a:xfrm>
            <a:prstGeom prst="rect">
              <a:avLst/>
            </a:prstGeom>
            <a:solidFill>
              <a:schemeClr val="accent1">
                <a:alpha val="50000"/>
              </a:schemeClr>
            </a:solidFill>
            <a:ln>
              <a:noFill/>
            </a:ln>
          </p:spPr>
        </p:sp>
        <p:sp>
          <p:nvSpPr>
            <p:cNvPr id="66" name="Rectangle 66"/>
            <p:cNvSpPr/>
            <p:nvPr/>
          </p:nvSpPr>
          <p:spPr>
            <a:xfrm>
              <a:off x="7162800" y="4705350"/>
              <a:ext cx="1714500" cy="1485900"/>
            </a:xfrm>
            <a:prstGeom prst="rect">
              <a:avLst/>
            </a:prstGeom>
            <a:solidFill>
              <a:schemeClr val="accent2"/>
            </a:solidFill>
            <a:ln>
              <a:noFill/>
            </a:ln>
          </p:spPr>
        </p:sp>
        <p:sp>
          <p:nvSpPr>
            <p:cNvPr id="67" name="Rectangle 67"/>
            <p:cNvSpPr/>
            <p:nvPr/>
          </p:nvSpPr>
          <p:spPr>
            <a:xfrm>
              <a:off x="7162800" y="4705350"/>
              <a:ext cx="1714500" cy="323850"/>
            </a:xfrm>
            <a:prstGeom prst="rect">
              <a:avLst/>
            </a:prstGeom>
            <a:solidFill>
              <a:schemeClr val="dk1"/>
            </a:solidFill>
            <a:ln>
              <a:noFill/>
            </a:ln>
          </p:spPr>
        </p:sp>
        <p:sp>
          <p:nvSpPr>
            <p:cNvPr id="68" name="TextBox 68"/>
            <p:cNvSpPr txBox="1"/>
            <p:nvPr/>
          </p:nvSpPr>
          <p:spPr>
            <a:xfrm>
              <a:off x="7606985" y="4820602"/>
              <a:ext cx="826130" cy="205359"/>
            </a:xfrm>
            <a:prstGeom prst="rect">
              <a:avLst/>
            </a:prstGeom>
            <a:noFill/>
            <a:ln>
              <a:noFill/>
            </a:ln>
          </p:spPr>
          <p:txBody>
            <a:bodyPr wrap="none" lIns="0" tIns="0" rIns="0" bIns="0" anchor="t" anchorCtr="0">
              <a:spAutoFit/>
            </a:bodyPr>
            <a:lstStyle/>
            <a:p>
              <a:pPr algn="ctr"/>
              <a:r>
                <a:rPr lang="zh-CN" sz="1050" b="1" dirty="0">
                  <a:solidFill>
                    <a:srgbClr val="F5EFE0"/>
                  </a:solidFill>
                  <a:latin typeface="+mn-lt"/>
                  <a:ea typeface="+mn-ea"/>
                  <a:cs typeface="+mn-cs"/>
                </a:rPr>
                <a:t>RIOT GRRRL</a:t>
              </a:r>
            </a:p>
          </p:txBody>
        </p:sp>
        <p:sp>
          <p:nvSpPr>
            <p:cNvPr id="69" name="TextBox 69"/>
            <p:cNvSpPr txBox="1"/>
            <p:nvPr/>
          </p:nvSpPr>
          <p:spPr>
            <a:xfrm>
              <a:off x="7297905" y="5190649"/>
              <a:ext cx="1444290" cy="190690"/>
            </a:xfrm>
            <a:prstGeom prst="rect">
              <a:avLst/>
            </a:prstGeom>
            <a:noFill/>
            <a:ln>
              <a:noFill/>
            </a:ln>
          </p:spPr>
          <p:txBody>
            <a:bodyPr wrap="none" lIns="0" tIns="0" rIns="0" bIns="0" anchor="t" anchorCtr="0">
              <a:spAutoFit/>
            </a:bodyPr>
            <a:lstStyle/>
            <a:p>
              <a:pPr algn="ctr"/>
              <a:r>
                <a:rPr lang="zh-CN" sz="980" dirty="0">
                  <a:solidFill>
                    <a:schemeClr val="dk1"/>
                  </a:solidFill>
                  <a:latin typeface="+mn-lt"/>
                  <a:ea typeface="+mn-ea"/>
                  <a:cs typeface="+mn-cs"/>
                </a:rPr>
                <a:t>*BIKINI KILL* 同名 zine</a:t>
              </a:r>
            </a:p>
          </p:txBody>
        </p:sp>
        <p:sp>
          <p:nvSpPr>
            <p:cNvPr id="70" name="TextBox 70"/>
            <p:cNvSpPr txBox="1"/>
            <p:nvPr/>
          </p:nvSpPr>
          <p:spPr>
            <a:xfrm>
              <a:off x="7335545" y="5381149"/>
              <a:ext cx="1369009" cy="190690"/>
            </a:xfrm>
            <a:prstGeom prst="rect">
              <a:avLst/>
            </a:prstGeom>
            <a:noFill/>
            <a:ln>
              <a:noFill/>
            </a:ln>
          </p:spPr>
          <p:txBody>
            <a:bodyPr wrap="none" lIns="0" tIns="0" rIns="0" bIns="0" anchor="t" anchorCtr="0">
              <a:spAutoFit/>
            </a:bodyPr>
            <a:lstStyle/>
            <a:p>
              <a:pPr algn="ctr"/>
              <a:r>
                <a:rPr lang="zh-CN" sz="980" dirty="0">
                  <a:solidFill>
                    <a:schemeClr val="dk1"/>
                  </a:solidFill>
                  <a:latin typeface="+mn-lt"/>
                  <a:ea typeface="+mn-ea"/>
                  <a:cs typeface="+mn-cs"/>
                </a:rPr>
                <a:t>KATHLEEN HANNA 主编</a:t>
              </a:r>
            </a:p>
          </p:txBody>
        </p:sp>
        <p:sp>
          <p:nvSpPr>
            <p:cNvPr id="71" name="TextBox 71"/>
            <p:cNvSpPr txBox="1"/>
            <p:nvPr/>
          </p:nvSpPr>
          <p:spPr>
            <a:xfrm>
              <a:off x="7324214" y="5606891"/>
              <a:ext cx="1391671" cy="161925"/>
            </a:xfrm>
            <a:prstGeom prst="rect">
              <a:avLst/>
            </a:prstGeom>
            <a:noFill/>
            <a:ln>
              <a:noFill/>
            </a:ln>
          </p:spPr>
          <p:txBody>
            <a:bodyPr wrap="none" lIns="0" tIns="0" rIns="0" bIns="0" anchor="t" anchorCtr="0">
              <a:spAutoFit/>
            </a:bodyPr>
            <a:lstStyle/>
            <a:p>
              <a:pPr algn="ctr"/>
              <a:r>
                <a:rPr lang="zh-CN" sz="820" dirty="0">
                  <a:solidFill>
                    <a:schemeClr val="dk1">
                      <a:alphaMod val="85000"/>
                    </a:schemeClr>
                  </a:solidFill>
                  <a:latin typeface="+mn-lt"/>
                  <a:ea typeface="+mn-ea"/>
                  <a:cs typeface="+mn-cs"/>
                </a:rPr>
                <a:t>第三波女性主义 + DIY 朋克</a:t>
              </a:r>
            </a:p>
          </p:txBody>
        </p:sp>
        <p:sp>
          <p:nvSpPr>
            <p:cNvPr id="72" name="TextBox 72"/>
            <p:cNvSpPr txBox="1"/>
            <p:nvPr/>
          </p:nvSpPr>
          <p:spPr>
            <a:xfrm>
              <a:off x="7283392" y="5778341"/>
              <a:ext cx="1473317" cy="161925"/>
            </a:xfrm>
            <a:prstGeom prst="rect">
              <a:avLst/>
            </a:prstGeom>
            <a:noFill/>
            <a:ln>
              <a:noFill/>
            </a:ln>
          </p:spPr>
          <p:txBody>
            <a:bodyPr wrap="none" lIns="0" tIns="0" rIns="0" bIns="0" anchor="t" anchorCtr="0">
              <a:spAutoFit/>
            </a:bodyPr>
            <a:lstStyle/>
            <a:p>
              <a:pPr algn="ctr"/>
              <a:r>
                <a:rPr lang="zh-CN" sz="820" dirty="0">
                  <a:solidFill>
                    <a:schemeClr val="dk1">
                      <a:alphaMod val="85000"/>
                    </a:schemeClr>
                  </a:solidFill>
                  <a:latin typeface="+mn-lt"/>
                  <a:ea typeface="+mn-ea"/>
                  <a:cs typeface="+mn-cs"/>
                </a:rPr>
                <a:t>RIOT GRRRL PRESS 分发网络</a:t>
              </a:r>
            </a:p>
          </p:txBody>
        </p:sp>
        <p:sp>
          <p:nvSpPr>
            <p:cNvPr id="73" name="TextBox 73"/>
            <p:cNvSpPr txBox="1"/>
            <p:nvPr/>
          </p:nvSpPr>
          <p:spPr>
            <a:xfrm>
              <a:off x="7490706" y="6006941"/>
              <a:ext cx="1058687" cy="161925"/>
            </a:xfrm>
            <a:prstGeom prst="rect">
              <a:avLst/>
            </a:prstGeom>
            <a:noFill/>
            <a:ln>
              <a:noFill/>
            </a:ln>
          </p:spPr>
          <p:txBody>
            <a:bodyPr wrap="none" lIns="0" tIns="0" rIns="0" bIns="0" anchor="t" anchorCtr="0">
              <a:spAutoFit/>
            </a:bodyPr>
            <a:lstStyle/>
            <a:p>
              <a:pPr algn="ctr"/>
              <a:r>
                <a:rPr lang="zh-CN" sz="820" spc="150" dirty="0">
                  <a:solidFill>
                    <a:schemeClr val="dk1"/>
                  </a:solidFill>
                  <a:latin typeface="Consolas"/>
                  <a:ea typeface="Consolas"/>
                  <a:cs typeface="Consolas"/>
                </a:rPr>
                <a:t>FEMINIST WAVE</a:t>
              </a:r>
            </a:p>
          </p:txBody>
        </p:sp>
      </p:grpSp>
      <p:grpSp>
        <p:nvGrpSpPr>
          <p:cNvPr id="87" name="Group 87"/>
          <p:cNvGrpSpPr/>
          <p:nvPr/>
        </p:nvGrpSpPr>
        <p:grpSpPr>
          <a:xfrm>
            <a:off x="9334500" y="1578292"/>
            <a:ext cx="1743075" cy="2269808"/>
            <a:chOff x="9334500" y="1578292"/>
            <a:chExt cx="1743075" cy="2269808"/>
          </a:xfrm>
        </p:grpSpPr>
        <p:sp>
          <p:nvSpPr>
            <p:cNvPr id="75" name="TextBox 75"/>
            <p:cNvSpPr txBox="1"/>
            <p:nvPr/>
          </p:nvSpPr>
          <p:spPr>
            <a:xfrm>
              <a:off x="9525171" y="1597342"/>
              <a:ext cx="1295057" cy="557403"/>
            </a:xfrm>
            <a:prstGeom prst="rect">
              <a:avLst/>
            </a:prstGeom>
            <a:noFill/>
            <a:ln>
              <a:noFill/>
            </a:ln>
          </p:spPr>
          <p:txBody>
            <a:bodyPr wrap="none" lIns="0" tIns="0" rIns="0" bIns="0" anchor="t" anchorCtr="0">
              <a:spAutoFit/>
            </a:bodyPr>
            <a:lstStyle/>
            <a:p>
              <a:pPr algn="ctr"/>
              <a:r>
                <a:rPr lang="zh-CN" sz="2850" dirty="0">
                  <a:solidFill>
                    <a:schemeClr val="accent2"/>
                  </a:solidFill>
                  <a:latin typeface="+mj-lt"/>
                  <a:ea typeface="+mj-ea"/>
                  <a:cs typeface="+mj-cs"/>
                </a:rPr>
                <a:t>2010s+</a:t>
              </a:r>
            </a:p>
          </p:txBody>
        </p:sp>
        <p:sp>
          <p:nvSpPr>
            <p:cNvPr id="76" name="TextBox 76"/>
            <p:cNvSpPr txBox="1"/>
            <p:nvPr/>
          </p:nvSpPr>
          <p:spPr>
            <a:xfrm>
              <a:off x="9506121" y="1578292"/>
              <a:ext cx="1295057" cy="557403"/>
            </a:xfrm>
            <a:prstGeom prst="rect">
              <a:avLst/>
            </a:prstGeom>
            <a:noFill/>
            <a:ln>
              <a:noFill/>
            </a:ln>
          </p:spPr>
          <p:txBody>
            <a:bodyPr wrap="none" lIns="0" tIns="0" rIns="0" bIns="0" anchor="t" anchorCtr="0">
              <a:spAutoFit/>
            </a:bodyPr>
            <a:lstStyle/>
            <a:p>
              <a:pPr algn="ctr"/>
              <a:r>
                <a:rPr lang="zh-CN" sz="2850" dirty="0">
                  <a:solidFill>
                    <a:schemeClr val="dk1"/>
                  </a:solidFill>
                  <a:latin typeface="+mj-lt"/>
                  <a:ea typeface="+mj-ea"/>
                  <a:cs typeface="+mj-cs"/>
                </a:rPr>
                <a:t>2010s+</a:t>
              </a:r>
            </a:p>
          </p:txBody>
        </p:sp>
        <p:sp>
          <p:nvSpPr>
            <p:cNvPr id="77" name="Rectangle 77"/>
            <p:cNvSpPr/>
            <p:nvPr/>
          </p:nvSpPr>
          <p:spPr>
            <a:xfrm>
              <a:off x="9334500" y="2095500"/>
              <a:ext cx="1714500" cy="1485900"/>
            </a:xfrm>
            <a:prstGeom prst="rect">
              <a:avLst/>
            </a:prstGeom>
            <a:solidFill>
              <a:schemeClr val="accent1"/>
            </a:solidFill>
            <a:ln>
              <a:noFill/>
            </a:ln>
          </p:spPr>
        </p:sp>
        <p:sp>
          <p:nvSpPr>
            <p:cNvPr id="78" name="Rectangle 78"/>
            <p:cNvSpPr/>
            <p:nvPr/>
          </p:nvSpPr>
          <p:spPr>
            <a:xfrm>
              <a:off x="9363075" y="2124075"/>
              <a:ext cx="1714500" cy="1485900"/>
            </a:xfrm>
            <a:prstGeom prst="rect">
              <a:avLst/>
            </a:prstGeom>
            <a:solidFill>
              <a:schemeClr val="accent2">
                <a:alpha val="50000"/>
              </a:schemeClr>
            </a:solidFill>
            <a:ln>
              <a:noFill/>
            </a:ln>
          </p:spPr>
        </p:sp>
        <p:sp>
          <p:nvSpPr>
            <p:cNvPr id="79" name="Rectangle 79"/>
            <p:cNvSpPr/>
            <p:nvPr/>
          </p:nvSpPr>
          <p:spPr>
            <a:xfrm>
              <a:off x="9334500" y="2095500"/>
              <a:ext cx="1714500" cy="1485900"/>
            </a:xfrm>
            <a:prstGeom prst="rect">
              <a:avLst/>
            </a:prstGeom>
            <a:solidFill>
              <a:schemeClr val="accent1"/>
            </a:solidFill>
            <a:ln>
              <a:noFill/>
            </a:ln>
          </p:spPr>
        </p:sp>
        <p:sp>
          <p:nvSpPr>
            <p:cNvPr id="80" name="Rectangle 80"/>
            <p:cNvSpPr/>
            <p:nvPr/>
          </p:nvSpPr>
          <p:spPr>
            <a:xfrm>
              <a:off x="9334500" y="2095500"/>
              <a:ext cx="1714500" cy="323850"/>
            </a:xfrm>
            <a:prstGeom prst="rect">
              <a:avLst/>
            </a:prstGeom>
            <a:solidFill>
              <a:schemeClr val="lt1"/>
            </a:solidFill>
            <a:ln>
              <a:noFill/>
            </a:ln>
          </p:spPr>
        </p:sp>
        <p:sp>
          <p:nvSpPr>
            <p:cNvPr id="81" name="TextBox 81"/>
            <p:cNvSpPr txBox="1"/>
            <p:nvPr/>
          </p:nvSpPr>
          <p:spPr>
            <a:xfrm>
              <a:off x="9535671" y="2210752"/>
              <a:ext cx="1312157" cy="205359"/>
            </a:xfrm>
            <a:prstGeom prst="rect">
              <a:avLst/>
            </a:prstGeom>
            <a:noFill/>
            <a:ln>
              <a:noFill/>
            </a:ln>
          </p:spPr>
          <p:txBody>
            <a:bodyPr wrap="none" lIns="0" tIns="0" rIns="0" bIns="0" anchor="t" anchorCtr="0">
              <a:spAutoFit/>
            </a:bodyPr>
            <a:lstStyle/>
            <a:p>
              <a:pPr algn="ctr"/>
              <a:r>
                <a:rPr lang="zh-CN" sz="1050" b="1" dirty="0">
                  <a:solidFill>
                    <a:schemeClr val="dk1"/>
                  </a:solidFill>
                  <a:latin typeface="+mn-lt"/>
                  <a:ea typeface="+mn-ea"/>
                  <a:cs typeface="+mn-cs"/>
                </a:rPr>
                <a:t>当代复兴 + 书展爆发</a:t>
              </a:r>
            </a:p>
          </p:txBody>
        </p:sp>
        <p:sp>
          <p:nvSpPr>
            <p:cNvPr id="82" name="TextBox 82"/>
            <p:cNvSpPr txBox="1"/>
            <p:nvPr/>
          </p:nvSpPr>
          <p:spPr>
            <a:xfrm>
              <a:off x="9549325" y="2580799"/>
              <a:ext cx="1284849" cy="190690"/>
            </a:xfrm>
            <a:prstGeom prst="rect">
              <a:avLst/>
            </a:prstGeom>
            <a:noFill/>
            <a:ln>
              <a:noFill/>
            </a:ln>
          </p:spPr>
          <p:txBody>
            <a:bodyPr wrap="none" lIns="0" tIns="0" rIns="0" bIns="0" anchor="t" anchorCtr="0">
              <a:spAutoFit/>
            </a:bodyPr>
            <a:lstStyle/>
            <a:p>
              <a:pPr algn="ctr"/>
              <a:r>
                <a:rPr lang="zh-CN" sz="980" dirty="0">
                  <a:solidFill>
                    <a:srgbClr val="F5EFE0"/>
                  </a:solidFill>
                  <a:latin typeface="+mn-lt"/>
                  <a:ea typeface="+mn-ea"/>
                  <a:cs typeface="+mn-cs"/>
                </a:rPr>
                <a:t>SF Zine Fest (2001)</a:t>
              </a:r>
            </a:p>
          </p:txBody>
        </p:sp>
        <p:sp>
          <p:nvSpPr>
            <p:cNvPr id="83" name="TextBox 83"/>
            <p:cNvSpPr txBox="1"/>
            <p:nvPr/>
          </p:nvSpPr>
          <p:spPr>
            <a:xfrm>
              <a:off x="9549325" y="2771299"/>
              <a:ext cx="1284849" cy="190690"/>
            </a:xfrm>
            <a:prstGeom prst="rect">
              <a:avLst/>
            </a:prstGeom>
            <a:noFill/>
            <a:ln>
              <a:noFill/>
            </a:ln>
          </p:spPr>
          <p:txBody>
            <a:bodyPr wrap="none" lIns="0" tIns="0" rIns="0" bIns="0" anchor="t" anchorCtr="0">
              <a:spAutoFit/>
            </a:bodyPr>
            <a:lstStyle/>
            <a:p>
              <a:pPr algn="ctr"/>
              <a:r>
                <a:rPr lang="zh-CN" sz="980" dirty="0">
                  <a:solidFill>
                    <a:srgbClr val="F5EFE0"/>
                  </a:solidFill>
                  <a:latin typeface="+mn-lt"/>
                  <a:ea typeface="+mn-ea"/>
                  <a:cs typeface="+mn-cs"/>
                </a:rPr>
                <a:t>LA Zine Fest (2012)</a:t>
              </a:r>
            </a:p>
          </p:txBody>
        </p:sp>
        <p:sp>
          <p:nvSpPr>
            <p:cNvPr id="84" name="TextBox 84"/>
            <p:cNvSpPr txBox="1"/>
            <p:nvPr/>
          </p:nvSpPr>
          <p:spPr>
            <a:xfrm>
              <a:off x="9565897" y="2997041"/>
              <a:ext cx="1251707" cy="161925"/>
            </a:xfrm>
            <a:prstGeom prst="rect">
              <a:avLst/>
            </a:prstGeom>
            <a:noFill/>
            <a:ln>
              <a:noFill/>
            </a:ln>
          </p:spPr>
          <p:txBody>
            <a:bodyPr wrap="none" lIns="0" tIns="0" rIns="0" bIns="0" anchor="t" anchorCtr="0">
              <a:spAutoFit/>
            </a:bodyPr>
            <a:lstStyle/>
            <a:p>
              <a:pPr algn="ctr"/>
              <a:r>
                <a:rPr lang="zh-CN" sz="820" dirty="0">
                  <a:solidFill>
                    <a:srgbClr val="F5EFE0">
                      <a:alphaMod val="85000"/>
                    </a:srgbClr>
                  </a:solidFill>
                  <a:latin typeface="+mn-lt"/>
                  <a:ea typeface="+mn-ea"/>
                  <a:cs typeface="+mn-cs"/>
                </a:rPr>
                <a:t>大英图书馆 / TATE 收藏</a:t>
              </a:r>
            </a:p>
          </p:txBody>
        </p:sp>
        <p:sp>
          <p:nvSpPr>
            <p:cNvPr id="85" name="TextBox 85"/>
            <p:cNvSpPr txBox="1"/>
            <p:nvPr/>
          </p:nvSpPr>
          <p:spPr>
            <a:xfrm>
              <a:off x="9742061" y="3320891"/>
              <a:ext cx="899378" cy="161925"/>
            </a:xfrm>
            <a:prstGeom prst="rect">
              <a:avLst/>
            </a:prstGeom>
            <a:noFill/>
            <a:ln>
              <a:noFill/>
            </a:ln>
          </p:spPr>
          <p:txBody>
            <a:bodyPr wrap="none" lIns="0" tIns="0" rIns="0" bIns="0" anchor="t" anchorCtr="0">
              <a:spAutoFit/>
            </a:bodyPr>
            <a:lstStyle/>
            <a:p>
              <a:pPr algn="ctr"/>
              <a:r>
                <a:rPr lang="zh-CN" sz="820" spc="150" dirty="0">
                  <a:solidFill>
                    <a:srgbClr val="F5EFE0"/>
                  </a:solidFill>
                  <a:latin typeface="Consolas"/>
                  <a:ea typeface="Consolas"/>
                  <a:cs typeface="Consolas"/>
                </a:rPr>
                <a:t>RENAISSANCE</a:t>
              </a:r>
            </a:p>
          </p:txBody>
        </p:sp>
        <p:sp>
          <p:nvSpPr>
            <p:cNvPr id="86" name="Line 86"/>
            <p:cNvSpPr/>
            <p:nvPr/>
          </p:nvSpPr>
          <p:spPr>
            <a:xfrm>
              <a:off x="10172700" y="3600450"/>
              <a:ext cx="9525" cy="247650"/>
            </a:xfrm>
            <a:custGeom>
              <a:avLst/>
              <a:gdLst/>
              <a:ahLst/>
              <a:cxnLst/>
              <a:rect l="l" t="t" r="r" b="b"/>
              <a:pathLst>
                <a:path w="9525" h="247650">
                  <a:moveTo>
                    <a:pt x="0" y="0"/>
                  </a:moveTo>
                  <a:lnTo>
                    <a:pt x="0" y="247650"/>
                  </a:lnTo>
                </a:path>
              </a:pathLst>
            </a:custGeom>
            <a:noFill/>
            <a:ln w="28575">
              <a:solidFill>
                <a:srgbClr val="F5EFE0"/>
              </a:solidFill>
              <a:custDash>
                <a:ds d="100000" sp="100000"/>
              </a:custDash>
            </a:ln>
          </p:spPr>
        </p:sp>
      </p:grpSp>
      <p:grpSp>
        <p:nvGrpSpPr>
          <p:cNvPr id="91" name="Group 91"/>
          <p:cNvGrpSpPr/>
          <p:nvPr/>
        </p:nvGrpSpPr>
        <p:grpSpPr>
          <a:xfrm>
            <a:off x="566738" y="6572250"/>
            <a:ext cx="11058524" cy="244316"/>
            <a:chOff x="566738" y="6572250"/>
            <a:chExt cx="11058524" cy="244316"/>
          </a:xfrm>
        </p:grpSpPr>
        <p:sp>
          <p:nvSpPr>
            <p:cNvPr id="88" name="Line 88"/>
            <p:cNvSpPr/>
            <p:nvPr/>
          </p:nvSpPr>
          <p:spPr>
            <a:xfrm>
              <a:off x="571500" y="6572250"/>
              <a:ext cx="11049000" cy="9525"/>
            </a:xfrm>
            <a:custGeom>
              <a:avLst/>
              <a:gdLst/>
              <a:ahLst/>
              <a:cxnLst/>
              <a:rect l="l" t="t" r="r" b="b"/>
              <a:pathLst>
                <a:path w="11049000" h="9525">
                  <a:moveTo>
                    <a:pt x="0" y="0"/>
                  </a:moveTo>
                  <a:lnTo>
                    <a:pt x="11049000" y="0"/>
                  </a:lnTo>
                </a:path>
              </a:pathLst>
            </a:custGeom>
            <a:noFill/>
            <a:ln w="9525">
              <a:solidFill>
                <a:schemeClr val="accent4"/>
              </a:solidFill>
            </a:ln>
          </p:spPr>
        </p:sp>
        <p:sp>
          <p:nvSpPr>
            <p:cNvPr id="89" name="TextBox 89"/>
            <p:cNvSpPr txBox="1"/>
            <p:nvPr/>
          </p:nvSpPr>
          <p:spPr>
            <a:xfrm>
              <a:off x="566738" y="6654641"/>
              <a:ext cx="1934886" cy="161925"/>
            </a:xfrm>
            <a:prstGeom prst="rect">
              <a:avLst/>
            </a:prstGeom>
            <a:noFill/>
            <a:ln>
              <a:noFill/>
            </a:ln>
          </p:spPr>
          <p:txBody>
            <a:bodyPr wrap="none" lIns="0" tIns="0" rIns="0" bIns="0" anchor="t" anchorCtr="0">
              <a:spAutoFit/>
            </a:bodyPr>
            <a:lstStyle/>
            <a:p>
              <a:pPr algn="l"/>
              <a:r>
                <a:rPr lang="zh-CN" sz="820" spc="150" dirty="0">
                  <a:solidFill>
                    <a:schemeClr val="dk2"/>
                  </a:solidFill>
                  <a:latin typeface="Consolas"/>
                  <a:ea typeface="Consolas"/>
                  <a:cs typeface="Consolas"/>
                </a:rPr>
                <a:t>P04 · FOUR WAVES OF ZINE</a:t>
              </a:r>
            </a:p>
          </p:txBody>
        </p:sp>
        <p:sp>
          <p:nvSpPr>
            <p:cNvPr id="90" name="TextBox 90"/>
            <p:cNvSpPr txBox="1"/>
            <p:nvPr/>
          </p:nvSpPr>
          <p:spPr>
            <a:xfrm>
              <a:off x="7135604" y="6654641"/>
              <a:ext cx="4489658" cy="161925"/>
            </a:xfrm>
            <a:prstGeom prst="rect">
              <a:avLst/>
            </a:prstGeom>
            <a:noFill/>
            <a:ln>
              <a:noFill/>
            </a:ln>
          </p:spPr>
          <p:txBody>
            <a:bodyPr wrap="none" lIns="0" tIns="0" rIns="0" bIns="0" anchor="t" anchorCtr="0">
              <a:spAutoFit/>
            </a:bodyPr>
            <a:lstStyle/>
            <a:p>
              <a:pPr algn="r"/>
              <a:r>
                <a:rPr lang="zh-CN" sz="820" spc="150" dirty="0">
                  <a:solidFill>
                    <a:schemeClr val="dk2"/>
                  </a:solidFill>
                  <a:latin typeface="Consolas"/>
                  <a:ea typeface="Consolas"/>
                  <a:cs typeface="Consolas"/>
                </a:rPr>
                <a:t>EMBER → CRYSTALLIZE → EXPLOSION → FEMINIST → RENAISSANCE</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22" presetClass="entr" presetSubtype="4"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down)">
                                      <p:cBhvr>
                                        <p:cTn id="7" dur="550"/>
                                        <p:tgtEl>
                                          <p:spTgt spid="14"/>
                                        </p:tgtEl>
                                      </p:cBhvr>
                                    </p:animEffect>
                                  </p:childTnLst>
                                </p:cTn>
                              </p:par>
                            </p:childTnLst>
                          </p:cTn>
                        </p:par>
                        <p:par>
                          <p:cTn id="8" fill="hold">
                            <p:stCondLst>
                              <p:cond delay="550"/>
                            </p:stCondLst>
                            <p:childTnLst>
                              <p:par>
                                <p:cTn xmlns:p="http://schemas.openxmlformats.org/presentationml/2006/main" id="9" presetID="1" presetClass="entr" presetSubtype="0" fill="hold" grpId="0" nodeType="afterEffect">
                                  <p:stCondLst>
                                    <p:cond delay="100"/>
                                  </p:stCondLst>
                                  <p:childTnLst>
                                    <p:set>
                                      <p:cBhvr>
                                        <p:cTn id="10" dur="1" fill="hold">
                                          <p:stCondLst>
                                            <p:cond delay="0"/>
                                          </p:stCondLst>
                                        </p:cTn>
                                        <p:tgtEl>
                                          <p:spTgt spid="20"/>
                                        </p:tgtEl>
                                        <p:attrNameLst>
                                          <p:attrName>style.visibility</p:attrName>
                                        </p:attrNameLst>
                                      </p:cBhvr>
                                      <p:to>
                                        <p:strVal val="visible"/>
                                      </p:to>
                                    </p:set>
                                  </p:childTnLst>
                                </p:cTn>
                              </p:par>
                            </p:childTnLst>
                          </p:cTn>
                        </p:par>
                        <p:par>
                          <p:cTn id="11" fill="hold">
                            <p:stCondLst>
                              <p:cond delay="950"/>
                            </p:stCondLst>
                            <p:childTnLst>
                              <p:par>
                                <p:cTn xmlns:p="http://schemas.openxmlformats.org/presentationml/2006/main" id="12" presetID="10" presetClass="entr" presetSubtype="0" fill="hold" grpId="0" nodeType="afterEffect">
                                  <p:stCondLst>
                                    <p:cond delay="140"/>
                                  </p:stCondLst>
                                  <p:childTnLst>
                                    <p:set>
                                      <p:cBhvr>
                                        <p:cTn id="13" dur="1" fill="hold">
                                          <p:stCondLst>
                                            <p:cond delay="0"/>
                                          </p:stCondLst>
                                        </p:cTn>
                                        <p:tgtEl>
                                          <p:spTgt spid="33"/>
                                        </p:tgtEl>
                                        <p:attrNameLst>
                                          <p:attrName>style.visibility</p:attrName>
                                        </p:attrNameLst>
                                      </p:cBhvr>
                                      <p:to>
                                        <p:strVal val="visible"/>
                                      </p:to>
                                    </p:set>
                                    <p:animEffect transition="in" filter="fade">
                                      <p:cBhvr>
                                        <p:cTn id="14" dur="300"/>
                                        <p:tgtEl>
                                          <p:spTgt spid="33"/>
                                        </p:tgtEl>
                                      </p:cBhvr>
                                    </p:animEffect>
                                  </p:childTnLst>
                                </p:cTn>
                              </p:par>
                            </p:childTnLst>
                          </p:cTn>
                        </p:par>
                        <p:par>
                          <p:cTn id="15" fill="hold">
                            <p:stCondLst>
                              <p:cond delay="1390"/>
                            </p:stCondLst>
                            <p:childTnLst>
                              <p:par>
                                <p:cTn xmlns:p="http://schemas.openxmlformats.org/presentationml/2006/main" id="16" presetID="10" presetClass="entr" presetSubtype="0" fill="hold" grpId="0" nodeType="afterEffect">
                                  <p:stCondLst>
                                    <p:cond delay="140"/>
                                  </p:stCondLst>
                                  <p:childTnLst>
                                    <p:set>
                                      <p:cBhvr>
                                        <p:cTn id="17" dur="1" fill="hold">
                                          <p:stCondLst>
                                            <p:cond delay="0"/>
                                          </p:stCondLst>
                                        </p:cTn>
                                        <p:tgtEl>
                                          <p:spTgt spid="47"/>
                                        </p:tgtEl>
                                        <p:attrNameLst>
                                          <p:attrName>style.visibility</p:attrName>
                                        </p:attrNameLst>
                                      </p:cBhvr>
                                      <p:to>
                                        <p:strVal val="visible"/>
                                      </p:to>
                                    </p:set>
                                    <p:animEffect transition="in" filter="fade">
                                      <p:cBhvr>
                                        <p:cTn id="18" dur="300"/>
                                        <p:tgtEl>
                                          <p:spTgt spid="47"/>
                                        </p:tgtEl>
                                      </p:cBhvr>
                                    </p:animEffect>
                                  </p:childTnLst>
                                </p:cTn>
                              </p:par>
                            </p:childTnLst>
                          </p:cTn>
                        </p:par>
                        <p:par>
                          <p:cTn id="19" fill="hold">
                            <p:stCondLst>
                              <p:cond delay="1830"/>
                            </p:stCondLst>
                            <p:childTnLst>
                              <p:par>
                                <p:cTn xmlns:p="http://schemas.openxmlformats.org/presentationml/2006/main" id="20" presetID="10" presetClass="entr" presetSubtype="0" fill="hold" grpId="0" nodeType="afterEffect">
                                  <p:stCondLst>
                                    <p:cond delay="140"/>
                                  </p:stCondLst>
                                  <p:childTnLst>
                                    <p:set>
                                      <p:cBhvr>
                                        <p:cTn id="21" dur="1" fill="hold">
                                          <p:stCondLst>
                                            <p:cond delay="0"/>
                                          </p:stCondLst>
                                        </p:cTn>
                                        <p:tgtEl>
                                          <p:spTgt spid="60"/>
                                        </p:tgtEl>
                                        <p:attrNameLst>
                                          <p:attrName>style.visibility</p:attrName>
                                        </p:attrNameLst>
                                      </p:cBhvr>
                                      <p:to>
                                        <p:strVal val="visible"/>
                                      </p:to>
                                    </p:set>
                                    <p:animEffect transition="in" filter="fade">
                                      <p:cBhvr>
                                        <p:cTn id="22" dur="300"/>
                                        <p:tgtEl>
                                          <p:spTgt spid="60"/>
                                        </p:tgtEl>
                                      </p:cBhvr>
                                    </p:animEffect>
                                  </p:childTnLst>
                                </p:cTn>
                              </p:par>
                            </p:childTnLst>
                          </p:cTn>
                        </p:par>
                        <p:par>
                          <p:cTn id="23" fill="hold">
                            <p:stCondLst>
                              <p:cond delay="2270"/>
                            </p:stCondLst>
                            <p:childTnLst>
                              <p:par>
                                <p:cTn xmlns:p="http://schemas.openxmlformats.org/presentationml/2006/main" id="24" presetID="10" presetClass="entr" presetSubtype="0" fill="hold" grpId="0" nodeType="afterEffect">
                                  <p:stCondLst>
                                    <p:cond delay="140"/>
                                  </p:stCondLst>
                                  <p:childTnLst>
                                    <p:set>
                                      <p:cBhvr>
                                        <p:cTn id="25" dur="1" fill="hold">
                                          <p:stCondLst>
                                            <p:cond delay="0"/>
                                          </p:stCondLst>
                                        </p:cTn>
                                        <p:tgtEl>
                                          <p:spTgt spid="74"/>
                                        </p:tgtEl>
                                        <p:attrNameLst>
                                          <p:attrName>style.visibility</p:attrName>
                                        </p:attrNameLst>
                                      </p:cBhvr>
                                      <p:to>
                                        <p:strVal val="visible"/>
                                      </p:to>
                                    </p:set>
                                    <p:animEffect transition="in" filter="fade">
                                      <p:cBhvr>
                                        <p:cTn id="26" dur="300"/>
                                        <p:tgtEl>
                                          <p:spTgt spid="74"/>
                                        </p:tgtEl>
                                      </p:cBhvr>
                                    </p:animEffect>
                                  </p:childTnLst>
                                </p:cTn>
                              </p:par>
                            </p:childTnLst>
                          </p:cTn>
                        </p:par>
                        <p:par>
                          <p:cTn id="27" fill="hold">
                            <p:stCondLst>
                              <p:cond delay="2710"/>
                            </p:stCondLst>
                            <p:childTnLst>
                              <p:par>
                                <p:cTn xmlns:p="http://schemas.openxmlformats.org/presentationml/2006/main" id="28" presetID="10" presetClass="entr" presetSubtype="0" fill="hold" grpId="0" nodeType="afterEffect">
                                  <p:stCondLst>
                                    <p:cond delay="140"/>
                                  </p:stCondLst>
                                  <p:childTnLst>
                                    <p:set>
                                      <p:cBhvr>
                                        <p:cTn id="29" dur="1" fill="hold">
                                          <p:stCondLst>
                                            <p:cond delay="0"/>
                                          </p:stCondLst>
                                        </p:cTn>
                                        <p:tgtEl>
                                          <p:spTgt spid="87"/>
                                        </p:tgtEl>
                                        <p:attrNameLst>
                                          <p:attrName>style.visibility</p:attrName>
                                        </p:attrNameLst>
                                      </p:cBhvr>
                                      <p:to>
                                        <p:strVal val="visible"/>
                                      </p:to>
                                    </p:set>
                                    <p:animEffect transition="in" filter="fade">
                                      <p:cBhvr>
                                        <p:cTn id="30" dur="300"/>
                                        <p:tgtEl>
                                          <p:spTgt spid="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pattFill prst="ltUpDiag">
            <a:fgClr>
              <a:schemeClr val="dk1">
                <a:alpha val="10000"/>
              </a:schemeClr>
            </a:fgClr>
            <a:bgClr>
              <a:srgbClr val="FFFFFF"/>
            </a:bgClr>
          </a:pattFill>
          <a:ln>
            <a:noFill/>
          </a:ln>
        </p:spPr>
      </p:sp>
      <p:grpSp>
        <p:nvGrpSpPr>
          <p:cNvPr id="8" name="Group 8"/>
          <p:cNvGrpSpPr/>
          <p:nvPr/>
        </p:nvGrpSpPr>
        <p:grpSpPr>
          <a:xfrm>
            <a:off x="571500" y="571500"/>
            <a:ext cx="3638550" cy="6097715"/>
            <a:chOff x="571500" y="571500"/>
            <a:chExt cx="3638550" cy="6097715"/>
          </a:xfrm>
        </p:grpSpPr>
        <p:sp>
          <p:nvSpPr>
            <p:cNvPr id="3" name="Rectangle 3"/>
            <p:cNvSpPr/>
            <p:nvPr/>
          </p:nvSpPr>
          <p:spPr>
            <a:xfrm>
              <a:off x="590550" y="590550"/>
              <a:ext cx="3619500" cy="5676900"/>
            </a:xfrm>
            <a:prstGeom prst="rect">
              <a:avLst/>
            </a:prstGeom>
            <a:solidFill>
              <a:schemeClr val="accent2"/>
            </a:solidFill>
            <a:ln>
              <a:noFill/>
            </a:ln>
          </p:spPr>
        </p:sp>
        <p:pic>
          <p:nvPicPr>
            <p:cNvPr id="4" name="Image 4"/>
            <p:cNvPicPr>
              <a:picLocks noChangeAspect="1"/>
            </p:cNvPicPr>
            <p:nvPr/>
          </p:nvPicPr>
          <p:blipFill>
            <a:blip r:embed="rId2"/>
            <a:srcRect l="10151" t="0" r="10151" b="0"/>
            <a:stretch>
              <a:fillRect/>
            </a:stretch>
          </p:blipFill>
          <p:spPr>
            <a:xfrm>
              <a:off x="571500" y="571500"/>
              <a:ext cx="3619500" cy="5676900"/>
            </a:xfrm>
            <a:prstGeom prst="rect">
              <a:avLst/>
            </a:prstGeom>
          </p:spPr>
        </p:pic>
        <p:sp>
          <p:nvSpPr>
            <p:cNvPr id="5" name="Rectangle 5"/>
            <p:cNvSpPr/>
            <p:nvPr/>
          </p:nvSpPr>
          <p:spPr>
            <a:xfrm>
              <a:off x="571500" y="6286500"/>
              <a:ext cx="3619500" cy="381000"/>
            </a:xfrm>
            <a:prstGeom prst="rect">
              <a:avLst/>
            </a:prstGeom>
            <a:solidFill>
              <a:schemeClr val="accent1"/>
            </a:solidFill>
            <a:ln>
              <a:noFill/>
            </a:ln>
          </p:spPr>
        </p:sp>
        <p:sp>
          <p:nvSpPr>
            <p:cNvPr id="6" name="TextBox 6"/>
            <p:cNvSpPr txBox="1"/>
            <p:nvPr/>
          </p:nvSpPr>
          <p:spPr>
            <a:xfrm>
              <a:off x="753618" y="6346508"/>
              <a:ext cx="1237183" cy="322707"/>
            </a:xfrm>
            <a:prstGeom prst="rect">
              <a:avLst/>
            </a:prstGeom>
            <a:noFill/>
            <a:ln>
              <a:noFill/>
            </a:ln>
          </p:spPr>
          <p:txBody>
            <a:bodyPr wrap="none" lIns="0" tIns="0" rIns="0" bIns="0" anchor="t" anchorCtr="0">
              <a:spAutoFit/>
            </a:bodyPr>
            <a:lstStyle/>
            <a:p>
              <a:pPr algn="l"/>
              <a:r>
                <a:rPr lang="zh-CN" sz="1650" dirty="0">
                  <a:solidFill>
                    <a:srgbClr val="F5EFE0"/>
                  </a:solidFill>
                  <a:latin typeface="+mj-lt"/>
                  <a:ea typeface="+mj-ea"/>
                  <a:cs typeface="+mj-cs"/>
                </a:rPr>
                <a:t>RISO EZ200</a:t>
              </a:r>
            </a:p>
          </p:txBody>
        </p:sp>
        <p:sp>
          <p:nvSpPr>
            <p:cNvPr id="7" name="TextBox 7"/>
            <p:cNvSpPr txBox="1"/>
            <p:nvPr/>
          </p:nvSpPr>
          <p:spPr>
            <a:xfrm>
              <a:off x="3223374" y="6427470"/>
              <a:ext cx="781888" cy="176212"/>
            </a:xfrm>
            <a:prstGeom prst="rect">
              <a:avLst/>
            </a:prstGeom>
            <a:noFill/>
            <a:ln>
              <a:noFill/>
            </a:ln>
          </p:spPr>
          <p:txBody>
            <a:bodyPr wrap="none" lIns="0" tIns="0" rIns="0" bIns="0" anchor="t" anchorCtr="0">
              <a:spAutoFit/>
            </a:bodyPr>
            <a:lstStyle/>
            <a:p>
              <a:pPr algn="r"/>
              <a:r>
                <a:rPr lang="zh-CN" sz="900" spc="150" dirty="0">
                  <a:solidFill>
                    <a:srgbClr val="F5EFE0"/>
                  </a:solidFill>
                  <a:latin typeface="Consolas"/>
                  <a:ea typeface="Consolas"/>
                  <a:cs typeface="Consolas"/>
                </a:rPr>
                <a:t>EST. 1986</a:t>
              </a:r>
            </a:p>
          </p:txBody>
        </p:sp>
      </p:grpSp>
      <p:grpSp>
        <p:nvGrpSpPr>
          <p:cNvPr id="14" name="Group 14"/>
          <p:cNvGrpSpPr/>
          <p:nvPr/>
        </p:nvGrpSpPr>
        <p:grpSpPr>
          <a:xfrm>
            <a:off x="4533900" y="847249"/>
            <a:ext cx="4650207" cy="1284446"/>
            <a:chOff x="4533900" y="847249"/>
            <a:chExt cx="4650207" cy="1284446"/>
          </a:xfrm>
        </p:grpSpPr>
        <p:sp>
          <p:nvSpPr>
            <p:cNvPr id="9" name="TextBox 9"/>
            <p:cNvSpPr txBox="1"/>
            <p:nvPr/>
          </p:nvSpPr>
          <p:spPr>
            <a:xfrm>
              <a:off x="4567047" y="847249"/>
              <a:ext cx="4617060" cy="190690"/>
            </a:xfrm>
            <a:prstGeom prst="rect">
              <a:avLst/>
            </a:prstGeom>
            <a:noFill/>
            <a:ln>
              <a:noFill/>
            </a:ln>
          </p:spPr>
          <p:txBody>
            <a:bodyPr wrap="none" lIns="0" tIns="0" rIns="0" bIns="0" anchor="t" anchorCtr="0">
              <a:spAutoFit/>
            </a:bodyPr>
            <a:lstStyle/>
            <a:p>
              <a:pPr algn="l"/>
              <a:r>
                <a:rPr lang="zh-CN" sz="980" spc="300" dirty="0">
                  <a:solidFill>
                    <a:schemeClr val="dk2"/>
                  </a:solidFill>
                  <a:latin typeface="Consolas"/>
                  <a:ea typeface="Consolas"/>
                  <a:cs typeface="Consolas"/>
                </a:rPr>
                <a:t>PART 02 · RISOGRAPH ORIGIN + VISUAL TRAITS</a:t>
              </a:r>
            </a:p>
          </p:txBody>
        </p:sp>
        <p:sp>
          <p:nvSpPr>
            <p:cNvPr id="10" name="Line 10"/>
            <p:cNvSpPr/>
            <p:nvPr/>
          </p:nvSpPr>
          <p:spPr>
            <a:xfrm>
              <a:off x="4572000" y="1104900"/>
              <a:ext cx="1524000" cy="9525"/>
            </a:xfrm>
            <a:custGeom>
              <a:avLst/>
              <a:gdLst/>
              <a:ahLst/>
              <a:cxnLst/>
              <a:rect l="l" t="t" r="r" b="b"/>
              <a:pathLst>
                <a:path w="1524000" h="9525">
                  <a:moveTo>
                    <a:pt x="0" y="0"/>
                  </a:moveTo>
                  <a:lnTo>
                    <a:pt x="1524000" y="0"/>
                  </a:lnTo>
                </a:path>
              </a:pathLst>
            </a:custGeom>
            <a:noFill/>
            <a:ln w="28575">
              <a:solidFill>
                <a:schemeClr val="accent1"/>
              </a:solidFill>
            </a:ln>
          </p:spPr>
        </p:sp>
        <p:sp>
          <p:nvSpPr>
            <p:cNvPr id="11" name="TextBox 11"/>
            <p:cNvSpPr txBox="1"/>
            <p:nvPr/>
          </p:nvSpPr>
          <p:spPr>
            <a:xfrm>
              <a:off x="4552950" y="1165860"/>
              <a:ext cx="2880055" cy="819150"/>
            </a:xfrm>
            <a:prstGeom prst="rect">
              <a:avLst/>
            </a:prstGeom>
            <a:noFill/>
            <a:ln>
              <a:noFill/>
            </a:ln>
          </p:spPr>
          <p:txBody>
            <a:bodyPr wrap="none" lIns="0" tIns="0" rIns="0" bIns="0" anchor="t" anchorCtr="0">
              <a:spAutoFit/>
            </a:bodyPr>
            <a:lstStyle/>
            <a:p>
              <a:pPr algn="l"/>
              <a:r>
                <a:rPr lang="zh-CN" sz="4200" spc="-75" dirty="0">
                  <a:solidFill>
                    <a:schemeClr val="accent2"/>
                  </a:solidFill>
                  <a:latin typeface="+mj-lt"/>
                  <a:ea typeface="+mj-ea"/>
                  <a:cs typeface="+mj-cs"/>
                </a:rPr>
                <a:t>RISOGRAPH</a:t>
              </a:r>
            </a:p>
          </p:txBody>
        </p:sp>
        <p:sp>
          <p:nvSpPr>
            <p:cNvPr id="12" name="TextBox 12"/>
            <p:cNvSpPr txBox="1"/>
            <p:nvPr/>
          </p:nvSpPr>
          <p:spPr>
            <a:xfrm>
              <a:off x="4533900" y="1146810"/>
              <a:ext cx="2880055" cy="819150"/>
            </a:xfrm>
            <a:prstGeom prst="rect">
              <a:avLst/>
            </a:prstGeom>
            <a:noFill/>
            <a:ln>
              <a:noFill/>
            </a:ln>
          </p:spPr>
          <p:txBody>
            <a:bodyPr wrap="none" lIns="0" tIns="0" rIns="0" bIns="0" anchor="t" anchorCtr="0">
              <a:spAutoFit/>
            </a:bodyPr>
            <a:lstStyle/>
            <a:p>
              <a:pPr algn="l"/>
              <a:r>
                <a:rPr lang="zh-CN" sz="4200" spc="-75" dirty="0">
                  <a:solidFill>
                    <a:schemeClr val="dk1"/>
                  </a:solidFill>
                  <a:latin typeface="+mj-lt"/>
                  <a:ea typeface="+mj-ea"/>
                  <a:cs typeface="+mj-cs"/>
                </a:rPr>
                <a:t>RISOGRAPH</a:t>
              </a:r>
            </a:p>
          </p:txBody>
        </p:sp>
        <p:sp>
          <p:nvSpPr>
            <p:cNvPr id="13" name="TextBox 13"/>
            <p:cNvSpPr txBox="1"/>
            <p:nvPr/>
          </p:nvSpPr>
          <p:spPr>
            <a:xfrm>
              <a:off x="4564380" y="1838325"/>
              <a:ext cx="2012823" cy="293370"/>
            </a:xfrm>
            <a:prstGeom prst="rect">
              <a:avLst/>
            </a:prstGeom>
            <a:noFill/>
            <a:ln>
              <a:noFill/>
            </a:ln>
          </p:spPr>
          <p:txBody>
            <a:bodyPr wrap="none" lIns="0" tIns="0" rIns="0" bIns="0" anchor="t" anchorCtr="0">
              <a:spAutoFit/>
            </a:bodyPr>
            <a:lstStyle/>
            <a:p>
              <a:pPr algn="l"/>
              <a:r>
                <a:rPr lang="zh-CN" sz="1500" b="1" dirty="0">
                  <a:solidFill>
                    <a:schemeClr val="dk1"/>
                  </a:solidFill>
                  <a:latin typeface="+mn-lt"/>
                  <a:ea typeface="+mn-ea"/>
                  <a:cs typeface="+mn-cs"/>
                </a:rPr>
                <a:t>ZINE 工艺的灵魂载体</a:t>
              </a:r>
            </a:p>
          </p:txBody>
        </p:sp>
      </p:grpSp>
      <p:grpSp>
        <p:nvGrpSpPr>
          <p:cNvPr id="21" name="Group 21"/>
          <p:cNvGrpSpPr/>
          <p:nvPr/>
        </p:nvGrpSpPr>
        <p:grpSpPr>
          <a:xfrm>
            <a:off x="4572000" y="2209800"/>
            <a:ext cx="7077075" cy="600075"/>
            <a:chOff x="4572000" y="2209800"/>
            <a:chExt cx="7077075" cy="600075"/>
          </a:xfrm>
        </p:grpSpPr>
        <p:sp>
          <p:nvSpPr>
            <p:cNvPr id="15" name="Rectangle 15"/>
            <p:cNvSpPr/>
            <p:nvPr/>
          </p:nvSpPr>
          <p:spPr>
            <a:xfrm>
              <a:off x="4572000" y="2209800"/>
              <a:ext cx="7048500" cy="571500"/>
            </a:xfrm>
            <a:prstGeom prst="rect">
              <a:avLst/>
            </a:prstGeom>
            <a:solidFill>
              <a:schemeClr val="dk1"/>
            </a:solidFill>
            <a:ln>
              <a:noFill/>
            </a:ln>
          </p:spPr>
        </p:sp>
        <p:sp>
          <p:nvSpPr>
            <p:cNvPr id="16" name="Rectangle 16"/>
            <p:cNvSpPr/>
            <p:nvPr/>
          </p:nvSpPr>
          <p:spPr>
            <a:xfrm>
              <a:off x="4600575" y="2238375"/>
              <a:ext cx="7048500" cy="571500"/>
            </a:xfrm>
            <a:prstGeom prst="rect">
              <a:avLst/>
            </a:prstGeom>
            <a:solidFill>
              <a:schemeClr val="accent1">
                <a:alpha val="40000"/>
              </a:schemeClr>
            </a:solidFill>
            <a:ln>
              <a:noFill/>
            </a:ln>
          </p:spPr>
        </p:sp>
        <p:sp>
          <p:nvSpPr>
            <p:cNvPr id="17" name="Rectangle 17"/>
            <p:cNvSpPr/>
            <p:nvPr/>
          </p:nvSpPr>
          <p:spPr>
            <a:xfrm>
              <a:off x="4572000" y="2209800"/>
              <a:ext cx="7048500" cy="571500"/>
            </a:xfrm>
            <a:prstGeom prst="rect">
              <a:avLst/>
            </a:prstGeom>
            <a:solidFill>
              <a:schemeClr val="dk1"/>
            </a:solidFill>
            <a:ln>
              <a:noFill/>
            </a:ln>
          </p:spPr>
        </p:sp>
        <p:sp>
          <p:nvSpPr>
            <p:cNvPr id="18" name="TextBox 18"/>
            <p:cNvSpPr txBox="1"/>
            <p:nvPr/>
          </p:nvSpPr>
          <p:spPr>
            <a:xfrm>
              <a:off x="4756785" y="2450306"/>
              <a:ext cx="2759507" cy="220028"/>
            </a:xfrm>
            <a:prstGeom prst="rect">
              <a:avLst/>
            </a:prstGeom>
            <a:noFill/>
            <a:ln>
              <a:noFill/>
            </a:ln>
          </p:spPr>
          <p:txBody>
            <a:bodyPr wrap="none" lIns="0" tIns="0" rIns="0" bIns="0" anchor="t" anchorCtr="0">
              <a:spAutoFit/>
            </a:bodyPr>
            <a:lstStyle/>
            <a:p>
              <a:pPr algn="l"/>
              <a:r>
                <a:rPr lang="zh-CN" sz="1120" dirty="0">
                  <a:solidFill>
                    <a:srgbClr val="F5EFE0"/>
                  </a:solidFill>
                  <a:latin typeface="+mn-lt"/>
                  <a:ea typeface="+mn-ea"/>
                  <a:cs typeface="+mn-cs"/>
                </a:rPr>
                <a:t>RISO KAGAKU 1946 创办 · "RISO" 意为</a:t>
              </a:r>
            </a:p>
          </p:txBody>
        </p:sp>
        <p:sp>
          <p:nvSpPr>
            <p:cNvPr id="19" name="TextBox 19"/>
            <p:cNvSpPr txBox="1"/>
            <p:nvPr/>
          </p:nvSpPr>
          <p:spPr>
            <a:xfrm>
              <a:off x="8033385" y="2450306"/>
              <a:ext cx="312979" cy="220028"/>
            </a:xfrm>
            <a:prstGeom prst="rect">
              <a:avLst/>
            </a:prstGeom>
            <a:noFill/>
            <a:ln>
              <a:noFill/>
            </a:ln>
          </p:spPr>
          <p:txBody>
            <a:bodyPr wrap="none" lIns="0" tIns="0" rIns="0" bIns="0" anchor="t" anchorCtr="0">
              <a:spAutoFit/>
            </a:bodyPr>
            <a:lstStyle/>
            <a:p>
              <a:pPr algn="l"/>
              <a:r>
                <a:rPr lang="zh-CN" sz="1120" b="1" dirty="0">
                  <a:solidFill>
                    <a:schemeClr val="accent2"/>
                  </a:solidFill>
                  <a:latin typeface="+mn-lt"/>
                  <a:ea typeface="+mn-ea"/>
                  <a:cs typeface="+mn-cs"/>
                </a:rPr>
                <a:t>理想</a:t>
              </a:r>
            </a:p>
          </p:txBody>
        </p:sp>
        <p:sp>
          <p:nvSpPr>
            <p:cNvPr id="20" name="TextBox 20"/>
            <p:cNvSpPr txBox="1"/>
            <p:nvPr/>
          </p:nvSpPr>
          <p:spPr>
            <a:xfrm>
              <a:off x="8566785" y="2450306"/>
              <a:ext cx="2991927" cy="220028"/>
            </a:xfrm>
            <a:prstGeom prst="rect">
              <a:avLst/>
            </a:prstGeom>
            <a:noFill/>
            <a:ln>
              <a:noFill/>
            </a:ln>
          </p:spPr>
          <p:txBody>
            <a:bodyPr wrap="none" lIns="0" tIns="0" rIns="0" bIns="0" anchor="t" anchorCtr="0">
              <a:spAutoFit/>
            </a:bodyPr>
            <a:lstStyle/>
            <a:p>
              <a:pPr algn="l" marL="120904" indent="-120904">
                <a:buClr>
                  <a:srgbClr val="F5EFE0"/>
                </a:buClr>
                <a:buSzTx/>
                <a:buFontTx/>
                <a:buChar char="•"/>
              </a:pPr>
              <a:r>
                <a:rPr lang="zh-CN" sz="1120" dirty="0">
                  <a:solidFill>
                    <a:srgbClr val="F5EFE0"/>
                  </a:solidFill>
                  <a:latin typeface="+mn-lt"/>
                  <a:ea typeface="+mn-ea"/>
                  <a:cs typeface="+mn-cs"/>
                </a:rPr>
                <a:t>RISOGRAPH 007 印刷机 1986 在日本首发</a:t>
              </a:r>
            </a:p>
          </p:txBody>
        </p:sp>
      </p:grpSp>
      <p:grpSp>
        <p:nvGrpSpPr>
          <p:cNvPr id="28" name="Group 28"/>
          <p:cNvGrpSpPr/>
          <p:nvPr/>
        </p:nvGrpSpPr>
        <p:grpSpPr>
          <a:xfrm>
            <a:off x="4572000" y="2971800"/>
            <a:ext cx="7048500" cy="704850"/>
            <a:chOff x="4572000" y="2971800"/>
            <a:chExt cx="7048500" cy="704850"/>
          </a:xfrm>
        </p:grpSpPr>
        <p:sp>
          <p:nvSpPr>
            <p:cNvPr id="22" name="Rectangle 22"/>
            <p:cNvSpPr/>
            <p:nvPr/>
          </p:nvSpPr>
          <p:spPr>
            <a:xfrm>
              <a:off x="4572000" y="2971800"/>
              <a:ext cx="476250" cy="476250"/>
            </a:xfrm>
            <a:prstGeom prst="rect">
              <a:avLst/>
            </a:prstGeom>
            <a:solidFill>
              <a:schemeClr val="accent1"/>
            </a:solidFill>
            <a:ln>
              <a:noFill/>
            </a:ln>
          </p:spPr>
        </p:sp>
        <p:sp>
          <p:nvSpPr>
            <p:cNvPr id="23" name="TextBox 23"/>
            <p:cNvSpPr txBox="1"/>
            <p:nvPr/>
          </p:nvSpPr>
          <p:spPr>
            <a:xfrm>
              <a:off x="4643971" y="3088005"/>
              <a:ext cx="332308" cy="410718"/>
            </a:xfrm>
            <a:prstGeom prst="rect">
              <a:avLst/>
            </a:prstGeom>
            <a:noFill/>
            <a:ln>
              <a:noFill/>
            </a:ln>
          </p:spPr>
          <p:txBody>
            <a:bodyPr wrap="none" lIns="0" tIns="0" rIns="0" bIns="0" anchor="t" anchorCtr="0">
              <a:spAutoFit/>
            </a:bodyPr>
            <a:lstStyle/>
            <a:p>
              <a:pPr algn="ctr"/>
              <a:r>
                <a:rPr lang="zh-CN" sz="2100" dirty="0">
                  <a:solidFill>
                    <a:srgbClr val="F5EFE0"/>
                  </a:solidFill>
                  <a:latin typeface="+mj-lt"/>
                  <a:ea typeface="+mj-ea"/>
                  <a:cs typeface="+mj-cs"/>
                </a:rPr>
                <a:t>01</a:t>
              </a:r>
            </a:p>
          </p:txBody>
        </p:sp>
        <p:sp>
          <p:nvSpPr>
            <p:cNvPr id="24" name="Rectangle 24"/>
            <p:cNvSpPr/>
            <p:nvPr/>
          </p:nvSpPr>
          <p:spPr>
            <a:xfrm>
              <a:off x="5143500" y="2971800"/>
              <a:ext cx="6477000" cy="704850"/>
            </a:xfrm>
            <a:prstGeom prst="rect">
              <a:avLst/>
            </a:prstGeom>
            <a:solidFill>
              <a:schemeClr val="lt1"/>
            </a:solidFill>
            <a:ln>
              <a:noFill/>
            </a:ln>
          </p:spPr>
        </p:sp>
        <p:sp>
          <p:nvSpPr>
            <p:cNvPr id="25" name="Rectangle 25"/>
            <p:cNvSpPr/>
            <p:nvPr/>
          </p:nvSpPr>
          <p:spPr>
            <a:xfrm>
              <a:off x="5143500" y="2971800"/>
              <a:ext cx="57150" cy="704850"/>
            </a:xfrm>
            <a:prstGeom prst="rect">
              <a:avLst/>
            </a:prstGeom>
            <a:solidFill>
              <a:schemeClr val="accent1"/>
            </a:solidFill>
            <a:ln>
              <a:noFill/>
            </a:ln>
          </p:spPr>
        </p:sp>
        <p:sp>
          <p:nvSpPr>
            <p:cNvPr id="26" name="TextBox 26"/>
            <p:cNvSpPr txBox="1"/>
            <p:nvPr/>
          </p:nvSpPr>
          <p:spPr>
            <a:xfrm>
              <a:off x="5326380" y="3057525"/>
              <a:ext cx="3233776" cy="293370"/>
            </a:xfrm>
            <a:prstGeom prst="rect">
              <a:avLst/>
            </a:prstGeom>
            <a:noFill/>
            <a:ln>
              <a:noFill/>
            </a:ln>
          </p:spPr>
          <p:txBody>
            <a:bodyPr wrap="none" lIns="0" tIns="0" rIns="0" bIns="0" anchor="t" anchorCtr="0">
              <a:spAutoFit/>
            </a:bodyPr>
            <a:lstStyle/>
            <a:p>
              <a:pPr algn="l"/>
              <a:r>
                <a:rPr lang="zh-CN" sz="1500" b="1" dirty="0">
                  <a:solidFill>
                    <a:schemeClr val="dk1"/>
                  </a:solidFill>
                  <a:latin typeface="+mn-lt"/>
                  <a:ea typeface="+mn-ea"/>
                  <a:cs typeface="+mn-cs"/>
                </a:rPr>
                <a:t>限定调色板（LIMITED PALETTE）</a:t>
              </a:r>
            </a:p>
          </p:txBody>
        </p:sp>
        <p:sp>
          <p:nvSpPr>
            <p:cNvPr id="27" name="TextBox 27"/>
            <p:cNvSpPr txBox="1"/>
            <p:nvPr/>
          </p:nvSpPr>
          <p:spPr>
            <a:xfrm>
              <a:off x="5328285" y="3402806"/>
              <a:ext cx="4338655" cy="220028"/>
            </a:xfrm>
            <a:prstGeom prst="rect">
              <a:avLst/>
            </a:prstGeom>
            <a:noFill/>
            <a:ln>
              <a:noFill/>
            </a:ln>
          </p:spPr>
          <p:txBody>
            <a:bodyPr wrap="none" lIns="0" tIns="0" rIns="0" bIns="0" anchor="t" anchorCtr="0">
              <a:spAutoFit/>
            </a:bodyPr>
            <a:lstStyle/>
            <a:p>
              <a:pPr algn="l"/>
              <a:r>
                <a:rPr lang="zh-CN" sz="1120" dirty="0">
                  <a:solidFill>
                    <a:schemeClr val="dk2"/>
                  </a:solidFill>
                  <a:latin typeface="+mn-lt"/>
                  <a:ea typeface="+mn-ea"/>
                  <a:cs typeface="+mn-cs"/>
                </a:rPr>
                <a:t>一墨筒一色 —— 多色印刷需多次过纸；颜色总数有限反成美学语言</a:t>
              </a:r>
            </a:p>
          </p:txBody>
        </p:sp>
      </p:grpSp>
      <p:grpSp>
        <p:nvGrpSpPr>
          <p:cNvPr id="35" name="Group 35"/>
          <p:cNvGrpSpPr/>
          <p:nvPr/>
        </p:nvGrpSpPr>
        <p:grpSpPr>
          <a:xfrm>
            <a:off x="4572000" y="3771900"/>
            <a:ext cx="7048500" cy="704850"/>
            <a:chOff x="4572000" y="3771900"/>
            <a:chExt cx="7048500" cy="704850"/>
          </a:xfrm>
        </p:grpSpPr>
        <p:sp>
          <p:nvSpPr>
            <p:cNvPr id="29" name="Rectangle 29"/>
            <p:cNvSpPr/>
            <p:nvPr/>
          </p:nvSpPr>
          <p:spPr>
            <a:xfrm>
              <a:off x="4572000" y="3771900"/>
              <a:ext cx="476250" cy="476250"/>
            </a:xfrm>
            <a:prstGeom prst="rect">
              <a:avLst/>
            </a:prstGeom>
            <a:solidFill>
              <a:schemeClr val="accent2"/>
            </a:solidFill>
            <a:ln>
              <a:noFill/>
            </a:ln>
          </p:spPr>
        </p:sp>
        <p:sp>
          <p:nvSpPr>
            <p:cNvPr id="30" name="TextBox 30"/>
            <p:cNvSpPr txBox="1"/>
            <p:nvPr/>
          </p:nvSpPr>
          <p:spPr>
            <a:xfrm>
              <a:off x="4643971" y="3888105"/>
              <a:ext cx="332308" cy="410718"/>
            </a:xfrm>
            <a:prstGeom prst="rect">
              <a:avLst/>
            </a:prstGeom>
            <a:noFill/>
            <a:ln>
              <a:noFill/>
            </a:ln>
          </p:spPr>
          <p:txBody>
            <a:bodyPr wrap="none" lIns="0" tIns="0" rIns="0" bIns="0" anchor="t" anchorCtr="0">
              <a:spAutoFit/>
            </a:bodyPr>
            <a:lstStyle/>
            <a:p>
              <a:pPr algn="ctr"/>
              <a:r>
                <a:rPr lang="zh-CN" sz="2100" dirty="0">
                  <a:solidFill>
                    <a:srgbClr val="F5EFE0"/>
                  </a:solidFill>
                  <a:latin typeface="+mj-lt"/>
                  <a:ea typeface="+mj-ea"/>
                  <a:cs typeface="+mj-cs"/>
                </a:rPr>
                <a:t>02</a:t>
              </a:r>
            </a:p>
          </p:txBody>
        </p:sp>
        <p:sp>
          <p:nvSpPr>
            <p:cNvPr id="31" name="Rectangle 31"/>
            <p:cNvSpPr/>
            <p:nvPr/>
          </p:nvSpPr>
          <p:spPr>
            <a:xfrm>
              <a:off x="5143500" y="3771900"/>
              <a:ext cx="6477000" cy="704850"/>
            </a:xfrm>
            <a:prstGeom prst="rect">
              <a:avLst/>
            </a:prstGeom>
            <a:solidFill>
              <a:schemeClr val="lt1"/>
            </a:solidFill>
            <a:ln>
              <a:noFill/>
            </a:ln>
          </p:spPr>
        </p:sp>
        <p:sp>
          <p:nvSpPr>
            <p:cNvPr id="32" name="Rectangle 32"/>
            <p:cNvSpPr/>
            <p:nvPr/>
          </p:nvSpPr>
          <p:spPr>
            <a:xfrm>
              <a:off x="5143500" y="3771900"/>
              <a:ext cx="57150" cy="704850"/>
            </a:xfrm>
            <a:prstGeom prst="rect">
              <a:avLst/>
            </a:prstGeom>
            <a:solidFill>
              <a:schemeClr val="accent2"/>
            </a:solidFill>
            <a:ln>
              <a:noFill/>
            </a:ln>
          </p:spPr>
        </p:sp>
        <p:sp>
          <p:nvSpPr>
            <p:cNvPr id="33" name="TextBox 33"/>
            <p:cNvSpPr txBox="1"/>
            <p:nvPr/>
          </p:nvSpPr>
          <p:spPr>
            <a:xfrm>
              <a:off x="5326380" y="3857625"/>
              <a:ext cx="3065221" cy="293370"/>
            </a:xfrm>
            <a:prstGeom prst="rect">
              <a:avLst/>
            </a:prstGeom>
            <a:noFill/>
            <a:ln>
              <a:noFill/>
            </a:ln>
          </p:spPr>
          <p:txBody>
            <a:bodyPr wrap="none" lIns="0" tIns="0" rIns="0" bIns="0" anchor="t" anchorCtr="0">
              <a:spAutoFit/>
            </a:bodyPr>
            <a:lstStyle/>
            <a:p>
              <a:pPr algn="l"/>
              <a:r>
                <a:rPr lang="zh-CN" sz="1500" b="1" dirty="0">
                  <a:solidFill>
                    <a:schemeClr val="dk1"/>
                  </a:solidFill>
                  <a:latin typeface="+mn-lt"/>
                  <a:ea typeface="+mn-ea"/>
                  <a:cs typeface="+mn-cs"/>
                </a:rPr>
                <a:t>套色错位（MISREGISTRATION）</a:t>
              </a:r>
            </a:p>
          </p:txBody>
        </p:sp>
        <p:sp>
          <p:nvSpPr>
            <p:cNvPr id="34" name="TextBox 34"/>
            <p:cNvSpPr txBox="1"/>
            <p:nvPr/>
          </p:nvSpPr>
          <p:spPr>
            <a:xfrm>
              <a:off x="5328285" y="4202906"/>
              <a:ext cx="3652632" cy="220028"/>
            </a:xfrm>
            <a:prstGeom prst="rect">
              <a:avLst/>
            </a:prstGeom>
            <a:noFill/>
            <a:ln>
              <a:noFill/>
            </a:ln>
          </p:spPr>
          <p:txBody>
            <a:bodyPr wrap="none" lIns="0" tIns="0" rIns="0" bIns="0" anchor="t" anchorCtr="0">
              <a:spAutoFit/>
            </a:bodyPr>
            <a:lstStyle/>
            <a:p>
              <a:pPr algn="l"/>
              <a:r>
                <a:rPr lang="zh-CN" sz="1120" dirty="0">
                  <a:solidFill>
                    <a:schemeClr val="dk2"/>
                  </a:solidFill>
                  <a:latin typeface="+mn-lt"/>
                  <a:ea typeface="+mn-ea"/>
                  <a:cs typeface="+mn-cs"/>
                </a:rPr>
                <a:t>每次过纸轻微偏移 1–3px，叠印边缘的"错版"成为美学</a:t>
              </a:r>
            </a:p>
          </p:txBody>
        </p:sp>
      </p:grpSp>
      <p:grpSp>
        <p:nvGrpSpPr>
          <p:cNvPr id="42" name="Group 42"/>
          <p:cNvGrpSpPr/>
          <p:nvPr/>
        </p:nvGrpSpPr>
        <p:grpSpPr>
          <a:xfrm>
            <a:off x="4572000" y="4572000"/>
            <a:ext cx="7048500" cy="704850"/>
            <a:chOff x="4572000" y="4572000"/>
            <a:chExt cx="7048500" cy="704850"/>
          </a:xfrm>
        </p:grpSpPr>
        <p:sp>
          <p:nvSpPr>
            <p:cNvPr id="36" name="Rectangle 36"/>
            <p:cNvSpPr/>
            <p:nvPr/>
          </p:nvSpPr>
          <p:spPr>
            <a:xfrm>
              <a:off x="4572000" y="4572000"/>
              <a:ext cx="476250" cy="476250"/>
            </a:xfrm>
            <a:prstGeom prst="rect">
              <a:avLst/>
            </a:prstGeom>
            <a:solidFill>
              <a:schemeClr val="accent3"/>
            </a:solidFill>
            <a:ln>
              <a:noFill/>
            </a:ln>
          </p:spPr>
        </p:sp>
        <p:sp>
          <p:nvSpPr>
            <p:cNvPr id="37" name="TextBox 37"/>
            <p:cNvSpPr txBox="1"/>
            <p:nvPr/>
          </p:nvSpPr>
          <p:spPr>
            <a:xfrm>
              <a:off x="4643971" y="4688205"/>
              <a:ext cx="332308" cy="410718"/>
            </a:xfrm>
            <a:prstGeom prst="rect">
              <a:avLst/>
            </a:prstGeom>
            <a:noFill/>
            <a:ln>
              <a:noFill/>
            </a:ln>
          </p:spPr>
          <p:txBody>
            <a:bodyPr wrap="none" lIns="0" tIns="0" rIns="0" bIns="0" anchor="t" anchorCtr="0">
              <a:spAutoFit/>
            </a:bodyPr>
            <a:lstStyle/>
            <a:p>
              <a:pPr algn="ctr"/>
              <a:r>
                <a:rPr lang="zh-CN" sz="2100" dirty="0">
                  <a:solidFill>
                    <a:srgbClr val="F5EFE0"/>
                  </a:solidFill>
                  <a:latin typeface="+mj-lt"/>
                  <a:ea typeface="+mj-ea"/>
                  <a:cs typeface="+mj-cs"/>
                </a:rPr>
                <a:t>03</a:t>
              </a:r>
            </a:p>
          </p:txBody>
        </p:sp>
        <p:sp>
          <p:nvSpPr>
            <p:cNvPr id="38" name="Rectangle 38"/>
            <p:cNvSpPr/>
            <p:nvPr/>
          </p:nvSpPr>
          <p:spPr>
            <a:xfrm>
              <a:off x="5143500" y="4572000"/>
              <a:ext cx="6477000" cy="704850"/>
            </a:xfrm>
            <a:prstGeom prst="rect">
              <a:avLst/>
            </a:prstGeom>
            <a:solidFill>
              <a:schemeClr val="lt1"/>
            </a:solidFill>
            <a:ln>
              <a:noFill/>
            </a:ln>
          </p:spPr>
        </p:sp>
        <p:sp>
          <p:nvSpPr>
            <p:cNvPr id="39" name="Rectangle 39"/>
            <p:cNvSpPr/>
            <p:nvPr/>
          </p:nvSpPr>
          <p:spPr>
            <a:xfrm>
              <a:off x="5143500" y="4572000"/>
              <a:ext cx="57150" cy="704850"/>
            </a:xfrm>
            <a:prstGeom prst="rect">
              <a:avLst/>
            </a:prstGeom>
            <a:solidFill>
              <a:schemeClr val="accent3"/>
            </a:solidFill>
            <a:ln>
              <a:noFill/>
            </a:ln>
          </p:spPr>
        </p:sp>
        <p:sp>
          <p:nvSpPr>
            <p:cNvPr id="40" name="TextBox 40"/>
            <p:cNvSpPr txBox="1"/>
            <p:nvPr/>
          </p:nvSpPr>
          <p:spPr>
            <a:xfrm>
              <a:off x="5326380" y="4657725"/>
              <a:ext cx="2539289" cy="293370"/>
            </a:xfrm>
            <a:prstGeom prst="rect">
              <a:avLst/>
            </a:prstGeom>
            <a:noFill/>
            <a:ln>
              <a:noFill/>
            </a:ln>
          </p:spPr>
          <p:txBody>
            <a:bodyPr wrap="none" lIns="0" tIns="0" rIns="0" bIns="0" anchor="t" anchorCtr="0">
              <a:spAutoFit/>
            </a:bodyPr>
            <a:lstStyle/>
            <a:p>
              <a:pPr algn="l"/>
              <a:r>
                <a:rPr lang="zh-CN" sz="1500" b="1" dirty="0">
                  <a:solidFill>
                    <a:schemeClr val="dk1"/>
                  </a:solidFill>
                  <a:latin typeface="+mn-lt"/>
                  <a:ea typeface="+mn-ea"/>
                  <a:cs typeface="+mn-cs"/>
                </a:rPr>
                <a:t>半色调网点（HALFTONE）</a:t>
              </a:r>
            </a:p>
          </p:txBody>
        </p:sp>
        <p:sp>
          <p:nvSpPr>
            <p:cNvPr id="41" name="TextBox 41"/>
            <p:cNvSpPr txBox="1"/>
            <p:nvPr/>
          </p:nvSpPr>
          <p:spPr>
            <a:xfrm>
              <a:off x="5328285" y="5003006"/>
              <a:ext cx="4685436" cy="220028"/>
            </a:xfrm>
            <a:prstGeom prst="rect">
              <a:avLst/>
            </a:prstGeom>
            <a:noFill/>
            <a:ln>
              <a:noFill/>
            </a:ln>
          </p:spPr>
          <p:txBody>
            <a:bodyPr wrap="none" lIns="0" tIns="0" rIns="0" bIns="0" anchor="t" anchorCtr="0">
              <a:spAutoFit/>
            </a:bodyPr>
            <a:lstStyle/>
            <a:p>
              <a:pPr algn="l"/>
              <a:r>
                <a:rPr lang="zh-CN" sz="1120" dirty="0">
                  <a:solidFill>
                    <a:schemeClr val="dk2"/>
                  </a:solidFill>
                  <a:latin typeface="+mn-lt"/>
                  <a:ea typeface="+mn-ea"/>
                  <a:cs typeface="+mn-cs"/>
                </a:rPr>
                <a:t>色块以网点呈现，介于工业印刷品与丝网作品之间，本页背景就是网点</a:t>
              </a:r>
            </a:p>
          </p:txBody>
        </p:sp>
      </p:grpSp>
      <p:grpSp>
        <p:nvGrpSpPr>
          <p:cNvPr id="49" name="Group 49"/>
          <p:cNvGrpSpPr/>
          <p:nvPr/>
        </p:nvGrpSpPr>
        <p:grpSpPr>
          <a:xfrm>
            <a:off x="4572000" y="5372100"/>
            <a:ext cx="7048500" cy="704850"/>
            <a:chOff x="4572000" y="5372100"/>
            <a:chExt cx="7048500" cy="704850"/>
          </a:xfrm>
        </p:grpSpPr>
        <p:sp>
          <p:nvSpPr>
            <p:cNvPr id="43" name="Rectangle 43"/>
            <p:cNvSpPr/>
            <p:nvPr/>
          </p:nvSpPr>
          <p:spPr>
            <a:xfrm>
              <a:off x="4572000" y="5372100"/>
              <a:ext cx="476250" cy="476250"/>
            </a:xfrm>
            <a:prstGeom prst="rect">
              <a:avLst/>
            </a:prstGeom>
            <a:solidFill>
              <a:schemeClr val="dk1"/>
            </a:solidFill>
            <a:ln>
              <a:noFill/>
            </a:ln>
          </p:spPr>
        </p:sp>
        <p:sp>
          <p:nvSpPr>
            <p:cNvPr id="44" name="TextBox 44"/>
            <p:cNvSpPr txBox="1"/>
            <p:nvPr/>
          </p:nvSpPr>
          <p:spPr>
            <a:xfrm>
              <a:off x="4643971" y="5488305"/>
              <a:ext cx="332308" cy="410718"/>
            </a:xfrm>
            <a:prstGeom prst="rect">
              <a:avLst/>
            </a:prstGeom>
            <a:noFill/>
            <a:ln>
              <a:noFill/>
            </a:ln>
          </p:spPr>
          <p:txBody>
            <a:bodyPr wrap="none" lIns="0" tIns="0" rIns="0" bIns="0" anchor="t" anchorCtr="0">
              <a:spAutoFit/>
            </a:bodyPr>
            <a:lstStyle/>
            <a:p>
              <a:pPr algn="ctr"/>
              <a:r>
                <a:rPr lang="zh-CN" sz="2100" dirty="0">
                  <a:solidFill>
                    <a:srgbClr val="F5EFE0"/>
                  </a:solidFill>
                  <a:latin typeface="+mj-lt"/>
                  <a:ea typeface="+mj-ea"/>
                  <a:cs typeface="+mj-cs"/>
                </a:rPr>
                <a:t>04</a:t>
              </a:r>
            </a:p>
          </p:txBody>
        </p:sp>
        <p:sp>
          <p:nvSpPr>
            <p:cNvPr id="45" name="Rectangle 45"/>
            <p:cNvSpPr/>
            <p:nvPr/>
          </p:nvSpPr>
          <p:spPr>
            <a:xfrm>
              <a:off x="5143500" y="5372100"/>
              <a:ext cx="6477000" cy="704850"/>
            </a:xfrm>
            <a:prstGeom prst="rect">
              <a:avLst/>
            </a:prstGeom>
            <a:solidFill>
              <a:schemeClr val="lt1"/>
            </a:solidFill>
            <a:ln>
              <a:noFill/>
            </a:ln>
          </p:spPr>
        </p:sp>
        <p:sp>
          <p:nvSpPr>
            <p:cNvPr id="46" name="Rectangle 46"/>
            <p:cNvSpPr/>
            <p:nvPr/>
          </p:nvSpPr>
          <p:spPr>
            <a:xfrm>
              <a:off x="5143500" y="5372100"/>
              <a:ext cx="57150" cy="704850"/>
            </a:xfrm>
            <a:prstGeom prst="rect">
              <a:avLst/>
            </a:prstGeom>
            <a:solidFill>
              <a:schemeClr val="dk1"/>
            </a:solidFill>
            <a:ln>
              <a:noFill/>
            </a:ln>
          </p:spPr>
        </p:sp>
        <p:sp>
          <p:nvSpPr>
            <p:cNvPr id="47" name="TextBox 47"/>
            <p:cNvSpPr txBox="1"/>
            <p:nvPr/>
          </p:nvSpPr>
          <p:spPr>
            <a:xfrm>
              <a:off x="5326380" y="5457825"/>
              <a:ext cx="2393137" cy="293370"/>
            </a:xfrm>
            <a:prstGeom prst="rect">
              <a:avLst/>
            </a:prstGeom>
            <a:noFill/>
            <a:ln>
              <a:noFill/>
            </a:ln>
          </p:spPr>
          <p:txBody>
            <a:bodyPr wrap="none" lIns="0" tIns="0" rIns="0" bIns="0" anchor="t" anchorCtr="0">
              <a:spAutoFit/>
            </a:bodyPr>
            <a:lstStyle/>
            <a:p>
              <a:pPr algn="l"/>
              <a:r>
                <a:rPr lang="zh-CN" sz="1500" b="1" dirty="0">
                  <a:solidFill>
                    <a:schemeClr val="dk1"/>
                  </a:solidFill>
                  <a:latin typeface="+mn-lt"/>
                  <a:ea typeface="+mn-ea"/>
                  <a:cs typeface="+mn-cs"/>
                </a:rPr>
                <a:t>色块叠印（OVERPRINT）</a:t>
              </a:r>
            </a:p>
          </p:txBody>
        </p:sp>
        <p:sp>
          <p:nvSpPr>
            <p:cNvPr id="48" name="TextBox 48"/>
            <p:cNvSpPr txBox="1"/>
            <p:nvPr/>
          </p:nvSpPr>
          <p:spPr>
            <a:xfrm>
              <a:off x="5328285" y="5803106"/>
              <a:ext cx="5273457" cy="220028"/>
            </a:xfrm>
            <a:prstGeom prst="rect">
              <a:avLst/>
            </a:prstGeom>
            <a:noFill/>
            <a:ln>
              <a:noFill/>
            </a:ln>
          </p:spPr>
          <p:txBody>
            <a:bodyPr wrap="none" lIns="0" tIns="0" rIns="0" bIns="0" anchor="t" anchorCtr="0">
              <a:spAutoFit/>
            </a:bodyPr>
            <a:lstStyle/>
            <a:p>
              <a:pPr algn="l"/>
              <a:r>
                <a:rPr lang="zh-CN" sz="1120" dirty="0">
                  <a:solidFill>
                    <a:schemeClr val="dk2"/>
                  </a:solidFill>
                  <a:latin typeface="+mn-lt"/>
                  <a:ea typeface="+mn-ea"/>
                  <a:cs typeface="+mn-cs"/>
                </a:rPr>
                <a:t>相同色块叠加产生第三色错觉 —— 蓝 ＋ 粉 ＝ 紫色错觉，技术不是缺陷而是工具</a:t>
              </a:r>
            </a:p>
          </p:txBody>
        </p:sp>
      </p:grpSp>
      <p:grpSp>
        <p:nvGrpSpPr>
          <p:cNvPr id="54" name="Group 54"/>
          <p:cNvGrpSpPr/>
          <p:nvPr/>
        </p:nvGrpSpPr>
        <p:grpSpPr>
          <a:xfrm>
            <a:off x="4567238" y="6362700"/>
            <a:ext cx="7058024" cy="466726"/>
            <a:chOff x="4567238" y="6362700"/>
            <a:chExt cx="7058024" cy="466726"/>
          </a:xfrm>
        </p:grpSpPr>
        <p:sp>
          <p:nvSpPr>
            <p:cNvPr id="50" name="Line 50"/>
            <p:cNvSpPr/>
            <p:nvPr/>
          </p:nvSpPr>
          <p:spPr>
            <a:xfrm>
              <a:off x="4572000" y="6362700"/>
              <a:ext cx="7048500" cy="9525"/>
            </a:xfrm>
            <a:custGeom>
              <a:avLst/>
              <a:gdLst/>
              <a:ahLst/>
              <a:cxnLst/>
              <a:rect l="l" t="t" r="r" b="b"/>
              <a:pathLst>
                <a:path w="7048500" h="9525">
                  <a:moveTo>
                    <a:pt x="0" y="0"/>
                  </a:moveTo>
                  <a:lnTo>
                    <a:pt x="7048500" y="0"/>
                  </a:lnTo>
                </a:path>
              </a:pathLst>
            </a:custGeom>
            <a:noFill/>
            <a:ln w="9525">
              <a:solidFill>
                <a:schemeClr val="accent4"/>
              </a:solidFill>
            </a:ln>
          </p:spPr>
        </p:sp>
        <p:sp>
          <p:nvSpPr>
            <p:cNvPr id="51" name="TextBox 51"/>
            <p:cNvSpPr txBox="1"/>
            <p:nvPr/>
          </p:nvSpPr>
          <p:spPr>
            <a:xfrm>
              <a:off x="4567238" y="6464141"/>
              <a:ext cx="2422484" cy="161925"/>
            </a:xfrm>
            <a:prstGeom prst="rect">
              <a:avLst/>
            </a:prstGeom>
            <a:noFill/>
            <a:ln>
              <a:noFill/>
            </a:ln>
          </p:spPr>
          <p:txBody>
            <a:bodyPr wrap="none" lIns="0" tIns="0" rIns="0" bIns="0" anchor="t" anchorCtr="0">
              <a:spAutoFit/>
            </a:bodyPr>
            <a:lstStyle/>
            <a:p>
              <a:pPr algn="l"/>
              <a:r>
                <a:rPr lang="zh-CN" sz="820" spc="150" dirty="0">
                  <a:solidFill>
                    <a:schemeClr val="dk2"/>
                  </a:solidFill>
                  <a:latin typeface="Consolas"/>
                  <a:ea typeface="Consolas"/>
                  <a:cs typeface="Consolas"/>
                </a:rPr>
                <a:t>P05 · RISOGRAPH ORIGIN + TRAITS</a:t>
              </a:r>
            </a:p>
          </p:txBody>
        </p:sp>
        <p:sp>
          <p:nvSpPr>
            <p:cNvPr id="52" name="TextBox 52"/>
            <p:cNvSpPr txBox="1"/>
            <p:nvPr/>
          </p:nvSpPr>
          <p:spPr>
            <a:xfrm>
              <a:off x="10230462" y="6464141"/>
              <a:ext cx="1394800" cy="161925"/>
            </a:xfrm>
            <a:prstGeom prst="rect">
              <a:avLst/>
            </a:prstGeom>
            <a:noFill/>
            <a:ln>
              <a:noFill/>
            </a:ln>
          </p:spPr>
          <p:txBody>
            <a:bodyPr wrap="none" lIns="0" tIns="0" rIns="0" bIns="0" anchor="t" anchorCtr="0">
              <a:spAutoFit/>
            </a:bodyPr>
            <a:lstStyle/>
            <a:p>
              <a:pPr algn="r"/>
              <a:r>
                <a:rPr lang="zh-CN" sz="820" spc="150" dirty="0">
                  <a:solidFill>
                    <a:schemeClr val="dk2"/>
                  </a:solidFill>
                  <a:latin typeface="Consolas"/>
                  <a:ea typeface="Microsoft YaHei"/>
                  <a:cs typeface="Consolas"/>
                </a:rPr>
                <a:t>RISO = 理想 = IDEAL</a:t>
              </a:r>
            </a:p>
          </p:txBody>
        </p:sp>
        <p:sp>
          <p:nvSpPr>
            <p:cNvPr id="53" name="TextBox 53"/>
            <p:cNvSpPr txBox="1"/>
            <p:nvPr/>
          </p:nvSpPr>
          <p:spPr>
            <a:xfrm>
              <a:off x="4567238" y="6681788"/>
              <a:ext cx="3583305" cy="147638"/>
            </a:xfrm>
            <a:prstGeom prst="rect">
              <a:avLst/>
            </a:prstGeom>
            <a:noFill/>
            <a:ln>
              <a:noFill/>
            </a:ln>
          </p:spPr>
          <p:txBody>
            <a:bodyPr wrap="none" lIns="0" tIns="0" rIns="0" bIns="0" anchor="t" anchorCtr="0">
              <a:spAutoFit/>
            </a:bodyPr>
            <a:lstStyle/>
            <a:p>
              <a:pPr algn="l"/>
              <a:r>
                <a:rPr lang="zh-CN" sz="750" spc="75" dirty="0">
                  <a:solidFill>
                    <a:schemeClr val="accent5"/>
                  </a:solidFill>
                  <a:latin typeface="Consolas"/>
                  <a:ea typeface="Consolas"/>
                  <a:cs typeface="Consolas"/>
                </a:rPr>
                <a:t>SOY-BASED INK · POST-WAR JAPAN · 50–10,000 PRINTS / RUN</a:t>
              </a:r>
            </a:p>
          </p:txBody>
        </p:sp>
      </p:grpSp>
    </p:spTree>
  </p:cSld>
  <p:clrMapOvr>
    <a:masterClrMapping/>
  </p:clrMapOvr>
  <p:transition xmlns:p14="http://schemas.microsoft.com/office/powerpoint/2010/main" p14:dur="400">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22" presetClass="entr" presetSubtype="4"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par>
                          <p:cTn id="8" fill="hold">
                            <p:stCondLst>
                              <p:cond delay="500"/>
                            </p:stCondLst>
                            <p:childTnLst>
                              <p:par>
                                <p:cTn xmlns:p="http://schemas.openxmlformats.org/presentationml/2006/main" id="9" presetID="22" presetClass="entr" presetSubtype="4" fill="hold" grpId="0" nodeType="afterEffect">
                                  <p:stCondLst>
                                    <p:cond delay="100"/>
                                  </p:stCondLst>
                                  <p:childTnLst>
                                    <p:set>
                                      <p:cBhvr>
                                        <p:cTn id="10" dur="1" fill="hold">
                                          <p:stCondLst>
                                            <p:cond delay="0"/>
                                          </p:stCondLst>
                                        </p:cTn>
                                        <p:tgtEl>
                                          <p:spTgt spid="21"/>
                                        </p:tgtEl>
                                        <p:attrNameLst>
                                          <p:attrName>style.visibility</p:attrName>
                                        </p:attrNameLst>
                                      </p:cBhvr>
                                      <p:to>
                                        <p:strVal val="visible"/>
                                      </p:to>
                                    </p:set>
                                    <p:animEffect transition="in" filter="wipe(down)">
                                      <p:cBhvr>
                                        <p:cTn id="11" dur="400"/>
                                        <p:tgtEl>
                                          <p:spTgt spid="21"/>
                                        </p:tgtEl>
                                      </p:cBhvr>
                                    </p:animEffect>
                                  </p:childTnLst>
                                </p:cTn>
                              </p:par>
                            </p:childTnLst>
                          </p:cTn>
                        </p:par>
                        <p:par>
                          <p:cTn id="12" fill="hold">
                            <p:stCondLst>
                              <p:cond delay="1000"/>
                            </p:stCondLst>
                            <p:childTnLst>
                              <p:par>
                                <p:cTn xmlns:p="http://schemas.openxmlformats.org/presentationml/2006/main" id="13" presetID="10" presetClass="entr" presetSubtype="0" fill="hold" grpId="0" nodeType="afterEffect">
                                  <p:stCondLst>
                                    <p:cond delay="140"/>
                                  </p:stCondLst>
                                  <p:childTnLst>
                                    <p:set>
                                      <p:cBhvr>
                                        <p:cTn id="14" dur="1" fill="hold">
                                          <p:stCondLst>
                                            <p:cond delay="0"/>
                                          </p:stCondLst>
                                        </p:cTn>
                                        <p:tgtEl>
                                          <p:spTgt spid="28"/>
                                        </p:tgtEl>
                                        <p:attrNameLst>
                                          <p:attrName>style.visibility</p:attrName>
                                        </p:attrNameLst>
                                      </p:cBhvr>
                                      <p:to>
                                        <p:strVal val="visible"/>
                                      </p:to>
                                    </p:set>
                                    <p:animEffect transition="in" filter="fade">
                                      <p:cBhvr>
                                        <p:cTn id="15" dur="320"/>
                                        <p:tgtEl>
                                          <p:spTgt spid="28"/>
                                        </p:tgtEl>
                                      </p:cBhvr>
                                    </p:animEffect>
                                  </p:childTnLst>
                                </p:cTn>
                              </p:par>
                            </p:childTnLst>
                          </p:cTn>
                        </p:par>
                        <p:par>
                          <p:cTn id="16" fill="hold">
                            <p:stCondLst>
                              <p:cond delay="1460"/>
                            </p:stCondLst>
                            <p:childTnLst>
                              <p:par>
                                <p:cTn xmlns:p="http://schemas.openxmlformats.org/presentationml/2006/main" id="17" presetID="10" presetClass="entr" presetSubtype="0" fill="hold" grpId="0" nodeType="afterEffect">
                                  <p:stCondLst>
                                    <p:cond delay="14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320"/>
                                        <p:tgtEl>
                                          <p:spTgt spid="35"/>
                                        </p:tgtEl>
                                      </p:cBhvr>
                                    </p:animEffect>
                                  </p:childTnLst>
                                </p:cTn>
                              </p:par>
                            </p:childTnLst>
                          </p:cTn>
                        </p:par>
                        <p:par>
                          <p:cTn id="20" fill="hold">
                            <p:stCondLst>
                              <p:cond delay="1920"/>
                            </p:stCondLst>
                            <p:childTnLst>
                              <p:par>
                                <p:cTn xmlns:p="http://schemas.openxmlformats.org/presentationml/2006/main" id="21" presetID="10" presetClass="entr" presetSubtype="0" fill="hold" grpId="0" nodeType="afterEffect">
                                  <p:stCondLst>
                                    <p:cond delay="140"/>
                                  </p:stCondLst>
                                  <p:childTnLst>
                                    <p:set>
                                      <p:cBhvr>
                                        <p:cTn id="22" dur="1" fill="hold">
                                          <p:stCondLst>
                                            <p:cond delay="0"/>
                                          </p:stCondLst>
                                        </p:cTn>
                                        <p:tgtEl>
                                          <p:spTgt spid="42"/>
                                        </p:tgtEl>
                                        <p:attrNameLst>
                                          <p:attrName>style.visibility</p:attrName>
                                        </p:attrNameLst>
                                      </p:cBhvr>
                                      <p:to>
                                        <p:strVal val="visible"/>
                                      </p:to>
                                    </p:set>
                                    <p:animEffect transition="in" filter="fade">
                                      <p:cBhvr>
                                        <p:cTn id="23" dur="320"/>
                                        <p:tgtEl>
                                          <p:spTgt spid="42"/>
                                        </p:tgtEl>
                                      </p:cBhvr>
                                    </p:animEffect>
                                  </p:childTnLst>
                                </p:cTn>
                              </p:par>
                            </p:childTnLst>
                          </p:cTn>
                        </p:par>
                        <p:par>
                          <p:cTn id="24" fill="hold">
                            <p:stCondLst>
                              <p:cond delay="2380"/>
                            </p:stCondLst>
                            <p:childTnLst>
                              <p:par>
                                <p:cTn xmlns:p="http://schemas.openxmlformats.org/presentationml/2006/main" id="25" presetID="10" presetClass="entr" presetSubtype="0" fill="hold" grpId="0" nodeType="afterEffect">
                                  <p:stCondLst>
                                    <p:cond delay="140"/>
                                  </p:stCondLst>
                                  <p:childTnLst>
                                    <p:set>
                                      <p:cBhvr>
                                        <p:cTn id="26" dur="1" fill="hold">
                                          <p:stCondLst>
                                            <p:cond delay="0"/>
                                          </p:stCondLst>
                                        </p:cTn>
                                        <p:tgtEl>
                                          <p:spTgt spid="49"/>
                                        </p:tgtEl>
                                        <p:attrNameLst>
                                          <p:attrName>style.visibility</p:attrName>
                                        </p:attrNameLst>
                                      </p:cBhvr>
                                      <p:to>
                                        <p:strVal val="visible"/>
                                      </p:to>
                                    </p:set>
                                    <p:animEffect transition="in" filter="fade">
                                      <p:cBhvr>
                                        <p:cTn id="27" dur="32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pattFill prst="ltUpDiag">
            <a:fgClr>
              <a:schemeClr val="dk1">
                <a:alpha val="10000"/>
              </a:schemeClr>
            </a:fgClr>
            <a:bgClr>
              <a:srgbClr val="FFFFFF"/>
            </a:bgClr>
          </a:pattFill>
          <a:ln>
            <a:noFill/>
          </a:ln>
        </p:spPr>
      </p:sp>
      <p:grpSp>
        <p:nvGrpSpPr>
          <p:cNvPr id="8" name="Group 8"/>
          <p:cNvGrpSpPr/>
          <p:nvPr/>
        </p:nvGrpSpPr>
        <p:grpSpPr>
          <a:xfrm>
            <a:off x="571500" y="533400"/>
            <a:ext cx="7062597" cy="771239"/>
            <a:chOff x="571500" y="533400"/>
            <a:chExt cx="7062597" cy="771239"/>
          </a:xfrm>
        </p:grpSpPr>
        <p:sp>
          <p:nvSpPr>
            <p:cNvPr id="3" name="Rectangle 3"/>
            <p:cNvSpPr/>
            <p:nvPr/>
          </p:nvSpPr>
          <p:spPr>
            <a:xfrm>
              <a:off x="571500" y="533400"/>
              <a:ext cx="133350" cy="647700"/>
            </a:xfrm>
            <a:prstGeom prst="rect">
              <a:avLst/>
            </a:prstGeom>
            <a:solidFill>
              <a:schemeClr val="accent1"/>
            </a:solidFill>
            <a:ln>
              <a:noFill/>
            </a:ln>
          </p:spPr>
        </p:sp>
        <p:sp>
          <p:nvSpPr>
            <p:cNvPr id="4" name="Rectangle 4"/>
            <p:cNvSpPr/>
            <p:nvPr/>
          </p:nvSpPr>
          <p:spPr>
            <a:xfrm>
              <a:off x="600075" y="561975"/>
              <a:ext cx="133350" cy="647700"/>
            </a:xfrm>
            <a:prstGeom prst="rect">
              <a:avLst/>
            </a:prstGeom>
            <a:solidFill>
              <a:schemeClr val="accent2">
                <a:alpha val="70000"/>
              </a:schemeClr>
            </a:solidFill>
            <a:ln>
              <a:noFill/>
            </a:ln>
          </p:spPr>
        </p:sp>
        <p:sp>
          <p:nvSpPr>
            <p:cNvPr id="5" name="Rectangle 5"/>
            <p:cNvSpPr/>
            <p:nvPr/>
          </p:nvSpPr>
          <p:spPr>
            <a:xfrm>
              <a:off x="571500" y="533400"/>
              <a:ext cx="133350" cy="647700"/>
            </a:xfrm>
            <a:prstGeom prst="rect">
              <a:avLst/>
            </a:prstGeom>
            <a:solidFill>
              <a:schemeClr val="accent1"/>
            </a:solidFill>
            <a:ln>
              <a:noFill/>
            </a:ln>
          </p:spPr>
        </p:sp>
        <p:sp>
          <p:nvSpPr>
            <p:cNvPr id="6" name="TextBox 6"/>
            <p:cNvSpPr txBox="1"/>
            <p:nvPr/>
          </p:nvSpPr>
          <p:spPr>
            <a:xfrm>
              <a:off x="858012" y="544830"/>
              <a:ext cx="6132843" cy="704088"/>
            </a:xfrm>
            <a:prstGeom prst="rect">
              <a:avLst/>
            </a:prstGeom>
            <a:noFill/>
            <a:ln>
              <a:noFill/>
            </a:ln>
          </p:spPr>
          <p:txBody>
            <a:bodyPr wrap="none" lIns="0" tIns="0" rIns="0" bIns="0" anchor="t" anchorCtr="0">
              <a:spAutoFit/>
            </a:bodyPr>
            <a:lstStyle/>
            <a:p>
              <a:pPr algn="l"/>
              <a:r>
                <a:rPr lang="zh-CN" sz="3600" spc="-75" dirty="0">
                  <a:solidFill>
                    <a:schemeClr val="dk1"/>
                  </a:solidFill>
                  <a:latin typeface="+mj-lt"/>
                  <a:ea typeface="+mj-ea"/>
                  <a:cs typeface="+mj-cs"/>
                </a:rPr>
                <a:t>工艺：5 步从数字图像到印张</a:t>
              </a:r>
            </a:p>
          </p:txBody>
        </p:sp>
        <p:sp>
          <p:nvSpPr>
            <p:cNvPr id="7" name="TextBox 7"/>
            <p:cNvSpPr txBox="1"/>
            <p:nvPr/>
          </p:nvSpPr>
          <p:spPr>
            <a:xfrm>
              <a:off x="871347" y="1113949"/>
              <a:ext cx="6762750" cy="190690"/>
            </a:xfrm>
            <a:prstGeom prst="rect">
              <a:avLst/>
            </a:prstGeom>
            <a:noFill/>
            <a:ln>
              <a:noFill/>
            </a:ln>
          </p:spPr>
          <p:txBody>
            <a:bodyPr wrap="none" lIns="0" tIns="0" rIns="0" bIns="0" anchor="t" anchorCtr="0">
              <a:spAutoFit/>
            </a:bodyPr>
            <a:lstStyle/>
            <a:p>
              <a:pPr algn="l"/>
              <a:r>
                <a:rPr lang="zh-CN" sz="980" spc="225" dirty="0">
                  <a:solidFill>
                    <a:schemeClr val="dk2"/>
                  </a:solidFill>
                  <a:latin typeface="Consolas"/>
                  <a:ea typeface="Consolas"/>
                  <a:cs typeface="Consolas"/>
                </a:rPr>
                <a:t>RISOGRAPH WORKFLOW · ONE COLOR AT A TIME · 50–10,000 PRINTS / MIN</a:t>
              </a:r>
            </a:p>
          </p:txBody>
        </p:sp>
      </p:grpSp>
      <p:grpSp>
        <p:nvGrpSpPr>
          <p:cNvPr id="12" name="Group 12"/>
          <p:cNvGrpSpPr/>
          <p:nvPr/>
        </p:nvGrpSpPr>
        <p:grpSpPr>
          <a:xfrm>
            <a:off x="552450" y="1619250"/>
            <a:ext cx="11087100" cy="1905000"/>
            <a:chOff x="552450" y="1619250"/>
            <a:chExt cx="11087100" cy="1905000"/>
          </a:xfrm>
        </p:grpSpPr>
        <p:sp>
          <p:nvSpPr>
            <p:cNvPr id="9" name="Rectangle 9"/>
            <p:cNvSpPr/>
            <p:nvPr/>
          </p:nvSpPr>
          <p:spPr>
            <a:xfrm>
              <a:off x="552450" y="1619250"/>
              <a:ext cx="11087100" cy="1905000"/>
            </a:xfrm>
            <a:prstGeom prst="rect">
              <a:avLst/>
            </a:prstGeom>
            <a:solidFill>
              <a:schemeClr val="accent2"/>
            </a:solidFill>
            <a:ln>
              <a:noFill/>
            </a:ln>
          </p:spPr>
        </p:sp>
        <p:pic>
          <p:nvPicPr>
            <p:cNvPr id="10" name="Image 10"/>
            <p:cNvPicPr>
              <a:picLocks noChangeAspect="1"/>
            </p:cNvPicPr>
            <p:nvPr/>
          </p:nvPicPr>
          <p:blipFill>
            <a:blip r:embed="rId2"/>
            <a:srcRect l="0" t="30122" r="0" b="30121"/>
            <a:stretch>
              <a:fillRect/>
            </a:stretch>
          </p:blipFill>
          <p:spPr>
            <a:xfrm>
              <a:off x="571500" y="1619250"/>
              <a:ext cx="11049000" cy="1866900"/>
            </a:xfrm>
            <a:prstGeom prst="rect">
              <a:avLst/>
            </a:prstGeom>
          </p:spPr>
        </p:pic>
        <p:sp>
          <p:nvSpPr>
            <p:cNvPr id="11" name="Rectangle 11"/>
            <p:cNvSpPr/>
            <p:nvPr/>
          </p:nvSpPr>
          <p:spPr>
            <a:xfrm>
              <a:off x="571500" y="3448050"/>
              <a:ext cx="11049000" cy="38100"/>
            </a:xfrm>
            <a:prstGeom prst="rect">
              <a:avLst/>
            </a:prstGeom>
            <a:solidFill>
              <a:schemeClr val="dk1"/>
            </a:solidFill>
            <a:ln>
              <a:noFill/>
            </a:ln>
          </p:spPr>
        </p:sp>
      </p:grpSp>
      <p:grpSp>
        <p:nvGrpSpPr>
          <p:cNvPr id="24" name="Group 24"/>
          <p:cNvGrpSpPr/>
          <p:nvPr/>
        </p:nvGrpSpPr>
        <p:grpSpPr>
          <a:xfrm>
            <a:off x="571500" y="3810000"/>
            <a:ext cx="2057400" cy="2571750"/>
            <a:chOff x="571500" y="3810000"/>
            <a:chExt cx="2057400" cy="2571750"/>
          </a:xfrm>
        </p:grpSpPr>
        <p:sp>
          <p:nvSpPr>
            <p:cNvPr id="13" name="Rectangle 13"/>
            <p:cNvSpPr/>
            <p:nvPr/>
          </p:nvSpPr>
          <p:spPr>
            <a:xfrm>
              <a:off x="571500" y="3810000"/>
              <a:ext cx="2057400" cy="476250"/>
            </a:xfrm>
            <a:prstGeom prst="rect">
              <a:avLst/>
            </a:prstGeom>
            <a:solidFill>
              <a:schemeClr val="accent1"/>
            </a:solidFill>
            <a:ln>
              <a:noFill/>
            </a:ln>
          </p:spPr>
        </p:sp>
        <p:sp>
          <p:nvSpPr>
            <p:cNvPr id="14" name="TextBox 14"/>
            <p:cNvSpPr txBox="1"/>
            <p:nvPr/>
          </p:nvSpPr>
          <p:spPr>
            <a:xfrm>
              <a:off x="864108" y="3893820"/>
              <a:ext cx="379781" cy="469392"/>
            </a:xfrm>
            <a:prstGeom prst="rect">
              <a:avLst/>
            </a:prstGeom>
            <a:noFill/>
            <a:ln>
              <a:noFill/>
            </a:ln>
          </p:spPr>
          <p:txBody>
            <a:bodyPr wrap="none" lIns="0" tIns="0" rIns="0" bIns="0" anchor="t" anchorCtr="0">
              <a:spAutoFit/>
            </a:bodyPr>
            <a:lstStyle/>
            <a:p>
              <a:pPr algn="l"/>
              <a:r>
                <a:rPr lang="zh-CN" sz="2400" dirty="0">
                  <a:solidFill>
                    <a:srgbClr val="F5EFE0"/>
                  </a:solidFill>
                  <a:latin typeface="+mj-lt"/>
                  <a:ea typeface="+mj-ea"/>
                  <a:cs typeface="+mj-cs"/>
                </a:rPr>
                <a:t>01</a:t>
              </a:r>
            </a:p>
          </p:txBody>
        </p:sp>
        <p:sp>
          <p:nvSpPr>
            <p:cNvPr id="15" name="TextBox 15"/>
            <p:cNvSpPr txBox="1"/>
            <p:nvPr/>
          </p:nvSpPr>
          <p:spPr>
            <a:xfrm>
              <a:off x="1309116" y="4039552"/>
              <a:ext cx="888858" cy="205359"/>
            </a:xfrm>
            <a:prstGeom prst="rect">
              <a:avLst/>
            </a:prstGeom>
            <a:noFill/>
            <a:ln>
              <a:noFill/>
            </a:ln>
          </p:spPr>
          <p:txBody>
            <a:bodyPr wrap="none" lIns="0" tIns="0" rIns="0" bIns="0" anchor="t" anchorCtr="0">
              <a:spAutoFit/>
            </a:bodyPr>
            <a:lstStyle/>
            <a:p>
              <a:pPr algn="l"/>
              <a:r>
                <a:rPr lang="zh-CN" sz="1050" b="1" dirty="0">
                  <a:solidFill>
                    <a:srgbClr val="F5EFE0"/>
                  </a:solidFill>
                  <a:latin typeface="+mn-lt"/>
                  <a:ea typeface="+mn-ea"/>
                  <a:cs typeface="+mn-cs"/>
                </a:rPr>
                <a:t>DIGITAL FILE</a:t>
              </a:r>
            </a:p>
          </p:txBody>
        </p:sp>
        <p:sp>
          <p:nvSpPr>
            <p:cNvPr id="16" name="Rectangle 16"/>
            <p:cNvSpPr/>
            <p:nvPr/>
          </p:nvSpPr>
          <p:spPr>
            <a:xfrm>
              <a:off x="571500" y="4286250"/>
              <a:ext cx="2057400" cy="2095500"/>
            </a:xfrm>
            <a:prstGeom prst="rect">
              <a:avLst/>
            </a:prstGeom>
            <a:solidFill>
              <a:schemeClr val="lt1"/>
            </a:solidFill>
            <a:ln>
              <a:noFill/>
            </a:ln>
          </p:spPr>
        </p:sp>
        <p:sp>
          <p:nvSpPr>
            <p:cNvPr id="17" name="Rectangle 17"/>
            <p:cNvSpPr/>
            <p:nvPr/>
          </p:nvSpPr>
          <p:spPr>
            <a:xfrm>
              <a:off x="571500" y="4286250"/>
              <a:ext cx="2057400" cy="2095500"/>
            </a:xfrm>
            <a:prstGeom prst="rect">
              <a:avLst/>
            </a:prstGeom>
            <a:noFill/>
            <a:ln w="19050">
              <a:solidFill>
                <a:schemeClr val="accent4"/>
              </a:solidFill>
            </a:ln>
          </p:spPr>
        </p:sp>
        <p:sp>
          <p:nvSpPr>
            <p:cNvPr id="18" name="TextBox 18"/>
            <p:cNvSpPr txBox="1"/>
            <p:nvPr/>
          </p:nvSpPr>
          <p:spPr>
            <a:xfrm>
              <a:off x="755523" y="4510564"/>
              <a:ext cx="1046836" cy="249364"/>
            </a:xfrm>
            <a:prstGeom prst="rect">
              <a:avLst/>
            </a:prstGeom>
            <a:noFill/>
            <a:ln>
              <a:noFill/>
            </a:ln>
          </p:spPr>
          <p:txBody>
            <a:bodyPr wrap="none" lIns="0" tIns="0" rIns="0" bIns="0" anchor="t" anchorCtr="0">
              <a:spAutoFit/>
            </a:bodyPr>
            <a:lstStyle/>
            <a:p>
              <a:pPr algn="l"/>
              <a:r>
                <a:rPr lang="zh-CN" sz="1280" b="1" dirty="0">
                  <a:solidFill>
                    <a:schemeClr val="dk1"/>
                  </a:solidFill>
                  <a:latin typeface="+mn-lt"/>
                  <a:ea typeface="+mn-ea"/>
                  <a:cs typeface="+mn-cs"/>
                </a:rPr>
                <a:t>接收数字图像</a:t>
              </a:r>
            </a:p>
          </p:txBody>
        </p:sp>
        <p:sp>
          <p:nvSpPr>
            <p:cNvPr id="19" name="Line 19"/>
            <p:cNvSpPr/>
            <p:nvPr/>
          </p:nvSpPr>
          <p:spPr>
            <a:xfrm>
              <a:off x="762000" y="4762500"/>
              <a:ext cx="1143000" cy="9525"/>
            </a:xfrm>
            <a:custGeom>
              <a:avLst/>
              <a:gdLst/>
              <a:ahLst/>
              <a:cxnLst/>
              <a:rect l="l" t="t" r="r" b="b"/>
              <a:pathLst>
                <a:path w="1143000" h="9525">
                  <a:moveTo>
                    <a:pt x="0" y="0"/>
                  </a:moveTo>
                  <a:lnTo>
                    <a:pt x="1143000" y="0"/>
                  </a:lnTo>
                </a:path>
              </a:pathLst>
            </a:custGeom>
            <a:noFill/>
            <a:ln w="19050">
              <a:solidFill>
                <a:schemeClr val="accent1"/>
              </a:solidFill>
            </a:ln>
          </p:spPr>
        </p:sp>
        <p:sp>
          <p:nvSpPr>
            <p:cNvPr id="20" name="TextBox 20"/>
            <p:cNvSpPr txBox="1"/>
            <p:nvPr/>
          </p:nvSpPr>
          <p:spPr>
            <a:xfrm>
              <a:off x="756666" y="4915852"/>
              <a:ext cx="830771" cy="205359"/>
            </a:xfrm>
            <a:prstGeom prst="rect">
              <a:avLst/>
            </a:prstGeom>
            <a:noFill/>
            <a:ln>
              <a:noFill/>
            </a:ln>
          </p:spPr>
          <p:txBody>
            <a:bodyPr wrap="none" lIns="0" tIns="0" rIns="0" bIns="0" anchor="t" anchorCtr="0">
              <a:spAutoFit/>
            </a:bodyPr>
            <a:lstStyle/>
            <a:p>
              <a:pPr algn="l" marL="113348" indent="-113348">
                <a:buClr>
                  <a:schemeClr val="dk2"/>
                </a:buClr>
                <a:buSzTx/>
                <a:buFontTx/>
                <a:buChar char="•"/>
              </a:pPr>
              <a:r>
                <a:rPr lang="zh-CN" sz="1050" dirty="0">
                  <a:solidFill>
                    <a:schemeClr val="dk2"/>
                  </a:solidFill>
                  <a:latin typeface="+mn-lt"/>
                  <a:ea typeface="+mn-ea"/>
                  <a:cs typeface="+mn-cs"/>
                </a:rPr>
                <a:t>一张设计稿</a:t>
              </a:r>
            </a:p>
          </p:txBody>
        </p:sp>
        <p:sp>
          <p:nvSpPr>
            <p:cNvPr id="21" name="TextBox 21"/>
            <p:cNvSpPr txBox="1"/>
            <p:nvPr/>
          </p:nvSpPr>
          <p:spPr>
            <a:xfrm>
              <a:off x="756666" y="5125402"/>
              <a:ext cx="1042530" cy="205359"/>
            </a:xfrm>
            <a:prstGeom prst="rect">
              <a:avLst/>
            </a:prstGeom>
            <a:noFill/>
            <a:ln>
              <a:noFill/>
            </a:ln>
          </p:spPr>
          <p:txBody>
            <a:bodyPr wrap="none" lIns="0" tIns="0" rIns="0" bIns="0" anchor="t" anchorCtr="0">
              <a:spAutoFit/>
            </a:bodyPr>
            <a:lstStyle/>
            <a:p>
              <a:pPr algn="l" marL="113348" indent="-113348">
                <a:buClr>
                  <a:schemeClr val="dk2"/>
                </a:buClr>
                <a:buSzTx/>
                <a:buFontTx/>
                <a:buChar char="•"/>
              </a:pPr>
              <a:r>
                <a:rPr lang="zh-CN" sz="1050" dirty="0">
                  <a:solidFill>
                    <a:schemeClr val="dk2"/>
                  </a:solidFill>
                  <a:latin typeface="+mn-lt"/>
                  <a:ea typeface="+mn-ea"/>
                  <a:cs typeface="+mn-cs"/>
                </a:rPr>
                <a:t>拆解 N 个颜色</a:t>
              </a:r>
            </a:p>
          </p:txBody>
        </p:sp>
        <p:sp>
          <p:nvSpPr>
            <p:cNvPr id="22" name="TextBox 22"/>
            <p:cNvSpPr txBox="1"/>
            <p:nvPr/>
          </p:nvSpPr>
          <p:spPr>
            <a:xfrm>
              <a:off x="756666" y="5334952"/>
              <a:ext cx="972122" cy="205359"/>
            </a:xfrm>
            <a:prstGeom prst="rect">
              <a:avLst/>
            </a:prstGeom>
            <a:noFill/>
            <a:ln>
              <a:noFill/>
            </a:ln>
          </p:spPr>
          <p:txBody>
            <a:bodyPr wrap="none" lIns="0" tIns="0" rIns="0" bIns="0" anchor="t" anchorCtr="0">
              <a:spAutoFit/>
            </a:bodyPr>
            <a:lstStyle/>
            <a:p>
              <a:pPr algn="l" marL="113348" indent="-113348">
                <a:buClr>
                  <a:schemeClr val="dk2"/>
                </a:buClr>
                <a:buSzTx/>
                <a:buFontTx/>
                <a:buChar char="•"/>
              </a:pPr>
              <a:r>
                <a:rPr lang="zh-CN" sz="1050" dirty="0">
                  <a:solidFill>
                    <a:schemeClr val="dk2"/>
                  </a:solidFill>
                  <a:latin typeface="+mn-lt"/>
                  <a:ea typeface="+mn-ea"/>
                  <a:cs typeface="+mn-cs"/>
                </a:rPr>
                <a:t>每色单独出层</a:t>
              </a:r>
            </a:p>
          </p:txBody>
        </p:sp>
        <p:sp>
          <p:nvSpPr>
            <p:cNvPr id="23" name="TextBox 23"/>
            <p:cNvSpPr txBox="1"/>
            <p:nvPr/>
          </p:nvSpPr>
          <p:spPr>
            <a:xfrm>
              <a:off x="757238" y="6006941"/>
              <a:ext cx="386461" cy="161925"/>
            </a:xfrm>
            <a:prstGeom prst="rect">
              <a:avLst/>
            </a:prstGeom>
            <a:noFill/>
            <a:ln>
              <a:noFill/>
            </a:ln>
          </p:spPr>
          <p:txBody>
            <a:bodyPr wrap="none" lIns="0" tIns="0" rIns="0" bIns="0" anchor="t" anchorCtr="0">
              <a:spAutoFit/>
            </a:bodyPr>
            <a:lstStyle/>
            <a:p>
              <a:pPr algn="l"/>
              <a:r>
                <a:rPr lang="zh-CN" sz="820" spc="150" dirty="0">
                  <a:solidFill>
                    <a:schemeClr val="accent1"/>
                  </a:solidFill>
                  <a:latin typeface="Consolas"/>
                  <a:ea typeface="Consolas"/>
                  <a:cs typeface="Consolas"/>
                </a:rPr>
                <a:t>INPUT</a:t>
              </a:r>
            </a:p>
          </p:txBody>
        </p:sp>
      </p:grpSp>
      <p:sp>
        <p:nvSpPr>
          <p:cNvPr id="25" name="Line 25"/>
          <p:cNvSpPr/>
          <p:nvPr/>
        </p:nvSpPr>
        <p:spPr>
          <a:xfrm>
            <a:off x="2667000" y="5334000"/>
            <a:ext cx="152400" cy="1"/>
          </a:xfrm>
          <a:prstGeom prst="line">
            <a:avLst/>
          </a:prstGeom>
          <a:noFill/>
          <a:ln w="28575">
            <a:solidFill>
              <a:schemeClr val="accent4"/>
            </a:solidFill>
            <a:tailEnd type="triangle" w="lg" len="lg"/>
          </a:ln>
        </p:spPr>
      </p:sp>
      <p:grpSp>
        <p:nvGrpSpPr>
          <p:cNvPr id="37" name="Group 37"/>
          <p:cNvGrpSpPr/>
          <p:nvPr/>
        </p:nvGrpSpPr>
        <p:grpSpPr>
          <a:xfrm>
            <a:off x="2857500" y="3810000"/>
            <a:ext cx="2057400" cy="2571750"/>
            <a:chOff x="2857500" y="3810000"/>
            <a:chExt cx="2057400" cy="2571750"/>
          </a:xfrm>
        </p:grpSpPr>
        <p:sp>
          <p:nvSpPr>
            <p:cNvPr id="26" name="Rectangle 26"/>
            <p:cNvSpPr/>
            <p:nvPr/>
          </p:nvSpPr>
          <p:spPr>
            <a:xfrm>
              <a:off x="2857500" y="3810000"/>
              <a:ext cx="2057400" cy="476250"/>
            </a:xfrm>
            <a:prstGeom prst="rect">
              <a:avLst/>
            </a:prstGeom>
            <a:solidFill>
              <a:schemeClr val="accent2"/>
            </a:solidFill>
            <a:ln>
              <a:noFill/>
            </a:ln>
          </p:spPr>
        </p:sp>
        <p:sp>
          <p:nvSpPr>
            <p:cNvPr id="27" name="TextBox 27"/>
            <p:cNvSpPr txBox="1"/>
            <p:nvPr/>
          </p:nvSpPr>
          <p:spPr>
            <a:xfrm>
              <a:off x="3150108" y="3893820"/>
              <a:ext cx="379781" cy="469392"/>
            </a:xfrm>
            <a:prstGeom prst="rect">
              <a:avLst/>
            </a:prstGeom>
            <a:noFill/>
            <a:ln>
              <a:noFill/>
            </a:ln>
          </p:spPr>
          <p:txBody>
            <a:bodyPr wrap="none" lIns="0" tIns="0" rIns="0" bIns="0" anchor="t" anchorCtr="0">
              <a:spAutoFit/>
            </a:bodyPr>
            <a:lstStyle/>
            <a:p>
              <a:pPr algn="l"/>
              <a:r>
                <a:rPr lang="zh-CN" sz="2400" dirty="0">
                  <a:solidFill>
                    <a:srgbClr val="F5EFE0"/>
                  </a:solidFill>
                  <a:latin typeface="+mj-lt"/>
                  <a:ea typeface="+mj-ea"/>
                  <a:cs typeface="+mj-cs"/>
                </a:rPr>
                <a:t>02</a:t>
              </a:r>
            </a:p>
          </p:txBody>
        </p:sp>
        <p:sp>
          <p:nvSpPr>
            <p:cNvPr id="28" name="TextBox 28"/>
            <p:cNvSpPr txBox="1"/>
            <p:nvPr/>
          </p:nvSpPr>
          <p:spPr>
            <a:xfrm>
              <a:off x="3595116" y="4039552"/>
              <a:ext cx="951586" cy="205359"/>
            </a:xfrm>
            <a:prstGeom prst="rect">
              <a:avLst/>
            </a:prstGeom>
            <a:noFill/>
            <a:ln>
              <a:noFill/>
            </a:ln>
          </p:spPr>
          <p:txBody>
            <a:bodyPr wrap="none" lIns="0" tIns="0" rIns="0" bIns="0" anchor="t" anchorCtr="0">
              <a:spAutoFit/>
            </a:bodyPr>
            <a:lstStyle/>
            <a:p>
              <a:pPr algn="l"/>
              <a:r>
                <a:rPr lang="zh-CN" sz="1050" b="1" dirty="0">
                  <a:solidFill>
                    <a:srgbClr val="F5EFE0"/>
                  </a:solidFill>
                  <a:latin typeface="+mn-lt"/>
                  <a:ea typeface="+mn-ea"/>
                  <a:cs typeface="+mn-cs"/>
                </a:rPr>
                <a:t>BURN MASTER</a:t>
              </a:r>
            </a:p>
          </p:txBody>
        </p:sp>
        <p:sp>
          <p:nvSpPr>
            <p:cNvPr id="29" name="Rectangle 29"/>
            <p:cNvSpPr/>
            <p:nvPr/>
          </p:nvSpPr>
          <p:spPr>
            <a:xfrm>
              <a:off x="2857500" y="4286250"/>
              <a:ext cx="2057400" cy="2095500"/>
            </a:xfrm>
            <a:prstGeom prst="rect">
              <a:avLst/>
            </a:prstGeom>
            <a:solidFill>
              <a:schemeClr val="lt1"/>
            </a:solidFill>
            <a:ln>
              <a:noFill/>
            </a:ln>
          </p:spPr>
        </p:sp>
        <p:sp>
          <p:nvSpPr>
            <p:cNvPr id="30" name="Rectangle 30"/>
            <p:cNvSpPr/>
            <p:nvPr/>
          </p:nvSpPr>
          <p:spPr>
            <a:xfrm>
              <a:off x="2857500" y="4286250"/>
              <a:ext cx="2057400" cy="2095500"/>
            </a:xfrm>
            <a:prstGeom prst="rect">
              <a:avLst/>
            </a:prstGeom>
            <a:noFill/>
            <a:ln w="19050">
              <a:solidFill>
                <a:schemeClr val="accent4"/>
              </a:solidFill>
            </a:ln>
          </p:spPr>
        </p:sp>
        <p:sp>
          <p:nvSpPr>
            <p:cNvPr id="31" name="TextBox 31"/>
            <p:cNvSpPr txBox="1"/>
            <p:nvPr/>
          </p:nvSpPr>
          <p:spPr>
            <a:xfrm>
              <a:off x="3041523" y="4510564"/>
              <a:ext cx="1219149" cy="249364"/>
            </a:xfrm>
            <a:prstGeom prst="rect">
              <a:avLst/>
            </a:prstGeom>
            <a:noFill/>
            <a:ln>
              <a:noFill/>
            </a:ln>
          </p:spPr>
          <p:txBody>
            <a:bodyPr wrap="none" lIns="0" tIns="0" rIns="0" bIns="0" anchor="t" anchorCtr="0">
              <a:spAutoFit/>
            </a:bodyPr>
            <a:lstStyle/>
            <a:p>
              <a:pPr algn="l"/>
              <a:r>
                <a:rPr lang="zh-CN" sz="1280" b="1" dirty="0">
                  <a:solidFill>
                    <a:schemeClr val="dk1"/>
                  </a:solidFill>
                  <a:latin typeface="+mn-lt"/>
                  <a:ea typeface="+mn-ea"/>
                  <a:cs typeface="+mn-cs"/>
                </a:rPr>
                <a:t>烧蚀像素化母版</a:t>
              </a:r>
            </a:p>
          </p:txBody>
        </p:sp>
        <p:sp>
          <p:nvSpPr>
            <p:cNvPr id="32" name="Line 32"/>
            <p:cNvSpPr/>
            <p:nvPr/>
          </p:nvSpPr>
          <p:spPr>
            <a:xfrm>
              <a:off x="3048000" y="4762500"/>
              <a:ext cx="1143000" cy="9525"/>
            </a:xfrm>
            <a:custGeom>
              <a:avLst/>
              <a:gdLst/>
              <a:ahLst/>
              <a:cxnLst/>
              <a:rect l="l" t="t" r="r" b="b"/>
              <a:pathLst>
                <a:path w="1143000" h="9525">
                  <a:moveTo>
                    <a:pt x="0" y="0"/>
                  </a:moveTo>
                  <a:lnTo>
                    <a:pt x="1143000" y="0"/>
                  </a:lnTo>
                </a:path>
              </a:pathLst>
            </a:custGeom>
            <a:noFill/>
            <a:ln w="19050">
              <a:solidFill>
                <a:schemeClr val="accent2"/>
              </a:solidFill>
            </a:ln>
          </p:spPr>
        </p:sp>
        <p:sp>
          <p:nvSpPr>
            <p:cNvPr id="33" name="TextBox 33"/>
            <p:cNvSpPr txBox="1"/>
            <p:nvPr/>
          </p:nvSpPr>
          <p:spPr>
            <a:xfrm>
              <a:off x="3042666" y="4915852"/>
              <a:ext cx="1396175" cy="205359"/>
            </a:xfrm>
            <a:prstGeom prst="rect">
              <a:avLst/>
            </a:prstGeom>
            <a:noFill/>
            <a:ln>
              <a:noFill/>
            </a:ln>
          </p:spPr>
          <p:txBody>
            <a:bodyPr wrap="none" lIns="0" tIns="0" rIns="0" bIns="0" anchor="t" anchorCtr="0">
              <a:spAutoFit/>
            </a:bodyPr>
            <a:lstStyle/>
            <a:p>
              <a:pPr algn="l" marL="113348" indent="-113348">
                <a:buClr>
                  <a:schemeClr val="dk2"/>
                </a:buClr>
                <a:buSzTx/>
                <a:buFontTx/>
                <a:buChar char="•"/>
              </a:pPr>
              <a:r>
                <a:rPr lang="zh-CN" sz="1050" dirty="0">
                  <a:solidFill>
                    <a:schemeClr val="dk2"/>
                  </a:solidFill>
                  <a:latin typeface="+mn-lt"/>
                  <a:ea typeface="+mn-ea"/>
                  <a:cs typeface="+mn-cs"/>
                </a:rPr>
                <a:t>热头烧穿纤维基母版</a:t>
              </a:r>
            </a:p>
          </p:txBody>
        </p:sp>
        <p:sp>
          <p:nvSpPr>
            <p:cNvPr id="34" name="TextBox 34"/>
            <p:cNvSpPr txBox="1"/>
            <p:nvPr/>
          </p:nvSpPr>
          <p:spPr>
            <a:xfrm>
              <a:off x="3042666" y="5125402"/>
              <a:ext cx="1254824" cy="205359"/>
            </a:xfrm>
            <a:prstGeom prst="rect">
              <a:avLst/>
            </a:prstGeom>
            <a:noFill/>
            <a:ln>
              <a:noFill/>
            </a:ln>
          </p:spPr>
          <p:txBody>
            <a:bodyPr wrap="none" lIns="0" tIns="0" rIns="0" bIns="0" anchor="t" anchorCtr="0">
              <a:spAutoFit/>
            </a:bodyPr>
            <a:lstStyle/>
            <a:p>
              <a:pPr algn="l" marL="113348" indent="-113348">
                <a:buClr>
                  <a:schemeClr val="dk2"/>
                </a:buClr>
                <a:buSzTx/>
                <a:buFontTx/>
                <a:buChar char="•"/>
              </a:pPr>
              <a:r>
                <a:rPr lang="zh-CN" sz="1050" dirty="0">
                  <a:solidFill>
                    <a:schemeClr val="dk2"/>
                  </a:solidFill>
                  <a:latin typeface="+mn-lt"/>
                  <a:ea typeface="+mn-ea"/>
                  <a:cs typeface="+mn-cs"/>
                </a:rPr>
                <a:t>小孔形成蜂窝阵列</a:t>
              </a:r>
            </a:p>
          </p:txBody>
        </p:sp>
        <p:sp>
          <p:nvSpPr>
            <p:cNvPr id="35" name="TextBox 35"/>
            <p:cNvSpPr txBox="1"/>
            <p:nvPr/>
          </p:nvSpPr>
          <p:spPr>
            <a:xfrm>
              <a:off x="3042666" y="5334952"/>
              <a:ext cx="986257" cy="205359"/>
            </a:xfrm>
            <a:prstGeom prst="rect">
              <a:avLst/>
            </a:prstGeom>
            <a:noFill/>
            <a:ln>
              <a:noFill/>
            </a:ln>
          </p:spPr>
          <p:txBody>
            <a:bodyPr wrap="none" lIns="0" tIns="0" rIns="0" bIns="0" anchor="t" anchorCtr="0">
              <a:spAutoFit/>
            </a:bodyPr>
            <a:lstStyle/>
            <a:p>
              <a:pPr algn="l" marL="113348" indent="-113348">
                <a:buClr>
                  <a:schemeClr val="dk2"/>
                </a:buClr>
                <a:buSzTx/>
                <a:buFontTx/>
                <a:buChar char="•"/>
              </a:pPr>
              <a:r>
                <a:rPr lang="zh-CN" sz="1050" dirty="0">
                  <a:solidFill>
                    <a:schemeClr val="dk2"/>
                  </a:solidFill>
                  <a:latin typeface="+mn-lt"/>
                  <a:ea typeface="+mn-ea"/>
                  <a:cs typeface="+mn-cs"/>
                </a:rPr>
                <a:t>母版即"刻版"</a:t>
              </a:r>
            </a:p>
          </p:txBody>
        </p:sp>
        <p:sp>
          <p:nvSpPr>
            <p:cNvPr id="36" name="TextBox 36"/>
            <p:cNvSpPr txBox="1"/>
            <p:nvPr/>
          </p:nvSpPr>
          <p:spPr>
            <a:xfrm>
              <a:off x="3043238" y="6006941"/>
              <a:ext cx="557433" cy="161925"/>
            </a:xfrm>
            <a:prstGeom prst="rect">
              <a:avLst/>
            </a:prstGeom>
            <a:noFill/>
            <a:ln>
              <a:noFill/>
            </a:ln>
          </p:spPr>
          <p:txBody>
            <a:bodyPr wrap="none" lIns="0" tIns="0" rIns="0" bIns="0" anchor="t" anchorCtr="0">
              <a:spAutoFit/>
            </a:bodyPr>
            <a:lstStyle/>
            <a:p>
              <a:pPr algn="l"/>
              <a:r>
                <a:rPr lang="zh-CN" sz="820" spc="150" dirty="0">
                  <a:solidFill>
                    <a:schemeClr val="accent2"/>
                  </a:solidFill>
                  <a:latin typeface="Consolas"/>
                  <a:ea typeface="Consolas"/>
                  <a:cs typeface="Consolas"/>
                </a:rPr>
                <a:t>STENCIL</a:t>
              </a:r>
            </a:p>
          </p:txBody>
        </p:sp>
      </p:grpSp>
      <p:sp>
        <p:nvSpPr>
          <p:cNvPr id="38" name="Line 38"/>
          <p:cNvSpPr/>
          <p:nvPr/>
        </p:nvSpPr>
        <p:spPr>
          <a:xfrm>
            <a:off x="4953000" y="5334000"/>
            <a:ext cx="152400" cy="1"/>
          </a:xfrm>
          <a:prstGeom prst="line">
            <a:avLst/>
          </a:prstGeom>
          <a:noFill/>
          <a:ln w="28575">
            <a:solidFill>
              <a:schemeClr val="accent4"/>
            </a:solidFill>
            <a:tailEnd type="triangle" w="lg" len="lg"/>
          </a:ln>
        </p:spPr>
      </p:sp>
      <p:grpSp>
        <p:nvGrpSpPr>
          <p:cNvPr id="50" name="Group 50"/>
          <p:cNvGrpSpPr/>
          <p:nvPr/>
        </p:nvGrpSpPr>
        <p:grpSpPr>
          <a:xfrm>
            <a:off x="5143500" y="3810000"/>
            <a:ext cx="2057400" cy="2571750"/>
            <a:chOff x="5143500" y="3810000"/>
            <a:chExt cx="2057400" cy="2571750"/>
          </a:xfrm>
        </p:grpSpPr>
        <p:sp>
          <p:nvSpPr>
            <p:cNvPr id="39" name="Rectangle 39"/>
            <p:cNvSpPr/>
            <p:nvPr/>
          </p:nvSpPr>
          <p:spPr>
            <a:xfrm>
              <a:off x="5143500" y="3810000"/>
              <a:ext cx="2057400" cy="476250"/>
            </a:xfrm>
            <a:prstGeom prst="rect">
              <a:avLst/>
            </a:prstGeom>
            <a:solidFill>
              <a:schemeClr val="accent3"/>
            </a:solidFill>
            <a:ln>
              <a:noFill/>
            </a:ln>
          </p:spPr>
        </p:sp>
        <p:sp>
          <p:nvSpPr>
            <p:cNvPr id="40" name="TextBox 40"/>
            <p:cNvSpPr txBox="1"/>
            <p:nvPr/>
          </p:nvSpPr>
          <p:spPr>
            <a:xfrm>
              <a:off x="5436108" y="3893820"/>
              <a:ext cx="379781" cy="469392"/>
            </a:xfrm>
            <a:prstGeom prst="rect">
              <a:avLst/>
            </a:prstGeom>
            <a:noFill/>
            <a:ln>
              <a:noFill/>
            </a:ln>
          </p:spPr>
          <p:txBody>
            <a:bodyPr wrap="none" lIns="0" tIns="0" rIns="0" bIns="0" anchor="t" anchorCtr="0">
              <a:spAutoFit/>
            </a:bodyPr>
            <a:lstStyle/>
            <a:p>
              <a:pPr algn="l"/>
              <a:r>
                <a:rPr lang="zh-CN" sz="2400" dirty="0">
                  <a:solidFill>
                    <a:srgbClr val="F5EFE0"/>
                  </a:solidFill>
                  <a:latin typeface="+mj-lt"/>
                  <a:ea typeface="+mj-ea"/>
                  <a:cs typeface="+mj-cs"/>
                </a:rPr>
                <a:t>03</a:t>
              </a:r>
            </a:p>
          </p:txBody>
        </p:sp>
        <p:sp>
          <p:nvSpPr>
            <p:cNvPr id="41" name="TextBox 41"/>
            <p:cNvSpPr txBox="1"/>
            <p:nvPr/>
          </p:nvSpPr>
          <p:spPr>
            <a:xfrm>
              <a:off x="5881116" y="4039552"/>
              <a:ext cx="810448" cy="205359"/>
            </a:xfrm>
            <a:prstGeom prst="rect">
              <a:avLst/>
            </a:prstGeom>
            <a:noFill/>
            <a:ln>
              <a:noFill/>
            </a:ln>
          </p:spPr>
          <p:txBody>
            <a:bodyPr wrap="none" lIns="0" tIns="0" rIns="0" bIns="0" anchor="t" anchorCtr="0">
              <a:spAutoFit/>
            </a:bodyPr>
            <a:lstStyle/>
            <a:p>
              <a:pPr algn="l"/>
              <a:r>
                <a:rPr lang="zh-CN" sz="1050" b="1" dirty="0">
                  <a:solidFill>
                    <a:schemeClr val="dk1"/>
                  </a:solidFill>
                  <a:latin typeface="+mn-lt"/>
                  <a:ea typeface="+mn-ea"/>
                  <a:cs typeface="+mn-cs"/>
                </a:rPr>
                <a:t>WRAP DRUM</a:t>
              </a:r>
            </a:p>
          </p:txBody>
        </p:sp>
        <p:sp>
          <p:nvSpPr>
            <p:cNvPr id="42" name="Rectangle 42"/>
            <p:cNvSpPr/>
            <p:nvPr/>
          </p:nvSpPr>
          <p:spPr>
            <a:xfrm>
              <a:off x="5143500" y="4286250"/>
              <a:ext cx="2057400" cy="2095500"/>
            </a:xfrm>
            <a:prstGeom prst="rect">
              <a:avLst/>
            </a:prstGeom>
            <a:solidFill>
              <a:schemeClr val="lt1"/>
            </a:solidFill>
            <a:ln>
              <a:noFill/>
            </a:ln>
          </p:spPr>
        </p:sp>
        <p:sp>
          <p:nvSpPr>
            <p:cNvPr id="43" name="Rectangle 43"/>
            <p:cNvSpPr/>
            <p:nvPr/>
          </p:nvSpPr>
          <p:spPr>
            <a:xfrm>
              <a:off x="5143500" y="4286250"/>
              <a:ext cx="2057400" cy="2095500"/>
            </a:xfrm>
            <a:prstGeom prst="rect">
              <a:avLst/>
            </a:prstGeom>
            <a:noFill/>
            <a:ln w="19050">
              <a:solidFill>
                <a:schemeClr val="accent4"/>
              </a:solidFill>
            </a:ln>
          </p:spPr>
        </p:sp>
        <p:sp>
          <p:nvSpPr>
            <p:cNvPr id="44" name="TextBox 44"/>
            <p:cNvSpPr txBox="1"/>
            <p:nvPr/>
          </p:nvSpPr>
          <p:spPr>
            <a:xfrm>
              <a:off x="5327523" y="4510564"/>
              <a:ext cx="1046836" cy="249364"/>
            </a:xfrm>
            <a:prstGeom prst="rect">
              <a:avLst/>
            </a:prstGeom>
            <a:noFill/>
            <a:ln>
              <a:noFill/>
            </a:ln>
          </p:spPr>
          <p:txBody>
            <a:bodyPr wrap="none" lIns="0" tIns="0" rIns="0" bIns="0" anchor="t" anchorCtr="0">
              <a:spAutoFit/>
            </a:bodyPr>
            <a:lstStyle/>
            <a:p>
              <a:pPr algn="l"/>
              <a:r>
                <a:rPr lang="zh-CN" sz="1280" b="1" dirty="0">
                  <a:solidFill>
                    <a:schemeClr val="dk1"/>
                  </a:solidFill>
                  <a:latin typeface="+mn-lt"/>
                  <a:ea typeface="+mn-ea"/>
                  <a:cs typeface="+mn-cs"/>
                </a:rPr>
                <a:t>包裹彩色墨筒</a:t>
              </a:r>
            </a:p>
          </p:txBody>
        </p:sp>
        <p:sp>
          <p:nvSpPr>
            <p:cNvPr id="45" name="Line 45"/>
            <p:cNvSpPr/>
            <p:nvPr/>
          </p:nvSpPr>
          <p:spPr>
            <a:xfrm>
              <a:off x="5334000" y="4762500"/>
              <a:ext cx="1143000" cy="9525"/>
            </a:xfrm>
            <a:custGeom>
              <a:avLst/>
              <a:gdLst/>
              <a:ahLst/>
              <a:cxnLst/>
              <a:rect l="l" t="t" r="r" b="b"/>
              <a:pathLst>
                <a:path w="1143000" h="9525">
                  <a:moveTo>
                    <a:pt x="0" y="0"/>
                  </a:moveTo>
                  <a:lnTo>
                    <a:pt x="1143000" y="0"/>
                  </a:lnTo>
                </a:path>
              </a:pathLst>
            </a:custGeom>
            <a:noFill/>
            <a:ln w="19050">
              <a:solidFill>
                <a:schemeClr val="accent3"/>
              </a:solidFill>
            </a:ln>
          </p:spPr>
        </p:sp>
        <p:sp>
          <p:nvSpPr>
            <p:cNvPr id="46" name="TextBox 46"/>
            <p:cNvSpPr txBox="1"/>
            <p:nvPr/>
          </p:nvSpPr>
          <p:spPr>
            <a:xfrm>
              <a:off x="5328666" y="4915852"/>
              <a:ext cx="830771" cy="205359"/>
            </a:xfrm>
            <a:prstGeom prst="rect">
              <a:avLst/>
            </a:prstGeom>
            <a:noFill/>
            <a:ln>
              <a:noFill/>
            </a:ln>
          </p:spPr>
          <p:txBody>
            <a:bodyPr wrap="none" lIns="0" tIns="0" rIns="0" bIns="0" anchor="t" anchorCtr="0">
              <a:spAutoFit/>
            </a:bodyPr>
            <a:lstStyle/>
            <a:p>
              <a:pPr algn="l" marL="113348" indent="-113348">
                <a:buClr>
                  <a:schemeClr val="dk2"/>
                </a:buClr>
                <a:buSzTx/>
                <a:buFontTx/>
                <a:buChar char="•"/>
              </a:pPr>
              <a:r>
                <a:rPr lang="zh-CN" sz="1050" dirty="0">
                  <a:solidFill>
                    <a:schemeClr val="dk2"/>
                  </a:solidFill>
                  <a:latin typeface="+mn-lt"/>
                  <a:ea typeface="+mn-ea"/>
                  <a:cs typeface="+mn-cs"/>
                </a:rPr>
                <a:t>母版裹圆筒</a:t>
              </a:r>
            </a:p>
          </p:txBody>
        </p:sp>
        <p:sp>
          <p:nvSpPr>
            <p:cNvPr id="47" name="TextBox 47"/>
            <p:cNvSpPr txBox="1"/>
            <p:nvPr/>
          </p:nvSpPr>
          <p:spPr>
            <a:xfrm>
              <a:off x="5328666" y="5125402"/>
              <a:ext cx="1254824" cy="205359"/>
            </a:xfrm>
            <a:prstGeom prst="rect">
              <a:avLst/>
            </a:prstGeom>
            <a:noFill/>
            <a:ln>
              <a:noFill/>
            </a:ln>
          </p:spPr>
          <p:txBody>
            <a:bodyPr wrap="none" lIns="0" tIns="0" rIns="0" bIns="0" anchor="t" anchorCtr="0">
              <a:spAutoFit/>
            </a:bodyPr>
            <a:lstStyle/>
            <a:p>
              <a:pPr algn="l" marL="113348" indent="-113348">
                <a:buClr>
                  <a:schemeClr val="dk2"/>
                </a:buClr>
                <a:buSzTx/>
                <a:buFontTx/>
                <a:buChar char="•"/>
              </a:pPr>
              <a:r>
                <a:rPr lang="zh-CN" sz="1050" dirty="0">
                  <a:solidFill>
                    <a:schemeClr val="dk2"/>
                  </a:solidFill>
                  <a:latin typeface="+mn-lt"/>
                  <a:ea typeface="+mn-ea"/>
                  <a:cs typeface="+mn-cs"/>
                </a:rPr>
                <a:t>筒内填大豆基油墨</a:t>
              </a:r>
            </a:p>
          </p:txBody>
        </p:sp>
        <p:sp>
          <p:nvSpPr>
            <p:cNvPr id="48" name="TextBox 48"/>
            <p:cNvSpPr txBox="1"/>
            <p:nvPr/>
          </p:nvSpPr>
          <p:spPr>
            <a:xfrm>
              <a:off x="5328666" y="5334952"/>
              <a:ext cx="1134675" cy="205359"/>
            </a:xfrm>
            <a:prstGeom prst="rect">
              <a:avLst/>
            </a:prstGeom>
            <a:noFill/>
            <a:ln>
              <a:noFill/>
            </a:ln>
          </p:spPr>
          <p:txBody>
            <a:bodyPr wrap="none" lIns="0" tIns="0" rIns="0" bIns="0" anchor="t" anchorCtr="0">
              <a:spAutoFit/>
            </a:bodyPr>
            <a:lstStyle/>
            <a:p>
              <a:pPr algn="l" marL="113348" indent="-113348">
                <a:buClr>
                  <a:schemeClr val="dk2"/>
                </a:buClr>
                <a:buSzTx/>
                <a:buFontTx/>
                <a:buChar char="•"/>
              </a:pPr>
              <a:r>
                <a:rPr lang="zh-CN" sz="1050" dirty="0">
                  <a:solidFill>
                    <a:schemeClr val="dk2"/>
                  </a:solidFill>
                  <a:latin typeface="+mn-lt"/>
                  <a:ea typeface="+mn-ea"/>
                  <a:cs typeface="+mn-cs"/>
                </a:rPr>
                <a:t>一筒 = 一种颜色</a:t>
              </a:r>
            </a:p>
          </p:txBody>
        </p:sp>
        <p:sp>
          <p:nvSpPr>
            <p:cNvPr id="49" name="TextBox 49"/>
            <p:cNvSpPr txBox="1"/>
            <p:nvPr/>
          </p:nvSpPr>
          <p:spPr>
            <a:xfrm>
              <a:off x="5329238" y="6006941"/>
              <a:ext cx="637088" cy="161925"/>
            </a:xfrm>
            <a:prstGeom prst="rect">
              <a:avLst/>
            </a:prstGeom>
            <a:noFill/>
            <a:ln>
              <a:noFill/>
            </a:ln>
          </p:spPr>
          <p:txBody>
            <a:bodyPr wrap="none" lIns="0" tIns="0" rIns="0" bIns="0" anchor="t" anchorCtr="0">
              <a:spAutoFit/>
            </a:bodyPr>
            <a:lstStyle/>
            <a:p>
              <a:pPr algn="l"/>
              <a:r>
                <a:rPr lang="zh-CN" sz="820" spc="150" dirty="0">
                  <a:solidFill>
                    <a:schemeClr val="accent3"/>
                  </a:solidFill>
                  <a:latin typeface="Consolas"/>
                  <a:ea typeface="Consolas"/>
                  <a:cs typeface="Consolas"/>
                </a:rPr>
                <a:t>INK DRUM</a:t>
              </a:r>
            </a:p>
          </p:txBody>
        </p:sp>
      </p:grpSp>
      <p:sp>
        <p:nvSpPr>
          <p:cNvPr id="51" name="Line 51"/>
          <p:cNvSpPr/>
          <p:nvPr/>
        </p:nvSpPr>
        <p:spPr>
          <a:xfrm>
            <a:off x="7239000" y="5334000"/>
            <a:ext cx="152400" cy="1"/>
          </a:xfrm>
          <a:prstGeom prst="line">
            <a:avLst/>
          </a:prstGeom>
          <a:noFill/>
          <a:ln w="28575">
            <a:solidFill>
              <a:schemeClr val="accent4"/>
            </a:solidFill>
            <a:tailEnd type="triangle" w="lg" len="lg"/>
          </a:ln>
        </p:spPr>
      </p:sp>
      <p:grpSp>
        <p:nvGrpSpPr>
          <p:cNvPr id="63" name="Group 63"/>
          <p:cNvGrpSpPr/>
          <p:nvPr/>
        </p:nvGrpSpPr>
        <p:grpSpPr>
          <a:xfrm>
            <a:off x="7429500" y="3810000"/>
            <a:ext cx="2057400" cy="2571750"/>
            <a:chOff x="7429500" y="3810000"/>
            <a:chExt cx="2057400" cy="2571750"/>
          </a:xfrm>
        </p:grpSpPr>
        <p:sp>
          <p:nvSpPr>
            <p:cNvPr id="52" name="Rectangle 52"/>
            <p:cNvSpPr/>
            <p:nvPr/>
          </p:nvSpPr>
          <p:spPr>
            <a:xfrm>
              <a:off x="7429500" y="3810000"/>
              <a:ext cx="2057400" cy="476250"/>
            </a:xfrm>
            <a:prstGeom prst="rect">
              <a:avLst/>
            </a:prstGeom>
            <a:solidFill>
              <a:schemeClr val="accent1"/>
            </a:solidFill>
            <a:ln>
              <a:noFill/>
            </a:ln>
          </p:spPr>
        </p:sp>
        <p:sp>
          <p:nvSpPr>
            <p:cNvPr id="53" name="TextBox 53"/>
            <p:cNvSpPr txBox="1"/>
            <p:nvPr/>
          </p:nvSpPr>
          <p:spPr>
            <a:xfrm>
              <a:off x="7722108" y="3893820"/>
              <a:ext cx="379781" cy="469392"/>
            </a:xfrm>
            <a:prstGeom prst="rect">
              <a:avLst/>
            </a:prstGeom>
            <a:noFill/>
            <a:ln>
              <a:noFill/>
            </a:ln>
          </p:spPr>
          <p:txBody>
            <a:bodyPr wrap="none" lIns="0" tIns="0" rIns="0" bIns="0" anchor="t" anchorCtr="0">
              <a:spAutoFit/>
            </a:bodyPr>
            <a:lstStyle/>
            <a:p>
              <a:pPr algn="l"/>
              <a:r>
                <a:rPr lang="zh-CN" sz="2400" dirty="0">
                  <a:solidFill>
                    <a:srgbClr val="F5EFE0"/>
                  </a:solidFill>
                  <a:latin typeface="+mj-lt"/>
                  <a:ea typeface="+mj-ea"/>
                  <a:cs typeface="+mj-cs"/>
                </a:rPr>
                <a:t>04</a:t>
              </a:r>
            </a:p>
          </p:txBody>
        </p:sp>
        <p:sp>
          <p:nvSpPr>
            <p:cNvPr id="54" name="TextBox 54"/>
            <p:cNvSpPr txBox="1"/>
            <p:nvPr/>
          </p:nvSpPr>
          <p:spPr>
            <a:xfrm>
              <a:off x="8167116" y="4039552"/>
              <a:ext cx="826130" cy="205359"/>
            </a:xfrm>
            <a:prstGeom prst="rect">
              <a:avLst/>
            </a:prstGeom>
            <a:noFill/>
            <a:ln>
              <a:noFill/>
            </a:ln>
          </p:spPr>
          <p:txBody>
            <a:bodyPr wrap="none" lIns="0" tIns="0" rIns="0" bIns="0" anchor="t" anchorCtr="0">
              <a:spAutoFit/>
            </a:bodyPr>
            <a:lstStyle/>
            <a:p>
              <a:pPr algn="l"/>
              <a:r>
                <a:rPr lang="zh-CN" sz="1050" b="1" dirty="0">
                  <a:solidFill>
                    <a:srgbClr val="F5EFE0"/>
                  </a:solidFill>
                  <a:latin typeface="+mn-lt"/>
                  <a:ea typeface="+mn-ea"/>
                  <a:cs typeface="+mn-cs"/>
                </a:rPr>
                <a:t>ROLL PRINT</a:t>
              </a:r>
            </a:p>
          </p:txBody>
        </p:sp>
        <p:sp>
          <p:nvSpPr>
            <p:cNvPr id="55" name="Rectangle 55"/>
            <p:cNvSpPr/>
            <p:nvPr/>
          </p:nvSpPr>
          <p:spPr>
            <a:xfrm>
              <a:off x="7429500" y="4286250"/>
              <a:ext cx="2057400" cy="2095500"/>
            </a:xfrm>
            <a:prstGeom prst="rect">
              <a:avLst/>
            </a:prstGeom>
            <a:solidFill>
              <a:schemeClr val="lt1"/>
            </a:solidFill>
            <a:ln>
              <a:noFill/>
            </a:ln>
          </p:spPr>
        </p:sp>
        <p:sp>
          <p:nvSpPr>
            <p:cNvPr id="56" name="Rectangle 56"/>
            <p:cNvSpPr/>
            <p:nvPr/>
          </p:nvSpPr>
          <p:spPr>
            <a:xfrm>
              <a:off x="7429500" y="4286250"/>
              <a:ext cx="2057400" cy="2095500"/>
            </a:xfrm>
            <a:prstGeom prst="rect">
              <a:avLst/>
            </a:prstGeom>
            <a:noFill/>
            <a:ln w="19050">
              <a:solidFill>
                <a:schemeClr val="accent4"/>
              </a:solidFill>
            </a:ln>
          </p:spPr>
        </p:sp>
        <p:sp>
          <p:nvSpPr>
            <p:cNvPr id="57" name="TextBox 57"/>
            <p:cNvSpPr txBox="1"/>
            <p:nvPr/>
          </p:nvSpPr>
          <p:spPr>
            <a:xfrm>
              <a:off x="7613523" y="4510564"/>
              <a:ext cx="1046836" cy="249364"/>
            </a:xfrm>
            <a:prstGeom prst="rect">
              <a:avLst/>
            </a:prstGeom>
            <a:noFill/>
            <a:ln>
              <a:noFill/>
            </a:ln>
          </p:spPr>
          <p:txBody>
            <a:bodyPr wrap="none" lIns="0" tIns="0" rIns="0" bIns="0" anchor="t" anchorCtr="0">
              <a:spAutoFit/>
            </a:bodyPr>
            <a:lstStyle/>
            <a:p>
              <a:pPr algn="l"/>
              <a:r>
                <a:rPr lang="zh-CN" sz="1280" b="1" dirty="0">
                  <a:solidFill>
                    <a:schemeClr val="dk1"/>
                  </a:solidFill>
                  <a:latin typeface="+mn-lt"/>
                  <a:ea typeface="+mn-ea"/>
                  <a:cs typeface="+mn-cs"/>
                </a:rPr>
                <a:t>滚压油墨到纸</a:t>
              </a:r>
            </a:p>
          </p:txBody>
        </p:sp>
        <p:sp>
          <p:nvSpPr>
            <p:cNvPr id="58" name="Line 58"/>
            <p:cNvSpPr/>
            <p:nvPr/>
          </p:nvSpPr>
          <p:spPr>
            <a:xfrm>
              <a:off x="7620000" y="4762500"/>
              <a:ext cx="1143000" cy="9525"/>
            </a:xfrm>
            <a:custGeom>
              <a:avLst/>
              <a:gdLst/>
              <a:ahLst/>
              <a:cxnLst/>
              <a:rect l="l" t="t" r="r" b="b"/>
              <a:pathLst>
                <a:path w="1143000" h="9525">
                  <a:moveTo>
                    <a:pt x="0" y="0"/>
                  </a:moveTo>
                  <a:lnTo>
                    <a:pt x="1143000" y="0"/>
                  </a:lnTo>
                </a:path>
              </a:pathLst>
            </a:custGeom>
            <a:noFill/>
            <a:ln w="19050">
              <a:solidFill>
                <a:schemeClr val="accent1"/>
              </a:solidFill>
            </a:ln>
          </p:spPr>
        </p:sp>
        <p:sp>
          <p:nvSpPr>
            <p:cNvPr id="59" name="TextBox 59"/>
            <p:cNvSpPr txBox="1"/>
            <p:nvPr/>
          </p:nvSpPr>
          <p:spPr>
            <a:xfrm>
              <a:off x="7614666" y="4915852"/>
              <a:ext cx="972122" cy="205359"/>
            </a:xfrm>
            <a:prstGeom prst="rect">
              <a:avLst/>
            </a:prstGeom>
            <a:noFill/>
            <a:ln>
              <a:noFill/>
            </a:ln>
          </p:spPr>
          <p:txBody>
            <a:bodyPr wrap="none" lIns="0" tIns="0" rIns="0" bIns="0" anchor="t" anchorCtr="0">
              <a:spAutoFit/>
            </a:bodyPr>
            <a:lstStyle/>
            <a:p>
              <a:pPr algn="l" marL="113348" indent="-113348">
                <a:buClr>
                  <a:schemeClr val="dk2"/>
                </a:buClr>
                <a:buSzTx/>
                <a:buFontTx/>
                <a:buChar char="•"/>
              </a:pPr>
              <a:r>
                <a:rPr lang="zh-CN" sz="1050" dirty="0">
                  <a:solidFill>
                    <a:schemeClr val="dk2"/>
                  </a:solidFill>
                  <a:latin typeface="+mn-lt"/>
                  <a:ea typeface="+mn-ea"/>
                  <a:cs typeface="+mn-cs"/>
                </a:rPr>
                <a:t>滚筒高速旋转</a:t>
              </a:r>
            </a:p>
          </p:txBody>
        </p:sp>
        <p:sp>
          <p:nvSpPr>
            <p:cNvPr id="60" name="TextBox 60"/>
            <p:cNvSpPr txBox="1"/>
            <p:nvPr/>
          </p:nvSpPr>
          <p:spPr>
            <a:xfrm>
              <a:off x="7614666" y="5125402"/>
              <a:ext cx="830771" cy="205359"/>
            </a:xfrm>
            <a:prstGeom prst="rect">
              <a:avLst/>
            </a:prstGeom>
            <a:noFill/>
            <a:ln>
              <a:noFill/>
            </a:ln>
          </p:spPr>
          <p:txBody>
            <a:bodyPr wrap="none" lIns="0" tIns="0" rIns="0" bIns="0" anchor="t" anchorCtr="0">
              <a:spAutoFit/>
            </a:bodyPr>
            <a:lstStyle/>
            <a:p>
              <a:pPr algn="l" marL="113348" indent="-113348">
                <a:buClr>
                  <a:schemeClr val="dk2"/>
                </a:buClr>
                <a:buSzTx/>
                <a:buFontTx/>
                <a:buChar char="•"/>
              </a:pPr>
              <a:r>
                <a:rPr lang="zh-CN" sz="1050" dirty="0">
                  <a:solidFill>
                    <a:schemeClr val="dk2"/>
                  </a:solidFill>
                  <a:latin typeface="+mn-lt"/>
                  <a:ea typeface="+mn-ea"/>
                  <a:cs typeface="+mn-cs"/>
                </a:rPr>
                <a:t>墨从孔渗出</a:t>
              </a:r>
            </a:p>
          </p:txBody>
        </p:sp>
        <p:sp>
          <p:nvSpPr>
            <p:cNvPr id="61" name="TextBox 61"/>
            <p:cNvSpPr txBox="1"/>
            <p:nvPr/>
          </p:nvSpPr>
          <p:spPr>
            <a:xfrm>
              <a:off x="7614666" y="5334952"/>
              <a:ext cx="1113473" cy="205359"/>
            </a:xfrm>
            <a:prstGeom prst="rect">
              <a:avLst/>
            </a:prstGeom>
            <a:noFill/>
            <a:ln>
              <a:noFill/>
            </a:ln>
          </p:spPr>
          <p:txBody>
            <a:bodyPr wrap="none" lIns="0" tIns="0" rIns="0" bIns="0" anchor="t" anchorCtr="0">
              <a:spAutoFit/>
            </a:bodyPr>
            <a:lstStyle/>
            <a:p>
              <a:pPr algn="l" marL="113348" indent="-113348">
                <a:buClr>
                  <a:schemeClr val="dk2"/>
                </a:buClr>
                <a:buSzTx/>
                <a:buFontTx/>
                <a:buChar char="•"/>
              </a:pPr>
              <a:r>
                <a:rPr lang="zh-CN" sz="1050" dirty="0">
                  <a:solidFill>
                    <a:schemeClr val="dk2"/>
                  </a:solidFill>
                  <a:latin typeface="+mn-lt"/>
                  <a:ea typeface="+mn-ea"/>
                  <a:cs typeface="+mn-cs"/>
                </a:rPr>
                <a:t>纸被压在筒下走</a:t>
              </a:r>
            </a:p>
          </p:txBody>
        </p:sp>
        <p:sp>
          <p:nvSpPr>
            <p:cNvPr id="62" name="TextBox 62"/>
            <p:cNvSpPr txBox="1"/>
            <p:nvPr/>
          </p:nvSpPr>
          <p:spPr>
            <a:xfrm>
              <a:off x="7615238" y="6006941"/>
              <a:ext cx="1002360" cy="161925"/>
            </a:xfrm>
            <a:prstGeom prst="rect">
              <a:avLst/>
            </a:prstGeom>
            <a:noFill/>
            <a:ln>
              <a:noFill/>
            </a:ln>
          </p:spPr>
          <p:txBody>
            <a:bodyPr wrap="none" lIns="0" tIns="0" rIns="0" bIns="0" anchor="t" anchorCtr="0">
              <a:spAutoFit/>
            </a:bodyPr>
            <a:lstStyle/>
            <a:p>
              <a:pPr algn="l"/>
              <a:r>
                <a:rPr lang="zh-CN" sz="820" spc="150" dirty="0">
                  <a:solidFill>
                    <a:schemeClr val="accent1"/>
                  </a:solidFill>
                  <a:latin typeface="Consolas"/>
                  <a:ea typeface="Consolas"/>
                  <a:cs typeface="Consolas"/>
                </a:rPr>
                <a:t>SINGLE COLOR</a:t>
              </a:r>
            </a:p>
          </p:txBody>
        </p:sp>
      </p:grpSp>
      <p:sp>
        <p:nvSpPr>
          <p:cNvPr id="64" name="Line 64"/>
          <p:cNvSpPr/>
          <p:nvPr/>
        </p:nvSpPr>
        <p:spPr>
          <a:xfrm>
            <a:off x="9525000" y="5334000"/>
            <a:ext cx="152400" cy="1"/>
          </a:xfrm>
          <a:prstGeom prst="line">
            <a:avLst/>
          </a:prstGeom>
          <a:noFill/>
          <a:ln w="28575">
            <a:solidFill>
              <a:schemeClr val="accent4"/>
            </a:solidFill>
            <a:tailEnd type="triangle" w="lg" len="lg"/>
          </a:ln>
        </p:spPr>
      </p:sp>
      <p:grpSp>
        <p:nvGrpSpPr>
          <p:cNvPr id="76" name="Group 76"/>
          <p:cNvGrpSpPr/>
          <p:nvPr/>
        </p:nvGrpSpPr>
        <p:grpSpPr>
          <a:xfrm>
            <a:off x="9715500" y="3810000"/>
            <a:ext cx="1905000" cy="2571750"/>
            <a:chOff x="9715500" y="3810000"/>
            <a:chExt cx="1905000" cy="2571750"/>
          </a:xfrm>
        </p:grpSpPr>
        <p:sp>
          <p:nvSpPr>
            <p:cNvPr id="65" name="Rectangle 65"/>
            <p:cNvSpPr/>
            <p:nvPr/>
          </p:nvSpPr>
          <p:spPr>
            <a:xfrm>
              <a:off x="9715500" y="3810000"/>
              <a:ext cx="1905000" cy="476250"/>
            </a:xfrm>
            <a:prstGeom prst="rect">
              <a:avLst/>
            </a:prstGeom>
            <a:solidFill>
              <a:schemeClr val="dk1"/>
            </a:solidFill>
            <a:ln>
              <a:noFill/>
            </a:ln>
          </p:spPr>
        </p:sp>
        <p:sp>
          <p:nvSpPr>
            <p:cNvPr id="66" name="TextBox 66"/>
            <p:cNvSpPr txBox="1"/>
            <p:nvPr/>
          </p:nvSpPr>
          <p:spPr>
            <a:xfrm>
              <a:off x="10008108" y="3893820"/>
              <a:ext cx="379781" cy="469392"/>
            </a:xfrm>
            <a:prstGeom prst="rect">
              <a:avLst/>
            </a:prstGeom>
            <a:noFill/>
            <a:ln>
              <a:noFill/>
            </a:ln>
          </p:spPr>
          <p:txBody>
            <a:bodyPr wrap="none" lIns="0" tIns="0" rIns="0" bIns="0" anchor="t" anchorCtr="0">
              <a:spAutoFit/>
            </a:bodyPr>
            <a:lstStyle/>
            <a:p>
              <a:pPr algn="l"/>
              <a:r>
                <a:rPr lang="zh-CN" sz="2400" dirty="0">
                  <a:solidFill>
                    <a:schemeClr val="accent2"/>
                  </a:solidFill>
                  <a:latin typeface="+mj-lt"/>
                  <a:ea typeface="+mj-ea"/>
                  <a:cs typeface="+mj-cs"/>
                </a:rPr>
                <a:t>05</a:t>
              </a:r>
            </a:p>
          </p:txBody>
        </p:sp>
        <p:sp>
          <p:nvSpPr>
            <p:cNvPr id="67" name="TextBox 67"/>
            <p:cNvSpPr txBox="1"/>
            <p:nvPr/>
          </p:nvSpPr>
          <p:spPr>
            <a:xfrm>
              <a:off x="10453116" y="4039552"/>
              <a:ext cx="708515" cy="205359"/>
            </a:xfrm>
            <a:prstGeom prst="rect">
              <a:avLst/>
            </a:prstGeom>
            <a:noFill/>
            <a:ln>
              <a:noFill/>
            </a:ln>
          </p:spPr>
          <p:txBody>
            <a:bodyPr wrap="none" lIns="0" tIns="0" rIns="0" bIns="0" anchor="t" anchorCtr="0">
              <a:spAutoFit/>
            </a:bodyPr>
            <a:lstStyle/>
            <a:p>
              <a:pPr algn="l"/>
              <a:r>
                <a:rPr lang="zh-CN" sz="1050" b="1" dirty="0">
                  <a:solidFill>
                    <a:srgbClr val="F5EFE0"/>
                  </a:solidFill>
                  <a:latin typeface="+mn-lt"/>
                  <a:ea typeface="+mn-ea"/>
                  <a:cs typeface="+mn-cs"/>
                </a:rPr>
                <a:t>RUN AGAIN</a:t>
              </a:r>
            </a:p>
          </p:txBody>
        </p:sp>
        <p:sp>
          <p:nvSpPr>
            <p:cNvPr id="68" name="Rectangle 68"/>
            <p:cNvSpPr/>
            <p:nvPr/>
          </p:nvSpPr>
          <p:spPr>
            <a:xfrm>
              <a:off x="9715500" y="4286250"/>
              <a:ext cx="1905000" cy="2095500"/>
            </a:xfrm>
            <a:prstGeom prst="rect">
              <a:avLst/>
            </a:prstGeom>
            <a:solidFill>
              <a:schemeClr val="lt1"/>
            </a:solidFill>
            <a:ln>
              <a:noFill/>
            </a:ln>
          </p:spPr>
        </p:sp>
        <p:sp>
          <p:nvSpPr>
            <p:cNvPr id="69" name="Rectangle 69"/>
            <p:cNvSpPr/>
            <p:nvPr/>
          </p:nvSpPr>
          <p:spPr>
            <a:xfrm>
              <a:off x="9715500" y="4286250"/>
              <a:ext cx="1905000" cy="2095500"/>
            </a:xfrm>
            <a:prstGeom prst="rect">
              <a:avLst/>
            </a:prstGeom>
            <a:noFill/>
            <a:ln w="19050">
              <a:solidFill>
                <a:schemeClr val="accent4"/>
              </a:solidFill>
            </a:ln>
          </p:spPr>
        </p:sp>
        <p:sp>
          <p:nvSpPr>
            <p:cNvPr id="70" name="TextBox 70"/>
            <p:cNvSpPr txBox="1"/>
            <p:nvPr/>
          </p:nvSpPr>
          <p:spPr>
            <a:xfrm>
              <a:off x="9899523" y="4510564"/>
              <a:ext cx="1219149" cy="249364"/>
            </a:xfrm>
            <a:prstGeom prst="rect">
              <a:avLst/>
            </a:prstGeom>
            <a:noFill/>
            <a:ln>
              <a:noFill/>
            </a:ln>
          </p:spPr>
          <p:txBody>
            <a:bodyPr wrap="none" lIns="0" tIns="0" rIns="0" bIns="0" anchor="t" anchorCtr="0">
              <a:spAutoFit/>
            </a:bodyPr>
            <a:lstStyle/>
            <a:p>
              <a:pPr algn="l"/>
              <a:r>
                <a:rPr lang="zh-CN" sz="1280" b="1" dirty="0">
                  <a:solidFill>
                    <a:schemeClr val="dk1"/>
                  </a:solidFill>
                  <a:latin typeface="+mn-lt"/>
                  <a:ea typeface="+mn-ea"/>
                  <a:cs typeface="+mn-cs"/>
                </a:rPr>
                <a:t>换墨筒再印一次</a:t>
              </a:r>
            </a:p>
          </p:txBody>
        </p:sp>
        <p:sp>
          <p:nvSpPr>
            <p:cNvPr id="71" name="Line 71"/>
            <p:cNvSpPr/>
            <p:nvPr/>
          </p:nvSpPr>
          <p:spPr>
            <a:xfrm>
              <a:off x="9906000" y="4762500"/>
              <a:ext cx="1143000" cy="9525"/>
            </a:xfrm>
            <a:custGeom>
              <a:avLst/>
              <a:gdLst/>
              <a:ahLst/>
              <a:cxnLst/>
              <a:rect l="l" t="t" r="r" b="b"/>
              <a:pathLst>
                <a:path w="1143000" h="9525">
                  <a:moveTo>
                    <a:pt x="0" y="0"/>
                  </a:moveTo>
                  <a:lnTo>
                    <a:pt x="1143000" y="0"/>
                  </a:lnTo>
                </a:path>
              </a:pathLst>
            </a:custGeom>
            <a:noFill/>
            <a:ln w="19050">
              <a:solidFill>
                <a:schemeClr val="accent4"/>
              </a:solidFill>
            </a:ln>
          </p:spPr>
        </p:sp>
        <p:sp>
          <p:nvSpPr>
            <p:cNvPr id="72" name="TextBox 72"/>
            <p:cNvSpPr txBox="1"/>
            <p:nvPr/>
          </p:nvSpPr>
          <p:spPr>
            <a:xfrm>
              <a:off x="9900666" y="4915852"/>
              <a:ext cx="1254824" cy="205359"/>
            </a:xfrm>
            <a:prstGeom prst="rect">
              <a:avLst/>
            </a:prstGeom>
            <a:noFill/>
            <a:ln>
              <a:noFill/>
            </a:ln>
          </p:spPr>
          <p:txBody>
            <a:bodyPr wrap="none" lIns="0" tIns="0" rIns="0" bIns="0" anchor="t" anchorCtr="0">
              <a:spAutoFit/>
            </a:bodyPr>
            <a:lstStyle/>
            <a:p>
              <a:pPr algn="l" marL="113348" indent="-113348">
                <a:buClr>
                  <a:schemeClr val="dk2"/>
                </a:buClr>
                <a:buSzTx/>
                <a:buFontTx/>
                <a:buChar char="•"/>
              </a:pPr>
              <a:r>
                <a:rPr lang="zh-CN" sz="1050" dirty="0">
                  <a:solidFill>
                    <a:schemeClr val="dk2"/>
                  </a:solidFill>
                  <a:latin typeface="+mn-lt"/>
                  <a:ea typeface="+mn-ea"/>
                  <a:cs typeface="+mn-cs"/>
                </a:rPr>
                <a:t>换粉墨筒，再过纸</a:t>
              </a:r>
            </a:p>
          </p:txBody>
        </p:sp>
        <p:sp>
          <p:nvSpPr>
            <p:cNvPr id="73" name="TextBox 73"/>
            <p:cNvSpPr txBox="1"/>
            <p:nvPr/>
          </p:nvSpPr>
          <p:spPr>
            <a:xfrm>
              <a:off x="9900666" y="5125402"/>
              <a:ext cx="1346702" cy="205359"/>
            </a:xfrm>
            <a:prstGeom prst="rect">
              <a:avLst/>
            </a:prstGeom>
            <a:noFill/>
            <a:ln>
              <a:noFill/>
            </a:ln>
          </p:spPr>
          <p:txBody>
            <a:bodyPr wrap="none" lIns="0" tIns="0" rIns="0" bIns="0" anchor="t" anchorCtr="0">
              <a:spAutoFit/>
            </a:bodyPr>
            <a:lstStyle/>
            <a:p>
              <a:pPr algn="l" marL="113348" indent="-113348">
                <a:buClr>
                  <a:schemeClr val="dk2"/>
                </a:buClr>
                <a:buSzTx/>
                <a:buFontTx/>
                <a:buChar char="•"/>
              </a:pPr>
              <a:r>
                <a:rPr lang="zh-CN" sz="1050" dirty="0">
                  <a:solidFill>
                    <a:schemeClr val="dk2"/>
                  </a:solidFill>
                  <a:latin typeface="+mn-lt"/>
                  <a:ea typeface="+mn-ea"/>
                  <a:cs typeface="+mn-cs"/>
                </a:rPr>
                <a:t>错位 1–3px ＝ 美学</a:t>
              </a:r>
            </a:p>
          </p:txBody>
        </p:sp>
        <p:sp>
          <p:nvSpPr>
            <p:cNvPr id="74" name="TextBox 74"/>
            <p:cNvSpPr txBox="1"/>
            <p:nvPr/>
          </p:nvSpPr>
          <p:spPr>
            <a:xfrm>
              <a:off x="9900666" y="5334952"/>
              <a:ext cx="977789" cy="205359"/>
            </a:xfrm>
            <a:prstGeom prst="rect">
              <a:avLst/>
            </a:prstGeom>
            <a:noFill/>
            <a:ln>
              <a:noFill/>
            </a:ln>
          </p:spPr>
          <p:txBody>
            <a:bodyPr wrap="none" lIns="0" tIns="0" rIns="0" bIns="0" anchor="t" anchorCtr="0">
              <a:spAutoFit/>
            </a:bodyPr>
            <a:lstStyle/>
            <a:p>
              <a:pPr algn="l" marL="119015" indent="-119015">
                <a:buClr>
                  <a:schemeClr val="accent2"/>
                </a:buClr>
                <a:buSzTx/>
                <a:buFontTx/>
                <a:buChar char="•"/>
              </a:pPr>
              <a:r>
                <a:rPr lang="zh-CN" sz="1050" b="1" dirty="0">
                  <a:solidFill>
                    <a:schemeClr val="accent2"/>
                  </a:solidFill>
                  <a:latin typeface="+mn-lt"/>
                  <a:ea typeface="+mn-ea"/>
                  <a:cs typeface="+mn-cs"/>
                </a:rPr>
                <a:t>套色错位完成</a:t>
              </a:r>
            </a:p>
          </p:txBody>
        </p:sp>
        <p:sp>
          <p:nvSpPr>
            <p:cNvPr id="75" name="TextBox 75"/>
            <p:cNvSpPr txBox="1"/>
            <p:nvPr/>
          </p:nvSpPr>
          <p:spPr>
            <a:xfrm>
              <a:off x="9901238" y="6006941"/>
              <a:ext cx="751733" cy="161925"/>
            </a:xfrm>
            <a:prstGeom prst="rect">
              <a:avLst/>
            </a:prstGeom>
            <a:noFill/>
            <a:ln>
              <a:noFill/>
            </a:ln>
          </p:spPr>
          <p:txBody>
            <a:bodyPr wrap="none" lIns="0" tIns="0" rIns="0" bIns="0" anchor="t" anchorCtr="0">
              <a:spAutoFit/>
            </a:bodyPr>
            <a:lstStyle/>
            <a:p>
              <a:pPr algn="l"/>
              <a:r>
                <a:rPr lang="zh-CN" sz="820" spc="150" dirty="0">
                  <a:solidFill>
                    <a:schemeClr val="dk1"/>
                  </a:solidFill>
                  <a:latin typeface="Consolas"/>
                  <a:ea typeface="Consolas"/>
                  <a:cs typeface="Consolas"/>
                </a:rPr>
                <a:t>OVERPRINT</a:t>
              </a:r>
            </a:p>
          </p:txBody>
        </p:sp>
      </p:grpSp>
      <p:grpSp>
        <p:nvGrpSpPr>
          <p:cNvPr id="80" name="Group 80"/>
          <p:cNvGrpSpPr/>
          <p:nvPr/>
        </p:nvGrpSpPr>
        <p:grpSpPr>
          <a:xfrm>
            <a:off x="566738" y="6572250"/>
            <a:ext cx="11058525" cy="244316"/>
            <a:chOff x="566738" y="6572250"/>
            <a:chExt cx="11058525" cy="244316"/>
          </a:xfrm>
        </p:grpSpPr>
        <p:sp>
          <p:nvSpPr>
            <p:cNvPr id="77" name="Line 77"/>
            <p:cNvSpPr/>
            <p:nvPr/>
          </p:nvSpPr>
          <p:spPr>
            <a:xfrm>
              <a:off x="571500" y="6572250"/>
              <a:ext cx="11049000" cy="9525"/>
            </a:xfrm>
            <a:custGeom>
              <a:avLst/>
              <a:gdLst/>
              <a:ahLst/>
              <a:cxnLst/>
              <a:rect l="l" t="t" r="r" b="b"/>
              <a:pathLst>
                <a:path w="11049000" h="9525">
                  <a:moveTo>
                    <a:pt x="0" y="0"/>
                  </a:moveTo>
                  <a:lnTo>
                    <a:pt x="11049000" y="0"/>
                  </a:lnTo>
                </a:path>
              </a:pathLst>
            </a:custGeom>
            <a:noFill/>
            <a:ln w="9525">
              <a:solidFill>
                <a:schemeClr val="accent4"/>
              </a:solidFill>
            </a:ln>
          </p:spPr>
        </p:sp>
        <p:sp>
          <p:nvSpPr>
            <p:cNvPr id="78" name="TextBox 78"/>
            <p:cNvSpPr txBox="1"/>
            <p:nvPr/>
          </p:nvSpPr>
          <p:spPr>
            <a:xfrm>
              <a:off x="566738" y="6654641"/>
              <a:ext cx="1612428" cy="161925"/>
            </a:xfrm>
            <a:prstGeom prst="rect">
              <a:avLst/>
            </a:prstGeom>
            <a:noFill/>
            <a:ln>
              <a:noFill/>
            </a:ln>
          </p:spPr>
          <p:txBody>
            <a:bodyPr wrap="none" lIns="0" tIns="0" rIns="0" bIns="0" anchor="t" anchorCtr="0">
              <a:spAutoFit/>
            </a:bodyPr>
            <a:lstStyle/>
            <a:p>
              <a:pPr algn="l"/>
              <a:r>
                <a:rPr lang="zh-CN" sz="820" spc="150" dirty="0">
                  <a:solidFill>
                    <a:schemeClr val="dk2"/>
                  </a:solidFill>
                  <a:latin typeface="Consolas"/>
                  <a:ea typeface="Consolas"/>
                  <a:cs typeface="Consolas"/>
                </a:rPr>
                <a:t>P06 · RISO WORKFLOW</a:t>
              </a:r>
            </a:p>
          </p:txBody>
        </p:sp>
        <p:sp>
          <p:nvSpPr>
            <p:cNvPr id="79" name="TextBox 79"/>
            <p:cNvSpPr txBox="1"/>
            <p:nvPr/>
          </p:nvSpPr>
          <p:spPr>
            <a:xfrm>
              <a:off x="9235778" y="6654641"/>
              <a:ext cx="2389485" cy="161925"/>
            </a:xfrm>
            <a:prstGeom prst="rect">
              <a:avLst/>
            </a:prstGeom>
            <a:noFill/>
            <a:ln>
              <a:noFill/>
            </a:ln>
          </p:spPr>
          <p:txBody>
            <a:bodyPr wrap="none" lIns="0" tIns="0" rIns="0" bIns="0" anchor="t" anchorCtr="0">
              <a:spAutoFit/>
            </a:bodyPr>
            <a:lstStyle/>
            <a:p>
              <a:pPr algn="r"/>
              <a:r>
                <a:rPr lang="zh-CN" sz="820" spc="150" dirty="0">
                  <a:solidFill>
                    <a:schemeClr val="dk2"/>
                  </a:solidFill>
                  <a:latin typeface="Consolas"/>
                  <a:ea typeface="Consolas"/>
                  <a:cs typeface="Consolas"/>
                </a:rPr>
                <a:t>5 STEPS × N COLORS = ONE PRINT</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22" presetClass="entr" presetSubtype="4"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down)">
                                      <p:cBhvr>
                                        <p:cTn id="7" dur="550"/>
                                        <p:tgtEl>
                                          <p:spTgt spid="12"/>
                                        </p:tgtEl>
                                      </p:cBhvr>
                                    </p:animEffect>
                                  </p:childTnLst>
                                </p:cTn>
                              </p:par>
                            </p:childTnLst>
                          </p:cTn>
                        </p:par>
                        <p:par>
                          <p:cTn id="8" fill="hold">
                            <p:stCondLst>
                              <p:cond delay="550"/>
                            </p:stCondLst>
                            <p:childTnLst>
                              <p:par>
                                <p:cTn xmlns:p="http://schemas.openxmlformats.org/presentationml/2006/main" id="9" presetID="10" presetClass="entr" presetSubtype="0" fill="hold" grpId="0" nodeType="afterEffect">
                                  <p:stCondLst>
                                    <p:cond delay="120"/>
                                  </p:stCondLst>
                                  <p:childTnLst>
                                    <p:set>
                                      <p:cBhvr>
                                        <p:cTn id="10" dur="1" fill="hold">
                                          <p:stCondLst>
                                            <p:cond delay="0"/>
                                          </p:stCondLst>
                                        </p:cTn>
                                        <p:tgtEl>
                                          <p:spTgt spid="24"/>
                                        </p:tgtEl>
                                        <p:attrNameLst>
                                          <p:attrName>style.visibility</p:attrName>
                                        </p:attrNameLst>
                                      </p:cBhvr>
                                      <p:to>
                                        <p:strVal val="visible"/>
                                      </p:to>
                                    </p:set>
                                    <p:animEffect transition="in" filter="fade">
                                      <p:cBhvr>
                                        <p:cTn id="11" dur="280"/>
                                        <p:tgtEl>
                                          <p:spTgt spid="24"/>
                                        </p:tgtEl>
                                      </p:cBhvr>
                                    </p:animEffect>
                                  </p:childTnLst>
                                </p:cTn>
                              </p:par>
                            </p:childTnLst>
                          </p:cTn>
                        </p:par>
                        <p:par>
                          <p:cTn id="12" fill="hold">
                            <p:stCondLst>
                              <p:cond delay="950"/>
                            </p:stCondLst>
                            <p:childTnLst>
                              <p:par>
                                <p:cTn xmlns:p="http://schemas.openxmlformats.org/presentationml/2006/main" id="13" presetID="10" presetClass="entr" presetSubtype="0" fill="hold" grpId="0" nodeType="afterEffect">
                                  <p:stCondLst>
                                    <p:cond delay="120"/>
                                  </p:stCondLst>
                                  <p:childTnLst>
                                    <p:set>
                                      <p:cBhvr>
                                        <p:cTn id="14" dur="1" fill="hold">
                                          <p:stCondLst>
                                            <p:cond delay="0"/>
                                          </p:stCondLst>
                                        </p:cTn>
                                        <p:tgtEl>
                                          <p:spTgt spid="37"/>
                                        </p:tgtEl>
                                        <p:attrNameLst>
                                          <p:attrName>style.visibility</p:attrName>
                                        </p:attrNameLst>
                                      </p:cBhvr>
                                      <p:to>
                                        <p:strVal val="visible"/>
                                      </p:to>
                                    </p:set>
                                    <p:animEffect transition="in" filter="fade">
                                      <p:cBhvr>
                                        <p:cTn id="15" dur="280"/>
                                        <p:tgtEl>
                                          <p:spTgt spid="37"/>
                                        </p:tgtEl>
                                      </p:cBhvr>
                                    </p:animEffect>
                                  </p:childTnLst>
                                </p:cTn>
                              </p:par>
                            </p:childTnLst>
                          </p:cTn>
                        </p:par>
                        <p:par>
                          <p:cTn id="16" fill="hold">
                            <p:stCondLst>
                              <p:cond delay="1350"/>
                            </p:stCondLst>
                            <p:childTnLst>
                              <p:par>
                                <p:cTn xmlns:p="http://schemas.openxmlformats.org/presentationml/2006/main" id="17" presetID="10" presetClass="entr" presetSubtype="0" fill="hold" grpId="0" nodeType="afterEffect">
                                  <p:stCondLst>
                                    <p:cond delay="120"/>
                                  </p:stCondLst>
                                  <p:childTnLst>
                                    <p:set>
                                      <p:cBhvr>
                                        <p:cTn id="18" dur="1" fill="hold">
                                          <p:stCondLst>
                                            <p:cond delay="0"/>
                                          </p:stCondLst>
                                        </p:cTn>
                                        <p:tgtEl>
                                          <p:spTgt spid="50"/>
                                        </p:tgtEl>
                                        <p:attrNameLst>
                                          <p:attrName>style.visibility</p:attrName>
                                        </p:attrNameLst>
                                      </p:cBhvr>
                                      <p:to>
                                        <p:strVal val="visible"/>
                                      </p:to>
                                    </p:set>
                                    <p:animEffect transition="in" filter="fade">
                                      <p:cBhvr>
                                        <p:cTn id="19" dur="280"/>
                                        <p:tgtEl>
                                          <p:spTgt spid="50"/>
                                        </p:tgtEl>
                                      </p:cBhvr>
                                    </p:animEffect>
                                  </p:childTnLst>
                                </p:cTn>
                              </p:par>
                            </p:childTnLst>
                          </p:cTn>
                        </p:par>
                        <p:par>
                          <p:cTn id="20" fill="hold">
                            <p:stCondLst>
                              <p:cond delay="1750"/>
                            </p:stCondLst>
                            <p:childTnLst>
                              <p:par>
                                <p:cTn xmlns:p="http://schemas.openxmlformats.org/presentationml/2006/main" id="21" presetID="10" presetClass="entr" presetSubtype="0" fill="hold" grpId="0" nodeType="afterEffect">
                                  <p:stCondLst>
                                    <p:cond delay="120"/>
                                  </p:stCondLst>
                                  <p:childTnLst>
                                    <p:set>
                                      <p:cBhvr>
                                        <p:cTn id="22" dur="1" fill="hold">
                                          <p:stCondLst>
                                            <p:cond delay="0"/>
                                          </p:stCondLst>
                                        </p:cTn>
                                        <p:tgtEl>
                                          <p:spTgt spid="63"/>
                                        </p:tgtEl>
                                        <p:attrNameLst>
                                          <p:attrName>style.visibility</p:attrName>
                                        </p:attrNameLst>
                                      </p:cBhvr>
                                      <p:to>
                                        <p:strVal val="visible"/>
                                      </p:to>
                                    </p:set>
                                    <p:animEffect transition="in" filter="fade">
                                      <p:cBhvr>
                                        <p:cTn id="23" dur="280"/>
                                        <p:tgtEl>
                                          <p:spTgt spid="63"/>
                                        </p:tgtEl>
                                      </p:cBhvr>
                                    </p:animEffect>
                                  </p:childTnLst>
                                </p:cTn>
                              </p:par>
                            </p:childTnLst>
                          </p:cTn>
                        </p:par>
                        <p:par>
                          <p:cTn id="24" fill="hold">
                            <p:stCondLst>
                              <p:cond delay="2150"/>
                            </p:stCondLst>
                            <p:childTnLst>
                              <p:par>
                                <p:cTn xmlns:p="http://schemas.openxmlformats.org/presentationml/2006/main" id="25" presetID="10" presetClass="entr" presetSubtype="0" fill="hold" grpId="0" nodeType="afterEffect">
                                  <p:stCondLst>
                                    <p:cond delay="120"/>
                                  </p:stCondLst>
                                  <p:childTnLst>
                                    <p:set>
                                      <p:cBhvr>
                                        <p:cTn id="26" dur="1" fill="hold">
                                          <p:stCondLst>
                                            <p:cond delay="0"/>
                                          </p:stCondLst>
                                        </p:cTn>
                                        <p:tgtEl>
                                          <p:spTgt spid="76"/>
                                        </p:tgtEl>
                                        <p:attrNameLst>
                                          <p:attrName>style.visibility</p:attrName>
                                        </p:attrNameLst>
                                      </p:cBhvr>
                                      <p:to>
                                        <p:strVal val="visible"/>
                                      </p:to>
                                    </p:set>
                                    <p:animEffect transition="in" filter="fade">
                                      <p:cBhvr>
                                        <p:cTn id="27" dur="400"/>
                                        <p:tgtEl>
                                          <p:spTgt spid="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2667000" y="1333500"/>
            <a:ext cx="6877050" cy="4591050"/>
            <a:chOff x="2667000" y="1333500"/>
            <a:chExt cx="6877050" cy="4591050"/>
          </a:xfrm>
        </p:grpSpPr>
        <p:sp>
          <p:nvSpPr>
            <p:cNvPr id="2" name="Rectangle 2"/>
            <p:cNvSpPr/>
            <p:nvPr/>
          </p:nvSpPr>
          <p:spPr>
            <a:xfrm>
              <a:off x="2686050" y="1352550"/>
              <a:ext cx="6858000" cy="4572000"/>
            </a:xfrm>
            <a:prstGeom prst="rect">
              <a:avLst/>
            </a:prstGeom>
            <a:solidFill>
              <a:schemeClr val="accent2"/>
            </a:solidFill>
            <a:ln>
              <a:noFill/>
            </a:ln>
          </p:spPr>
        </p:sp>
        <p:pic>
          <p:nvPicPr>
            <p:cNvPr id="3" name="Image 3"/>
            <p:cNvPicPr>
              <a:picLocks noChangeAspect="1"/>
            </p:cNvPicPr>
            <p:nvPr/>
          </p:nvPicPr>
          <p:blipFill>
            <a:blip r:embed="rId2"/>
            <a:stretch>
              <a:fillRect/>
            </a:stretch>
          </p:blipFill>
          <p:spPr>
            <a:xfrm>
              <a:off x="2667000" y="1333500"/>
              <a:ext cx="6858000" cy="4572000"/>
            </a:xfrm>
            <a:prstGeom prst="rect">
              <a:avLst/>
            </a:prstGeom>
          </p:spPr>
        </p:pic>
      </p:grpSp>
      <p:sp>
        <p:nvSpPr>
          <p:cNvPr id="5" name="Rectangle 5"/>
          <p:cNvSpPr/>
          <p:nvPr/>
        </p:nvSpPr>
        <p:spPr>
          <a:xfrm>
            <a:off x="0" y="0"/>
            <a:ext cx="12192000" cy="6858000"/>
          </a:xfrm>
          <a:prstGeom prst="rect">
            <a:avLst/>
          </a:prstGeom>
          <a:pattFill prst="ltUpDiag">
            <a:fgClr>
              <a:schemeClr val="dk1">
                <a:alpha val="8000"/>
              </a:schemeClr>
            </a:fgClr>
            <a:bgClr>
              <a:srgbClr val="FFFFFF"/>
            </a:bgClr>
          </a:pattFill>
          <a:ln>
            <a:noFill/>
          </a:ln>
        </p:spPr>
      </p:sp>
      <p:grpSp>
        <p:nvGrpSpPr>
          <p:cNvPr id="11" name="Group 11"/>
          <p:cNvGrpSpPr/>
          <p:nvPr/>
        </p:nvGrpSpPr>
        <p:grpSpPr>
          <a:xfrm>
            <a:off x="571500" y="533400"/>
            <a:ext cx="4559031" cy="771239"/>
            <a:chOff x="571500" y="533400"/>
            <a:chExt cx="4559031" cy="771239"/>
          </a:xfrm>
        </p:grpSpPr>
        <p:sp>
          <p:nvSpPr>
            <p:cNvPr id="6" name="Rectangle 6"/>
            <p:cNvSpPr/>
            <p:nvPr/>
          </p:nvSpPr>
          <p:spPr>
            <a:xfrm>
              <a:off x="571500" y="533400"/>
              <a:ext cx="133350" cy="647700"/>
            </a:xfrm>
            <a:prstGeom prst="rect">
              <a:avLst/>
            </a:prstGeom>
            <a:solidFill>
              <a:schemeClr val="accent1"/>
            </a:solidFill>
            <a:ln>
              <a:noFill/>
            </a:ln>
          </p:spPr>
        </p:sp>
        <p:sp>
          <p:nvSpPr>
            <p:cNvPr id="7" name="Rectangle 7"/>
            <p:cNvSpPr/>
            <p:nvPr/>
          </p:nvSpPr>
          <p:spPr>
            <a:xfrm>
              <a:off x="600075" y="561975"/>
              <a:ext cx="133350" cy="647700"/>
            </a:xfrm>
            <a:prstGeom prst="rect">
              <a:avLst/>
            </a:prstGeom>
            <a:solidFill>
              <a:schemeClr val="accent2">
                <a:alpha val="70000"/>
              </a:schemeClr>
            </a:solidFill>
            <a:ln>
              <a:noFill/>
            </a:ln>
          </p:spPr>
        </p:sp>
        <p:sp>
          <p:nvSpPr>
            <p:cNvPr id="8" name="Rectangle 8"/>
            <p:cNvSpPr/>
            <p:nvPr/>
          </p:nvSpPr>
          <p:spPr>
            <a:xfrm>
              <a:off x="571500" y="533400"/>
              <a:ext cx="133350" cy="647700"/>
            </a:xfrm>
            <a:prstGeom prst="rect">
              <a:avLst/>
            </a:prstGeom>
            <a:solidFill>
              <a:schemeClr val="accent1"/>
            </a:solidFill>
            <a:ln>
              <a:noFill/>
            </a:ln>
          </p:spPr>
        </p:sp>
        <p:sp>
          <p:nvSpPr>
            <p:cNvPr id="9" name="TextBox 9"/>
            <p:cNvSpPr txBox="1"/>
            <p:nvPr/>
          </p:nvSpPr>
          <p:spPr>
            <a:xfrm>
              <a:off x="858774" y="561022"/>
              <a:ext cx="4029151" cy="674751"/>
            </a:xfrm>
            <a:prstGeom prst="rect">
              <a:avLst/>
            </a:prstGeom>
            <a:noFill/>
            <a:ln>
              <a:noFill/>
            </a:ln>
          </p:spPr>
          <p:txBody>
            <a:bodyPr wrap="none" lIns="0" tIns="0" rIns="0" bIns="0" anchor="t" anchorCtr="0">
              <a:spAutoFit/>
            </a:bodyPr>
            <a:lstStyle/>
            <a:p>
              <a:pPr algn="l"/>
              <a:r>
                <a:rPr lang="zh-CN" sz="3450" spc="-75" dirty="0">
                  <a:solidFill>
                    <a:schemeClr val="dk1"/>
                  </a:solidFill>
                  <a:latin typeface="+mj-lt"/>
                  <a:ea typeface="+mj-ea"/>
                  <a:cs typeface="+mj-cs"/>
                </a:rPr>
                <a:t>一张纸 → 一本 ZINE</a:t>
              </a:r>
            </a:p>
          </p:txBody>
        </p:sp>
        <p:sp>
          <p:nvSpPr>
            <p:cNvPr id="10" name="TextBox 10"/>
            <p:cNvSpPr txBox="1"/>
            <p:nvPr/>
          </p:nvSpPr>
          <p:spPr>
            <a:xfrm>
              <a:off x="871347" y="1113949"/>
              <a:ext cx="4259184" cy="190690"/>
            </a:xfrm>
            <a:prstGeom prst="rect">
              <a:avLst/>
            </a:prstGeom>
            <a:noFill/>
            <a:ln>
              <a:noFill/>
            </a:ln>
          </p:spPr>
          <p:txBody>
            <a:bodyPr wrap="none" lIns="0" tIns="0" rIns="0" bIns="0" anchor="t" anchorCtr="0">
              <a:spAutoFit/>
            </a:bodyPr>
            <a:lstStyle/>
            <a:p>
              <a:pPr algn="l"/>
              <a:r>
                <a:rPr lang="zh-CN" sz="980" spc="225" dirty="0">
                  <a:solidFill>
                    <a:schemeClr val="dk2"/>
                  </a:solidFill>
                  <a:latin typeface="Consolas"/>
                  <a:ea typeface="Consolas"/>
                  <a:cs typeface="Consolas"/>
                </a:rPr>
                <a:t>EIGHT-PAGE FOLD METHOD · ONE A4 + ONE CUT</a:t>
              </a:r>
            </a:p>
          </p:txBody>
        </p:sp>
      </p:grpSp>
      <p:grpSp>
        <p:nvGrpSpPr>
          <p:cNvPr id="22" name="Group 22"/>
          <p:cNvGrpSpPr/>
          <p:nvPr/>
        </p:nvGrpSpPr>
        <p:grpSpPr>
          <a:xfrm>
            <a:off x="571500" y="1562100"/>
            <a:ext cx="3105150" cy="1038226"/>
            <a:chOff x="571500" y="1562100"/>
            <a:chExt cx="3105150" cy="1038226"/>
          </a:xfrm>
        </p:grpSpPr>
        <p:sp>
          <p:nvSpPr>
            <p:cNvPr id="12" name="Freeform 12"/>
            <p:cNvSpPr/>
            <p:nvPr/>
          </p:nvSpPr>
          <p:spPr>
            <a:xfrm>
              <a:off x="2209800" y="1619250"/>
              <a:ext cx="1409700" cy="857250"/>
            </a:xfrm>
            <a:custGeom>
              <a:avLst/>
              <a:gdLst/>
              <a:ahLst/>
              <a:cxnLst/>
              <a:rect l="l" t="t" r="r" b="b"/>
              <a:pathLst>
                <a:path w="1409700" h="857250">
                  <a:moveTo>
                    <a:pt x="0" y="857250"/>
                  </a:moveTo>
                  <a:cubicBezTo>
                    <a:pt x="317500" y="603250"/>
                    <a:pt x="787400" y="317500"/>
                    <a:pt x="1409700" y="0"/>
                  </a:cubicBezTo>
                </a:path>
              </a:pathLst>
            </a:custGeom>
            <a:noFill/>
            <a:ln w="23812">
              <a:solidFill>
                <a:schemeClr val="accent4"/>
              </a:solidFill>
              <a:custDash>
                <a:ds d="160000" sp="120000"/>
              </a:custDash>
            </a:ln>
          </p:spPr>
        </p:sp>
        <p:sp>
          <p:nvSpPr>
            <p:cNvPr id="13" name="Ellipse 13"/>
            <p:cNvSpPr/>
            <p:nvPr/>
          </p:nvSpPr>
          <p:spPr>
            <a:xfrm>
              <a:off x="3562350" y="1562100"/>
              <a:ext cx="114300" cy="114300"/>
            </a:xfrm>
            <a:prstGeom prst="ellipse">
              <a:avLst/>
            </a:prstGeom>
            <a:solidFill>
              <a:schemeClr val="accent1"/>
            </a:solidFill>
            <a:ln>
              <a:noFill/>
            </a:ln>
          </p:spPr>
        </p:sp>
        <p:sp>
          <p:nvSpPr>
            <p:cNvPr id="14" name="Rectangle 14"/>
            <p:cNvSpPr/>
            <p:nvPr/>
          </p:nvSpPr>
          <p:spPr>
            <a:xfrm>
              <a:off x="571500" y="1619250"/>
              <a:ext cx="1905000" cy="952500"/>
            </a:xfrm>
            <a:prstGeom prst="rect">
              <a:avLst/>
            </a:prstGeom>
            <a:solidFill>
              <a:schemeClr val="accent1"/>
            </a:solidFill>
            <a:ln>
              <a:noFill/>
            </a:ln>
          </p:spPr>
        </p:sp>
        <p:sp>
          <p:nvSpPr>
            <p:cNvPr id="15" name="Rectangle 15"/>
            <p:cNvSpPr/>
            <p:nvPr/>
          </p:nvSpPr>
          <p:spPr>
            <a:xfrm>
              <a:off x="600075" y="1647825"/>
              <a:ext cx="1905000" cy="952500"/>
            </a:xfrm>
            <a:prstGeom prst="rect">
              <a:avLst/>
            </a:prstGeom>
            <a:solidFill>
              <a:schemeClr val="accent2">
                <a:alpha val="60000"/>
              </a:schemeClr>
            </a:solidFill>
            <a:ln>
              <a:noFill/>
            </a:ln>
          </p:spPr>
        </p:sp>
        <p:sp>
          <p:nvSpPr>
            <p:cNvPr id="16" name="Rectangle 16"/>
            <p:cNvSpPr/>
            <p:nvPr/>
          </p:nvSpPr>
          <p:spPr>
            <a:xfrm>
              <a:off x="571500" y="1619250"/>
              <a:ext cx="1905000" cy="952500"/>
            </a:xfrm>
            <a:prstGeom prst="rect">
              <a:avLst/>
            </a:prstGeom>
            <a:solidFill>
              <a:schemeClr val="accent1"/>
            </a:solidFill>
            <a:ln>
              <a:noFill/>
            </a:ln>
          </p:spPr>
        </p:sp>
        <p:sp>
          <p:nvSpPr>
            <p:cNvPr id="17" name="TextBox 17"/>
            <p:cNvSpPr txBox="1"/>
            <p:nvPr/>
          </p:nvSpPr>
          <p:spPr>
            <a:xfrm>
              <a:off x="710946" y="1686878"/>
              <a:ext cx="403517" cy="498729"/>
            </a:xfrm>
            <a:prstGeom prst="rect">
              <a:avLst/>
            </a:prstGeom>
            <a:noFill/>
            <a:ln>
              <a:noFill/>
            </a:ln>
          </p:spPr>
          <p:txBody>
            <a:bodyPr wrap="none" lIns="0" tIns="0" rIns="0" bIns="0" anchor="t" anchorCtr="0">
              <a:spAutoFit/>
            </a:bodyPr>
            <a:lstStyle/>
            <a:p>
              <a:pPr algn="l"/>
              <a:r>
                <a:rPr lang="zh-CN" sz="2550" dirty="0">
                  <a:solidFill>
                    <a:srgbClr val="F5EFE0"/>
                  </a:solidFill>
                  <a:latin typeface="+mj-lt"/>
                  <a:ea typeface="+mj-ea"/>
                  <a:cs typeface="+mj-cs"/>
                </a:rPr>
                <a:t>01</a:t>
              </a:r>
            </a:p>
          </p:txBody>
        </p:sp>
        <p:sp>
          <p:nvSpPr>
            <p:cNvPr id="18" name="TextBox 18"/>
            <p:cNvSpPr txBox="1"/>
            <p:nvPr/>
          </p:nvSpPr>
          <p:spPr>
            <a:xfrm>
              <a:off x="1174242" y="1816418"/>
              <a:ext cx="377190" cy="264033"/>
            </a:xfrm>
            <a:prstGeom prst="rect">
              <a:avLst/>
            </a:prstGeom>
            <a:noFill/>
            <a:ln>
              <a:noFill/>
            </a:ln>
          </p:spPr>
          <p:txBody>
            <a:bodyPr wrap="none" lIns="0" tIns="0" rIns="0" bIns="0" anchor="t" anchorCtr="0">
              <a:spAutoFit/>
            </a:bodyPr>
            <a:lstStyle/>
            <a:p>
              <a:pPr algn="l"/>
              <a:r>
                <a:rPr lang="zh-CN" sz="1350" b="1" dirty="0">
                  <a:solidFill>
                    <a:srgbClr val="F5EFE0"/>
                  </a:solidFill>
                  <a:latin typeface="+mn-lt"/>
                  <a:ea typeface="+mn-ea"/>
                  <a:cs typeface="+mn-cs"/>
                </a:rPr>
                <a:t>折叠</a:t>
              </a:r>
            </a:p>
          </p:txBody>
        </p:sp>
        <p:sp>
          <p:nvSpPr>
            <p:cNvPr id="19" name="TextBox 19"/>
            <p:cNvSpPr txBox="1"/>
            <p:nvPr/>
          </p:nvSpPr>
          <p:spPr>
            <a:xfrm>
              <a:off x="718947" y="2123599"/>
              <a:ext cx="537616" cy="190690"/>
            </a:xfrm>
            <a:prstGeom prst="rect">
              <a:avLst/>
            </a:prstGeom>
            <a:noFill/>
            <a:ln>
              <a:noFill/>
            </a:ln>
          </p:spPr>
          <p:txBody>
            <a:bodyPr wrap="none" lIns="0" tIns="0" rIns="0" bIns="0" anchor="t" anchorCtr="0">
              <a:spAutoFit/>
            </a:bodyPr>
            <a:lstStyle/>
            <a:p>
              <a:pPr algn="l"/>
              <a:r>
                <a:rPr lang="zh-CN" sz="980" dirty="0">
                  <a:solidFill>
                    <a:srgbClr val="F5EFE0"/>
                  </a:solidFill>
                  <a:latin typeface="+mn-lt"/>
                  <a:ea typeface="+mn-ea"/>
                  <a:cs typeface="+mn-cs"/>
                </a:rPr>
                <a:t>长边对折</a:t>
              </a:r>
            </a:p>
          </p:txBody>
        </p:sp>
        <p:sp>
          <p:nvSpPr>
            <p:cNvPr id="20" name="TextBox 20"/>
            <p:cNvSpPr txBox="1"/>
            <p:nvPr/>
          </p:nvSpPr>
          <p:spPr>
            <a:xfrm>
              <a:off x="718947" y="2295049"/>
              <a:ext cx="649755" cy="190690"/>
            </a:xfrm>
            <a:prstGeom prst="rect">
              <a:avLst/>
            </a:prstGeom>
            <a:noFill/>
            <a:ln>
              <a:noFill/>
            </a:ln>
          </p:spPr>
          <p:txBody>
            <a:bodyPr wrap="none" lIns="0" tIns="0" rIns="0" bIns="0" anchor="t" anchorCtr="0">
              <a:spAutoFit/>
            </a:bodyPr>
            <a:lstStyle/>
            <a:p>
              <a:pPr algn="l"/>
              <a:r>
                <a:rPr lang="zh-CN" sz="980" dirty="0">
                  <a:solidFill>
                    <a:srgbClr val="F5EFE0"/>
                  </a:solidFill>
                  <a:latin typeface="+mn-lt"/>
                  <a:ea typeface="+mn-ea"/>
                  <a:cs typeface="+mn-cs"/>
                </a:rPr>
                <a:t>+ 短边对折</a:t>
              </a:r>
            </a:p>
          </p:txBody>
        </p:sp>
        <p:sp>
          <p:nvSpPr>
            <p:cNvPr id="21" name="TextBox 21"/>
            <p:cNvSpPr txBox="1"/>
            <p:nvPr/>
          </p:nvSpPr>
          <p:spPr>
            <a:xfrm>
              <a:off x="719138" y="2452688"/>
              <a:ext cx="1327023" cy="147638"/>
            </a:xfrm>
            <a:prstGeom prst="rect">
              <a:avLst/>
            </a:prstGeom>
            <a:noFill/>
            <a:ln>
              <a:noFill/>
            </a:ln>
          </p:spPr>
          <p:txBody>
            <a:bodyPr wrap="none" lIns="0" tIns="0" rIns="0" bIns="0" anchor="t" anchorCtr="0">
              <a:spAutoFit/>
            </a:bodyPr>
            <a:lstStyle/>
            <a:p>
              <a:pPr algn="l"/>
              <a:r>
                <a:rPr lang="zh-CN" sz="750" spc="75" dirty="0">
                  <a:solidFill>
                    <a:schemeClr val="accent2"/>
                  </a:solidFill>
                  <a:latin typeface="Consolas"/>
                  <a:ea typeface="Consolas"/>
                  <a:cs typeface="Consolas"/>
                </a:rPr>
                <a:t>→ 8 EQUAL RECTANGLES</a:t>
              </a:r>
            </a:p>
          </p:txBody>
        </p:sp>
      </p:grpSp>
      <p:grpSp>
        <p:nvGrpSpPr>
          <p:cNvPr id="33" name="Group 33"/>
          <p:cNvGrpSpPr/>
          <p:nvPr/>
        </p:nvGrpSpPr>
        <p:grpSpPr>
          <a:xfrm>
            <a:off x="8515350" y="1562100"/>
            <a:ext cx="3133725" cy="1038226"/>
            <a:chOff x="8515350" y="1562100"/>
            <a:chExt cx="3133725" cy="1038226"/>
          </a:xfrm>
        </p:grpSpPr>
        <p:sp>
          <p:nvSpPr>
            <p:cNvPr id="23" name="Freeform 23"/>
            <p:cNvSpPr/>
            <p:nvPr/>
          </p:nvSpPr>
          <p:spPr>
            <a:xfrm>
              <a:off x="8572500" y="1619250"/>
              <a:ext cx="1409700" cy="857250"/>
            </a:xfrm>
            <a:custGeom>
              <a:avLst/>
              <a:gdLst/>
              <a:ahLst/>
              <a:cxnLst/>
              <a:rect l="l" t="t" r="r" b="b"/>
              <a:pathLst>
                <a:path w="1409700" h="857250">
                  <a:moveTo>
                    <a:pt x="1409700" y="857250"/>
                  </a:moveTo>
                  <a:cubicBezTo>
                    <a:pt x="1092200" y="603250"/>
                    <a:pt x="622300" y="317500"/>
                    <a:pt x="0" y="0"/>
                  </a:cubicBezTo>
                </a:path>
              </a:pathLst>
            </a:custGeom>
            <a:noFill/>
            <a:ln w="23812">
              <a:solidFill>
                <a:schemeClr val="accent4"/>
              </a:solidFill>
              <a:custDash>
                <a:ds d="160000" sp="120000"/>
              </a:custDash>
            </a:ln>
          </p:spPr>
        </p:sp>
        <p:sp>
          <p:nvSpPr>
            <p:cNvPr id="24" name="Ellipse 24"/>
            <p:cNvSpPr/>
            <p:nvPr/>
          </p:nvSpPr>
          <p:spPr>
            <a:xfrm>
              <a:off x="8515350" y="1562100"/>
              <a:ext cx="114300" cy="114300"/>
            </a:xfrm>
            <a:prstGeom prst="ellipse">
              <a:avLst/>
            </a:prstGeom>
            <a:solidFill>
              <a:schemeClr val="accent2"/>
            </a:solidFill>
            <a:ln>
              <a:noFill/>
            </a:ln>
          </p:spPr>
        </p:sp>
        <p:sp>
          <p:nvSpPr>
            <p:cNvPr id="25" name="Rectangle 25"/>
            <p:cNvSpPr/>
            <p:nvPr/>
          </p:nvSpPr>
          <p:spPr>
            <a:xfrm>
              <a:off x="9715500" y="1619250"/>
              <a:ext cx="1905000" cy="952500"/>
            </a:xfrm>
            <a:prstGeom prst="rect">
              <a:avLst/>
            </a:prstGeom>
            <a:solidFill>
              <a:schemeClr val="accent2"/>
            </a:solidFill>
            <a:ln>
              <a:noFill/>
            </a:ln>
          </p:spPr>
        </p:sp>
        <p:sp>
          <p:nvSpPr>
            <p:cNvPr id="26" name="Rectangle 26"/>
            <p:cNvSpPr/>
            <p:nvPr/>
          </p:nvSpPr>
          <p:spPr>
            <a:xfrm>
              <a:off x="9744075" y="1647825"/>
              <a:ext cx="1905000" cy="952500"/>
            </a:xfrm>
            <a:prstGeom prst="rect">
              <a:avLst/>
            </a:prstGeom>
            <a:solidFill>
              <a:schemeClr val="accent1">
                <a:alpha val="60000"/>
              </a:schemeClr>
            </a:solidFill>
            <a:ln>
              <a:noFill/>
            </a:ln>
          </p:spPr>
        </p:sp>
        <p:sp>
          <p:nvSpPr>
            <p:cNvPr id="27" name="Rectangle 27"/>
            <p:cNvSpPr/>
            <p:nvPr/>
          </p:nvSpPr>
          <p:spPr>
            <a:xfrm>
              <a:off x="9715500" y="1619250"/>
              <a:ext cx="1905000" cy="952500"/>
            </a:xfrm>
            <a:prstGeom prst="rect">
              <a:avLst/>
            </a:prstGeom>
            <a:solidFill>
              <a:schemeClr val="accent2"/>
            </a:solidFill>
            <a:ln>
              <a:noFill/>
            </a:ln>
          </p:spPr>
        </p:sp>
        <p:sp>
          <p:nvSpPr>
            <p:cNvPr id="28" name="TextBox 28"/>
            <p:cNvSpPr txBox="1"/>
            <p:nvPr/>
          </p:nvSpPr>
          <p:spPr>
            <a:xfrm>
              <a:off x="9854946" y="1686878"/>
              <a:ext cx="403517" cy="498729"/>
            </a:xfrm>
            <a:prstGeom prst="rect">
              <a:avLst/>
            </a:prstGeom>
            <a:noFill/>
            <a:ln>
              <a:noFill/>
            </a:ln>
          </p:spPr>
          <p:txBody>
            <a:bodyPr wrap="none" lIns="0" tIns="0" rIns="0" bIns="0" anchor="t" anchorCtr="0">
              <a:spAutoFit/>
            </a:bodyPr>
            <a:lstStyle/>
            <a:p>
              <a:pPr algn="l"/>
              <a:r>
                <a:rPr lang="zh-CN" sz="2550" dirty="0">
                  <a:solidFill>
                    <a:srgbClr val="F5EFE0"/>
                  </a:solidFill>
                  <a:latin typeface="+mj-lt"/>
                  <a:ea typeface="+mj-ea"/>
                  <a:cs typeface="+mj-cs"/>
                </a:rPr>
                <a:t>02</a:t>
              </a:r>
            </a:p>
          </p:txBody>
        </p:sp>
        <p:sp>
          <p:nvSpPr>
            <p:cNvPr id="29" name="TextBox 29"/>
            <p:cNvSpPr txBox="1"/>
            <p:nvPr/>
          </p:nvSpPr>
          <p:spPr>
            <a:xfrm>
              <a:off x="10337292" y="1816418"/>
              <a:ext cx="740664" cy="264033"/>
            </a:xfrm>
            <a:prstGeom prst="rect">
              <a:avLst/>
            </a:prstGeom>
            <a:noFill/>
            <a:ln>
              <a:noFill/>
            </a:ln>
          </p:spPr>
          <p:txBody>
            <a:bodyPr wrap="none" lIns="0" tIns="0" rIns="0" bIns="0" anchor="t" anchorCtr="0">
              <a:spAutoFit/>
            </a:bodyPr>
            <a:lstStyle/>
            <a:p>
              <a:pPr algn="l"/>
              <a:r>
                <a:rPr lang="zh-CN" sz="1350" b="1" dirty="0">
                  <a:solidFill>
                    <a:srgbClr val="F5EFE0"/>
                  </a:solidFill>
                  <a:latin typeface="+mn-lt"/>
                  <a:ea typeface="+mn-ea"/>
                  <a:cs typeface="+mn-cs"/>
                </a:rPr>
                <a:t>关键剪口</a:t>
              </a:r>
            </a:p>
          </p:txBody>
        </p:sp>
        <p:sp>
          <p:nvSpPr>
            <p:cNvPr id="30" name="TextBox 30"/>
            <p:cNvSpPr txBox="1"/>
            <p:nvPr/>
          </p:nvSpPr>
          <p:spPr>
            <a:xfrm>
              <a:off x="9862947" y="2123599"/>
              <a:ext cx="669544" cy="190690"/>
            </a:xfrm>
            <a:prstGeom prst="rect">
              <a:avLst/>
            </a:prstGeom>
            <a:noFill/>
            <a:ln>
              <a:noFill/>
            </a:ln>
          </p:spPr>
          <p:txBody>
            <a:bodyPr wrap="none" lIns="0" tIns="0" rIns="0" bIns="0" anchor="t" anchorCtr="0">
              <a:spAutoFit/>
            </a:bodyPr>
            <a:lstStyle/>
            <a:p>
              <a:pPr algn="l"/>
              <a:r>
                <a:rPr lang="zh-CN" sz="980" dirty="0">
                  <a:solidFill>
                    <a:srgbClr val="F5EFE0"/>
                  </a:solidFill>
                  <a:latin typeface="+mn-lt"/>
                  <a:ea typeface="+mn-ea"/>
                  <a:cs typeface="+mn-cs"/>
                </a:rPr>
                <a:t>从对折边沿</a:t>
              </a:r>
            </a:p>
          </p:txBody>
        </p:sp>
        <p:sp>
          <p:nvSpPr>
            <p:cNvPr id="31" name="TextBox 31"/>
            <p:cNvSpPr txBox="1"/>
            <p:nvPr/>
          </p:nvSpPr>
          <p:spPr>
            <a:xfrm>
              <a:off x="9862947" y="2295049"/>
              <a:ext cx="669544" cy="190690"/>
            </a:xfrm>
            <a:prstGeom prst="rect">
              <a:avLst/>
            </a:prstGeom>
            <a:noFill/>
            <a:ln>
              <a:noFill/>
            </a:ln>
          </p:spPr>
          <p:txBody>
            <a:bodyPr wrap="none" lIns="0" tIns="0" rIns="0" bIns="0" anchor="t" anchorCtr="0">
              <a:spAutoFit/>
            </a:bodyPr>
            <a:lstStyle/>
            <a:p>
              <a:pPr algn="l"/>
              <a:r>
                <a:rPr lang="zh-CN" sz="980" dirty="0">
                  <a:solidFill>
                    <a:srgbClr val="F5EFE0"/>
                  </a:solidFill>
                  <a:latin typeface="+mn-lt"/>
                  <a:ea typeface="+mn-ea"/>
                  <a:cs typeface="+mn-cs"/>
                </a:rPr>
                <a:t>剪到中心点</a:t>
              </a:r>
            </a:p>
          </p:txBody>
        </p:sp>
        <p:sp>
          <p:nvSpPr>
            <p:cNvPr id="32" name="TextBox 32"/>
            <p:cNvSpPr txBox="1"/>
            <p:nvPr/>
          </p:nvSpPr>
          <p:spPr>
            <a:xfrm>
              <a:off x="9863138" y="2452688"/>
              <a:ext cx="1225677" cy="147638"/>
            </a:xfrm>
            <a:prstGeom prst="rect">
              <a:avLst/>
            </a:prstGeom>
            <a:noFill/>
            <a:ln>
              <a:noFill/>
            </a:ln>
          </p:spPr>
          <p:txBody>
            <a:bodyPr wrap="none" lIns="0" tIns="0" rIns="0" bIns="0" anchor="t" anchorCtr="0">
              <a:spAutoFit/>
            </a:bodyPr>
            <a:lstStyle/>
            <a:p>
              <a:pPr algn="l"/>
              <a:r>
                <a:rPr lang="zh-CN" sz="750" spc="75" dirty="0">
                  <a:solidFill>
                    <a:schemeClr val="dk1"/>
                  </a:solidFill>
                  <a:latin typeface="Consolas"/>
                  <a:ea typeface="Consolas"/>
                  <a:cs typeface="Consolas"/>
                </a:rPr>
                <a:t>→ ONE CUT, NO MORE</a:t>
              </a:r>
            </a:p>
          </p:txBody>
        </p:sp>
      </p:grpSp>
      <p:grpSp>
        <p:nvGrpSpPr>
          <p:cNvPr id="44" name="Group 44"/>
          <p:cNvGrpSpPr/>
          <p:nvPr/>
        </p:nvGrpSpPr>
        <p:grpSpPr>
          <a:xfrm>
            <a:off x="571500" y="4667250"/>
            <a:ext cx="3105150" cy="981076"/>
            <a:chOff x="571500" y="4667250"/>
            <a:chExt cx="3105150" cy="981076"/>
          </a:xfrm>
        </p:grpSpPr>
        <p:sp>
          <p:nvSpPr>
            <p:cNvPr id="34" name="Freeform 34"/>
            <p:cNvSpPr/>
            <p:nvPr/>
          </p:nvSpPr>
          <p:spPr>
            <a:xfrm>
              <a:off x="2209800" y="4762500"/>
              <a:ext cx="1409700" cy="762000"/>
            </a:xfrm>
            <a:custGeom>
              <a:avLst/>
              <a:gdLst/>
              <a:ahLst/>
              <a:cxnLst/>
              <a:rect l="l" t="t" r="r" b="b"/>
              <a:pathLst>
                <a:path w="1409700" h="762000">
                  <a:moveTo>
                    <a:pt x="0" y="0"/>
                  </a:moveTo>
                  <a:cubicBezTo>
                    <a:pt x="317500" y="254000"/>
                    <a:pt x="787400" y="508000"/>
                    <a:pt x="1409700" y="762000"/>
                  </a:cubicBezTo>
                </a:path>
              </a:pathLst>
            </a:custGeom>
            <a:noFill/>
            <a:ln w="23812">
              <a:solidFill>
                <a:schemeClr val="accent4"/>
              </a:solidFill>
              <a:custDash>
                <a:ds d="160000" sp="120000"/>
              </a:custDash>
            </a:ln>
          </p:spPr>
        </p:sp>
        <p:sp>
          <p:nvSpPr>
            <p:cNvPr id="35" name="Ellipse 35"/>
            <p:cNvSpPr/>
            <p:nvPr/>
          </p:nvSpPr>
          <p:spPr>
            <a:xfrm>
              <a:off x="3562350" y="5467350"/>
              <a:ext cx="114300" cy="114300"/>
            </a:xfrm>
            <a:prstGeom prst="ellipse">
              <a:avLst/>
            </a:prstGeom>
            <a:solidFill>
              <a:schemeClr val="accent3"/>
            </a:solidFill>
            <a:ln>
              <a:noFill/>
            </a:ln>
          </p:spPr>
        </p:sp>
        <p:sp>
          <p:nvSpPr>
            <p:cNvPr id="36" name="Rectangle 36"/>
            <p:cNvSpPr/>
            <p:nvPr/>
          </p:nvSpPr>
          <p:spPr>
            <a:xfrm>
              <a:off x="571500" y="4667250"/>
              <a:ext cx="1905000" cy="952500"/>
            </a:xfrm>
            <a:prstGeom prst="rect">
              <a:avLst/>
            </a:prstGeom>
            <a:solidFill>
              <a:schemeClr val="accent3"/>
            </a:solidFill>
            <a:ln>
              <a:noFill/>
            </a:ln>
          </p:spPr>
        </p:sp>
        <p:sp>
          <p:nvSpPr>
            <p:cNvPr id="37" name="Rectangle 37"/>
            <p:cNvSpPr/>
            <p:nvPr/>
          </p:nvSpPr>
          <p:spPr>
            <a:xfrm>
              <a:off x="600075" y="4695825"/>
              <a:ext cx="1905000" cy="952500"/>
            </a:xfrm>
            <a:prstGeom prst="rect">
              <a:avLst/>
            </a:prstGeom>
            <a:solidFill>
              <a:schemeClr val="accent1">
                <a:alpha val="60000"/>
              </a:schemeClr>
            </a:solidFill>
            <a:ln>
              <a:noFill/>
            </a:ln>
          </p:spPr>
        </p:sp>
        <p:sp>
          <p:nvSpPr>
            <p:cNvPr id="38" name="Rectangle 38"/>
            <p:cNvSpPr/>
            <p:nvPr/>
          </p:nvSpPr>
          <p:spPr>
            <a:xfrm>
              <a:off x="571500" y="4667250"/>
              <a:ext cx="1905000" cy="952500"/>
            </a:xfrm>
            <a:prstGeom prst="rect">
              <a:avLst/>
            </a:prstGeom>
            <a:solidFill>
              <a:schemeClr val="accent3"/>
            </a:solidFill>
            <a:ln>
              <a:noFill/>
            </a:ln>
          </p:spPr>
        </p:sp>
        <p:sp>
          <p:nvSpPr>
            <p:cNvPr id="39" name="TextBox 39"/>
            <p:cNvSpPr txBox="1"/>
            <p:nvPr/>
          </p:nvSpPr>
          <p:spPr>
            <a:xfrm>
              <a:off x="710946" y="4734878"/>
              <a:ext cx="403517" cy="498729"/>
            </a:xfrm>
            <a:prstGeom prst="rect">
              <a:avLst/>
            </a:prstGeom>
            <a:noFill/>
            <a:ln>
              <a:noFill/>
            </a:ln>
          </p:spPr>
          <p:txBody>
            <a:bodyPr wrap="none" lIns="0" tIns="0" rIns="0" bIns="0" anchor="t" anchorCtr="0">
              <a:spAutoFit/>
            </a:bodyPr>
            <a:lstStyle/>
            <a:p>
              <a:pPr algn="l"/>
              <a:r>
                <a:rPr lang="zh-CN" sz="2550" dirty="0">
                  <a:solidFill>
                    <a:srgbClr val="F5EFE0"/>
                  </a:solidFill>
                  <a:latin typeface="+mj-lt"/>
                  <a:ea typeface="+mj-ea"/>
                  <a:cs typeface="+mj-cs"/>
                </a:rPr>
                <a:t>03</a:t>
              </a:r>
            </a:p>
          </p:txBody>
        </p:sp>
        <p:sp>
          <p:nvSpPr>
            <p:cNvPr id="40" name="TextBox 40"/>
            <p:cNvSpPr txBox="1"/>
            <p:nvPr/>
          </p:nvSpPr>
          <p:spPr>
            <a:xfrm>
              <a:off x="1174242" y="4864418"/>
              <a:ext cx="377190" cy="264033"/>
            </a:xfrm>
            <a:prstGeom prst="rect">
              <a:avLst/>
            </a:prstGeom>
            <a:noFill/>
            <a:ln>
              <a:noFill/>
            </a:ln>
          </p:spPr>
          <p:txBody>
            <a:bodyPr wrap="none" lIns="0" tIns="0" rIns="0" bIns="0" anchor="t" anchorCtr="0">
              <a:spAutoFit/>
            </a:bodyPr>
            <a:lstStyle/>
            <a:p>
              <a:pPr algn="l"/>
              <a:r>
                <a:rPr lang="zh-CN" sz="1350" b="1" dirty="0">
                  <a:solidFill>
                    <a:srgbClr val="F5EFE0"/>
                  </a:solidFill>
                  <a:latin typeface="+mn-lt"/>
                  <a:ea typeface="+mn-ea"/>
                  <a:cs typeface="+mn-cs"/>
                </a:rPr>
                <a:t>组装</a:t>
              </a:r>
            </a:p>
          </p:txBody>
        </p:sp>
        <p:sp>
          <p:nvSpPr>
            <p:cNvPr id="41" name="TextBox 41"/>
            <p:cNvSpPr txBox="1"/>
            <p:nvPr/>
          </p:nvSpPr>
          <p:spPr>
            <a:xfrm>
              <a:off x="718947" y="5171599"/>
              <a:ext cx="537616" cy="190690"/>
            </a:xfrm>
            <a:prstGeom prst="rect">
              <a:avLst/>
            </a:prstGeom>
            <a:noFill/>
            <a:ln>
              <a:noFill/>
            </a:ln>
          </p:spPr>
          <p:txBody>
            <a:bodyPr wrap="none" lIns="0" tIns="0" rIns="0" bIns="0" anchor="t" anchorCtr="0">
              <a:spAutoFit/>
            </a:bodyPr>
            <a:lstStyle/>
            <a:p>
              <a:pPr algn="l"/>
              <a:r>
                <a:rPr lang="zh-CN" sz="980" dirty="0">
                  <a:solidFill>
                    <a:srgbClr val="F5EFE0"/>
                  </a:solidFill>
                  <a:latin typeface="+mn-lt"/>
                  <a:ea typeface="+mn-ea"/>
                  <a:cs typeface="+mn-cs"/>
                </a:rPr>
                <a:t>双手两端</a:t>
              </a:r>
            </a:p>
          </p:txBody>
        </p:sp>
        <p:sp>
          <p:nvSpPr>
            <p:cNvPr id="42" name="TextBox 42"/>
            <p:cNvSpPr txBox="1"/>
            <p:nvPr/>
          </p:nvSpPr>
          <p:spPr>
            <a:xfrm>
              <a:off x="718947" y="5343049"/>
              <a:ext cx="537616" cy="190690"/>
            </a:xfrm>
            <a:prstGeom prst="rect">
              <a:avLst/>
            </a:prstGeom>
            <a:noFill/>
            <a:ln>
              <a:noFill/>
            </a:ln>
          </p:spPr>
          <p:txBody>
            <a:bodyPr wrap="none" lIns="0" tIns="0" rIns="0" bIns="0" anchor="t" anchorCtr="0">
              <a:spAutoFit/>
            </a:bodyPr>
            <a:lstStyle/>
            <a:p>
              <a:pPr algn="l"/>
              <a:r>
                <a:rPr lang="zh-CN" sz="980" dirty="0">
                  <a:solidFill>
                    <a:srgbClr val="F5EFE0"/>
                  </a:solidFill>
                  <a:latin typeface="+mn-lt"/>
                  <a:ea typeface="+mn-ea"/>
                  <a:cs typeface="+mn-cs"/>
                </a:rPr>
                <a:t>往中心推</a:t>
              </a:r>
            </a:p>
          </p:txBody>
        </p:sp>
        <p:sp>
          <p:nvSpPr>
            <p:cNvPr id="43" name="TextBox 43"/>
            <p:cNvSpPr txBox="1"/>
            <p:nvPr/>
          </p:nvSpPr>
          <p:spPr>
            <a:xfrm>
              <a:off x="719138" y="5500688"/>
              <a:ext cx="1295019" cy="147638"/>
            </a:xfrm>
            <a:prstGeom prst="rect">
              <a:avLst/>
            </a:prstGeom>
            <a:noFill/>
            <a:ln>
              <a:noFill/>
            </a:ln>
          </p:spPr>
          <p:txBody>
            <a:bodyPr wrap="none" lIns="0" tIns="0" rIns="0" bIns="0" anchor="t" anchorCtr="0">
              <a:spAutoFit/>
            </a:bodyPr>
            <a:lstStyle/>
            <a:p>
              <a:pPr algn="l"/>
              <a:r>
                <a:rPr lang="zh-CN" sz="750" spc="75" dirty="0">
                  <a:solidFill>
                    <a:schemeClr val="dk1"/>
                  </a:solidFill>
                  <a:latin typeface="Consolas"/>
                  <a:ea typeface="Consolas"/>
                  <a:cs typeface="Consolas"/>
                </a:rPr>
                <a:t>→ POPS INTO BOOKLET</a:t>
              </a:r>
            </a:p>
          </p:txBody>
        </p:sp>
      </p:grpSp>
      <p:grpSp>
        <p:nvGrpSpPr>
          <p:cNvPr id="55" name="Group 55"/>
          <p:cNvGrpSpPr/>
          <p:nvPr/>
        </p:nvGrpSpPr>
        <p:grpSpPr>
          <a:xfrm>
            <a:off x="8515350" y="4667250"/>
            <a:ext cx="3133725" cy="981076"/>
            <a:chOff x="8515350" y="4667250"/>
            <a:chExt cx="3133725" cy="981076"/>
          </a:xfrm>
        </p:grpSpPr>
        <p:sp>
          <p:nvSpPr>
            <p:cNvPr id="45" name="Freeform 45"/>
            <p:cNvSpPr/>
            <p:nvPr/>
          </p:nvSpPr>
          <p:spPr>
            <a:xfrm>
              <a:off x="8572500" y="4762500"/>
              <a:ext cx="1409700" cy="762000"/>
            </a:xfrm>
            <a:custGeom>
              <a:avLst/>
              <a:gdLst/>
              <a:ahLst/>
              <a:cxnLst/>
              <a:rect l="l" t="t" r="r" b="b"/>
              <a:pathLst>
                <a:path w="1409700" h="762000">
                  <a:moveTo>
                    <a:pt x="1409700" y="0"/>
                  </a:moveTo>
                  <a:cubicBezTo>
                    <a:pt x="1092200" y="254000"/>
                    <a:pt x="622300" y="508000"/>
                    <a:pt x="0" y="762000"/>
                  </a:cubicBezTo>
                </a:path>
              </a:pathLst>
            </a:custGeom>
            <a:noFill/>
            <a:ln w="23812">
              <a:solidFill>
                <a:schemeClr val="accent4"/>
              </a:solidFill>
              <a:custDash>
                <a:ds d="160000" sp="120000"/>
              </a:custDash>
            </a:ln>
          </p:spPr>
        </p:sp>
        <p:sp>
          <p:nvSpPr>
            <p:cNvPr id="46" name="Ellipse 46"/>
            <p:cNvSpPr/>
            <p:nvPr/>
          </p:nvSpPr>
          <p:spPr>
            <a:xfrm>
              <a:off x="8515350" y="5467350"/>
              <a:ext cx="114300" cy="114300"/>
            </a:xfrm>
            <a:prstGeom prst="ellipse">
              <a:avLst/>
            </a:prstGeom>
            <a:solidFill>
              <a:schemeClr val="dk1"/>
            </a:solidFill>
            <a:ln>
              <a:noFill/>
            </a:ln>
          </p:spPr>
        </p:sp>
        <p:sp>
          <p:nvSpPr>
            <p:cNvPr id="47" name="Rectangle 47"/>
            <p:cNvSpPr/>
            <p:nvPr/>
          </p:nvSpPr>
          <p:spPr>
            <a:xfrm>
              <a:off x="9715500" y="4667250"/>
              <a:ext cx="1905000" cy="952500"/>
            </a:xfrm>
            <a:prstGeom prst="rect">
              <a:avLst/>
            </a:prstGeom>
            <a:solidFill>
              <a:schemeClr val="dk1"/>
            </a:solidFill>
            <a:ln>
              <a:noFill/>
            </a:ln>
          </p:spPr>
        </p:sp>
        <p:sp>
          <p:nvSpPr>
            <p:cNvPr id="48" name="Rectangle 48"/>
            <p:cNvSpPr/>
            <p:nvPr/>
          </p:nvSpPr>
          <p:spPr>
            <a:xfrm>
              <a:off x="9744075" y="4695825"/>
              <a:ext cx="1905000" cy="952500"/>
            </a:xfrm>
            <a:prstGeom prst="rect">
              <a:avLst/>
            </a:prstGeom>
            <a:solidFill>
              <a:schemeClr val="accent2">
                <a:alpha val="60000"/>
              </a:schemeClr>
            </a:solidFill>
            <a:ln>
              <a:noFill/>
            </a:ln>
          </p:spPr>
        </p:sp>
        <p:sp>
          <p:nvSpPr>
            <p:cNvPr id="49" name="Rectangle 49"/>
            <p:cNvSpPr/>
            <p:nvPr/>
          </p:nvSpPr>
          <p:spPr>
            <a:xfrm>
              <a:off x="9715500" y="4667250"/>
              <a:ext cx="1905000" cy="952500"/>
            </a:xfrm>
            <a:prstGeom prst="rect">
              <a:avLst/>
            </a:prstGeom>
            <a:solidFill>
              <a:schemeClr val="dk1"/>
            </a:solidFill>
            <a:ln>
              <a:noFill/>
            </a:ln>
          </p:spPr>
        </p:sp>
        <p:sp>
          <p:nvSpPr>
            <p:cNvPr id="50" name="TextBox 50"/>
            <p:cNvSpPr txBox="1"/>
            <p:nvPr/>
          </p:nvSpPr>
          <p:spPr>
            <a:xfrm>
              <a:off x="9854946" y="4734878"/>
              <a:ext cx="403517" cy="498729"/>
            </a:xfrm>
            <a:prstGeom prst="rect">
              <a:avLst/>
            </a:prstGeom>
            <a:noFill/>
            <a:ln>
              <a:noFill/>
            </a:ln>
          </p:spPr>
          <p:txBody>
            <a:bodyPr wrap="none" lIns="0" tIns="0" rIns="0" bIns="0" anchor="t" anchorCtr="0">
              <a:spAutoFit/>
            </a:bodyPr>
            <a:lstStyle/>
            <a:p>
              <a:pPr algn="l"/>
              <a:r>
                <a:rPr lang="zh-CN" sz="2550" dirty="0">
                  <a:solidFill>
                    <a:schemeClr val="accent2"/>
                  </a:solidFill>
                  <a:latin typeface="+mj-lt"/>
                  <a:ea typeface="+mj-ea"/>
                  <a:cs typeface="+mj-cs"/>
                </a:rPr>
                <a:t>04</a:t>
              </a:r>
            </a:p>
          </p:txBody>
        </p:sp>
        <p:sp>
          <p:nvSpPr>
            <p:cNvPr id="51" name="TextBox 51"/>
            <p:cNvSpPr txBox="1"/>
            <p:nvPr/>
          </p:nvSpPr>
          <p:spPr>
            <a:xfrm>
              <a:off x="10337292" y="4864418"/>
              <a:ext cx="558927" cy="264033"/>
            </a:xfrm>
            <a:prstGeom prst="rect">
              <a:avLst/>
            </a:prstGeom>
            <a:noFill/>
            <a:ln>
              <a:noFill/>
            </a:ln>
          </p:spPr>
          <p:txBody>
            <a:bodyPr wrap="none" lIns="0" tIns="0" rIns="0" bIns="0" anchor="t" anchorCtr="0">
              <a:spAutoFit/>
            </a:bodyPr>
            <a:lstStyle/>
            <a:p>
              <a:pPr algn="l"/>
              <a:r>
                <a:rPr lang="zh-CN" sz="1350" b="1" dirty="0">
                  <a:solidFill>
                    <a:srgbClr val="F5EFE0"/>
                  </a:solidFill>
                  <a:latin typeface="+mn-lt"/>
                  <a:ea typeface="+mn-ea"/>
                  <a:cs typeface="+mn-cs"/>
                </a:rPr>
                <a:t>填内容</a:t>
              </a:r>
            </a:p>
          </p:txBody>
        </p:sp>
        <p:sp>
          <p:nvSpPr>
            <p:cNvPr id="52" name="TextBox 52"/>
            <p:cNvSpPr txBox="1"/>
            <p:nvPr/>
          </p:nvSpPr>
          <p:spPr>
            <a:xfrm>
              <a:off x="9862947" y="5171599"/>
              <a:ext cx="689333" cy="190690"/>
            </a:xfrm>
            <a:prstGeom prst="rect">
              <a:avLst/>
            </a:prstGeom>
            <a:noFill/>
            <a:ln>
              <a:noFill/>
            </a:ln>
          </p:spPr>
          <p:txBody>
            <a:bodyPr wrap="none" lIns="0" tIns="0" rIns="0" bIns="0" anchor="t" anchorCtr="0">
              <a:spAutoFit/>
            </a:bodyPr>
            <a:lstStyle/>
            <a:p>
              <a:pPr algn="l"/>
              <a:r>
                <a:rPr lang="zh-CN" sz="980" dirty="0">
                  <a:solidFill>
                    <a:srgbClr val="F5EFE0"/>
                  </a:solidFill>
                  <a:latin typeface="+mn-lt"/>
                  <a:ea typeface="+mn-ea"/>
                  <a:cs typeface="+mn-cs"/>
                </a:rPr>
                <a:t>手写 / 打字</a:t>
              </a:r>
            </a:p>
          </p:txBody>
        </p:sp>
        <p:sp>
          <p:nvSpPr>
            <p:cNvPr id="53" name="TextBox 53"/>
            <p:cNvSpPr txBox="1"/>
            <p:nvPr/>
          </p:nvSpPr>
          <p:spPr>
            <a:xfrm>
              <a:off x="9862947" y="5343049"/>
              <a:ext cx="689333" cy="190690"/>
            </a:xfrm>
            <a:prstGeom prst="rect">
              <a:avLst/>
            </a:prstGeom>
            <a:noFill/>
            <a:ln>
              <a:noFill/>
            </a:ln>
          </p:spPr>
          <p:txBody>
            <a:bodyPr wrap="none" lIns="0" tIns="0" rIns="0" bIns="0" anchor="t" anchorCtr="0">
              <a:spAutoFit/>
            </a:bodyPr>
            <a:lstStyle/>
            <a:p>
              <a:pPr algn="l"/>
              <a:r>
                <a:rPr lang="zh-CN" sz="980" dirty="0">
                  <a:solidFill>
                    <a:srgbClr val="F5EFE0"/>
                  </a:solidFill>
                  <a:latin typeface="+mn-lt"/>
                  <a:ea typeface="+mn-ea"/>
                  <a:cs typeface="+mn-cs"/>
                </a:rPr>
                <a:t>拼贴 / 漫画</a:t>
              </a:r>
            </a:p>
          </p:txBody>
        </p:sp>
        <p:sp>
          <p:nvSpPr>
            <p:cNvPr id="54" name="TextBox 54"/>
            <p:cNvSpPr txBox="1"/>
            <p:nvPr/>
          </p:nvSpPr>
          <p:spPr>
            <a:xfrm>
              <a:off x="9863138" y="5500688"/>
              <a:ext cx="660273" cy="147638"/>
            </a:xfrm>
            <a:prstGeom prst="rect">
              <a:avLst/>
            </a:prstGeom>
            <a:noFill/>
            <a:ln>
              <a:noFill/>
            </a:ln>
          </p:spPr>
          <p:txBody>
            <a:bodyPr wrap="none" lIns="0" tIns="0" rIns="0" bIns="0" anchor="t" anchorCtr="0">
              <a:spAutoFit/>
            </a:bodyPr>
            <a:lstStyle/>
            <a:p>
              <a:pPr algn="l"/>
              <a:r>
                <a:rPr lang="zh-CN" sz="750" spc="75" dirty="0">
                  <a:solidFill>
                    <a:schemeClr val="accent2"/>
                  </a:solidFill>
                  <a:latin typeface="Consolas"/>
                  <a:ea typeface="Consolas"/>
                  <a:cs typeface="Consolas"/>
                </a:rPr>
                <a:t>→ NO RULES</a:t>
              </a:r>
            </a:p>
          </p:txBody>
        </p:sp>
      </p:grpSp>
      <p:grpSp>
        <p:nvGrpSpPr>
          <p:cNvPr id="61" name="Group 61"/>
          <p:cNvGrpSpPr/>
          <p:nvPr/>
        </p:nvGrpSpPr>
        <p:grpSpPr>
          <a:xfrm>
            <a:off x="571500" y="5943600"/>
            <a:ext cx="11077575" cy="447675"/>
            <a:chOff x="571500" y="5943600"/>
            <a:chExt cx="11077575" cy="447675"/>
          </a:xfrm>
        </p:grpSpPr>
        <p:sp>
          <p:nvSpPr>
            <p:cNvPr id="56" name="Rectangle 56"/>
            <p:cNvSpPr/>
            <p:nvPr/>
          </p:nvSpPr>
          <p:spPr>
            <a:xfrm>
              <a:off x="571500" y="5943600"/>
              <a:ext cx="11049000" cy="419100"/>
            </a:xfrm>
            <a:prstGeom prst="rect">
              <a:avLst/>
            </a:prstGeom>
            <a:solidFill>
              <a:schemeClr val="accent2"/>
            </a:solidFill>
            <a:ln>
              <a:noFill/>
            </a:ln>
          </p:spPr>
        </p:sp>
        <p:sp>
          <p:nvSpPr>
            <p:cNvPr id="57" name="Rectangle 57"/>
            <p:cNvSpPr/>
            <p:nvPr/>
          </p:nvSpPr>
          <p:spPr>
            <a:xfrm>
              <a:off x="600075" y="5972175"/>
              <a:ext cx="11049000" cy="419100"/>
            </a:xfrm>
            <a:prstGeom prst="rect">
              <a:avLst/>
            </a:prstGeom>
            <a:solidFill>
              <a:schemeClr val="accent1">
                <a:alpha val="55000"/>
              </a:schemeClr>
            </a:solidFill>
            <a:ln>
              <a:noFill/>
            </a:ln>
          </p:spPr>
        </p:sp>
        <p:sp>
          <p:nvSpPr>
            <p:cNvPr id="58" name="Rectangle 58"/>
            <p:cNvSpPr/>
            <p:nvPr/>
          </p:nvSpPr>
          <p:spPr>
            <a:xfrm>
              <a:off x="571500" y="5943600"/>
              <a:ext cx="11049000" cy="419100"/>
            </a:xfrm>
            <a:prstGeom prst="rect">
              <a:avLst/>
            </a:prstGeom>
            <a:solidFill>
              <a:schemeClr val="accent2"/>
            </a:solidFill>
            <a:ln>
              <a:noFill/>
            </a:ln>
          </p:spPr>
        </p:sp>
        <p:sp>
          <p:nvSpPr>
            <p:cNvPr id="59" name="TextBox 59"/>
            <p:cNvSpPr txBox="1"/>
            <p:nvPr/>
          </p:nvSpPr>
          <p:spPr>
            <a:xfrm>
              <a:off x="755523" y="6091714"/>
              <a:ext cx="5566191" cy="249364"/>
            </a:xfrm>
            <a:prstGeom prst="rect">
              <a:avLst/>
            </a:prstGeom>
            <a:noFill/>
            <a:ln>
              <a:noFill/>
            </a:ln>
          </p:spPr>
          <p:txBody>
            <a:bodyPr wrap="none" lIns="0" tIns="0" rIns="0" bIns="0" anchor="t" anchorCtr="0">
              <a:spAutoFit/>
            </a:bodyPr>
            <a:lstStyle/>
            <a:p>
              <a:pPr algn="l"/>
              <a:r>
                <a:rPr lang="zh-CN" sz="1280" b="1" dirty="0">
                  <a:solidFill>
                    <a:srgbClr val="F5EFE0"/>
                  </a:solidFill>
                  <a:latin typeface="+mn-lt"/>
                  <a:ea typeface="+mn-ea"/>
                  <a:cs typeface="+mn-cs"/>
                </a:rPr>
                <a:t>硬约束 ＞ 折叠 zine 的总页数必须是 4 的倍数（8 / 12 / 16 / 20 ...）</a:t>
              </a:r>
            </a:p>
          </p:txBody>
        </p:sp>
        <p:sp>
          <p:nvSpPr>
            <p:cNvPr id="60" name="TextBox 60"/>
            <p:cNvSpPr txBox="1"/>
            <p:nvPr/>
          </p:nvSpPr>
          <p:spPr>
            <a:xfrm>
              <a:off x="9758563" y="6124099"/>
              <a:ext cx="1676390" cy="190690"/>
            </a:xfrm>
            <a:prstGeom prst="rect">
              <a:avLst/>
            </a:prstGeom>
            <a:noFill/>
            <a:ln>
              <a:noFill/>
            </a:ln>
          </p:spPr>
          <p:txBody>
            <a:bodyPr wrap="none" lIns="0" tIns="0" rIns="0" bIns="0" anchor="t" anchorCtr="0">
              <a:spAutoFit/>
            </a:bodyPr>
            <a:lstStyle/>
            <a:p>
              <a:pPr algn="r"/>
              <a:r>
                <a:rPr lang="zh-CN" sz="980" spc="150" dirty="0">
                  <a:solidFill>
                    <a:srgbClr val="F5EFE0"/>
                  </a:solidFill>
                  <a:latin typeface="Consolas"/>
                  <a:ea typeface="Consolas"/>
                  <a:cs typeface="Consolas"/>
                </a:rPr>
                <a:t>PAGES ÷ 4 = INTEGER</a:t>
              </a:r>
            </a:p>
          </p:txBody>
        </p:sp>
      </p:grpSp>
      <p:grpSp>
        <p:nvGrpSpPr>
          <p:cNvPr id="64" name="Group 64"/>
          <p:cNvGrpSpPr/>
          <p:nvPr/>
        </p:nvGrpSpPr>
        <p:grpSpPr>
          <a:xfrm>
            <a:off x="566738" y="6578441"/>
            <a:ext cx="11058525" cy="161925"/>
            <a:chOff x="566738" y="6578441"/>
            <a:chExt cx="11058525" cy="161925"/>
          </a:xfrm>
        </p:grpSpPr>
        <p:sp>
          <p:nvSpPr>
            <p:cNvPr id="62" name="TextBox 62"/>
            <p:cNvSpPr txBox="1"/>
            <p:nvPr/>
          </p:nvSpPr>
          <p:spPr>
            <a:xfrm>
              <a:off x="566738" y="6578441"/>
              <a:ext cx="2280671" cy="161925"/>
            </a:xfrm>
            <a:prstGeom prst="rect">
              <a:avLst/>
            </a:prstGeom>
            <a:noFill/>
            <a:ln>
              <a:noFill/>
            </a:ln>
          </p:spPr>
          <p:txBody>
            <a:bodyPr wrap="none" lIns="0" tIns="0" rIns="0" bIns="0" anchor="t" anchorCtr="0">
              <a:spAutoFit/>
            </a:bodyPr>
            <a:lstStyle/>
            <a:p>
              <a:pPr algn="l"/>
              <a:r>
                <a:rPr lang="zh-CN" sz="820" spc="150" dirty="0">
                  <a:solidFill>
                    <a:schemeClr val="dk2"/>
                  </a:solidFill>
                  <a:latin typeface="Consolas"/>
                  <a:ea typeface="Consolas"/>
                  <a:cs typeface="Consolas"/>
                </a:rPr>
                <a:t>P07 · FOLD AN A4 INTO 8 PAGES</a:t>
              </a:r>
            </a:p>
          </p:txBody>
        </p:sp>
        <p:sp>
          <p:nvSpPr>
            <p:cNvPr id="63" name="TextBox 63"/>
            <p:cNvSpPr txBox="1"/>
            <p:nvPr/>
          </p:nvSpPr>
          <p:spPr>
            <a:xfrm>
              <a:off x="10065322" y="6578441"/>
              <a:ext cx="1559941" cy="161925"/>
            </a:xfrm>
            <a:prstGeom prst="rect">
              <a:avLst/>
            </a:prstGeom>
            <a:noFill/>
            <a:ln>
              <a:noFill/>
            </a:ln>
          </p:spPr>
          <p:txBody>
            <a:bodyPr wrap="none" lIns="0" tIns="0" rIns="0" bIns="0" anchor="t" anchorCtr="0">
              <a:spAutoFit/>
            </a:bodyPr>
            <a:lstStyle/>
            <a:p>
              <a:pPr algn="r"/>
              <a:r>
                <a:rPr lang="zh-CN" sz="820" spc="150" dirty="0">
                  <a:solidFill>
                    <a:schemeClr val="dk2"/>
                  </a:solidFill>
                  <a:latin typeface="Consolas"/>
                  <a:ea typeface="Consolas"/>
                  <a:cs typeface="Consolas"/>
                </a:rPr>
                <a:t>ONE PAGE = ONE WHIM</a:t>
              </a:r>
            </a:p>
          </p:txBody>
        </p:sp>
      </p:grpSp>
    </p:spTree>
  </p:cSld>
  <p:clrMapOvr>
    <a:masterClrMapping/>
  </p:clrMapOvr>
  <p:transition xmlns:p14="http://schemas.microsoft.com/office/powerpoint/2010/main" p14:dur="400">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xmlns:p="http://schemas.openxmlformats.org/presentationml/2006/main" id="9" presetID="4" presetClass="entr" presetSubtype="16" fill="hold" grpId="0" nodeType="afterEffect">
                                  <p:stCondLst>
                                    <p:cond delay="180"/>
                                  </p:stCondLst>
                                  <p:childTnLst>
                                    <p:set>
                                      <p:cBhvr>
                                        <p:cTn id="10" dur="1" fill="hold">
                                          <p:stCondLst>
                                            <p:cond delay="0"/>
                                          </p:stCondLst>
                                        </p:cTn>
                                        <p:tgtEl>
                                          <p:spTgt spid="22"/>
                                        </p:tgtEl>
                                        <p:attrNameLst>
                                          <p:attrName>style.visibility</p:attrName>
                                        </p:attrNameLst>
                                      </p:cBhvr>
                                      <p:to>
                                        <p:strVal val="visible"/>
                                      </p:to>
                                    </p:set>
                                    <p:animEffect transition="in" filter="box(in)">
                                      <p:cBhvr>
                                        <p:cTn id="11" dur="400"/>
                                        <p:tgtEl>
                                          <p:spTgt spid="22"/>
                                        </p:tgtEl>
                                      </p:cBhvr>
                                    </p:animEffect>
                                  </p:childTnLst>
                                </p:cTn>
                              </p:par>
                            </p:childTnLst>
                          </p:cTn>
                        </p:par>
                        <p:par>
                          <p:cTn id="12" fill="hold">
                            <p:stCondLst>
                              <p:cond delay="1080"/>
                            </p:stCondLst>
                            <p:childTnLst>
                              <p:par>
                                <p:cTn xmlns:p="http://schemas.openxmlformats.org/presentationml/2006/main" id="13" presetID="4" presetClass="entr" presetSubtype="16" fill="hold" grpId="0" nodeType="afterEffect">
                                  <p:stCondLst>
                                    <p:cond delay="180"/>
                                  </p:stCondLst>
                                  <p:childTnLst>
                                    <p:set>
                                      <p:cBhvr>
                                        <p:cTn id="14" dur="1" fill="hold">
                                          <p:stCondLst>
                                            <p:cond delay="0"/>
                                          </p:stCondLst>
                                        </p:cTn>
                                        <p:tgtEl>
                                          <p:spTgt spid="33"/>
                                        </p:tgtEl>
                                        <p:attrNameLst>
                                          <p:attrName>style.visibility</p:attrName>
                                        </p:attrNameLst>
                                      </p:cBhvr>
                                      <p:to>
                                        <p:strVal val="visible"/>
                                      </p:to>
                                    </p:set>
                                    <p:animEffect transition="in" filter="box(in)">
                                      <p:cBhvr>
                                        <p:cTn id="15" dur="400"/>
                                        <p:tgtEl>
                                          <p:spTgt spid="33"/>
                                        </p:tgtEl>
                                      </p:cBhvr>
                                    </p:animEffect>
                                  </p:childTnLst>
                                </p:cTn>
                              </p:par>
                            </p:childTnLst>
                          </p:cTn>
                        </p:par>
                        <p:par>
                          <p:cTn id="16" fill="hold">
                            <p:stCondLst>
                              <p:cond delay="1660"/>
                            </p:stCondLst>
                            <p:childTnLst>
                              <p:par>
                                <p:cTn xmlns:p="http://schemas.openxmlformats.org/presentationml/2006/main" id="17" presetID="4" presetClass="entr" presetSubtype="16" fill="hold" grpId="0" nodeType="afterEffect">
                                  <p:stCondLst>
                                    <p:cond delay="180"/>
                                  </p:stCondLst>
                                  <p:childTnLst>
                                    <p:set>
                                      <p:cBhvr>
                                        <p:cTn id="18" dur="1" fill="hold">
                                          <p:stCondLst>
                                            <p:cond delay="0"/>
                                          </p:stCondLst>
                                        </p:cTn>
                                        <p:tgtEl>
                                          <p:spTgt spid="44"/>
                                        </p:tgtEl>
                                        <p:attrNameLst>
                                          <p:attrName>style.visibility</p:attrName>
                                        </p:attrNameLst>
                                      </p:cBhvr>
                                      <p:to>
                                        <p:strVal val="visible"/>
                                      </p:to>
                                    </p:set>
                                    <p:animEffect transition="in" filter="box(in)">
                                      <p:cBhvr>
                                        <p:cTn id="19" dur="400"/>
                                        <p:tgtEl>
                                          <p:spTgt spid="44"/>
                                        </p:tgtEl>
                                      </p:cBhvr>
                                    </p:animEffect>
                                  </p:childTnLst>
                                </p:cTn>
                              </p:par>
                            </p:childTnLst>
                          </p:cTn>
                        </p:par>
                        <p:par>
                          <p:cTn id="20" fill="hold">
                            <p:stCondLst>
                              <p:cond delay="2240"/>
                            </p:stCondLst>
                            <p:childTnLst>
                              <p:par>
                                <p:cTn xmlns:p="http://schemas.openxmlformats.org/presentationml/2006/main" id="21" presetID="4" presetClass="entr" presetSubtype="16" fill="hold" grpId="0" nodeType="afterEffect">
                                  <p:stCondLst>
                                    <p:cond delay="180"/>
                                  </p:stCondLst>
                                  <p:childTnLst>
                                    <p:set>
                                      <p:cBhvr>
                                        <p:cTn id="22" dur="1" fill="hold">
                                          <p:stCondLst>
                                            <p:cond delay="0"/>
                                          </p:stCondLst>
                                        </p:cTn>
                                        <p:tgtEl>
                                          <p:spTgt spid="55"/>
                                        </p:tgtEl>
                                        <p:attrNameLst>
                                          <p:attrName>style.visibility</p:attrName>
                                        </p:attrNameLst>
                                      </p:cBhvr>
                                      <p:to>
                                        <p:strVal val="visible"/>
                                      </p:to>
                                    </p:set>
                                    <p:animEffect transition="in" filter="box(in)">
                                      <p:cBhvr>
                                        <p:cTn id="23" dur="400"/>
                                        <p:tgtEl>
                                          <p:spTgt spid="55"/>
                                        </p:tgtEl>
                                      </p:cBhvr>
                                    </p:animEffect>
                                  </p:childTnLst>
                                </p:cTn>
                              </p:par>
                            </p:childTnLst>
                          </p:cTn>
                        </p:par>
                        <p:par>
                          <p:cTn id="24" fill="hold">
                            <p:stCondLst>
                              <p:cond delay="2820"/>
                            </p:stCondLst>
                            <p:childTnLst>
                              <p:par>
                                <p:cTn xmlns:p="http://schemas.openxmlformats.org/presentationml/2006/main" id="25" presetID="22" presetClass="entr" presetSubtype="4" fill="hold" grpId="0" nodeType="afterEffect">
                                  <p:stCondLst>
                                    <p:cond delay="200"/>
                                  </p:stCondLst>
                                  <p:childTnLst>
                                    <p:set>
                                      <p:cBhvr>
                                        <p:cTn id="26" dur="1" fill="hold">
                                          <p:stCondLst>
                                            <p:cond delay="0"/>
                                          </p:stCondLst>
                                        </p:cTn>
                                        <p:tgtEl>
                                          <p:spTgt spid="61"/>
                                        </p:tgtEl>
                                        <p:attrNameLst>
                                          <p:attrName>style.visibility</p:attrName>
                                        </p:attrNameLst>
                                      </p:cBhvr>
                                      <p:to>
                                        <p:strVal val="visible"/>
                                      </p:to>
                                    </p:set>
                                    <p:animEffect transition="in" filter="wipe(down)">
                                      <p:cBhvr>
                                        <p:cTn id="27" dur="45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pattFill prst="ltUpDiag">
            <a:fgClr>
              <a:schemeClr val="dk1">
                <a:alpha val="10000"/>
              </a:schemeClr>
            </a:fgClr>
            <a:bgClr>
              <a:srgbClr val="FFFFFF"/>
            </a:bgClr>
          </a:pattFill>
          <a:ln>
            <a:noFill/>
          </a:ln>
        </p:spPr>
      </p:sp>
      <p:grpSp>
        <p:nvGrpSpPr>
          <p:cNvPr id="8" name="Group 8"/>
          <p:cNvGrpSpPr/>
          <p:nvPr/>
        </p:nvGrpSpPr>
        <p:grpSpPr>
          <a:xfrm>
            <a:off x="571500" y="533400"/>
            <a:ext cx="5832363" cy="771239"/>
            <a:chOff x="571500" y="533400"/>
            <a:chExt cx="5832363" cy="771239"/>
          </a:xfrm>
        </p:grpSpPr>
        <p:sp>
          <p:nvSpPr>
            <p:cNvPr id="3" name="Rectangle 3"/>
            <p:cNvSpPr/>
            <p:nvPr/>
          </p:nvSpPr>
          <p:spPr>
            <a:xfrm>
              <a:off x="571500" y="533400"/>
              <a:ext cx="133350" cy="647700"/>
            </a:xfrm>
            <a:prstGeom prst="rect">
              <a:avLst/>
            </a:prstGeom>
            <a:solidFill>
              <a:schemeClr val="accent1"/>
            </a:solidFill>
            <a:ln>
              <a:noFill/>
            </a:ln>
          </p:spPr>
        </p:sp>
        <p:sp>
          <p:nvSpPr>
            <p:cNvPr id="4" name="Rectangle 4"/>
            <p:cNvSpPr/>
            <p:nvPr/>
          </p:nvSpPr>
          <p:spPr>
            <a:xfrm>
              <a:off x="600075" y="561975"/>
              <a:ext cx="133350" cy="647700"/>
            </a:xfrm>
            <a:prstGeom prst="rect">
              <a:avLst/>
            </a:prstGeom>
            <a:solidFill>
              <a:schemeClr val="accent2">
                <a:alpha val="70000"/>
              </a:schemeClr>
            </a:solidFill>
            <a:ln>
              <a:noFill/>
            </a:ln>
          </p:spPr>
        </p:sp>
        <p:sp>
          <p:nvSpPr>
            <p:cNvPr id="5" name="Rectangle 5"/>
            <p:cNvSpPr/>
            <p:nvPr/>
          </p:nvSpPr>
          <p:spPr>
            <a:xfrm>
              <a:off x="571500" y="533400"/>
              <a:ext cx="133350" cy="647700"/>
            </a:xfrm>
            <a:prstGeom prst="rect">
              <a:avLst/>
            </a:prstGeom>
            <a:solidFill>
              <a:schemeClr val="accent1"/>
            </a:solidFill>
            <a:ln>
              <a:noFill/>
            </a:ln>
          </p:spPr>
        </p:sp>
        <p:sp>
          <p:nvSpPr>
            <p:cNvPr id="6" name="TextBox 6"/>
            <p:cNvSpPr txBox="1"/>
            <p:nvPr/>
          </p:nvSpPr>
          <p:spPr>
            <a:xfrm>
              <a:off x="858012" y="544830"/>
              <a:ext cx="5454358" cy="704088"/>
            </a:xfrm>
            <a:prstGeom prst="rect">
              <a:avLst/>
            </a:prstGeom>
            <a:noFill/>
            <a:ln>
              <a:noFill/>
            </a:ln>
          </p:spPr>
          <p:txBody>
            <a:bodyPr wrap="none" lIns="0" tIns="0" rIns="0" bIns="0" anchor="t" anchorCtr="0">
              <a:spAutoFit/>
            </a:bodyPr>
            <a:lstStyle/>
            <a:p>
              <a:pPr algn="l"/>
              <a:r>
                <a:rPr lang="zh-CN" sz="3600" spc="-75" dirty="0">
                  <a:solidFill>
                    <a:schemeClr val="dk1"/>
                  </a:solidFill>
                  <a:latin typeface="+mj-lt"/>
                  <a:ea typeface="+mj-ea"/>
                  <a:cs typeface="+mj-cs"/>
                </a:rPr>
                <a:t>你能填的东西 ＞ 6 种内容</a:t>
              </a:r>
            </a:p>
          </p:txBody>
        </p:sp>
        <p:sp>
          <p:nvSpPr>
            <p:cNvPr id="7" name="TextBox 7"/>
            <p:cNvSpPr txBox="1"/>
            <p:nvPr/>
          </p:nvSpPr>
          <p:spPr>
            <a:xfrm>
              <a:off x="871347" y="1113949"/>
              <a:ext cx="5532516" cy="190690"/>
            </a:xfrm>
            <a:prstGeom prst="rect">
              <a:avLst/>
            </a:prstGeom>
            <a:noFill/>
            <a:ln>
              <a:noFill/>
            </a:ln>
          </p:spPr>
          <p:txBody>
            <a:bodyPr wrap="none" lIns="0" tIns="0" rIns="0" bIns="0" anchor="t" anchorCtr="0">
              <a:spAutoFit/>
            </a:bodyPr>
            <a:lstStyle/>
            <a:p>
              <a:pPr algn="l"/>
              <a:r>
                <a:rPr lang="zh-CN" sz="980" spc="225" dirty="0">
                  <a:solidFill>
                    <a:schemeClr val="dk2"/>
                  </a:solidFill>
                  <a:latin typeface="Consolas"/>
                  <a:ea typeface="Consolas"/>
                  <a:cs typeface="Consolas"/>
                </a:rPr>
                <a:t>SIX CONTENT TYPES · THERE ARE NO MISTAKES · JUST WHIMS</a:t>
              </a:r>
            </a:p>
          </p:txBody>
        </p:sp>
      </p:grpSp>
      <p:sp>
        <p:nvSpPr>
          <p:cNvPr id="9" name="Line 9"/>
          <p:cNvSpPr/>
          <p:nvPr/>
        </p:nvSpPr>
        <p:spPr>
          <a:xfrm>
            <a:off x="571500" y="1447800"/>
            <a:ext cx="11049000" cy="9525"/>
          </a:xfrm>
          <a:custGeom>
            <a:avLst/>
            <a:gdLst/>
            <a:ahLst/>
            <a:cxnLst/>
            <a:rect l="l" t="t" r="r" b="b"/>
            <a:pathLst>
              <a:path w="11049000" h="9525">
                <a:moveTo>
                  <a:pt x="0" y="0"/>
                </a:moveTo>
                <a:lnTo>
                  <a:pt x="11049000" y="0"/>
                </a:lnTo>
              </a:path>
            </a:pathLst>
          </a:custGeom>
          <a:noFill/>
          <a:ln w="28575">
            <a:solidFill>
              <a:schemeClr val="accent4"/>
            </a:solidFill>
          </a:ln>
        </p:spPr>
      </p:sp>
      <p:grpSp>
        <p:nvGrpSpPr>
          <p:cNvPr id="23" name="Group 23"/>
          <p:cNvGrpSpPr/>
          <p:nvPr/>
        </p:nvGrpSpPr>
        <p:grpSpPr>
          <a:xfrm>
            <a:off x="571500" y="1714500"/>
            <a:ext cx="3648075" cy="2314575"/>
            <a:chOff x="571500" y="1714500"/>
            <a:chExt cx="3648075" cy="2314575"/>
          </a:xfrm>
        </p:grpSpPr>
        <p:sp>
          <p:nvSpPr>
            <p:cNvPr id="10" name="Rectangle 10"/>
            <p:cNvSpPr/>
            <p:nvPr/>
          </p:nvSpPr>
          <p:spPr>
            <a:xfrm>
              <a:off x="571500" y="1714500"/>
              <a:ext cx="3619500" cy="2286000"/>
            </a:xfrm>
            <a:prstGeom prst="rect">
              <a:avLst/>
            </a:prstGeom>
            <a:solidFill>
              <a:schemeClr val="accent1"/>
            </a:solidFill>
            <a:ln>
              <a:noFill/>
            </a:ln>
          </p:spPr>
        </p:sp>
        <p:sp>
          <p:nvSpPr>
            <p:cNvPr id="11" name="Rectangle 11"/>
            <p:cNvSpPr/>
            <p:nvPr/>
          </p:nvSpPr>
          <p:spPr>
            <a:xfrm>
              <a:off x="600075" y="1743075"/>
              <a:ext cx="3619500" cy="2286000"/>
            </a:xfrm>
            <a:prstGeom prst="rect">
              <a:avLst/>
            </a:prstGeom>
            <a:solidFill>
              <a:schemeClr val="accent2">
                <a:alpha val="55000"/>
              </a:schemeClr>
            </a:solidFill>
            <a:ln>
              <a:noFill/>
            </a:ln>
          </p:spPr>
        </p:sp>
        <p:sp>
          <p:nvSpPr>
            <p:cNvPr id="12" name="Rectangle 12"/>
            <p:cNvSpPr/>
            <p:nvPr/>
          </p:nvSpPr>
          <p:spPr>
            <a:xfrm>
              <a:off x="571500" y="1714500"/>
              <a:ext cx="3619500" cy="2286000"/>
            </a:xfrm>
            <a:prstGeom prst="rect">
              <a:avLst/>
            </a:prstGeom>
            <a:solidFill>
              <a:schemeClr val="accent1"/>
            </a:solidFill>
            <a:ln>
              <a:noFill/>
            </a:ln>
          </p:spPr>
        </p:sp>
        <p:sp>
          <p:nvSpPr>
            <p:cNvPr id="13" name="TextBox 13"/>
            <p:cNvSpPr txBox="1"/>
            <p:nvPr/>
          </p:nvSpPr>
          <p:spPr>
            <a:xfrm>
              <a:off x="3380765" y="1796415"/>
              <a:ext cx="522199" cy="645414"/>
            </a:xfrm>
            <a:prstGeom prst="rect">
              <a:avLst/>
            </a:prstGeom>
            <a:noFill/>
            <a:ln>
              <a:noFill/>
            </a:ln>
          </p:spPr>
          <p:txBody>
            <a:bodyPr wrap="none" lIns="0" tIns="0" rIns="0" bIns="0" anchor="t" anchorCtr="0">
              <a:spAutoFit/>
            </a:bodyPr>
            <a:lstStyle/>
            <a:p>
              <a:pPr algn="r"/>
              <a:r>
                <a:rPr lang="zh-CN" sz="3300" dirty="0">
                  <a:solidFill>
                    <a:schemeClr val="accent2"/>
                  </a:solidFill>
                  <a:latin typeface="+mj-lt"/>
                  <a:ea typeface="+mj-ea"/>
                  <a:cs typeface="+mj-cs"/>
                </a:rPr>
                <a:t>01</a:t>
              </a:r>
            </a:p>
          </p:txBody>
        </p:sp>
        <p:grpSp>
          <p:nvGrpSpPr>
            <p:cNvPr id="16" name="Group 16"/>
            <p:cNvGrpSpPr/>
            <p:nvPr/>
          </p:nvGrpSpPr>
          <p:grpSpPr>
            <a:xfrm>
              <a:off x="852488" y="1905000"/>
              <a:ext cx="500062" cy="500063"/>
              <a:chOff x="852488" y="1905000"/>
              <a:chExt cx="500062" cy="500063"/>
            </a:xfrm>
          </p:grpSpPr>
          <p:sp>
            <p:nvSpPr>
              <p:cNvPr id="14" name="Freeform 14"/>
              <p:cNvSpPr/>
              <p:nvPr/>
            </p:nvSpPr>
            <p:spPr>
              <a:xfrm>
                <a:off x="852488" y="2028586"/>
                <a:ext cx="376477" cy="376477"/>
              </a:xfrm>
              <a:custGeom>
                <a:avLst/>
                <a:gdLst/>
                <a:ahLst/>
                <a:cxnLst/>
                <a:rect l="l" t="t" r="r" b="b"/>
                <a:pathLst>
                  <a:path w="376477" h="376477">
                    <a:moveTo>
                      <a:pt x="243127" y="0"/>
                    </a:moveTo>
                    <a:lnTo>
                      <a:pt x="0" y="243127"/>
                    </a:lnTo>
                    <a:lnTo>
                      <a:pt x="0" y="376477"/>
                    </a:lnTo>
                    <a:lnTo>
                      <a:pt x="133350" y="376477"/>
                    </a:lnTo>
                    <a:lnTo>
                      <a:pt x="376477" y="133350"/>
                    </a:lnTo>
                    <a:lnTo>
                      <a:pt x="243127" y="0"/>
                    </a:lnTo>
                    <a:close/>
                  </a:path>
                </a:pathLst>
              </a:custGeom>
              <a:solidFill>
                <a:schemeClr val="lt1"/>
              </a:solidFill>
              <a:ln>
                <a:noFill/>
              </a:ln>
            </p:spPr>
          </p:sp>
          <p:sp>
            <p:nvSpPr>
              <p:cNvPr id="15" name="Freeform 15"/>
              <p:cNvSpPr/>
              <p:nvPr/>
            </p:nvSpPr>
            <p:spPr>
              <a:xfrm>
                <a:off x="1142761" y="1905000"/>
                <a:ext cx="209789" cy="209789"/>
              </a:xfrm>
              <a:custGeom>
                <a:avLst/>
                <a:gdLst/>
                <a:ahLst/>
                <a:cxnLst/>
                <a:rect l="l" t="t" r="r" b="b"/>
                <a:pathLst>
                  <a:path w="209789" h="209789">
                    <a:moveTo>
                      <a:pt x="0" y="76439"/>
                    </a:moveTo>
                    <a:lnTo>
                      <a:pt x="133350" y="209789"/>
                    </a:lnTo>
                    <a:lnTo>
                      <a:pt x="182172" y="160968"/>
                    </a:lnTo>
                    <a:cubicBezTo>
                      <a:pt x="199855" y="143284"/>
                      <a:pt x="209789" y="119301"/>
                      <a:pt x="209789" y="94293"/>
                    </a:cubicBezTo>
                    <a:cubicBezTo>
                      <a:pt x="209789" y="42216"/>
                      <a:pt x="167574" y="0"/>
                      <a:pt x="115497" y="0"/>
                    </a:cubicBezTo>
                    <a:cubicBezTo>
                      <a:pt x="90488" y="0"/>
                      <a:pt x="66505" y="9934"/>
                      <a:pt x="48822" y="27618"/>
                    </a:cubicBezTo>
                    <a:lnTo>
                      <a:pt x="0" y="76439"/>
                    </a:lnTo>
                    <a:close/>
                  </a:path>
                </a:pathLst>
              </a:custGeom>
              <a:solidFill>
                <a:schemeClr val="lt1"/>
              </a:solidFill>
              <a:ln>
                <a:noFill/>
              </a:ln>
            </p:spPr>
          </p:sp>
        </p:grpSp>
        <p:sp>
          <p:nvSpPr>
            <p:cNvPr id="17" name="TextBox 17"/>
            <p:cNvSpPr txBox="1"/>
            <p:nvPr/>
          </p:nvSpPr>
          <p:spPr>
            <a:xfrm>
              <a:off x="810768" y="2622232"/>
              <a:ext cx="1173470" cy="322707"/>
            </a:xfrm>
            <a:prstGeom prst="rect">
              <a:avLst/>
            </a:prstGeom>
            <a:noFill/>
            <a:ln>
              <a:noFill/>
            </a:ln>
          </p:spPr>
          <p:txBody>
            <a:bodyPr wrap="none" lIns="0" tIns="0" rIns="0" bIns="0" anchor="t" anchorCtr="0">
              <a:spAutoFit/>
            </a:bodyPr>
            <a:lstStyle/>
            <a:p>
              <a:pPr algn="l"/>
              <a:r>
                <a:rPr lang="zh-CN" sz="1650" b="1" dirty="0">
                  <a:solidFill>
                    <a:srgbClr val="F5EFE0"/>
                  </a:solidFill>
                  <a:latin typeface="+mn-lt"/>
                  <a:ea typeface="+mn-ea"/>
                  <a:cs typeface="+mn-cs"/>
                </a:rPr>
                <a:t>草图 / 漫画</a:t>
              </a:r>
            </a:p>
          </p:txBody>
        </p:sp>
        <p:sp>
          <p:nvSpPr>
            <p:cNvPr id="18" name="TextBox 18"/>
            <p:cNvSpPr txBox="1"/>
            <p:nvPr/>
          </p:nvSpPr>
          <p:spPr>
            <a:xfrm>
              <a:off x="814388" y="2958941"/>
              <a:ext cx="1793072" cy="161925"/>
            </a:xfrm>
            <a:prstGeom prst="rect">
              <a:avLst/>
            </a:prstGeom>
            <a:noFill/>
            <a:ln>
              <a:noFill/>
            </a:ln>
          </p:spPr>
          <p:txBody>
            <a:bodyPr wrap="none" lIns="0" tIns="0" rIns="0" bIns="0" anchor="t" anchorCtr="0">
              <a:spAutoFit/>
            </a:bodyPr>
            <a:lstStyle/>
            <a:p>
              <a:pPr algn="l"/>
              <a:r>
                <a:rPr lang="zh-CN" sz="820" spc="150" dirty="0">
                  <a:solidFill>
                    <a:schemeClr val="accent2"/>
                  </a:solidFill>
                  <a:latin typeface="Consolas"/>
                  <a:ea typeface="Consolas"/>
                  <a:cs typeface="Consolas"/>
                </a:rPr>
                <a:t>SKETCHES &amp; MINI-COMICS</a:t>
              </a:r>
            </a:p>
          </p:txBody>
        </p:sp>
        <p:sp>
          <p:nvSpPr>
            <p:cNvPr id="19" name="Line 19"/>
            <p:cNvSpPr/>
            <p:nvPr/>
          </p:nvSpPr>
          <p:spPr>
            <a:xfrm>
              <a:off x="819150" y="3162300"/>
              <a:ext cx="1085850" cy="9525"/>
            </a:xfrm>
            <a:custGeom>
              <a:avLst/>
              <a:gdLst/>
              <a:ahLst/>
              <a:cxnLst/>
              <a:rect l="l" t="t" r="r" b="b"/>
              <a:pathLst>
                <a:path w="1085850" h="9525">
                  <a:moveTo>
                    <a:pt x="0" y="0"/>
                  </a:moveTo>
                  <a:lnTo>
                    <a:pt x="1085850" y="0"/>
                  </a:lnTo>
                </a:path>
              </a:pathLst>
            </a:custGeom>
            <a:noFill/>
            <a:ln w="19050">
              <a:solidFill>
                <a:srgbClr val="F5EFE0"/>
              </a:solidFill>
            </a:ln>
          </p:spPr>
        </p:sp>
        <p:sp>
          <p:nvSpPr>
            <p:cNvPr id="20" name="TextBox 20"/>
            <p:cNvSpPr txBox="1"/>
            <p:nvPr/>
          </p:nvSpPr>
          <p:spPr>
            <a:xfrm>
              <a:off x="813816" y="3315652"/>
              <a:ext cx="1685677" cy="205359"/>
            </a:xfrm>
            <a:prstGeom prst="rect">
              <a:avLst/>
            </a:prstGeom>
            <a:noFill/>
            <a:ln>
              <a:noFill/>
            </a:ln>
          </p:spPr>
          <p:txBody>
            <a:bodyPr wrap="none" lIns="0" tIns="0" rIns="0" bIns="0" anchor="t" anchorCtr="0">
              <a:spAutoFit/>
            </a:bodyPr>
            <a:lstStyle/>
            <a:p>
              <a:pPr algn="l"/>
              <a:r>
                <a:rPr lang="zh-CN" sz="1050" dirty="0">
                  <a:solidFill>
                    <a:srgbClr val="F5EFE0"/>
                  </a:solidFill>
                  <a:latin typeface="+mn-lt"/>
                  <a:ea typeface="+mn-ea"/>
                  <a:cs typeface="+mn-cs"/>
                </a:rPr>
                <a:t>涂鸦、4 格漫画、手绘日记</a:t>
              </a:r>
            </a:p>
          </p:txBody>
        </p:sp>
        <p:sp>
          <p:nvSpPr>
            <p:cNvPr id="21" name="TextBox 21"/>
            <p:cNvSpPr txBox="1"/>
            <p:nvPr/>
          </p:nvSpPr>
          <p:spPr>
            <a:xfrm>
              <a:off x="813816" y="3525202"/>
              <a:ext cx="1424178" cy="205359"/>
            </a:xfrm>
            <a:prstGeom prst="rect">
              <a:avLst/>
            </a:prstGeom>
            <a:noFill/>
            <a:ln>
              <a:noFill/>
            </a:ln>
          </p:spPr>
          <p:txBody>
            <a:bodyPr wrap="none" lIns="0" tIns="0" rIns="0" bIns="0" anchor="t" anchorCtr="0">
              <a:spAutoFit/>
            </a:bodyPr>
            <a:lstStyle/>
            <a:p>
              <a:pPr algn="l"/>
              <a:r>
                <a:rPr lang="zh-CN" sz="1050" dirty="0">
                  <a:solidFill>
                    <a:srgbClr val="F5EFE0"/>
                  </a:solidFill>
                  <a:latin typeface="+mn-lt"/>
                  <a:ea typeface="+mn-ea"/>
                  <a:cs typeface="+mn-cs"/>
                </a:rPr>
                <a:t>字丑也行，构图弱也行</a:t>
              </a:r>
            </a:p>
          </p:txBody>
        </p:sp>
        <p:sp>
          <p:nvSpPr>
            <p:cNvPr id="22" name="TextBox 22"/>
            <p:cNvSpPr txBox="1"/>
            <p:nvPr/>
          </p:nvSpPr>
          <p:spPr>
            <a:xfrm>
              <a:off x="813816" y="3734752"/>
              <a:ext cx="1029455" cy="205359"/>
            </a:xfrm>
            <a:prstGeom prst="rect">
              <a:avLst/>
            </a:prstGeom>
            <a:noFill/>
            <a:ln>
              <a:noFill/>
            </a:ln>
          </p:spPr>
          <p:txBody>
            <a:bodyPr wrap="none" lIns="0" tIns="0" rIns="0" bIns="0" anchor="t" anchorCtr="0">
              <a:spAutoFit/>
            </a:bodyPr>
            <a:lstStyle/>
            <a:p>
              <a:pPr algn="l"/>
              <a:r>
                <a:rPr lang="zh-CN" sz="1050" b="1" dirty="0">
                  <a:solidFill>
                    <a:schemeClr val="accent2"/>
                  </a:solidFill>
                  <a:latin typeface="+mn-lt"/>
                  <a:ea typeface="+mn-ea"/>
                  <a:cs typeface="+mn-cs"/>
                </a:rPr>
                <a:t>画得不像 = 风格</a:t>
              </a:r>
            </a:p>
          </p:txBody>
        </p:sp>
      </p:grpSp>
      <p:grpSp>
        <p:nvGrpSpPr>
          <p:cNvPr id="35" name="Group 35"/>
          <p:cNvGrpSpPr/>
          <p:nvPr/>
        </p:nvGrpSpPr>
        <p:grpSpPr>
          <a:xfrm>
            <a:off x="4286250" y="1714500"/>
            <a:ext cx="3648075" cy="2314575"/>
            <a:chOff x="4286250" y="1714500"/>
            <a:chExt cx="3648075" cy="2314575"/>
          </a:xfrm>
        </p:grpSpPr>
        <p:sp>
          <p:nvSpPr>
            <p:cNvPr id="24" name="Rectangle 24"/>
            <p:cNvSpPr/>
            <p:nvPr/>
          </p:nvSpPr>
          <p:spPr>
            <a:xfrm>
              <a:off x="4286250" y="1714500"/>
              <a:ext cx="3619500" cy="2286000"/>
            </a:xfrm>
            <a:prstGeom prst="rect">
              <a:avLst/>
            </a:prstGeom>
            <a:solidFill>
              <a:schemeClr val="accent2"/>
            </a:solidFill>
            <a:ln>
              <a:noFill/>
            </a:ln>
          </p:spPr>
        </p:sp>
        <p:sp>
          <p:nvSpPr>
            <p:cNvPr id="25" name="Rectangle 25"/>
            <p:cNvSpPr/>
            <p:nvPr/>
          </p:nvSpPr>
          <p:spPr>
            <a:xfrm>
              <a:off x="4314825" y="1743075"/>
              <a:ext cx="3619500" cy="2286000"/>
            </a:xfrm>
            <a:prstGeom prst="rect">
              <a:avLst/>
            </a:prstGeom>
            <a:solidFill>
              <a:schemeClr val="accent1">
                <a:alpha val="55000"/>
              </a:schemeClr>
            </a:solidFill>
            <a:ln>
              <a:noFill/>
            </a:ln>
          </p:spPr>
        </p:sp>
        <p:sp>
          <p:nvSpPr>
            <p:cNvPr id="26" name="Rectangle 26"/>
            <p:cNvSpPr/>
            <p:nvPr/>
          </p:nvSpPr>
          <p:spPr>
            <a:xfrm>
              <a:off x="4286250" y="1714500"/>
              <a:ext cx="3619500" cy="2286000"/>
            </a:xfrm>
            <a:prstGeom prst="rect">
              <a:avLst/>
            </a:prstGeom>
            <a:solidFill>
              <a:schemeClr val="accent2"/>
            </a:solidFill>
            <a:ln>
              <a:noFill/>
            </a:ln>
          </p:spPr>
        </p:sp>
        <p:sp>
          <p:nvSpPr>
            <p:cNvPr id="27" name="TextBox 27"/>
            <p:cNvSpPr txBox="1"/>
            <p:nvPr/>
          </p:nvSpPr>
          <p:spPr>
            <a:xfrm>
              <a:off x="7095515" y="1796415"/>
              <a:ext cx="522199" cy="645414"/>
            </a:xfrm>
            <a:prstGeom prst="rect">
              <a:avLst/>
            </a:prstGeom>
            <a:noFill/>
            <a:ln>
              <a:noFill/>
            </a:ln>
          </p:spPr>
          <p:txBody>
            <a:bodyPr wrap="none" lIns="0" tIns="0" rIns="0" bIns="0" anchor="t" anchorCtr="0">
              <a:spAutoFit/>
            </a:bodyPr>
            <a:lstStyle/>
            <a:p>
              <a:pPr algn="r"/>
              <a:r>
                <a:rPr lang="zh-CN" sz="3300" dirty="0">
                  <a:solidFill>
                    <a:srgbClr val="F5EFE0"/>
                  </a:solidFill>
                  <a:latin typeface="+mj-lt"/>
                  <a:ea typeface="+mj-ea"/>
                  <a:cs typeface="+mj-cs"/>
                </a:rPr>
                <a:t>02</a:t>
              </a:r>
            </a:p>
          </p:txBody>
        </p:sp>
        <p:sp>
          <p:nvSpPr>
            <p:cNvPr id="28" name="Freeform 28"/>
            <p:cNvSpPr/>
            <p:nvPr/>
          </p:nvSpPr>
          <p:spPr>
            <a:xfrm>
              <a:off x="4533900" y="1905000"/>
              <a:ext cx="533400" cy="533400"/>
            </a:xfrm>
            <a:custGeom>
              <a:avLst/>
              <a:gdLst/>
              <a:ahLst/>
              <a:cxnLst/>
              <a:rect l="l" t="t" r="r" b="b"/>
              <a:pathLst>
                <a:path w="533400" h="533400">
                  <a:moveTo>
                    <a:pt x="366712" y="0"/>
                  </a:moveTo>
                  <a:lnTo>
                    <a:pt x="533400" y="166688"/>
                  </a:lnTo>
                  <a:lnTo>
                    <a:pt x="466725" y="233362"/>
                  </a:lnTo>
                  <a:lnTo>
                    <a:pt x="466725" y="400050"/>
                  </a:lnTo>
                  <a:lnTo>
                    <a:pt x="100012" y="533400"/>
                  </a:lnTo>
                  <a:lnTo>
                    <a:pt x="73580" y="506967"/>
                  </a:lnTo>
                  <a:lnTo>
                    <a:pt x="216092" y="364456"/>
                  </a:lnTo>
                  <a:cubicBezTo>
                    <a:pt x="221600" y="365926"/>
                    <a:pt x="227390" y="366712"/>
                    <a:pt x="233362" y="366712"/>
                  </a:cubicBezTo>
                  <a:cubicBezTo>
                    <a:pt x="270186" y="366712"/>
                    <a:pt x="300038" y="336862"/>
                    <a:pt x="300038" y="300038"/>
                  </a:cubicBezTo>
                  <a:cubicBezTo>
                    <a:pt x="300038" y="263214"/>
                    <a:pt x="270186" y="233362"/>
                    <a:pt x="233362" y="233362"/>
                  </a:cubicBezTo>
                  <a:cubicBezTo>
                    <a:pt x="196539" y="233362"/>
                    <a:pt x="166688" y="263214"/>
                    <a:pt x="166688" y="300038"/>
                  </a:cubicBezTo>
                  <a:cubicBezTo>
                    <a:pt x="166688" y="306010"/>
                    <a:pt x="167473" y="311800"/>
                    <a:pt x="168946" y="317308"/>
                  </a:cubicBezTo>
                  <a:lnTo>
                    <a:pt x="26433" y="459821"/>
                  </a:lnTo>
                  <a:lnTo>
                    <a:pt x="0" y="433388"/>
                  </a:lnTo>
                  <a:lnTo>
                    <a:pt x="133350" y="66675"/>
                  </a:lnTo>
                  <a:lnTo>
                    <a:pt x="300038" y="66675"/>
                  </a:lnTo>
                  <a:lnTo>
                    <a:pt x="366712" y="0"/>
                  </a:lnTo>
                  <a:close/>
                </a:path>
              </a:pathLst>
            </a:custGeom>
            <a:solidFill>
              <a:schemeClr val="dk1"/>
            </a:solidFill>
            <a:ln>
              <a:noFill/>
            </a:ln>
          </p:spPr>
        </p:sp>
        <p:sp>
          <p:nvSpPr>
            <p:cNvPr id="29" name="TextBox 29"/>
            <p:cNvSpPr txBox="1"/>
            <p:nvPr/>
          </p:nvSpPr>
          <p:spPr>
            <a:xfrm>
              <a:off x="4525518" y="2622232"/>
              <a:ext cx="1663806"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mn-lt"/>
                  <a:ea typeface="+mn-ea"/>
                  <a:cs typeface="+mn-cs"/>
                </a:rPr>
                <a:t>诗 / 宣言 / 短文</a:t>
              </a:r>
            </a:p>
          </p:txBody>
        </p:sp>
        <p:sp>
          <p:nvSpPr>
            <p:cNvPr id="30" name="TextBox 30"/>
            <p:cNvSpPr txBox="1"/>
            <p:nvPr/>
          </p:nvSpPr>
          <p:spPr>
            <a:xfrm>
              <a:off x="4529138" y="2958941"/>
              <a:ext cx="1594932" cy="161925"/>
            </a:xfrm>
            <a:prstGeom prst="rect">
              <a:avLst/>
            </a:prstGeom>
            <a:noFill/>
            <a:ln>
              <a:noFill/>
            </a:ln>
          </p:spPr>
          <p:txBody>
            <a:bodyPr wrap="none" lIns="0" tIns="0" rIns="0" bIns="0" anchor="t" anchorCtr="0">
              <a:spAutoFit/>
            </a:bodyPr>
            <a:lstStyle/>
            <a:p>
              <a:pPr algn="l"/>
              <a:r>
                <a:rPr lang="zh-CN" sz="820" spc="150" dirty="0">
                  <a:solidFill>
                    <a:schemeClr val="accent1"/>
                  </a:solidFill>
                  <a:latin typeface="Consolas"/>
                  <a:ea typeface="Consolas"/>
                  <a:cs typeface="Consolas"/>
                </a:rPr>
                <a:t>POETRY &amp; MANIFESTOS</a:t>
              </a:r>
            </a:p>
          </p:txBody>
        </p:sp>
        <p:sp>
          <p:nvSpPr>
            <p:cNvPr id="31" name="Line 31"/>
            <p:cNvSpPr/>
            <p:nvPr/>
          </p:nvSpPr>
          <p:spPr>
            <a:xfrm>
              <a:off x="4533900" y="3162300"/>
              <a:ext cx="1085850" cy="9525"/>
            </a:xfrm>
            <a:custGeom>
              <a:avLst/>
              <a:gdLst/>
              <a:ahLst/>
              <a:cxnLst/>
              <a:rect l="l" t="t" r="r" b="b"/>
              <a:pathLst>
                <a:path w="1085850" h="9525">
                  <a:moveTo>
                    <a:pt x="0" y="0"/>
                  </a:moveTo>
                  <a:lnTo>
                    <a:pt x="1085850" y="0"/>
                  </a:lnTo>
                </a:path>
              </a:pathLst>
            </a:custGeom>
            <a:noFill/>
            <a:ln w="19050">
              <a:solidFill>
                <a:schemeClr val="accent4"/>
              </a:solidFill>
            </a:ln>
          </p:spPr>
        </p:sp>
        <p:sp>
          <p:nvSpPr>
            <p:cNvPr id="32" name="TextBox 32"/>
            <p:cNvSpPr txBox="1"/>
            <p:nvPr/>
          </p:nvSpPr>
          <p:spPr>
            <a:xfrm>
              <a:off x="4528566" y="3315652"/>
              <a:ext cx="1982514" cy="205359"/>
            </a:xfrm>
            <a:prstGeom prst="rect">
              <a:avLst/>
            </a:prstGeom>
            <a:noFill/>
            <a:ln>
              <a:noFill/>
            </a:ln>
          </p:spPr>
          <p:txBody>
            <a:bodyPr wrap="none" lIns="0" tIns="0" rIns="0" bIns="0" anchor="t" anchorCtr="0">
              <a:spAutoFit/>
            </a:bodyPr>
            <a:lstStyle/>
            <a:p>
              <a:pPr algn="l"/>
              <a:r>
                <a:rPr lang="zh-CN" sz="1050" dirty="0">
                  <a:solidFill>
                    <a:schemeClr val="dk1"/>
                  </a:solidFill>
                  <a:latin typeface="+mn-lt"/>
                  <a:ea typeface="+mn-ea"/>
                  <a:cs typeface="+mn-cs"/>
                </a:rPr>
                <a:t>100 字宣言、一句口号、一首诗</a:t>
              </a:r>
            </a:p>
          </p:txBody>
        </p:sp>
        <p:sp>
          <p:nvSpPr>
            <p:cNvPr id="33" name="TextBox 33"/>
            <p:cNvSpPr txBox="1"/>
            <p:nvPr/>
          </p:nvSpPr>
          <p:spPr>
            <a:xfrm>
              <a:off x="4528566" y="3525202"/>
              <a:ext cx="2043922" cy="205359"/>
            </a:xfrm>
            <a:prstGeom prst="rect">
              <a:avLst/>
            </a:prstGeom>
            <a:noFill/>
            <a:ln>
              <a:noFill/>
            </a:ln>
          </p:spPr>
          <p:txBody>
            <a:bodyPr wrap="none" lIns="0" tIns="0" rIns="0" bIns="0" anchor="t" anchorCtr="0">
              <a:spAutoFit/>
            </a:bodyPr>
            <a:lstStyle/>
            <a:p>
              <a:pPr algn="l"/>
              <a:r>
                <a:rPr lang="zh-CN" sz="1050" dirty="0">
                  <a:solidFill>
                    <a:schemeClr val="dk1"/>
                  </a:solidFill>
                  <a:latin typeface="+mn-lt"/>
                  <a:ea typeface="+mn-ea"/>
                  <a:cs typeface="+mn-cs"/>
                </a:rPr>
                <a:t>Riot Grrrl Manifesto 就是范式</a:t>
              </a:r>
            </a:p>
          </p:txBody>
        </p:sp>
        <p:sp>
          <p:nvSpPr>
            <p:cNvPr id="34" name="TextBox 34"/>
            <p:cNvSpPr txBox="1"/>
            <p:nvPr/>
          </p:nvSpPr>
          <p:spPr>
            <a:xfrm>
              <a:off x="4528566" y="3734752"/>
              <a:ext cx="1089176" cy="205359"/>
            </a:xfrm>
            <a:prstGeom prst="rect">
              <a:avLst/>
            </a:prstGeom>
            <a:noFill/>
            <a:ln>
              <a:noFill/>
            </a:ln>
          </p:spPr>
          <p:txBody>
            <a:bodyPr wrap="none" lIns="0" tIns="0" rIns="0" bIns="0" anchor="t" anchorCtr="0">
              <a:spAutoFit/>
            </a:bodyPr>
            <a:lstStyle/>
            <a:p>
              <a:pPr algn="l"/>
              <a:r>
                <a:rPr lang="zh-CN" sz="1050" b="1" dirty="0">
                  <a:solidFill>
                    <a:schemeClr val="accent1"/>
                  </a:solidFill>
                  <a:latin typeface="+mn-lt"/>
                  <a:ea typeface="+mn-ea"/>
                  <a:cs typeface="+mn-cs"/>
                </a:rPr>
                <a:t>短而准 ＞ 长而虚</a:t>
              </a:r>
            </a:p>
          </p:txBody>
        </p:sp>
      </p:grpSp>
      <p:grpSp>
        <p:nvGrpSpPr>
          <p:cNvPr id="49" name="Group 49"/>
          <p:cNvGrpSpPr/>
          <p:nvPr/>
        </p:nvGrpSpPr>
        <p:grpSpPr>
          <a:xfrm>
            <a:off x="8001000" y="1714500"/>
            <a:ext cx="3648075" cy="2314575"/>
            <a:chOff x="8001000" y="1714500"/>
            <a:chExt cx="3648075" cy="2314575"/>
          </a:xfrm>
        </p:grpSpPr>
        <p:sp>
          <p:nvSpPr>
            <p:cNvPr id="36" name="Rectangle 36"/>
            <p:cNvSpPr/>
            <p:nvPr/>
          </p:nvSpPr>
          <p:spPr>
            <a:xfrm>
              <a:off x="8001000" y="1714500"/>
              <a:ext cx="3619500" cy="2286000"/>
            </a:xfrm>
            <a:prstGeom prst="rect">
              <a:avLst/>
            </a:prstGeom>
            <a:solidFill>
              <a:schemeClr val="accent3"/>
            </a:solidFill>
            <a:ln>
              <a:noFill/>
            </a:ln>
          </p:spPr>
        </p:sp>
        <p:sp>
          <p:nvSpPr>
            <p:cNvPr id="37" name="Rectangle 37"/>
            <p:cNvSpPr/>
            <p:nvPr/>
          </p:nvSpPr>
          <p:spPr>
            <a:xfrm>
              <a:off x="8029575" y="1743075"/>
              <a:ext cx="3619500" cy="2286000"/>
            </a:xfrm>
            <a:prstGeom prst="rect">
              <a:avLst/>
            </a:prstGeom>
            <a:solidFill>
              <a:schemeClr val="accent1">
                <a:alpha val="55000"/>
              </a:schemeClr>
            </a:solidFill>
            <a:ln>
              <a:noFill/>
            </a:ln>
          </p:spPr>
        </p:sp>
        <p:sp>
          <p:nvSpPr>
            <p:cNvPr id="38" name="Rectangle 38"/>
            <p:cNvSpPr/>
            <p:nvPr/>
          </p:nvSpPr>
          <p:spPr>
            <a:xfrm>
              <a:off x="8001000" y="1714500"/>
              <a:ext cx="3619500" cy="2286000"/>
            </a:xfrm>
            <a:prstGeom prst="rect">
              <a:avLst/>
            </a:prstGeom>
            <a:solidFill>
              <a:schemeClr val="accent3"/>
            </a:solidFill>
            <a:ln>
              <a:noFill/>
            </a:ln>
          </p:spPr>
        </p:sp>
        <p:sp>
          <p:nvSpPr>
            <p:cNvPr id="39" name="TextBox 39"/>
            <p:cNvSpPr txBox="1"/>
            <p:nvPr/>
          </p:nvSpPr>
          <p:spPr>
            <a:xfrm>
              <a:off x="10810265" y="1796415"/>
              <a:ext cx="522199" cy="645414"/>
            </a:xfrm>
            <a:prstGeom prst="rect">
              <a:avLst/>
            </a:prstGeom>
            <a:noFill/>
            <a:ln>
              <a:noFill/>
            </a:ln>
          </p:spPr>
          <p:txBody>
            <a:bodyPr wrap="none" lIns="0" tIns="0" rIns="0" bIns="0" anchor="t" anchorCtr="0">
              <a:spAutoFit/>
            </a:bodyPr>
            <a:lstStyle/>
            <a:p>
              <a:pPr algn="r"/>
              <a:r>
                <a:rPr lang="zh-CN" sz="3300" dirty="0">
                  <a:solidFill>
                    <a:schemeClr val="dk1"/>
                  </a:solidFill>
                  <a:latin typeface="+mj-lt"/>
                  <a:ea typeface="+mj-ea"/>
                  <a:cs typeface="+mj-cs"/>
                </a:rPr>
                <a:t>03</a:t>
              </a:r>
            </a:p>
          </p:txBody>
        </p:sp>
        <p:grpSp>
          <p:nvGrpSpPr>
            <p:cNvPr id="42" name="Group 42"/>
            <p:cNvGrpSpPr/>
            <p:nvPr/>
          </p:nvGrpSpPr>
          <p:grpSpPr>
            <a:xfrm>
              <a:off x="8281988" y="1938338"/>
              <a:ext cx="466725" cy="466725"/>
              <a:chOff x="8281988" y="1938338"/>
              <a:chExt cx="466725" cy="466725"/>
            </a:xfrm>
          </p:grpSpPr>
          <p:sp>
            <p:nvSpPr>
              <p:cNvPr id="40" name="Freeform 40"/>
              <p:cNvSpPr/>
              <p:nvPr/>
            </p:nvSpPr>
            <p:spPr>
              <a:xfrm>
                <a:off x="8281988" y="1938338"/>
                <a:ext cx="466725" cy="466725"/>
              </a:xfrm>
              <a:custGeom>
                <a:avLst/>
                <a:gdLst/>
                <a:ahLst/>
                <a:cxnLst/>
                <a:rect l="l" t="t" r="r" b="b"/>
                <a:pathLst>
                  <a:path w="466725" h="466725">
                    <a:moveTo>
                      <a:pt x="466725" y="0"/>
                    </a:moveTo>
                    <a:lnTo>
                      <a:pt x="0" y="0"/>
                    </a:lnTo>
                    <a:lnTo>
                      <a:pt x="0" y="466725"/>
                    </a:lnTo>
                    <a:lnTo>
                      <a:pt x="233362" y="466725"/>
                    </a:lnTo>
                    <a:lnTo>
                      <a:pt x="233362" y="233362"/>
                    </a:lnTo>
                    <a:lnTo>
                      <a:pt x="466725" y="233362"/>
                    </a:lnTo>
                    <a:lnTo>
                      <a:pt x="466725" y="0"/>
                    </a:lnTo>
                    <a:close/>
                  </a:path>
                </a:pathLst>
              </a:custGeom>
              <a:solidFill>
                <a:schemeClr val="dk1"/>
              </a:solidFill>
              <a:ln>
                <a:noFill/>
              </a:ln>
            </p:spPr>
          </p:sp>
          <p:sp>
            <p:nvSpPr>
              <p:cNvPr id="41" name="Freeform 41"/>
              <p:cNvSpPr/>
              <p:nvPr/>
            </p:nvSpPr>
            <p:spPr>
              <a:xfrm>
                <a:off x="8582025" y="2238375"/>
                <a:ext cx="166688" cy="166688"/>
              </a:xfrm>
              <a:custGeom>
                <a:avLst/>
                <a:gdLst/>
                <a:ahLst/>
                <a:cxnLst/>
                <a:rect l="l" t="t" r="r" b="b"/>
                <a:pathLst>
                  <a:path w="166688" h="166688">
                    <a:moveTo>
                      <a:pt x="166688" y="0"/>
                    </a:moveTo>
                    <a:lnTo>
                      <a:pt x="0" y="0"/>
                    </a:lnTo>
                    <a:lnTo>
                      <a:pt x="0" y="166688"/>
                    </a:lnTo>
                    <a:lnTo>
                      <a:pt x="33338" y="166688"/>
                    </a:lnTo>
                    <a:lnTo>
                      <a:pt x="166688" y="33338"/>
                    </a:lnTo>
                    <a:lnTo>
                      <a:pt x="166688" y="0"/>
                    </a:lnTo>
                    <a:close/>
                  </a:path>
                </a:pathLst>
              </a:custGeom>
              <a:solidFill>
                <a:schemeClr val="dk1"/>
              </a:solidFill>
              <a:ln>
                <a:noFill/>
              </a:ln>
            </p:spPr>
          </p:sp>
        </p:grpSp>
        <p:sp>
          <p:nvSpPr>
            <p:cNvPr id="43" name="TextBox 43"/>
            <p:cNvSpPr txBox="1"/>
            <p:nvPr/>
          </p:nvSpPr>
          <p:spPr>
            <a:xfrm>
              <a:off x="8240268" y="2622232"/>
              <a:ext cx="1173470"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mn-lt"/>
                  <a:ea typeface="+mn-ea"/>
                  <a:cs typeface="+mn-cs"/>
                </a:rPr>
                <a:t>食谱 + 插图</a:t>
              </a:r>
            </a:p>
          </p:txBody>
        </p:sp>
        <p:sp>
          <p:nvSpPr>
            <p:cNvPr id="44" name="TextBox 44"/>
            <p:cNvSpPr txBox="1"/>
            <p:nvPr/>
          </p:nvSpPr>
          <p:spPr>
            <a:xfrm>
              <a:off x="8243888" y="2958941"/>
              <a:ext cx="1423960" cy="161925"/>
            </a:xfrm>
            <a:prstGeom prst="rect">
              <a:avLst/>
            </a:prstGeom>
            <a:noFill/>
            <a:ln>
              <a:noFill/>
            </a:ln>
          </p:spPr>
          <p:txBody>
            <a:bodyPr wrap="none" lIns="0" tIns="0" rIns="0" bIns="0" anchor="t" anchorCtr="0">
              <a:spAutoFit/>
            </a:bodyPr>
            <a:lstStyle/>
            <a:p>
              <a:pPr algn="l"/>
              <a:r>
                <a:rPr lang="zh-CN" sz="820" spc="150" dirty="0">
                  <a:solidFill>
                    <a:schemeClr val="accent1"/>
                  </a:solidFill>
                  <a:latin typeface="Consolas"/>
                  <a:ea typeface="Consolas"/>
                  <a:cs typeface="Consolas"/>
                </a:rPr>
                <a:t>RECIPES &amp; HOW-TOS</a:t>
              </a:r>
            </a:p>
          </p:txBody>
        </p:sp>
        <p:sp>
          <p:nvSpPr>
            <p:cNvPr id="45" name="Line 45"/>
            <p:cNvSpPr/>
            <p:nvPr/>
          </p:nvSpPr>
          <p:spPr>
            <a:xfrm>
              <a:off x="8248650" y="3162300"/>
              <a:ext cx="1085850" cy="9525"/>
            </a:xfrm>
            <a:custGeom>
              <a:avLst/>
              <a:gdLst/>
              <a:ahLst/>
              <a:cxnLst/>
              <a:rect l="l" t="t" r="r" b="b"/>
              <a:pathLst>
                <a:path w="1085850" h="9525">
                  <a:moveTo>
                    <a:pt x="0" y="0"/>
                  </a:moveTo>
                  <a:lnTo>
                    <a:pt x="1085850" y="0"/>
                  </a:lnTo>
                </a:path>
              </a:pathLst>
            </a:custGeom>
            <a:noFill/>
            <a:ln w="19050">
              <a:solidFill>
                <a:schemeClr val="accent4"/>
              </a:solidFill>
            </a:ln>
          </p:spPr>
        </p:sp>
        <p:sp>
          <p:nvSpPr>
            <p:cNvPr id="46" name="TextBox 46"/>
            <p:cNvSpPr txBox="1"/>
            <p:nvPr/>
          </p:nvSpPr>
          <p:spPr>
            <a:xfrm>
              <a:off x="8243316" y="3315652"/>
              <a:ext cx="1728083" cy="205359"/>
            </a:xfrm>
            <a:prstGeom prst="rect">
              <a:avLst/>
            </a:prstGeom>
            <a:noFill/>
            <a:ln>
              <a:noFill/>
            </a:ln>
          </p:spPr>
          <p:txBody>
            <a:bodyPr wrap="none" lIns="0" tIns="0" rIns="0" bIns="0" anchor="t" anchorCtr="0">
              <a:spAutoFit/>
            </a:bodyPr>
            <a:lstStyle/>
            <a:p>
              <a:pPr algn="l"/>
              <a:r>
                <a:rPr lang="zh-CN" sz="1050" dirty="0">
                  <a:solidFill>
                    <a:schemeClr val="dk1"/>
                  </a:solidFill>
                  <a:latin typeface="+mn-lt"/>
                  <a:ea typeface="+mn-ea"/>
                  <a:cs typeface="+mn-cs"/>
                </a:rPr>
                <a:t>外婆的腌菜配方 + 手绘工具</a:t>
              </a:r>
            </a:p>
          </p:txBody>
        </p:sp>
        <p:sp>
          <p:nvSpPr>
            <p:cNvPr id="47" name="TextBox 47"/>
            <p:cNvSpPr txBox="1"/>
            <p:nvPr/>
          </p:nvSpPr>
          <p:spPr>
            <a:xfrm>
              <a:off x="8243316" y="3525202"/>
              <a:ext cx="1296962" cy="205359"/>
            </a:xfrm>
            <a:prstGeom prst="rect">
              <a:avLst/>
            </a:prstGeom>
            <a:noFill/>
            <a:ln>
              <a:noFill/>
            </a:ln>
          </p:spPr>
          <p:txBody>
            <a:bodyPr wrap="none" lIns="0" tIns="0" rIns="0" bIns="0" anchor="t" anchorCtr="0">
              <a:spAutoFit/>
            </a:bodyPr>
            <a:lstStyle/>
            <a:p>
              <a:pPr algn="l"/>
              <a:r>
                <a:rPr lang="zh-CN" sz="1050" dirty="0">
                  <a:solidFill>
                    <a:schemeClr val="dk1"/>
                  </a:solidFill>
                  <a:latin typeface="+mn-lt"/>
                  <a:ea typeface="+mn-ea"/>
                  <a:cs typeface="+mn-cs"/>
                </a:rPr>
                <a:t>"如何修自行车"教学</a:t>
              </a:r>
            </a:p>
          </p:txBody>
        </p:sp>
        <p:sp>
          <p:nvSpPr>
            <p:cNvPr id="48" name="TextBox 48"/>
            <p:cNvSpPr txBox="1"/>
            <p:nvPr/>
          </p:nvSpPr>
          <p:spPr>
            <a:xfrm>
              <a:off x="8243316" y="3734752"/>
              <a:ext cx="1565529" cy="205359"/>
            </a:xfrm>
            <a:prstGeom prst="rect">
              <a:avLst/>
            </a:prstGeom>
            <a:noFill/>
            <a:ln>
              <a:noFill/>
            </a:ln>
          </p:spPr>
          <p:txBody>
            <a:bodyPr wrap="none" lIns="0" tIns="0" rIns="0" bIns="0" anchor="t" anchorCtr="0">
              <a:spAutoFit/>
            </a:bodyPr>
            <a:lstStyle/>
            <a:p>
              <a:pPr algn="l"/>
              <a:r>
                <a:rPr lang="zh-CN" sz="1050" b="1" dirty="0">
                  <a:solidFill>
                    <a:schemeClr val="accent1"/>
                  </a:solidFill>
                  <a:latin typeface="+mn-lt"/>
                  <a:ea typeface="+mn-ea"/>
                  <a:cs typeface="+mn-cs"/>
                </a:rPr>
                <a:t>日常实用＝最普及的形式</a:t>
              </a:r>
            </a:p>
          </p:txBody>
        </p:sp>
      </p:grpSp>
      <p:grpSp>
        <p:nvGrpSpPr>
          <p:cNvPr id="61" name="Group 61"/>
          <p:cNvGrpSpPr/>
          <p:nvPr/>
        </p:nvGrpSpPr>
        <p:grpSpPr>
          <a:xfrm>
            <a:off x="571500" y="4191000"/>
            <a:ext cx="3648075" cy="2314575"/>
            <a:chOff x="571500" y="4191000"/>
            <a:chExt cx="3648075" cy="2314575"/>
          </a:xfrm>
        </p:grpSpPr>
        <p:sp>
          <p:nvSpPr>
            <p:cNvPr id="50" name="Rectangle 50"/>
            <p:cNvSpPr/>
            <p:nvPr/>
          </p:nvSpPr>
          <p:spPr>
            <a:xfrm>
              <a:off x="571500" y="4191000"/>
              <a:ext cx="3619500" cy="2286000"/>
            </a:xfrm>
            <a:prstGeom prst="rect">
              <a:avLst/>
            </a:prstGeom>
            <a:solidFill>
              <a:schemeClr val="dk1"/>
            </a:solidFill>
            <a:ln>
              <a:noFill/>
            </a:ln>
          </p:spPr>
        </p:sp>
        <p:sp>
          <p:nvSpPr>
            <p:cNvPr id="51" name="Rectangle 51"/>
            <p:cNvSpPr/>
            <p:nvPr/>
          </p:nvSpPr>
          <p:spPr>
            <a:xfrm>
              <a:off x="600075" y="4219575"/>
              <a:ext cx="3619500" cy="2286000"/>
            </a:xfrm>
            <a:prstGeom prst="rect">
              <a:avLst/>
            </a:prstGeom>
            <a:solidFill>
              <a:schemeClr val="accent2">
                <a:alpha val="55000"/>
              </a:schemeClr>
            </a:solidFill>
            <a:ln>
              <a:noFill/>
            </a:ln>
          </p:spPr>
        </p:sp>
        <p:sp>
          <p:nvSpPr>
            <p:cNvPr id="52" name="Rectangle 52"/>
            <p:cNvSpPr/>
            <p:nvPr/>
          </p:nvSpPr>
          <p:spPr>
            <a:xfrm>
              <a:off x="571500" y="4191000"/>
              <a:ext cx="3619500" cy="2286000"/>
            </a:xfrm>
            <a:prstGeom prst="rect">
              <a:avLst/>
            </a:prstGeom>
            <a:solidFill>
              <a:schemeClr val="dk1"/>
            </a:solidFill>
            <a:ln>
              <a:noFill/>
            </a:ln>
          </p:spPr>
        </p:sp>
        <p:sp>
          <p:nvSpPr>
            <p:cNvPr id="53" name="TextBox 53"/>
            <p:cNvSpPr txBox="1"/>
            <p:nvPr/>
          </p:nvSpPr>
          <p:spPr>
            <a:xfrm>
              <a:off x="3380765" y="4272915"/>
              <a:ext cx="522199" cy="645414"/>
            </a:xfrm>
            <a:prstGeom prst="rect">
              <a:avLst/>
            </a:prstGeom>
            <a:noFill/>
            <a:ln>
              <a:noFill/>
            </a:ln>
          </p:spPr>
          <p:txBody>
            <a:bodyPr wrap="none" lIns="0" tIns="0" rIns="0" bIns="0" anchor="t" anchorCtr="0">
              <a:spAutoFit/>
            </a:bodyPr>
            <a:lstStyle/>
            <a:p>
              <a:pPr algn="r"/>
              <a:r>
                <a:rPr lang="zh-CN" sz="3300" dirty="0">
                  <a:solidFill>
                    <a:schemeClr val="accent2"/>
                  </a:solidFill>
                  <a:latin typeface="+mj-lt"/>
                  <a:ea typeface="+mj-ea"/>
                  <a:cs typeface="+mj-cs"/>
                </a:rPr>
                <a:t>04</a:t>
              </a:r>
            </a:p>
          </p:txBody>
        </p:sp>
        <p:sp>
          <p:nvSpPr>
            <p:cNvPr id="54" name="Freeform 54"/>
            <p:cNvSpPr/>
            <p:nvPr/>
          </p:nvSpPr>
          <p:spPr>
            <a:xfrm>
              <a:off x="885825" y="4381500"/>
              <a:ext cx="400050" cy="533400"/>
            </a:xfrm>
            <a:custGeom>
              <a:avLst/>
              <a:gdLst/>
              <a:ahLst/>
              <a:cxnLst/>
              <a:rect l="l" t="t" r="r" b="b"/>
              <a:pathLst>
                <a:path w="400050" h="533400">
                  <a:moveTo>
                    <a:pt x="100012" y="0"/>
                  </a:moveTo>
                  <a:cubicBezTo>
                    <a:pt x="44777" y="0"/>
                    <a:pt x="0" y="44777"/>
                    <a:pt x="0" y="100012"/>
                  </a:cubicBezTo>
                  <a:lnTo>
                    <a:pt x="0" y="433388"/>
                  </a:lnTo>
                  <a:cubicBezTo>
                    <a:pt x="0" y="488624"/>
                    <a:pt x="44777" y="533400"/>
                    <a:pt x="100012" y="533400"/>
                  </a:cubicBezTo>
                  <a:lnTo>
                    <a:pt x="400050" y="533400"/>
                  </a:lnTo>
                  <a:lnTo>
                    <a:pt x="400050" y="466725"/>
                  </a:lnTo>
                  <a:lnTo>
                    <a:pt x="66675" y="466725"/>
                  </a:lnTo>
                  <a:lnTo>
                    <a:pt x="66675" y="400050"/>
                  </a:lnTo>
                  <a:lnTo>
                    <a:pt x="400050" y="400050"/>
                  </a:lnTo>
                  <a:lnTo>
                    <a:pt x="400050" y="0"/>
                  </a:lnTo>
                  <a:lnTo>
                    <a:pt x="100012" y="0"/>
                  </a:lnTo>
                  <a:close/>
                </a:path>
              </a:pathLst>
            </a:custGeom>
            <a:solidFill>
              <a:schemeClr val="lt1"/>
            </a:solidFill>
            <a:ln>
              <a:noFill/>
            </a:ln>
          </p:spPr>
        </p:sp>
        <p:sp>
          <p:nvSpPr>
            <p:cNvPr id="55" name="TextBox 55"/>
            <p:cNvSpPr txBox="1"/>
            <p:nvPr/>
          </p:nvSpPr>
          <p:spPr>
            <a:xfrm>
              <a:off x="810768" y="5098732"/>
              <a:ext cx="2061962" cy="322707"/>
            </a:xfrm>
            <a:prstGeom prst="rect">
              <a:avLst/>
            </a:prstGeom>
            <a:noFill/>
            <a:ln>
              <a:noFill/>
            </a:ln>
          </p:spPr>
          <p:txBody>
            <a:bodyPr wrap="none" lIns="0" tIns="0" rIns="0" bIns="0" anchor="t" anchorCtr="0">
              <a:spAutoFit/>
            </a:bodyPr>
            <a:lstStyle/>
            <a:p>
              <a:pPr algn="l"/>
              <a:r>
                <a:rPr lang="zh-CN" sz="1650" b="1" dirty="0">
                  <a:solidFill>
                    <a:srgbClr val="F5EFE0"/>
                  </a:solidFill>
                  <a:latin typeface="+mn-lt"/>
                  <a:ea typeface="+mn-ea"/>
                  <a:cs typeface="+mn-cs"/>
                </a:rPr>
                <a:t>家庭照片 + 私人写作</a:t>
              </a:r>
            </a:p>
          </p:txBody>
        </p:sp>
        <p:sp>
          <p:nvSpPr>
            <p:cNvPr id="56" name="TextBox 56"/>
            <p:cNvSpPr txBox="1"/>
            <p:nvPr/>
          </p:nvSpPr>
          <p:spPr>
            <a:xfrm>
              <a:off x="814388" y="5435441"/>
              <a:ext cx="2072858" cy="161925"/>
            </a:xfrm>
            <a:prstGeom prst="rect">
              <a:avLst/>
            </a:prstGeom>
            <a:noFill/>
            <a:ln>
              <a:noFill/>
            </a:ln>
          </p:spPr>
          <p:txBody>
            <a:bodyPr wrap="none" lIns="0" tIns="0" rIns="0" bIns="0" anchor="t" anchorCtr="0">
              <a:spAutoFit/>
            </a:bodyPr>
            <a:lstStyle/>
            <a:p>
              <a:pPr algn="l"/>
              <a:r>
                <a:rPr lang="zh-CN" sz="820" spc="150" dirty="0">
                  <a:solidFill>
                    <a:schemeClr val="accent2"/>
                  </a:solidFill>
                  <a:latin typeface="Consolas"/>
                  <a:ea typeface="Consolas"/>
                  <a:cs typeface="Consolas"/>
                </a:rPr>
                <a:t>PHOTOS &amp; PERSONAL WRITING</a:t>
              </a:r>
            </a:p>
          </p:txBody>
        </p:sp>
        <p:sp>
          <p:nvSpPr>
            <p:cNvPr id="57" name="Line 57"/>
            <p:cNvSpPr/>
            <p:nvPr/>
          </p:nvSpPr>
          <p:spPr>
            <a:xfrm>
              <a:off x="819150" y="5638800"/>
              <a:ext cx="1085850" cy="9525"/>
            </a:xfrm>
            <a:custGeom>
              <a:avLst/>
              <a:gdLst/>
              <a:ahLst/>
              <a:cxnLst/>
              <a:rect l="l" t="t" r="r" b="b"/>
              <a:pathLst>
                <a:path w="1085850" h="9525">
                  <a:moveTo>
                    <a:pt x="0" y="0"/>
                  </a:moveTo>
                  <a:lnTo>
                    <a:pt x="1085850" y="0"/>
                  </a:lnTo>
                </a:path>
              </a:pathLst>
            </a:custGeom>
            <a:noFill/>
            <a:ln w="19050">
              <a:solidFill>
                <a:srgbClr val="F5EFE0"/>
              </a:solidFill>
            </a:ln>
          </p:spPr>
        </p:sp>
        <p:sp>
          <p:nvSpPr>
            <p:cNvPr id="58" name="TextBox 58"/>
            <p:cNvSpPr txBox="1"/>
            <p:nvPr/>
          </p:nvSpPr>
          <p:spPr>
            <a:xfrm>
              <a:off x="813816" y="5792152"/>
              <a:ext cx="1304030" cy="205359"/>
            </a:xfrm>
            <a:prstGeom prst="rect">
              <a:avLst/>
            </a:prstGeom>
            <a:noFill/>
            <a:ln>
              <a:noFill/>
            </a:ln>
          </p:spPr>
          <p:txBody>
            <a:bodyPr wrap="none" lIns="0" tIns="0" rIns="0" bIns="0" anchor="t" anchorCtr="0">
              <a:spAutoFit/>
            </a:bodyPr>
            <a:lstStyle/>
            <a:p>
              <a:pPr algn="l"/>
              <a:r>
                <a:rPr lang="zh-CN" sz="1050" dirty="0">
                  <a:solidFill>
                    <a:srgbClr val="F5EFE0"/>
                  </a:solidFill>
                  <a:latin typeface="+mn-lt"/>
                  <a:ea typeface="+mn-ea"/>
                  <a:cs typeface="+mn-cs"/>
                </a:rPr>
                <a:t>老照片复印件 + 旁注</a:t>
              </a:r>
            </a:p>
          </p:txBody>
        </p:sp>
        <p:sp>
          <p:nvSpPr>
            <p:cNvPr id="59" name="TextBox 59"/>
            <p:cNvSpPr txBox="1"/>
            <p:nvPr/>
          </p:nvSpPr>
          <p:spPr>
            <a:xfrm>
              <a:off x="813816" y="6001702"/>
              <a:ext cx="1304030" cy="205359"/>
            </a:xfrm>
            <a:prstGeom prst="rect">
              <a:avLst/>
            </a:prstGeom>
            <a:noFill/>
            <a:ln>
              <a:noFill/>
            </a:ln>
          </p:spPr>
          <p:txBody>
            <a:bodyPr wrap="none" lIns="0" tIns="0" rIns="0" bIns="0" anchor="t" anchorCtr="0">
              <a:spAutoFit/>
            </a:bodyPr>
            <a:lstStyle/>
            <a:p>
              <a:pPr algn="l"/>
              <a:r>
                <a:rPr lang="zh-CN" sz="1050" dirty="0">
                  <a:solidFill>
                    <a:srgbClr val="F5EFE0"/>
                  </a:solidFill>
                  <a:latin typeface="+mn-lt"/>
                  <a:ea typeface="+mn-ea"/>
                  <a:cs typeface="+mn-cs"/>
                </a:rPr>
                <a:t>家族故事 / 旅行札记</a:t>
              </a:r>
            </a:p>
          </p:txBody>
        </p:sp>
        <p:sp>
          <p:nvSpPr>
            <p:cNvPr id="60" name="TextBox 60"/>
            <p:cNvSpPr txBox="1"/>
            <p:nvPr/>
          </p:nvSpPr>
          <p:spPr>
            <a:xfrm>
              <a:off x="813816" y="6211252"/>
              <a:ext cx="806474" cy="205359"/>
            </a:xfrm>
            <a:prstGeom prst="rect">
              <a:avLst/>
            </a:prstGeom>
            <a:noFill/>
            <a:ln>
              <a:noFill/>
            </a:ln>
          </p:spPr>
          <p:txBody>
            <a:bodyPr wrap="none" lIns="0" tIns="0" rIns="0" bIns="0" anchor="t" anchorCtr="0">
              <a:spAutoFit/>
            </a:bodyPr>
            <a:lstStyle/>
            <a:p>
              <a:pPr algn="l"/>
              <a:r>
                <a:rPr lang="zh-CN" sz="1050" b="1" dirty="0">
                  <a:solidFill>
                    <a:schemeClr val="accent2"/>
                  </a:solidFill>
                  <a:latin typeface="+mn-lt"/>
                  <a:ea typeface="+mn-ea"/>
                  <a:cs typeface="+mn-cs"/>
                </a:rPr>
                <a:t>主权 ＞ 隐私</a:t>
              </a:r>
            </a:p>
          </p:txBody>
        </p:sp>
      </p:grpSp>
      <p:grpSp>
        <p:nvGrpSpPr>
          <p:cNvPr id="75" name="Group 75"/>
          <p:cNvGrpSpPr/>
          <p:nvPr/>
        </p:nvGrpSpPr>
        <p:grpSpPr>
          <a:xfrm>
            <a:off x="4286250" y="4191000"/>
            <a:ext cx="3648075" cy="2314575"/>
            <a:chOff x="4286250" y="4191000"/>
            <a:chExt cx="3648075" cy="2314575"/>
          </a:xfrm>
        </p:grpSpPr>
        <p:sp>
          <p:nvSpPr>
            <p:cNvPr id="62" name="Rectangle 62"/>
            <p:cNvSpPr/>
            <p:nvPr/>
          </p:nvSpPr>
          <p:spPr>
            <a:xfrm>
              <a:off x="4286250" y="4191000"/>
              <a:ext cx="3619500" cy="2286000"/>
            </a:xfrm>
            <a:prstGeom prst="rect">
              <a:avLst/>
            </a:prstGeom>
            <a:solidFill>
              <a:schemeClr val="accent1"/>
            </a:solidFill>
            <a:ln>
              <a:noFill/>
            </a:ln>
          </p:spPr>
        </p:sp>
        <p:sp>
          <p:nvSpPr>
            <p:cNvPr id="63" name="Rectangle 63"/>
            <p:cNvSpPr/>
            <p:nvPr/>
          </p:nvSpPr>
          <p:spPr>
            <a:xfrm>
              <a:off x="4314825" y="4219575"/>
              <a:ext cx="3619500" cy="2286000"/>
            </a:xfrm>
            <a:prstGeom prst="rect">
              <a:avLst/>
            </a:prstGeom>
            <a:solidFill>
              <a:schemeClr val="accent3">
                <a:alpha val="55000"/>
              </a:schemeClr>
            </a:solidFill>
            <a:ln>
              <a:noFill/>
            </a:ln>
          </p:spPr>
        </p:sp>
        <p:sp>
          <p:nvSpPr>
            <p:cNvPr id="64" name="Rectangle 64"/>
            <p:cNvSpPr/>
            <p:nvPr/>
          </p:nvSpPr>
          <p:spPr>
            <a:xfrm>
              <a:off x="4286250" y="4191000"/>
              <a:ext cx="3619500" cy="2286000"/>
            </a:xfrm>
            <a:prstGeom prst="rect">
              <a:avLst/>
            </a:prstGeom>
            <a:solidFill>
              <a:schemeClr val="accent1"/>
            </a:solidFill>
            <a:ln>
              <a:noFill/>
            </a:ln>
          </p:spPr>
        </p:sp>
        <p:sp>
          <p:nvSpPr>
            <p:cNvPr id="65" name="TextBox 65"/>
            <p:cNvSpPr txBox="1"/>
            <p:nvPr/>
          </p:nvSpPr>
          <p:spPr>
            <a:xfrm>
              <a:off x="7095515" y="4272915"/>
              <a:ext cx="522199" cy="645414"/>
            </a:xfrm>
            <a:prstGeom prst="rect">
              <a:avLst/>
            </a:prstGeom>
            <a:noFill/>
            <a:ln>
              <a:noFill/>
            </a:ln>
          </p:spPr>
          <p:txBody>
            <a:bodyPr wrap="none" lIns="0" tIns="0" rIns="0" bIns="0" anchor="t" anchorCtr="0">
              <a:spAutoFit/>
            </a:bodyPr>
            <a:lstStyle/>
            <a:p>
              <a:pPr algn="r"/>
              <a:r>
                <a:rPr lang="zh-CN" sz="3300" dirty="0">
                  <a:solidFill>
                    <a:schemeClr val="accent3"/>
                  </a:solidFill>
                  <a:latin typeface="+mj-lt"/>
                  <a:ea typeface="+mj-ea"/>
                  <a:cs typeface="+mj-cs"/>
                </a:rPr>
                <a:t>05</a:t>
              </a:r>
            </a:p>
          </p:txBody>
        </p:sp>
        <p:grpSp>
          <p:nvGrpSpPr>
            <p:cNvPr id="68" name="Group 68"/>
            <p:cNvGrpSpPr/>
            <p:nvPr/>
          </p:nvGrpSpPr>
          <p:grpSpPr>
            <a:xfrm>
              <a:off x="4567238" y="4381500"/>
              <a:ext cx="500062" cy="533400"/>
              <a:chOff x="4567238" y="4381500"/>
              <a:chExt cx="500062" cy="533400"/>
            </a:xfrm>
          </p:grpSpPr>
          <p:sp>
            <p:nvSpPr>
              <p:cNvPr id="66" name="Freeform 66"/>
              <p:cNvSpPr/>
              <p:nvPr/>
            </p:nvSpPr>
            <p:spPr>
              <a:xfrm>
                <a:off x="4567238" y="4381500"/>
                <a:ext cx="500062" cy="533400"/>
              </a:xfrm>
              <a:custGeom>
                <a:avLst/>
                <a:gdLst/>
                <a:ahLst/>
                <a:cxnLst/>
                <a:rect l="l" t="t" r="r" b="b"/>
                <a:pathLst>
                  <a:path w="500062" h="533400">
                    <a:moveTo>
                      <a:pt x="170732" y="29293"/>
                    </a:moveTo>
                    <a:cubicBezTo>
                      <a:pt x="204048" y="62609"/>
                      <a:pt x="208946" y="113581"/>
                      <a:pt x="185425" y="152088"/>
                    </a:cubicBezTo>
                    <a:lnTo>
                      <a:pt x="500062" y="466725"/>
                    </a:lnTo>
                    <a:lnTo>
                      <a:pt x="466725" y="500063"/>
                    </a:lnTo>
                    <a:lnTo>
                      <a:pt x="366712" y="500063"/>
                    </a:lnTo>
                    <a:lnTo>
                      <a:pt x="216694" y="350044"/>
                    </a:lnTo>
                    <a:lnTo>
                      <a:pt x="185425" y="381311"/>
                    </a:lnTo>
                    <a:cubicBezTo>
                      <a:pt x="208946" y="419819"/>
                      <a:pt x="204048" y="470792"/>
                      <a:pt x="170732" y="504106"/>
                    </a:cubicBezTo>
                    <a:cubicBezTo>
                      <a:pt x="151204" y="523636"/>
                      <a:pt x="125608" y="533400"/>
                      <a:pt x="100012" y="533400"/>
                    </a:cubicBezTo>
                    <a:lnTo>
                      <a:pt x="94293" y="533400"/>
                    </a:lnTo>
                    <a:cubicBezTo>
                      <a:pt x="42216" y="533400"/>
                      <a:pt x="0" y="491185"/>
                      <a:pt x="0" y="439108"/>
                    </a:cubicBezTo>
                    <a:cubicBezTo>
                      <a:pt x="0" y="414099"/>
                      <a:pt x="9934" y="390116"/>
                      <a:pt x="27618" y="372433"/>
                    </a:cubicBezTo>
                    <a:lnTo>
                      <a:pt x="133350" y="266700"/>
                    </a:lnTo>
                    <a:lnTo>
                      <a:pt x="27618" y="160968"/>
                    </a:lnTo>
                    <a:cubicBezTo>
                      <a:pt x="9934" y="143284"/>
                      <a:pt x="0" y="119301"/>
                      <a:pt x="0" y="94293"/>
                    </a:cubicBezTo>
                    <a:cubicBezTo>
                      <a:pt x="0" y="42216"/>
                      <a:pt x="42216" y="0"/>
                      <a:pt x="94293" y="0"/>
                    </a:cubicBezTo>
                    <a:lnTo>
                      <a:pt x="100012" y="0"/>
                    </a:lnTo>
                    <a:cubicBezTo>
                      <a:pt x="125608" y="0"/>
                      <a:pt x="151204" y="9764"/>
                      <a:pt x="170732" y="29293"/>
                    </a:cubicBezTo>
                    <a:close/>
                    <a:moveTo>
                      <a:pt x="66675" y="100013"/>
                    </a:moveTo>
                    <a:cubicBezTo>
                      <a:pt x="66675" y="118424"/>
                      <a:pt x="81601" y="133350"/>
                      <a:pt x="100012" y="133350"/>
                    </a:cubicBezTo>
                    <a:cubicBezTo>
                      <a:pt x="118424" y="133350"/>
                      <a:pt x="133350" y="118424"/>
                      <a:pt x="133350" y="100013"/>
                    </a:cubicBezTo>
                    <a:cubicBezTo>
                      <a:pt x="133350" y="81601"/>
                      <a:pt x="118424" y="66675"/>
                      <a:pt x="100012" y="66675"/>
                    </a:cubicBezTo>
                    <a:cubicBezTo>
                      <a:pt x="81601" y="66675"/>
                      <a:pt x="66675" y="81601"/>
                      <a:pt x="66675" y="100013"/>
                    </a:cubicBezTo>
                    <a:close/>
                    <a:moveTo>
                      <a:pt x="100012" y="400050"/>
                    </a:moveTo>
                    <a:cubicBezTo>
                      <a:pt x="81601" y="400050"/>
                      <a:pt x="66675" y="414975"/>
                      <a:pt x="66675" y="433388"/>
                    </a:cubicBezTo>
                    <a:cubicBezTo>
                      <a:pt x="66675" y="451800"/>
                      <a:pt x="81601" y="466725"/>
                      <a:pt x="100012" y="466725"/>
                    </a:cubicBezTo>
                    <a:cubicBezTo>
                      <a:pt x="118424" y="466725"/>
                      <a:pt x="133350" y="451800"/>
                      <a:pt x="133350" y="433388"/>
                    </a:cubicBezTo>
                    <a:cubicBezTo>
                      <a:pt x="133350" y="414975"/>
                      <a:pt x="118424" y="400050"/>
                      <a:pt x="100012" y="400050"/>
                    </a:cubicBezTo>
                    <a:close/>
                  </a:path>
                </a:pathLst>
              </a:custGeom>
              <a:solidFill>
                <a:schemeClr val="lt1"/>
              </a:solidFill>
              <a:ln>
                <a:noFill/>
              </a:ln>
            </p:spPr>
          </p:sp>
          <p:sp>
            <p:nvSpPr>
              <p:cNvPr id="67" name="Freeform 67"/>
              <p:cNvSpPr/>
              <p:nvPr/>
            </p:nvSpPr>
            <p:spPr>
              <a:xfrm>
                <a:off x="4833938" y="4414838"/>
                <a:ext cx="233362" cy="183356"/>
              </a:xfrm>
              <a:custGeom>
                <a:avLst/>
                <a:gdLst/>
                <a:ahLst/>
                <a:cxnLst/>
                <a:rect l="l" t="t" r="r" b="b"/>
                <a:pathLst>
                  <a:path w="233362" h="183356">
                    <a:moveTo>
                      <a:pt x="100012" y="0"/>
                    </a:moveTo>
                    <a:lnTo>
                      <a:pt x="0" y="100012"/>
                    </a:lnTo>
                    <a:lnTo>
                      <a:pt x="83344" y="183356"/>
                    </a:lnTo>
                    <a:lnTo>
                      <a:pt x="233362" y="33338"/>
                    </a:lnTo>
                    <a:lnTo>
                      <a:pt x="200025" y="0"/>
                    </a:lnTo>
                    <a:lnTo>
                      <a:pt x="100012" y="0"/>
                    </a:lnTo>
                    <a:close/>
                  </a:path>
                </a:pathLst>
              </a:custGeom>
              <a:solidFill>
                <a:schemeClr val="lt1"/>
              </a:solidFill>
              <a:ln>
                <a:noFill/>
              </a:ln>
            </p:spPr>
          </p:sp>
        </p:grpSp>
        <p:sp>
          <p:nvSpPr>
            <p:cNvPr id="69" name="TextBox 69"/>
            <p:cNvSpPr txBox="1"/>
            <p:nvPr/>
          </p:nvSpPr>
          <p:spPr>
            <a:xfrm>
              <a:off x="4525518" y="5098732"/>
              <a:ext cx="1617716" cy="322707"/>
            </a:xfrm>
            <a:prstGeom prst="rect">
              <a:avLst/>
            </a:prstGeom>
            <a:noFill/>
            <a:ln>
              <a:noFill/>
            </a:ln>
          </p:spPr>
          <p:txBody>
            <a:bodyPr wrap="none" lIns="0" tIns="0" rIns="0" bIns="0" anchor="t" anchorCtr="0">
              <a:spAutoFit/>
            </a:bodyPr>
            <a:lstStyle/>
            <a:p>
              <a:pPr algn="l"/>
              <a:r>
                <a:rPr lang="zh-CN" sz="1650" b="1" dirty="0">
                  <a:solidFill>
                    <a:srgbClr val="F5EFE0"/>
                  </a:solidFill>
                  <a:latin typeface="+mn-lt"/>
                  <a:ea typeface="+mn-ea"/>
                  <a:cs typeface="+mn-cs"/>
                </a:rPr>
                <a:t>拼贴 + 混合媒材</a:t>
              </a:r>
            </a:p>
          </p:txBody>
        </p:sp>
        <p:sp>
          <p:nvSpPr>
            <p:cNvPr id="70" name="TextBox 70"/>
            <p:cNvSpPr txBox="1"/>
            <p:nvPr/>
          </p:nvSpPr>
          <p:spPr>
            <a:xfrm>
              <a:off x="4529138" y="5435441"/>
              <a:ext cx="1707586" cy="161925"/>
            </a:xfrm>
            <a:prstGeom prst="rect">
              <a:avLst/>
            </a:prstGeom>
            <a:noFill/>
            <a:ln>
              <a:noFill/>
            </a:ln>
          </p:spPr>
          <p:txBody>
            <a:bodyPr wrap="none" lIns="0" tIns="0" rIns="0" bIns="0" anchor="t" anchorCtr="0">
              <a:spAutoFit/>
            </a:bodyPr>
            <a:lstStyle/>
            <a:p>
              <a:pPr algn="l"/>
              <a:r>
                <a:rPr lang="zh-CN" sz="820" spc="150" dirty="0">
                  <a:solidFill>
                    <a:schemeClr val="accent3"/>
                  </a:solidFill>
                  <a:latin typeface="Consolas"/>
                  <a:ea typeface="Consolas"/>
                  <a:cs typeface="Consolas"/>
                </a:rPr>
                <a:t>COLLAGE &amp; MIXED MEDIA</a:t>
              </a:r>
            </a:p>
          </p:txBody>
        </p:sp>
        <p:sp>
          <p:nvSpPr>
            <p:cNvPr id="71" name="Line 71"/>
            <p:cNvSpPr/>
            <p:nvPr/>
          </p:nvSpPr>
          <p:spPr>
            <a:xfrm>
              <a:off x="4533900" y="5638800"/>
              <a:ext cx="1085850" cy="9525"/>
            </a:xfrm>
            <a:custGeom>
              <a:avLst/>
              <a:gdLst/>
              <a:ahLst/>
              <a:cxnLst/>
              <a:rect l="l" t="t" r="r" b="b"/>
              <a:pathLst>
                <a:path w="1085850" h="9525">
                  <a:moveTo>
                    <a:pt x="0" y="0"/>
                  </a:moveTo>
                  <a:lnTo>
                    <a:pt x="1085850" y="0"/>
                  </a:lnTo>
                </a:path>
              </a:pathLst>
            </a:custGeom>
            <a:noFill/>
            <a:ln w="19050">
              <a:solidFill>
                <a:srgbClr val="F5EFE0"/>
              </a:solidFill>
            </a:ln>
          </p:spPr>
        </p:sp>
        <p:sp>
          <p:nvSpPr>
            <p:cNvPr id="72" name="TextBox 72"/>
            <p:cNvSpPr txBox="1"/>
            <p:nvPr/>
          </p:nvSpPr>
          <p:spPr>
            <a:xfrm>
              <a:off x="4528566" y="5792152"/>
              <a:ext cx="1466583" cy="205359"/>
            </a:xfrm>
            <a:prstGeom prst="rect">
              <a:avLst/>
            </a:prstGeom>
            <a:noFill/>
            <a:ln>
              <a:noFill/>
            </a:ln>
          </p:spPr>
          <p:txBody>
            <a:bodyPr wrap="none" lIns="0" tIns="0" rIns="0" bIns="0" anchor="t" anchorCtr="0">
              <a:spAutoFit/>
            </a:bodyPr>
            <a:lstStyle/>
            <a:p>
              <a:pPr algn="l"/>
              <a:r>
                <a:rPr lang="zh-CN" sz="1050" dirty="0">
                  <a:solidFill>
                    <a:srgbClr val="F5EFE0"/>
                  </a:solidFill>
                  <a:latin typeface="+mn-lt"/>
                  <a:ea typeface="+mn-ea"/>
                  <a:cs typeface="+mn-cs"/>
                </a:rPr>
                <a:t>杂志撕页 + 胶带 + 印章</a:t>
              </a:r>
            </a:p>
          </p:txBody>
        </p:sp>
        <p:sp>
          <p:nvSpPr>
            <p:cNvPr id="73" name="TextBox 73"/>
            <p:cNvSpPr txBox="1"/>
            <p:nvPr/>
          </p:nvSpPr>
          <p:spPr>
            <a:xfrm>
              <a:off x="4528566" y="6001702"/>
              <a:ext cx="1325232" cy="205359"/>
            </a:xfrm>
            <a:prstGeom prst="rect">
              <a:avLst/>
            </a:prstGeom>
            <a:noFill/>
            <a:ln>
              <a:noFill/>
            </a:ln>
          </p:spPr>
          <p:txBody>
            <a:bodyPr wrap="none" lIns="0" tIns="0" rIns="0" bIns="0" anchor="t" anchorCtr="0">
              <a:spAutoFit/>
            </a:bodyPr>
            <a:lstStyle/>
            <a:p>
              <a:pPr algn="l"/>
              <a:r>
                <a:rPr lang="zh-CN" sz="1050" dirty="0">
                  <a:solidFill>
                    <a:srgbClr val="F5EFE0"/>
                  </a:solidFill>
                  <a:latin typeface="+mn-lt"/>
                  <a:ea typeface="+mn-ea"/>
                  <a:cs typeface="+mn-cs"/>
                </a:rPr>
                <a:t>字典页 + 票据 + 蕾丝</a:t>
              </a:r>
            </a:p>
          </p:txBody>
        </p:sp>
        <p:sp>
          <p:nvSpPr>
            <p:cNvPr id="74" name="TextBox 74"/>
            <p:cNvSpPr txBox="1"/>
            <p:nvPr/>
          </p:nvSpPr>
          <p:spPr>
            <a:xfrm>
              <a:off x="4528566" y="6211252"/>
              <a:ext cx="1453508" cy="205359"/>
            </a:xfrm>
            <a:prstGeom prst="rect">
              <a:avLst/>
            </a:prstGeom>
            <a:noFill/>
            <a:ln>
              <a:noFill/>
            </a:ln>
          </p:spPr>
          <p:txBody>
            <a:bodyPr wrap="none" lIns="0" tIns="0" rIns="0" bIns="0" anchor="t" anchorCtr="0">
              <a:spAutoFit/>
            </a:bodyPr>
            <a:lstStyle/>
            <a:p>
              <a:pPr algn="l"/>
              <a:r>
                <a:rPr lang="zh-CN" sz="1050" b="1" dirty="0">
                  <a:solidFill>
                    <a:schemeClr val="accent3"/>
                  </a:solidFill>
                  <a:latin typeface="+mn-lt"/>
                  <a:ea typeface="+mn-ea"/>
                  <a:cs typeface="+mn-cs"/>
                </a:rPr>
                <a:t>物质感 = 复印机救不了</a:t>
              </a:r>
            </a:p>
          </p:txBody>
        </p:sp>
      </p:grpSp>
      <p:grpSp>
        <p:nvGrpSpPr>
          <p:cNvPr id="89" name="Group 89"/>
          <p:cNvGrpSpPr/>
          <p:nvPr/>
        </p:nvGrpSpPr>
        <p:grpSpPr>
          <a:xfrm>
            <a:off x="8001000" y="4191000"/>
            <a:ext cx="3648075" cy="2314575"/>
            <a:chOff x="8001000" y="4191000"/>
            <a:chExt cx="3648075" cy="2314575"/>
          </a:xfrm>
        </p:grpSpPr>
        <p:sp>
          <p:nvSpPr>
            <p:cNvPr id="76" name="Rectangle 76"/>
            <p:cNvSpPr/>
            <p:nvPr/>
          </p:nvSpPr>
          <p:spPr>
            <a:xfrm>
              <a:off x="8001000" y="4191000"/>
              <a:ext cx="3619500" cy="2286000"/>
            </a:xfrm>
            <a:prstGeom prst="rect">
              <a:avLst/>
            </a:prstGeom>
            <a:solidFill>
              <a:schemeClr val="accent2"/>
            </a:solidFill>
            <a:ln>
              <a:noFill/>
            </a:ln>
          </p:spPr>
        </p:sp>
        <p:sp>
          <p:nvSpPr>
            <p:cNvPr id="77" name="Rectangle 77"/>
            <p:cNvSpPr/>
            <p:nvPr/>
          </p:nvSpPr>
          <p:spPr>
            <a:xfrm>
              <a:off x="8029575" y="4219575"/>
              <a:ext cx="3619500" cy="2286000"/>
            </a:xfrm>
            <a:prstGeom prst="rect">
              <a:avLst/>
            </a:prstGeom>
            <a:solidFill>
              <a:schemeClr val="dk1">
                <a:alpha val="55000"/>
              </a:schemeClr>
            </a:solidFill>
            <a:ln>
              <a:noFill/>
            </a:ln>
          </p:spPr>
        </p:sp>
        <p:sp>
          <p:nvSpPr>
            <p:cNvPr id="78" name="Rectangle 78"/>
            <p:cNvSpPr/>
            <p:nvPr/>
          </p:nvSpPr>
          <p:spPr>
            <a:xfrm>
              <a:off x="8001000" y="4191000"/>
              <a:ext cx="3619500" cy="2286000"/>
            </a:xfrm>
            <a:prstGeom prst="rect">
              <a:avLst/>
            </a:prstGeom>
            <a:solidFill>
              <a:schemeClr val="accent2"/>
            </a:solidFill>
            <a:ln>
              <a:noFill/>
            </a:ln>
          </p:spPr>
        </p:sp>
        <p:sp>
          <p:nvSpPr>
            <p:cNvPr id="79" name="TextBox 79"/>
            <p:cNvSpPr txBox="1"/>
            <p:nvPr/>
          </p:nvSpPr>
          <p:spPr>
            <a:xfrm>
              <a:off x="10810265" y="4272915"/>
              <a:ext cx="522199" cy="645414"/>
            </a:xfrm>
            <a:prstGeom prst="rect">
              <a:avLst/>
            </a:prstGeom>
            <a:noFill/>
            <a:ln>
              <a:noFill/>
            </a:ln>
          </p:spPr>
          <p:txBody>
            <a:bodyPr wrap="none" lIns="0" tIns="0" rIns="0" bIns="0" anchor="t" anchorCtr="0">
              <a:spAutoFit/>
            </a:bodyPr>
            <a:lstStyle/>
            <a:p>
              <a:pPr algn="r"/>
              <a:r>
                <a:rPr lang="zh-CN" sz="3300" dirty="0">
                  <a:solidFill>
                    <a:schemeClr val="dk1"/>
                  </a:solidFill>
                  <a:latin typeface="+mj-lt"/>
                  <a:ea typeface="+mj-ea"/>
                  <a:cs typeface="+mj-cs"/>
                </a:rPr>
                <a:t>06</a:t>
              </a:r>
            </a:p>
          </p:txBody>
        </p:sp>
        <p:grpSp>
          <p:nvGrpSpPr>
            <p:cNvPr id="82" name="Group 82"/>
            <p:cNvGrpSpPr/>
            <p:nvPr/>
          </p:nvGrpSpPr>
          <p:grpSpPr>
            <a:xfrm>
              <a:off x="8248650" y="4381500"/>
              <a:ext cx="533400" cy="533400"/>
              <a:chOff x="8248650" y="4381500"/>
              <a:chExt cx="533400" cy="533400"/>
            </a:xfrm>
          </p:grpSpPr>
          <p:sp>
            <p:nvSpPr>
              <p:cNvPr id="80" name="Freeform 80"/>
              <p:cNvSpPr/>
              <p:nvPr/>
            </p:nvSpPr>
            <p:spPr>
              <a:xfrm>
                <a:off x="8401655" y="4381500"/>
                <a:ext cx="380395" cy="380394"/>
              </a:xfrm>
              <a:custGeom>
                <a:avLst/>
                <a:gdLst/>
                <a:ahLst/>
                <a:cxnLst/>
                <a:rect l="l" t="t" r="r" b="b"/>
                <a:pathLst>
                  <a:path w="380395" h="380394">
                    <a:moveTo>
                      <a:pt x="161849" y="148167"/>
                    </a:moveTo>
                    <a:lnTo>
                      <a:pt x="260104" y="25351"/>
                    </a:lnTo>
                    <a:cubicBezTo>
                      <a:pt x="272922" y="9328"/>
                      <a:pt x="292328" y="0"/>
                      <a:pt x="312847" y="0"/>
                    </a:cubicBezTo>
                    <a:cubicBezTo>
                      <a:pt x="350155" y="0"/>
                      <a:pt x="380395" y="30242"/>
                      <a:pt x="380395" y="67547"/>
                    </a:cubicBezTo>
                    <a:cubicBezTo>
                      <a:pt x="380395" y="88067"/>
                      <a:pt x="371067" y="107474"/>
                      <a:pt x="355045" y="120293"/>
                    </a:cubicBezTo>
                    <a:lnTo>
                      <a:pt x="232230" y="218546"/>
                    </a:lnTo>
                    <a:lnTo>
                      <a:pt x="255226" y="241543"/>
                    </a:lnTo>
                    <a:cubicBezTo>
                      <a:pt x="271335" y="257651"/>
                      <a:pt x="280383" y="279498"/>
                      <a:pt x="280383" y="302278"/>
                    </a:cubicBezTo>
                    <a:cubicBezTo>
                      <a:pt x="280383" y="322371"/>
                      <a:pt x="273338" y="341829"/>
                      <a:pt x="260474" y="357265"/>
                    </a:cubicBezTo>
                    <a:lnTo>
                      <a:pt x="241198" y="380394"/>
                    </a:lnTo>
                    <a:lnTo>
                      <a:pt x="0" y="139196"/>
                    </a:lnTo>
                    <a:lnTo>
                      <a:pt x="23131" y="119921"/>
                    </a:lnTo>
                    <a:cubicBezTo>
                      <a:pt x="38567" y="107057"/>
                      <a:pt x="58024" y="100012"/>
                      <a:pt x="78117" y="100012"/>
                    </a:cubicBezTo>
                    <a:cubicBezTo>
                      <a:pt x="100898" y="100012"/>
                      <a:pt x="122745" y="109062"/>
                      <a:pt x="138852" y="125170"/>
                    </a:cubicBezTo>
                    <a:lnTo>
                      <a:pt x="161849" y="148167"/>
                    </a:lnTo>
                    <a:close/>
                  </a:path>
                </a:pathLst>
              </a:custGeom>
              <a:solidFill>
                <a:schemeClr val="dk1"/>
              </a:solidFill>
              <a:ln>
                <a:noFill/>
              </a:ln>
            </p:spPr>
          </p:sp>
          <p:sp>
            <p:nvSpPr>
              <p:cNvPr id="81" name="Freeform 81"/>
              <p:cNvSpPr/>
              <p:nvPr/>
            </p:nvSpPr>
            <p:spPr>
              <a:xfrm>
                <a:off x="8248650" y="4563556"/>
                <a:ext cx="351344" cy="351344"/>
              </a:xfrm>
              <a:custGeom>
                <a:avLst/>
                <a:gdLst/>
                <a:ahLst/>
                <a:cxnLst/>
                <a:rect l="l" t="t" r="r" b="b"/>
                <a:pathLst>
                  <a:path w="351344" h="351344">
                    <a:moveTo>
                      <a:pt x="0" y="84644"/>
                    </a:moveTo>
                    <a:lnTo>
                      <a:pt x="101572" y="0"/>
                    </a:lnTo>
                    <a:lnTo>
                      <a:pt x="351344" y="249771"/>
                    </a:lnTo>
                    <a:lnTo>
                      <a:pt x="266700" y="351344"/>
                    </a:lnTo>
                    <a:lnTo>
                      <a:pt x="0" y="84644"/>
                    </a:lnTo>
                    <a:close/>
                  </a:path>
                </a:pathLst>
              </a:custGeom>
              <a:solidFill>
                <a:schemeClr val="dk1"/>
              </a:solidFill>
              <a:ln>
                <a:noFill/>
              </a:ln>
            </p:spPr>
          </p:sp>
        </p:grpSp>
        <p:sp>
          <p:nvSpPr>
            <p:cNvPr id="83" name="TextBox 83"/>
            <p:cNvSpPr txBox="1"/>
            <p:nvPr/>
          </p:nvSpPr>
          <p:spPr>
            <a:xfrm>
              <a:off x="8240268" y="5098732"/>
              <a:ext cx="1127379"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mn-lt"/>
                  <a:ea typeface="+mn-ea"/>
                  <a:cs typeface="+mn-cs"/>
                </a:rPr>
                <a:t>实验性视觉</a:t>
              </a:r>
            </a:p>
          </p:txBody>
        </p:sp>
        <p:sp>
          <p:nvSpPr>
            <p:cNvPr id="84" name="TextBox 84"/>
            <p:cNvSpPr txBox="1"/>
            <p:nvPr/>
          </p:nvSpPr>
          <p:spPr>
            <a:xfrm>
              <a:off x="8243888" y="5435441"/>
              <a:ext cx="1633764" cy="161925"/>
            </a:xfrm>
            <a:prstGeom prst="rect">
              <a:avLst/>
            </a:prstGeom>
            <a:noFill/>
            <a:ln>
              <a:noFill/>
            </a:ln>
          </p:spPr>
          <p:txBody>
            <a:bodyPr wrap="none" lIns="0" tIns="0" rIns="0" bIns="0" anchor="t" anchorCtr="0">
              <a:spAutoFit/>
            </a:bodyPr>
            <a:lstStyle/>
            <a:p>
              <a:pPr algn="l"/>
              <a:r>
                <a:rPr lang="zh-CN" sz="820" spc="150" dirty="0">
                  <a:solidFill>
                    <a:schemeClr val="dk1"/>
                  </a:solidFill>
                  <a:latin typeface="Consolas"/>
                  <a:ea typeface="Consolas"/>
                  <a:cs typeface="Consolas"/>
                </a:rPr>
                <a:t>EXPERIMENTAL VISUALS</a:t>
              </a:r>
            </a:p>
          </p:txBody>
        </p:sp>
        <p:sp>
          <p:nvSpPr>
            <p:cNvPr id="85" name="Line 85"/>
            <p:cNvSpPr/>
            <p:nvPr/>
          </p:nvSpPr>
          <p:spPr>
            <a:xfrm>
              <a:off x="8248650" y="5638800"/>
              <a:ext cx="1085850" cy="9525"/>
            </a:xfrm>
            <a:custGeom>
              <a:avLst/>
              <a:gdLst/>
              <a:ahLst/>
              <a:cxnLst/>
              <a:rect l="l" t="t" r="r" b="b"/>
              <a:pathLst>
                <a:path w="1085850" h="9525">
                  <a:moveTo>
                    <a:pt x="0" y="0"/>
                  </a:moveTo>
                  <a:lnTo>
                    <a:pt x="1085850" y="0"/>
                  </a:lnTo>
                </a:path>
              </a:pathLst>
            </a:custGeom>
            <a:noFill/>
            <a:ln w="19050">
              <a:solidFill>
                <a:schemeClr val="accent4"/>
              </a:solidFill>
            </a:ln>
          </p:spPr>
        </p:sp>
        <p:sp>
          <p:nvSpPr>
            <p:cNvPr id="86" name="TextBox 86"/>
            <p:cNvSpPr txBox="1"/>
            <p:nvPr/>
          </p:nvSpPr>
          <p:spPr>
            <a:xfrm>
              <a:off x="8243316" y="5792152"/>
              <a:ext cx="1424178" cy="205359"/>
            </a:xfrm>
            <a:prstGeom prst="rect">
              <a:avLst/>
            </a:prstGeom>
            <a:noFill/>
            <a:ln>
              <a:noFill/>
            </a:ln>
          </p:spPr>
          <p:txBody>
            <a:bodyPr wrap="none" lIns="0" tIns="0" rIns="0" bIns="0" anchor="t" anchorCtr="0">
              <a:spAutoFit/>
            </a:bodyPr>
            <a:lstStyle/>
            <a:p>
              <a:pPr algn="l"/>
              <a:r>
                <a:rPr lang="zh-CN" sz="1050" dirty="0">
                  <a:solidFill>
                    <a:schemeClr val="dk1"/>
                  </a:solidFill>
                  <a:latin typeface="+mn-lt"/>
                  <a:ea typeface="+mn-ea"/>
                  <a:cs typeface="+mn-cs"/>
                </a:rPr>
                <a:t>纯色块、纯纹理、纯字</a:t>
              </a:r>
            </a:p>
          </p:txBody>
        </p:sp>
        <p:sp>
          <p:nvSpPr>
            <p:cNvPr id="87" name="TextBox 87"/>
            <p:cNvSpPr txBox="1"/>
            <p:nvPr/>
          </p:nvSpPr>
          <p:spPr>
            <a:xfrm>
              <a:off x="8243316" y="6001702"/>
              <a:ext cx="1162679" cy="205359"/>
            </a:xfrm>
            <a:prstGeom prst="rect">
              <a:avLst/>
            </a:prstGeom>
            <a:noFill/>
            <a:ln>
              <a:noFill/>
            </a:ln>
          </p:spPr>
          <p:txBody>
            <a:bodyPr wrap="none" lIns="0" tIns="0" rIns="0" bIns="0" anchor="t" anchorCtr="0">
              <a:spAutoFit/>
            </a:bodyPr>
            <a:lstStyle/>
            <a:p>
              <a:pPr algn="l"/>
              <a:r>
                <a:rPr lang="zh-CN" sz="1050" dirty="0">
                  <a:solidFill>
                    <a:schemeClr val="dk1"/>
                  </a:solidFill>
                  <a:latin typeface="+mn-lt"/>
                  <a:ea typeface="+mn-ea"/>
                  <a:cs typeface="+mn-cs"/>
                </a:rPr>
                <a:t>空白页 = 阅读节奏</a:t>
              </a:r>
            </a:p>
          </p:txBody>
        </p:sp>
        <p:sp>
          <p:nvSpPr>
            <p:cNvPr id="88" name="TextBox 88"/>
            <p:cNvSpPr txBox="1"/>
            <p:nvPr/>
          </p:nvSpPr>
          <p:spPr>
            <a:xfrm>
              <a:off x="8243316" y="6211252"/>
              <a:ext cx="1312157" cy="205359"/>
            </a:xfrm>
            <a:prstGeom prst="rect">
              <a:avLst/>
            </a:prstGeom>
            <a:noFill/>
            <a:ln>
              <a:noFill/>
            </a:ln>
          </p:spPr>
          <p:txBody>
            <a:bodyPr wrap="none" lIns="0" tIns="0" rIns="0" bIns="0" anchor="t" anchorCtr="0">
              <a:spAutoFit/>
            </a:bodyPr>
            <a:lstStyle/>
            <a:p>
              <a:pPr algn="l"/>
              <a:r>
                <a:rPr lang="zh-CN" sz="1050" b="1" dirty="0">
                  <a:solidFill>
                    <a:schemeClr val="accent1"/>
                  </a:solidFill>
                  <a:latin typeface="+mn-lt"/>
                  <a:ea typeface="+mn-ea"/>
                  <a:cs typeface="+mn-cs"/>
                </a:rPr>
                <a:t>没有信息 = 一种信息</a:t>
              </a:r>
            </a:p>
          </p:txBody>
        </p:sp>
      </p:grpSp>
      <p:grpSp>
        <p:nvGrpSpPr>
          <p:cNvPr id="93" name="Group 93"/>
          <p:cNvGrpSpPr/>
          <p:nvPr/>
        </p:nvGrpSpPr>
        <p:grpSpPr>
          <a:xfrm>
            <a:off x="566738" y="6610350"/>
            <a:ext cx="11058524" cy="225266"/>
            <a:chOff x="566738" y="6610350"/>
            <a:chExt cx="11058524" cy="225266"/>
          </a:xfrm>
        </p:grpSpPr>
        <p:sp>
          <p:nvSpPr>
            <p:cNvPr id="90" name="Line 90"/>
            <p:cNvSpPr/>
            <p:nvPr/>
          </p:nvSpPr>
          <p:spPr>
            <a:xfrm>
              <a:off x="571500" y="6610350"/>
              <a:ext cx="11049000" cy="9525"/>
            </a:xfrm>
            <a:custGeom>
              <a:avLst/>
              <a:gdLst/>
              <a:ahLst/>
              <a:cxnLst/>
              <a:rect l="l" t="t" r="r" b="b"/>
              <a:pathLst>
                <a:path w="11049000" h="9525">
                  <a:moveTo>
                    <a:pt x="0" y="0"/>
                  </a:moveTo>
                  <a:lnTo>
                    <a:pt x="11049000" y="0"/>
                  </a:lnTo>
                </a:path>
              </a:pathLst>
            </a:custGeom>
            <a:noFill/>
            <a:ln w="9525">
              <a:solidFill>
                <a:schemeClr val="accent4"/>
              </a:solidFill>
            </a:ln>
          </p:spPr>
        </p:sp>
        <p:sp>
          <p:nvSpPr>
            <p:cNvPr id="91" name="TextBox 91"/>
            <p:cNvSpPr txBox="1"/>
            <p:nvPr/>
          </p:nvSpPr>
          <p:spPr>
            <a:xfrm>
              <a:off x="566738" y="6673691"/>
              <a:ext cx="1690091" cy="161925"/>
            </a:xfrm>
            <a:prstGeom prst="rect">
              <a:avLst/>
            </a:prstGeom>
            <a:noFill/>
            <a:ln>
              <a:noFill/>
            </a:ln>
          </p:spPr>
          <p:txBody>
            <a:bodyPr wrap="none" lIns="0" tIns="0" rIns="0" bIns="0" anchor="t" anchorCtr="0">
              <a:spAutoFit/>
            </a:bodyPr>
            <a:lstStyle/>
            <a:p>
              <a:pPr algn="l"/>
              <a:r>
                <a:rPr lang="zh-CN" sz="820" spc="150" dirty="0">
                  <a:solidFill>
                    <a:schemeClr val="dk2"/>
                  </a:solidFill>
                  <a:latin typeface="Consolas"/>
                  <a:ea typeface="Consolas"/>
                  <a:cs typeface="Consolas"/>
                </a:rPr>
                <a:t>P08 · 6 CONTENT TYPES</a:t>
              </a:r>
            </a:p>
          </p:txBody>
        </p:sp>
        <p:sp>
          <p:nvSpPr>
            <p:cNvPr id="92" name="TextBox 92"/>
            <p:cNvSpPr txBox="1"/>
            <p:nvPr/>
          </p:nvSpPr>
          <p:spPr>
            <a:xfrm>
              <a:off x="8895824" y="6673691"/>
              <a:ext cx="2729438" cy="161925"/>
            </a:xfrm>
            <a:prstGeom prst="rect">
              <a:avLst/>
            </a:prstGeom>
            <a:noFill/>
            <a:ln>
              <a:noFill/>
            </a:ln>
          </p:spPr>
          <p:txBody>
            <a:bodyPr wrap="none" lIns="0" tIns="0" rIns="0" bIns="0" anchor="t" anchorCtr="0">
              <a:spAutoFit/>
            </a:bodyPr>
            <a:lstStyle/>
            <a:p>
              <a:pPr algn="r"/>
              <a:r>
                <a:rPr lang="zh-CN" sz="820" spc="150" dirty="0">
                  <a:solidFill>
                    <a:schemeClr val="dk2"/>
                  </a:solidFill>
                  <a:latin typeface="Consolas"/>
                  <a:ea typeface="Consolas"/>
                  <a:cs typeface="Consolas"/>
                </a:rPr>
                <a:t>PICK ONE · PICK ALL · MAKE IT YOURS</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 presetClass="entr" presetSubtype="0" fill="hold" grpId="0" nodeType="after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par>
                          <p:cTn id="7" fill="hold">
                            <p:stCondLst>
                              <p:cond delay="280"/>
                            </p:stCondLst>
                            <p:childTnLst>
                              <p:par>
                                <p:cTn xmlns:p="http://schemas.openxmlformats.org/presentationml/2006/main" id="8" presetID="1" presetClass="entr" presetSubtype="0" fill="hold" grpId="0" nodeType="afterEffect">
                                  <p:stCondLst>
                                    <p:cond delay="100"/>
                                  </p:stCondLst>
                                  <p:childTnLst>
                                    <p:set>
                                      <p:cBhvr>
                                        <p:cTn id="9" dur="1" fill="hold">
                                          <p:stCondLst>
                                            <p:cond delay="0"/>
                                          </p:stCondLst>
                                        </p:cTn>
                                        <p:tgtEl>
                                          <p:spTgt spid="35"/>
                                        </p:tgtEl>
                                        <p:attrNameLst>
                                          <p:attrName>style.visibility</p:attrName>
                                        </p:attrNameLst>
                                      </p:cBhvr>
                                      <p:to>
                                        <p:strVal val="visible"/>
                                      </p:to>
                                    </p:set>
                                  </p:childTnLst>
                                </p:cTn>
                              </p:par>
                            </p:childTnLst>
                          </p:cTn>
                        </p:par>
                        <p:par>
                          <p:cTn id="10" fill="hold">
                            <p:stCondLst>
                              <p:cond delay="660"/>
                            </p:stCondLst>
                            <p:childTnLst>
                              <p:par>
                                <p:cTn xmlns:p="http://schemas.openxmlformats.org/presentationml/2006/main" id="11" presetID="1" presetClass="entr" presetSubtype="0" fill="hold" grpId="0" nodeType="afterEffect">
                                  <p:stCondLst>
                                    <p:cond delay="100"/>
                                  </p:stCondLst>
                                  <p:childTnLst>
                                    <p:set>
                                      <p:cBhvr>
                                        <p:cTn id="12" dur="1" fill="hold">
                                          <p:stCondLst>
                                            <p:cond delay="0"/>
                                          </p:stCondLst>
                                        </p:cTn>
                                        <p:tgtEl>
                                          <p:spTgt spid="49"/>
                                        </p:tgtEl>
                                        <p:attrNameLst>
                                          <p:attrName>style.visibility</p:attrName>
                                        </p:attrNameLst>
                                      </p:cBhvr>
                                      <p:to>
                                        <p:strVal val="visible"/>
                                      </p:to>
                                    </p:set>
                                  </p:childTnLst>
                                </p:cTn>
                              </p:par>
                            </p:childTnLst>
                          </p:cTn>
                        </p:par>
                        <p:par>
                          <p:cTn id="13" fill="hold">
                            <p:stCondLst>
                              <p:cond delay="1040"/>
                            </p:stCondLst>
                            <p:childTnLst>
                              <p:par>
                                <p:cTn xmlns:p="http://schemas.openxmlformats.org/presentationml/2006/main" id="14" presetID="1" presetClass="entr" presetSubtype="0" fill="hold" grpId="0" nodeType="afterEffect">
                                  <p:stCondLst>
                                    <p:cond delay="100"/>
                                  </p:stCondLst>
                                  <p:childTnLst>
                                    <p:set>
                                      <p:cBhvr>
                                        <p:cTn id="15" dur="1" fill="hold">
                                          <p:stCondLst>
                                            <p:cond delay="0"/>
                                          </p:stCondLst>
                                        </p:cTn>
                                        <p:tgtEl>
                                          <p:spTgt spid="61"/>
                                        </p:tgtEl>
                                        <p:attrNameLst>
                                          <p:attrName>style.visibility</p:attrName>
                                        </p:attrNameLst>
                                      </p:cBhvr>
                                      <p:to>
                                        <p:strVal val="visible"/>
                                      </p:to>
                                    </p:set>
                                  </p:childTnLst>
                                </p:cTn>
                              </p:par>
                            </p:childTnLst>
                          </p:cTn>
                        </p:par>
                        <p:par>
                          <p:cTn id="16" fill="hold">
                            <p:stCondLst>
                              <p:cond delay="1420"/>
                            </p:stCondLst>
                            <p:childTnLst>
                              <p:par>
                                <p:cTn xmlns:p="http://schemas.openxmlformats.org/presentationml/2006/main" id="17" presetID="1" presetClass="entr" presetSubtype="0" fill="hold" grpId="0" nodeType="afterEffect">
                                  <p:stCondLst>
                                    <p:cond delay="100"/>
                                  </p:stCondLst>
                                  <p:childTnLst>
                                    <p:set>
                                      <p:cBhvr>
                                        <p:cTn id="18" dur="1" fill="hold">
                                          <p:stCondLst>
                                            <p:cond delay="0"/>
                                          </p:stCondLst>
                                        </p:cTn>
                                        <p:tgtEl>
                                          <p:spTgt spid="75"/>
                                        </p:tgtEl>
                                        <p:attrNameLst>
                                          <p:attrName>style.visibility</p:attrName>
                                        </p:attrNameLst>
                                      </p:cBhvr>
                                      <p:to>
                                        <p:strVal val="visible"/>
                                      </p:to>
                                    </p:set>
                                  </p:childTnLst>
                                </p:cTn>
                              </p:par>
                            </p:childTnLst>
                          </p:cTn>
                        </p:par>
                        <p:par>
                          <p:cTn id="19" fill="hold">
                            <p:stCondLst>
                              <p:cond delay="1800"/>
                            </p:stCondLst>
                            <p:childTnLst>
                              <p:par>
                                <p:cTn xmlns:p="http://schemas.openxmlformats.org/presentationml/2006/main" id="20" presetID="1" presetClass="entr" presetSubtype="0" fill="hold" grpId="0" nodeType="afterEffect">
                                  <p:stCondLst>
                                    <p:cond delay="100"/>
                                  </p:stCondLst>
                                  <p:childTnLst>
                                    <p:set>
                                      <p:cBhvr>
                                        <p:cTn id="21" dur="1" fill="hold">
                                          <p:stCondLst>
                                            <p:cond delay="0"/>
                                          </p:stCondLst>
                                        </p:cTn>
                                        <p:tgtEl>
                                          <p:spTgt spid="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Group 3"/>
          <p:cNvGrpSpPr/>
          <p:nvPr/>
        </p:nvGrpSpPr>
        <p:grpSpPr>
          <a:xfrm>
            <a:off x="0" y="0"/>
            <a:ext cx="12192000" cy="6858000"/>
            <a:chOff x="0" y="0"/>
            <a:chExt cx="12192000" cy="6858000"/>
          </a:xfrm>
        </p:grpSpPr>
        <p:pic>
          <p:nvPicPr>
            <p:cNvPr id="2" name="Image 2"/>
            <p:cNvPicPr>
              <a:picLocks noChangeAspect="1"/>
            </p:cNvPicPr>
            <p:nvPr/>
          </p:nvPicPr>
          <p:blipFill>
            <a:blip r:embed="rId2"/>
            <a:stretch>
              <a:fillRect/>
            </a:stretch>
          </p:blipFill>
          <p:spPr>
            <a:xfrm>
              <a:off x="0" y="0"/>
              <a:ext cx="12192000" cy="6858000"/>
            </a:xfrm>
            <a:prstGeom prst="rect">
              <a:avLst/>
            </a:prstGeom>
          </p:spPr>
        </p:pic>
      </p:grpSp>
      <p:sp>
        <p:nvSpPr>
          <p:cNvPr id="4" name="Rectangle 4"/>
          <p:cNvSpPr/>
          <p:nvPr/>
        </p:nvSpPr>
        <p:spPr>
          <a:xfrm>
            <a:off x="0" y="0"/>
            <a:ext cx="12192000" cy="2667000"/>
          </a:xfrm>
          <a:prstGeom prst="rect">
            <a:avLst/>
          </a:prstGeom>
          <a:gradFill>
            <a:gsLst>
              <a:gs pos="0">
                <a:schemeClr val="lt1">
                  <a:alpha val="92000"/>
                </a:schemeClr>
              </a:gs>
              <a:gs pos="40000">
                <a:schemeClr val="lt1">
                  <a:alpha val="0"/>
                </a:schemeClr>
              </a:gs>
            </a:gsLst>
            <a:lin ang="5400000" scaled="1"/>
          </a:gradFill>
          <a:ln>
            <a:noFill/>
          </a:ln>
        </p:spPr>
      </p:sp>
      <p:sp>
        <p:nvSpPr>
          <p:cNvPr id="5" name="Rectangle 5"/>
          <p:cNvSpPr/>
          <p:nvPr/>
        </p:nvSpPr>
        <p:spPr>
          <a:xfrm>
            <a:off x="0" y="0"/>
            <a:ext cx="12192000" cy="6858000"/>
          </a:xfrm>
          <a:prstGeom prst="rect">
            <a:avLst/>
          </a:prstGeom>
          <a:pattFill prst="ltUpDiag">
            <a:fgClr>
              <a:schemeClr val="dk1">
                <a:alpha val="8000"/>
              </a:schemeClr>
            </a:fgClr>
            <a:bgClr>
              <a:srgbClr val="FFFFFF"/>
            </a:bgClr>
          </a:pattFill>
          <a:ln>
            <a:noFill/>
          </a:ln>
        </p:spPr>
      </p:sp>
      <p:grpSp>
        <p:nvGrpSpPr>
          <p:cNvPr id="8" name="Group 8"/>
          <p:cNvGrpSpPr/>
          <p:nvPr/>
        </p:nvGrpSpPr>
        <p:grpSpPr>
          <a:xfrm>
            <a:off x="566547" y="656749"/>
            <a:ext cx="3390666" cy="267176"/>
            <a:chOff x="566547" y="656749"/>
            <a:chExt cx="3390666" cy="267176"/>
          </a:xfrm>
        </p:grpSpPr>
        <p:sp>
          <p:nvSpPr>
            <p:cNvPr id="6" name="TextBox 6"/>
            <p:cNvSpPr txBox="1"/>
            <p:nvPr/>
          </p:nvSpPr>
          <p:spPr>
            <a:xfrm>
              <a:off x="566547" y="656749"/>
              <a:ext cx="3390666" cy="190690"/>
            </a:xfrm>
            <a:prstGeom prst="rect">
              <a:avLst/>
            </a:prstGeom>
            <a:noFill/>
            <a:ln>
              <a:noFill/>
            </a:ln>
          </p:spPr>
          <p:txBody>
            <a:bodyPr wrap="none" lIns="0" tIns="0" rIns="0" bIns="0" anchor="t" anchorCtr="0">
              <a:spAutoFit/>
            </a:bodyPr>
            <a:lstStyle/>
            <a:p>
              <a:pPr algn="l"/>
              <a:r>
                <a:rPr lang="zh-CN" sz="980" spc="300" dirty="0">
                  <a:solidFill>
                    <a:schemeClr val="dk1"/>
                  </a:solidFill>
                  <a:latin typeface="Consolas"/>
                  <a:ea typeface="Microsoft YaHei"/>
                  <a:cs typeface="Consolas"/>
                </a:rPr>
                <a:t>PART 04 · 全球独立书店 NO.1 — 东京</a:t>
              </a:r>
            </a:p>
          </p:txBody>
        </p:sp>
        <p:sp>
          <p:nvSpPr>
            <p:cNvPr id="7" name="Line 7"/>
            <p:cNvSpPr/>
            <p:nvPr/>
          </p:nvSpPr>
          <p:spPr>
            <a:xfrm>
              <a:off x="571500" y="914400"/>
              <a:ext cx="2476500" cy="9525"/>
            </a:xfrm>
            <a:custGeom>
              <a:avLst/>
              <a:gdLst/>
              <a:ahLst/>
              <a:cxnLst/>
              <a:rect l="l" t="t" r="r" b="b"/>
              <a:pathLst>
                <a:path w="2476500" h="9525">
                  <a:moveTo>
                    <a:pt x="0" y="0"/>
                  </a:moveTo>
                  <a:lnTo>
                    <a:pt x="2476500" y="0"/>
                  </a:lnTo>
                </a:path>
              </a:pathLst>
            </a:custGeom>
            <a:noFill/>
            <a:ln w="28575">
              <a:solidFill>
                <a:schemeClr val="accent2"/>
              </a:solidFill>
            </a:ln>
          </p:spPr>
        </p:sp>
      </p:grpSp>
      <p:grpSp>
        <p:nvGrpSpPr>
          <p:cNvPr id="13" name="Group 13"/>
          <p:cNvGrpSpPr/>
          <p:nvPr/>
        </p:nvGrpSpPr>
        <p:grpSpPr>
          <a:xfrm>
            <a:off x="533400" y="885825"/>
            <a:ext cx="3065907" cy="1835468"/>
            <a:chOff x="533400" y="885825"/>
            <a:chExt cx="3065907" cy="1835468"/>
          </a:xfrm>
        </p:grpSpPr>
        <p:sp>
          <p:nvSpPr>
            <p:cNvPr id="9" name="TextBox 9"/>
            <p:cNvSpPr txBox="1"/>
            <p:nvPr/>
          </p:nvSpPr>
          <p:spPr>
            <a:xfrm>
              <a:off x="552450" y="904875"/>
              <a:ext cx="3046857" cy="1447800"/>
            </a:xfrm>
            <a:prstGeom prst="rect">
              <a:avLst/>
            </a:prstGeom>
            <a:noFill/>
            <a:ln>
              <a:noFill/>
            </a:ln>
          </p:spPr>
          <p:txBody>
            <a:bodyPr wrap="none" lIns="0" tIns="0" rIns="0" bIns="0" anchor="t" anchorCtr="0">
              <a:spAutoFit/>
            </a:bodyPr>
            <a:lstStyle/>
            <a:p>
              <a:pPr algn="l"/>
              <a:r>
                <a:rPr lang="zh-CN" sz="7500" spc="-75" dirty="0">
                  <a:solidFill>
                    <a:schemeClr val="accent2"/>
                  </a:solidFill>
                  <a:latin typeface="+mj-lt"/>
                  <a:ea typeface="+mj-ea"/>
                  <a:cs typeface="+mj-cs"/>
                </a:rPr>
                <a:t>神保町</a:t>
              </a:r>
            </a:p>
          </p:txBody>
        </p:sp>
        <p:sp>
          <p:nvSpPr>
            <p:cNvPr id="10" name="TextBox 10"/>
            <p:cNvSpPr txBox="1"/>
            <p:nvPr/>
          </p:nvSpPr>
          <p:spPr>
            <a:xfrm>
              <a:off x="533400" y="885825"/>
              <a:ext cx="3046857" cy="1447800"/>
            </a:xfrm>
            <a:prstGeom prst="rect">
              <a:avLst/>
            </a:prstGeom>
            <a:noFill/>
            <a:ln>
              <a:noFill/>
            </a:ln>
          </p:spPr>
          <p:txBody>
            <a:bodyPr wrap="none" lIns="0" tIns="0" rIns="0" bIns="0" anchor="t" anchorCtr="0">
              <a:spAutoFit/>
            </a:bodyPr>
            <a:lstStyle/>
            <a:p>
              <a:pPr algn="l"/>
              <a:r>
                <a:rPr lang="zh-CN" sz="7500" spc="-75" dirty="0">
                  <a:solidFill>
                    <a:schemeClr val="dk1"/>
                  </a:solidFill>
                  <a:latin typeface="+mj-lt"/>
                  <a:ea typeface="+mj-ea"/>
                  <a:cs typeface="+mj-cs"/>
                </a:rPr>
                <a:t>神保町</a:t>
              </a:r>
            </a:p>
          </p:txBody>
        </p:sp>
        <p:sp>
          <p:nvSpPr>
            <p:cNvPr id="11" name="TextBox 11"/>
            <p:cNvSpPr txBox="1"/>
            <p:nvPr/>
          </p:nvSpPr>
          <p:spPr>
            <a:xfrm>
              <a:off x="552450" y="1873568"/>
              <a:ext cx="2878988" cy="847725"/>
            </a:xfrm>
            <a:prstGeom prst="rect">
              <a:avLst/>
            </a:prstGeom>
            <a:noFill/>
            <a:ln>
              <a:noFill/>
            </a:ln>
          </p:spPr>
          <p:txBody>
            <a:bodyPr wrap="none" lIns="0" tIns="0" rIns="0" bIns="0" anchor="t" anchorCtr="0">
              <a:spAutoFit/>
            </a:bodyPr>
            <a:lstStyle/>
            <a:p>
              <a:pPr algn="l"/>
              <a:r>
                <a:rPr lang="zh-CN" sz="4350" spc="150" dirty="0">
                  <a:solidFill>
                    <a:schemeClr val="accent2"/>
                  </a:solidFill>
                  <a:latin typeface="+mj-lt"/>
                  <a:ea typeface="+mj-ea"/>
                  <a:cs typeface="+mj-cs"/>
                </a:rPr>
                <a:t>JIMBŌCHŌ</a:t>
              </a:r>
            </a:p>
          </p:txBody>
        </p:sp>
        <p:sp>
          <p:nvSpPr>
            <p:cNvPr id="12" name="TextBox 12"/>
            <p:cNvSpPr txBox="1"/>
            <p:nvPr/>
          </p:nvSpPr>
          <p:spPr>
            <a:xfrm>
              <a:off x="533400" y="1854518"/>
              <a:ext cx="2878988" cy="847725"/>
            </a:xfrm>
            <a:prstGeom prst="rect">
              <a:avLst/>
            </a:prstGeom>
            <a:noFill/>
            <a:ln>
              <a:noFill/>
            </a:ln>
          </p:spPr>
          <p:txBody>
            <a:bodyPr wrap="none" lIns="0" tIns="0" rIns="0" bIns="0" anchor="t" anchorCtr="0">
              <a:spAutoFit/>
            </a:bodyPr>
            <a:lstStyle/>
            <a:p>
              <a:pPr algn="l"/>
              <a:r>
                <a:rPr lang="zh-CN" sz="4350" spc="150" dirty="0">
                  <a:solidFill>
                    <a:schemeClr val="accent1"/>
                  </a:solidFill>
                  <a:latin typeface="+mj-lt"/>
                  <a:ea typeface="+mj-ea"/>
                  <a:cs typeface="+mj-cs"/>
                </a:rPr>
                <a:t>JIMBŌCHŌ</a:t>
              </a:r>
            </a:p>
          </p:txBody>
        </p:sp>
      </p:grpSp>
      <p:grpSp>
        <p:nvGrpSpPr>
          <p:cNvPr id="20" name="Group 20"/>
          <p:cNvGrpSpPr/>
          <p:nvPr/>
        </p:nvGrpSpPr>
        <p:grpSpPr>
          <a:xfrm>
            <a:off x="9334500" y="647700"/>
            <a:ext cx="2314575" cy="1171575"/>
            <a:chOff x="9334500" y="647700"/>
            <a:chExt cx="2314575" cy="1171575"/>
          </a:xfrm>
        </p:grpSpPr>
        <p:sp>
          <p:nvSpPr>
            <p:cNvPr id="14" name="Rectangle 14"/>
            <p:cNvSpPr/>
            <p:nvPr/>
          </p:nvSpPr>
          <p:spPr>
            <a:xfrm>
              <a:off x="9334500" y="647700"/>
              <a:ext cx="2286000" cy="1143000"/>
            </a:xfrm>
            <a:prstGeom prst="rect">
              <a:avLst/>
            </a:prstGeom>
            <a:solidFill>
              <a:schemeClr val="dk1"/>
            </a:solidFill>
            <a:ln>
              <a:noFill/>
            </a:ln>
          </p:spPr>
        </p:sp>
        <p:sp>
          <p:nvSpPr>
            <p:cNvPr id="15" name="Rectangle 15"/>
            <p:cNvSpPr/>
            <p:nvPr/>
          </p:nvSpPr>
          <p:spPr>
            <a:xfrm>
              <a:off x="9363075" y="676275"/>
              <a:ext cx="2286000" cy="1143000"/>
            </a:xfrm>
            <a:prstGeom prst="rect">
              <a:avLst/>
            </a:prstGeom>
            <a:solidFill>
              <a:schemeClr val="accent2">
                <a:alpha val="70000"/>
              </a:schemeClr>
            </a:solidFill>
            <a:ln>
              <a:noFill/>
            </a:ln>
          </p:spPr>
        </p:sp>
        <p:sp>
          <p:nvSpPr>
            <p:cNvPr id="16" name="Rectangle 16"/>
            <p:cNvSpPr/>
            <p:nvPr/>
          </p:nvSpPr>
          <p:spPr>
            <a:xfrm>
              <a:off x="9334500" y="647700"/>
              <a:ext cx="2286000" cy="1143000"/>
            </a:xfrm>
            <a:prstGeom prst="rect">
              <a:avLst/>
            </a:prstGeom>
            <a:solidFill>
              <a:schemeClr val="dk1"/>
            </a:solidFill>
            <a:ln>
              <a:noFill/>
            </a:ln>
          </p:spPr>
        </p:sp>
        <p:sp>
          <p:nvSpPr>
            <p:cNvPr id="17" name="TextBox 17"/>
            <p:cNvSpPr txBox="1"/>
            <p:nvPr/>
          </p:nvSpPr>
          <p:spPr>
            <a:xfrm>
              <a:off x="9806579" y="942499"/>
              <a:ext cx="1341841" cy="190690"/>
            </a:xfrm>
            <a:prstGeom prst="rect">
              <a:avLst/>
            </a:prstGeom>
            <a:noFill/>
            <a:ln>
              <a:noFill/>
            </a:ln>
          </p:spPr>
          <p:txBody>
            <a:bodyPr wrap="none" lIns="0" tIns="0" rIns="0" bIns="0" anchor="t" anchorCtr="0">
              <a:spAutoFit/>
            </a:bodyPr>
            <a:lstStyle/>
            <a:p>
              <a:pPr algn="ctr"/>
              <a:r>
                <a:rPr lang="zh-CN" sz="980" spc="225" dirty="0">
                  <a:solidFill>
                    <a:schemeClr val="accent2"/>
                  </a:solidFill>
                  <a:latin typeface="Consolas"/>
                  <a:ea typeface="Consolas"/>
                  <a:cs typeface="Consolas"/>
                </a:rPr>
                <a:t>TIME OUT 2025</a:t>
              </a:r>
            </a:p>
          </p:txBody>
        </p:sp>
        <p:sp>
          <p:nvSpPr>
            <p:cNvPr id="18" name="TextBox 18"/>
            <p:cNvSpPr txBox="1"/>
            <p:nvPr/>
          </p:nvSpPr>
          <p:spPr>
            <a:xfrm>
              <a:off x="9925431" y="1206818"/>
              <a:ext cx="1104138" cy="264033"/>
            </a:xfrm>
            <a:prstGeom prst="rect">
              <a:avLst/>
            </a:prstGeom>
            <a:noFill/>
            <a:ln>
              <a:noFill/>
            </a:ln>
          </p:spPr>
          <p:txBody>
            <a:bodyPr wrap="none" lIns="0" tIns="0" rIns="0" bIns="0" anchor="t" anchorCtr="0">
              <a:spAutoFit/>
            </a:bodyPr>
            <a:lstStyle/>
            <a:p>
              <a:pPr algn="ctr"/>
              <a:r>
                <a:rPr lang="zh-CN" sz="1350" b="1" dirty="0">
                  <a:solidFill>
                    <a:srgbClr val="F5EFE0"/>
                  </a:solidFill>
                  <a:latin typeface="+mn-lt"/>
                  <a:ea typeface="+mn-ea"/>
                  <a:cs typeface="+mn-cs"/>
                </a:rPr>
                <a:t>全球最酷街区</a:t>
              </a:r>
            </a:p>
          </p:txBody>
        </p:sp>
        <p:sp>
          <p:nvSpPr>
            <p:cNvPr id="19" name="TextBox 19"/>
            <p:cNvSpPr txBox="1"/>
            <p:nvPr/>
          </p:nvSpPr>
          <p:spPr>
            <a:xfrm>
              <a:off x="9599384" y="1549241"/>
              <a:ext cx="1756232" cy="161925"/>
            </a:xfrm>
            <a:prstGeom prst="rect">
              <a:avLst/>
            </a:prstGeom>
            <a:noFill/>
            <a:ln>
              <a:noFill/>
            </a:ln>
          </p:spPr>
          <p:txBody>
            <a:bodyPr wrap="none" lIns="0" tIns="0" rIns="0" bIns="0" anchor="t" anchorCtr="0">
              <a:spAutoFit/>
            </a:bodyPr>
            <a:lstStyle/>
            <a:p>
              <a:pPr algn="ctr"/>
              <a:r>
                <a:rPr lang="zh-CN" sz="820" spc="150" dirty="0">
                  <a:solidFill>
                    <a:srgbClr val="F5EFE0"/>
                  </a:solidFill>
                  <a:latin typeface="Consolas"/>
                  <a:ea typeface="Consolas"/>
                  <a:cs typeface="Consolas"/>
                </a:rPr>
                <a:t>COOLEST NEIGHBORHOOD</a:t>
              </a:r>
            </a:p>
          </p:txBody>
        </p:sp>
      </p:grpSp>
      <p:grpSp>
        <p:nvGrpSpPr>
          <p:cNvPr id="42" name="Group 42"/>
          <p:cNvGrpSpPr/>
          <p:nvPr/>
        </p:nvGrpSpPr>
        <p:grpSpPr>
          <a:xfrm>
            <a:off x="0" y="5143500"/>
            <a:ext cx="12192000" cy="1714500"/>
            <a:chOff x="0" y="5143500"/>
            <a:chExt cx="12192000" cy="1714500"/>
          </a:xfrm>
        </p:grpSpPr>
        <p:sp>
          <p:nvSpPr>
            <p:cNvPr id="21" name="Rectangle 21"/>
            <p:cNvSpPr/>
            <p:nvPr/>
          </p:nvSpPr>
          <p:spPr>
            <a:xfrm>
              <a:off x="0" y="5143500"/>
              <a:ext cx="12192000" cy="1714500"/>
            </a:xfrm>
            <a:prstGeom prst="rect">
              <a:avLst/>
            </a:prstGeom>
            <a:solidFill>
              <a:schemeClr val="dk1">
                <a:alpha val="86000"/>
              </a:schemeClr>
            </a:solidFill>
            <a:ln>
              <a:noFill/>
            </a:ln>
          </p:spPr>
        </p:sp>
        <p:sp>
          <p:nvSpPr>
            <p:cNvPr id="22" name="Rectangle 22"/>
            <p:cNvSpPr/>
            <p:nvPr/>
          </p:nvSpPr>
          <p:spPr>
            <a:xfrm>
              <a:off x="0" y="5143500"/>
              <a:ext cx="12192000" cy="57150"/>
            </a:xfrm>
            <a:prstGeom prst="rect">
              <a:avLst/>
            </a:prstGeom>
            <a:solidFill>
              <a:schemeClr val="accent2"/>
            </a:solidFill>
            <a:ln>
              <a:noFill/>
            </a:ln>
          </p:spPr>
        </p:sp>
        <p:grpSp>
          <p:nvGrpSpPr>
            <p:cNvPr id="27" name="Group 27"/>
            <p:cNvGrpSpPr/>
            <p:nvPr/>
          </p:nvGrpSpPr>
          <p:grpSpPr>
            <a:xfrm>
              <a:off x="742950" y="5164455"/>
              <a:ext cx="2681364" cy="1455134"/>
              <a:chOff x="742950" y="5164455"/>
              <a:chExt cx="2681364" cy="1455134"/>
            </a:xfrm>
          </p:grpSpPr>
          <p:sp>
            <p:nvSpPr>
              <p:cNvPr id="23" name="TextBox 23"/>
              <p:cNvSpPr txBox="1"/>
              <p:nvPr/>
            </p:nvSpPr>
            <p:spPr>
              <a:xfrm>
                <a:off x="742950" y="5164455"/>
                <a:ext cx="2681364" cy="990600"/>
              </a:xfrm>
              <a:prstGeom prst="rect">
                <a:avLst/>
              </a:prstGeom>
              <a:noFill/>
              <a:ln>
                <a:noFill/>
              </a:ln>
            </p:spPr>
            <p:txBody>
              <a:bodyPr wrap="none" lIns="0" tIns="0" rIns="0" bIns="0" anchor="t" anchorCtr="0">
                <a:spAutoFit/>
              </a:bodyPr>
              <a:lstStyle/>
              <a:p>
                <a:pPr algn="l"/>
                <a:r>
                  <a:rPr lang="zh-CN" sz="5100" dirty="0">
                    <a:solidFill>
                      <a:schemeClr val="accent2"/>
                    </a:solidFill>
                    <a:latin typeface="+mj-lt"/>
                    <a:ea typeface="+mj-ea"/>
                    <a:cs typeface="+mj-cs"/>
                  </a:rPr>
                  <a:t>130-180</a:t>
                </a:r>
              </a:p>
            </p:txBody>
          </p:sp>
          <p:sp>
            <p:nvSpPr>
              <p:cNvPr id="24" name="TextBox 24"/>
              <p:cNvSpPr txBox="1"/>
              <p:nvPr/>
            </p:nvSpPr>
            <p:spPr>
              <a:xfrm>
                <a:off x="755523" y="5882164"/>
                <a:ext cx="1219149" cy="249364"/>
              </a:xfrm>
              <a:prstGeom prst="rect">
                <a:avLst/>
              </a:prstGeom>
              <a:noFill/>
              <a:ln>
                <a:noFill/>
              </a:ln>
            </p:spPr>
            <p:txBody>
              <a:bodyPr wrap="none" lIns="0" tIns="0" rIns="0" bIns="0" anchor="t" anchorCtr="0">
                <a:spAutoFit/>
              </a:bodyPr>
              <a:lstStyle/>
              <a:p>
                <a:pPr algn="l"/>
                <a:r>
                  <a:rPr lang="zh-CN" sz="1280" b="1" dirty="0">
                    <a:solidFill>
                      <a:srgbClr val="F5EFE0"/>
                    </a:solidFill>
                    <a:latin typeface="+mn-lt"/>
                    <a:ea typeface="+mn-ea"/>
                    <a:cs typeface="+mn-cs"/>
                  </a:rPr>
                  <a:t>家书店密集分布</a:t>
                </a:r>
              </a:p>
            </p:txBody>
          </p:sp>
          <p:sp>
            <p:nvSpPr>
              <p:cNvPr id="25" name="TextBox 25"/>
              <p:cNvSpPr txBox="1"/>
              <p:nvPr/>
            </p:nvSpPr>
            <p:spPr>
              <a:xfrm>
                <a:off x="757238" y="6170295"/>
                <a:ext cx="2283943" cy="176212"/>
              </a:xfrm>
              <a:prstGeom prst="rect">
                <a:avLst/>
              </a:prstGeom>
              <a:noFill/>
              <a:ln>
                <a:noFill/>
              </a:ln>
            </p:spPr>
            <p:txBody>
              <a:bodyPr wrap="none" lIns="0" tIns="0" rIns="0" bIns="0" anchor="t" anchorCtr="0">
                <a:spAutoFit/>
              </a:bodyPr>
              <a:lstStyle/>
              <a:p>
                <a:pPr algn="l"/>
                <a:r>
                  <a:rPr lang="zh-CN" sz="900" spc="150" dirty="0">
                    <a:solidFill>
                      <a:srgbClr val="F5EFE0">
                        <a:alphaMod val="70000"/>
                      </a:srgbClr>
                    </a:solidFill>
                    <a:latin typeface="Consolas"/>
                    <a:ea typeface="Consolas"/>
                    <a:cs typeface="Consolas"/>
                  </a:rPr>
                  <a:t>BOOKSTORES IN ONE DISTRICT</a:t>
                </a:r>
              </a:p>
            </p:txBody>
          </p:sp>
          <p:sp>
            <p:nvSpPr>
              <p:cNvPr id="26" name="TextBox 26"/>
              <p:cNvSpPr txBox="1"/>
              <p:nvPr/>
            </p:nvSpPr>
            <p:spPr>
              <a:xfrm>
                <a:off x="757047" y="6428899"/>
                <a:ext cx="1217044" cy="190690"/>
              </a:xfrm>
              <a:prstGeom prst="rect">
                <a:avLst/>
              </a:prstGeom>
              <a:noFill/>
              <a:ln>
                <a:noFill/>
              </a:ln>
            </p:spPr>
            <p:txBody>
              <a:bodyPr wrap="none" lIns="0" tIns="0" rIns="0" bIns="0" anchor="t" anchorCtr="0">
                <a:spAutoFit/>
              </a:bodyPr>
              <a:lstStyle/>
              <a:p>
                <a:pPr algn="l"/>
                <a:r>
                  <a:rPr lang="zh-CN" sz="980" dirty="0">
                    <a:solidFill>
                      <a:srgbClr val="F5EFE0"/>
                    </a:solidFill>
                    <a:latin typeface="+mn-lt"/>
                    <a:ea typeface="+mn-ea"/>
                    <a:cs typeface="+mn-cs"/>
                  </a:rPr>
                  <a:t>靖国通 × 白山通交叉</a:t>
                </a:r>
              </a:p>
            </p:txBody>
          </p:sp>
        </p:grpSp>
        <p:sp>
          <p:nvSpPr>
            <p:cNvPr id="28" name="Line 28"/>
            <p:cNvSpPr/>
            <p:nvPr/>
          </p:nvSpPr>
          <p:spPr>
            <a:xfrm>
              <a:off x="4267200" y="5410200"/>
              <a:ext cx="9525" cy="1257300"/>
            </a:xfrm>
            <a:custGeom>
              <a:avLst/>
              <a:gdLst/>
              <a:ahLst/>
              <a:cxnLst/>
              <a:rect l="l" t="t" r="r" b="b"/>
              <a:pathLst>
                <a:path w="9525" h="1257300">
                  <a:moveTo>
                    <a:pt x="0" y="0"/>
                  </a:moveTo>
                  <a:lnTo>
                    <a:pt x="0" y="1257300"/>
                  </a:lnTo>
                </a:path>
              </a:pathLst>
            </a:custGeom>
            <a:noFill/>
            <a:ln w="9525">
              <a:solidFill>
                <a:srgbClr val="F5EFE0">
                  <a:alpha val="30000"/>
                </a:srgbClr>
              </a:solidFill>
            </a:ln>
          </p:spPr>
        </p:sp>
        <p:grpSp>
          <p:nvGrpSpPr>
            <p:cNvPr id="34" name="Group 34"/>
            <p:cNvGrpSpPr/>
            <p:nvPr/>
          </p:nvGrpSpPr>
          <p:grpSpPr>
            <a:xfrm>
              <a:off x="4632198" y="5241608"/>
              <a:ext cx="3806076" cy="1320831"/>
              <a:chOff x="4632198" y="5241608"/>
              <a:chExt cx="3806076" cy="1320831"/>
            </a:xfrm>
          </p:grpSpPr>
          <p:sp>
            <p:nvSpPr>
              <p:cNvPr id="29" name="TextBox 29"/>
              <p:cNvSpPr txBox="1"/>
              <p:nvPr/>
            </p:nvSpPr>
            <p:spPr>
              <a:xfrm>
                <a:off x="4632198" y="5241608"/>
                <a:ext cx="3806076" cy="616077"/>
              </a:xfrm>
              <a:prstGeom prst="rect">
                <a:avLst/>
              </a:prstGeom>
              <a:noFill/>
              <a:ln>
                <a:noFill/>
              </a:ln>
            </p:spPr>
            <p:txBody>
              <a:bodyPr wrap="none" lIns="0" tIns="0" rIns="0" bIns="0" anchor="t" anchorCtr="0">
                <a:spAutoFit/>
              </a:bodyPr>
              <a:lstStyle/>
              <a:p>
                <a:pPr algn="l"/>
                <a:r>
                  <a:rPr lang="zh-CN" sz="3150" dirty="0">
                    <a:solidFill>
                      <a:schemeClr val="accent2"/>
                    </a:solidFill>
                    <a:latin typeface="+mj-lt"/>
                    <a:ea typeface="+mj-ea"/>
                    <a:cs typeface="+mj-cs"/>
                  </a:rPr>
                  <a:t>1875 · 1902 · 2015</a:t>
                </a:r>
              </a:p>
            </p:txBody>
          </p:sp>
          <p:sp>
            <p:nvSpPr>
              <p:cNvPr id="30" name="TextBox 30"/>
              <p:cNvSpPr txBox="1"/>
              <p:nvPr/>
            </p:nvSpPr>
            <p:spPr>
              <a:xfrm>
                <a:off x="4642485" y="5707856"/>
                <a:ext cx="1550460" cy="220028"/>
              </a:xfrm>
              <a:prstGeom prst="rect">
                <a:avLst/>
              </a:prstGeom>
              <a:noFill/>
              <a:ln>
                <a:noFill/>
              </a:ln>
            </p:spPr>
            <p:txBody>
              <a:bodyPr wrap="none" lIns="0" tIns="0" rIns="0" bIns="0" anchor="t" anchorCtr="0">
                <a:spAutoFit/>
              </a:bodyPr>
              <a:lstStyle/>
              <a:p>
                <a:pPr algn="l"/>
                <a:r>
                  <a:rPr lang="zh-CN" sz="1120" b="1" dirty="0">
                    <a:solidFill>
                      <a:srgbClr val="F5EFE0"/>
                    </a:solidFill>
                    <a:latin typeface="+mn-lt"/>
                    <a:ea typeface="+mn-ea"/>
                    <a:cs typeface="+mn-cs"/>
                  </a:rPr>
                  <a:t>三家代表性老店 / 奇店</a:t>
                </a:r>
              </a:p>
            </p:txBody>
          </p:sp>
          <p:sp>
            <p:nvSpPr>
              <p:cNvPr id="31" name="TextBox 31"/>
              <p:cNvSpPr txBox="1"/>
              <p:nvPr/>
            </p:nvSpPr>
            <p:spPr>
              <a:xfrm>
                <a:off x="4643247" y="5990749"/>
                <a:ext cx="1685031" cy="190690"/>
              </a:xfrm>
              <a:prstGeom prst="rect">
                <a:avLst/>
              </a:prstGeom>
              <a:noFill/>
              <a:ln>
                <a:noFill/>
              </a:ln>
            </p:spPr>
            <p:txBody>
              <a:bodyPr wrap="none" lIns="0" tIns="0" rIns="0" bIns="0" anchor="t" anchorCtr="0">
                <a:spAutoFit/>
              </a:bodyPr>
              <a:lstStyle/>
              <a:p>
                <a:pPr algn="l" marL="105791" indent="-105791">
                  <a:buClr>
                    <a:srgbClr val="F5EFE0"/>
                  </a:buClr>
                  <a:buSzTx/>
                  <a:buFontTx/>
                  <a:buChar char="•"/>
                </a:pPr>
                <a:r>
                  <a:rPr lang="zh-CN" sz="980" dirty="0">
                    <a:solidFill>
                      <a:srgbClr val="F5EFE0"/>
                    </a:solidFill>
                    <a:latin typeface="+mn-lt"/>
                    <a:ea typeface="+mn-ea"/>
                    <a:cs typeface="+mn-cs"/>
                  </a:rPr>
                  <a:t>Takayama Honten (1875)</a:t>
                </a:r>
              </a:p>
            </p:txBody>
          </p:sp>
          <p:sp>
            <p:nvSpPr>
              <p:cNvPr id="32" name="TextBox 32"/>
              <p:cNvSpPr txBox="1"/>
              <p:nvPr/>
            </p:nvSpPr>
            <p:spPr>
              <a:xfrm>
                <a:off x="4643247" y="6181249"/>
                <a:ext cx="2064846" cy="190690"/>
              </a:xfrm>
              <a:prstGeom prst="rect">
                <a:avLst/>
              </a:prstGeom>
              <a:noFill/>
              <a:ln>
                <a:noFill/>
              </a:ln>
            </p:spPr>
            <p:txBody>
              <a:bodyPr wrap="none" lIns="0" tIns="0" rIns="0" bIns="0" anchor="t" anchorCtr="0">
                <a:spAutoFit/>
              </a:bodyPr>
              <a:lstStyle/>
              <a:p>
                <a:pPr algn="l" marL="105791" indent="-105791">
                  <a:buClr>
                    <a:srgbClr val="F5EFE0"/>
                  </a:buClr>
                  <a:buSzTx/>
                  <a:buFontTx/>
                  <a:buChar char="•"/>
                </a:pPr>
                <a:r>
                  <a:rPr lang="zh-CN" sz="980" dirty="0">
                    <a:solidFill>
                      <a:srgbClr val="F5EFE0"/>
                    </a:solidFill>
                    <a:latin typeface="+mn-lt"/>
                    <a:ea typeface="+mn-ea"/>
                    <a:cs typeface="+mn-cs"/>
                  </a:rPr>
                  <a:t>Kitazawa English Books (1902)</a:t>
                </a:r>
              </a:p>
            </p:txBody>
          </p:sp>
          <p:sp>
            <p:nvSpPr>
              <p:cNvPr id="33" name="TextBox 33"/>
              <p:cNvSpPr txBox="1"/>
              <p:nvPr/>
            </p:nvSpPr>
            <p:spPr>
              <a:xfrm>
                <a:off x="4643247" y="6371749"/>
                <a:ext cx="2264882" cy="190690"/>
              </a:xfrm>
              <a:prstGeom prst="rect">
                <a:avLst/>
              </a:prstGeom>
              <a:noFill/>
              <a:ln>
                <a:noFill/>
              </a:ln>
            </p:spPr>
            <p:txBody>
              <a:bodyPr wrap="none" lIns="0" tIns="0" rIns="0" bIns="0" anchor="t" anchorCtr="0">
                <a:spAutoFit/>
              </a:bodyPr>
              <a:lstStyle/>
              <a:p>
                <a:pPr algn="l" marL="105791" indent="-105791">
                  <a:buClr>
                    <a:srgbClr val="F5EFE0"/>
                  </a:buClr>
                  <a:buSzTx/>
                  <a:buFontTx/>
                  <a:buChar char="•"/>
                </a:pPr>
                <a:r>
                  <a:rPr lang="zh-CN" sz="980" dirty="0">
                    <a:solidFill>
                      <a:srgbClr val="F5EFE0"/>
                    </a:solidFill>
                    <a:latin typeface="+mn-lt"/>
                    <a:ea typeface="+mn-ea"/>
                    <a:cs typeface="+mn-cs"/>
                  </a:rPr>
                  <a:t>Morioka Shoten (2015) — 一周一本</a:t>
                </a:r>
              </a:p>
            </p:txBody>
          </p:sp>
        </p:grpSp>
        <p:sp>
          <p:nvSpPr>
            <p:cNvPr id="35" name="Line 35"/>
            <p:cNvSpPr/>
            <p:nvPr/>
          </p:nvSpPr>
          <p:spPr>
            <a:xfrm>
              <a:off x="9144000" y="5410200"/>
              <a:ext cx="9525" cy="1257300"/>
            </a:xfrm>
            <a:custGeom>
              <a:avLst/>
              <a:gdLst/>
              <a:ahLst/>
              <a:cxnLst/>
              <a:rect l="l" t="t" r="r" b="b"/>
              <a:pathLst>
                <a:path w="9525" h="1257300">
                  <a:moveTo>
                    <a:pt x="0" y="0"/>
                  </a:moveTo>
                  <a:lnTo>
                    <a:pt x="0" y="1257300"/>
                  </a:lnTo>
                </a:path>
              </a:pathLst>
            </a:custGeom>
            <a:noFill/>
            <a:ln w="9525">
              <a:solidFill>
                <a:srgbClr val="F5EFE0">
                  <a:alpha val="30000"/>
                </a:srgbClr>
              </a:solidFill>
            </a:ln>
          </p:spPr>
        </p:sp>
        <p:grpSp>
          <p:nvGrpSpPr>
            <p:cNvPr id="41" name="Group 41"/>
            <p:cNvGrpSpPr/>
            <p:nvPr/>
          </p:nvGrpSpPr>
          <p:grpSpPr>
            <a:xfrm>
              <a:off x="9512808" y="5322570"/>
              <a:ext cx="2414016" cy="1303496"/>
              <a:chOff x="9512808" y="5322570"/>
              <a:chExt cx="2414016" cy="1303496"/>
            </a:xfrm>
          </p:grpSpPr>
          <p:sp>
            <p:nvSpPr>
              <p:cNvPr id="36" name="TextBox 36"/>
              <p:cNvSpPr txBox="1"/>
              <p:nvPr/>
            </p:nvSpPr>
            <p:spPr>
              <a:xfrm>
                <a:off x="9512808" y="5322570"/>
                <a:ext cx="2414016" cy="469392"/>
              </a:xfrm>
              <a:prstGeom prst="rect">
                <a:avLst/>
              </a:prstGeom>
              <a:noFill/>
              <a:ln>
                <a:noFill/>
              </a:ln>
            </p:spPr>
            <p:txBody>
              <a:bodyPr wrap="none" lIns="0" tIns="0" rIns="0" bIns="0" anchor="t" anchorCtr="0">
                <a:spAutoFit/>
              </a:bodyPr>
              <a:lstStyle/>
              <a:p>
                <a:pPr algn="l"/>
                <a:r>
                  <a:rPr lang="zh-CN" sz="2400" dirty="0">
                    <a:solidFill>
                      <a:schemeClr val="accent2"/>
                    </a:solidFill>
                    <a:latin typeface="+mj-lt"/>
                    <a:ea typeface="+mj-ea"/>
                    <a:cs typeface="+mj-cs"/>
                  </a:rPr>
                  <a:t>UTRECHT × 原宿</a:t>
                </a:r>
              </a:p>
            </p:txBody>
          </p:sp>
          <p:sp>
            <p:nvSpPr>
              <p:cNvPr id="37" name="TextBox 37"/>
              <p:cNvSpPr txBox="1"/>
              <p:nvPr/>
            </p:nvSpPr>
            <p:spPr>
              <a:xfrm>
                <a:off x="9519666" y="5715952"/>
                <a:ext cx="1802645" cy="205359"/>
              </a:xfrm>
              <a:prstGeom prst="rect">
                <a:avLst/>
              </a:prstGeom>
              <a:noFill/>
              <a:ln>
                <a:noFill/>
              </a:ln>
            </p:spPr>
            <p:txBody>
              <a:bodyPr wrap="none" lIns="0" tIns="0" rIns="0" bIns="0" anchor="t" anchorCtr="0">
                <a:spAutoFit/>
              </a:bodyPr>
              <a:lstStyle/>
              <a:p>
                <a:pPr algn="l"/>
                <a:r>
                  <a:rPr lang="zh-CN" sz="1050" b="1" dirty="0">
                    <a:solidFill>
                      <a:srgbClr val="F5EFE0"/>
                    </a:solidFill>
                    <a:latin typeface="+mn-lt"/>
                    <a:ea typeface="+mn-ea"/>
                    <a:cs typeface="+mn-cs"/>
                  </a:rPr>
                  <a:t>日本最大独立 zine 收藏之一</a:t>
                </a:r>
              </a:p>
            </p:txBody>
          </p:sp>
          <p:sp>
            <p:nvSpPr>
              <p:cNvPr id="38" name="TextBox 38"/>
              <p:cNvSpPr txBox="1"/>
              <p:nvPr/>
            </p:nvSpPr>
            <p:spPr>
              <a:xfrm>
                <a:off x="9520238" y="5998845"/>
                <a:ext cx="857631" cy="176212"/>
              </a:xfrm>
              <a:prstGeom prst="rect">
                <a:avLst/>
              </a:prstGeom>
              <a:noFill/>
              <a:ln>
                <a:noFill/>
              </a:ln>
            </p:spPr>
            <p:txBody>
              <a:bodyPr wrap="none" lIns="0" tIns="0" rIns="0" bIns="0" anchor="t" anchorCtr="0">
                <a:spAutoFit/>
              </a:bodyPr>
              <a:lstStyle/>
              <a:p>
                <a:pPr algn="l"/>
                <a:r>
                  <a:rPr lang="zh-CN" sz="900" dirty="0">
                    <a:solidFill>
                      <a:srgbClr val="F5EFE0">
                        <a:alphaMod val="85000"/>
                      </a:srgbClr>
                    </a:solidFill>
                    <a:latin typeface="+mn-lt"/>
                    <a:ea typeface="+mn-ea"/>
                    <a:cs typeface="+mn-cs"/>
                  </a:rPr>
                  <a:t>私宅式木质货架</a:t>
                </a:r>
              </a:p>
            </p:txBody>
          </p:sp>
          <p:sp>
            <p:nvSpPr>
              <p:cNvPr id="39" name="TextBox 39"/>
              <p:cNvSpPr txBox="1"/>
              <p:nvPr/>
            </p:nvSpPr>
            <p:spPr>
              <a:xfrm>
                <a:off x="9520238" y="6189345"/>
                <a:ext cx="1118121" cy="176212"/>
              </a:xfrm>
              <a:prstGeom prst="rect">
                <a:avLst/>
              </a:prstGeom>
              <a:noFill/>
              <a:ln>
                <a:noFill/>
              </a:ln>
            </p:spPr>
            <p:txBody>
              <a:bodyPr wrap="none" lIns="0" tIns="0" rIns="0" bIns="0" anchor="t" anchorCtr="0">
                <a:spAutoFit/>
              </a:bodyPr>
              <a:lstStyle/>
              <a:p>
                <a:pPr algn="l"/>
                <a:r>
                  <a:rPr lang="zh-CN" sz="900" dirty="0">
                    <a:solidFill>
                      <a:srgbClr val="F5EFE0">
                        <a:alphaMod val="85000"/>
                      </a:srgbClr>
                    </a:solidFill>
                    <a:latin typeface="+mn-lt"/>
                    <a:ea typeface="+mn-ea"/>
                    <a:cs typeface="+mn-cs"/>
                  </a:rPr>
                  <a:t>温暖灯光 · 安静浏览</a:t>
                </a:r>
              </a:p>
            </p:txBody>
          </p:sp>
          <p:sp>
            <p:nvSpPr>
              <p:cNvPr id="40" name="TextBox 40"/>
              <p:cNvSpPr txBox="1"/>
              <p:nvPr/>
            </p:nvSpPr>
            <p:spPr>
              <a:xfrm>
                <a:off x="9520238" y="6464141"/>
                <a:ext cx="1318986" cy="161925"/>
              </a:xfrm>
              <a:prstGeom prst="rect">
                <a:avLst/>
              </a:prstGeom>
              <a:noFill/>
              <a:ln>
                <a:noFill/>
              </a:ln>
            </p:spPr>
            <p:txBody>
              <a:bodyPr wrap="none" lIns="0" tIns="0" rIns="0" bIns="0" anchor="t" anchorCtr="0">
                <a:spAutoFit/>
              </a:bodyPr>
              <a:lstStyle/>
              <a:p>
                <a:pPr algn="l"/>
                <a:r>
                  <a:rPr lang="zh-CN" sz="820" spc="150" dirty="0">
                    <a:solidFill>
                      <a:schemeClr val="accent2"/>
                    </a:solidFill>
                    <a:latin typeface="Consolas"/>
                    <a:ea typeface="Consolas"/>
                    <a:cs typeface="Consolas"/>
                  </a:rPr>
                  <a:t>→ ZINE PILGRIMAGE</a:t>
                </a:r>
              </a:p>
            </p:txBody>
          </p:sp>
        </p:grpSp>
      </p:grpSp>
      <p:sp>
        <p:nvSpPr>
          <p:cNvPr id="43" name="TextBox 43"/>
          <p:cNvSpPr txBox="1"/>
          <p:nvPr/>
        </p:nvSpPr>
        <p:spPr>
          <a:xfrm>
            <a:off x="566738" y="6654641"/>
            <a:ext cx="1651259" cy="161925"/>
          </a:xfrm>
          <a:prstGeom prst="rect">
            <a:avLst/>
          </a:prstGeom>
          <a:noFill/>
          <a:ln>
            <a:noFill/>
          </a:ln>
        </p:spPr>
        <p:txBody>
          <a:bodyPr wrap="none" lIns="0" tIns="0" rIns="0" bIns="0" anchor="t" anchorCtr="0">
            <a:spAutoFit/>
          </a:bodyPr>
          <a:lstStyle/>
          <a:p>
            <a:pPr algn="l"/>
            <a:r>
              <a:rPr lang="zh-CN" sz="820" spc="150" dirty="0">
                <a:solidFill>
                  <a:srgbClr val="F5EFE0"/>
                </a:solidFill>
                <a:latin typeface="Consolas"/>
                <a:ea typeface="Consolas"/>
                <a:cs typeface="Consolas"/>
              </a:rPr>
              <a:t>P09 · TOKYO JIMBŌCHŌ</a:t>
            </a:r>
          </a:p>
        </p:txBody>
      </p:sp>
    </p:spTree>
  </p:cSld>
  <p:clrMapOvr>
    <a:masterClrMapping/>
  </p:clrMapOvr>
  <p:transition xmlns:p14="http://schemas.microsoft.com/office/powerpoint/2010/main" p14:dur="450">
    <p:push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50"/>
                                        <p:tgtEl>
                                          <p:spTgt spid="3"/>
                                        </p:tgtEl>
                                      </p:cBhvr>
                                    </p:animEffect>
                                  </p:childTnLst>
                                </p:cTn>
                              </p:par>
                            </p:childTnLst>
                          </p:cTn>
                        </p:par>
                        <p:par>
                          <p:cTn id="8" fill="hold">
                            <p:stCondLst>
                              <p:cond delay="550"/>
                            </p:stCondLst>
                            <p:childTnLst>
                              <p:par>
                                <p:cTn xmlns:p="http://schemas.openxmlformats.org/presentationml/2006/main" id="9" presetID="1" presetClass="entr" presetSubtype="0" fill="hold" grpId="0" nodeType="afterEffect">
                                  <p:stCondLst>
                                    <p:cond delay="150"/>
                                  </p:stCondLst>
                                  <p:childTnLst>
                                    <p:set>
                                      <p:cBhvr>
                                        <p:cTn id="10" dur="1" fill="hold">
                                          <p:stCondLst>
                                            <p:cond delay="0"/>
                                          </p:stCondLst>
                                        </p:cTn>
                                        <p:tgtEl>
                                          <p:spTgt spid="13"/>
                                        </p:tgtEl>
                                        <p:attrNameLst>
                                          <p:attrName>style.visibility</p:attrName>
                                        </p:attrNameLst>
                                      </p:cBhvr>
                                      <p:to>
                                        <p:strVal val="visible"/>
                                      </p:to>
                                    </p:set>
                                  </p:childTnLst>
                                </p:cTn>
                              </p:par>
                            </p:childTnLst>
                          </p:cTn>
                        </p:par>
                        <p:par>
                          <p:cTn id="11" fill="hold">
                            <p:stCondLst>
                              <p:cond delay="1000"/>
                            </p:stCondLst>
                            <p:childTnLst>
                              <p:par>
                                <p:cTn xmlns:p="http://schemas.openxmlformats.org/presentationml/2006/main" id="12" presetID="4" presetClass="entr" presetSubtype="16" fill="hold" grpId="0" nodeType="afterEffect">
                                  <p:stCondLst>
                                    <p:cond delay="200"/>
                                  </p:stCondLst>
                                  <p:childTnLst>
                                    <p:set>
                                      <p:cBhvr>
                                        <p:cTn id="13" dur="1" fill="hold">
                                          <p:stCondLst>
                                            <p:cond delay="0"/>
                                          </p:stCondLst>
                                        </p:cTn>
                                        <p:tgtEl>
                                          <p:spTgt spid="20"/>
                                        </p:tgtEl>
                                        <p:attrNameLst>
                                          <p:attrName>style.visibility</p:attrName>
                                        </p:attrNameLst>
                                      </p:cBhvr>
                                      <p:to>
                                        <p:strVal val="visible"/>
                                      </p:to>
                                    </p:set>
                                    <p:animEffect transition="in" filter="box(in)">
                                      <p:cBhvr>
                                        <p:cTn id="14" dur="400"/>
                                        <p:tgtEl>
                                          <p:spTgt spid="20"/>
                                        </p:tgtEl>
                                      </p:cBhvr>
                                    </p:animEffect>
                                  </p:childTnLst>
                                </p:cTn>
                              </p:par>
                            </p:childTnLst>
                          </p:cTn>
                        </p:par>
                        <p:par>
                          <p:cTn id="15" fill="hold">
                            <p:stCondLst>
                              <p:cond delay="1600"/>
                            </p:stCondLst>
                            <p:childTnLst>
                              <p:par>
                                <p:cTn xmlns:p="http://schemas.openxmlformats.org/presentationml/2006/main" id="16" presetID="22" presetClass="entr" presetSubtype="4" fill="hold" grpId="0" nodeType="afterEffect">
                                  <p:stCondLst>
                                    <p:cond delay="200"/>
                                  </p:stCondLst>
                                  <p:childTnLst>
                                    <p:set>
                                      <p:cBhvr>
                                        <p:cTn id="17" dur="1" fill="hold">
                                          <p:stCondLst>
                                            <p:cond delay="0"/>
                                          </p:stCondLst>
                                        </p:cTn>
                                        <p:tgtEl>
                                          <p:spTgt spid="42"/>
                                        </p:tgtEl>
                                        <p:attrNameLst>
                                          <p:attrName>style.visibility</p:attrName>
                                        </p:attrNameLst>
                                      </p:cBhvr>
                                      <p:to>
                                        <p:strVal val="visible"/>
                                      </p:to>
                                    </p:set>
                                    <p:animEffect transition="in" filter="wipe(down)">
                                      <p:cBhvr>
                                        <p:cTn id="18" dur="55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pattFill prst="ltUpDiag">
            <a:fgClr>
              <a:schemeClr val="dk1">
                <a:alpha val="10000"/>
              </a:schemeClr>
            </a:fgClr>
            <a:bgClr>
              <a:srgbClr val="FFFFFF"/>
            </a:bgClr>
          </a:pattFill>
          <a:ln>
            <a:noFill/>
          </a:ln>
        </p:spPr>
      </p:sp>
      <p:grpSp>
        <p:nvGrpSpPr>
          <p:cNvPr id="8" name="Group 8"/>
          <p:cNvGrpSpPr/>
          <p:nvPr/>
        </p:nvGrpSpPr>
        <p:grpSpPr>
          <a:xfrm>
            <a:off x="571500" y="533400"/>
            <a:ext cx="4846071" cy="771239"/>
            <a:chOff x="571500" y="533400"/>
            <a:chExt cx="4846071" cy="771239"/>
          </a:xfrm>
        </p:grpSpPr>
        <p:sp>
          <p:nvSpPr>
            <p:cNvPr id="3" name="Rectangle 3"/>
            <p:cNvSpPr/>
            <p:nvPr/>
          </p:nvSpPr>
          <p:spPr>
            <a:xfrm>
              <a:off x="571500" y="533400"/>
              <a:ext cx="133350" cy="647700"/>
            </a:xfrm>
            <a:prstGeom prst="rect">
              <a:avLst/>
            </a:prstGeom>
            <a:solidFill>
              <a:schemeClr val="accent1"/>
            </a:solidFill>
            <a:ln>
              <a:noFill/>
            </a:ln>
          </p:spPr>
        </p:sp>
        <p:sp>
          <p:nvSpPr>
            <p:cNvPr id="4" name="Rectangle 4"/>
            <p:cNvSpPr/>
            <p:nvPr/>
          </p:nvSpPr>
          <p:spPr>
            <a:xfrm>
              <a:off x="600075" y="561975"/>
              <a:ext cx="133350" cy="647700"/>
            </a:xfrm>
            <a:prstGeom prst="rect">
              <a:avLst/>
            </a:prstGeom>
            <a:solidFill>
              <a:schemeClr val="accent2">
                <a:alpha val="70000"/>
              </a:schemeClr>
            </a:solidFill>
            <a:ln>
              <a:noFill/>
            </a:ln>
          </p:spPr>
        </p:sp>
        <p:sp>
          <p:nvSpPr>
            <p:cNvPr id="5" name="Rectangle 5"/>
            <p:cNvSpPr/>
            <p:nvPr/>
          </p:nvSpPr>
          <p:spPr>
            <a:xfrm>
              <a:off x="571500" y="533400"/>
              <a:ext cx="133350" cy="647700"/>
            </a:xfrm>
            <a:prstGeom prst="rect">
              <a:avLst/>
            </a:prstGeom>
            <a:solidFill>
              <a:schemeClr val="accent1"/>
            </a:solidFill>
            <a:ln>
              <a:noFill/>
            </a:ln>
          </p:spPr>
        </p:sp>
        <p:sp>
          <p:nvSpPr>
            <p:cNvPr id="6" name="TextBox 6"/>
            <p:cNvSpPr txBox="1"/>
            <p:nvPr/>
          </p:nvSpPr>
          <p:spPr>
            <a:xfrm>
              <a:off x="858774" y="561022"/>
              <a:ext cx="4183704" cy="674751"/>
            </a:xfrm>
            <a:prstGeom prst="rect">
              <a:avLst/>
            </a:prstGeom>
            <a:noFill/>
            <a:ln>
              <a:noFill/>
            </a:ln>
          </p:spPr>
          <p:txBody>
            <a:bodyPr wrap="none" lIns="0" tIns="0" rIns="0" bIns="0" anchor="t" anchorCtr="0">
              <a:spAutoFit/>
            </a:bodyPr>
            <a:lstStyle/>
            <a:p>
              <a:pPr algn="l"/>
              <a:r>
                <a:rPr lang="zh-CN" sz="3450" spc="-75" dirty="0">
                  <a:solidFill>
                    <a:schemeClr val="dk1"/>
                  </a:solidFill>
                  <a:latin typeface="+mj-lt"/>
                  <a:ea typeface="+mj-ea"/>
                  <a:cs typeface="+mj-cs"/>
                </a:rPr>
                <a:t>三座城市 · 三种姿态</a:t>
              </a:r>
            </a:p>
          </p:txBody>
        </p:sp>
        <p:sp>
          <p:nvSpPr>
            <p:cNvPr id="7" name="TextBox 7"/>
            <p:cNvSpPr txBox="1"/>
            <p:nvPr/>
          </p:nvSpPr>
          <p:spPr>
            <a:xfrm>
              <a:off x="871347" y="1113949"/>
              <a:ext cx="4546224" cy="190690"/>
            </a:xfrm>
            <a:prstGeom prst="rect">
              <a:avLst/>
            </a:prstGeom>
            <a:noFill/>
            <a:ln>
              <a:noFill/>
            </a:ln>
          </p:spPr>
          <p:txBody>
            <a:bodyPr wrap="none" lIns="0" tIns="0" rIns="0" bIns="0" anchor="t" anchorCtr="0">
              <a:spAutoFit/>
            </a:bodyPr>
            <a:lstStyle/>
            <a:p>
              <a:pPr algn="l"/>
              <a:r>
                <a:rPr lang="zh-CN" sz="980" spc="225" dirty="0">
                  <a:solidFill>
                    <a:schemeClr val="dk2"/>
                  </a:solidFill>
                  <a:latin typeface="Consolas"/>
                  <a:ea typeface="Consolas"/>
                  <a:cs typeface="Consolas"/>
                </a:rPr>
                <a:t>THREE CITIES · THREE BOOKSTORE TEMPERAMENTS</a:t>
              </a:r>
            </a:p>
          </p:txBody>
        </p:sp>
      </p:grpSp>
      <p:sp>
        <p:nvSpPr>
          <p:cNvPr id="9" name="Line 9"/>
          <p:cNvSpPr/>
          <p:nvPr/>
        </p:nvSpPr>
        <p:spPr>
          <a:xfrm>
            <a:off x="571500" y="1447800"/>
            <a:ext cx="11049000" cy="9525"/>
          </a:xfrm>
          <a:custGeom>
            <a:avLst/>
            <a:gdLst/>
            <a:ahLst/>
            <a:cxnLst/>
            <a:rect l="l" t="t" r="r" b="b"/>
            <a:pathLst>
              <a:path w="11049000" h="9525">
                <a:moveTo>
                  <a:pt x="0" y="0"/>
                </a:moveTo>
                <a:lnTo>
                  <a:pt x="11049000" y="0"/>
                </a:lnTo>
              </a:path>
            </a:pathLst>
          </a:custGeom>
          <a:noFill/>
          <a:ln w="28575">
            <a:solidFill>
              <a:schemeClr val="accent4"/>
            </a:solidFill>
          </a:ln>
        </p:spPr>
      </p:sp>
      <p:grpSp>
        <p:nvGrpSpPr>
          <p:cNvPr id="13" name="Group 13"/>
          <p:cNvGrpSpPr/>
          <p:nvPr/>
        </p:nvGrpSpPr>
        <p:grpSpPr>
          <a:xfrm>
            <a:off x="552450" y="1619250"/>
            <a:ext cx="11087100" cy="1543050"/>
            <a:chOff x="552450" y="1619250"/>
            <a:chExt cx="11087100" cy="1543050"/>
          </a:xfrm>
        </p:grpSpPr>
        <p:sp>
          <p:nvSpPr>
            <p:cNvPr id="10" name="Rectangle 10"/>
            <p:cNvSpPr/>
            <p:nvPr/>
          </p:nvSpPr>
          <p:spPr>
            <a:xfrm>
              <a:off x="552450" y="1638300"/>
              <a:ext cx="11087100" cy="1524000"/>
            </a:xfrm>
            <a:prstGeom prst="rect">
              <a:avLst/>
            </a:prstGeom>
            <a:solidFill>
              <a:schemeClr val="accent2"/>
            </a:solidFill>
            <a:ln>
              <a:noFill/>
            </a:ln>
          </p:spPr>
        </p:sp>
        <p:pic>
          <p:nvPicPr>
            <p:cNvPr id="11" name="Image 11"/>
            <p:cNvPicPr>
              <a:picLocks noChangeAspect="1"/>
            </p:cNvPicPr>
            <p:nvPr/>
          </p:nvPicPr>
          <p:blipFill>
            <a:blip r:embed="rId2"/>
            <a:srcRect l="0" t="33773" r="0" b="33773"/>
            <a:stretch>
              <a:fillRect/>
            </a:stretch>
          </p:blipFill>
          <p:spPr>
            <a:xfrm>
              <a:off x="571500" y="1619250"/>
              <a:ext cx="11049000" cy="1524000"/>
            </a:xfrm>
            <a:prstGeom prst="rect">
              <a:avLst/>
            </a:prstGeom>
          </p:spPr>
        </p:pic>
        <p:sp>
          <p:nvSpPr>
            <p:cNvPr id="12" name="Line 12"/>
            <p:cNvSpPr/>
            <p:nvPr/>
          </p:nvSpPr>
          <p:spPr>
            <a:xfrm>
              <a:off x="571500" y="3143250"/>
              <a:ext cx="11049000" cy="9525"/>
            </a:xfrm>
            <a:custGeom>
              <a:avLst/>
              <a:gdLst/>
              <a:ahLst/>
              <a:cxnLst/>
              <a:rect l="l" t="t" r="r" b="b"/>
              <a:pathLst>
                <a:path w="11049000" h="9525">
                  <a:moveTo>
                    <a:pt x="0" y="0"/>
                  </a:moveTo>
                  <a:lnTo>
                    <a:pt x="11049000" y="0"/>
                  </a:lnTo>
                </a:path>
              </a:pathLst>
            </a:custGeom>
            <a:noFill/>
            <a:ln w="28575">
              <a:solidFill>
                <a:schemeClr val="accent4"/>
              </a:solidFill>
            </a:ln>
          </p:spPr>
        </p:sp>
      </p:grpSp>
      <p:grpSp>
        <p:nvGrpSpPr>
          <p:cNvPr id="30" name="Group 30"/>
          <p:cNvGrpSpPr/>
          <p:nvPr/>
        </p:nvGrpSpPr>
        <p:grpSpPr>
          <a:xfrm>
            <a:off x="571500" y="3333750"/>
            <a:ext cx="3648075" cy="3076575"/>
            <a:chOff x="571500" y="3333750"/>
            <a:chExt cx="3648075" cy="3076575"/>
          </a:xfrm>
        </p:grpSpPr>
        <p:sp>
          <p:nvSpPr>
            <p:cNvPr id="14" name="Rectangle 14"/>
            <p:cNvSpPr/>
            <p:nvPr/>
          </p:nvSpPr>
          <p:spPr>
            <a:xfrm>
              <a:off x="571500" y="3333750"/>
              <a:ext cx="3619500" cy="3048000"/>
            </a:xfrm>
            <a:prstGeom prst="rect">
              <a:avLst/>
            </a:prstGeom>
            <a:solidFill>
              <a:schemeClr val="dk1"/>
            </a:solidFill>
            <a:ln>
              <a:noFill/>
            </a:ln>
          </p:spPr>
        </p:sp>
        <p:sp>
          <p:nvSpPr>
            <p:cNvPr id="15" name="Rectangle 15"/>
            <p:cNvSpPr/>
            <p:nvPr/>
          </p:nvSpPr>
          <p:spPr>
            <a:xfrm>
              <a:off x="600075" y="3362325"/>
              <a:ext cx="3619500" cy="3048000"/>
            </a:xfrm>
            <a:prstGeom prst="rect">
              <a:avLst/>
            </a:prstGeom>
            <a:solidFill>
              <a:schemeClr val="accent2">
                <a:alpha val="50000"/>
              </a:schemeClr>
            </a:solidFill>
            <a:ln>
              <a:noFill/>
            </a:ln>
          </p:spPr>
        </p:sp>
        <p:sp>
          <p:nvSpPr>
            <p:cNvPr id="16" name="Rectangle 16"/>
            <p:cNvSpPr/>
            <p:nvPr/>
          </p:nvSpPr>
          <p:spPr>
            <a:xfrm>
              <a:off x="571500" y="3333750"/>
              <a:ext cx="3619500" cy="3048000"/>
            </a:xfrm>
            <a:prstGeom prst="rect">
              <a:avLst/>
            </a:prstGeom>
            <a:solidFill>
              <a:schemeClr val="dk1"/>
            </a:solidFill>
            <a:ln>
              <a:noFill/>
            </a:ln>
          </p:spPr>
        </p:sp>
        <p:sp>
          <p:nvSpPr>
            <p:cNvPr id="17" name="Rectangle 17"/>
            <p:cNvSpPr/>
            <p:nvPr/>
          </p:nvSpPr>
          <p:spPr>
            <a:xfrm>
              <a:off x="571500" y="3333750"/>
              <a:ext cx="3619500" cy="647700"/>
            </a:xfrm>
            <a:prstGeom prst="rect">
              <a:avLst/>
            </a:prstGeom>
            <a:solidFill>
              <a:schemeClr val="accent1"/>
            </a:solidFill>
            <a:ln>
              <a:noFill/>
            </a:ln>
          </p:spPr>
        </p:sp>
        <p:sp>
          <p:nvSpPr>
            <p:cNvPr id="18" name="TextBox 18"/>
            <p:cNvSpPr txBox="1"/>
            <p:nvPr/>
          </p:nvSpPr>
          <p:spPr>
            <a:xfrm>
              <a:off x="710184" y="3461385"/>
              <a:ext cx="987552" cy="528066"/>
            </a:xfrm>
            <a:prstGeom prst="rect">
              <a:avLst/>
            </a:prstGeom>
            <a:noFill/>
            <a:ln>
              <a:noFill/>
            </a:ln>
          </p:spPr>
          <p:txBody>
            <a:bodyPr wrap="none" lIns="0" tIns="0" rIns="0" bIns="0" anchor="t" anchorCtr="0">
              <a:spAutoFit/>
            </a:bodyPr>
            <a:lstStyle/>
            <a:p>
              <a:pPr algn="l"/>
              <a:r>
                <a:rPr lang="zh-CN" sz="2700" dirty="0">
                  <a:solidFill>
                    <a:srgbClr val="F5EFE0"/>
                  </a:solidFill>
                  <a:latin typeface="+mj-lt"/>
                  <a:ea typeface="+mj-ea"/>
                  <a:cs typeface="+mj-cs"/>
                </a:rPr>
                <a:t>PARIS</a:t>
              </a:r>
            </a:p>
          </p:txBody>
        </p:sp>
        <p:sp>
          <p:nvSpPr>
            <p:cNvPr id="19" name="TextBox 19"/>
            <p:cNvSpPr txBox="1"/>
            <p:nvPr/>
          </p:nvSpPr>
          <p:spPr>
            <a:xfrm>
              <a:off x="3749599" y="3647599"/>
              <a:ext cx="293954" cy="190690"/>
            </a:xfrm>
            <a:prstGeom prst="rect">
              <a:avLst/>
            </a:prstGeom>
            <a:noFill/>
            <a:ln>
              <a:noFill/>
            </a:ln>
          </p:spPr>
          <p:txBody>
            <a:bodyPr wrap="none" lIns="0" tIns="0" rIns="0" bIns="0" anchor="t" anchorCtr="0">
              <a:spAutoFit/>
            </a:bodyPr>
            <a:lstStyle/>
            <a:p>
              <a:pPr algn="r"/>
              <a:r>
                <a:rPr lang="zh-CN" sz="980" spc="150" dirty="0">
                  <a:solidFill>
                    <a:schemeClr val="accent2"/>
                  </a:solidFill>
                  <a:latin typeface="Consolas"/>
                  <a:ea typeface="Microsoft YaHei"/>
                  <a:cs typeface="Consolas"/>
                </a:rPr>
                <a:t>巴黎</a:t>
              </a:r>
            </a:p>
          </p:txBody>
        </p:sp>
        <p:sp>
          <p:nvSpPr>
            <p:cNvPr id="20" name="TextBox 20"/>
            <p:cNvSpPr txBox="1"/>
            <p:nvPr/>
          </p:nvSpPr>
          <p:spPr>
            <a:xfrm>
              <a:off x="753618" y="4108132"/>
              <a:ext cx="2912672" cy="322707"/>
            </a:xfrm>
            <a:prstGeom prst="rect">
              <a:avLst/>
            </a:prstGeom>
            <a:noFill/>
            <a:ln>
              <a:noFill/>
            </a:ln>
          </p:spPr>
          <p:txBody>
            <a:bodyPr wrap="none" lIns="0" tIns="0" rIns="0" bIns="0" anchor="t" anchorCtr="0">
              <a:spAutoFit/>
            </a:bodyPr>
            <a:lstStyle/>
            <a:p>
              <a:pPr algn="l"/>
              <a:r>
                <a:rPr lang="zh-CN" sz="1650" b="1" dirty="0">
                  <a:solidFill>
                    <a:srgbClr val="F5EFE0"/>
                  </a:solidFill>
                  <a:latin typeface="+mn-lt"/>
                  <a:ea typeface="+mn-ea"/>
                  <a:cs typeface="+mn-cs"/>
                </a:rPr>
                <a:t>Shakespeare and Company</a:t>
              </a:r>
            </a:p>
          </p:txBody>
        </p:sp>
        <p:sp>
          <p:nvSpPr>
            <p:cNvPr id="21" name="TextBox 21"/>
            <p:cNvSpPr txBox="1"/>
            <p:nvPr/>
          </p:nvSpPr>
          <p:spPr>
            <a:xfrm>
              <a:off x="757238" y="4444841"/>
              <a:ext cx="2490475" cy="161925"/>
            </a:xfrm>
            <a:prstGeom prst="rect">
              <a:avLst/>
            </a:prstGeom>
            <a:noFill/>
            <a:ln>
              <a:noFill/>
            </a:ln>
          </p:spPr>
          <p:txBody>
            <a:bodyPr wrap="none" lIns="0" tIns="0" rIns="0" bIns="0" anchor="t" anchorCtr="0">
              <a:spAutoFit/>
            </a:bodyPr>
            <a:lstStyle/>
            <a:p>
              <a:pPr algn="l"/>
              <a:r>
                <a:rPr lang="zh-CN" sz="820" spc="150" dirty="0">
                  <a:solidFill>
                    <a:schemeClr val="accent2"/>
                  </a:solidFill>
                  <a:latin typeface="Consolas"/>
                  <a:ea typeface="Consolas"/>
                  <a:cs typeface="Consolas"/>
                </a:rPr>
                <a:t>37 RUE DE LA BÛCHERIE · EST 1951</a:t>
              </a:r>
            </a:p>
          </p:txBody>
        </p:sp>
        <p:sp>
          <p:nvSpPr>
            <p:cNvPr id="22" name="Line 22"/>
            <p:cNvSpPr/>
            <p:nvPr/>
          </p:nvSpPr>
          <p:spPr>
            <a:xfrm>
              <a:off x="762000" y="4648200"/>
              <a:ext cx="1143000" cy="9525"/>
            </a:xfrm>
            <a:custGeom>
              <a:avLst/>
              <a:gdLst/>
              <a:ahLst/>
              <a:cxnLst/>
              <a:rect l="l" t="t" r="r" b="b"/>
              <a:pathLst>
                <a:path w="1143000" h="9525">
                  <a:moveTo>
                    <a:pt x="0" y="0"/>
                  </a:moveTo>
                  <a:lnTo>
                    <a:pt x="1143000" y="0"/>
                  </a:lnTo>
                </a:path>
              </a:pathLst>
            </a:custGeom>
            <a:noFill/>
            <a:ln w="19050">
              <a:solidFill>
                <a:schemeClr val="accent2"/>
              </a:solidFill>
            </a:ln>
          </p:spPr>
        </p:sp>
        <p:sp>
          <p:nvSpPr>
            <p:cNvPr id="23" name="TextBox 23"/>
            <p:cNvSpPr txBox="1"/>
            <p:nvPr/>
          </p:nvSpPr>
          <p:spPr>
            <a:xfrm>
              <a:off x="756666" y="4782502"/>
              <a:ext cx="1665566" cy="205359"/>
            </a:xfrm>
            <a:prstGeom prst="rect">
              <a:avLst/>
            </a:prstGeom>
            <a:noFill/>
            <a:ln>
              <a:noFill/>
            </a:ln>
          </p:spPr>
          <p:txBody>
            <a:bodyPr wrap="none" lIns="0" tIns="0" rIns="0" bIns="0" anchor="t" anchorCtr="0">
              <a:spAutoFit/>
            </a:bodyPr>
            <a:lstStyle/>
            <a:p>
              <a:pPr algn="l" marL="113348" indent="-113348">
                <a:buClr>
                  <a:srgbClr val="F5EFE0"/>
                </a:buClr>
                <a:buSzTx/>
                <a:buFontTx/>
                <a:buChar char="•"/>
              </a:pPr>
              <a:r>
                <a:rPr lang="zh-CN" sz="1050" dirty="0">
                  <a:solidFill>
                    <a:srgbClr val="F5EFE0"/>
                  </a:solidFill>
                  <a:latin typeface="+mn-lt"/>
                  <a:ea typeface="+mn-ea"/>
                  <a:cs typeface="+mn-cs"/>
                </a:rPr>
                <a:t>原址 12 rue de l'Odéon</a:t>
              </a:r>
            </a:p>
          </p:txBody>
        </p:sp>
        <p:sp>
          <p:nvSpPr>
            <p:cNvPr id="24" name="TextBox 24"/>
            <p:cNvSpPr txBox="1"/>
            <p:nvPr/>
          </p:nvSpPr>
          <p:spPr>
            <a:xfrm>
              <a:off x="756666" y="4992052"/>
              <a:ext cx="1531549" cy="205359"/>
            </a:xfrm>
            <a:prstGeom prst="rect">
              <a:avLst/>
            </a:prstGeom>
            <a:noFill/>
            <a:ln>
              <a:noFill/>
            </a:ln>
          </p:spPr>
          <p:txBody>
            <a:bodyPr wrap="none" lIns="0" tIns="0" rIns="0" bIns="0" anchor="t" anchorCtr="0">
              <a:spAutoFit/>
            </a:bodyPr>
            <a:lstStyle/>
            <a:p>
              <a:pPr algn="l"/>
              <a:r>
                <a:rPr lang="zh-CN" sz="1050" dirty="0">
                  <a:solidFill>
                    <a:srgbClr val="F5EFE0"/>
                  </a:solidFill>
                  <a:latin typeface="+mn-lt"/>
                  <a:ea typeface="+mn-ea"/>
                  <a:cs typeface="+mn-cs"/>
                </a:rPr>
                <a:t>Sylvia Beach 1919 创办</a:t>
              </a:r>
            </a:p>
          </p:txBody>
        </p:sp>
        <p:sp>
          <p:nvSpPr>
            <p:cNvPr id="25" name="TextBox 25"/>
            <p:cNvSpPr txBox="1"/>
            <p:nvPr/>
          </p:nvSpPr>
          <p:spPr>
            <a:xfrm>
              <a:off x="756666" y="5277802"/>
              <a:ext cx="1892031" cy="205359"/>
            </a:xfrm>
            <a:prstGeom prst="rect">
              <a:avLst/>
            </a:prstGeom>
            <a:noFill/>
            <a:ln>
              <a:noFill/>
            </a:ln>
          </p:spPr>
          <p:txBody>
            <a:bodyPr wrap="none" lIns="0" tIns="0" rIns="0" bIns="0" anchor="t" anchorCtr="0">
              <a:spAutoFit/>
            </a:bodyPr>
            <a:lstStyle/>
            <a:p>
              <a:pPr algn="l" marL="113348" indent="-113348">
                <a:buClr>
                  <a:srgbClr val="F5EFE0"/>
                </a:buClr>
                <a:buSzTx/>
                <a:buFontTx/>
                <a:buChar char="•"/>
              </a:pPr>
              <a:r>
                <a:rPr lang="zh-CN" sz="1050" dirty="0">
                  <a:solidFill>
                    <a:srgbClr val="F5EFE0"/>
                  </a:solidFill>
                  <a:latin typeface="+mn-lt"/>
                  <a:ea typeface="+mn-ea"/>
                  <a:cs typeface="+mn-cs"/>
                </a:rPr>
                <a:t>现址 1951 George Whitman</a:t>
              </a:r>
            </a:p>
          </p:txBody>
        </p:sp>
        <p:sp>
          <p:nvSpPr>
            <p:cNvPr id="26" name="TextBox 26"/>
            <p:cNvSpPr txBox="1"/>
            <p:nvPr/>
          </p:nvSpPr>
          <p:spPr>
            <a:xfrm>
              <a:off x="756666" y="5487352"/>
              <a:ext cx="1780489" cy="205359"/>
            </a:xfrm>
            <a:prstGeom prst="rect">
              <a:avLst/>
            </a:prstGeom>
            <a:noFill/>
            <a:ln>
              <a:noFill/>
            </a:ln>
          </p:spPr>
          <p:txBody>
            <a:bodyPr wrap="none" lIns="0" tIns="0" rIns="0" bIns="0" anchor="t" anchorCtr="0">
              <a:spAutoFit/>
            </a:bodyPr>
            <a:lstStyle/>
            <a:p>
              <a:pPr algn="l"/>
              <a:r>
                <a:rPr lang="zh-CN" sz="1050" dirty="0">
                  <a:solidFill>
                    <a:srgbClr val="F5EFE0"/>
                  </a:solidFill>
                  <a:latin typeface="+mn-lt"/>
                  <a:ea typeface="+mn-ea"/>
                  <a:cs typeface="+mn-cs"/>
                </a:rPr>
                <a:t>接纳数千 "TUMBLEWEEDS"</a:t>
              </a:r>
            </a:p>
          </p:txBody>
        </p:sp>
        <p:sp>
          <p:nvSpPr>
            <p:cNvPr id="27" name="TextBox 27"/>
            <p:cNvSpPr txBox="1"/>
            <p:nvPr/>
          </p:nvSpPr>
          <p:spPr>
            <a:xfrm>
              <a:off x="756666" y="5773102"/>
              <a:ext cx="1700079" cy="205359"/>
            </a:xfrm>
            <a:prstGeom prst="rect">
              <a:avLst/>
            </a:prstGeom>
            <a:noFill/>
            <a:ln>
              <a:noFill/>
            </a:ln>
          </p:spPr>
          <p:txBody>
            <a:bodyPr wrap="none" lIns="0" tIns="0" rIns="0" bIns="0" anchor="t" anchorCtr="0">
              <a:spAutoFit/>
            </a:bodyPr>
            <a:lstStyle/>
            <a:p>
              <a:pPr algn="l" marL="113348" indent="-113348">
                <a:buClr>
                  <a:srgbClr val="F5EFE0"/>
                </a:buClr>
                <a:buSzTx/>
                <a:buFontTx/>
                <a:buChar char="•"/>
              </a:pPr>
              <a:r>
                <a:rPr lang="zh-CN" sz="1050" dirty="0">
                  <a:solidFill>
                    <a:srgbClr val="F5EFE0"/>
                  </a:solidFill>
                  <a:latin typeface="+mn-lt"/>
                  <a:ea typeface="+mn-ea"/>
                  <a:cs typeface="+mn-cs"/>
                </a:rPr>
                <a:t>住宿条件：每天读 1 小时</a:t>
              </a:r>
            </a:p>
          </p:txBody>
        </p:sp>
        <p:sp>
          <p:nvSpPr>
            <p:cNvPr id="28" name="TextBox 28"/>
            <p:cNvSpPr txBox="1"/>
            <p:nvPr/>
          </p:nvSpPr>
          <p:spPr>
            <a:xfrm>
              <a:off x="756666" y="5982652"/>
              <a:ext cx="1162679" cy="205359"/>
            </a:xfrm>
            <a:prstGeom prst="rect">
              <a:avLst/>
            </a:prstGeom>
            <a:noFill/>
            <a:ln>
              <a:noFill/>
            </a:ln>
          </p:spPr>
          <p:txBody>
            <a:bodyPr wrap="none" lIns="0" tIns="0" rIns="0" bIns="0" anchor="t" anchorCtr="0">
              <a:spAutoFit/>
            </a:bodyPr>
            <a:lstStyle/>
            <a:p>
              <a:pPr algn="l"/>
              <a:r>
                <a:rPr lang="zh-CN" sz="1050" dirty="0">
                  <a:solidFill>
                    <a:srgbClr val="F5EFE0"/>
                  </a:solidFill>
                  <a:latin typeface="+mn-lt"/>
                  <a:ea typeface="+mn-ea"/>
                  <a:cs typeface="+mn-cs"/>
                </a:rPr>
                <a:t>写一页自传 + 帮工</a:t>
              </a:r>
            </a:p>
          </p:txBody>
        </p:sp>
        <p:sp>
          <p:nvSpPr>
            <p:cNvPr id="29" name="TextBox 29"/>
            <p:cNvSpPr txBox="1"/>
            <p:nvPr/>
          </p:nvSpPr>
          <p:spPr>
            <a:xfrm>
              <a:off x="757047" y="6181249"/>
              <a:ext cx="1342375" cy="190690"/>
            </a:xfrm>
            <a:prstGeom prst="rect">
              <a:avLst/>
            </a:prstGeom>
            <a:noFill/>
            <a:ln>
              <a:noFill/>
            </a:ln>
          </p:spPr>
          <p:txBody>
            <a:bodyPr wrap="none" lIns="0" tIns="0" rIns="0" bIns="0" anchor="t" anchorCtr="0">
              <a:spAutoFit/>
            </a:bodyPr>
            <a:lstStyle/>
            <a:p>
              <a:pPr algn="l"/>
              <a:r>
                <a:rPr lang="zh-CN" sz="980" b="1" dirty="0">
                  <a:solidFill>
                    <a:schemeClr val="accent2"/>
                  </a:solidFill>
                  <a:latin typeface="+mn-lt"/>
                  <a:ea typeface="+mn-ea"/>
                  <a:cs typeface="+mn-cs"/>
                </a:rPr>
                <a:t>→ 书店 = 写作者收容所</a:t>
              </a:r>
            </a:p>
          </p:txBody>
        </p:sp>
      </p:grpSp>
      <p:grpSp>
        <p:nvGrpSpPr>
          <p:cNvPr id="47" name="Group 47"/>
          <p:cNvGrpSpPr/>
          <p:nvPr/>
        </p:nvGrpSpPr>
        <p:grpSpPr>
          <a:xfrm>
            <a:off x="4286250" y="3333750"/>
            <a:ext cx="3648075" cy="3076575"/>
            <a:chOff x="4286250" y="3333750"/>
            <a:chExt cx="3648075" cy="3076575"/>
          </a:xfrm>
        </p:grpSpPr>
        <p:sp>
          <p:nvSpPr>
            <p:cNvPr id="31" name="Rectangle 31"/>
            <p:cNvSpPr/>
            <p:nvPr/>
          </p:nvSpPr>
          <p:spPr>
            <a:xfrm>
              <a:off x="4286250" y="3333750"/>
              <a:ext cx="3619500" cy="3048000"/>
            </a:xfrm>
            <a:prstGeom prst="rect">
              <a:avLst/>
            </a:prstGeom>
            <a:solidFill>
              <a:schemeClr val="dk1"/>
            </a:solidFill>
            <a:ln>
              <a:noFill/>
            </a:ln>
          </p:spPr>
        </p:sp>
        <p:sp>
          <p:nvSpPr>
            <p:cNvPr id="32" name="Rectangle 32"/>
            <p:cNvSpPr/>
            <p:nvPr/>
          </p:nvSpPr>
          <p:spPr>
            <a:xfrm>
              <a:off x="4314825" y="3362325"/>
              <a:ext cx="3619500" cy="3048000"/>
            </a:xfrm>
            <a:prstGeom prst="rect">
              <a:avLst/>
            </a:prstGeom>
            <a:solidFill>
              <a:schemeClr val="accent1">
                <a:alpha val="50000"/>
              </a:schemeClr>
            </a:solidFill>
            <a:ln>
              <a:noFill/>
            </a:ln>
          </p:spPr>
        </p:sp>
        <p:sp>
          <p:nvSpPr>
            <p:cNvPr id="33" name="Rectangle 33"/>
            <p:cNvSpPr/>
            <p:nvPr/>
          </p:nvSpPr>
          <p:spPr>
            <a:xfrm>
              <a:off x="4286250" y="3333750"/>
              <a:ext cx="3619500" cy="3048000"/>
            </a:xfrm>
            <a:prstGeom prst="rect">
              <a:avLst/>
            </a:prstGeom>
            <a:solidFill>
              <a:schemeClr val="dk1"/>
            </a:solidFill>
            <a:ln>
              <a:noFill/>
            </a:ln>
          </p:spPr>
        </p:sp>
        <p:sp>
          <p:nvSpPr>
            <p:cNvPr id="34" name="Rectangle 34"/>
            <p:cNvSpPr/>
            <p:nvPr/>
          </p:nvSpPr>
          <p:spPr>
            <a:xfrm>
              <a:off x="4286250" y="3333750"/>
              <a:ext cx="3619500" cy="647700"/>
            </a:xfrm>
            <a:prstGeom prst="rect">
              <a:avLst/>
            </a:prstGeom>
            <a:solidFill>
              <a:schemeClr val="accent2"/>
            </a:solidFill>
            <a:ln>
              <a:noFill/>
            </a:ln>
          </p:spPr>
        </p:sp>
        <p:sp>
          <p:nvSpPr>
            <p:cNvPr id="35" name="TextBox 35"/>
            <p:cNvSpPr txBox="1"/>
            <p:nvPr/>
          </p:nvSpPr>
          <p:spPr>
            <a:xfrm>
              <a:off x="4424934" y="3461385"/>
              <a:ext cx="1448410" cy="528066"/>
            </a:xfrm>
            <a:prstGeom prst="rect">
              <a:avLst/>
            </a:prstGeom>
            <a:noFill/>
            <a:ln>
              <a:noFill/>
            </a:ln>
          </p:spPr>
          <p:txBody>
            <a:bodyPr wrap="none" lIns="0" tIns="0" rIns="0" bIns="0" anchor="t" anchorCtr="0">
              <a:spAutoFit/>
            </a:bodyPr>
            <a:lstStyle/>
            <a:p>
              <a:pPr algn="l"/>
              <a:r>
                <a:rPr lang="zh-CN" sz="2700" dirty="0">
                  <a:solidFill>
                    <a:srgbClr val="F5EFE0"/>
                  </a:solidFill>
                  <a:latin typeface="+mj-lt"/>
                  <a:ea typeface="+mj-ea"/>
                  <a:cs typeface="+mj-cs"/>
                </a:rPr>
                <a:t>LONDON</a:t>
              </a:r>
            </a:p>
          </p:txBody>
        </p:sp>
        <p:sp>
          <p:nvSpPr>
            <p:cNvPr id="36" name="TextBox 36"/>
            <p:cNvSpPr txBox="1"/>
            <p:nvPr/>
          </p:nvSpPr>
          <p:spPr>
            <a:xfrm>
              <a:off x="7464349" y="3647599"/>
              <a:ext cx="293954" cy="190690"/>
            </a:xfrm>
            <a:prstGeom prst="rect">
              <a:avLst/>
            </a:prstGeom>
            <a:noFill/>
            <a:ln>
              <a:noFill/>
            </a:ln>
          </p:spPr>
          <p:txBody>
            <a:bodyPr wrap="none" lIns="0" tIns="0" rIns="0" bIns="0" anchor="t" anchorCtr="0">
              <a:spAutoFit/>
            </a:bodyPr>
            <a:lstStyle/>
            <a:p>
              <a:pPr algn="r"/>
              <a:r>
                <a:rPr lang="zh-CN" sz="980" spc="150" dirty="0">
                  <a:solidFill>
                    <a:schemeClr val="accent1"/>
                  </a:solidFill>
                  <a:latin typeface="Consolas"/>
                  <a:ea typeface="Microsoft YaHei"/>
                  <a:cs typeface="Consolas"/>
                </a:rPr>
                <a:t>伦敦</a:t>
              </a:r>
            </a:p>
          </p:txBody>
        </p:sp>
        <p:sp>
          <p:nvSpPr>
            <p:cNvPr id="37" name="TextBox 37"/>
            <p:cNvSpPr txBox="1"/>
            <p:nvPr/>
          </p:nvSpPr>
          <p:spPr>
            <a:xfrm>
              <a:off x="4468368" y="4108132"/>
              <a:ext cx="3052310" cy="322707"/>
            </a:xfrm>
            <a:prstGeom prst="rect">
              <a:avLst/>
            </a:prstGeom>
            <a:noFill/>
            <a:ln>
              <a:noFill/>
            </a:ln>
          </p:spPr>
          <p:txBody>
            <a:bodyPr wrap="none" lIns="0" tIns="0" rIns="0" bIns="0" anchor="t" anchorCtr="0">
              <a:spAutoFit/>
            </a:bodyPr>
            <a:lstStyle/>
            <a:p>
              <a:pPr algn="l"/>
              <a:r>
                <a:rPr lang="zh-CN" sz="1650" b="1" dirty="0">
                  <a:solidFill>
                    <a:srgbClr val="F5EFE0"/>
                  </a:solidFill>
                  <a:latin typeface="+mn-lt"/>
                  <a:ea typeface="+mn-ea"/>
                  <a:cs typeface="+mn-cs"/>
                </a:rPr>
                <a:t>Daunt + Word on the Water</a:t>
              </a:r>
            </a:p>
          </p:txBody>
        </p:sp>
        <p:sp>
          <p:nvSpPr>
            <p:cNvPr id="38" name="TextBox 38"/>
            <p:cNvSpPr txBox="1"/>
            <p:nvPr/>
          </p:nvSpPr>
          <p:spPr>
            <a:xfrm>
              <a:off x="4471988" y="4444841"/>
              <a:ext cx="2255495" cy="161925"/>
            </a:xfrm>
            <a:prstGeom prst="rect">
              <a:avLst/>
            </a:prstGeom>
            <a:noFill/>
            <a:ln>
              <a:noFill/>
            </a:ln>
          </p:spPr>
          <p:txBody>
            <a:bodyPr wrap="none" lIns="0" tIns="0" rIns="0" bIns="0" anchor="t" anchorCtr="0">
              <a:spAutoFit/>
            </a:bodyPr>
            <a:lstStyle/>
            <a:p>
              <a:pPr algn="l"/>
              <a:r>
                <a:rPr lang="zh-CN" sz="820" spc="150" dirty="0">
                  <a:solidFill>
                    <a:schemeClr val="accent2"/>
                  </a:solidFill>
                  <a:latin typeface="Consolas"/>
                  <a:ea typeface="Consolas"/>
                  <a:cs typeface="Consolas"/>
                </a:rPr>
                <a:t>MARYLEBONE + REGENT'S CANAL</a:t>
              </a:r>
            </a:p>
          </p:txBody>
        </p:sp>
        <p:sp>
          <p:nvSpPr>
            <p:cNvPr id="39" name="Line 39"/>
            <p:cNvSpPr/>
            <p:nvPr/>
          </p:nvSpPr>
          <p:spPr>
            <a:xfrm>
              <a:off x="4476750" y="4648200"/>
              <a:ext cx="1143000" cy="9525"/>
            </a:xfrm>
            <a:custGeom>
              <a:avLst/>
              <a:gdLst/>
              <a:ahLst/>
              <a:cxnLst/>
              <a:rect l="l" t="t" r="r" b="b"/>
              <a:pathLst>
                <a:path w="1143000" h="9525">
                  <a:moveTo>
                    <a:pt x="0" y="0"/>
                  </a:moveTo>
                  <a:lnTo>
                    <a:pt x="1143000" y="0"/>
                  </a:lnTo>
                </a:path>
              </a:pathLst>
            </a:custGeom>
            <a:noFill/>
            <a:ln w="19050">
              <a:solidFill>
                <a:schemeClr val="accent2"/>
              </a:solidFill>
            </a:ln>
          </p:spPr>
        </p:sp>
        <p:sp>
          <p:nvSpPr>
            <p:cNvPr id="40" name="TextBox 40"/>
            <p:cNvSpPr txBox="1"/>
            <p:nvPr/>
          </p:nvSpPr>
          <p:spPr>
            <a:xfrm>
              <a:off x="4471416" y="4782502"/>
              <a:ext cx="1511709" cy="205359"/>
            </a:xfrm>
            <a:prstGeom prst="rect">
              <a:avLst/>
            </a:prstGeom>
            <a:noFill/>
            <a:ln>
              <a:noFill/>
            </a:ln>
          </p:spPr>
          <p:txBody>
            <a:bodyPr wrap="none" lIns="0" tIns="0" rIns="0" bIns="0" anchor="t" anchorCtr="0">
              <a:spAutoFit/>
            </a:bodyPr>
            <a:lstStyle/>
            <a:p>
              <a:pPr algn="l" marL="113348" indent="-113348">
                <a:buClr>
                  <a:srgbClr val="F5EFE0"/>
                </a:buClr>
                <a:buSzTx/>
                <a:buFontTx/>
                <a:buChar char="•"/>
              </a:pPr>
              <a:r>
                <a:rPr lang="zh-CN" sz="1050" dirty="0">
                  <a:solidFill>
                    <a:srgbClr val="F5EFE0"/>
                  </a:solidFill>
                  <a:latin typeface="+mn-lt"/>
                  <a:ea typeface="+mn-ea"/>
                  <a:cs typeface="+mn-cs"/>
                </a:rPr>
                <a:t>DAUNT (Marylebone)</a:t>
              </a:r>
            </a:p>
          </p:txBody>
        </p:sp>
        <p:sp>
          <p:nvSpPr>
            <p:cNvPr id="41" name="TextBox 41"/>
            <p:cNvSpPr txBox="1"/>
            <p:nvPr/>
          </p:nvSpPr>
          <p:spPr>
            <a:xfrm>
              <a:off x="4471416" y="4992052"/>
              <a:ext cx="1445381" cy="205359"/>
            </a:xfrm>
            <a:prstGeom prst="rect">
              <a:avLst/>
            </a:prstGeom>
            <a:noFill/>
            <a:ln>
              <a:noFill/>
            </a:ln>
          </p:spPr>
          <p:txBody>
            <a:bodyPr wrap="none" lIns="0" tIns="0" rIns="0" bIns="0" anchor="t" anchorCtr="0">
              <a:spAutoFit/>
            </a:bodyPr>
            <a:lstStyle/>
            <a:p>
              <a:pPr algn="l"/>
              <a:r>
                <a:rPr lang="zh-CN" sz="1050" dirty="0">
                  <a:solidFill>
                    <a:srgbClr val="F5EFE0"/>
                  </a:solidFill>
                  <a:latin typeface="+mn-lt"/>
                  <a:ea typeface="+mn-ea"/>
                  <a:cs typeface="+mn-cs"/>
                </a:rPr>
                <a:t>爱德华建筑 + 橡木阳台</a:t>
              </a:r>
            </a:p>
          </p:txBody>
        </p:sp>
        <p:sp>
          <p:nvSpPr>
            <p:cNvPr id="42" name="TextBox 42"/>
            <p:cNvSpPr txBox="1"/>
            <p:nvPr/>
          </p:nvSpPr>
          <p:spPr>
            <a:xfrm>
              <a:off x="4471416" y="5201602"/>
              <a:ext cx="1565529" cy="205359"/>
            </a:xfrm>
            <a:prstGeom prst="rect">
              <a:avLst/>
            </a:prstGeom>
            <a:noFill/>
            <a:ln>
              <a:noFill/>
            </a:ln>
          </p:spPr>
          <p:txBody>
            <a:bodyPr wrap="none" lIns="0" tIns="0" rIns="0" bIns="0" anchor="t" anchorCtr="0">
              <a:spAutoFit/>
            </a:bodyPr>
            <a:lstStyle/>
            <a:p>
              <a:pPr algn="l"/>
              <a:r>
                <a:rPr lang="zh-CN" sz="1050" dirty="0">
                  <a:solidFill>
                    <a:srgbClr val="F5EFE0"/>
                  </a:solidFill>
                  <a:latin typeface="+mn-lt"/>
                  <a:ea typeface="+mn-ea"/>
                  <a:cs typeface="+mn-cs"/>
                </a:rPr>
                <a:t>+ 彩色玻璃 + 按国家分类</a:t>
              </a:r>
            </a:p>
          </p:txBody>
        </p:sp>
        <p:sp>
          <p:nvSpPr>
            <p:cNvPr id="43" name="TextBox 43"/>
            <p:cNvSpPr txBox="1"/>
            <p:nvPr/>
          </p:nvSpPr>
          <p:spPr>
            <a:xfrm>
              <a:off x="4471416" y="5487352"/>
              <a:ext cx="1527924" cy="205359"/>
            </a:xfrm>
            <a:prstGeom prst="rect">
              <a:avLst/>
            </a:prstGeom>
            <a:noFill/>
            <a:ln>
              <a:noFill/>
            </a:ln>
          </p:spPr>
          <p:txBody>
            <a:bodyPr wrap="none" lIns="0" tIns="0" rIns="0" bIns="0" anchor="t" anchorCtr="0">
              <a:spAutoFit/>
            </a:bodyPr>
            <a:lstStyle/>
            <a:p>
              <a:pPr algn="l" marL="113348" indent="-113348">
                <a:buClr>
                  <a:srgbClr val="F5EFE0"/>
                </a:buClr>
                <a:buSzTx/>
                <a:buFontTx/>
                <a:buChar char="•"/>
              </a:pPr>
              <a:r>
                <a:rPr lang="zh-CN" sz="1050" dirty="0">
                  <a:solidFill>
                    <a:srgbClr val="F5EFE0"/>
                  </a:solidFill>
                  <a:latin typeface="+mn-lt"/>
                  <a:ea typeface="+mn-ea"/>
                  <a:cs typeface="+mn-cs"/>
                </a:rPr>
                <a:t>WORD ON THE WATER</a:t>
              </a:r>
            </a:p>
          </p:txBody>
        </p:sp>
        <p:sp>
          <p:nvSpPr>
            <p:cNvPr id="44" name="TextBox 44"/>
            <p:cNvSpPr txBox="1"/>
            <p:nvPr/>
          </p:nvSpPr>
          <p:spPr>
            <a:xfrm>
              <a:off x="4471416" y="5696902"/>
              <a:ext cx="1148544" cy="205359"/>
            </a:xfrm>
            <a:prstGeom prst="rect">
              <a:avLst/>
            </a:prstGeom>
            <a:noFill/>
            <a:ln>
              <a:noFill/>
            </a:ln>
          </p:spPr>
          <p:txBody>
            <a:bodyPr wrap="none" lIns="0" tIns="0" rIns="0" bIns="0" anchor="t" anchorCtr="0">
              <a:spAutoFit/>
            </a:bodyPr>
            <a:lstStyle/>
            <a:p>
              <a:pPr algn="l"/>
              <a:r>
                <a:rPr lang="zh-CN" sz="1050" dirty="0">
                  <a:solidFill>
                    <a:srgbClr val="F5EFE0"/>
                  </a:solidFill>
                  <a:latin typeface="+mn-lt"/>
                  <a:ea typeface="+mn-ea"/>
                  <a:cs typeface="+mn-cs"/>
                </a:rPr>
                <a:t>1920s 荷兰运河船</a:t>
              </a:r>
            </a:p>
          </p:txBody>
        </p:sp>
        <p:sp>
          <p:nvSpPr>
            <p:cNvPr id="45" name="TextBox 45"/>
            <p:cNvSpPr txBox="1"/>
            <p:nvPr/>
          </p:nvSpPr>
          <p:spPr>
            <a:xfrm>
              <a:off x="4471416" y="5906452"/>
              <a:ext cx="1466583" cy="205359"/>
            </a:xfrm>
            <a:prstGeom prst="rect">
              <a:avLst/>
            </a:prstGeom>
            <a:noFill/>
            <a:ln>
              <a:noFill/>
            </a:ln>
          </p:spPr>
          <p:txBody>
            <a:bodyPr wrap="none" lIns="0" tIns="0" rIns="0" bIns="0" anchor="t" anchorCtr="0">
              <a:spAutoFit/>
            </a:bodyPr>
            <a:lstStyle/>
            <a:p>
              <a:pPr algn="l"/>
              <a:r>
                <a:rPr lang="zh-CN" sz="1050" dirty="0">
                  <a:solidFill>
                    <a:srgbClr val="F5EFE0"/>
                  </a:solidFill>
                  <a:latin typeface="+mn-lt"/>
                  <a:ea typeface="+mn-ea"/>
                  <a:cs typeface="+mn-cs"/>
                </a:rPr>
                <a:t>皮椅 / 老打字机 / 火炉</a:t>
              </a:r>
            </a:p>
          </p:txBody>
        </p:sp>
        <p:sp>
          <p:nvSpPr>
            <p:cNvPr id="46" name="TextBox 46"/>
            <p:cNvSpPr txBox="1"/>
            <p:nvPr/>
          </p:nvSpPr>
          <p:spPr>
            <a:xfrm>
              <a:off x="4471797" y="6181249"/>
              <a:ext cx="1210447" cy="190690"/>
            </a:xfrm>
            <a:prstGeom prst="rect">
              <a:avLst/>
            </a:prstGeom>
            <a:noFill/>
            <a:ln>
              <a:noFill/>
            </a:ln>
          </p:spPr>
          <p:txBody>
            <a:bodyPr wrap="none" lIns="0" tIns="0" rIns="0" bIns="0" anchor="t" anchorCtr="0">
              <a:spAutoFit/>
            </a:bodyPr>
            <a:lstStyle/>
            <a:p>
              <a:pPr algn="l"/>
              <a:r>
                <a:rPr lang="zh-CN" sz="980" b="1" dirty="0">
                  <a:solidFill>
                    <a:schemeClr val="accent2"/>
                  </a:solidFill>
                  <a:latin typeface="+mn-lt"/>
                  <a:ea typeface="+mn-ea"/>
                  <a:cs typeface="+mn-cs"/>
                </a:rPr>
                <a:t>→ 书店 = 场景即体验</a:t>
              </a:r>
            </a:p>
          </p:txBody>
        </p:sp>
      </p:grpSp>
      <p:grpSp>
        <p:nvGrpSpPr>
          <p:cNvPr id="64" name="Group 64"/>
          <p:cNvGrpSpPr/>
          <p:nvPr/>
        </p:nvGrpSpPr>
        <p:grpSpPr>
          <a:xfrm>
            <a:off x="8001000" y="3333750"/>
            <a:ext cx="3648075" cy="3076575"/>
            <a:chOff x="8001000" y="3333750"/>
            <a:chExt cx="3648075" cy="3076575"/>
          </a:xfrm>
        </p:grpSpPr>
        <p:sp>
          <p:nvSpPr>
            <p:cNvPr id="48" name="Rectangle 48"/>
            <p:cNvSpPr/>
            <p:nvPr/>
          </p:nvSpPr>
          <p:spPr>
            <a:xfrm>
              <a:off x="8001000" y="3333750"/>
              <a:ext cx="3619500" cy="3048000"/>
            </a:xfrm>
            <a:prstGeom prst="rect">
              <a:avLst/>
            </a:prstGeom>
            <a:solidFill>
              <a:schemeClr val="dk1"/>
            </a:solidFill>
            <a:ln>
              <a:noFill/>
            </a:ln>
          </p:spPr>
        </p:sp>
        <p:sp>
          <p:nvSpPr>
            <p:cNvPr id="49" name="Rectangle 49"/>
            <p:cNvSpPr/>
            <p:nvPr/>
          </p:nvSpPr>
          <p:spPr>
            <a:xfrm>
              <a:off x="8029575" y="3362325"/>
              <a:ext cx="3619500" cy="3048000"/>
            </a:xfrm>
            <a:prstGeom prst="rect">
              <a:avLst/>
            </a:prstGeom>
            <a:solidFill>
              <a:schemeClr val="accent3">
                <a:alpha val="50000"/>
              </a:schemeClr>
            </a:solidFill>
            <a:ln>
              <a:noFill/>
            </a:ln>
          </p:spPr>
        </p:sp>
        <p:sp>
          <p:nvSpPr>
            <p:cNvPr id="50" name="Rectangle 50"/>
            <p:cNvSpPr/>
            <p:nvPr/>
          </p:nvSpPr>
          <p:spPr>
            <a:xfrm>
              <a:off x="8001000" y="3333750"/>
              <a:ext cx="3619500" cy="3048000"/>
            </a:xfrm>
            <a:prstGeom prst="rect">
              <a:avLst/>
            </a:prstGeom>
            <a:solidFill>
              <a:schemeClr val="dk1"/>
            </a:solidFill>
            <a:ln>
              <a:noFill/>
            </a:ln>
          </p:spPr>
        </p:sp>
        <p:sp>
          <p:nvSpPr>
            <p:cNvPr id="51" name="Rectangle 51"/>
            <p:cNvSpPr/>
            <p:nvPr/>
          </p:nvSpPr>
          <p:spPr>
            <a:xfrm>
              <a:off x="8001000" y="3333750"/>
              <a:ext cx="3619500" cy="647700"/>
            </a:xfrm>
            <a:prstGeom prst="rect">
              <a:avLst/>
            </a:prstGeom>
            <a:solidFill>
              <a:schemeClr val="accent1"/>
            </a:solidFill>
            <a:ln>
              <a:noFill/>
            </a:ln>
          </p:spPr>
        </p:sp>
        <p:sp>
          <p:nvSpPr>
            <p:cNvPr id="52" name="TextBox 52"/>
            <p:cNvSpPr txBox="1"/>
            <p:nvPr/>
          </p:nvSpPr>
          <p:spPr>
            <a:xfrm>
              <a:off x="8139684" y="3461385"/>
              <a:ext cx="1774850" cy="528066"/>
            </a:xfrm>
            <a:prstGeom prst="rect">
              <a:avLst/>
            </a:prstGeom>
            <a:noFill/>
            <a:ln>
              <a:noFill/>
            </a:ln>
          </p:spPr>
          <p:txBody>
            <a:bodyPr wrap="none" lIns="0" tIns="0" rIns="0" bIns="0" anchor="t" anchorCtr="0">
              <a:spAutoFit/>
            </a:bodyPr>
            <a:lstStyle/>
            <a:p>
              <a:pPr algn="l"/>
              <a:r>
                <a:rPr lang="zh-CN" sz="2700" dirty="0">
                  <a:solidFill>
                    <a:srgbClr val="F5EFE0"/>
                  </a:solidFill>
                  <a:latin typeface="+mj-lt"/>
                  <a:ea typeface="+mj-ea"/>
                  <a:cs typeface="+mj-cs"/>
                </a:rPr>
                <a:t>NEW YORK</a:t>
              </a:r>
            </a:p>
          </p:txBody>
        </p:sp>
        <p:sp>
          <p:nvSpPr>
            <p:cNvPr id="53" name="TextBox 53"/>
            <p:cNvSpPr txBox="1"/>
            <p:nvPr/>
          </p:nvSpPr>
          <p:spPr>
            <a:xfrm>
              <a:off x="11179099" y="3647599"/>
              <a:ext cx="293954" cy="190690"/>
            </a:xfrm>
            <a:prstGeom prst="rect">
              <a:avLst/>
            </a:prstGeom>
            <a:noFill/>
            <a:ln>
              <a:noFill/>
            </a:ln>
          </p:spPr>
          <p:txBody>
            <a:bodyPr wrap="none" lIns="0" tIns="0" rIns="0" bIns="0" anchor="t" anchorCtr="0">
              <a:spAutoFit/>
            </a:bodyPr>
            <a:lstStyle/>
            <a:p>
              <a:pPr algn="r"/>
              <a:r>
                <a:rPr lang="zh-CN" sz="980" spc="150" dirty="0">
                  <a:solidFill>
                    <a:schemeClr val="accent2"/>
                  </a:solidFill>
                  <a:latin typeface="Consolas"/>
                  <a:ea typeface="Microsoft YaHei"/>
                  <a:cs typeface="Consolas"/>
                </a:rPr>
                <a:t>纽约</a:t>
              </a:r>
            </a:p>
          </p:txBody>
        </p:sp>
        <p:sp>
          <p:nvSpPr>
            <p:cNvPr id="54" name="TextBox 54"/>
            <p:cNvSpPr txBox="1"/>
            <p:nvPr/>
          </p:nvSpPr>
          <p:spPr>
            <a:xfrm>
              <a:off x="8183118" y="4108132"/>
              <a:ext cx="2886143" cy="322707"/>
            </a:xfrm>
            <a:prstGeom prst="rect">
              <a:avLst/>
            </a:prstGeom>
            <a:noFill/>
            <a:ln>
              <a:noFill/>
            </a:ln>
          </p:spPr>
          <p:txBody>
            <a:bodyPr wrap="none" lIns="0" tIns="0" rIns="0" bIns="0" anchor="t" anchorCtr="0">
              <a:spAutoFit/>
            </a:bodyPr>
            <a:lstStyle/>
            <a:p>
              <a:pPr algn="l"/>
              <a:r>
                <a:rPr lang="zh-CN" sz="1650" b="1" dirty="0">
                  <a:solidFill>
                    <a:srgbClr val="F5EFE0"/>
                  </a:solidFill>
                  <a:latin typeface="+mn-lt"/>
                  <a:ea typeface="+mn-ea"/>
                  <a:cs typeface="+mn-cs"/>
                </a:rPr>
                <a:t>Strand + Yu and Me Books</a:t>
              </a:r>
            </a:p>
          </p:txBody>
        </p:sp>
        <p:sp>
          <p:nvSpPr>
            <p:cNvPr id="55" name="TextBox 55"/>
            <p:cNvSpPr txBox="1"/>
            <p:nvPr/>
          </p:nvSpPr>
          <p:spPr>
            <a:xfrm>
              <a:off x="8186738" y="4444841"/>
              <a:ext cx="1703746" cy="161925"/>
            </a:xfrm>
            <a:prstGeom prst="rect">
              <a:avLst/>
            </a:prstGeom>
            <a:noFill/>
            <a:ln>
              <a:noFill/>
            </a:ln>
          </p:spPr>
          <p:txBody>
            <a:bodyPr wrap="none" lIns="0" tIns="0" rIns="0" bIns="0" anchor="t" anchorCtr="0">
              <a:spAutoFit/>
            </a:bodyPr>
            <a:lstStyle/>
            <a:p>
              <a:pPr algn="l"/>
              <a:r>
                <a:rPr lang="zh-CN" sz="820" spc="150" dirty="0">
                  <a:solidFill>
                    <a:schemeClr val="accent2"/>
                  </a:solidFill>
                  <a:latin typeface="Consolas"/>
                  <a:ea typeface="Consolas"/>
                  <a:cs typeface="Consolas"/>
                </a:rPr>
                <a:t>BROADWAY + CHINATOWN</a:t>
              </a:r>
            </a:p>
          </p:txBody>
        </p:sp>
        <p:sp>
          <p:nvSpPr>
            <p:cNvPr id="56" name="Line 56"/>
            <p:cNvSpPr/>
            <p:nvPr/>
          </p:nvSpPr>
          <p:spPr>
            <a:xfrm>
              <a:off x="8191500" y="4648200"/>
              <a:ext cx="1143000" cy="9525"/>
            </a:xfrm>
            <a:custGeom>
              <a:avLst/>
              <a:gdLst/>
              <a:ahLst/>
              <a:cxnLst/>
              <a:rect l="l" t="t" r="r" b="b"/>
              <a:pathLst>
                <a:path w="1143000" h="9525">
                  <a:moveTo>
                    <a:pt x="0" y="0"/>
                  </a:moveTo>
                  <a:lnTo>
                    <a:pt x="1143000" y="0"/>
                  </a:lnTo>
                </a:path>
              </a:pathLst>
            </a:custGeom>
            <a:noFill/>
            <a:ln w="19050">
              <a:solidFill>
                <a:schemeClr val="accent2"/>
              </a:solidFill>
            </a:ln>
          </p:spPr>
        </p:sp>
        <p:sp>
          <p:nvSpPr>
            <p:cNvPr id="57" name="TextBox 57"/>
            <p:cNvSpPr txBox="1"/>
            <p:nvPr/>
          </p:nvSpPr>
          <p:spPr>
            <a:xfrm>
              <a:off x="8186166" y="4782502"/>
              <a:ext cx="1154544" cy="205359"/>
            </a:xfrm>
            <a:prstGeom prst="rect">
              <a:avLst/>
            </a:prstGeom>
            <a:noFill/>
            <a:ln>
              <a:noFill/>
            </a:ln>
          </p:spPr>
          <p:txBody>
            <a:bodyPr wrap="none" lIns="0" tIns="0" rIns="0" bIns="0" anchor="t" anchorCtr="0">
              <a:spAutoFit/>
            </a:bodyPr>
            <a:lstStyle/>
            <a:p>
              <a:pPr algn="l" marL="113348" indent="-113348">
                <a:buClr>
                  <a:srgbClr val="F5EFE0"/>
                </a:buClr>
                <a:buSzTx/>
                <a:buFontTx/>
                <a:buChar char="•"/>
              </a:pPr>
              <a:r>
                <a:rPr lang="zh-CN" sz="1050" dirty="0">
                  <a:solidFill>
                    <a:srgbClr val="F5EFE0"/>
                  </a:solidFill>
                  <a:latin typeface="+mn-lt"/>
                  <a:ea typeface="+mn-ea"/>
                  <a:cs typeface="+mn-cs"/>
                </a:rPr>
                <a:t>STRAND (1927)</a:t>
              </a:r>
            </a:p>
          </p:txBody>
        </p:sp>
        <p:sp>
          <p:nvSpPr>
            <p:cNvPr id="58" name="TextBox 58"/>
            <p:cNvSpPr txBox="1"/>
            <p:nvPr/>
          </p:nvSpPr>
          <p:spPr>
            <a:xfrm>
              <a:off x="8186166" y="4992052"/>
              <a:ext cx="1176814" cy="205359"/>
            </a:xfrm>
            <a:prstGeom prst="rect">
              <a:avLst/>
            </a:prstGeom>
            <a:noFill/>
            <a:ln>
              <a:noFill/>
            </a:ln>
          </p:spPr>
          <p:txBody>
            <a:bodyPr wrap="none" lIns="0" tIns="0" rIns="0" bIns="0" anchor="t" anchorCtr="0">
              <a:spAutoFit/>
            </a:bodyPr>
            <a:lstStyle/>
            <a:p>
              <a:pPr algn="l"/>
              <a:r>
                <a:rPr lang="zh-CN" sz="1050" dirty="0">
                  <a:solidFill>
                    <a:srgbClr val="F5EFE0"/>
                  </a:solidFill>
                  <a:latin typeface="+mn-lt"/>
                  <a:ea typeface="+mn-ea"/>
                  <a:cs typeface="+mn-cs"/>
                </a:rPr>
                <a:t>2,500,000 册藏书</a:t>
              </a:r>
            </a:p>
          </p:txBody>
        </p:sp>
        <p:sp>
          <p:nvSpPr>
            <p:cNvPr id="59" name="TextBox 59"/>
            <p:cNvSpPr txBox="1"/>
            <p:nvPr/>
          </p:nvSpPr>
          <p:spPr>
            <a:xfrm>
              <a:off x="8186166" y="5201602"/>
              <a:ext cx="1254557" cy="205359"/>
            </a:xfrm>
            <a:prstGeom prst="rect">
              <a:avLst/>
            </a:prstGeom>
            <a:noFill/>
            <a:ln>
              <a:noFill/>
            </a:ln>
          </p:spPr>
          <p:txBody>
            <a:bodyPr wrap="none" lIns="0" tIns="0" rIns="0" bIns="0" anchor="t" anchorCtr="0">
              <a:spAutoFit/>
            </a:bodyPr>
            <a:lstStyle/>
            <a:p>
              <a:pPr algn="l"/>
              <a:r>
                <a:rPr lang="zh-CN" sz="1050" dirty="0">
                  <a:solidFill>
                    <a:srgbClr val="F5EFE0"/>
                  </a:solidFill>
                  <a:latin typeface="+mn-lt"/>
                  <a:ea typeface="+mn-ea"/>
                  <a:cs typeface="+mn-cs"/>
                </a:rPr>
                <a:t>自称 "18 英里书架"</a:t>
              </a:r>
            </a:p>
          </p:txBody>
        </p:sp>
        <p:sp>
          <p:nvSpPr>
            <p:cNvPr id="60" name="TextBox 60"/>
            <p:cNvSpPr txBox="1"/>
            <p:nvPr/>
          </p:nvSpPr>
          <p:spPr>
            <a:xfrm>
              <a:off x="8186166" y="5487352"/>
              <a:ext cx="1871434" cy="205359"/>
            </a:xfrm>
            <a:prstGeom prst="rect">
              <a:avLst/>
            </a:prstGeom>
            <a:noFill/>
            <a:ln>
              <a:noFill/>
            </a:ln>
          </p:spPr>
          <p:txBody>
            <a:bodyPr wrap="none" lIns="0" tIns="0" rIns="0" bIns="0" anchor="t" anchorCtr="0">
              <a:spAutoFit/>
            </a:bodyPr>
            <a:lstStyle/>
            <a:p>
              <a:pPr algn="l" marL="113348" indent="-113348">
                <a:buClr>
                  <a:srgbClr val="F5EFE0"/>
                </a:buClr>
                <a:buSzTx/>
                <a:buFontTx/>
                <a:buChar char="•"/>
              </a:pPr>
              <a:r>
                <a:rPr lang="zh-CN" sz="1050" dirty="0">
                  <a:solidFill>
                    <a:srgbClr val="F5EFE0"/>
                  </a:solidFill>
                  <a:latin typeface="+mn-lt"/>
                  <a:ea typeface="+mn-ea"/>
                  <a:cs typeface="+mn-cs"/>
                </a:rPr>
                <a:t>YU AND ME BOOKS (2021)</a:t>
              </a:r>
            </a:p>
          </p:txBody>
        </p:sp>
        <p:sp>
          <p:nvSpPr>
            <p:cNvPr id="61" name="TextBox 61"/>
            <p:cNvSpPr txBox="1"/>
            <p:nvPr/>
          </p:nvSpPr>
          <p:spPr>
            <a:xfrm>
              <a:off x="8186166" y="5696902"/>
              <a:ext cx="1424178" cy="205359"/>
            </a:xfrm>
            <a:prstGeom prst="rect">
              <a:avLst/>
            </a:prstGeom>
            <a:noFill/>
            <a:ln>
              <a:noFill/>
            </a:ln>
          </p:spPr>
          <p:txBody>
            <a:bodyPr wrap="none" lIns="0" tIns="0" rIns="0" bIns="0" anchor="t" anchorCtr="0">
              <a:spAutoFit/>
            </a:bodyPr>
            <a:lstStyle/>
            <a:p>
              <a:pPr algn="l"/>
              <a:r>
                <a:rPr lang="zh-CN" sz="1050" dirty="0">
                  <a:solidFill>
                    <a:srgbClr val="F5EFE0"/>
                  </a:solidFill>
                  <a:latin typeface="+mn-lt"/>
                  <a:ea typeface="+mn-ea"/>
                  <a:cs typeface="+mn-cs"/>
                </a:rPr>
                <a:t>华埠首家亚裔女性书店</a:t>
              </a:r>
            </a:p>
          </p:txBody>
        </p:sp>
        <p:sp>
          <p:nvSpPr>
            <p:cNvPr id="62" name="TextBox 62"/>
            <p:cNvSpPr txBox="1"/>
            <p:nvPr/>
          </p:nvSpPr>
          <p:spPr>
            <a:xfrm>
              <a:off x="8186166" y="5906452"/>
              <a:ext cx="1636204" cy="205359"/>
            </a:xfrm>
            <a:prstGeom prst="rect">
              <a:avLst/>
            </a:prstGeom>
            <a:noFill/>
            <a:ln>
              <a:noFill/>
            </a:ln>
          </p:spPr>
          <p:txBody>
            <a:bodyPr wrap="none" lIns="0" tIns="0" rIns="0" bIns="0" anchor="t" anchorCtr="0">
              <a:spAutoFit/>
            </a:bodyPr>
            <a:lstStyle/>
            <a:p>
              <a:pPr algn="l"/>
              <a:r>
                <a:rPr lang="zh-CN" sz="1050" dirty="0">
                  <a:solidFill>
                    <a:srgbClr val="F5EFE0"/>
                  </a:solidFill>
                  <a:latin typeface="+mn-lt"/>
                  <a:ea typeface="+mn-ea"/>
                  <a:cs typeface="+mn-cs"/>
                </a:rPr>
                <a:t>2023 火灾后社区众筹重建</a:t>
              </a:r>
            </a:p>
          </p:txBody>
        </p:sp>
        <p:sp>
          <p:nvSpPr>
            <p:cNvPr id="63" name="TextBox 63"/>
            <p:cNvSpPr txBox="1"/>
            <p:nvPr/>
          </p:nvSpPr>
          <p:spPr>
            <a:xfrm>
              <a:off x="8186547" y="6181249"/>
              <a:ext cx="1342375" cy="190690"/>
            </a:xfrm>
            <a:prstGeom prst="rect">
              <a:avLst/>
            </a:prstGeom>
            <a:noFill/>
            <a:ln>
              <a:noFill/>
            </a:ln>
          </p:spPr>
          <p:txBody>
            <a:bodyPr wrap="none" lIns="0" tIns="0" rIns="0" bIns="0" anchor="t" anchorCtr="0">
              <a:spAutoFit/>
            </a:bodyPr>
            <a:lstStyle/>
            <a:p>
              <a:pPr algn="l"/>
              <a:r>
                <a:rPr lang="zh-CN" sz="980" b="1" dirty="0">
                  <a:solidFill>
                    <a:schemeClr val="accent2"/>
                  </a:solidFill>
                  <a:latin typeface="+mn-lt"/>
                  <a:ea typeface="+mn-ea"/>
                  <a:cs typeface="+mn-cs"/>
                </a:rPr>
                <a:t>→ 书店 = 社区基础设施</a:t>
              </a:r>
            </a:p>
          </p:txBody>
        </p:sp>
      </p:grpSp>
      <p:grpSp>
        <p:nvGrpSpPr>
          <p:cNvPr id="68" name="Group 68"/>
          <p:cNvGrpSpPr/>
          <p:nvPr/>
        </p:nvGrpSpPr>
        <p:grpSpPr>
          <a:xfrm>
            <a:off x="566738" y="6572250"/>
            <a:ext cx="11058525" cy="244316"/>
            <a:chOff x="566738" y="6572250"/>
            <a:chExt cx="11058525" cy="244316"/>
          </a:xfrm>
        </p:grpSpPr>
        <p:sp>
          <p:nvSpPr>
            <p:cNvPr id="65" name="Line 65"/>
            <p:cNvSpPr/>
            <p:nvPr/>
          </p:nvSpPr>
          <p:spPr>
            <a:xfrm>
              <a:off x="571500" y="6572250"/>
              <a:ext cx="11049000" cy="9525"/>
            </a:xfrm>
            <a:custGeom>
              <a:avLst/>
              <a:gdLst/>
              <a:ahLst/>
              <a:cxnLst/>
              <a:rect l="l" t="t" r="r" b="b"/>
              <a:pathLst>
                <a:path w="11049000" h="9525">
                  <a:moveTo>
                    <a:pt x="0" y="0"/>
                  </a:moveTo>
                  <a:lnTo>
                    <a:pt x="11049000" y="0"/>
                  </a:lnTo>
                </a:path>
              </a:pathLst>
            </a:custGeom>
            <a:noFill/>
            <a:ln w="9525">
              <a:solidFill>
                <a:schemeClr val="accent4"/>
              </a:solidFill>
            </a:ln>
          </p:spPr>
        </p:sp>
        <p:sp>
          <p:nvSpPr>
            <p:cNvPr id="66" name="TextBox 66"/>
            <p:cNvSpPr txBox="1"/>
            <p:nvPr/>
          </p:nvSpPr>
          <p:spPr>
            <a:xfrm>
              <a:off x="566738" y="6654641"/>
              <a:ext cx="2498298" cy="161925"/>
            </a:xfrm>
            <a:prstGeom prst="rect">
              <a:avLst/>
            </a:prstGeom>
            <a:noFill/>
            <a:ln>
              <a:noFill/>
            </a:ln>
          </p:spPr>
          <p:txBody>
            <a:bodyPr wrap="none" lIns="0" tIns="0" rIns="0" bIns="0" anchor="t" anchorCtr="0">
              <a:spAutoFit/>
            </a:bodyPr>
            <a:lstStyle/>
            <a:p>
              <a:pPr algn="l"/>
              <a:r>
                <a:rPr lang="zh-CN" sz="820" spc="150" dirty="0">
                  <a:solidFill>
                    <a:schemeClr val="dk2"/>
                  </a:solidFill>
                  <a:latin typeface="Consolas"/>
                  <a:ea typeface="Consolas"/>
                  <a:cs typeface="Consolas"/>
                </a:rPr>
                <a:t>P10 · PARIS × LONDON × NEW YORK</a:t>
              </a:r>
            </a:p>
          </p:txBody>
        </p:sp>
        <p:sp>
          <p:nvSpPr>
            <p:cNvPr id="67" name="TextBox 67"/>
            <p:cNvSpPr txBox="1"/>
            <p:nvPr/>
          </p:nvSpPr>
          <p:spPr>
            <a:xfrm>
              <a:off x="10085647" y="6654641"/>
              <a:ext cx="1539616" cy="161925"/>
            </a:xfrm>
            <a:prstGeom prst="rect">
              <a:avLst/>
            </a:prstGeom>
            <a:noFill/>
            <a:ln>
              <a:noFill/>
            </a:ln>
          </p:spPr>
          <p:txBody>
            <a:bodyPr wrap="none" lIns="0" tIns="0" rIns="0" bIns="0" anchor="t" anchorCtr="0">
              <a:spAutoFit/>
            </a:bodyPr>
            <a:lstStyle/>
            <a:p>
              <a:pPr algn="r"/>
              <a:r>
                <a:rPr lang="zh-CN" sz="820" spc="150" dirty="0">
                  <a:solidFill>
                    <a:schemeClr val="dk2"/>
                  </a:solidFill>
                  <a:latin typeface="Consolas"/>
                  <a:ea typeface="Microsoft YaHei"/>
                  <a:cs typeface="Consolas"/>
                </a:rPr>
                <a:t>收容所 / 场景 / 基础设施</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22" presetClass="entr" presetSubtype="4"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down)">
                                      <p:cBhvr>
                                        <p:cTn id="7" dur="550"/>
                                        <p:tgtEl>
                                          <p:spTgt spid="13"/>
                                        </p:tgtEl>
                                      </p:cBhvr>
                                    </p:animEffect>
                                  </p:childTnLst>
                                </p:cTn>
                              </p:par>
                            </p:childTnLst>
                          </p:cTn>
                        </p:par>
                        <p:par>
                          <p:cTn id="8" fill="hold">
                            <p:stCondLst>
                              <p:cond delay="550"/>
                            </p:stCondLst>
                            <p:childTnLst>
                              <p:par>
                                <p:cTn xmlns:p="http://schemas.openxmlformats.org/presentationml/2006/main" id="9" presetID="10" presetClass="entr" presetSubtype="0" fill="hold" grpId="0" nodeType="afterEffect">
                                  <p:stCondLst>
                                    <p:cond delay="160"/>
                                  </p:stCondLst>
                                  <p:childTnLst>
                                    <p:set>
                                      <p:cBhvr>
                                        <p:cTn id="10" dur="1" fill="hold">
                                          <p:stCondLst>
                                            <p:cond delay="0"/>
                                          </p:stCondLst>
                                        </p:cTn>
                                        <p:tgtEl>
                                          <p:spTgt spid="30"/>
                                        </p:tgtEl>
                                        <p:attrNameLst>
                                          <p:attrName>style.visibility</p:attrName>
                                        </p:attrNameLst>
                                      </p:cBhvr>
                                      <p:to>
                                        <p:strVal val="visible"/>
                                      </p:to>
                                    </p:set>
                                    <p:animEffect transition="in" filter="fade">
                                      <p:cBhvr>
                                        <p:cTn id="11" dur="320"/>
                                        <p:tgtEl>
                                          <p:spTgt spid="30"/>
                                        </p:tgtEl>
                                      </p:cBhvr>
                                    </p:animEffect>
                                  </p:childTnLst>
                                </p:cTn>
                              </p:par>
                            </p:childTnLst>
                          </p:cTn>
                        </p:par>
                        <p:par>
                          <p:cTn id="12" fill="hold">
                            <p:stCondLst>
                              <p:cond delay="1030"/>
                            </p:stCondLst>
                            <p:childTnLst>
                              <p:par>
                                <p:cTn xmlns:p="http://schemas.openxmlformats.org/presentationml/2006/main" id="13" presetID="10" presetClass="entr" presetSubtype="0" fill="hold" grpId="0" nodeType="afterEffect">
                                  <p:stCondLst>
                                    <p:cond delay="160"/>
                                  </p:stCondLst>
                                  <p:childTnLst>
                                    <p:set>
                                      <p:cBhvr>
                                        <p:cTn id="14" dur="1" fill="hold">
                                          <p:stCondLst>
                                            <p:cond delay="0"/>
                                          </p:stCondLst>
                                        </p:cTn>
                                        <p:tgtEl>
                                          <p:spTgt spid="47"/>
                                        </p:tgtEl>
                                        <p:attrNameLst>
                                          <p:attrName>style.visibility</p:attrName>
                                        </p:attrNameLst>
                                      </p:cBhvr>
                                      <p:to>
                                        <p:strVal val="visible"/>
                                      </p:to>
                                    </p:set>
                                    <p:animEffect transition="in" filter="fade">
                                      <p:cBhvr>
                                        <p:cTn id="15" dur="320"/>
                                        <p:tgtEl>
                                          <p:spTgt spid="47"/>
                                        </p:tgtEl>
                                      </p:cBhvr>
                                    </p:animEffect>
                                  </p:childTnLst>
                                </p:cTn>
                              </p:par>
                            </p:childTnLst>
                          </p:cTn>
                        </p:par>
                        <p:par>
                          <p:cTn id="16" fill="hold">
                            <p:stCondLst>
                              <p:cond delay="1510"/>
                            </p:stCondLst>
                            <p:childTnLst>
                              <p:par>
                                <p:cTn xmlns:p="http://schemas.openxmlformats.org/presentationml/2006/main" id="17" presetID="10" presetClass="entr" presetSubtype="0" fill="hold" grpId="0" nodeType="afterEffect">
                                  <p:stCondLst>
                                    <p:cond delay="160"/>
                                  </p:stCondLst>
                                  <p:childTnLst>
                                    <p:set>
                                      <p:cBhvr>
                                        <p:cTn id="18" dur="1" fill="hold">
                                          <p:stCondLst>
                                            <p:cond delay="0"/>
                                          </p:stCondLst>
                                        </p:cTn>
                                        <p:tgtEl>
                                          <p:spTgt spid="64"/>
                                        </p:tgtEl>
                                        <p:attrNameLst>
                                          <p:attrName>style.visibility</p:attrName>
                                        </p:attrNameLst>
                                      </p:cBhvr>
                                      <p:to>
                                        <p:strVal val="visible"/>
                                      </p:to>
                                    </p:set>
                                    <p:animEffect transition="in" filter="fade">
                                      <p:cBhvr>
                                        <p:cTn id="19" dur="32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Group 3"/>
          <p:cNvGrpSpPr/>
          <p:nvPr/>
        </p:nvGrpSpPr>
        <p:grpSpPr>
          <a:xfrm>
            <a:off x="0" y="0"/>
            <a:ext cx="12192000" cy="6858000"/>
            <a:chOff x="0" y="0"/>
            <a:chExt cx="12192000" cy="6858000"/>
          </a:xfrm>
        </p:grpSpPr>
        <p:pic>
          <p:nvPicPr>
            <p:cNvPr id="2" name="Image 2"/>
            <p:cNvPicPr>
              <a:picLocks noChangeAspect="1"/>
            </p:cNvPicPr>
            <p:nvPr/>
          </p:nvPicPr>
          <p:blipFill>
            <a:blip r:embed="rId2"/>
            <a:stretch>
              <a:fillRect/>
            </a:stretch>
          </p:blipFill>
          <p:spPr>
            <a:xfrm>
              <a:off x="0" y="0"/>
              <a:ext cx="12192000" cy="6858000"/>
            </a:xfrm>
            <a:prstGeom prst="rect">
              <a:avLst/>
            </a:prstGeom>
          </p:spPr>
        </p:pic>
      </p:grpSp>
      <p:sp>
        <p:nvSpPr>
          <p:cNvPr id="4" name="Rectangle 4"/>
          <p:cNvSpPr/>
          <p:nvPr/>
        </p:nvSpPr>
        <p:spPr>
          <a:xfrm>
            <a:off x="0" y="0"/>
            <a:ext cx="12192000" cy="6858000"/>
          </a:xfrm>
          <a:prstGeom prst="rect">
            <a:avLst/>
          </a:prstGeom>
          <a:solidFill>
            <a:schemeClr val="lt1">
              <a:alpha val="55000"/>
            </a:schemeClr>
          </a:solidFill>
          <a:ln>
            <a:noFill/>
          </a:ln>
        </p:spPr>
      </p:sp>
      <p:sp>
        <p:nvSpPr>
          <p:cNvPr id="5" name="Rectangle 5"/>
          <p:cNvSpPr/>
          <p:nvPr/>
        </p:nvSpPr>
        <p:spPr>
          <a:xfrm>
            <a:off x="0" y="0"/>
            <a:ext cx="12192000" cy="6858000"/>
          </a:xfrm>
          <a:prstGeom prst="rect">
            <a:avLst/>
          </a:prstGeom>
          <a:pattFill prst="ltUpDiag">
            <a:fgClr>
              <a:schemeClr val="dk1">
                <a:alpha val="8000"/>
              </a:schemeClr>
            </a:fgClr>
            <a:bgClr>
              <a:srgbClr val="FFFFFF"/>
            </a:bgClr>
          </a:pattFill>
          <a:ln>
            <a:noFill/>
          </a:ln>
        </p:spPr>
      </p:sp>
      <p:sp>
        <p:nvSpPr>
          <p:cNvPr id="6" name="Rectangle 6"/>
          <p:cNvSpPr/>
          <p:nvPr/>
        </p:nvSpPr>
        <p:spPr>
          <a:xfrm>
            <a:off x="0" y="0"/>
            <a:ext cx="12192000" cy="1905000"/>
          </a:xfrm>
          <a:prstGeom prst="rect">
            <a:avLst/>
          </a:prstGeom>
          <a:gradFill>
            <a:gsLst>
              <a:gs pos="0">
                <a:schemeClr val="lt1">
                  <a:alpha val="85000"/>
                </a:schemeClr>
              </a:gs>
              <a:gs pos="100000">
                <a:schemeClr val="lt1">
                  <a:alpha val="0"/>
                </a:schemeClr>
              </a:gs>
            </a:gsLst>
            <a:lin ang="5400000" scaled="1"/>
          </a:gradFill>
          <a:ln>
            <a:noFill/>
          </a:ln>
        </p:spPr>
      </p:sp>
      <p:grpSp>
        <p:nvGrpSpPr>
          <p:cNvPr id="9" name="Group 9"/>
          <p:cNvGrpSpPr/>
          <p:nvPr/>
        </p:nvGrpSpPr>
        <p:grpSpPr>
          <a:xfrm>
            <a:off x="566547" y="656749"/>
            <a:ext cx="3390666" cy="267176"/>
            <a:chOff x="566547" y="656749"/>
            <a:chExt cx="3390666" cy="267176"/>
          </a:xfrm>
        </p:grpSpPr>
        <p:sp>
          <p:nvSpPr>
            <p:cNvPr id="7" name="TextBox 7"/>
            <p:cNvSpPr txBox="1"/>
            <p:nvPr/>
          </p:nvSpPr>
          <p:spPr>
            <a:xfrm>
              <a:off x="566547" y="656749"/>
              <a:ext cx="3390666" cy="190690"/>
            </a:xfrm>
            <a:prstGeom prst="rect">
              <a:avLst/>
            </a:prstGeom>
            <a:noFill/>
            <a:ln>
              <a:noFill/>
            </a:ln>
          </p:spPr>
          <p:txBody>
            <a:bodyPr wrap="none" lIns="0" tIns="0" rIns="0" bIns="0" anchor="t" anchorCtr="0">
              <a:spAutoFit/>
            </a:bodyPr>
            <a:lstStyle/>
            <a:p>
              <a:pPr algn="l"/>
              <a:r>
                <a:rPr lang="zh-CN" sz="980" spc="300" dirty="0">
                  <a:solidFill>
                    <a:schemeClr val="dk1"/>
                  </a:solidFill>
                  <a:latin typeface="Consolas"/>
                  <a:ea typeface="Microsoft YaHei"/>
                  <a:cs typeface="Consolas"/>
                </a:rPr>
                <a:t>PART 04 · 全球独立书店 NO.4 — 柏林</a:t>
              </a:r>
            </a:p>
          </p:txBody>
        </p:sp>
        <p:sp>
          <p:nvSpPr>
            <p:cNvPr id="8" name="Line 8"/>
            <p:cNvSpPr/>
            <p:nvPr/>
          </p:nvSpPr>
          <p:spPr>
            <a:xfrm>
              <a:off x="571500" y="914400"/>
              <a:ext cx="2476500" cy="9525"/>
            </a:xfrm>
            <a:custGeom>
              <a:avLst/>
              <a:gdLst/>
              <a:ahLst/>
              <a:cxnLst/>
              <a:rect l="l" t="t" r="r" b="b"/>
              <a:pathLst>
                <a:path w="2476500" h="9525">
                  <a:moveTo>
                    <a:pt x="0" y="0"/>
                  </a:moveTo>
                  <a:lnTo>
                    <a:pt x="2476500" y="0"/>
                  </a:lnTo>
                </a:path>
              </a:pathLst>
            </a:custGeom>
            <a:noFill/>
            <a:ln w="28575">
              <a:solidFill>
                <a:schemeClr val="accent2"/>
              </a:solidFill>
            </a:ln>
          </p:spPr>
        </p:sp>
      </p:grpSp>
      <p:grpSp>
        <p:nvGrpSpPr>
          <p:cNvPr id="13" name="Group 13"/>
          <p:cNvGrpSpPr/>
          <p:nvPr/>
        </p:nvGrpSpPr>
        <p:grpSpPr>
          <a:xfrm>
            <a:off x="2830830" y="2790825"/>
            <a:ext cx="6511290" cy="1466850"/>
            <a:chOff x="2830830" y="2790825"/>
            <a:chExt cx="6511290" cy="1466850"/>
          </a:xfrm>
        </p:grpSpPr>
        <p:sp>
          <p:nvSpPr>
            <p:cNvPr id="10" name="TextBox 10"/>
            <p:cNvSpPr txBox="1"/>
            <p:nvPr/>
          </p:nvSpPr>
          <p:spPr>
            <a:xfrm>
              <a:off x="2849880" y="2809875"/>
              <a:ext cx="6492240" cy="1447800"/>
            </a:xfrm>
            <a:prstGeom prst="rect">
              <a:avLst/>
            </a:prstGeom>
            <a:noFill/>
            <a:ln>
              <a:noFill/>
            </a:ln>
          </p:spPr>
          <p:txBody>
            <a:bodyPr wrap="none" lIns="0" tIns="0" rIns="0" bIns="0" anchor="t" anchorCtr="0">
              <a:spAutoFit/>
            </a:bodyPr>
            <a:lstStyle/>
            <a:p>
              <a:pPr algn="ctr"/>
              <a:r>
                <a:rPr lang="zh-CN" sz="7500" spc="-150" dirty="0">
                  <a:solidFill>
                    <a:schemeClr val="accent2"/>
                  </a:solidFill>
                  <a:latin typeface="+mj-lt"/>
                  <a:ea typeface="+mj-ea"/>
                  <a:cs typeface="+mj-cs"/>
                </a:rPr>
                <a:t>BÜCHERBOGEN</a:t>
              </a:r>
            </a:p>
          </p:txBody>
        </p:sp>
        <p:sp>
          <p:nvSpPr>
            <p:cNvPr id="11" name="TextBox 11"/>
            <p:cNvSpPr txBox="1"/>
            <p:nvPr/>
          </p:nvSpPr>
          <p:spPr>
            <a:xfrm>
              <a:off x="2830830" y="2790825"/>
              <a:ext cx="6492240" cy="1447800"/>
            </a:xfrm>
            <a:prstGeom prst="rect">
              <a:avLst/>
            </a:prstGeom>
            <a:noFill/>
            <a:ln>
              <a:noFill/>
            </a:ln>
          </p:spPr>
          <p:txBody>
            <a:bodyPr wrap="none" lIns="0" tIns="0" rIns="0" bIns="0" anchor="t" anchorCtr="0">
              <a:spAutoFit/>
            </a:bodyPr>
            <a:lstStyle/>
            <a:p>
              <a:pPr algn="ctr"/>
              <a:r>
                <a:rPr lang="zh-CN" sz="7500" spc="-150" dirty="0">
                  <a:solidFill>
                    <a:schemeClr val="dk1"/>
                  </a:solidFill>
                  <a:latin typeface="+mj-lt"/>
                  <a:ea typeface="+mj-ea"/>
                  <a:cs typeface="+mj-cs"/>
                </a:rPr>
                <a:t>BÜCHERBOGEN</a:t>
              </a:r>
            </a:p>
          </p:txBody>
        </p:sp>
        <p:sp>
          <p:nvSpPr>
            <p:cNvPr id="12" name="TextBox 12"/>
            <p:cNvSpPr txBox="1"/>
            <p:nvPr/>
          </p:nvSpPr>
          <p:spPr>
            <a:xfrm>
              <a:off x="4041648" y="3966210"/>
              <a:ext cx="4108704" cy="234696"/>
            </a:xfrm>
            <a:prstGeom prst="rect">
              <a:avLst/>
            </a:prstGeom>
            <a:noFill/>
            <a:ln>
              <a:noFill/>
            </a:ln>
          </p:spPr>
          <p:txBody>
            <a:bodyPr wrap="none" lIns="0" tIns="0" rIns="0" bIns="0" anchor="t" anchorCtr="0">
              <a:spAutoFit/>
            </a:bodyPr>
            <a:lstStyle/>
            <a:p>
              <a:pPr algn="ctr"/>
              <a:r>
                <a:rPr lang="zh-CN" sz="1200" spc="450" dirty="0">
                  <a:solidFill>
                    <a:schemeClr val="accent1"/>
                  </a:solidFill>
                  <a:latin typeface="Consolas"/>
                  <a:ea typeface="Microsoft YaHei"/>
                  <a:cs typeface="Consolas"/>
                </a:rPr>
                <a:t>柏林 · BERLIN · S-BAHN ARCHES</a:t>
              </a:r>
            </a:p>
          </p:txBody>
        </p:sp>
      </p:grpSp>
      <p:sp>
        <p:nvSpPr>
          <p:cNvPr id="14" name="Rectangle 14"/>
          <p:cNvSpPr/>
          <p:nvPr/>
        </p:nvSpPr>
        <p:spPr>
          <a:xfrm>
            <a:off x="0" y="4762500"/>
            <a:ext cx="12192000" cy="2095500"/>
          </a:xfrm>
          <a:prstGeom prst="rect">
            <a:avLst/>
          </a:prstGeom>
          <a:gradFill>
            <a:gsLst>
              <a:gs pos="0">
                <a:schemeClr val="dk1">
                  <a:alpha val="0"/>
                </a:schemeClr>
              </a:gs>
              <a:gs pos="100000">
                <a:schemeClr val="dk1">
                  <a:alpha val="78000"/>
                </a:schemeClr>
              </a:gs>
            </a:gsLst>
            <a:lin ang="5400000" scaled="1"/>
          </a:gradFill>
          <a:ln>
            <a:noFill/>
          </a:ln>
        </p:spPr>
      </p:sp>
      <p:grpSp>
        <p:nvGrpSpPr>
          <p:cNvPr id="28" name="Group 28"/>
          <p:cNvGrpSpPr/>
          <p:nvPr/>
        </p:nvGrpSpPr>
        <p:grpSpPr>
          <a:xfrm>
            <a:off x="571500" y="5143500"/>
            <a:ext cx="11077575" cy="1177861"/>
            <a:chOff x="571500" y="5143500"/>
            <a:chExt cx="11077575" cy="1177861"/>
          </a:xfrm>
        </p:grpSpPr>
        <p:sp>
          <p:nvSpPr>
            <p:cNvPr id="15" name="Rectangle 15"/>
            <p:cNvSpPr/>
            <p:nvPr/>
          </p:nvSpPr>
          <p:spPr>
            <a:xfrm>
              <a:off x="571500" y="5143500"/>
              <a:ext cx="133350" cy="1143000"/>
            </a:xfrm>
            <a:prstGeom prst="rect">
              <a:avLst/>
            </a:prstGeom>
            <a:solidFill>
              <a:schemeClr val="accent2"/>
            </a:solidFill>
            <a:ln>
              <a:noFill/>
            </a:ln>
          </p:spPr>
        </p:sp>
        <p:sp>
          <p:nvSpPr>
            <p:cNvPr id="16" name="Rectangle 16"/>
            <p:cNvSpPr/>
            <p:nvPr/>
          </p:nvSpPr>
          <p:spPr>
            <a:xfrm>
              <a:off x="600075" y="5172075"/>
              <a:ext cx="133350" cy="1143000"/>
            </a:xfrm>
            <a:prstGeom prst="rect">
              <a:avLst/>
            </a:prstGeom>
            <a:solidFill>
              <a:schemeClr val="accent1">
                <a:alpha val="60000"/>
              </a:schemeClr>
            </a:solidFill>
            <a:ln>
              <a:noFill/>
            </a:ln>
          </p:spPr>
        </p:sp>
        <p:sp>
          <p:nvSpPr>
            <p:cNvPr id="17" name="Rectangle 17"/>
            <p:cNvSpPr/>
            <p:nvPr/>
          </p:nvSpPr>
          <p:spPr>
            <a:xfrm>
              <a:off x="571500" y="5143500"/>
              <a:ext cx="133350" cy="1143000"/>
            </a:xfrm>
            <a:prstGeom prst="rect">
              <a:avLst/>
            </a:prstGeom>
            <a:solidFill>
              <a:schemeClr val="accent2"/>
            </a:solidFill>
            <a:ln>
              <a:noFill/>
            </a:ln>
          </p:spPr>
        </p:sp>
        <p:sp>
          <p:nvSpPr>
            <p:cNvPr id="18" name="TextBox 18"/>
            <p:cNvSpPr txBox="1"/>
            <p:nvPr/>
          </p:nvSpPr>
          <p:spPr>
            <a:xfrm>
              <a:off x="867156" y="5215890"/>
              <a:ext cx="3371027" cy="352044"/>
            </a:xfrm>
            <a:prstGeom prst="rect">
              <a:avLst/>
            </a:prstGeom>
            <a:noFill/>
            <a:ln>
              <a:noFill/>
            </a:ln>
          </p:spPr>
          <p:txBody>
            <a:bodyPr wrap="none" lIns="0" tIns="0" rIns="0" bIns="0" anchor="t" anchorCtr="0">
              <a:spAutoFit/>
            </a:bodyPr>
            <a:lstStyle/>
            <a:p>
              <a:pPr algn="l"/>
              <a:r>
                <a:rPr lang="zh-CN" sz="1800" b="1" dirty="0">
                  <a:solidFill>
                    <a:srgbClr val="F5EFE0"/>
                  </a:solidFill>
                  <a:latin typeface="+mn-lt"/>
                  <a:ea typeface="+mn-ea"/>
                  <a:cs typeface="+mn-cs"/>
                </a:rPr>
                <a:t>藏在 S-BAHN 高架桥下的拱顶</a:t>
              </a:r>
            </a:p>
          </p:txBody>
        </p:sp>
        <p:sp>
          <p:nvSpPr>
            <p:cNvPr id="19" name="TextBox 19"/>
            <p:cNvSpPr txBox="1"/>
            <p:nvPr/>
          </p:nvSpPr>
          <p:spPr>
            <a:xfrm>
              <a:off x="870204" y="5585460"/>
              <a:ext cx="5440070" cy="234696"/>
            </a:xfrm>
            <a:prstGeom prst="rect">
              <a:avLst/>
            </a:prstGeom>
            <a:noFill/>
            <a:ln>
              <a:noFill/>
            </a:ln>
          </p:spPr>
          <p:txBody>
            <a:bodyPr wrap="none" lIns="0" tIns="0" rIns="0" bIns="0" anchor="t" anchorCtr="0">
              <a:spAutoFit/>
            </a:bodyPr>
            <a:lstStyle/>
            <a:p>
              <a:pPr algn="l"/>
              <a:r>
                <a:rPr lang="zh-CN" sz="1200" dirty="0">
                  <a:solidFill>
                    <a:srgbClr val="F5EFE0"/>
                  </a:solidFill>
                  <a:latin typeface="+mn-lt"/>
                  <a:ea typeface="+mn-ea"/>
                  <a:cs typeface="+mn-cs"/>
                </a:rPr>
                <a:t>砖砌拱顶 + 火车隆隆 + 头顶尘埃 —— 专攻艺术 / 设计 / 摄影 / 电影 / 建筑书</a:t>
              </a:r>
            </a:p>
          </p:txBody>
        </p:sp>
        <p:sp>
          <p:nvSpPr>
            <p:cNvPr id="20" name="TextBox 20"/>
            <p:cNvSpPr txBox="1"/>
            <p:nvPr/>
          </p:nvSpPr>
          <p:spPr>
            <a:xfrm>
              <a:off x="870204" y="5814060"/>
              <a:ext cx="3420770" cy="234696"/>
            </a:xfrm>
            <a:prstGeom prst="rect">
              <a:avLst/>
            </a:prstGeom>
            <a:noFill/>
            <a:ln>
              <a:noFill/>
            </a:ln>
          </p:spPr>
          <p:txBody>
            <a:bodyPr wrap="none" lIns="0" tIns="0" rIns="0" bIns="0" anchor="t" anchorCtr="0">
              <a:spAutoFit/>
            </a:bodyPr>
            <a:lstStyle/>
            <a:p>
              <a:pPr algn="l"/>
              <a:r>
                <a:rPr lang="zh-CN" sz="1200" dirty="0">
                  <a:solidFill>
                    <a:srgbClr val="F5EFE0"/>
                  </a:solidFill>
                  <a:latin typeface="+mn-lt"/>
                  <a:ea typeface="+mn-ea"/>
                  <a:cs typeface="+mn-cs"/>
                </a:rPr>
                <a:t>柏林"特定主题书店"的范式：不要全面，要绝对</a:t>
              </a:r>
            </a:p>
          </p:txBody>
        </p:sp>
        <p:sp>
          <p:nvSpPr>
            <p:cNvPr id="21" name="TextBox 21"/>
            <p:cNvSpPr txBox="1"/>
            <p:nvPr/>
          </p:nvSpPr>
          <p:spPr>
            <a:xfrm>
              <a:off x="870966" y="6116002"/>
              <a:ext cx="1579664" cy="205359"/>
            </a:xfrm>
            <a:prstGeom prst="rect">
              <a:avLst/>
            </a:prstGeom>
            <a:noFill/>
            <a:ln>
              <a:noFill/>
            </a:ln>
          </p:spPr>
          <p:txBody>
            <a:bodyPr wrap="none" lIns="0" tIns="0" rIns="0" bIns="0" anchor="t" anchorCtr="0">
              <a:spAutoFit/>
            </a:bodyPr>
            <a:lstStyle/>
            <a:p>
              <a:pPr algn="l"/>
              <a:r>
                <a:rPr lang="zh-CN" sz="1050" b="1" dirty="0">
                  <a:solidFill>
                    <a:schemeClr val="accent2"/>
                  </a:solidFill>
                  <a:latin typeface="+mn-lt"/>
                  <a:ea typeface="+mn-ea"/>
                  <a:cs typeface="+mn-cs"/>
                </a:rPr>
                <a:t>→ 书店 = 一个主题的世界</a:t>
              </a:r>
            </a:p>
          </p:txBody>
        </p:sp>
        <p:sp>
          <p:nvSpPr>
            <p:cNvPr id="22" name="Rectangle 22"/>
            <p:cNvSpPr/>
            <p:nvPr/>
          </p:nvSpPr>
          <p:spPr>
            <a:xfrm>
              <a:off x="8572500" y="5143500"/>
              <a:ext cx="3048000" cy="1143000"/>
            </a:xfrm>
            <a:prstGeom prst="rect">
              <a:avLst/>
            </a:prstGeom>
            <a:solidFill>
              <a:schemeClr val="accent1"/>
            </a:solidFill>
            <a:ln>
              <a:noFill/>
            </a:ln>
          </p:spPr>
        </p:sp>
        <p:sp>
          <p:nvSpPr>
            <p:cNvPr id="23" name="Rectangle 23"/>
            <p:cNvSpPr/>
            <p:nvPr/>
          </p:nvSpPr>
          <p:spPr>
            <a:xfrm>
              <a:off x="8601075" y="5172075"/>
              <a:ext cx="3048000" cy="1143000"/>
            </a:xfrm>
            <a:prstGeom prst="rect">
              <a:avLst/>
            </a:prstGeom>
            <a:solidFill>
              <a:schemeClr val="accent2">
                <a:alpha val="60000"/>
              </a:schemeClr>
            </a:solidFill>
            <a:ln>
              <a:noFill/>
            </a:ln>
          </p:spPr>
        </p:sp>
        <p:sp>
          <p:nvSpPr>
            <p:cNvPr id="24" name="Rectangle 24"/>
            <p:cNvSpPr/>
            <p:nvPr/>
          </p:nvSpPr>
          <p:spPr>
            <a:xfrm>
              <a:off x="8572500" y="5143500"/>
              <a:ext cx="3048000" cy="1143000"/>
            </a:xfrm>
            <a:prstGeom prst="rect">
              <a:avLst/>
            </a:prstGeom>
            <a:solidFill>
              <a:schemeClr val="accent1"/>
            </a:solidFill>
            <a:ln>
              <a:noFill/>
            </a:ln>
          </p:spPr>
        </p:sp>
        <p:sp>
          <p:nvSpPr>
            <p:cNvPr id="25" name="TextBox 25"/>
            <p:cNvSpPr txBox="1"/>
            <p:nvPr/>
          </p:nvSpPr>
          <p:spPr>
            <a:xfrm>
              <a:off x="9188196" y="5322570"/>
              <a:ext cx="1816608" cy="469392"/>
            </a:xfrm>
            <a:prstGeom prst="rect">
              <a:avLst/>
            </a:prstGeom>
            <a:noFill/>
            <a:ln>
              <a:noFill/>
            </a:ln>
          </p:spPr>
          <p:txBody>
            <a:bodyPr wrap="none" lIns="0" tIns="0" rIns="0" bIns="0" anchor="t" anchorCtr="0">
              <a:spAutoFit/>
            </a:bodyPr>
            <a:lstStyle/>
            <a:p>
              <a:pPr algn="ctr"/>
              <a:r>
                <a:rPr lang="zh-CN" sz="2400" dirty="0">
                  <a:solidFill>
                    <a:srgbClr val="F5EFE0"/>
                  </a:solidFill>
                  <a:latin typeface="+mj-lt"/>
                  <a:ea typeface="+mj-ea"/>
                  <a:cs typeface="+mj-cs"/>
                </a:rPr>
                <a:t>5 SUBJECTS</a:t>
              </a:r>
            </a:p>
          </p:txBody>
        </p:sp>
        <p:sp>
          <p:nvSpPr>
            <p:cNvPr id="26" name="TextBox 26"/>
            <p:cNvSpPr txBox="1"/>
            <p:nvPr/>
          </p:nvSpPr>
          <p:spPr>
            <a:xfrm>
              <a:off x="9059304" y="5754052"/>
              <a:ext cx="2074393" cy="205359"/>
            </a:xfrm>
            <a:prstGeom prst="rect">
              <a:avLst/>
            </a:prstGeom>
            <a:noFill/>
            <a:ln>
              <a:noFill/>
            </a:ln>
          </p:spPr>
          <p:txBody>
            <a:bodyPr wrap="none" lIns="0" tIns="0" rIns="0" bIns="0" anchor="t" anchorCtr="0">
              <a:spAutoFit/>
            </a:bodyPr>
            <a:lstStyle/>
            <a:p>
              <a:pPr algn="ctr"/>
              <a:r>
                <a:rPr lang="zh-CN" sz="1050" dirty="0">
                  <a:solidFill>
                    <a:srgbClr val="F5EFE0"/>
                  </a:solidFill>
                  <a:latin typeface="+mn-lt"/>
                  <a:ea typeface="+mn-ea"/>
                  <a:cs typeface="+mn-cs"/>
                </a:rPr>
                <a:t>艺术 / 设计 / 摄影 / 电影 / 建筑</a:t>
              </a:r>
            </a:p>
          </p:txBody>
        </p:sp>
        <p:sp>
          <p:nvSpPr>
            <p:cNvPr id="27" name="TextBox 27"/>
            <p:cNvSpPr txBox="1"/>
            <p:nvPr/>
          </p:nvSpPr>
          <p:spPr>
            <a:xfrm>
              <a:off x="9194132" y="6006941"/>
              <a:ext cx="1804736" cy="161925"/>
            </a:xfrm>
            <a:prstGeom prst="rect">
              <a:avLst/>
            </a:prstGeom>
            <a:noFill/>
            <a:ln>
              <a:noFill/>
            </a:ln>
          </p:spPr>
          <p:txBody>
            <a:bodyPr wrap="none" lIns="0" tIns="0" rIns="0" bIns="0" anchor="t" anchorCtr="0">
              <a:spAutoFit/>
            </a:bodyPr>
            <a:lstStyle/>
            <a:p>
              <a:pPr algn="ctr"/>
              <a:r>
                <a:rPr lang="zh-CN" sz="820" spc="150" dirty="0">
                  <a:solidFill>
                    <a:schemeClr val="accent2"/>
                  </a:solidFill>
                  <a:latin typeface="Consolas"/>
                  <a:ea typeface="Consolas"/>
                  <a:cs typeface="Consolas"/>
                </a:rPr>
                <a:t>UNDER ONE ARCHED VAULT</a:t>
              </a:r>
            </a:p>
          </p:txBody>
        </p:sp>
      </p:grpSp>
      <p:grpSp>
        <p:nvGrpSpPr>
          <p:cNvPr id="31" name="Group 31"/>
          <p:cNvGrpSpPr/>
          <p:nvPr/>
        </p:nvGrpSpPr>
        <p:grpSpPr>
          <a:xfrm>
            <a:off x="566738" y="6654641"/>
            <a:ext cx="11058525" cy="161925"/>
            <a:chOff x="566738" y="6654641"/>
            <a:chExt cx="11058525" cy="161925"/>
          </a:xfrm>
        </p:grpSpPr>
        <p:sp>
          <p:nvSpPr>
            <p:cNvPr id="29" name="TextBox 29"/>
            <p:cNvSpPr txBox="1"/>
            <p:nvPr/>
          </p:nvSpPr>
          <p:spPr>
            <a:xfrm>
              <a:off x="566738" y="6654641"/>
              <a:ext cx="1946549" cy="161925"/>
            </a:xfrm>
            <a:prstGeom prst="rect">
              <a:avLst/>
            </a:prstGeom>
            <a:noFill/>
            <a:ln>
              <a:noFill/>
            </a:ln>
          </p:spPr>
          <p:txBody>
            <a:bodyPr wrap="none" lIns="0" tIns="0" rIns="0" bIns="0" anchor="t" anchorCtr="0">
              <a:spAutoFit/>
            </a:bodyPr>
            <a:lstStyle/>
            <a:p>
              <a:pPr algn="l"/>
              <a:r>
                <a:rPr lang="zh-CN" sz="820" spc="150" dirty="0">
                  <a:solidFill>
                    <a:srgbClr val="F5EFE0"/>
                  </a:solidFill>
                  <a:latin typeface="Consolas"/>
                  <a:ea typeface="Consolas"/>
                  <a:cs typeface="Consolas"/>
                </a:rPr>
                <a:t>P11 · BERLIN BÜCHERBOGEN</a:t>
              </a:r>
            </a:p>
          </p:txBody>
        </p:sp>
        <p:sp>
          <p:nvSpPr>
            <p:cNvPr id="30" name="TextBox 30"/>
            <p:cNvSpPr txBox="1"/>
            <p:nvPr/>
          </p:nvSpPr>
          <p:spPr>
            <a:xfrm>
              <a:off x="9068646" y="6654641"/>
              <a:ext cx="2556617" cy="161925"/>
            </a:xfrm>
            <a:prstGeom prst="rect">
              <a:avLst/>
            </a:prstGeom>
            <a:noFill/>
            <a:ln>
              <a:noFill/>
            </a:ln>
          </p:spPr>
          <p:txBody>
            <a:bodyPr wrap="none" lIns="0" tIns="0" rIns="0" bIns="0" anchor="t" anchorCtr="0">
              <a:spAutoFit/>
            </a:bodyPr>
            <a:lstStyle/>
            <a:p>
              <a:pPr algn="r"/>
              <a:r>
                <a:rPr lang="zh-CN" sz="820" spc="150" dirty="0">
                  <a:solidFill>
                    <a:srgbClr val="F5EFE0"/>
                  </a:solidFill>
                  <a:latin typeface="Consolas"/>
                  <a:ea typeface="Consolas"/>
                  <a:cs typeface="Consolas"/>
                </a:rPr>
                <a:t>EUROPEAN INDIE BOOKSTORE FINALE</a:t>
              </a:r>
            </a:p>
          </p:txBody>
        </p:sp>
      </p:grpSp>
    </p:spTree>
  </p:cSld>
  <p:clrMapOvr>
    <a:masterClrMapping/>
  </p:clrMapOvr>
  <p:transition xmlns:p14="http://schemas.microsoft.com/office/powerpoint/2010/main" p14:dur="500">
    <p:push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childTnLst>
                          </p:cTn>
                        </p:par>
                        <p:par>
                          <p:cTn id="8" fill="hold">
                            <p:stCondLst>
                              <p:cond delay="600"/>
                            </p:stCondLst>
                            <p:childTnLst>
                              <p:par>
                                <p:cTn xmlns:p="http://schemas.openxmlformats.org/presentationml/2006/main" id="9" presetID="4" presetClass="entr" presetSubtype="16" fill="hold" grpId="0" nodeType="afterEffect">
                                  <p:stCondLst>
                                    <p:cond delay="200"/>
                                  </p:stCondLst>
                                  <p:childTnLst>
                                    <p:set>
                                      <p:cBhvr>
                                        <p:cTn id="10" dur="1" fill="hold">
                                          <p:stCondLst>
                                            <p:cond delay="0"/>
                                          </p:stCondLst>
                                        </p:cTn>
                                        <p:tgtEl>
                                          <p:spTgt spid="13"/>
                                        </p:tgtEl>
                                        <p:attrNameLst>
                                          <p:attrName>style.visibility</p:attrName>
                                        </p:attrNameLst>
                                      </p:cBhvr>
                                      <p:to>
                                        <p:strVal val="visible"/>
                                      </p:to>
                                    </p:set>
                                    <p:animEffect transition="in" filter="box(in)">
                                      <p:cBhvr>
                                        <p:cTn id="11" dur="550"/>
                                        <p:tgtEl>
                                          <p:spTgt spid="13"/>
                                        </p:tgtEl>
                                      </p:cBhvr>
                                    </p:animEffect>
                                  </p:childTnLst>
                                </p:cTn>
                              </p:par>
                            </p:childTnLst>
                          </p:cTn>
                        </p:par>
                        <p:par>
                          <p:cTn id="12" fill="hold">
                            <p:stCondLst>
                              <p:cond delay="1350"/>
                            </p:stCondLst>
                            <p:childTnLst>
                              <p:par>
                                <p:cTn xmlns:p="http://schemas.openxmlformats.org/presentationml/2006/main" id="13" presetID="22" presetClass="entr" presetSubtype="4" fill="hold" grpId="0" nodeType="afterEffect">
                                  <p:stCondLst>
                                    <p:cond delay="250"/>
                                  </p:stCondLst>
                                  <p:childTnLst>
                                    <p:set>
                                      <p:cBhvr>
                                        <p:cTn id="14" dur="1" fill="hold">
                                          <p:stCondLst>
                                            <p:cond delay="0"/>
                                          </p:stCondLst>
                                        </p:cTn>
                                        <p:tgtEl>
                                          <p:spTgt spid="28"/>
                                        </p:tgtEl>
                                        <p:attrNameLst>
                                          <p:attrName>style.visibility</p:attrName>
                                        </p:attrNameLst>
                                      </p:cBhvr>
                                      <p:to>
                                        <p:strVal val="visible"/>
                                      </p:to>
                                    </p:set>
                                    <p:animEffect transition="in" filter="wipe(down)">
                                      <p:cBhvr>
                                        <p:cTn id="15" dur="5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pattFill prst="ltUpDiag">
            <a:fgClr>
              <a:schemeClr val="dk1">
                <a:alpha val="10000"/>
              </a:schemeClr>
            </a:fgClr>
            <a:bgClr>
              <a:srgbClr val="FFFFFF"/>
            </a:bgClr>
          </a:pattFill>
          <a:ln>
            <a:noFill/>
          </a:ln>
        </p:spPr>
      </p:sp>
      <p:grpSp>
        <p:nvGrpSpPr>
          <p:cNvPr id="8" name="Group 8"/>
          <p:cNvGrpSpPr/>
          <p:nvPr/>
        </p:nvGrpSpPr>
        <p:grpSpPr>
          <a:xfrm>
            <a:off x="571500" y="533400"/>
            <a:ext cx="7409688" cy="726757"/>
            <a:chOff x="571500" y="533400"/>
            <a:chExt cx="7409688" cy="726757"/>
          </a:xfrm>
        </p:grpSpPr>
        <p:sp>
          <p:nvSpPr>
            <p:cNvPr id="3" name="Rectangle 3"/>
            <p:cNvSpPr/>
            <p:nvPr/>
          </p:nvSpPr>
          <p:spPr>
            <a:xfrm>
              <a:off x="571500" y="533400"/>
              <a:ext cx="133350" cy="647700"/>
            </a:xfrm>
            <a:prstGeom prst="rect">
              <a:avLst/>
            </a:prstGeom>
            <a:solidFill>
              <a:schemeClr val="accent1"/>
            </a:solidFill>
            <a:ln>
              <a:noFill/>
            </a:ln>
          </p:spPr>
        </p:sp>
        <p:sp>
          <p:nvSpPr>
            <p:cNvPr id="4" name="Rectangle 4"/>
            <p:cNvSpPr/>
            <p:nvPr/>
          </p:nvSpPr>
          <p:spPr>
            <a:xfrm>
              <a:off x="600075" y="561975"/>
              <a:ext cx="133350" cy="647700"/>
            </a:xfrm>
            <a:prstGeom prst="rect">
              <a:avLst/>
            </a:prstGeom>
            <a:solidFill>
              <a:schemeClr val="accent2">
                <a:alpha val="70000"/>
              </a:schemeClr>
            </a:solidFill>
            <a:ln>
              <a:noFill/>
            </a:ln>
          </p:spPr>
        </p:sp>
        <p:sp>
          <p:nvSpPr>
            <p:cNvPr id="5" name="Rectangle 5"/>
            <p:cNvSpPr/>
            <p:nvPr/>
          </p:nvSpPr>
          <p:spPr>
            <a:xfrm>
              <a:off x="571500" y="533400"/>
              <a:ext cx="133350" cy="647700"/>
            </a:xfrm>
            <a:prstGeom prst="rect">
              <a:avLst/>
            </a:prstGeom>
            <a:solidFill>
              <a:schemeClr val="accent1"/>
            </a:solidFill>
            <a:ln>
              <a:noFill/>
            </a:ln>
          </p:spPr>
        </p:sp>
        <p:sp>
          <p:nvSpPr>
            <p:cNvPr id="6" name="TextBox 6"/>
            <p:cNvSpPr txBox="1"/>
            <p:nvPr/>
          </p:nvSpPr>
          <p:spPr>
            <a:xfrm>
              <a:off x="860298" y="593408"/>
              <a:ext cx="7120890" cy="616077"/>
            </a:xfrm>
            <a:prstGeom prst="rect">
              <a:avLst/>
            </a:prstGeom>
            <a:noFill/>
            <a:ln>
              <a:noFill/>
            </a:ln>
          </p:spPr>
          <p:txBody>
            <a:bodyPr wrap="none" lIns="0" tIns="0" rIns="0" bIns="0" anchor="t" anchorCtr="0">
              <a:spAutoFit/>
            </a:bodyPr>
            <a:lstStyle/>
            <a:p>
              <a:pPr algn="l"/>
              <a:r>
                <a:rPr lang="zh-CN" sz="3150" spc="-75" dirty="0">
                  <a:solidFill>
                    <a:schemeClr val="dk1"/>
                  </a:solidFill>
                  <a:latin typeface="+mj-lt"/>
                  <a:ea typeface="+mj-ea"/>
                  <a:cs typeface="+mj-cs"/>
                </a:rPr>
                <a:t>中国大陆独立书店地图（ZINE 倾向）</a:t>
              </a:r>
            </a:p>
          </p:txBody>
        </p:sp>
        <p:sp>
          <p:nvSpPr>
            <p:cNvPr id="7" name="TextBox 7"/>
            <p:cNvSpPr txBox="1"/>
            <p:nvPr/>
          </p:nvSpPr>
          <p:spPr>
            <a:xfrm>
              <a:off x="871538" y="1083945"/>
              <a:ext cx="5719039" cy="176212"/>
            </a:xfrm>
            <a:prstGeom prst="rect">
              <a:avLst/>
            </a:prstGeom>
            <a:noFill/>
            <a:ln>
              <a:noFill/>
            </a:ln>
          </p:spPr>
          <p:txBody>
            <a:bodyPr wrap="none" lIns="0" tIns="0" rIns="0" bIns="0" anchor="t" anchorCtr="0">
              <a:spAutoFit/>
            </a:bodyPr>
            <a:lstStyle/>
            <a:p>
              <a:pPr algn="l"/>
              <a:r>
                <a:rPr lang="zh-CN" sz="900" spc="225" dirty="0">
                  <a:solidFill>
                    <a:schemeClr val="dk2"/>
                  </a:solidFill>
                  <a:latin typeface="Consolas"/>
                  <a:ea typeface="Consolas"/>
                  <a:cs typeface="Consolas"/>
                </a:rPr>
                <a:t>15 STORES · ★ ZINE INTENSITY · MAINLAND CHINA · CURATED 2026</a:t>
              </a:r>
            </a:p>
          </p:txBody>
        </p:sp>
      </p:grpSp>
      <p:sp>
        <p:nvSpPr>
          <p:cNvPr id="9" name="Rectangle 9"/>
          <p:cNvSpPr/>
          <p:nvPr/>
        </p:nvSpPr>
        <p:spPr>
          <a:xfrm>
            <a:off x="571500" y="1409700"/>
            <a:ext cx="11049000" cy="4724400"/>
          </a:xfrm>
          <a:prstGeom prst="rect">
            <a:avLst/>
          </a:prstGeom>
          <a:noFill/>
          <a:ln w="28575">
            <a:solidFill>
              <a:schemeClr val="accent4"/>
            </a:solidFill>
          </a:ln>
        </p:spPr>
      </p:sp>
      <p:grpSp>
        <p:nvGrpSpPr>
          <p:cNvPr id="94" name="Group 94"/>
          <p:cNvGrpSpPr/>
          <p:nvPr/>
        </p:nvGrpSpPr>
        <p:grpSpPr>
          <a:xfrm>
            <a:off x="571500" y="1409700"/>
            <a:ext cx="11077575" cy="4677156"/>
            <a:chOff x="571500" y="1409700"/>
            <a:chExt cx="11077575" cy="4677156"/>
          </a:xfrm>
        </p:grpSpPr>
        <p:sp>
          <p:nvSpPr>
            <p:cNvPr id="10" name="Rectangle 10"/>
            <p:cNvSpPr/>
            <p:nvPr/>
          </p:nvSpPr>
          <p:spPr>
            <a:xfrm>
              <a:off x="571500" y="1409700"/>
              <a:ext cx="11049000" cy="381000"/>
            </a:xfrm>
            <a:prstGeom prst="rect">
              <a:avLst/>
            </a:prstGeom>
            <a:solidFill>
              <a:schemeClr val="dk1"/>
            </a:solidFill>
            <a:ln>
              <a:noFill/>
            </a:ln>
          </p:spPr>
        </p:sp>
        <p:sp>
          <p:nvSpPr>
            <p:cNvPr id="11" name="Rectangle 11"/>
            <p:cNvSpPr/>
            <p:nvPr/>
          </p:nvSpPr>
          <p:spPr>
            <a:xfrm>
              <a:off x="600075" y="1438275"/>
              <a:ext cx="11049000" cy="381000"/>
            </a:xfrm>
            <a:prstGeom prst="rect">
              <a:avLst/>
            </a:prstGeom>
            <a:solidFill>
              <a:schemeClr val="accent2">
                <a:alpha val="55000"/>
              </a:schemeClr>
            </a:solidFill>
            <a:ln>
              <a:noFill/>
            </a:ln>
          </p:spPr>
        </p:sp>
        <p:sp>
          <p:nvSpPr>
            <p:cNvPr id="12" name="Rectangle 12"/>
            <p:cNvSpPr/>
            <p:nvPr/>
          </p:nvSpPr>
          <p:spPr>
            <a:xfrm>
              <a:off x="571500" y="1409700"/>
              <a:ext cx="11049000" cy="381000"/>
            </a:xfrm>
            <a:prstGeom prst="rect">
              <a:avLst/>
            </a:prstGeom>
            <a:solidFill>
              <a:schemeClr val="dk1"/>
            </a:solidFill>
            <a:ln>
              <a:noFill/>
            </a:ln>
          </p:spPr>
        </p:sp>
        <p:sp>
          <p:nvSpPr>
            <p:cNvPr id="13" name="TextBox 13"/>
            <p:cNvSpPr txBox="1"/>
            <p:nvPr/>
          </p:nvSpPr>
          <p:spPr>
            <a:xfrm>
              <a:off x="757047" y="1552099"/>
              <a:ext cx="1080817" cy="190690"/>
            </a:xfrm>
            <a:prstGeom prst="rect">
              <a:avLst/>
            </a:prstGeom>
            <a:noFill/>
            <a:ln>
              <a:noFill/>
            </a:ln>
          </p:spPr>
          <p:txBody>
            <a:bodyPr wrap="none" lIns="0" tIns="0" rIns="0" bIns="0" anchor="t" anchorCtr="0">
              <a:spAutoFit/>
            </a:bodyPr>
            <a:lstStyle/>
            <a:p>
              <a:pPr algn="l"/>
              <a:r>
                <a:rPr lang="zh-CN" sz="980" b="1" spc="150" dirty="0">
                  <a:solidFill>
                    <a:srgbClr val="F5EFE0"/>
                  </a:solidFill>
                  <a:latin typeface="Consolas"/>
                  <a:ea typeface="Microsoft YaHei"/>
                  <a:cs typeface="Consolas"/>
                </a:rPr>
                <a:t>书店 · STORE</a:t>
              </a:r>
            </a:p>
          </p:txBody>
        </p:sp>
        <p:sp>
          <p:nvSpPr>
            <p:cNvPr id="14" name="TextBox 14"/>
            <p:cNvSpPr txBox="1"/>
            <p:nvPr/>
          </p:nvSpPr>
          <p:spPr>
            <a:xfrm>
              <a:off x="3614547" y="1552099"/>
              <a:ext cx="913116" cy="190690"/>
            </a:xfrm>
            <a:prstGeom prst="rect">
              <a:avLst/>
            </a:prstGeom>
            <a:noFill/>
            <a:ln>
              <a:noFill/>
            </a:ln>
          </p:spPr>
          <p:txBody>
            <a:bodyPr wrap="none" lIns="0" tIns="0" rIns="0" bIns="0" anchor="t" anchorCtr="0">
              <a:spAutoFit/>
            </a:bodyPr>
            <a:lstStyle/>
            <a:p>
              <a:pPr algn="l"/>
              <a:r>
                <a:rPr lang="zh-CN" sz="980" b="1" spc="150" dirty="0">
                  <a:solidFill>
                    <a:srgbClr val="F5EFE0"/>
                  </a:solidFill>
                  <a:latin typeface="Consolas"/>
                  <a:ea typeface="Microsoft YaHei"/>
                  <a:cs typeface="Consolas"/>
                </a:rPr>
                <a:t>城市 · CITY</a:t>
              </a:r>
            </a:p>
          </p:txBody>
        </p:sp>
        <p:sp>
          <p:nvSpPr>
            <p:cNvPr id="15" name="TextBox 15"/>
            <p:cNvSpPr txBox="1"/>
            <p:nvPr/>
          </p:nvSpPr>
          <p:spPr>
            <a:xfrm>
              <a:off x="5329047" y="1552099"/>
              <a:ext cx="1458891" cy="190690"/>
            </a:xfrm>
            <a:prstGeom prst="rect">
              <a:avLst/>
            </a:prstGeom>
            <a:noFill/>
            <a:ln>
              <a:noFill/>
            </a:ln>
          </p:spPr>
          <p:txBody>
            <a:bodyPr wrap="none" lIns="0" tIns="0" rIns="0" bIns="0" anchor="t" anchorCtr="0">
              <a:spAutoFit/>
            </a:bodyPr>
            <a:lstStyle/>
            <a:p>
              <a:pPr algn="l"/>
              <a:r>
                <a:rPr lang="zh-CN" sz="980" b="1" spc="150" dirty="0">
                  <a:solidFill>
                    <a:srgbClr val="F5EFE0"/>
                  </a:solidFill>
                  <a:latin typeface="Consolas"/>
                  <a:ea typeface="Microsoft YaHei"/>
                  <a:cs typeface="Consolas"/>
                </a:rPr>
                <a:t>特色 · CHARACTER</a:t>
              </a:r>
            </a:p>
          </p:txBody>
        </p:sp>
        <p:sp>
          <p:nvSpPr>
            <p:cNvPr id="16" name="TextBox 16"/>
            <p:cNvSpPr txBox="1"/>
            <p:nvPr/>
          </p:nvSpPr>
          <p:spPr>
            <a:xfrm>
              <a:off x="10104483" y="1552099"/>
              <a:ext cx="746034" cy="190690"/>
            </a:xfrm>
            <a:prstGeom prst="rect">
              <a:avLst/>
            </a:prstGeom>
            <a:noFill/>
            <a:ln>
              <a:noFill/>
            </a:ln>
          </p:spPr>
          <p:txBody>
            <a:bodyPr wrap="none" lIns="0" tIns="0" rIns="0" bIns="0" anchor="t" anchorCtr="0">
              <a:spAutoFit/>
            </a:bodyPr>
            <a:lstStyle/>
            <a:p>
              <a:pPr algn="ctr"/>
              <a:r>
                <a:rPr lang="zh-CN" sz="980" b="1" spc="150" dirty="0">
                  <a:solidFill>
                    <a:srgbClr val="F5EFE0"/>
                  </a:solidFill>
                  <a:latin typeface="Consolas"/>
                  <a:ea typeface="Microsoft YaHei"/>
                  <a:cs typeface="Consolas"/>
                </a:rPr>
                <a:t>ZINE 倾向</a:t>
              </a:r>
            </a:p>
          </p:txBody>
        </p:sp>
        <p:sp>
          <p:nvSpPr>
            <p:cNvPr id="17" name="Line 17"/>
            <p:cNvSpPr/>
            <p:nvPr/>
          </p:nvSpPr>
          <p:spPr>
            <a:xfrm>
              <a:off x="3429000" y="1790700"/>
              <a:ext cx="9525" cy="4152900"/>
            </a:xfrm>
            <a:custGeom>
              <a:avLst/>
              <a:gdLst/>
              <a:ahLst/>
              <a:cxnLst/>
              <a:rect l="l" t="t" r="r" b="b"/>
              <a:pathLst>
                <a:path w="9525" h="4152900">
                  <a:moveTo>
                    <a:pt x="0" y="0"/>
                  </a:moveTo>
                  <a:lnTo>
                    <a:pt x="0" y="4152900"/>
                  </a:lnTo>
                </a:path>
              </a:pathLst>
            </a:custGeom>
            <a:noFill/>
            <a:ln w="14288">
              <a:solidFill>
                <a:schemeClr val="accent4"/>
              </a:solidFill>
            </a:ln>
          </p:spPr>
        </p:sp>
        <p:sp>
          <p:nvSpPr>
            <p:cNvPr id="18" name="Line 18"/>
            <p:cNvSpPr/>
            <p:nvPr/>
          </p:nvSpPr>
          <p:spPr>
            <a:xfrm>
              <a:off x="5143500" y="1790700"/>
              <a:ext cx="9525" cy="4152900"/>
            </a:xfrm>
            <a:custGeom>
              <a:avLst/>
              <a:gdLst/>
              <a:ahLst/>
              <a:cxnLst/>
              <a:rect l="l" t="t" r="r" b="b"/>
              <a:pathLst>
                <a:path w="9525" h="4152900">
                  <a:moveTo>
                    <a:pt x="0" y="0"/>
                  </a:moveTo>
                  <a:lnTo>
                    <a:pt x="0" y="4152900"/>
                  </a:lnTo>
                </a:path>
              </a:pathLst>
            </a:custGeom>
            <a:noFill/>
            <a:ln w="14288">
              <a:solidFill>
                <a:schemeClr val="accent4"/>
              </a:solidFill>
            </a:ln>
          </p:spPr>
        </p:sp>
        <p:sp>
          <p:nvSpPr>
            <p:cNvPr id="19" name="Line 19"/>
            <p:cNvSpPr/>
            <p:nvPr/>
          </p:nvSpPr>
          <p:spPr>
            <a:xfrm>
              <a:off x="9715500" y="1790700"/>
              <a:ext cx="9525" cy="4152900"/>
            </a:xfrm>
            <a:custGeom>
              <a:avLst/>
              <a:gdLst/>
              <a:ahLst/>
              <a:cxnLst/>
              <a:rect l="l" t="t" r="r" b="b"/>
              <a:pathLst>
                <a:path w="9525" h="4152900">
                  <a:moveTo>
                    <a:pt x="0" y="0"/>
                  </a:moveTo>
                  <a:lnTo>
                    <a:pt x="0" y="4152900"/>
                  </a:lnTo>
                </a:path>
              </a:pathLst>
            </a:custGeom>
            <a:noFill/>
            <a:ln w="14288">
              <a:solidFill>
                <a:schemeClr val="accent4"/>
              </a:solidFill>
            </a:ln>
          </p:spPr>
        </p:sp>
        <p:sp>
          <p:nvSpPr>
            <p:cNvPr id="20" name="Line 20"/>
            <p:cNvSpPr/>
            <p:nvPr/>
          </p:nvSpPr>
          <p:spPr>
            <a:xfrm>
              <a:off x="571500" y="2076450"/>
              <a:ext cx="11049000" cy="9525"/>
            </a:xfrm>
            <a:custGeom>
              <a:avLst/>
              <a:gdLst/>
              <a:ahLst/>
              <a:cxnLst/>
              <a:rect l="l" t="t" r="r" b="b"/>
              <a:pathLst>
                <a:path w="11049000" h="9525">
                  <a:moveTo>
                    <a:pt x="0" y="0"/>
                  </a:moveTo>
                  <a:lnTo>
                    <a:pt x="11049000" y="0"/>
                  </a:lnTo>
                </a:path>
              </a:pathLst>
            </a:custGeom>
            <a:noFill/>
            <a:ln w="9525">
              <a:solidFill>
                <a:schemeClr val="accent4">
                  <a:alpha val="30000"/>
                </a:schemeClr>
              </a:solidFill>
            </a:ln>
          </p:spPr>
        </p:sp>
        <p:sp>
          <p:nvSpPr>
            <p:cNvPr id="21" name="TextBox 21"/>
            <p:cNvSpPr txBox="1"/>
            <p:nvPr/>
          </p:nvSpPr>
          <p:spPr>
            <a:xfrm>
              <a:off x="756666" y="1867852"/>
              <a:ext cx="717423" cy="205359"/>
            </a:xfrm>
            <a:prstGeom prst="rect">
              <a:avLst/>
            </a:prstGeom>
            <a:noFill/>
            <a:ln>
              <a:noFill/>
            </a:ln>
          </p:spPr>
          <p:txBody>
            <a:bodyPr wrap="none" lIns="0" tIns="0" rIns="0" bIns="0" anchor="t" anchorCtr="0">
              <a:spAutoFit/>
            </a:bodyPr>
            <a:lstStyle/>
            <a:p>
              <a:pPr algn="l"/>
              <a:r>
                <a:rPr lang="zh-CN" sz="1050" b="1" dirty="0">
                  <a:solidFill>
                    <a:schemeClr val="dk1"/>
                  </a:solidFill>
                  <a:latin typeface="+mn-lt"/>
                  <a:ea typeface="+mn-ea"/>
                  <a:cs typeface="+mn-cs"/>
                </a:rPr>
                <a:t>香蕉鱼书店</a:t>
              </a:r>
            </a:p>
          </p:txBody>
        </p:sp>
        <p:sp>
          <p:nvSpPr>
            <p:cNvPr id="22" name="TextBox 22"/>
            <p:cNvSpPr txBox="1"/>
            <p:nvPr/>
          </p:nvSpPr>
          <p:spPr>
            <a:xfrm>
              <a:off x="3614166" y="1867852"/>
              <a:ext cx="293370" cy="205359"/>
            </a:xfrm>
            <a:prstGeom prst="rect">
              <a:avLst/>
            </a:prstGeom>
            <a:noFill/>
            <a:ln>
              <a:noFill/>
            </a:ln>
          </p:spPr>
          <p:txBody>
            <a:bodyPr wrap="none" lIns="0" tIns="0" rIns="0" bIns="0" anchor="t" anchorCtr="0">
              <a:spAutoFit/>
            </a:bodyPr>
            <a:lstStyle/>
            <a:p>
              <a:pPr algn="l"/>
              <a:r>
                <a:rPr lang="zh-CN" sz="1050" dirty="0">
                  <a:solidFill>
                    <a:schemeClr val="dk2"/>
                  </a:solidFill>
                  <a:latin typeface="+mn-lt"/>
                  <a:ea typeface="+mn-ea"/>
                  <a:cs typeface="+mn-cs"/>
                </a:rPr>
                <a:t>上海</a:t>
              </a:r>
            </a:p>
          </p:txBody>
        </p:sp>
        <p:sp>
          <p:nvSpPr>
            <p:cNvPr id="23" name="TextBox 23"/>
            <p:cNvSpPr txBox="1"/>
            <p:nvPr/>
          </p:nvSpPr>
          <p:spPr>
            <a:xfrm>
              <a:off x="5329047" y="1875949"/>
              <a:ext cx="2946135" cy="190690"/>
            </a:xfrm>
            <a:prstGeom prst="rect">
              <a:avLst/>
            </a:prstGeom>
            <a:noFill/>
            <a:ln>
              <a:noFill/>
            </a:ln>
          </p:spPr>
          <p:txBody>
            <a:bodyPr wrap="none" lIns="0" tIns="0" rIns="0" bIns="0" anchor="t" anchorCtr="0">
              <a:spAutoFit/>
            </a:bodyPr>
            <a:lstStyle/>
            <a:p>
              <a:pPr algn="l"/>
              <a:r>
                <a:rPr lang="zh-CN" sz="980" dirty="0">
                  <a:solidFill>
                    <a:schemeClr val="dk1"/>
                  </a:solidFill>
                  <a:latin typeface="+mn-lt"/>
                  <a:ea typeface="+mn-ea"/>
                  <a:cs typeface="+mn-cs"/>
                </a:rPr>
                <a:t>首家专注独立出版 · 推广 zine · 自营 Riso 工作室</a:t>
              </a:r>
            </a:p>
          </p:txBody>
        </p:sp>
        <p:sp>
          <p:nvSpPr>
            <p:cNvPr id="24" name="TextBox 24"/>
            <p:cNvSpPr txBox="1"/>
            <p:nvPr/>
          </p:nvSpPr>
          <p:spPr>
            <a:xfrm>
              <a:off x="10229088" y="1851660"/>
              <a:ext cx="496824" cy="234696"/>
            </a:xfrm>
            <a:prstGeom prst="rect">
              <a:avLst/>
            </a:prstGeom>
            <a:noFill/>
            <a:ln>
              <a:noFill/>
            </a:ln>
          </p:spPr>
          <p:txBody>
            <a:bodyPr wrap="none" lIns="0" tIns="0" rIns="0" bIns="0" anchor="t" anchorCtr="0">
              <a:spAutoFit/>
            </a:bodyPr>
            <a:lstStyle/>
            <a:p>
              <a:pPr algn="ctr"/>
              <a:r>
                <a:rPr lang="zh-CN" sz="1200" dirty="0">
                  <a:solidFill>
                    <a:schemeClr val="accent2"/>
                  </a:solidFill>
                  <a:latin typeface="+mj-lt"/>
                  <a:ea typeface="+mj-ea"/>
                  <a:cs typeface="+mj-cs"/>
                </a:rPr>
                <a:t>★★★</a:t>
              </a:r>
            </a:p>
          </p:txBody>
        </p:sp>
        <p:sp>
          <p:nvSpPr>
            <p:cNvPr id="25" name="Line 25"/>
            <p:cNvSpPr/>
            <p:nvPr/>
          </p:nvSpPr>
          <p:spPr>
            <a:xfrm>
              <a:off x="571500" y="2362200"/>
              <a:ext cx="11049000" cy="9525"/>
            </a:xfrm>
            <a:custGeom>
              <a:avLst/>
              <a:gdLst/>
              <a:ahLst/>
              <a:cxnLst/>
              <a:rect l="l" t="t" r="r" b="b"/>
              <a:pathLst>
                <a:path w="11049000" h="9525">
                  <a:moveTo>
                    <a:pt x="0" y="0"/>
                  </a:moveTo>
                  <a:lnTo>
                    <a:pt x="11049000" y="0"/>
                  </a:lnTo>
                </a:path>
              </a:pathLst>
            </a:custGeom>
            <a:noFill/>
            <a:ln w="9525">
              <a:solidFill>
                <a:schemeClr val="accent4">
                  <a:alpha val="30000"/>
                </a:schemeClr>
              </a:solidFill>
            </a:ln>
          </p:spPr>
        </p:sp>
        <p:sp>
          <p:nvSpPr>
            <p:cNvPr id="26" name="TextBox 26"/>
            <p:cNvSpPr txBox="1"/>
            <p:nvPr/>
          </p:nvSpPr>
          <p:spPr>
            <a:xfrm>
              <a:off x="756666" y="2153602"/>
              <a:ext cx="434721" cy="205359"/>
            </a:xfrm>
            <a:prstGeom prst="rect">
              <a:avLst/>
            </a:prstGeom>
            <a:noFill/>
            <a:ln>
              <a:noFill/>
            </a:ln>
          </p:spPr>
          <p:txBody>
            <a:bodyPr wrap="none" lIns="0" tIns="0" rIns="0" bIns="0" anchor="t" anchorCtr="0">
              <a:spAutoFit/>
            </a:bodyPr>
            <a:lstStyle/>
            <a:p>
              <a:pPr algn="l"/>
              <a:r>
                <a:rPr lang="zh-CN" sz="1050" b="1" dirty="0">
                  <a:solidFill>
                    <a:schemeClr val="dk1"/>
                  </a:solidFill>
                  <a:latin typeface="+mn-lt"/>
                  <a:ea typeface="+mn-ea"/>
                  <a:cs typeface="+mn-cs"/>
                </a:rPr>
                <a:t>假杂志</a:t>
              </a:r>
            </a:p>
          </p:txBody>
        </p:sp>
        <p:sp>
          <p:nvSpPr>
            <p:cNvPr id="27" name="TextBox 27"/>
            <p:cNvSpPr txBox="1"/>
            <p:nvPr/>
          </p:nvSpPr>
          <p:spPr>
            <a:xfrm>
              <a:off x="3614166" y="2153602"/>
              <a:ext cx="293370" cy="205359"/>
            </a:xfrm>
            <a:prstGeom prst="rect">
              <a:avLst/>
            </a:prstGeom>
            <a:noFill/>
            <a:ln>
              <a:noFill/>
            </a:ln>
          </p:spPr>
          <p:txBody>
            <a:bodyPr wrap="none" lIns="0" tIns="0" rIns="0" bIns="0" anchor="t" anchorCtr="0">
              <a:spAutoFit/>
            </a:bodyPr>
            <a:lstStyle/>
            <a:p>
              <a:pPr algn="l"/>
              <a:r>
                <a:rPr lang="zh-CN" sz="1050" dirty="0">
                  <a:solidFill>
                    <a:schemeClr val="dk2"/>
                  </a:solidFill>
                  <a:latin typeface="+mn-lt"/>
                  <a:ea typeface="+mn-ea"/>
                  <a:cs typeface="+mn-cs"/>
                </a:rPr>
                <a:t>宁波</a:t>
              </a:r>
            </a:p>
          </p:txBody>
        </p:sp>
        <p:sp>
          <p:nvSpPr>
            <p:cNvPr id="28" name="TextBox 28"/>
            <p:cNvSpPr txBox="1"/>
            <p:nvPr/>
          </p:nvSpPr>
          <p:spPr>
            <a:xfrm>
              <a:off x="5329047" y="2161699"/>
              <a:ext cx="2608880" cy="190690"/>
            </a:xfrm>
            <a:prstGeom prst="rect">
              <a:avLst/>
            </a:prstGeom>
            <a:noFill/>
            <a:ln>
              <a:noFill/>
            </a:ln>
          </p:spPr>
          <p:txBody>
            <a:bodyPr wrap="none" lIns="0" tIns="0" rIns="0" bIns="0" anchor="t" anchorCtr="0">
              <a:spAutoFit/>
            </a:bodyPr>
            <a:lstStyle/>
            <a:p>
              <a:pPr algn="l"/>
              <a:r>
                <a:rPr lang="zh-CN" sz="980" dirty="0">
                  <a:solidFill>
                    <a:schemeClr val="dk1"/>
                  </a:solidFill>
                  <a:latin typeface="+mn-lt"/>
                  <a:ea typeface="+mn-ea"/>
                  <a:cs typeface="+mn-cs"/>
                </a:rPr>
                <a:t>国内最早独立摄影出版机构 · 摄影 zine 圣地</a:t>
              </a:r>
            </a:p>
          </p:txBody>
        </p:sp>
        <p:sp>
          <p:nvSpPr>
            <p:cNvPr id="29" name="TextBox 29"/>
            <p:cNvSpPr txBox="1"/>
            <p:nvPr/>
          </p:nvSpPr>
          <p:spPr>
            <a:xfrm>
              <a:off x="10229088" y="2137410"/>
              <a:ext cx="496824" cy="234696"/>
            </a:xfrm>
            <a:prstGeom prst="rect">
              <a:avLst/>
            </a:prstGeom>
            <a:noFill/>
            <a:ln>
              <a:noFill/>
            </a:ln>
          </p:spPr>
          <p:txBody>
            <a:bodyPr wrap="none" lIns="0" tIns="0" rIns="0" bIns="0" anchor="t" anchorCtr="0">
              <a:spAutoFit/>
            </a:bodyPr>
            <a:lstStyle/>
            <a:p>
              <a:pPr algn="ctr"/>
              <a:r>
                <a:rPr lang="zh-CN" sz="1200" dirty="0">
                  <a:solidFill>
                    <a:schemeClr val="accent2"/>
                  </a:solidFill>
                  <a:latin typeface="+mj-lt"/>
                  <a:ea typeface="+mj-ea"/>
                  <a:cs typeface="+mj-cs"/>
                </a:rPr>
                <a:t>★★★</a:t>
              </a:r>
            </a:p>
          </p:txBody>
        </p:sp>
        <p:sp>
          <p:nvSpPr>
            <p:cNvPr id="30" name="Line 30"/>
            <p:cNvSpPr/>
            <p:nvPr/>
          </p:nvSpPr>
          <p:spPr>
            <a:xfrm>
              <a:off x="571500" y="2647950"/>
              <a:ext cx="11049000" cy="9525"/>
            </a:xfrm>
            <a:custGeom>
              <a:avLst/>
              <a:gdLst/>
              <a:ahLst/>
              <a:cxnLst/>
              <a:rect l="l" t="t" r="r" b="b"/>
              <a:pathLst>
                <a:path w="11049000" h="9525">
                  <a:moveTo>
                    <a:pt x="0" y="0"/>
                  </a:moveTo>
                  <a:lnTo>
                    <a:pt x="11049000" y="0"/>
                  </a:lnTo>
                </a:path>
              </a:pathLst>
            </a:custGeom>
            <a:noFill/>
            <a:ln w="9525">
              <a:solidFill>
                <a:schemeClr val="accent4">
                  <a:alpha val="30000"/>
                </a:schemeClr>
              </a:solidFill>
            </a:ln>
          </p:spPr>
        </p:sp>
        <p:sp>
          <p:nvSpPr>
            <p:cNvPr id="31" name="TextBox 31"/>
            <p:cNvSpPr txBox="1"/>
            <p:nvPr/>
          </p:nvSpPr>
          <p:spPr>
            <a:xfrm>
              <a:off x="756666" y="2439352"/>
              <a:ext cx="293370" cy="205359"/>
            </a:xfrm>
            <a:prstGeom prst="rect">
              <a:avLst/>
            </a:prstGeom>
            <a:noFill/>
            <a:ln>
              <a:noFill/>
            </a:ln>
          </p:spPr>
          <p:txBody>
            <a:bodyPr wrap="none" lIns="0" tIns="0" rIns="0" bIns="0" anchor="t" anchorCtr="0">
              <a:spAutoFit/>
            </a:bodyPr>
            <a:lstStyle/>
            <a:p>
              <a:pPr algn="l"/>
              <a:r>
                <a:rPr lang="zh-CN" sz="1050" b="1" dirty="0">
                  <a:solidFill>
                    <a:schemeClr val="dk1"/>
                  </a:solidFill>
                  <a:latin typeface="+mn-lt"/>
                  <a:ea typeface="+mn-ea"/>
                  <a:cs typeface="+mn-cs"/>
                </a:rPr>
                <a:t>野狗</a:t>
              </a:r>
            </a:p>
          </p:txBody>
        </p:sp>
        <p:sp>
          <p:nvSpPr>
            <p:cNvPr id="32" name="TextBox 32"/>
            <p:cNvSpPr txBox="1"/>
            <p:nvPr/>
          </p:nvSpPr>
          <p:spPr>
            <a:xfrm>
              <a:off x="3614166" y="2439352"/>
              <a:ext cx="293370" cy="205359"/>
            </a:xfrm>
            <a:prstGeom prst="rect">
              <a:avLst/>
            </a:prstGeom>
            <a:noFill/>
            <a:ln>
              <a:noFill/>
            </a:ln>
          </p:spPr>
          <p:txBody>
            <a:bodyPr wrap="none" lIns="0" tIns="0" rIns="0" bIns="0" anchor="t" anchorCtr="0">
              <a:spAutoFit/>
            </a:bodyPr>
            <a:lstStyle/>
            <a:p>
              <a:pPr algn="l"/>
              <a:r>
                <a:rPr lang="zh-CN" sz="1050" dirty="0">
                  <a:solidFill>
                    <a:schemeClr val="dk2"/>
                  </a:solidFill>
                  <a:latin typeface="+mn-lt"/>
                  <a:ea typeface="+mn-ea"/>
                  <a:cs typeface="+mn-cs"/>
                </a:rPr>
                <a:t>郑州</a:t>
              </a:r>
            </a:p>
          </p:txBody>
        </p:sp>
        <p:sp>
          <p:nvSpPr>
            <p:cNvPr id="33" name="TextBox 33"/>
            <p:cNvSpPr txBox="1"/>
            <p:nvPr/>
          </p:nvSpPr>
          <p:spPr>
            <a:xfrm>
              <a:off x="5329047" y="2447449"/>
              <a:ext cx="2378006" cy="190690"/>
            </a:xfrm>
            <a:prstGeom prst="rect">
              <a:avLst/>
            </a:prstGeom>
            <a:noFill/>
            <a:ln>
              <a:noFill/>
            </a:ln>
          </p:spPr>
          <p:txBody>
            <a:bodyPr wrap="none" lIns="0" tIns="0" rIns="0" bIns="0" anchor="t" anchorCtr="0">
              <a:spAutoFit/>
            </a:bodyPr>
            <a:lstStyle/>
            <a:p>
              <a:pPr algn="l"/>
              <a:r>
                <a:rPr lang="zh-CN" sz="980" dirty="0">
                  <a:solidFill>
                    <a:schemeClr val="dk1"/>
                  </a:solidFill>
                  <a:latin typeface="+mn-lt"/>
                  <a:ea typeface="+mn-ea"/>
                  <a:cs typeface="+mn-cs"/>
                </a:rPr>
                <a:t>精选 200+ 国内外独立杂志 / 艺术出版物</a:t>
              </a:r>
            </a:p>
          </p:txBody>
        </p:sp>
        <p:sp>
          <p:nvSpPr>
            <p:cNvPr id="34" name="TextBox 34"/>
            <p:cNvSpPr txBox="1"/>
            <p:nvPr/>
          </p:nvSpPr>
          <p:spPr>
            <a:xfrm>
              <a:off x="10229088" y="2423160"/>
              <a:ext cx="496824" cy="234696"/>
            </a:xfrm>
            <a:prstGeom prst="rect">
              <a:avLst/>
            </a:prstGeom>
            <a:noFill/>
            <a:ln>
              <a:noFill/>
            </a:ln>
          </p:spPr>
          <p:txBody>
            <a:bodyPr wrap="none" lIns="0" tIns="0" rIns="0" bIns="0" anchor="t" anchorCtr="0">
              <a:spAutoFit/>
            </a:bodyPr>
            <a:lstStyle/>
            <a:p>
              <a:pPr algn="ctr"/>
              <a:r>
                <a:rPr lang="zh-CN" sz="1200" dirty="0">
                  <a:solidFill>
                    <a:schemeClr val="accent2"/>
                  </a:solidFill>
                  <a:latin typeface="+mj-lt"/>
                  <a:ea typeface="+mj-ea"/>
                  <a:cs typeface="+mj-cs"/>
                </a:rPr>
                <a:t>★★★</a:t>
              </a:r>
            </a:p>
          </p:txBody>
        </p:sp>
        <p:sp>
          <p:nvSpPr>
            <p:cNvPr id="35" name="Line 35"/>
            <p:cNvSpPr/>
            <p:nvPr/>
          </p:nvSpPr>
          <p:spPr>
            <a:xfrm>
              <a:off x="571500" y="2933700"/>
              <a:ext cx="11049000" cy="9525"/>
            </a:xfrm>
            <a:custGeom>
              <a:avLst/>
              <a:gdLst/>
              <a:ahLst/>
              <a:cxnLst/>
              <a:rect l="l" t="t" r="r" b="b"/>
              <a:pathLst>
                <a:path w="11049000" h="9525">
                  <a:moveTo>
                    <a:pt x="0" y="0"/>
                  </a:moveTo>
                  <a:lnTo>
                    <a:pt x="11049000" y="0"/>
                  </a:lnTo>
                </a:path>
              </a:pathLst>
            </a:custGeom>
            <a:noFill/>
            <a:ln w="9525">
              <a:solidFill>
                <a:schemeClr val="accent4">
                  <a:alpha val="30000"/>
                </a:schemeClr>
              </a:solidFill>
            </a:ln>
          </p:spPr>
        </p:sp>
        <p:sp>
          <p:nvSpPr>
            <p:cNvPr id="36" name="TextBox 36"/>
            <p:cNvSpPr txBox="1"/>
            <p:nvPr/>
          </p:nvSpPr>
          <p:spPr>
            <a:xfrm>
              <a:off x="756666" y="2725102"/>
              <a:ext cx="1572517" cy="205359"/>
            </a:xfrm>
            <a:prstGeom prst="rect">
              <a:avLst/>
            </a:prstGeom>
            <a:noFill/>
            <a:ln>
              <a:noFill/>
            </a:ln>
          </p:spPr>
          <p:txBody>
            <a:bodyPr wrap="none" lIns="0" tIns="0" rIns="0" bIns="0" anchor="t" anchorCtr="0">
              <a:spAutoFit/>
            </a:bodyPr>
            <a:lstStyle/>
            <a:p>
              <a:pPr algn="l"/>
              <a:r>
                <a:rPr lang="zh-CN" sz="1050" b="1" dirty="0">
                  <a:solidFill>
                    <a:schemeClr val="dk1"/>
                  </a:solidFill>
                  <a:latin typeface="+mn-lt"/>
                  <a:ea typeface="+mn-ea"/>
                  <a:cs typeface="+mn-cs"/>
                </a:rPr>
                <a:t>一爿旧店 / BOOKMART</a:t>
              </a:r>
            </a:p>
          </p:txBody>
        </p:sp>
        <p:sp>
          <p:nvSpPr>
            <p:cNvPr id="37" name="TextBox 37"/>
            <p:cNvSpPr txBox="1"/>
            <p:nvPr/>
          </p:nvSpPr>
          <p:spPr>
            <a:xfrm>
              <a:off x="3614166" y="2725102"/>
              <a:ext cx="293370" cy="205359"/>
            </a:xfrm>
            <a:prstGeom prst="rect">
              <a:avLst/>
            </a:prstGeom>
            <a:noFill/>
            <a:ln>
              <a:noFill/>
            </a:ln>
          </p:spPr>
          <p:txBody>
            <a:bodyPr wrap="none" lIns="0" tIns="0" rIns="0" bIns="0" anchor="t" anchorCtr="0">
              <a:spAutoFit/>
            </a:bodyPr>
            <a:lstStyle/>
            <a:p>
              <a:pPr algn="l"/>
              <a:r>
                <a:rPr lang="zh-CN" sz="1050" dirty="0">
                  <a:solidFill>
                    <a:schemeClr val="dk2"/>
                  </a:solidFill>
                  <a:latin typeface="+mn-lt"/>
                  <a:ea typeface="+mn-ea"/>
                  <a:cs typeface="+mn-cs"/>
                </a:rPr>
                <a:t>舟山</a:t>
              </a:r>
            </a:p>
          </p:txBody>
        </p:sp>
        <p:sp>
          <p:nvSpPr>
            <p:cNvPr id="38" name="TextBox 38"/>
            <p:cNvSpPr txBox="1"/>
            <p:nvPr/>
          </p:nvSpPr>
          <p:spPr>
            <a:xfrm>
              <a:off x="5329047" y="2733199"/>
              <a:ext cx="2569301" cy="190690"/>
            </a:xfrm>
            <a:prstGeom prst="rect">
              <a:avLst/>
            </a:prstGeom>
            <a:noFill/>
            <a:ln>
              <a:noFill/>
            </a:ln>
          </p:spPr>
          <p:txBody>
            <a:bodyPr wrap="none" lIns="0" tIns="0" rIns="0" bIns="0" anchor="t" anchorCtr="0">
              <a:spAutoFit/>
            </a:bodyPr>
            <a:lstStyle/>
            <a:p>
              <a:pPr algn="l"/>
              <a:r>
                <a:rPr lang="zh-CN" sz="980" dirty="0">
                  <a:solidFill>
                    <a:schemeClr val="dk1"/>
                  </a:solidFill>
                  <a:latin typeface="+mn-lt"/>
                  <a:ea typeface="+mn-ea"/>
                  <a:cs typeface="+mn-cs"/>
                </a:rPr>
                <a:t>艺术书 / 摄影集 / zine / 独立出版物全方位</a:t>
              </a:r>
            </a:p>
          </p:txBody>
        </p:sp>
        <p:sp>
          <p:nvSpPr>
            <p:cNvPr id="39" name="TextBox 39"/>
            <p:cNvSpPr txBox="1"/>
            <p:nvPr/>
          </p:nvSpPr>
          <p:spPr>
            <a:xfrm>
              <a:off x="10229088" y="2708910"/>
              <a:ext cx="496824" cy="234696"/>
            </a:xfrm>
            <a:prstGeom prst="rect">
              <a:avLst/>
            </a:prstGeom>
            <a:noFill/>
            <a:ln>
              <a:noFill/>
            </a:ln>
          </p:spPr>
          <p:txBody>
            <a:bodyPr wrap="none" lIns="0" tIns="0" rIns="0" bIns="0" anchor="t" anchorCtr="0">
              <a:spAutoFit/>
            </a:bodyPr>
            <a:lstStyle/>
            <a:p>
              <a:pPr algn="ctr"/>
              <a:r>
                <a:rPr lang="zh-CN" sz="1200" dirty="0">
                  <a:solidFill>
                    <a:schemeClr val="accent2"/>
                  </a:solidFill>
                  <a:latin typeface="+mj-lt"/>
                  <a:ea typeface="+mj-ea"/>
                  <a:cs typeface="+mj-cs"/>
                </a:rPr>
                <a:t>★★★</a:t>
              </a:r>
            </a:p>
          </p:txBody>
        </p:sp>
        <p:sp>
          <p:nvSpPr>
            <p:cNvPr id="40" name="Line 40"/>
            <p:cNvSpPr/>
            <p:nvPr/>
          </p:nvSpPr>
          <p:spPr>
            <a:xfrm>
              <a:off x="571500" y="3219450"/>
              <a:ext cx="11049000" cy="9525"/>
            </a:xfrm>
            <a:custGeom>
              <a:avLst/>
              <a:gdLst/>
              <a:ahLst/>
              <a:cxnLst/>
              <a:rect l="l" t="t" r="r" b="b"/>
              <a:pathLst>
                <a:path w="11049000" h="9525">
                  <a:moveTo>
                    <a:pt x="0" y="0"/>
                  </a:moveTo>
                  <a:lnTo>
                    <a:pt x="11049000" y="0"/>
                  </a:lnTo>
                </a:path>
              </a:pathLst>
            </a:custGeom>
            <a:noFill/>
            <a:ln w="9525">
              <a:solidFill>
                <a:schemeClr val="accent4">
                  <a:alpha val="30000"/>
                </a:schemeClr>
              </a:solidFill>
            </a:ln>
          </p:spPr>
        </p:sp>
        <p:sp>
          <p:nvSpPr>
            <p:cNvPr id="41" name="TextBox 41"/>
            <p:cNvSpPr txBox="1"/>
            <p:nvPr/>
          </p:nvSpPr>
          <p:spPr>
            <a:xfrm>
              <a:off x="756666" y="3010852"/>
              <a:ext cx="453459" cy="205359"/>
            </a:xfrm>
            <a:prstGeom prst="rect">
              <a:avLst/>
            </a:prstGeom>
            <a:noFill/>
            <a:ln>
              <a:noFill/>
            </a:ln>
          </p:spPr>
          <p:txBody>
            <a:bodyPr wrap="none" lIns="0" tIns="0" rIns="0" bIns="0" anchor="t" anchorCtr="0">
              <a:spAutoFit/>
            </a:bodyPr>
            <a:lstStyle/>
            <a:p>
              <a:pPr algn="l"/>
              <a:r>
                <a:rPr lang="zh-CN" sz="1050" b="1" dirty="0">
                  <a:solidFill>
                    <a:schemeClr val="dk1"/>
                  </a:solidFill>
                  <a:latin typeface="+mn-lt"/>
                  <a:ea typeface="+mn-ea"/>
                  <a:cs typeface="+mn-cs"/>
                </a:rPr>
                <a:t>Combo</a:t>
              </a:r>
            </a:p>
          </p:txBody>
        </p:sp>
        <p:sp>
          <p:nvSpPr>
            <p:cNvPr id="42" name="TextBox 42"/>
            <p:cNvSpPr txBox="1"/>
            <p:nvPr/>
          </p:nvSpPr>
          <p:spPr>
            <a:xfrm>
              <a:off x="3614166" y="3010852"/>
              <a:ext cx="293370" cy="205359"/>
            </a:xfrm>
            <a:prstGeom prst="rect">
              <a:avLst/>
            </a:prstGeom>
            <a:noFill/>
            <a:ln>
              <a:noFill/>
            </a:ln>
          </p:spPr>
          <p:txBody>
            <a:bodyPr wrap="none" lIns="0" tIns="0" rIns="0" bIns="0" anchor="t" anchorCtr="0">
              <a:spAutoFit/>
            </a:bodyPr>
            <a:lstStyle/>
            <a:p>
              <a:pPr algn="l"/>
              <a:r>
                <a:rPr lang="zh-CN" sz="1050" dirty="0">
                  <a:solidFill>
                    <a:schemeClr val="dk2"/>
                  </a:solidFill>
                  <a:latin typeface="+mn-lt"/>
                  <a:ea typeface="+mn-ea"/>
                  <a:cs typeface="+mn-cs"/>
                </a:rPr>
                <a:t>武汉</a:t>
              </a:r>
            </a:p>
          </p:txBody>
        </p:sp>
        <p:sp>
          <p:nvSpPr>
            <p:cNvPr id="43" name="TextBox 43"/>
            <p:cNvSpPr txBox="1"/>
            <p:nvPr/>
          </p:nvSpPr>
          <p:spPr>
            <a:xfrm>
              <a:off x="5329047" y="3018949"/>
              <a:ext cx="2292253" cy="190690"/>
            </a:xfrm>
            <a:prstGeom prst="rect">
              <a:avLst/>
            </a:prstGeom>
            <a:noFill/>
            <a:ln>
              <a:noFill/>
            </a:ln>
          </p:spPr>
          <p:txBody>
            <a:bodyPr wrap="none" lIns="0" tIns="0" rIns="0" bIns="0" anchor="t" anchorCtr="0">
              <a:spAutoFit/>
            </a:bodyPr>
            <a:lstStyle/>
            <a:p>
              <a:pPr algn="l"/>
              <a:r>
                <a:rPr lang="zh-CN" sz="980" dirty="0">
                  <a:solidFill>
                    <a:schemeClr val="dk1"/>
                  </a:solidFill>
                  <a:latin typeface="+mn-lt"/>
                  <a:ea typeface="+mn-ea"/>
                  <a:cs typeface="+mn-cs"/>
                </a:rPr>
                <a:t>设计师 / 插画师 / 艺术家作品展示空间</a:t>
              </a:r>
            </a:p>
          </p:txBody>
        </p:sp>
        <p:sp>
          <p:nvSpPr>
            <p:cNvPr id="44" name="TextBox 44"/>
            <p:cNvSpPr txBox="1"/>
            <p:nvPr/>
          </p:nvSpPr>
          <p:spPr>
            <a:xfrm>
              <a:off x="10309860" y="2994660"/>
              <a:ext cx="335280" cy="234696"/>
            </a:xfrm>
            <a:prstGeom prst="rect">
              <a:avLst/>
            </a:prstGeom>
            <a:noFill/>
            <a:ln>
              <a:noFill/>
            </a:ln>
          </p:spPr>
          <p:txBody>
            <a:bodyPr wrap="none" lIns="0" tIns="0" rIns="0" bIns="0" anchor="t" anchorCtr="0">
              <a:spAutoFit/>
            </a:bodyPr>
            <a:lstStyle/>
            <a:p>
              <a:pPr algn="ctr"/>
              <a:r>
                <a:rPr lang="zh-CN" sz="1200" dirty="0">
                  <a:solidFill>
                    <a:schemeClr val="accent2"/>
                  </a:solidFill>
                  <a:latin typeface="+mj-lt"/>
                  <a:ea typeface="+mj-ea"/>
                  <a:cs typeface="+mj-cs"/>
                </a:rPr>
                <a:t>★★</a:t>
              </a:r>
            </a:p>
          </p:txBody>
        </p:sp>
        <p:sp>
          <p:nvSpPr>
            <p:cNvPr id="45" name="Line 45"/>
            <p:cNvSpPr/>
            <p:nvPr/>
          </p:nvSpPr>
          <p:spPr>
            <a:xfrm>
              <a:off x="571500" y="3505200"/>
              <a:ext cx="11049000" cy="9525"/>
            </a:xfrm>
            <a:custGeom>
              <a:avLst/>
              <a:gdLst/>
              <a:ahLst/>
              <a:cxnLst/>
              <a:rect l="l" t="t" r="r" b="b"/>
              <a:pathLst>
                <a:path w="11049000" h="9525">
                  <a:moveTo>
                    <a:pt x="0" y="0"/>
                  </a:moveTo>
                  <a:lnTo>
                    <a:pt x="11049000" y="0"/>
                  </a:lnTo>
                </a:path>
              </a:pathLst>
            </a:custGeom>
            <a:noFill/>
            <a:ln w="9525">
              <a:solidFill>
                <a:schemeClr val="accent4">
                  <a:alpha val="30000"/>
                </a:schemeClr>
              </a:solidFill>
            </a:ln>
          </p:spPr>
        </p:sp>
        <p:sp>
          <p:nvSpPr>
            <p:cNvPr id="46" name="TextBox 46"/>
            <p:cNvSpPr txBox="1"/>
            <p:nvPr/>
          </p:nvSpPr>
          <p:spPr>
            <a:xfrm>
              <a:off x="756666" y="3296602"/>
              <a:ext cx="831591" cy="205359"/>
            </a:xfrm>
            <a:prstGeom prst="rect">
              <a:avLst/>
            </a:prstGeom>
            <a:noFill/>
            <a:ln>
              <a:noFill/>
            </a:ln>
          </p:spPr>
          <p:txBody>
            <a:bodyPr wrap="none" lIns="0" tIns="0" rIns="0" bIns="0" anchor="t" anchorCtr="0">
              <a:spAutoFit/>
            </a:bodyPr>
            <a:lstStyle/>
            <a:p>
              <a:pPr algn="l"/>
              <a:r>
                <a:rPr lang="zh-CN" sz="1050" b="1" dirty="0">
                  <a:solidFill>
                    <a:schemeClr val="dk1"/>
                  </a:solidFill>
                  <a:latin typeface="+mn-lt"/>
                  <a:ea typeface="+mn-ea"/>
                  <a:cs typeface="+mn-cs"/>
                </a:rPr>
                <a:t>Protopaper</a:t>
              </a:r>
            </a:p>
          </p:txBody>
        </p:sp>
        <p:sp>
          <p:nvSpPr>
            <p:cNvPr id="47" name="TextBox 47"/>
            <p:cNvSpPr txBox="1"/>
            <p:nvPr/>
          </p:nvSpPr>
          <p:spPr>
            <a:xfrm>
              <a:off x="3614166" y="3296602"/>
              <a:ext cx="293370" cy="205359"/>
            </a:xfrm>
            <a:prstGeom prst="rect">
              <a:avLst/>
            </a:prstGeom>
            <a:noFill/>
            <a:ln>
              <a:noFill/>
            </a:ln>
          </p:spPr>
          <p:txBody>
            <a:bodyPr wrap="none" lIns="0" tIns="0" rIns="0" bIns="0" anchor="t" anchorCtr="0">
              <a:spAutoFit/>
            </a:bodyPr>
            <a:lstStyle/>
            <a:p>
              <a:pPr algn="l"/>
              <a:r>
                <a:rPr lang="zh-CN" sz="1050" dirty="0">
                  <a:solidFill>
                    <a:schemeClr val="dk2"/>
                  </a:solidFill>
                  <a:latin typeface="+mn-lt"/>
                  <a:ea typeface="+mn-ea"/>
                  <a:cs typeface="+mn-cs"/>
                </a:rPr>
                <a:t>西安</a:t>
              </a:r>
            </a:p>
          </p:txBody>
        </p:sp>
        <p:sp>
          <p:nvSpPr>
            <p:cNvPr id="48" name="TextBox 48"/>
            <p:cNvSpPr txBox="1"/>
            <p:nvPr/>
          </p:nvSpPr>
          <p:spPr>
            <a:xfrm>
              <a:off x="5329047" y="3304699"/>
              <a:ext cx="2008609" cy="190690"/>
            </a:xfrm>
            <a:prstGeom prst="rect">
              <a:avLst/>
            </a:prstGeom>
            <a:noFill/>
            <a:ln>
              <a:noFill/>
            </a:ln>
          </p:spPr>
          <p:txBody>
            <a:bodyPr wrap="none" lIns="0" tIns="0" rIns="0" bIns="0" anchor="t" anchorCtr="0">
              <a:spAutoFit/>
            </a:bodyPr>
            <a:lstStyle/>
            <a:p>
              <a:pPr algn="l"/>
              <a:r>
                <a:rPr lang="zh-CN" sz="980" dirty="0">
                  <a:solidFill>
                    <a:schemeClr val="dk1"/>
                  </a:solidFill>
                  <a:latin typeface="+mn-lt"/>
                  <a:ea typeface="+mn-ea"/>
                  <a:cs typeface="+mn-cs"/>
                </a:rPr>
                <a:t>设计工作室转书店 · 社区艺术连接</a:t>
              </a:r>
            </a:p>
          </p:txBody>
        </p:sp>
        <p:sp>
          <p:nvSpPr>
            <p:cNvPr id="49" name="TextBox 49"/>
            <p:cNvSpPr txBox="1"/>
            <p:nvPr/>
          </p:nvSpPr>
          <p:spPr>
            <a:xfrm>
              <a:off x="10309860" y="3280410"/>
              <a:ext cx="335280" cy="234696"/>
            </a:xfrm>
            <a:prstGeom prst="rect">
              <a:avLst/>
            </a:prstGeom>
            <a:noFill/>
            <a:ln>
              <a:noFill/>
            </a:ln>
          </p:spPr>
          <p:txBody>
            <a:bodyPr wrap="none" lIns="0" tIns="0" rIns="0" bIns="0" anchor="t" anchorCtr="0">
              <a:spAutoFit/>
            </a:bodyPr>
            <a:lstStyle/>
            <a:p>
              <a:pPr algn="ctr"/>
              <a:r>
                <a:rPr lang="zh-CN" sz="1200" dirty="0">
                  <a:solidFill>
                    <a:schemeClr val="accent2"/>
                  </a:solidFill>
                  <a:latin typeface="+mj-lt"/>
                  <a:ea typeface="+mj-ea"/>
                  <a:cs typeface="+mj-cs"/>
                </a:rPr>
                <a:t>★★</a:t>
              </a:r>
            </a:p>
          </p:txBody>
        </p:sp>
        <p:sp>
          <p:nvSpPr>
            <p:cNvPr id="50" name="Line 50"/>
            <p:cNvSpPr/>
            <p:nvPr/>
          </p:nvSpPr>
          <p:spPr>
            <a:xfrm>
              <a:off x="571500" y="3790950"/>
              <a:ext cx="11049000" cy="9525"/>
            </a:xfrm>
            <a:custGeom>
              <a:avLst/>
              <a:gdLst/>
              <a:ahLst/>
              <a:cxnLst/>
              <a:rect l="l" t="t" r="r" b="b"/>
              <a:pathLst>
                <a:path w="11049000" h="9525">
                  <a:moveTo>
                    <a:pt x="0" y="0"/>
                  </a:moveTo>
                  <a:lnTo>
                    <a:pt x="11049000" y="0"/>
                  </a:lnTo>
                </a:path>
              </a:pathLst>
            </a:custGeom>
            <a:noFill/>
            <a:ln w="9525">
              <a:solidFill>
                <a:schemeClr val="accent4">
                  <a:alpha val="30000"/>
                </a:schemeClr>
              </a:solidFill>
            </a:ln>
          </p:spPr>
        </p:sp>
        <p:sp>
          <p:nvSpPr>
            <p:cNvPr id="51" name="TextBox 51"/>
            <p:cNvSpPr txBox="1"/>
            <p:nvPr/>
          </p:nvSpPr>
          <p:spPr>
            <a:xfrm>
              <a:off x="756666" y="3582352"/>
              <a:ext cx="925339" cy="205359"/>
            </a:xfrm>
            <a:prstGeom prst="rect">
              <a:avLst/>
            </a:prstGeom>
            <a:noFill/>
            <a:ln>
              <a:noFill/>
            </a:ln>
          </p:spPr>
          <p:txBody>
            <a:bodyPr wrap="none" lIns="0" tIns="0" rIns="0" bIns="0" anchor="t" anchorCtr="0">
              <a:spAutoFit/>
            </a:bodyPr>
            <a:lstStyle/>
            <a:p>
              <a:pPr algn="l"/>
              <a:r>
                <a:rPr lang="zh-CN" sz="1050" b="1" dirty="0">
                  <a:solidFill>
                    <a:schemeClr val="dk1"/>
                  </a:solidFill>
                  <a:latin typeface="+mn-lt"/>
                  <a:ea typeface="+mn-ea"/>
                  <a:cs typeface="+mn-cs"/>
                </a:rPr>
                <a:t>Jetlag Books</a:t>
              </a:r>
            </a:p>
          </p:txBody>
        </p:sp>
        <p:sp>
          <p:nvSpPr>
            <p:cNvPr id="52" name="TextBox 52"/>
            <p:cNvSpPr txBox="1"/>
            <p:nvPr/>
          </p:nvSpPr>
          <p:spPr>
            <a:xfrm>
              <a:off x="3614166" y="3582352"/>
              <a:ext cx="879977" cy="205359"/>
            </a:xfrm>
            <a:prstGeom prst="rect">
              <a:avLst/>
            </a:prstGeom>
            <a:noFill/>
            <a:ln>
              <a:noFill/>
            </a:ln>
          </p:spPr>
          <p:txBody>
            <a:bodyPr wrap="none" lIns="0" tIns="0" rIns="0" bIns="0" anchor="t" anchorCtr="0">
              <a:spAutoFit/>
            </a:bodyPr>
            <a:lstStyle/>
            <a:p>
              <a:pPr algn="l"/>
              <a:r>
                <a:rPr lang="zh-CN" sz="1050" dirty="0">
                  <a:solidFill>
                    <a:schemeClr val="dk2"/>
                  </a:solidFill>
                  <a:latin typeface="+mn-lt"/>
                  <a:ea typeface="+mn-ea"/>
                  <a:cs typeface="+mn-cs"/>
                </a:rPr>
                <a:t>北京 · 三里屯</a:t>
              </a:r>
            </a:p>
          </p:txBody>
        </p:sp>
        <p:sp>
          <p:nvSpPr>
            <p:cNvPr id="53" name="TextBox 53"/>
            <p:cNvSpPr txBox="1"/>
            <p:nvPr/>
          </p:nvSpPr>
          <p:spPr>
            <a:xfrm>
              <a:off x="5329047" y="3590449"/>
              <a:ext cx="2688036" cy="190690"/>
            </a:xfrm>
            <a:prstGeom prst="rect">
              <a:avLst/>
            </a:prstGeom>
            <a:noFill/>
            <a:ln>
              <a:noFill/>
            </a:ln>
          </p:spPr>
          <p:txBody>
            <a:bodyPr wrap="none" lIns="0" tIns="0" rIns="0" bIns="0" anchor="t" anchorCtr="0">
              <a:spAutoFit/>
            </a:bodyPr>
            <a:lstStyle/>
            <a:p>
              <a:pPr algn="l"/>
              <a:r>
                <a:rPr lang="zh-CN" sz="980" dirty="0">
                  <a:solidFill>
                    <a:schemeClr val="dk1"/>
                  </a:solidFill>
                  <a:latin typeface="+mn-lt"/>
                  <a:ea typeface="+mn-ea"/>
                  <a:cs typeface="+mn-cs"/>
                </a:rPr>
                <a:t>国际期刊 + 创意品牌时尚原文书 · 红点品牌奖</a:t>
              </a:r>
            </a:p>
          </p:txBody>
        </p:sp>
        <p:sp>
          <p:nvSpPr>
            <p:cNvPr id="54" name="TextBox 54"/>
            <p:cNvSpPr txBox="1"/>
            <p:nvPr/>
          </p:nvSpPr>
          <p:spPr>
            <a:xfrm>
              <a:off x="10390632" y="3566160"/>
              <a:ext cx="173736" cy="234696"/>
            </a:xfrm>
            <a:prstGeom prst="rect">
              <a:avLst/>
            </a:prstGeom>
            <a:noFill/>
            <a:ln>
              <a:noFill/>
            </a:ln>
          </p:spPr>
          <p:txBody>
            <a:bodyPr wrap="none" lIns="0" tIns="0" rIns="0" bIns="0" anchor="t" anchorCtr="0">
              <a:spAutoFit/>
            </a:bodyPr>
            <a:lstStyle/>
            <a:p>
              <a:pPr algn="ctr"/>
              <a:r>
                <a:rPr lang="zh-CN" sz="1200" dirty="0">
                  <a:solidFill>
                    <a:schemeClr val="accent1"/>
                  </a:solidFill>
                  <a:latin typeface="+mj-lt"/>
                  <a:ea typeface="+mj-ea"/>
                  <a:cs typeface="+mj-cs"/>
                </a:rPr>
                <a:t>★</a:t>
              </a:r>
            </a:p>
          </p:txBody>
        </p:sp>
        <p:sp>
          <p:nvSpPr>
            <p:cNvPr id="55" name="Line 55"/>
            <p:cNvSpPr/>
            <p:nvPr/>
          </p:nvSpPr>
          <p:spPr>
            <a:xfrm>
              <a:off x="571500" y="4076700"/>
              <a:ext cx="11049000" cy="9525"/>
            </a:xfrm>
            <a:custGeom>
              <a:avLst/>
              <a:gdLst/>
              <a:ahLst/>
              <a:cxnLst/>
              <a:rect l="l" t="t" r="r" b="b"/>
              <a:pathLst>
                <a:path w="11049000" h="9525">
                  <a:moveTo>
                    <a:pt x="0" y="0"/>
                  </a:moveTo>
                  <a:lnTo>
                    <a:pt x="11049000" y="0"/>
                  </a:lnTo>
                </a:path>
              </a:pathLst>
            </a:custGeom>
            <a:noFill/>
            <a:ln w="9525">
              <a:solidFill>
                <a:schemeClr val="accent4">
                  <a:alpha val="30000"/>
                </a:schemeClr>
              </a:solidFill>
            </a:ln>
          </p:spPr>
        </p:sp>
        <p:sp>
          <p:nvSpPr>
            <p:cNvPr id="56" name="TextBox 56"/>
            <p:cNvSpPr txBox="1"/>
            <p:nvPr/>
          </p:nvSpPr>
          <p:spPr>
            <a:xfrm>
              <a:off x="756666" y="3868102"/>
              <a:ext cx="1046051" cy="205359"/>
            </a:xfrm>
            <a:prstGeom prst="rect">
              <a:avLst/>
            </a:prstGeom>
            <a:noFill/>
            <a:ln>
              <a:noFill/>
            </a:ln>
          </p:spPr>
          <p:txBody>
            <a:bodyPr wrap="none" lIns="0" tIns="0" rIns="0" bIns="0" anchor="t" anchorCtr="0">
              <a:spAutoFit/>
            </a:bodyPr>
            <a:lstStyle/>
            <a:p>
              <a:pPr algn="l"/>
              <a:r>
                <a:rPr lang="zh-CN" sz="1050" b="1" dirty="0">
                  <a:solidFill>
                    <a:schemeClr val="dk1"/>
                  </a:solidFill>
                  <a:latin typeface="+mn-lt"/>
                  <a:ea typeface="+mn-ea"/>
                  <a:cs typeface="+mn-cs"/>
                </a:rPr>
                <a:t>言 YAN-BOOKS</a:t>
              </a:r>
            </a:p>
          </p:txBody>
        </p:sp>
        <p:sp>
          <p:nvSpPr>
            <p:cNvPr id="57" name="TextBox 57"/>
            <p:cNvSpPr txBox="1"/>
            <p:nvPr/>
          </p:nvSpPr>
          <p:spPr>
            <a:xfrm>
              <a:off x="3614166" y="3868102"/>
              <a:ext cx="293370" cy="205359"/>
            </a:xfrm>
            <a:prstGeom prst="rect">
              <a:avLst/>
            </a:prstGeom>
            <a:noFill/>
            <a:ln>
              <a:noFill/>
            </a:ln>
          </p:spPr>
          <p:txBody>
            <a:bodyPr wrap="none" lIns="0" tIns="0" rIns="0" bIns="0" anchor="t" anchorCtr="0">
              <a:spAutoFit/>
            </a:bodyPr>
            <a:lstStyle/>
            <a:p>
              <a:pPr algn="l"/>
              <a:r>
                <a:rPr lang="zh-CN" sz="1050" dirty="0">
                  <a:solidFill>
                    <a:schemeClr val="dk2"/>
                  </a:solidFill>
                  <a:latin typeface="+mn-lt"/>
                  <a:ea typeface="+mn-ea"/>
                  <a:cs typeface="+mn-cs"/>
                </a:rPr>
                <a:t>北京</a:t>
              </a:r>
            </a:p>
          </p:txBody>
        </p:sp>
        <p:sp>
          <p:nvSpPr>
            <p:cNvPr id="58" name="TextBox 58"/>
            <p:cNvSpPr txBox="1"/>
            <p:nvPr/>
          </p:nvSpPr>
          <p:spPr>
            <a:xfrm>
              <a:off x="5329047" y="3876199"/>
              <a:ext cx="1632615" cy="190690"/>
            </a:xfrm>
            <a:prstGeom prst="rect">
              <a:avLst/>
            </a:prstGeom>
            <a:noFill/>
            <a:ln>
              <a:noFill/>
            </a:ln>
          </p:spPr>
          <p:txBody>
            <a:bodyPr wrap="none" lIns="0" tIns="0" rIns="0" bIns="0" anchor="t" anchorCtr="0">
              <a:spAutoFit/>
            </a:bodyPr>
            <a:lstStyle/>
            <a:p>
              <a:pPr algn="l"/>
              <a:r>
                <a:rPr lang="zh-CN" sz="980" dirty="0">
                  <a:solidFill>
                    <a:schemeClr val="dk1"/>
                  </a:solidFill>
                  <a:latin typeface="+mn-lt"/>
                  <a:ea typeface="+mn-ea"/>
                  <a:cs typeface="+mn-cs"/>
                </a:rPr>
                <a:t>设计 / 生活方式 / 国际杂志</a:t>
              </a:r>
            </a:p>
          </p:txBody>
        </p:sp>
        <p:sp>
          <p:nvSpPr>
            <p:cNvPr id="59" name="TextBox 59"/>
            <p:cNvSpPr txBox="1"/>
            <p:nvPr/>
          </p:nvSpPr>
          <p:spPr>
            <a:xfrm>
              <a:off x="10390632" y="3851910"/>
              <a:ext cx="173736" cy="234696"/>
            </a:xfrm>
            <a:prstGeom prst="rect">
              <a:avLst/>
            </a:prstGeom>
            <a:noFill/>
            <a:ln>
              <a:noFill/>
            </a:ln>
          </p:spPr>
          <p:txBody>
            <a:bodyPr wrap="none" lIns="0" tIns="0" rIns="0" bIns="0" anchor="t" anchorCtr="0">
              <a:spAutoFit/>
            </a:bodyPr>
            <a:lstStyle/>
            <a:p>
              <a:pPr algn="ctr"/>
              <a:r>
                <a:rPr lang="zh-CN" sz="1200" dirty="0">
                  <a:solidFill>
                    <a:schemeClr val="accent1"/>
                  </a:solidFill>
                  <a:latin typeface="+mj-lt"/>
                  <a:ea typeface="+mj-ea"/>
                  <a:cs typeface="+mj-cs"/>
                </a:rPr>
                <a:t>★</a:t>
              </a:r>
            </a:p>
          </p:txBody>
        </p:sp>
        <p:sp>
          <p:nvSpPr>
            <p:cNvPr id="60" name="Line 60"/>
            <p:cNvSpPr/>
            <p:nvPr/>
          </p:nvSpPr>
          <p:spPr>
            <a:xfrm>
              <a:off x="571500" y="4362450"/>
              <a:ext cx="11049000" cy="9525"/>
            </a:xfrm>
            <a:custGeom>
              <a:avLst/>
              <a:gdLst/>
              <a:ahLst/>
              <a:cxnLst/>
              <a:rect l="l" t="t" r="r" b="b"/>
              <a:pathLst>
                <a:path w="11049000" h="9525">
                  <a:moveTo>
                    <a:pt x="0" y="0"/>
                  </a:moveTo>
                  <a:lnTo>
                    <a:pt x="11049000" y="0"/>
                  </a:lnTo>
                </a:path>
              </a:pathLst>
            </a:custGeom>
            <a:noFill/>
            <a:ln w="9525">
              <a:solidFill>
                <a:schemeClr val="accent4">
                  <a:alpha val="30000"/>
                </a:schemeClr>
              </a:solidFill>
            </a:ln>
          </p:spPr>
        </p:sp>
        <p:sp>
          <p:nvSpPr>
            <p:cNvPr id="61" name="TextBox 61"/>
            <p:cNvSpPr txBox="1"/>
            <p:nvPr/>
          </p:nvSpPr>
          <p:spPr>
            <a:xfrm>
              <a:off x="756666" y="4153852"/>
              <a:ext cx="850400" cy="205359"/>
            </a:xfrm>
            <a:prstGeom prst="rect">
              <a:avLst/>
            </a:prstGeom>
            <a:noFill/>
            <a:ln>
              <a:noFill/>
            </a:ln>
          </p:spPr>
          <p:txBody>
            <a:bodyPr wrap="none" lIns="0" tIns="0" rIns="0" bIns="0" anchor="t" anchorCtr="0">
              <a:spAutoFit/>
            </a:bodyPr>
            <a:lstStyle/>
            <a:p>
              <a:pPr algn="l"/>
              <a:r>
                <a:rPr lang="zh-CN" sz="1050" b="1" dirty="0">
                  <a:solidFill>
                    <a:schemeClr val="dk1"/>
                  </a:solidFill>
                  <a:latin typeface="+mn-lt"/>
                  <a:ea typeface="+mn-ea"/>
                  <a:cs typeface="+mn-cs"/>
                </a:rPr>
                <a:t>群岛 BOOKS</a:t>
              </a:r>
            </a:p>
          </p:txBody>
        </p:sp>
        <p:sp>
          <p:nvSpPr>
            <p:cNvPr id="62" name="TextBox 62"/>
            <p:cNvSpPr txBox="1"/>
            <p:nvPr/>
          </p:nvSpPr>
          <p:spPr>
            <a:xfrm>
              <a:off x="3614166" y="4153852"/>
              <a:ext cx="293370" cy="205359"/>
            </a:xfrm>
            <a:prstGeom prst="rect">
              <a:avLst/>
            </a:prstGeom>
            <a:noFill/>
            <a:ln>
              <a:noFill/>
            </a:ln>
          </p:spPr>
          <p:txBody>
            <a:bodyPr wrap="none" lIns="0" tIns="0" rIns="0" bIns="0" anchor="t" anchorCtr="0">
              <a:spAutoFit/>
            </a:bodyPr>
            <a:lstStyle/>
            <a:p>
              <a:pPr algn="l"/>
              <a:r>
                <a:rPr lang="zh-CN" sz="1050" dirty="0">
                  <a:solidFill>
                    <a:schemeClr val="dk2"/>
                  </a:solidFill>
                  <a:latin typeface="+mn-lt"/>
                  <a:ea typeface="+mn-ea"/>
                  <a:cs typeface="+mn-cs"/>
                </a:rPr>
                <a:t>上海</a:t>
              </a:r>
            </a:p>
          </p:txBody>
        </p:sp>
        <p:sp>
          <p:nvSpPr>
            <p:cNvPr id="63" name="TextBox 63"/>
            <p:cNvSpPr txBox="1"/>
            <p:nvPr/>
          </p:nvSpPr>
          <p:spPr>
            <a:xfrm>
              <a:off x="5329047" y="4161949"/>
              <a:ext cx="2312043" cy="190690"/>
            </a:xfrm>
            <a:prstGeom prst="rect">
              <a:avLst/>
            </a:prstGeom>
            <a:noFill/>
            <a:ln>
              <a:noFill/>
            </a:ln>
          </p:spPr>
          <p:txBody>
            <a:bodyPr wrap="none" lIns="0" tIns="0" rIns="0" bIns="0" anchor="t" anchorCtr="0">
              <a:spAutoFit/>
            </a:bodyPr>
            <a:lstStyle/>
            <a:p>
              <a:pPr algn="l"/>
              <a:r>
                <a:rPr lang="zh-CN" sz="980" dirty="0">
                  <a:solidFill>
                    <a:schemeClr val="dk1"/>
                  </a:solidFill>
                  <a:latin typeface="+mn-lt"/>
                  <a:ea typeface="+mn-ea"/>
                  <a:cs typeface="+mn-cs"/>
                </a:rPr>
                <a:t>建筑 / 城市 / 泛设计为主 · 书桌式陈列</a:t>
              </a:r>
            </a:p>
          </p:txBody>
        </p:sp>
        <p:sp>
          <p:nvSpPr>
            <p:cNvPr id="64" name="TextBox 64"/>
            <p:cNvSpPr txBox="1"/>
            <p:nvPr/>
          </p:nvSpPr>
          <p:spPr>
            <a:xfrm>
              <a:off x="10390632" y="4137660"/>
              <a:ext cx="173736" cy="234696"/>
            </a:xfrm>
            <a:prstGeom prst="rect">
              <a:avLst/>
            </a:prstGeom>
            <a:noFill/>
            <a:ln>
              <a:noFill/>
            </a:ln>
          </p:spPr>
          <p:txBody>
            <a:bodyPr wrap="none" lIns="0" tIns="0" rIns="0" bIns="0" anchor="t" anchorCtr="0">
              <a:spAutoFit/>
            </a:bodyPr>
            <a:lstStyle/>
            <a:p>
              <a:pPr algn="ctr"/>
              <a:r>
                <a:rPr lang="zh-CN" sz="1200" dirty="0">
                  <a:solidFill>
                    <a:schemeClr val="accent1"/>
                  </a:solidFill>
                  <a:latin typeface="+mj-lt"/>
                  <a:ea typeface="+mj-ea"/>
                  <a:cs typeface="+mj-cs"/>
                </a:rPr>
                <a:t>★</a:t>
              </a:r>
            </a:p>
          </p:txBody>
        </p:sp>
        <p:sp>
          <p:nvSpPr>
            <p:cNvPr id="65" name="Line 65"/>
            <p:cNvSpPr/>
            <p:nvPr/>
          </p:nvSpPr>
          <p:spPr>
            <a:xfrm>
              <a:off x="571500" y="4648200"/>
              <a:ext cx="11049000" cy="9525"/>
            </a:xfrm>
            <a:custGeom>
              <a:avLst/>
              <a:gdLst/>
              <a:ahLst/>
              <a:cxnLst/>
              <a:rect l="l" t="t" r="r" b="b"/>
              <a:pathLst>
                <a:path w="11049000" h="9525">
                  <a:moveTo>
                    <a:pt x="0" y="0"/>
                  </a:moveTo>
                  <a:lnTo>
                    <a:pt x="11049000" y="0"/>
                  </a:lnTo>
                </a:path>
              </a:pathLst>
            </a:custGeom>
            <a:noFill/>
            <a:ln w="9525">
              <a:solidFill>
                <a:schemeClr val="accent4">
                  <a:alpha val="30000"/>
                </a:schemeClr>
              </a:solidFill>
            </a:ln>
          </p:spPr>
        </p:sp>
        <p:sp>
          <p:nvSpPr>
            <p:cNvPr id="66" name="TextBox 66"/>
            <p:cNvSpPr txBox="1"/>
            <p:nvPr/>
          </p:nvSpPr>
          <p:spPr>
            <a:xfrm>
              <a:off x="756666" y="4439602"/>
              <a:ext cx="576072" cy="205359"/>
            </a:xfrm>
            <a:prstGeom prst="rect">
              <a:avLst/>
            </a:prstGeom>
            <a:noFill/>
            <a:ln>
              <a:noFill/>
            </a:ln>
          </p:spPr>
          <p:txBody>
            <a:bodyPr wrap="none" lIns="0" tIns="0" rIns="0" bIns="0" anchor="t" anchorCtr="0">
              <a:spAutoFit/>
            </a:bodyPr>
            <a:lstStyle/>
            <a:p>
              <a:pPr algn="l"/>
              <a:r>
                <a:rPr lang="zh-CN" sz="1050" b="1" dirty="0">
                  <a:solidFill>
                    <a:schemeClr val="dk1"/>
                  </a:solidFill>
                  <a:latin typeface="+mn-lt"/>
                  <a:ea typeface="+mn-ea"/>
                  <a:cs typeface="+mn-cs"/>
                </a:rPr>
                <a:t>单向空间</a:t>
              </a:r>
            </a:p>
          </p:txBody>
        </p:sp>
        <p:sp>
          <p:nvSpPr>
            <p:cNvPr id="67" name="TextBox 67"/>
            <p:cNvSpPr txBox="1"/>
            <p:nvPr/>
          </p:nvSpPr>
          <p:spPr>
            <a:xfrm>
              <a:off x="3614166" y="4439602"/>
              <a:ext cx="293370" cy="205359"/>
            </a:xfrm>
            <a:prstGeom prst="rect">
              <a:avLst/>
            </a:prstGeom>
            <a:noFill/>
            <a:ln>
              <a:noFill/>
            </a:ln>
          </p:spPr>
          <p:txBody>
            <a:bodyPr wrap="none" lIns="0" tIns="0" rIns="0" bIns="0" anchor="t" anchorCtr="0">
              <a:spAutoFit/>
            </a:bodyPr>
            <a:lstStyle/>
            <a:p>
              <a:pPr algn="l"/>
              <a:r>
                <a:rPr lang="zh-CN" sz="1050" dirty="0">
                  <a:solidFill>
                    <a:schemeClr val="dk2"/>
                  </a:solidFill>
                  <a:latin typeface="+mn-lt"/>
                  <a:ea typeface="+mn-ea"/>
                  <a:cs typeface="+mn-cs"/>
                </a:rPr>
                <a:t>北京</a:t>
              </a:r>
            </a:p>
          </p:txBody>
        </p:sp>
        <p:sp>
          <p:nvSpPr>
            <p:cNvPr id="68" name="TextBox 68"/>
            <p:cNvSpPr txBox="1"/>
            <p:nvPr/>
          </p:nvSpPr>
          <p:spPr>
            <a:xfrm>
              <a:off x="5329047" y="4447699"/>
              <a:ext cx="2206501" cy="190690"/>
            </a:xfrm>
            <a:prstGeom prst="rect">
              <a:avLst/>
            </a:prstGeom>
            <a:noFill/>
            <a:ln>
              <a:noFill/>
            </a:ln>
          </p:spPr>
          <p:txBody>
            <a:bodyPr wrap="none" lIns="0" tIns="0" rIns="0" bIns="0" anchor="t" anchorCtr="0">
              <a:spAutoFit/>
            </a:bodyPr>
            <a:lstStyle/>
            <a:p>
              <a:pPr algn="l"/>
              <a:r>
                <a:rPr lang="zh-CN" sz="980" dirty="0">
                  <a:solidFill>
                    <a:schemeClr val="dk1"/>
                  </a:solidFill>
                  <a:latin typeface="+mn-lt"/>
                  <a:ea typeface="+mn-ea"/>
                  <a:cs typeface="+mn-cs"/>
                </a:rPr>
                <a:t>2006 创办 · 名取自本雅明《单向街》</a:t>
              </a:r>
            </a:p>
          </p:txBody>
        </p:sp>
        <p:sp>
          <p:nvSpPr>
            <p:cNvPr id="69" name="TextBox 69"/>
            <p:cNvSpPr txBox="1"/>
            <p:nvPr/>
          </p:nvSpPr>
          <p:spPr>
            <a:xfrm>
              <a:off x="10426979" y="4423410"/>
              <a:ext cx="101041" cy="234696"/>
            </a:xfrm>
            <a:prstGeom prst="rect">
              <a:avLst/>
            </a:prstGeom>
            <a:noFill/>
            <a:ln>
              <a:noFill/>
            </a:ln>
          </p:spPr>
          <p:txBody>
            <a:bodyPr wrap="none" lIns="0" tIns="0" rIns="0" bIns="0" anchor="t" anchorCtr="0">
              <a:spAutoFit/>
            </a:bodyPr>
            <a:lstStyle/>
            <a:p>
              <a:pPr algn="ctr"/>
              <a:r>
                <a:rPr lang="zh-CN" sz="1200" dirty="0">
                  <a:solidFill>
                    <a:schemeClr val="dk2"/>
                  </a:solidFill>
                  <a:latin typeface="+mj-lt"/>
                  <a:ea typeface="+mj-ea"/>
                  <a:cs typeface="+mj-cs"/>
                </a:rPr>
                <a:t>—</a:t>
              </a:r>
            </a:p>
          </p:txBody>
        </p:sp>
        <p:sp>
          <p:nvSpPr>
            <p:cNvPr id="70" name="Line 70"/>
            <p:cNvSpPr/>
            <p:nvPr/>
          </p:nvSpPr>
          <p:spPr>
            <a:xfrm>
              <a:off x="571500" y="4933950"/>
              <a:ext cx="11049000" cy="9525"/>
            </a:xfrm>
            <a:custGeom>
              <a:avLst/>
              <a:gdLst/>
              <a:ahLst/>
              <a:cxnLst/>
              <a:rect l="l" t="t" r="r" b="b"/>
              <a:pathLst>
                <a:path w="11049000" h="9525">
                  <a:moveTo>
                    <a:pt x="0" y="0"/>
                  </a:moveTo>
                  <a:lnTo>
                    <a:pt x="11049000" y="0"/>
                  </a:lnTo>
                </a:path>
              </a:pathLst>
            </a:custGeom>
            <a:noFill/>
            <a:ln w="9525">
              <a:solidFill>
                <a:schemeClr val="accent4">
                  <a:alpha val="30000"/>
                </a:schemeClr>
              </a:solidFill>
            </a:ln>
          </p:spPr>
        </p:sp>
        <p:sp>
          <p:nvSpPr>
            <p:cNvPr id="71" name="TextBox 71"/>
            <p:cNvSpPr txBox="1"/>
            <p:nvPr/>
          </p:nvSpPr>
          <p:spPr>
            <a:xfrm>
              <a:off x="756666" y="4725352"/>
              <a:ext cx="576072" cy="205359"/>
            </a:xfrm>
            <a:prstGeom prst="rect">
              <a:avLst/>
            </a:prstGeom>
            <a:noFill/>
            <a:ln>
              <a:noFill/>
            </a:ln>
          </p:spPr>
          <p:txBody>
            <a:bodyPr wrap="none" lIns="0" tIns="0" rIns="0" bIns="0" anchor="t" anchorCtr="0">
              <a:spAutoFit/>
            </a:bodyPr>
            <a:lstStyle/>
            <a:p>
              <a:pPr algn="l"/>
              <a:r>
                <a:rPr lang="zh-CN" sz="1050" b="1" dirty="0">
                  <a:solidFill>
                    <a:schemeClr val="dk1"/>
                  </a:solidFill>
                  <a:latin typeface="+mn-lt"/>
                  <a:ea typeface="+mn-ea"/>
                  <a:cs typeface="+mn-cs"/>
                </a:rPr>
                <a:t>三味书屋</a:t>
              </a:r>
            </a:p>
          </p:txBody>
        </p:sp>
        <p:sp>
          <p:nvSpPr>
            <p:cNvPr id="72" name="TextBox 72"/>
            <p:cNvSpPr txBox="1"/>
            <p:nvPr/>
          </p:nvSpPr>
          <p:spPr>
            <a:xfrm>
              <a:off x="3614166" y="4725352"/>
              <a:ext cx="879977" cy="205359"/>
            </a:xfrm>
            <a:prstGeom prst="rect">
              <a:avLst/>
            </a:prstGeom>
            <a:noFill/>
            <a:ln>
              <a:noFill/>
            </a:ln>
          </p:spPr>
          <p:txBody>
            <a:bodyPr wrap="none" lIns="0" tIns="0" rIns="0" bIns="0" anchor="t" anchorCtr="0">
              <a:spAutoFit/>
            </a:bodyPr>
            <a:lstStyle/>
            <a:p>
              <a:pPr algn="l"/>
              <a:r>
                <a:rPr lang="zh-CN" sz="1050" dirty="0">
                  <a:solidFill>
                    <a:schemeClr val="dk2"/>
                  </a:solidFill>
                  <a:latin typeface="+mn-lt"/>
                  <a:ea typeface="+mn-ea"/>
                  <a:cs typeface="+mn-cs"/>
                </a:rPr>
                <a:t>北京 · 长安街</a:t>
              </a:r>
            </a:p>
          </p:txBody>
        </p:sp>
        <p:sp>
          <p:nvSpPr>
            <p:cNvPr id="73" name="TextBox 73"/>
            <p:cNvSpPr txBox="1"/>
            <p:nvPr/>
          </p:nvSpPr>
          <p:spPr>
            <a:xfrm>
              <a:off x="5329047" y="4733449"/>
              <a:ext cx="2536320" cy="190690"/>
            </a:xfrm>
            <a:prstGeom prst="rect">
              <a:avLst/>
            </a:prstGeom>
            <a:noFill/>
            <a:ln>
              <a:noFill/>
            </a:ln>
          </p:spPr>
          <p:txBody>
            <a:bodyPr wrap="none" lIns="0" tIns="0" rIns="0" bIns="0" anchor="t" anchorCtr="0">
              <a:spAutoFit/>
            </a:bodyPr>
            <a:lstStyle/>
            <a:p>
              <a:pPr algn="l"/>
              <a:r>
                <a:rPr lang="zh-CN" sz="980" dirty="0">
                  <a:solidFill>
                    <a:schemeClr val="dk1"/>
                  </a:solidFill>
                  <a:latin typeface="+mn-lt"/>
                  <a:ea typeface="+mn-ea"/>
                  <a:cs typeface="+mn-cs"/>
                </a:rPr>
                <a:t>北京第一家民营书店 · 每一本书都是挑过的</a:t>
              </a:r>
            </a:p>
          </p:txBody>
        </p:sp>
        <p:sp>
          <p:nvSpPr>
            <p:cNvPr id="74" name="TextBox 74"/>
            <p:cNvSpPr txBox="1"/>
            <p:nvPr/>
          </p:nvSpPr>
          <p:spPr>
            <a:xfrm>
              <a:off x="10426979" y="4709160"/>
              <a:ext cx="101041" cy="234696"/>
            </a:xfrm>
            <a:prstGeom prst="rect">
              <a:avLst/>
            </a:prstGeom>
            <a:noFill/>
            <a:ln>
              <a:noFill/>
            </a:ln>
          </p:spPr>
          <p:txBody>
            <a:bodyPr wrap="none" lIns="0" tIns="0" rIns="0" bIns="0" anchor="t" anchorCtr="0">
              <a:spAutoFit/>
            </a:bodyPr>
            <a:lstStyle/>
            <a:p>
              <a:pPr algn="ctr"/>
              <a:r>
                <a:rPr lang="zh-CN" sz="1200" dirty="0">
                  <a:solidFill>
                    <a:schemeClr val="dk2"/>
                  </a:solidFill>
                  <a:latin typeface="+mj-lt"/>
                  <a:ea typeface="+mj-ea"/>
                  <a:cs typeface="+mj-cs"/>
                </a:rPr>
                <a:t>—</a:t>
              </a:r>
            </a:p>
          </p:txBody>
        </p:sp>
        <p:sp>
          <p:nvSpPr>
            <p:cNvPr id="75" name="Line 75"/>
            <p:cNvSpPr/>
            <p:nvPr/>
          </p:nvSpPr>
          <p:spPr>
            <a:xfrm>
              <a:off x="571500" y="5219700"/>
              <a:ext cx="11049000" cy="9525"/>
            </a:xfrm>
            <a:custGeom>
              <a:avLst/>
              <a:gdLst/>
              <a:ahLst/>
              <a:cxnLst/>
              <a:rect l="l" t="t" r="r" b="b"/>
              <a:pathLst>
                <a:path w="11049000" h="9525">
                  <a:moveTo>
                    <a:pt x="0" y="0"/>
                  </a:moveTo>
                  <a:lnTo>
                    <a:pt x="11049000" y="0"/>
                  </a:lnTo>
                </a:path>
              </a:pathLst>
            </a:custGeom>
            <a:noFill/>
            <a:ln w="9525">
              <a:solidFill>
                <a:schemeClr val="accent4">
                  <a:alpha val="30000"/>
                </a:schemeClr>
              </a:solidFill>
            </a:ln>
          </p:spPr>
        </p:sp>
        <p:sp>
          <p:nvSpPr>
            <p:cNvPr id="76" name="TextBox 76"/>
            <p:cNvSpPr txBox="1"/>
            <p:nvPr/>
          </p:nvSpPr>
          <p:spPr>
            <a:xfrm>
              <a:off x="756666" y="5011102"/>
              <a:ext cx="576072" cy="205359"/>
            </a:xfrm>
            <a:prstGeom prst="rect">
              <a:avLst/>
            </a:prstGeom>
            <a:noFill/>
            <a:ln>
              <a:noFill/>
            </a:ln>
          </p:spPr>
          <p:txBody>
            <a:bodyPr wrap="none" lIns="0" tIns="0" rIns="0" bIns="0" anchor="t" anchorCtr="0">
              <a:spAutoFit/>
            </a:bodyPr>
            <a:lstStyle/>
            <a:p>
              <a:pPr algn="l"/>
              <a:r>
                <a:rPr lang="zh-CN" sz="1050" b="1" dirty="0">
                  <a:solidFill>
                    <a:schemeClr val="dk1"/>
                  </a:solidFill>
                  <a:latin typeface="+mn-lt"/>
                  <a:ea typeface="+mn-ea"/>
                  <a:cs typeface="+mn-cs"/>
                </a:rPr>
                <a:t>博尔赫斯</a:t>
              </a:r>
            </a:p>
          </p:txBody>
        </p:sp>
        <p:sp>
          <p:nvSpPr>
            <p:cNvPr id="77" name="TextBox 77"/>
            <p:cNvSpPr txBox="1"/>
            <p:nvPr/>
          </p:nvSpPr>
          <p:spPr>
            <a:xfrm>
              <a:off x="3614166" y="5011102"/>
              <a:ext cx="293370" cy="205359"/>
            </a:xfrm>
            <a:prstGeom prst="rect">
              <a:avLst/>
            </a:prstGeom>
            <a:noFill/>
            <a:ln>
              <a:noFill/>
            </a:ln>
          </p:spPr>
          <p:txBody>
            <a:bodyPr wrap="none" lIns="0" tIns="0" rIns="0" bIns="0" anchor="t" anchorCtr="0">
              <a:spAutoFit/>
            </a:bodyPr>
            <a:lstStyle/>
            <a:p>
              <a:pPr algn="l"/>
              <a:r>
                <a:rPr lang="zh-CN" sz="1050" dirty="0">
                  <a:solidFill>
                    <a:schemeClr val="dk2"/>
                  </a:solidFill>
                  <a:latin typeface="+mn-lt"/>
                  <a:ea typeface="+mn-ea"/>
                  <a:cs typeface="+mn-cs"/>
                </a:rPr>
                <a:t>广州</a:t>
              </a:r>
            </a:p>
          </p:txBody>
        </p:sp>
        <p:sp>
          <p:nvSpPr>
            <p:cNvPr id="78" name="TextBox 78"/>
            <p:cNvSpPr txBox="1"/>
            <p:nvPr/>
          </p:nvSpPr>
          <p:spPr>
            <a:xfrm>
              <a:off x="5329047" y="5019199"/>
              <a:ext cx="2048187" cy="190690"/>
            </a:xfrm>
            <a:prstGeom prst="rect">
              <a:avLst/>
            </a:prstGeom>
            <a:noFill/>
            <a:ln>
              <a:noFill/>
            </a:ln>
          </p:spPr>
          <p:txBody>
            <a:bodyPr wrap="none" lIns="0" tIns="0" rIns="0" bIns="0" anchor="t" anchorCtr="0">
              <a:spAutoFit/>
            </a:bodyPr>
            <a:lstStyle/>
            <a:p>
              <a:pPr algn="l"/>
              <a:r>
                <a:rPr lang="zh-CN" sz="980" dirty="0">
                  <a:solidFill>
                    <a:schemeClr val="dk1"/>
                  </a:solidFill>
                  <a:latin typeface="+mn-lt"/>
                  <a:ea typeface="+mn-ea"/>
                  <a:cs typeface="+mn-cs"/>
                </a:rPr>
                <a:t>文学为主 · 兼及历史 / 哲学 / 艺术</a:t>
              </a:r>
            </a:p>
          </p:txBody>
        </p:sp>
        <p:sp>
          <p:nvSpPr>
            <p:cNvPr id="79" name="TextBox 79"/>
            <p:cNvSpPr txBox="1"/>
            <p:nvPr/>
          </p:nvSpPr>
          <p:spPr>
            <a:xfrm>
              <a:off x="10426979" y="4994910"/>
              <a:ext cx="101041" cy="234696"/>
            </a:xfrm>
            <a:prstGeom prst="rect">
              <a:avLst/>
            </a:prstGeom>
            <a:noFill/>
            <a:ln>
              <a:noFill/>
            </a:ln>
          </p:spPr>
          <p:txBody>
            <a:bodyPr wrap="none" lIns="0" tIns="0" rIns="0" bIns="0" anchor="t" anchorCtr="0">
              <a:spAutoFit/>
            </a:bodyPr>
            <a:lstStyle/>
            <a:p>
              <a:pPr algn="ctr"/>
              <a:r>
                <a:rPr lang="zh-CN" sz="1200" dirty="0">
                  <a:solidFill>
                    <a:schemeClr val="dk2"/>
                  </a:solidFill>
                  <a:latin typeface="+mj-lt"/>
                  <a:ea typeface="+mj-ea"/>
                  <a:cs typeface="+mj-cs"/>
                </a:rPr>
                <a:t>—</a:t>
              </a:r>
            </a:p>
          </p:txBody>
        </p:sp>
        <p:sp>
          <p:nvSpPr>
            <p:cNvPr id="80" name="Line 80"/>
            <p:cNvSpPr/>
            <p:nvPr/>
          </p:nvSpPr>
          <p:spPr>
            <a:xfrm>
              <a:off x="571500" y="5505450"/>
              <a:ext cx="11049000" cy="9525"/>
            </a:xfrm>
            <a:custGeom>
              <a:avLst/>
              <a:gdLst/>
              <a:ahLst/>
              <a:cxnLst/>
              <a:rect l="l" t="t" r="r" b="b"/>
              <a:pathLst>
                <a:path w="11049000" h="9525">
                  <a:moveTo>
                    <a:pt x="0" y="0"/>
                  </a:moveTo>
                  <a:lnTo>
                    <a:pt x="11049000" y="0"/>
                  </a:lnTo>
                </a:path>
              </a:pathLst>
            </a:custGeom>
            <a:noFill/>
            <a:ln w="9525">
              <a:solidFill>
                <a:schemeClr val="accent4">
                  <a:alpha val="30000"/>
                </a:schemeClr>
              </a:solidFill>
            </a:ln>
          </p:spPr>
        </p:sp>
        <p:sp>
          <p:nvSpPr>
            <p:cNvPr id="81" name="TextBox 81"/>
            <p:cNvSpPr txBox="1"/>
            <p:nvPr/>
          </p:nvSpPr>
          <p:spPr>
            <a:xfrm>
              <a:off x="756666" y="5296852"/>
              <a:ext cx="576072" cy="205359"/>
            </a:xfrm>
            <a:prstGeom prst="rect">
              <a:avLst/>
            </a:prstGeom>
            <a:noFill/>
            <a:ln>
              <a:noFill/>
            </a:ln>
          </p:spPr>
          <p:txBody>
            <a:bodyPr wrap="none" lIns="0" tIns="0" rIns="0" bIns="0" anchor="t" anchorCtr="0">
              <a:spAutoFit/>
            </a:bodyPr>
            <a:lstStyle/>
            <a:p>
              <a:pPr algn="l"/>
              <a:r>
                <a:rPr lang="zh-CN" sz="1050" b="1" dirty="0">
                  <a:solidFill>
                    <a:schemeClr val="dk1"/>
                  </a:solidFill>
                  <a:latin typeface="+mn-lt"/>
                  <a:ea typeface="+mn-ea"/>
                  <a:cs typeface="+mn-cs"/>
                </a:rPr>
                <a:t>目田书店</a:t>
              </a:r>
            </a:p>
          </p:txBody>
        </p:sp>
        <p:sp>
          <p:nvSpPr>
            <p:cNvPr id="82" name="TextBox 82"/>
            <p:cNvSpPr txBox="1"/>
            <p:nvPr/>
          </p:nvSpPr>
          <p:spPr>
            <a:xfrm>
              <a:off x="3614166" y="5296852"/>
              <a:ext cx="293370" cy="205359"/>
            </a:xfrm>
            <a:prstGeom prst="rect">
              <a:avLst/>
            </a:prstGeom>
            <a:noFill/>
            <a:ln>
              <a:noFill/>
            </a:ln>
          </p:spPr>
          <p:txBody>
            <a:bodyPr wrap="none" lIns="0" tIns="0" rIns="0" bIns="0" anchor="t" anchorCtr="0">
              <a:spAutoFit/>
            </a:bodyPr>
            <a:lstStyle/>
            <a:p>
              <a:pPr algn="l"/>
              <a:r>
                <a:rPr lang="zh-CN" sz="1050" dirty="0">
                  <a:solidFill>
                    <a:schemeClr val="dk2"/>
                  </a:solidFill>
                  <a:latin typeface="+mn-lt"/>
                  <a:ea typeface="+mn-ea"/>
                  <a:cs typeface="+mn-cs"/>
                </a:rPr>
                <a:t>长沙</a:t>
              </a:r>
            </a:p>
          </p:txBody>
        </p:sp>
        <p:sp>
          <p:nvSpPr>
            <p:cNvPr id="83" name="TextBox 83"/>
            <p:cNvSpPr txBox="1"/>
            <p:nvPr/>
          </p:nvSpPr>
          <p:spPr>
            <a:xfrm>
              <a:off x="5329047" y="5304949"/>
              <a:ext cx="1480899" cy="190690"/>
            </a:xfrm>
            <a:prstGeom prst="rect">
              <a:avLst/>
            </a:prstGeom>
            <a:noFill/>
            <a:ln>
              <a:noFill/>
            </a:ln>
          </p:spPr>
          <p:txBody>
            <a:bodyPr wrap="none" lIns="0" tIns="0" rIns="0" bIns="0" anchor="t" anchorCtr="0">
              <a:spAutoFit/>
            </a:bodyPr>
            <a:lstStyle/>
            <a:p>
              <a:pPr algn="l"/>
              <a:r>
                <a:rPr lang="zh-CN" sz="980" dirty="0">
                  <a:solidFill>
                    <a:schemeClr val="dk1"/>
                  </a:solidFill>
                  <a:latin typeface="+mn-lt"/>
                  <a:ea typeface="+mn-ea"/>
                  <a:cs typeface="+mn-cs"/>
                </a:rPr>
                <a:t>社区文化空间 · 好书精选</a:t>
              </a:r>
            </a:p>
          </p:txBody>
        </p:sp>
        <p:sp>
          <p:nvSpPr>
            <p:cNvPr id="84" name="TextBox 84"/>
            <p:cNvSpPr txBox="1"/>
            <p:nvPr/>
          </p:nvSpPr>
          <p:spPr>
            <a:xfrm>
              <a:off x="10426979" y="5280660"/>
              <a:ext cx="101041" cy="234696"/>
            </a:xfrm>
            <a:prstGeom prst="rect">
              <a:avLst/>
            </a:prstGeom>
            <a:noFill/>
            <a:ln>
              <a:noFill/>
            </a:ln>
          </p:spPr>
          <p:txBody>
            <a:bodyPr wrap="none" lIns="0" tIns="0" rIns="0" bIns="0" anchor="t" anchorCtr="0">
              <a:spAutoFit/>
            </a:bodyPr>
            <a:lstStyle/>
            <a:p>
              <a:pPr algn="ctr"/>
              <a:r>
                <a:rPr lang="zh-CN" sz="1200" dirty="0">
                  <a:solidFill>
                    <a:schemeClr val="dk2"/>
                  </a:solidFill>
                  <a:latin typeface="+mj-lt"/>
                  <a:ea typeface="+mj-ea"/>
                  <a:cs typeface="+mj-cs"/>
                </a:rPr>
                <a:t>—</a:t>
              </a:r>
            </a:p>
          </p:txBody>
        </p:sp>
        <p:sp>
          <p:nvSpPr>
            <p:cNvPr id="85" name="Line 85"/>
            <p:cNvSpPr/>
            <p:nvPr/>
          </p:nvSpPr>
          <p:spPr>
            <a:xfrm>
              <a:off x="571500" y="5791200"/>
              <a:ext cx="11049000" cy="9525"/>
            </a:xfrm>
            <a:custGeom>
              <a:avLst/>
              <a:gdLst/>
              <a:ahLst/>
              <a:cxnLst/>
              <a:rect l="l" t="t" r="r" b="b"/>
              <a:pathLst>
                <a:path w="11049000" h="9525">
                  <a:moveTo>
                    <a:pt x="0" y="0"/>
                  </a:moveTo>
                  <a:lnTo>
                    <a:pt x="11049000" y="0"/>
                  </a:lnTo>
                </a:path>
              </a:pathLst>
            </a:custGeom>
            <a:noFill/>
            <a:ln w="9525">
              <a:solidFill>
                <a:schemeClr val="accent4">
                  <a:alpha val="30000"/>
                </a:schemeClr>
              </a:solidFill>
            </a:ln>
          </p:spPr>
        </p:sp>
        <p:sp>
          <p:nvSpPr>
            <p:cNvPr id="86" name="TextBox 86"/>
            <p:cNvSpPr txBox="1"/>
            <p:nvPr/>
          </p:nvSpPr>
          <p:spPr>
            <a:xfrm>
              <a:off x="756666" y="5582602"/>
              <a:ext cx="293370" cy="205359"/>
            </a:xfrm>
            <a:prstGeom prst="rect">
              <a:avLst/>
            </a:prstGeom>
            <a:noFill/>
            <a:ln>
              <a:noFill/>
            </a:ln>
          </p:spPr>
          <p:txBody>
            <a:bodyPr wrap="none" lIns="0" tIns="0" rIns="0" bIns="0" anchor="t" anchorCtr="0">
              <a:spAutoFit/>
            </a:bodyPr>
            <a:lstStyle/>
            <a:p>
              <a:pPr algn="l"/>
              <a:r>
                <a:rPr lang="zh-CN" sz="1050" b="1" dirty="0">
                  <a:solidFill>
                    <a:schemeClr val="dk1"/>
                  </a:solidFill>
                  <a:latin typeface="+mn-lt"/>
                  <a:ea typeface="+mn-ea"/>
                  <a:cs typeface="+mn-cs"/>
                </a:rPr>
                <a:t>牡蛎</a:t>
              </a:r>
            </a:p>
          </p:txBody>
        </p:sp>
        <p:sp>
          <p:nvSpPr>
            <p:cNvPr id="87" name="TextBox 87"/>
            <p:cNvSpPr txBox="1"/>
            <p:nvPr/>
          </p:nvSpPr>
          <p:spPr>
            <a:xfrm>
              <a:off x="3614166" y="5582602"/>
              <a:ext cx="293370" cy="205359"/>
            </a:xfrm>
            <a:prstGeom prst="rect">
              <a:avLst/>
            </a:prstGeom>
            <a:noFill/>
            <a:ln>
              <a:noFill/>
            </a:ln>
          </p:spPr>
          <p:txBody>
            <a:bodyPr wrap="none" lIns="0" tIns="0" rIns="0" bIns="0" anchor="t" anchorCtr="0">
              <a:spAutoFit/>
            </a:bodyPr>
            <a:lstStyle/>
            <a:p>
              <a:pPr algn="l"/>
              <a:r>
                <a:rPr lang="zh-CN" sz="1050" dirty="0">
                  <a:solidFill>
                    <a:schemeClr val="dk2"/>
                  </a:solidFill>
                  <a:latin typeface="+mn-lt"/>
                  <a:ea typeface="+mn-ea"/>
                  <a:cs typeface="+mn-cs"/>
                </a:rPr>
                <a:t>杭州</a:t>
              </a:r>
            </a:p>
          </p:txBody>
        </p:sp>
        <p:sp>
          <p:nvSpPr>
            <p:cNvPr id="88" name="TextBox 88"/>
            <p:cNvSpPr txBox="1"/>
            <p:nvPr/>
          </p:nvSpPr>
          <p:spPr>
            <a:xfrm>
              <a:off x="5329047" y="5590699"/>
              <a:ext cx="2199904" cy="190690"/>
            </a:xfrm>
            <a:prstGeom prst="rect">
              <a:avLst/>
            </a:prstGeom>
            <a:noFill/>
            <a:ln>
              <a:noFill/>
            </a:ln>
          </p:spPr>
          <p:txBody>
            <a:bodyPr wrap="none" lIns="0" tIns="0" rIns="0" bIns="0" anchor="t" anchorCtr="0">
              <a:spAutoFit/>
            </a:bodyPr>
            <a:lstStyle/>
            <a:p>
              <a:pPr algn="l"/>
              <a:r>
                <a:rPr lang="zh-CN" sz="980" dirty="0">
                  <a:solidFill>
                    <a:schemeClr val="dk1"/>
                  </a:solidFill>
                  <a:latin typeface="+mn-lt"/>
                  <a:ea typeface="+mn-ea"/>
                  <a:cs typeface="+mn-cs"/>
                </a:rPr>
                <a:t>社区书店 · 文学 / 哲学 / 诗 · 兼二手</a:t>
              </a:r>
            </a:p>
          </p:txBody>
        </p:sp>
        <p:sp>
          <p:nvSpPr>
            <p:cNvPr id="89" name="TextBox 89"/>
            <p:cNvSpPr txBox="1"/>
            <p:nvPr/>
          </p:nvSpPr>
          <p:spPr>
            <a:xfrm>
              <a:off x="10426979" y="5566410"/>
              <a:ext cx="101041" cy="234696"/>
            </a:xfrm>
            <a:prstGeom prst="rect">
              <a:avLst/>
            </a:prstGeom>
            <a:noFill/>
            <a:ln>
              <a:noFill/>
            </a:ln>
          </p:spPr>
          <p:txBody>
            <a:bodyPr wrap="none" lIns="0" tIns="0" rIns="0" bIns="0" anchor="t" anchorCtr="0">
              <a:spAutoFit/>
            </a:bodyPr>
            <a:lstStyle/>
            <a:p>
              <a:pPr algn="ctr"/>
              <a:r>
                <a:rPr lang="zh-CN" sz="1200" dirty="0">
                  <a:solidFill>
                    <a:schemeClr val="dk2"/>
                  </a:solidFill>
                  <a:latin typeface="+mj-lt"/>
                  <a:ea typeface="+mj-ea"/>
                  <a:cs typeface="+mj-cs"/>
                </a:rPr>
                <a:t>—</a:t>
              </a:r>
            </a:p>
          </p:txBody>
        </p:sp>
        <p:sp>
          <p:nvSpPr>
            <p:cNvPr id="90" name="TextBox 90"/>
            <p:cNvSpPr txBox="1"/>
            <p:nvPr/>
          </p:nvSpPr>
          <p:spPr>
            <a:xfrm>
              <a:off x="756666" y="5868352"/>
              <a:ext cx="576072" cy="205359"/>
            </a:xfrm>
            <a:prstGeom prst="rect">
              <a:avLst/>
            </a:prstGeom>
            <a:noFill/>
            <a:ln>
              <a:noFill/>
            </a:ln>
          </p:spPr>
          <p:txBody>
            <a:bodyPr wrap="none" lIns="0" tIns="0" rIns="0" bIns="0" anchor="t" anchorCtr="0">
              <a:spAutoFit/>
            </a:bodyPr>
            <a:lstStyle/>
            <a:p>
              <a:pPr algn="l"/>
              <a:r>
                <a:rPr lang="zh-CN" sz="1050" b="1" dirty="0">
                  <a:solidFill>
                    <a:schemeClr val="dk1"/>
                  </a:solidFill>
                  <a:latin typeface="+mn-lt"/>
                  <a:ea typeface="+mn-ea"/>
                  <a:cs typeface="+mn-cs"/>
                </a:rPr>
                <a:t>麦田书店</a:t>
              </a:r>
            </a:p>
          </p:txBody>
        </p:sp>
        <p:sp>
          <p:nvSpPr>
            <p:cNvPr id="91" name="TextBox 91"/>
            <p:cNvSpPr txBox="1"/>
            <p:nvPr/>
          </p:nvSpPr>
          <p:spPr>
            <a:xfrm>
              <a:off x="3614166" y="5868352"/>
              <a:ext cx="293370" cy="205359"/>
            </a:xfrm>
            <a:prstGeom prst="rect">
              <a:avLst/>
            </a:prstGeom>
            <a:noFill/>
            <a:ln>
              <a:noFill/>
            </a:ln>
          </p:spPr>
          <p:txBody>
            <a:bodyPr wrap="none" lIns="0" tIns="0" rIns="0" bIns="0" anchor="t" anchorCtr="0">
              <a:spAutoFit/>
            </a:bodyPr>
            <a:lstStyle/>
            <a:p>
              <a:pPr algn="l"/>
              <a:r>
                <a:rPr lang="zh-CN" sz="1050" dirty="0">
                  <a:solidFill>
                    <a:schemeClr val="dk2"/>
                  </a:solidFill>
                  <a:latin typeface="+mn-lt"/>
                  <a:ea typeface="+mn-ea"/>
                  <a:cs typeface="+mn-cs"/>
                </a:rPr>
                <a:t>昆明</a:t>
              </a:r>
            </a:p>
          </p:txBody>
        </p:sp>
        <p:sp>
          <p:nvSpPr>
            <p:cNvPr id="92" name="TextBox 92"/>
            <p:cNvSpPr txBox="1"/>
            <p:nvPr/>
          </p:nvSpPr>
          <p:spPr>
            <a:xfrm>
              <a:off x="5329047" y="5876449"/>
              <a:ext cx="2160326" cy="190690"/>
            </a:xfrm>
            <a:prstGeom prst="rect">
              <a:avLst/>
            </a:prstGeom>
            <a:noFill/>
            <a:ln>
              <a:noFill/>
            </a:ln>
          </p:spPr>
          <p:txBody>
            <a:bodyPr wrap="none" lIns="0" tIns="0" rIns="0" bIns="0" anchor="t" anchorCtr="0">
              <a:spAutoFit/>
            </a:bodyPr>
            <a:lstStyle/>
            <a:p>
              <a:pPr algn="l"/>
              <a:r>
                <a:rPr lang="zh-CN" sz="980" dirty="0">
                  <a:solidFill>
                    <a:schemeClr val="dk1"/>
                  </a:solidFill>
                  <a:latin typeface="+mn-lt"/>
                  <a:ea typeface="+mn-ea"/>
                  <a:cs typeface="+mn-cs"/>
                </a:rPr>
                <a:t>艺术文学 · 云南地方主题 · 黑胶唱片</a:t>
              </a:r>
            </a:p>
          </p:txBody>
        </p:sp>
        <p:sp>
          <p:nvSpPr>
            <p:cNvPr id="93" name="TextBox 93"/>
            <p:cNvSpPr txBox="1"/>
            <p:nvPr/>
          </p:nvSpPr>
          <p:spPr>
            <a:xfrm>
              <a:off x="10426979" y="5852160"/>
              <a:ext cx="101041" cy="234696"/>
            </a:xfrm>
            <a:prstGeom prst="rect">
              <a:avLst/>
            </a:prstGeom>
            <a:noFill/>
            <a:ln>
              <a:noFill/>
            </a:ln>
          </p:spPr>
          <p:txBody>
            <a:bodyPr wrap="none" lIns="0" tIns="0" rIns="0" bIns="0" anchor="t" anchorCtr="0">
              <a:spAutoFit/>
            </a:bodyPr>
            <a:lstStyle/>
            <a:p>
              <a:pPr algn="ctr"/>
              <a:r>
                <a:rPr lang="zh-CN" sz="1200" dirty="0">
                  <a:solidFill>
                    <a:schemeClr val="dk2"/>
                  </a:solidFill>
                  <a:latin typeface="+mj-lt"/>
                  <a:ea typeface="+mj-ea"/>
                  <a:cs typeface="+mj-cs"/>
                </a:rPr>
                <a:t>—</a:t>
              </a:r>
            </a:p>
          </p:txBody>
        </p:sp>
      </p:grpSp>
      <p:grpSp>
        <p:nvGrpSpPr>
          <p:cNvPr id="104" name="Group 104"/>
          <p:cNvGrpSpPr/>
          <p:nvPr/>
        </p:nvGrpSpPr>
        <p:grpSpPr>
          <a:xfrm>
            <a:off x="566738" y="6249352"/>
            <a:ext cx="5981205" cy="205359"/>
            <a:chOff x="566738" y="6249352"/>
            <a:chExt cx="5981205" cy="205359"/>
          </a:xfrm>
        </p:grpSpPr>
        <p:sp>
          <p:nvSpPr>
            <p:cNvPr id="95" name="TextBox 95"/>
            <p:cNvSpPr txBox="1"/>
            <p:nvPr/>
          </p:nvSpPr>
          <p:spPr>
            <a:xfrm>
              <a:off x="566738" y="6265545"/>
              <a:ext cx="630403" cy="176212"/>
            </a:xfrm>
            <a:prstGeom prst="rect">
              <a:avLst/>
            </a:prstGeom>
            <a:noFill/>
            <a:ln>
              <a:noFill/>
            </a:ln>
          </p:spPr>
          <p:txBody>
            <a:bodyPr wrap="none" lIns="0" tIns="0" rIns="0" bIns="0" anchor="t" anchorCtr="0">
              <a:spAutoFit/>
            </a:bodyPr>
            <a:lstStyle/>
            <a:p>
              <a:pPr algn="l"/>
              <a:r>
                <a:rPr lang="zh-CN" sz="900" spc="150" dirty="0">
                  <a:solidFill>
                    <a:schemeClr val="dk2"/>
                  </a:solidFill>
                  <a:latin typeface="Consolas"/>
                  <a:ea typeface="Consolas"/>
                  <a:cs typeface="Consolas"/>
                </a:rPr>
                <a:t>LEGEND:</a:t>
              </a:r>
            </a:p>
          </p:txBody>
        </p:sp>
        <p:sp>
          <p:nvSpPr>
            <p:cNvPr id="96" name="TextBox 96"/>
            <p:cNvSpPr txBox="1"/>
            <p:nvPr/>
          </p:nvSpPr>
          <p:spPr>
            <a:xfrm>
              <a:off x="1328166" y="6249352"/>
              <a:ext cx="434721" cy="205359"/>
            </a:xfrm>
            <a:prstGeom prst="rect">
              <a:avLst/>
            </a:prstGeom>
            <a:noFill/>
            <a:ln>
              <a:noFill/>
            </a:ln>
          </p:spPr>
          <p:txBody>
            <a:bodyPr wrap="none" lIns="0" tIns="0" rIns="0" bIns="0" anchor="t" anchorCtr="0">
              <a:spAutoFit/>
            </a:bodyPr>
            <a:lstStyle/>
            <a:p>
              <a:pPr algn="l"/>
              <a:r>
                <a:rPr lang="zh-CN" sz="1050" dirty="0">
                  <a:solidFill>
                    <a:schemeClr val="accent2"/>
                  </a:solidFill>
                  <a:latin typeface="+mj-lt"/>
                  <a:ea typeface="+mj-ea"/>
                  <a:cs typeface="+mj-cs"/>
                </a:rPr>
                <a:t>★★★</a:t>
              </a:r>
            </a:p>
          </p:txBody>
        </p:sp>
        <p:sp>
          <p:nvSpPr>
            <p:cNvPr id="97" name="TextBox 97"/>
            <p:cNvSpPr txBox="1"/>
            <p:nvPr/>
          </p:nvSpPr>
          <p:spPr>
            <a:xfrm>
              <a:off x="1709738" y="6265545"/>
              <a:ext cx="803110" cy="176212"/>
            </a:xfrm>
            <a:prstGeom prst="rect">
              <a:avLst/>
            </a:prstGeom>
            <a:noFill/>
            <a:ln>
              <a:noFill/>
            </a:ln>
          </p:spPr>
          <p:txBody>
            <a:bodyPr wrap="none" lIns="0" tIns="0" rIns="0" bIns="0" anchor="t" anchorCtr="0">
              <a:spAutoFit/>
            </a:bodyPr>
            <a:lstStyle/>
            <a:p>
              <a:pPr algn="l"/>
              <a:r>
                <a:rPr lang="zh-CN" sz="900" dirty="0">
                  <a:solidFill>
                    <a:schemeClr val="dk2"/>
                  </a:solidFill>
                  <a:latin typeface="+mn-lt"/>
                  <a:ea typeface="+mn-ea"/>
                  <a:cs typeface="+mn-cs"/>
                </a:rPr>
                <a:t>核心 zine 圣地</a:t>
              </a:r>
            </a:p>
          </p:txBody>
        </p:sp>
        <p:sp>
          <p:nvSpPr>
            <p:cNvPr id="98" name="TextBox 98"/>
            <p:cNvSpPr txBox="1"/>
            <p:nvPr/>
          </p:nvSpPr>
          <p:spPr>
            <a:xfrm>
              <a:off x="2852166" y="6249352"/>
              <a:ext cx="293370" cy="205359"/>
            </a:xfrm>
            <a:prstGeom prst="rect">
              <a:avLst/>
            </a:prstGeom>
            <a:noFill/>
            <a:ln>
              <a:noFill/>
            </a:ln>
          </p:spPr>
          <p:txBody>
            <a:bodyPr wrap="none" lIns="0" tIns="0" rIns="0" bIns="0" anchor="t" anchorCtr="0">
              <a:spAutoFit/>
            </a:bodyPr>
            <a:lstStyle/>
            <a:p>
              <a:pPr algn="l"/>
              <a:r>
                <a:rPr lang="zh-CN" sz="1050" dirty="0">
                  <a:solidFill>
                    <a:schemeClr val="accent2"/>
                  </a:solidFill>
                  <a:latin typeface="+mj-lt"/>
                  <a:ea typeface="+mj-ea"/>
                  <a:cs typeface="+mj-cs"/>
                </a:rPr>
                <a:t>★★</a:t>
              </a:r>
            </a:p>
          </p:txBody>
        </p:sp>
        <p:sp>
          <p:nvSpPr>
            <p:cNvPr id="99" name="TextBox 99"/>
            <p:cNvSpPr txBox="1"/>
            <p:nvPr/>
          </p:nvSpPr>
          <p:spPr>
            <a:xfrm>
              <a:off x="3157538" y="6265545"/>
              <a:ext cx="736473" cy="176212"/>
            </a:xfrm>
            <a:prstGeom prst="rect">
              <a:avLst/>
            </a:prstGeom>
            <a:noFill/>
            <a:ln>
              <a:noFill/>
            </a:ln>
          </p:spPr>
          <p:txBody>
            <a:bodyPr wrap="none" lIns="0" tIns="0" rIns="0" bIns="0" anchor="t" anchorCtr="0">
              <a:spAutoFit/>
            </a:bodyPr>
            <a:lstStyle/>
            <a:p>
              <a:pPr algn="l"/>
              <a:r>
                <a:rPr lang="zh-CN" sz="900" dirty="0">
                  <a:solidFill>
                    <a:schemeClr val="dk2"/>
                  </a:solidFill>
                  <a:latin typeface="+mn-lt"/>
                  <a:ea typeface="+mn-ea"/>
                  <a:cs typeface="+mn-cs"/>
                </a:rPr>
                <a:t>独立出版兼营</a:t>
              </a:r>
            </a:p>
          </p:txBody>
        </p:sp>
        <p:sp>
          <p:nvSpPr>
            <p:cNvPr id="100" name="TextBox 100"/>
            <p:cNvSpPr txBox="1"/>
            <p:nvPr/>
          </p:nvSpPr>
          <p:spPr>
            <a:xfrm>
              <a:off x="4280916" y="6249352"/>
              <a:ext cx="152019" cy="205359"/>
            </a:xfrm>
            <a:prstGeom prst="rect">
              <a:avLst/>
            </a:prstGeom>
            <a:noFill/>
            <a:ln>
              <a:noFill/>
            </a:ln>
          </p:spPr>
          <p:txBody>
            <a:bodyPr wrap="none" lIns="0" tIns="0" rIns="0" bIns="0" anchor="t" anchorCtr="0">
              <a:spAutoFit/>
            </a:bodyPr>
            <a:lstStyle/>
            <a:p>
              <a:pPr algn="l"/>
              <a:r>
                <a:rPr lang="zh-CN" sz="1050" dirty="0">
                  <a:solidFill>
                    <a:schemeClr val="accent1"/>
                  </a:solidFill>
                  <a:latin typeface="+mj-lt"/>
                  <a:ea typeface="+mj-ea"/>
                  <a:cs typeface="+mj-cs"/>
                </a:rPr>
                <a:t>★</a:t>
              </a:r>
            </a:p>
          </p:txBody>
        </p:sp>
        <p:sp>
          <p:nvSpPr>
            <p:cNvPr id="101" name="TextBox 101"/>
            <p:cNvSpPr txBox="1"/>
            <p:nvPr/>
          </p:nvSpPr>
          <p:spPr>
            <a:xfrm>
              <a:off x="4414838" y="6265545"/>
              <a:ext cx="736473" cy="176212"/>
            </a:xfrm>
            <a:prstGeom prst="rect">
              <a:avLst/>
            </a:prstGeom>
            <a:noFill/>
            <a:ln>
              <a:noFill/>
            </a:ln>
          </p:spPr>
          <p:txBody>
            <a:bodyPr wrap="none" lIns="0" tIns="0" rIns="0" bIns="0" anchor="t" anchorCtr="0">
              <a:spAutoFit/>
            </a:bodyPr>
            <a:lstStyle/>
            <a:p>
              <a:pPr algn="l"/>
              <a:r>
                <a:rPr lang="zh-CN" sz="900" dirty="0">
                  <a:solidFill>
                    <a:schemeClr val="dk2"/>
                  </a:solidFill>
                  <a:latin typeface="+mn-lt"/>
                  <a:ea typeface="+mn-ea"/>
                  <a:cs typeface="+mn-cs"/>
                </a:rPr>
                <a:t>国际杂志为主</a:t>
              </a:r>
            </a:p>
          </p:txBody>
        </p:sp>
        <p:sp>
          <p:nvSpPr>
            <p:cNvPr id="102" name="TextBox 102"/>
            <p:cNvSpPr txBox="1"/>
            <p:nvPr/>
          </p:nvSpPr>
          <p:spPr>
            <a:xfrm>
              <a:off x="5538216" y="6249352"/>
              <a:ext cx="88411" cy="205359"/>
            </a:xfrm>
            <a:prstGeom prst="rect">
              <a:avLst/>
            </a:prstGeom>
            <a:noFill/>
            <a:ln>
              <a:noFill/>
            </a:ln>
          </p:spPr>
          <p:txBody>
            <a:bodyPr wrap="none" lIns="0" tIns="0" rIns="0" bIns="0" anchor="t" anchorCtr="0">
              <a:spAutoFit/>
            </a:bodyPr>
            <a:lstStyle/>
            <a:p>
              <a:pPr algn="l"/>
              <a:r>
                <a:rPr lang="zh-CN" sz="1050" dirty="0">
                  <a:solidFill>
                    <a:schemeClr val="dk2"/>
                  </a:solidFill>
                  <a:latin typeface="+mj-lt"/>
                  <a:ea typeface="+mj-ea"/>
                  <a:cs typeface="+mj-cs"/>
                </a:rPr>
                <a:t>—</a:t>
              </a:r>
            </a:p>
          </p:txBody>
        </p:sp>
        <p:sp>
          <p:nvSpPr>
            <p:cNvPr id="103" name="TextBox 103"/>
            <p:cNvSpPr txBox="1"/>
            <p:nvPr/>
          </p:nvSpPr>
          <p:spPr>
            <a:xfrm>
              <a:off x="5672138" y="6265545"/>
              <a:ext cx="875805" cy="176212"/>
            </a:xfrm>
            <a:prstGeom prst="rect">
              <a:avLst/>
            </a:prstGeom>
            <a:noFill/>
            <a:ln>
              <a:noFill/>
            </a:ln>
          </p:spPr>
          <p:txBody>
            <a:bodyPr wrap="none" lIns="0" tIns="0" rIns="0" bIns="0" anchor="t" anchorCtr="0">
              <a:spAutoFit/>
            </a:bodyPr>
            <a:lstStyle/>
            <a:p>
              <a:pPr algn="l"/>
              <a:r>
                <a:rPr lang="zh-CN" sz="900" dirty="0">
                  <a:solidFill>
                    <a:schemeClr val="dk2"/>
                  </a:solidFill>
                  <a:latin typeface="+mn-lt"/>
                  <a:ea typeface="+mn-ea"/>
                  <a:cs typeface="+mn-cs"/>
                </a:rPr>
                <a:t>文学 / 综合书店</a:t>
              </a:r>
            </a:p>
          </p:txBody>
        </p:sp>
      </p:grpSp>
      <p:grpSp>
        <p:nvGrpSpPr>
          <p:cNvPr id="108" name="Group 108"/>
          <p:cNvGrpSpPr/>
          <p:nvPr/>
        </p:nvGrpSpPr>
        <p:grpSpPr>
          <a:xfrm>
            <a:off x="566738" y="6572250"/>
            <a:ext cx="11058524" cy="244316"/>
            <a:chOff x="566738" y="6572250"/>
            <a:chExt cx="11058524" cy="244316"/>
          </a:xfrm>
        </p:grpSpPr>
        <p:sp>
          <p:nvSpPr>
            <p:cNvPr id="105" name="Line 105"/>
            <p:cNvSpPr/>
            <p:nvPr/>
          </p:nvSpPr>
          <p:spPr>
            <a:xfrm>
              <a:off x="571500" y="6572250"/>
              <a:ext cx="11049000" cy="9525"/>
            </a:xfrm>
            <a:custGeom>
              <a:avLst/>
              <a:gdLst/>
              <a:ahLst/>
              <a:cxnLst/>
              <a:rect l="l" t="t" r="r" b="b"/>
              <a:pathLst>
                <a:path w="11049000" h="9525">
                  <a:moveTo>
                    <a:pt x="0" y="0"/>
                  </a:moveTo>
                  <a:lnTo>
                    <a:pt x="11049000" y="0"/>
                  </a:lnTo>
                </a:path>
              </a:pathLst>
            </a:custGeom>
            <a:noFill/>
            <a:ln w="9525">
              <a:solidFill>
                <a:schemeClr val="accent4"/>
              </a:solidFill>
            </a:ln>
          </p:spPr>
        </p:sp>
        <p:sp>
          <p:nvSpPr>
            <p:cNvPr id="106" name="TextBox 106"/>
            <p:cNvSpPr txBox="1"/>
            <p:nvPr/>
          </p:nvSpPr>
          <p:spPr>
            <a:xfrm>
              <a:off x="566738" y="6654641"/>
              <a:ext cx="3232683" cy="161925"/>
            </a:xfrm>
            <a:prstGeom prst="rect">
              <a:avLst/>
            </a:prstGeom>
            <a:noFill/>
            <a:ln>
              <a:noFill/>
            </a:ln>
          </p:spPr>
          <p:txBody>
            <a:bodyPr wrap="none" lIns="0" tIns="0" rIns="0" bIns="0" anchor="t" anchorCtr="0">
              <a:spAutoFit/>
            </a:bodyPr>
            <a:lstStyle/>
            <a:p>
              <a:pPr algn="l"/>
              <a:r>
                <a:rPr lang="zh-CN" sz="820" spc="150" dirty="0">
                  <a:solidFill>
                    <a:schemeClr val="dk2"/>
                  </a:solidFill>
                  <a:latin typeface="Consolas"/>
                  <a:ea typeface="Consolas"/>
                  <a:cs typeface="Consolas"/>
                </a:rPr>
                <a:t>P12 · MAINLAND CHINA INDIE BOOKSTORE MAP</a:t>
              </a:r>
            </a:p>
          </p:txBody>
        </p:sp>
        <p:sp>
          <p:nvSpPr>
            <p:cNvPr id="107" name="TextBox 107"/>
            <p:cNvSpPr txBox="1"/>
            <p:nvPr/>
          </p:nvSpPr>
          <p:spPr>
            <a:xfrm>
              <a:off x="8095155" y="6654641"/>
              <a:ext cx="3530107" cy="161925"/>
            </a:xfrm>
            <a:prstGeom prst="rect">
              <a:avLst/>
            </a:prstGeom>
            <a:noFill/>
            <a:ln>
              <a:noFill/>
            </a:ln>
          </p:spPr>
          <p:txBody>
            <a:bodyPr wrap="none" lIns="0" tIns="0" rIns="0" bIns="0" anchor="t" anchorCtr="0">
              <a:spAutoFit/>
            </a:bodyPr>
            <a:lstStyle/>
            <a:p>
              <a:pPr algn="r"/>
              <a:r>
                <a:rPr lang="zh-CN" sz="820" spc="150" dirty="0">
                  <a:solidFill>
                    <a:schemeClr val="dk2"/>
                  </a:solidFill>
                  <a:latin typeface="Consolas"/>
                  <a:ea typeface="Microsoft YaHei"/>
                  <a:cs typeface="Consolas"/>
                </a:rPr>
                <a:t>CURATED 2026 · SOURCED FROM 数英 / 搜狐 / 知乎</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94"/>
                                        </p:tgtEl>
                                        <p:attrNameLst>
                                          <p:attrName>style.visibility</p:attrName>
                                        </p:attrNameLst>
                                      </p:cBhvr>
                                      <p:to>
                                        <p:strVal val="visible"/>
                                      </p:to>
                                    </p:set>
                                    <p:animEffect transition="in" filter="fade">
                                      <p:cBhvr>
                                        <p:cTn id="7" dur="550"/>
                                        <p:tgtEl>
                                          <p:spTgt spid="94"/>
                                        </p:tgtEl>
                                      </p:cBhvr>
                                    </p:animEffect>
                                  </p:childTnLst>
                                </p:cTn>
                              </p:par>
                            </p:childTnLst>
                          </p:cTn>
                        </p:par>
                        <p:par>
                          <p:cTn id="8" fill="hold">
                            <p:stCondLst>
                              <p:cond delay="550"/>
                            </p:stCondLst>
                            <p:childTnLst>
                              <p:par>
                                <p:cTn xmlns:p="http://schemas.openxmlformats.org/presentationml/2006/main" id="9" presetID="1" presetClass="entr" presetSubtype="0" fill="hold" grpId="0" nodeType="afterEffect">
                                  <p:stCondLst>
                                    <p:cond delay="200"/>
                                  </p:stCondLst>
                                  <p:childTnLst>
                                    <p:set>
                                      <p:cBhvr>
                                        <p:cTn id="10" dur="1" fill="hold">
                                          <p:stCondLst>
                                            <p:cond delay="0"/>
                                          </p:stCondLst>
                                        </p:cTn>
                                        <p:tgtEl>
                                          <p:spTgt spid="1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pattFill prst="ltUpDiag">
            <a:fgClr>
              <a:schemeClr val="dk1">
                <a:alpha val="10000"/>
              </a:schemeClr>
            </a:fgClr>
            <a:bgClr>
              <a:srgbClr val="FFFFFF"/>
            </a:bgClr>
          </a:pattFill>
          <a:ln>
            <a:noFill/>
          </a:ln>
        </p:spPr>
      </p:sp>
      <p:grpSp>
        <p:nvGrpSpPr>
          <p:cNvPr id="8" name="Group 8"/>
          <p:cNvGrpSpPr/>
          <p:nvPr/>
        </p:nvGrpSpPr>
        <p:grpSpPr>
          <a:xfrm>
            <a:off x="571500" y="533400"/>
            <a:ext cx="5867212" cy="771239"/>
            <a:chOff x="571500" y="533400"/>
            <a:chExt cx="5867212" cy="771239"/>
          </a:xfrm>
        </p:grpSpPr>
        <p:sp>
          <p:nvSpPr>
            <p:cNvPr id="3" name="Rectangle 3"/>
            <p:cNvSpPr/>
            <p:nvPr/>
          </p:nvSpPr>
          <p:spPr>
            <a:xfrm>
              <a:off x="571500" y="533400"/>
              <a:ext cx="133350" cy="647700"/>
            </a:xfrm>
            <a:prstGeom prst="rect">
              <a:avLst/>
            </a:prstGeom>
            <a:solidFill>
              <a:schemeClr val="accent1"/>
            </a:solidFill>
            <a:ln>
              <a:noFill/>
            </a:ln>
          </p:spPr>
        </p:sp>
        <p:sp>
          <p:nvSpPr>
            <p:cNvPr id="4" name="Rectangle 4"/>
            <p:cNvSpPr/>
            <p:nvPr/>
          </p:nvSpPr>
          <p:spPr>
            <a:xfrm>
              <a:off x="600075" y="561975"/>
              <a:ext cx="133350" cy="647700"/>
            </a:xfrm>
            <a:prstGeom prst="rect">
              <a:avLst/>
            </a:prstGeom>
            <a:solidFill>
              <a:schemeClr val="accent2">
                <a:alpha val="70000"/>
              </a:schemeClr>
            </a:solidFill>
            <a:ln>
              <a:noFill/>
            </a:ln>
          </p:spPr>
        </p:sp>
        <p:sp>
          <p:nvSpPr>
            <p:cNvPr id="5" name="Rectangle 5"/>
            <p:cNvSpPr/>
            <p:nvPr/>
          </p:nvSpPr>
          <p:spPr>
            <a:xfrm>
              <a:off x="571500" y="533400"/>
              <a:ext cx="133350" cy="647700"/>
            </a:xfrm>
            <a:prstGeom prst="rect">
              <a:avLst/>
            </a:prstGeom>
            <a:solidFill>
              <a:schemeClr val="accent1"/>
            </a:solidFill>
            <a:ln>
              <a:noFill/>
            </a:ln>
          </p:spPr>
        </p:sp>
        <p:sp>
          <p:nvSpPr>
            <p:cNvPr id="6" name="TextBox 6"/>
            <p:cNvSpPr txBox="1"/>
            <p:nvPr/>
          </p:nvSpPr>
          <p:spPr>
            <a:xfrm>
              <a:off x="858774" y="561022"/>
              <a:ext cx="4134231" cy="674751"/>
            </a:xfrm>
            <a:prstGeom prst="rect">
              <a:avLst/>
            </a:prstGeom>
            <a:noFill/>
            <a:ln>
              <a:noFill/>
            </a:ln>
          </p:spPr>
          <p:txBody>
            <a:bodyPr wrap="none" lIns="0" tIns="0" rIns="0" bIns="0" anchor="t" anchorCtr="0">
              <a:spAutoFit/>
            </a:bodyPr>
            <a:lstStyle/>
            <a:p>
              <a:pPr algn="l"/>
              <a:r>
                <a:rPr lang="zh-CN" sz="3450" spc="-75" dirty="0">
                  <a:solidFill>
                    <a:schemeClr val="dk1"/>
                  </a:solidFill>
                  <a:latin typeface="+mj-lt"/>
                  <a:ea typeface="+mj-ea"/>
                  <a:cs typeface="+mj-cs"/>
                </a:rPr>
                <a:t>中国艺术书展双子星</a:t>
              </a:r>
            </a:p>
          </p:txBody>
        </p:sp>
        <p:sp>
          <p:nvSpPr>
            <p:cNvPr id="7" name="TextBox 7"/>
            <p:cNvSpPr txBox="1"/>
            <p:nvPr/>
          </p:nvSpPr>
          <p:spPr>
            <a:xfrm>
              <a:off x="871347" y="1113949"/>
              <a:ext cx="5567365" cy="190690"/>
            </a:xfrm>
            <a:prstGeom prst="rect">
              <a:avLst/>
            </a:prstGeom>
            <a:noFill/>
            <a:ln>
              <a:noFill/>
            </a:ln>
          </p:spPr>
          <p:txBody>
            <a:bodyPr wrap="none" lIns="0" tIns="0" rIns="0" bIns="0" anchor="t" anchorCtr="0">
              <a:spAutoFit/>
            </a:bodyPr>
            <a:lstStyle/>
            <a:p>
              <a:pPr algn="l"/>
              <a:r>
                <a:rPr lang="zh-CN" sz="980" spc="225" dirty="0">
                  <a:solidFill>
                    <a:schemeClr val="dk2"/>
                  </a:solidFill>
                  <a:latin typeface="Consolas"/>
                  <a:ea typeface="Consolas"/>
                  <a:cs typeface="Consolas"/>
                </a:rPr>
                <a:t>SHANGHAI HOSTS THE MOST · NEW SHOPS PUBLISH HERE FIRST</a:t>
              </a:r>
            </a:p>
          </p:txBody>
        </p:sp>
      </p:grpSp>
      <p:sp>
        <p:nvSpPr>
          <p:cNvPr id="9" name="Line 9"/>
          <p:cNvSpPr/>
          <p:nvPr/>
        </p:nvSpPr>
        <p:spPr>
          <a:xfrm>
            <a:off x="571500" y="1447800"/>
            <a:ext cx="11049000" cy="9525"/>
          </a:xfrm>
          <a:custGeom>
            <a:avLst/>
            <a:gdLst/>
            <a:ahLst/>
            <a:cxnLst/>
            <a:rect l="l" t="t" r="r" b="b"/>
            <a:pathLst>
              <a:path w="11049000" h="9525">
                <a:moveTo>
                  <a:pt x="0" y="0"/>
                </a:moveTo>
                <a:lnTo>
                  <a:pt x="11049000" y="0"/>
                </a:lnTo>
              </a:path>
            </a:pathLst>
          </a:custGeom>
          <a:noFill/>
          <a:ln w="28575">
            <a:solidFill>
              <a:schemeClr val="accent4"/>
            </a:solidFill>
          </a:ln>
        </p:spPr>
      </p:sp>
      <p:grpSp>
        <p:nvGrpSpPr>
          <p:cNvPr id="14" name="Group 14"/>
          <p:cNvGrpSpPr/>
          <p:nvPr/>
        </p:nvGrpSpPr>
        <p:grpSpPr>
          <a:xfrm>
            <a:off x="571500" y="1619250"/>
            <a:ext cx="3638550" cy="5029200"/>
            <a:chOff x="571500" y="1619250"/>
            <a:chExt cx="3638550" cy="5029200"/>
          </a:xfrm>
        </p:grpSpPr>
        <p:sp>
          <p:nvSpPr>
            <p:cNvPr id="10" name="Rectangle 10"/>
            <p:cNvSpPr/>
            <p:nvPr/>
          </p:nvSpPr>
          <p:spPr>
            <a:xfrm>
              <a:off x="590550" y="1638300"/>
              <a:ext cx="3619500" cy="4724400"/>
            </a:xfrm>
            <a:prstGeom prst="rect">
              <a:avLst/>
            </a:prstGeom>
            <a:solidFill>
              <a:schemeClr val="accent2"/>
            </a:solidFill>
            <a:ln>
              <a:noFill/>
            </a:ln>
          </p:spPr>
        </p:sp>
        <p:pic>
          <p:nvPicPr>
            <p:cNvPr id="11" name="Image 11"/>
            <p:cNvPicPr>
              <a:picLocks noChangeAspect="1"/>
            </p:cNvPicPr>
            <p:nvPr/>
          </p:nvPicPr>
          <p:blipFill>
            <a:blip r:embed="rId2"/>
            <a:srcRect l="11694" t="0" r="11693" b="0"/>
            <a:stretch>
              <a:fillRect/>
            </a:stretch>
          </p:blipFill>
          <p:spPr>
            <a:xfrm>
              <a:off x="571500" y="1619250"/>
              <a:ext cx="3619500" cy="4724400"/>
            </a:xfrm>
            <a:prstGeom prst="rect">
              <a:avLst/>
            </a:prstGeom>
          </p:spPr>
        </p:pic>
        <p:sp>
          <p:nvSpPr>
            <p:cNvPr id="12" name="Rectangle 12"/>
            <p:cNvSpPr/>
            <p:nvPr/>
          </p:nvSpPr>
          <p:spPr>
            <a:xfrm>
              <a:off x="571500" y="6343650"/>
              <a:ext cx="3619500" cy="304800"/>
            </a:xfrm>
            <a:prstGeom prst="rect">
              <a:avLst/>
            </a:prstGeom>
            <a:solidFill>
              <a:schemeClr val="accent1"/>
            </a:solidFill>
            <a:ln>
              <a:noFill/>
            </a:ln>
          </p:spPr>
        </p:sp>
        <p:sp>
          <p:nvSpPr>
            <p:cNvPr id="13" name="TextBox 13"/>
            <p:cNvSpPr txBox="1"/>
            <p:nvPr/>
          </p:nvSpPr>
          <p:spPr>
            <a:xfrm>
              <a:off x="757238" y="6446520"/>
              <a:ext cx="2475967" cy="176212"/>
            </a:xfrm>
            <a:prstGeom prst="rect">
              <a:avLst/>
            </a:prstGeom>
            <a:noFill/>
            <a:ln>
              <a:noFill/>
            </a:ln>
          </p:spPr>
          <p:txBody>
            <a:bodyPr wrap="none" lIns="0" tIns="0" rIns="0" bIns="0" anchor="t" anchorCtr="0">
              <a:spAutoFit/>
            </a:bodyPr>
            <a:lstStyle/>
            <a:p>
              <a:pPr algn="l"/>
              <a:r>
                <a:rPr lang="zh-CN" sz="900" spc="150" dirty="0">
                  <a:solidFill>
                    <a:srgbClr val="F5EFE0"/>
                  </a:solidFill>
                  <a:latin typeface="Consolas"/>
                  <a:ea typeface="Consolas"/>
                  <a:cs typeface="Consolas"/>
                </a:rPr>
                <a:t>BOOTH AISLE · SHANGHAI · 2026</a:t>
              </a:r>
            </a:p>
          </p:txBody>
        </p:sp>
      </p:grpSp>
      <p:grpSp>
        <p:nvGrpSpPr>
          <p:cNvPr id="38" name="Group 38"/>
          <p:cNvGrpSpPr/>
          <p:nvPr/>
        </p:nvGrpSpPr>
        <p:grpSpPr>
          <a:xfrm>
            <a:off x="4381500" y="1619250"/>
            <a:ext cx="7267575" cy="2257425"/>
            <a:chOff x="4381500" y="1619250"/>
            <a:chExt cx="7267575" cy="2257425"/>
          </a:xfrm>
        </p:grpSpPr>
        <p:sp>
          <p:nvSpPr>
            <p:cNvPr id="15" name="Rectangle 15"/>
            <p:cNvSpPr/>
            <p:nvPr/>
          </p:nvSpPr>
          <p:spPr>
            <a:xfrm>
              <a:off x="4381500" y="1619250"/>
              <a:ext cx="7239000" cy="2228850"/>
            </a:xfrm>
            <a:prstGeom prst="rect">
              <a:avLst/>
            </a:prstGeom>
            <a:solidFill>
              <a:schemeClr val="dk1"/>
            </a:solidFill>
            <a:ln>
              <a:noFill/>
            </a:ln>
          </p:spPr>
        </p:sp>
        <p:sp>
          <p:nvSpPr>
            <p:cNvPr id="16" name="Rectangle 16"/>
            <p:cNvSpPr/>
            <p:nvPr/>
          </p:nvSpPr>
          <p:spPr>
            <a:xfrm>
              <a:off x="4410075" y="1647825"/>
              <a:ext cx="7239000" cy="2228850"/>
            </a:xfrm>
            <a:prstGeom prst="rect">
              <a:avLst/>
            </a:prstGeom>
            <a:solidFill>
              <a:schemeClr val="accent2">
                <a:alpha val="55000"/>
              </a:schemeClr>
            </a:solidFill>
            <a:ln>
              <a:noFill/>
            </a:ln>
          </p:spPr>
        </p:sp>
        <p:sp>
          <p:nvSpPr>
            <p:cNvPr id="17" name="Rectangle 17"/>
            <p:cNvSpPr/>
            <p:nvPr/>
          </p:nvSpPr>
          <p:spPr>
            <a:xfrm>
              <a:off x="4381500" y="1619250"/>
              <a:ext cx="7239000" cy="2228850"/>
            </a:xfrm>
            <a:prstGeom prst="rect">
              <a:avLst/>
            </a:prstGeom>
            <a:solidFill>
              <a:schemeClr val="dk1"/>
            </a:solidFill>
            <a:ln>
              <a:noFill/>
            </a:ln>
          </p:spPr>
        </p:sp>
        <p:sp>
          <p:nvSpPr>
            <p:cNvPr id="18" name="Rectangle 18"/>
            <p:cNvSpPr/>
            <p:nvPr/>
          </p:nvSpPr>
          <p:spPr>
            <a:xfrm>
              <a:off x="4381500" y="1619250"/>
              <a:ext cx="3048000" cy="476250"/>
            </a:xfrm>
            <a:prstGeom prst="rect">
              <a:avLst/>
            </a:prstGeom>
            <a:solidFill>
              <a:schemeClr val="accent1"/>
            </a:solidFill>
            <a:ln>
              <a:noFill/>
            </a:ln>
          </p:spPr>
        </p:sp>
        <p:sp>
          <p:nvSpPr>
            <p:cNvPr id="19" name="TextBox 19"/>
            <p:cNvSpPr txBox="1"/>
            <p:nvPr/>
          </p:nvSpPr>
          <p:spPr>
            <a:xfrm>
              <a:off x="4561332" y="1716405"/>
              <a:ext cx="2953757" cy="410718"/>
            </a:xfrm>
            <a:prstGeom prst="rect">
              <a:avLst/>
            </a:prstGeom>
            <a:noFill/>
            <a:ln>
              <a:noFill/>
            </a:ln>
          </p:spPr>
          <p:txBody>
            <a:bodyPr wrap="none" lIns="0" tIns="0" rIns="0" bIns="0" anchor="t" anchorCtr="0">
              <a:spAutoFit/>
            </a:bodyPr>
            <a:lstStyle/>
            <a:p>
              <a:pPr algn="l"/>
              <a:r>
                <a:rPr lang="zh-CN" sz="2100" spc="150" dirty="0">
                  <a:solidFill>
                    <a:srgbClr val="F5EFE0"/>
                  </a:solidFill>
                  <a:latin typeface="+mj-lt"/>
                  <a:ea typeface="+mj-ea"/>
                  <a:cs typeface="+mj-cs"/>
                </a:rPr>
                <a:t>abC ART BOOK FAIR</a:t>
              </a:r>
            </a:p>
          </p:txBody>
        </p:sp>
        <p:sp>
          <p:nvSpPr>
            <p:cNvPr id="20" name="TextBox 20"/>
            <p:cNvSpPr txBox="1"/>
            <p:nvPr/>
          </p:nvSpPr>
          <p:spPr>
            <a:xfrm>
              <a:off x="9844240" y="1845945"/>
              <a:ext cx="1590523" cy="176212"/>
            </a:xfrm>
            <a:prstGeom prst="rect">
              <a:avLst/>
            </a:prstGeom>
            <a:noFill/>
            <a:ln>
              <a:noFill/>
            </a:ln>
          </p:spPr>
          <p:txBody>
            <a:bodyPr wrap="none" lIns="0" tIns="0" rIns="0" bIns="0" anchor="t" anchorCtr="0">
              <a:spAutoFit/>
            </a:bodyPr>
            <a:lstStyle/>
            <a:p>
              <a:pPr algn="r"/>
              <a:r>
                <a:rPr lang="zh-CN" sz="900" spc="150" dirty="0">
                  <a:solidFill>
                    <a:schemeClr val="accent2"/>
                  </a:solidFill>
                  <a:latin typeface="Consolas"/>
                  <a:ea typeface="Microsoft YaHei"/>
                  <a:cs typeface="Consolas"/>
                </a:rPr>
                <a:t>EST. 2015 · 京沪双城</a:t>
              </a:r>
            </a:p>
          </p:txBody>
        </p:sp>
        <p:sp>
          <p:nvSpPr>
            <p:cNvPr id="21" name="TextBox 21"/>
            <p:cNvSpPr txBox="1"/>
            <p:nvPr/>
          </p:nvSpPr>
          <p:spPr>
            <a:xfrm>
              <a:off x="4565523" y="2262664"/>
              <a:ext cx="3769440" cy="249364"/>
            </a:xfrm>
            <a:prstGeom prst="rect">
              <a:avLst/>
            </a:prstGeom>
            <a:noFill/>
            <a:ln>
              <a:noFill/>
            </a:ln>
          </p:spPr>
          <p:txBody>
            <a:bodyPr wrap="none" lIns="0" tIns="0" rIns="0" bIns="0" anchor="t" anchorCtr="0">
              <a:spAutoFit/>
            </a:bodyPr>
            <a:lstStyle/>
            <a:p>
              <a:pPr algn="l"/>
              <a:r>
                <a:rPr lang="zh-CN" sz="1280" b="1" dirty="0">
                  <a:solidFill>
                    <a:srgbClr val="F5EFE0"/>
                  </a:solidFill>
                  <a:latin typeface="+mn-lt"/>
                  <a:ea typeface="+mn-ea"/>
                  <a:cs typeface="+mn-cs"/>
                </a:rPr>
                <a:t>art book in China · 国内最具影响力的艺术书展</a:t>
              </a:r>
            </a:p>
          </p:txBody>
        </p:sp>
        <p:sp>
          <p:nvSpPr>
            <p:cNvPr id="22" name="TextBox 22"/>
            <p:cNvSpPr txBox="1"/>
            <p:nvPr/>
          </p:nvSpPr>
          <p:spPr>
            <a:xfrm>
              <a:off x="4566666" y="2553652"/>
              <a:ext cx="3304146" cy="205359"/>
            </a:xfrm>
            <a:prstGeom prst="rect">
              <a:avLst/>
            </a:prstGeom>
            <a:noFill/>
            <a:ln>
              <a:noFill/>
            </a:ln>
          </p:spPr>
          <p:txBody>
            <a:bodyPr wrap="none" lIns="0" tIns="0" rIns="0" bIns="0" anchor="t" anchorCtr="0">
              <a:spAutoFit/>
            </a:bodyPr>
            <a:lstStyle/>
            <a:p>
              <a:pPr algn="l"/>
              <a:r>
                <a:rPr lang="zh-CN" sz="1050" dirty="0">
                  <a:solidFill>
                    <a:srgbClr val="F5EFE0"/>
                  </a:solidFill>
                  <a:latin typeface="+mn-lt"/>
                  <a:ea typeface="+mn-ea"/>
                  <a:cs typeface="+mn-cs"/>
                </a:rPr>
                <a:t>推广本土艺术家书 / 独立出版 + 引介国际优秀出版方</a:t>
              </a:r>
            </a:p>
          </p:txBody>
        </p:sp>
        <p:sp>
          <p:nvSpPr>
            <p:cNvPr id="23" name="Rectangle 23"/>
            <p:cNvSpPr/>
            <p:nvPr/>
          </p:nvSpPr>
          <p:spPr>
            <a:xfrm>
              <a:off x="4572000" y="2895600"/>
              <a:ext cx="1485900" cy="742950"/>
            </a:xfrm>
            <a:prstGeom prst="rect">
              <a:avLst/>
            </a:prstGeom>
            <a:solidFill>
              <a:schemeClr val="accent2"/>
            </a:solidFill>
            <a:ln>
              <a:noFill/>
            </a:ln>
          </p:spPr>
        </p:sp>
        <p:sp>
          <p:nvSpPr>
            <p:cNvPr id="24" name="TextBox 24"/>
            <p:cNvSpPr txBox="1"/>
            <p:nvPr/>
          </p:nvSpPr>
          <p:spPr>
            <a:xfrm>
              <a:off x="5001368" y="2927985"/>
              <a:ext cx="627164" cy="528066"/>
            </a:xfrm>
            <a:prstGeom prst="rect">
              <a:avLst/>
            </a:prstGeom>
            <a:noFill/>
            <a:ln>
              <a:noFill/>
            </a:ln>
          </p:spPr>
          <p:txBody>
            <a:bodyPr wrap="none" lIns="0" tIns="0" rIns="0" bIns="0" anchor="t" anchorCtr="0">
              <a:spAutoFit/>
            </a:bodyPr>
            <a:lstStyle/>
            <a:p>
              <a:pPr algn="ctr"/>
              <a:r>
                <a:rPr lang="zh-CN" sz="2700" dirty="0">
                  <a:solidFill>
                    <a:srgbClr val="F5EFE0"/>
                  </a:solidFill>
                  <a:latin typeface="+mj-lt"/>
                  <a:ea typeface="+mj-ea"/>
                  <a:cs typeface="+mj-cs"/>
                </a:rPr>
                <a:t>145</a:t>
              </a:r>
            </a:p>
          </p:txBody>
        </p:sp>
        <p:sp>
          <p:nvSpPr>
            <p:cNvPr id="25" name="TextBox 25"/>
            <p:cNvSpPr txBox="1"/>
            <p:nvPr/>
          </p:nvSpPr>
          <p:spPr>
            <a:xfrm>
              <a:off x="4923828" y="3358991"/>
              <a:ext cx="782244" cy="161925"/>
            </a:xfrm>
            <a:prstGeom prst="rect">
              <a:avLst/>
            </a:prstGeom>
            <a:noFill/>
            <a:ln>
              <a:noFill/>
            </a:ln>
          </p:spPr>
          <p:txBody>
            <a:bodyPr wrap="none" lIns="0" tIns="0" rIns="0" bIns="0" anchor="t" anchorCtr="0">
              <a:spAutoFit/>
            </a:bodyPr>
            <a:lstStyle/>
            <a:p>
              <a:pPr algn="ctr"/>
              <a:r>
                <a:rPr lang="zh-CN" sz="820" dirty="0">
                  <a:solidFill>
                    <a:srgbClr val="F5EFE0"/>
                  </a:solidFill>
                  <a:latin typeface="+mn-lt"/>
                  <a:ea typeface="+mn-ea"/>
                  <a:cs typeface="+mn-cs"/>
                </a:rPr>
                <a:t>中国艺术出版方</a:t>
              </a:r>
            </a:p>
          </p:txBody>
        </p:sp>
        <p:sp>
          <p:nvSpPr>
            <p:cNvPr id="26" name="TextBox 26"/>
            <p:cNvSpPr txBox="1"/>
            <p:nvPr/>
          </p:nvSpPr>
          <p:spPr>
            <a:xfrm>
              <a:off x="4987301" y="3511391"/>
              <a:ext cx="655297" cy="161925"/>
            </a:xfrm>
            <a:prstGeom prst="rect">
              <a:avLst/>
            </a:prstGeom>
            <a:noFill/>
            <a:ln>
              <a:noFill/>
            </a:ln>
          </p:spPr>
          <p:txBody>
            <a:bodyPr wrap="none" lIns="0" tIns="0" rIns="0" bIns="0" anchor="t" anchorCtr="0">
              <a:spAutoFit/>
            </a:bodyPr>
            <a:lstStyle/>
            <a:p>
              <a:pPr algn="ctr"/>
              <a:r>
                <a:rPr lang="zh-CN" sz="820" dirty="0">
                  <a:solidFill>
                    <a:srgbClr val="F5EFE0"/>
                  </a:solidFill>
                  <a:latin typeface="+mn-lt"/>
                  <a:ea typeface="+mn-ea"/>
                  <a:cs typeface="+mn-cs"/>
                </a:rPr>
                <a:t>+ 个人创作者</a:t>
              </a:r>
            </a:p>
          </p:txBody>
        </p:sp>
        <p:sp>
          <p:nvSpPr>
            <p:cNvPr id="27" name="Rectangle 27"/>
            <p:cNvSpPr/>
            <p:nvPr/>
          </p:nvSpPr>
          <p:spPr>
            <a:xfrm>
              <a:off x="6210300" y="2895600"/>
              <a:ext cx="1485900" cy="742950"/>
            </a:xfrm>
            <a:prstGeom prst="rect">
              <a:avLst/>
            </a:prstGeom>
            <a:solidFill>
              <a:schemeClr val="accent1"/>
            </a:solidFill>
            <a:ln>
              <a:noFill/>
            </a:ln>
          </p:spPr>
        </p:sp>
        <p:sp>
          <p:nvSpPr>
            <p:cNvPr id="28" name="TextBox 28"/>
            <p:cNvSpPr txBox="1"/>
            <p:nvPr/>
          </p:nvSpPr>
          <p:spPr>
            <a:xfrm>
              <a:off x="6739623" y="2927985"/>
              <a:ext cx="427253" cy="528066"/>
            </a:xfrm>
            <a:prstGeom prst="rect">
              <a:avLst/>
            </a:prstGeom>
            <a:noFill/>
            <a:ln>
              <a:noFill/>
            </a:ln>
          </p:spPr>
          <p:txBody>
            <a:bodyPr wrap="none" lIns="0" tIns="0" rIns="0" bIns="0" anchor="t" anchorCtr="0">
              <a:spAutoFit/>
            </a:bodyPr>
            <a:lstStyle/>
            <a:p>
              <a:pPr algn="ctr"/>
              <a:r>
                <a:rPr lang="zh-CN" sz="2700" dirty="0">
                  <a:solidFill>
                    <a:srgbClr val="F5EFE0"/>
                  </a:solidFill>
                  <a:latin typeface="+mj-lt"/>
                  <a:ea typeface="+mj-ea"/>
                  <a:cs typeface="+mj-cs"/>
                </a:rPr>
                <a:t>41</a:t>
              </a:r>
            </a:p>
          </p:txBody>
        </p:sp>
        <p:sp>
          <p:nvSpPr>
            <p:cNvPr id="29" name="TextBox 29"/>
            <p:cNvSpPr txBox="1"/>
            <p:nvPr/>
          </p:nvSpPr>
          <p:spPr>
            <a:xfrm>
              <a:off x="6672516" y="3358991"/>
              <a:ext cx="561467" cy="161925"/>
            </a:xfrm>
            <a:prstGeom prst="rect">
              <a:avLst/>
            </a:prstGeom>
            <a:noFill/>
            <a:ln>
              <a:noFill/>
            </a:ln>
          </p:spPr>
          <p:txBody>
            <a:bodyPr wrap="none" lIns="0" tIns="0" rIns="0" bIns="0" anchor="t" anchorCtr="0">
              <a:spAutoFit/>
            </a:bodyPr>
            <a:lstStyle/>
            <a:p>
              <a:pPr algn="ctr"/>
              <a:r>
                <a:rPr lang="zh-CN" sz="820" dirty="0">
                  <a:solidFill>
                    <a:srgbClr val="F5EFE0"/>
                  </a:solidFill>
                  <a:latin typeface="+mn-lt"/>
                  <a:ea typeface="+mn-ea"/>
                  <a:cs typeface="+mn-cs"/>
                </a:rPr>
                <a:t>国际出版方</a:t>
              </a:r>
            </a:p>
          </p:txBody>
        </p:sp>
        <p:sp>
          <p:nvSpPr>
            <p:cNvPr id="30" name="TextBox 30"/>
            <p:cNvSpPr txBox="1"/>
            <p:nvPr/>
          </p:nvSpPr>
          <p:spPr>
            <a:xfrm>
              <a:off x="6664237" y="3511391"/>
              <a:ext cx="578025" cy="161925"/>
            </a:xfrm>
            <a:prstGeom prst="rect">
              <a:avLst/>
            </a:prstGeom>
            <a:noFill/>
            <a:ln>
              <a:noFill/>
            </a:ln>
          </p:spPr>
          <p:txBody>
            <a:bodyPr wrap="none" lIns="0" tIns="0" rIns="0" bIns="0" anchor="t" anchorCtr="0">
              <a:spAutoFit/>
            </a:bodyPr>
            <a:lstStyle/>
            <a:p>
              <a:pPr algn="ctr"/>
              <a:r>
                <a:rPr lang="zh-CN" sz="820" dirty="0">
                  <a:solidFill>
                    <a:srgbClr val="F5EFE0"/>
                  </a:solidFill>
                  <a:latin typeface="+mn-lt"/>
                  <a:ea typeface="+mn-ea"/>
                  <a:cs typeface="+mn-cs"/>
                </a:rPr>
                <a:t>参展 · 上海</a:t>
              </a:r>
            </a:p>
          </p:txBody>
        </p:sp>
        <p:sp>
          <p:nvSpPr>
            <p:cNvPr id="31" name="Rectangle 31"/>
            <p:cNvSpPr/>
            <p:nvPr/>
          </p:nvSpPr>
          <p:spPr>
            <a:xfrm>
              <a:off x="7848600" y="2895600"/>
              <a:ext cx="1485900" cy="742950"/>
            </a:xfrm>
            <a:prstGeom prst="rect">
              <a:avLst/>
            </a:prstGeom>
            <a:solidFill>
              <a:schemeClr val="accent3"/>
            </a:solidFill>
            <a:ln>
              <a:noFill/>
            </a:ln>
          </p:spPr>
        </p:sp>
        <p:sp>
          <p:nvSpPr>
            <p:cNvPr id="32" name="TextBox 32"/>
            <p:cNvSpPr txBox="1"/>
            <p:nvPr/>
          </p:nvSpPr>
          <p:spPr>
            <a:xfrm>
              <a:off x="7957414" y="2960370"/>
              <a:ext cx="1268273" cy="469392"/>
            </a:xfrm>
            <a:prstGeom prst="rect">
              <a:avLst/>
            </a:prstGeom>
            <a:noFill/>
            <a:ln>
              <a:noFill/>
            </a:ln>
          </p:spPr>
          <p:txBody>
            <a:bodyPr wrap="none" lIns="0" tIns="0" rIns="0" bIns="0" anchor="t" anchorCtr="0">
              <a:spAutoFit/>
            </a:bodyPr>
            <a:lstStyle/>
            <a:p>
              <a:pPr algn="ctr"/>
              <a:r>
                <a:rPr lang="zh-CN" sz="2400" dirty="0">
                  <a:solidFill>
                    <a:schemeClr val="dk1"/>
                  </a:solidFill>
                  <a:latin typeface="+mj-lt"/>
                  <a:ea typeface="+mj-ea"/>
                  <a:cs typeface="+mj-cs"/>
                </a:rPr>
                <a:t>10,000+</a:t>
              </a:r>
            </a:p>
          </p:txBody>
        </p:sp>
        <p:sp>
          <p:nvSpPr>
            <p:cNvPr id="33" name="TextBox 33"/>
            <p:cNvSpPr txBox="1"/>
            <p:nvPr/>
          </p:nvSpPr>
          <p:spPr>
            <a:xfrm>
              <a:off x="8366011" y="3358991"/>
              <a:ext cx="451079" cy="161925"/>
            </a:xfrm>
            <a:prstGeom prst="rect">
              <a:avLst/>
            </a:prstGeom>
            <a:noFill/>
            <a:ln>
              <a:noFill/>
            </a:ln>
          </p:spPr>
          <p:txBody>
            <a:bodyPr wrap="none" lIns="0" tIns="0" rIns="0" bIns="0" anchor="t" anchorCtr="0">
              <a:spAutoFit/>
            </a:bodyPr>
            <a:lstStyle/>
            <a:p>
              <a:pPr algn="ctr"/>
              <a:r>
                <a:rPr lang="zh-CN" sz="820" dirty="0">
                  <a:solidFill>
                    <a:schemeClr val="dk1"/>
                  </a:solidFill>
                  <a:latin typeface="+mn-lt"/>
                  <a:ea typeface="+mn-ea"/>
                  <a:cs typeface="+mn-cs"/>
                </a:rPr>
                <a:t>参观人数</a:t>
              </a:r>
            </a:p>
          </p:txBody>
        </p:sp>
        <p:sp>
          <p:nvSpPr>
            <p:cNvPr id="34" name="TextBox 34"/>
            <p:cNvSpPr txBox="1"/>
            <p:nvPr/>
          </p:nvSpPr>
          <p:spPr>
            <a:xfrm>
              <a:off x="8302537" y="3511391"/>
              <a:ext cx="578025" cy="161925"/>
            </a:xfrm>
            <a:prstGeom prst="rect">
              <a:avLst/>
            </a:prstGeom>
            <a:noFill/>
            <a:ln>
              <a:noFill/>
            </a:ln>
          </p:spPr>
          <p:txBody>
            <a:bodyPr wrap="none" lIns="0" tIns="0" rIns="0" bIns="0" anchor="t" anchorCtr="0">
              <a:spAutoFit/>
            </a:bodyPr>
            <a:lstStyle/>
            <a:p>
              <a:pPr algn="ctr"/>
              <a:r>
                <a:rPr lang="zh-CN" sz="820" dirty="0">
                  <a:solidFill>
                    <a:schemeClr val="dk1"/>
                  </a:solidFill>
                  <a:latin typeface="+mn-lt"/>
                  <a:ea typeface="+mn-ea"/>
                  <a:cs typeface="+mn-cs"/>
                </a:rPr>
                <a:t>第 6 届上海</a:t>
              </a:r>
            </a:p>
          </p:txBody>
        </p:sp>
        <p:sp>
          <p:nvSpPr>
            <p:cNvPr id="35" name="TextBox 35"/>
            <p:cNvSpPr txBox="1"/>
            <p:nvPr/>
          </p:nvSpPr>
          <p:spPr>
            <a:xfrm>
              <a:off x="9520047" y="3114199"/>
              <a:ext cx="787289" cy="190690"/>
            </a:xfrm>
            <a:prstGeom prst="rect">
              <a:avLst/>
            </a:prstGeom>
            <a:noFill/>
            <a:ln>
              <a:noFill/>
            </a:ln>
          </p:spPr>
          <p:txBody>
            <a:bodyPr wrap="none" lIns="0" tIns="0" rIns="0" bIns="0" anchor="t" anchorCtr="0">
              <a:spAutoFit/>
            </a:bodyPr>
            <a:lstStyle/>
            <a:p>
              <a:pPr algn="l"/>
              <a:r>
                <a:rPr lang="zh-CN" sz="980" b="1" dirty="0">
                  <a:solidFill>
                    <a:srgbClr val="F5EFE0"/>
                  </a:solidFill>
                  <a:latin typeface="+mn-lt"/>
                  <a:ea typeface="+mn-ea"/>
                  <a:cs typeface="+mn-cs"/>
                </a:rPr>
                <a:t>→ 第一影响力</a:t>
              </a:r>
            </a:p>
          </p:txBody>
        </p:sp>
        <p:sp>
          <p:nvSpPr>
            <p:cNvPr id="36" name="TextBox 36"/>
            <p:cNvSpPr txBox="1"/>
            <p:nvPr/>
          </p:nvSpPr>
          <p:spPr>
            <a:xfrm>
              <a:off x="9520238" y="3320891"/>
              <a:ext cx="561467" cy="161925"/>
            </a:xfrm>
            <a:prstGeom prst="rect">
              <a:avLst/>
            </a:prstGeom>
            <a:noFill/>
            <a:ln>
              <a:noFill/>
            </a:ln>
          </p:spPr>
          <p:txBody>
            <a:bodyPr wrap="none" lIns="0" tIns="0" rIns="0" bIns="0" anchor="t" anchorCtr="0">
              <a:spAutoFit/>
            </a:bodyPr>
            <a:lstStyle/>
            <a:p>
              <a:pPr algn="l"/>
              <a:r>
                <a:rPr lang="zh-CN" sz="820" dirty="0">
                  <a:solidFill>
                    <a:srgbClr val="F5EFE0"/>
                  </a:solidFill>
                  <a:latin typeface="+mn-lt"/>
                  <a:ea typeface="+mn-ea"/>
                  <a:cs typeface="+mn-cs"/>
                </a:rPr>
                <a:t>独立出版圈</a:t>
              </a:r>
            </a:p>
          </p:txBody>
        </p:sp>
        <p:sp>
          <p:nvSpPr>
            <p:cNvPr id="37" name="TextBox 37"/>
            <p:cNvSpPr txBox="1"/>
            <p:nvPr/>
          </p:nvSpPr>
          <p:spPr>
            <a:xfrm>
              <a:off x="9520238" y="3454241"/>
              <a:ext cx="561467" cy="161925"/>
            </a:xfrm>
            <a:prstGeom prst="rect">
              <a:avLst/>
            </a:prstGeom>
            <a:noFill/>
            <a:ln>
              <a:noFill/>
            </a:ln>
          </p:spPr>
          <p:txBody>
            <a:bodyPr wrap="none" lIns="0" tIns="0" rIns="0" bIns="0" anchor="t" anchorCtr="0">
              <a:spAutoFit/>
            </a:bodyPr>
            <a:lstStyle/>
            <a:p>
              <a:pPr algn="l"/>
              <a:r>
                <a:rPr lang="zh-CN" sz="820" dirty="0">
                  <a:solidFill>
                    <a:srgbClr val="F5EFE0"/>
                  </a:solidFill>
                  <a:latin typeface="+mn-lt"/>
                  <a:ea typeface="+mn-ea"/>
                  <a:cs typeface="+mn-cs"/>
                </a:rPr>
                <a:t>年度风向标</a:t>
              </a:r>
            </a:p>
          </p:txBody>
        </p:sp>
      </p:grpSp>
      <p:grpSp>
        <p:nvGrpSpPr>
          <p:cNvPr id="58" name="Group 58"/>
          <p:cNvGrpSpPr/>
          <p:nvPr/>
        </p:nvGrpSpPr>
        <p:grpSpPr>
          <a:xfrm>
            <a:off x="4381500" y="4038600"/>
            <a:ext cx="7267575" cy="2257425"/>
            <a:chOff x="4381500" y="4038600"/>
            <a:chExt cx="7267575" cy="2257425"/>
          </a:xfrm>
        </p:grpSpPr>
        <p:sp>
          <p:nvSpPr>
            <p:cNvPr id="39" name="Rectangle 39"/>
            <p:cNvSpPr/>
            <p:nvPr/>
          </p:nvSpPr>
          <p:spPr>
            <a:xfrm>
              <a:off x="4381500" y="4038600"/>
              <a:ext cx="7239000" cy="2228850"/>
            </a:xfrm>
            <a:prstGeom prst="rect">
              <a:avLst/>
            </a:prstGeom>
            <a:solidFill>
              <a:schemeClr val="dk1"/>
            </a:solidFill>
            <a:ln>
              <a:noFill/>
            </a:ln>
          </p:spPr>
        </p:sp>
        <p:sp>
          <p:nvSpPr>
            <p:cNvPr id="40" name="Rectangle 40"/>
            <p:cNvSpPr/>
            <p:nvPr/>
          </p:nvSpPr>
          <p:spPr>
            <a:xfrm>
              <a:off x="4410075" y="4067175"/>
              <a:ext cx="7239000" cy="2228850"/>
            </a:xfrm>
            <a:prstGeom prst="rect">
              <a:avLst/>
            </a:prstGeom>
            <a:solidFill>
              <a:schemeClr val="accent1">
                <a:alpha val="55000"/>
              </a:schemeClr>
            </a:solidFill>
            <a:ln>
              <a:noFill/>
            </a:ln>
          </p:spPr>
        </p:sp>
        <p:sp>
          <p:nvSpPr>
            <p:cNvPr id="41" name="Rectangle 41"/>
            <p:cNvSpPr/>
            <p:nvPr/>
          </p:nvSpPr>
          <p:spPr>
            <a:xfrm>
              <a:off x="4381500" y="4038600"/>
              <a:ext cx="7239000" cy="2228850"/>
            </a:xfrm>
            <a:prstGeom prst="rect">
              <a:avLst/>
            </a:prstGeom>
            <a:solidFill>
              <a:schemeClr val="dk1"/>
            </a:solidFill>
            <a:ln>
              <a:noFill/>
            </a:ln>
          </p:spPr>
        </p:sp>
        <p:sp>
          <p:nvSpPr>
            <p:cNvPr id="42" name="Rectangle 42"/>
            <p:cNvSpPr/>
            <p:nvPr/>
          </p:nvSpPr>
          <p:spPr>
            <a:xfrm>
              <a:off x="4381500" y="4038600"/>
              <a:ext cx="3048000" cy="476250"/>
            </a:xfrm>
            <a:prstGeom prst="rect">
              <a:avLst/>
            </a:prstGeom>
            <a:solidFill>
              <a:schemeClr val="accent2"/>
            </a:solidFill>
            <a:ln>
              <a:noFill/>
            </a:ln>
          </p:spPr>
        </p:sp>
        <p:sp>
          <p:nvSpPr>
            <p:cNvPr id="43" name="TextBox 43"/>
            <p:cNvSpPr txBox="1"/>
            <p:nvPr/>
          </p:nvSpPr>
          <p:spPr>
            <a:xfrm>
              <a:off x="4561332" y="4135755"/>
              <a:ext cx="2694737" cy="410718"/>
            </a:xfrm>
            <a:prstGeom prst="rect">
              <a:avLst/>
            </a:prstGeom>
            <a:noFill/>
            <a:ln>
              <a:noFill/>
            </a:ln>
          </p:spPr>
          <p:txBody>
            <a:bodyPr wrap="none" lIns="0" tIns="0" rIns="0" bIns="0" anchor="t" anchorCtr="0">
              <a:spAutoFit/>
            </a:bodyPr>
            <a:lstStyle/>
            <a:p>
              <a:pPr algn="l"/>
              <a:r>
                <a:rPr lang="zh-CN" sz="2100" spc="150" dirty="0">
                  <a:solidFill>
                    <a:srgbClr val="F5EFE0"/>
                  </a:solidFill>
                  <a:latin typeface="+mj-lt"/>
                  <a:ea typeface="+mj-ea"/>
                  <a:cs typeface="+mj-cs"/>
                </a:rPr>
                <a:t>UNFOLD SHANGHAI</a:t>
              </a:r>
            </a:p>
          </p:txBody>
        </p:sp>
        <p:sp>
          <p:nvSpPr>
            <p:cNvPr id="44" name="TextBox 44"/>
            <p:cNvSpPr txBox="1"/>
            <p:nvPr/>
          </p:nvSpPr>
          <p:spPr>
            <a:xfrm>
              <a:off x="9910991" y="4265295"/>
              <a:ext cx="1523771" cy="176212"/>
            </a:xfrm>
            <a:prstGeom prst="rect">
              <a:avLst/>
            </a:prstGeom>
            <a:noFill/>
            <a:ln>
              <a:noFill/>
            </a:ln>
          </p:spPr>
          <p:txBody>
            <a:bodyPr wrap="none" lIns="0" tIns="0" rIns="0" bIns="0" anchor="t" anchorCtr="0">
              <a:spAutoFit/>
            </a:bodyPr>
            <a:lstStyle/>
            <a:p>
              <a:pPr algn="r"/>
              <a:r>
                <a:rPr lang="zh-CN" sz="900" spc="150" dirty="0">
                  <a:solidFill>
                    <a:schemeClr val="accent1"/>
                  </a:solidFill>
                  <a:latin typeface="Consolas"/>
                  <a:ea typeface="Microsoft YaHei"/>
                  <a:cs typeface="Consolas"/>
                </a:rPr>
                <a:t>紧随 abC · 一周后开幕</a:t>
              </a:r>
            </a:p>
          </p:txBody>
        </p:sp>
        <p:sp>
          <p:nvSpPr>
            <p:cNvPr id="45" name="TextBox 45"/>
            <p:cNvSpPr txBox="1"/>
            <p:nvPr/>
          </p:nvSpPr>
          <p:spPr>
            <a:xfrm>
              <a:off x="4565523" y="4682014"/>
              <a:ext cx="3817437" cy="249364"/>
            </a:xfrm>
            <a:prstGeom prst="rect">
              <a:avLst/>
            </a:prstGeom>
            <a:noFill/>
            <a:ln>
              <a:noFill/>
            </a:ln>
          </p:spPr>
          <p:txBody>
            <a:bodyPr wrap="none" lIns="0" tIns="0" rIns="0" bIns="0" anchor="t" anchorCtr="0">
              <a:spAutoFit/>
            </a:bodyPr>
            <a:lstStyle/>
            <a:p>
              <a:pPr algn="l"/>
              <a:r>
                <a:rPr lang="zh-CN" sz="1280" b="1" dirty="0">
                  <a:solidFill>
                    <a:srgbClr val="F5EFE0"/>
                  </a:solidFill>
                  <a:latin typeface="+mn-lt"/>
                  <a:ea typeface="+mn-ea"/>
                  <a:cs typeface="+mn-cs"/>
                </a:rPr>
                <a:t>UNFOLD Shanghai Art Book Fair · 第二影响力</a:t>
              </a:r>
            </a:p>
          </p:txBody>
        </p:sp>
        <p:sp>
          <p:nvSpPr>
            <p:cNvPr id="46" name="TextBox 46"/>
            <p:cNvSpPr txBox="1"/>
            <p:nvPr/>
          </p:nvSpPr>
          <p:spPr>
            <a:xfrm>
              <a:off x="4566666" y="4973002"/>
              <a:ext cx="3734733" cy="205359"/>
            </a:xfrm>
            <a:prstGeom prst="rect">
              <a:avLst/>
            </a:prstGeom>
            <a:noFill/>
            <a:ln>
              <a:noFill/>
            </a:ln>
          </p:spPr>
          <p:txBody>
            <a:bodyPr wrap="none" lIns="0" tIns="0" rIns="0" bIns="0" anchor="t" anchorCtr="0">
              <a:spAutoFit/>
            </a:bodyPr>
            <a:lstStyle/>
            <a:p>
              <a:pPr algn="l"/>
              <a:r>
                <a:rPr lang="zh-CN" sz="1050" dirty="0">
                  <a:solidFill>
                    <a:srgbClr val="F5EFE0"/>
                  </a:solidFill>
                  <a:latin typeface="+mn-lt"/>
                  <a:ea typeface="+mn-ea"/>
                  <a:cs typeface="+mn-cs"/>
                </a:rPr>
                <a:t>摊位费更高 · 客流更大 · 票价更亲民 · 国际 Nieves 等参展</a:t>
              </a:r>
            </a:p>
          </p:txBody>
        </p:sp>
        <p:sp>
          <p:nvSpPr>
            <p:cNvPr id="47" name="Rectangle 47"/>
            <p:cNvSpPr/>
            <p:nvPr/>
          </p:nvSpPr>
          <p:spPr>
            <a:xfrm>
              <a:off x="4572000" y="5314950"/>
              <a:ext cx="2228850" cy="742950"/>
            </a:xfrm>
            <a:prstGeom prst="rect">
              <a:avLst/>
            </a:prstGeom>
            <a:solidFill>
              <a:schemeClr val="accent1"/>
            </a:solidFill>
            <a:ln>
              <a:noFill/>
            </a:ln>
          </p:spPr>
        </p:sp>
        <p:sp>
          <p:nvSpPr>
            <p:cNvPr id="48" name="TextBox 48"/>
            <p:cNvSpPr txBox="1"/>
            <p:nvPr/>
          </p:nvSpPr>
          <p:spPr>
            <a:xfrm>
              <a:off x="4929911" y="5363528"/>
              <a:ext cx="1513027" cy="498729"/>
            </a:xfrm>
            <a:prstGeom prst="rect">
              <a:avLst/>
            </a:prstGeom>
            <a:noFill/>
            <a:ln>
              <a:noFill/>
            </a:ln>
          </p:spPr>
          <p:txBody>
            <a:bodyPr wrap="none" lIns="0" tIns="0" rIns="0" bIns="0" anchor="t" anchorCtr="0">
              <a:spAutoFit/>
            </a:bodyPr>
            <a:lstStyle/>
            <a:p>
              <a:pPr algn="ctr"/>
              <a:r>
                <a:rPr lang="zh-CN" sz="2550" dirty="0">
                  <a:solidFill>
                    <a:srgbClr val="F5EFE0"/>
                  </a:solidFill>
                  <a:latin typeface="+mj-lt"/>
                  <a:ea typeface="+mj-ea"/>
                  <a:cs typeface="+mj-cs"/>
                </a:rPr>
                <a:t>+ 1 WEEK</a:t>
              </a:r>
            </a:p>
          </p:txBody>
        </p:sp>
        <p:sp>
          <p:nvSpPr>
            <p:cNvPr id="49" name="TextBox 49"/>
            <p:cNvSpPr txBox="1"/>
            <p:nvPr/>
          </p:nvSpPr>
          <p:spPr>
            <a:xfrm>
              <a:off x="5217719" y="5778341"/>
              <a:ext cx="937412" cy="161925"/>
            </a:xfrm>
            <a:prstGeom prst="rect">
              <a:avLst/>
            </a:prstGeom>
            <a:noFill/>
            <a:ln>
              <a:noFill/>
            </a:ln>
          </p:spPr>
          <p:txBody>
            <a:bodyPr wrap="none" lIns="0" tIns="0" rIns="0" bIns="0" anchor="t" anchorCtr="0">
              <a:spAutoFit/>
            </a:bodyPr>
            <a:lstStyle/>
            <a:p>
              <a:pPr algn="ctr"/>
              <a:r>
                <a:rPr lang="zh-CN" sz="820" dirty="0">
                  <a:solidFill>
                    <a:srgbClr val="F5EFE0"/>
                  </a:solidFill>
                  <a:latin typeface="+mn-lt"/>
                  <a:ea typeface="+mn-ea"/>
                  <a:cs typeface="+mn-cs"/>
                </a:rPr>
                <a:t>在 abC 上海站之后</a:t>
              </a:r>
            </a:p>
          </p:txBody>
        </p:sp>
        <p:sp>
          <p:nvSpPr>
            <p:cNvPr id="50" name="TextBox 50"/>
            <p:cNvSpPr txBox="1"/>
            <p:nvPr/>
          </p:nvSpPr>
          <p:spPr>
            <a:xfrm>
              <a:off x="5295303" y="5911691"/>
              <a:ext cx="782244" cy="161925"/>
            </a:xfrm>
            <a:prstGeom prst="rect">
              <a:avLst/>
            </a:prstGeom>
            <a:noFill/>
            <a:ln>
              <a:noFill/>
            </a:ln>
          </p:spPr>
          <p:txBody>
            <a:bodyPr wrap="none" lIns="0" tIns="0" rIns="0" bIns="0" anchor="t" anchorCtr="0">
              <a:spAutoFit/>
            </a:bodyPr>
            <a:lstStyle/>
            <a:p>
              <a:pPr algn="ctr"/>
              <a:r>
                <a:rPr lang="zh-CN" sz="820" dirty="0">
                  <a:solidFill>
                    <a:srgbClr val="F5EFE0"/>
                  </a:solidFill>
                  <a:latin typeface="+mn-lt"/>
                  <a:ea typeface="+mn-ea"/>
                  <a:cs typeface="+mn-cs"/>
                </a:rPr>
                <a:t>一周内连贯发生</a:t>
              </a:r>
            </a:p>
          </p:txBody>
        </p:sp>
        <p:sp>
          <p:nvSpPr>
            <p:cNvPr id="51" name="Rectangle 51"/>
            <p:cNvSpPr/>
            <p:nvPr/>
          </p:nvSpPr>
          <p:spPr>
            <a:xfrm>
              <a:off x="6953250" y="5314950"/>
              <a:ext cx="2228850" cy="742950"/>
            </a:xfrm>
            <a:prstGeom prst="rect">
              <a:avLst/>
            </a:prstGeom>
            <a:solidFill>
              <a:schemeClr val="accent2"/>
            </a:solidFill>
            <a:ln>
              <a:noFill/>
            </a:ln>
          </p:spPr>
        </p:sp>
        <p:sp>
          <p:nvSpPr>
            <p:cNvPr id="52" name="TextBox 52"/>
            <p:cNvSpPr txBox="1"/>
            <p:nvPr/>
          </p:nvSpPr>
          <p:spPr>
            <a:xfrm>
              <a:off x="7302094" y="5363528"/>
              <a:ext cx="1531163" cy="498729"/>
            </a:xfrm>
            <a:prstGeom prst="rect">
              <a:avLst/>
            </a:prstGeom>
            <a:noFill/>
            <a:ln>
              <a:noFill/>
            </a:ln>
          </p:spPr>
          <p:txBody>
            <a:bodyPr wrap="none" lIns="0" tIns="0" rIns="0" bIns="0" anchor="t" anchorCtr="0">
              <a:spAutoFit/>
            </a:bodyPr>
            <a:lstStyle/>
            <a:p>
              <a:pPr algn="ctr"/>
              <a:r>
                <a:rPr lang="zh-CN" sz="2550" dirty="0">
                  <a:solidFill>
                    <a:srgbClr val="F5EFE0"/>
                  </a:solidFill>
                  <a:latin typeface="+mj-lt"/>
                  <a:ea typeface="+mj-ea"/>
                  <a:cs typeface="+mj-cs"/>
                </a:rPr>
                <a:t>SHANGHAI</a:t>
              </a:r>
            </a:p>
          </p:txBody>
        </p:sp>
        <p:sp>
          <p:nvSpPr>
            <p:cNvPr id="53" name="TextBox 53"/>
            <p:cNvSpPr txBox="1"/>
            <p:nvPr/>
          </p:nvSpPr>
          <p:spPr>
            <a:xfrm>
              <a:off x="7621359" y="5778341"/>
              <a:ext cx="892632" cy="161925"/>
            </a:xfrm>
            <a:prstGeom prst="rect">
              <a:avLst/>
            </a:prstGeom>
            <a:noFill/>
            <a:ln>
              <a:noFill/>
            </a:ln>
          </p:spPr>
          <p:txBody>
            <a:bodyPr wrap="none" lIns="0" tIns="0" rIns="0" bIns="0" anchor="t" anchorCtr="0">
              <a:spAutoFit/>
            </a:bodyPr>
            <a:lstStyle/>
            <a:p>
              <a:pPr algn="ctr"/>
              <a:r>
                <a:rPr lang="zh-CN" sz="820" dirty="0">
                  <a:solidFill>
                    <a:srgbClr val="F5EFE0"/>
                  </a:solidFill>
                  <a:latin typeface="+mn-lt"/>
                  <a:ea typeface="+mn-ea"/>
                  <a:cs typeface="+mn-cs"/>
                </a:rPr>
                <a:t>承办中国最多书展</a:t>
              </a:r>
            </a:p>
          </p:txBody>
        </p:sp>
        <p:sp>
          <p:nvSpPr>
            <p:cNvPr id="54" name="TextBox 54"/>
            <p:cNvSpPr txBox="1"/>
            <p:nvPr/>
          </p:nvSpPr>
          <p:spPr>
            <a:xfrm>
              <a:off x="7786942" y="5911691"/>
              <a:ext cx="561467" cy="161925"/>
            </a:xfrm>
            <a:prstGeom prst="rect">
              <a:avLst/>
            </a:prstGeom>
            <a:noFill/>
            <a:ln>
              <a:noFill/>
            </a:ln>
          </p:spPr>
          <p:txBody>
            <a:bodyPr wrap="none" lIns="0" tIns="0" rIns="0" bIns="0" anchor="t" anchorCtr="0">
              <a:spAutoFit/>
            </a:bodyPr>
            <a:lstStyle/>
            <a:p>
              <a:pPr algn="ctr"/>
              <a:r>
                <a:rPr lang="zh-CN" sz="820" dirty="0">
                  <a:solidFill>
                    <a:srgbClr val="F5EFE0"/>
                  </a:solidFill>
                  <a:latin typeface="+mn-lt"/>
                  <a:ea typeface="+mn-ea"/>
                  <a:cs typeface="+mn-cs"/>
                </a:rPr>
                <a:t>每年的城市</a:t>
              </a:r>
            </a:p>
          </p:txBody>
        </p:sp>
        <p:sp>
          <p:nvSpPr>
            <p:cNvPr id="55" name="TextBox 55"/>
            <p:cNvSpPr txBox="1"/>
            <p:nvPr/>
          </p:nvSpPr>
          <p:spPr>
            <a:xfrm>
              <a:off x="9367647" y="5533549"/>
              <a:ext cx="655362" cy="190690"/>
            </a:xfrm>
            <a:prstGeom prst="rect">
              <a:avLst/>
            </a:prstGeom>
            <a:noFill/>
            <a:ln>
              <a:noFill/>
            </a:ln>
          </p:spPr>
          <p:txBody>
            <a:bodyPr wrap="none" lIns="0" tIns="0" rIns="0" bIns="0" anchor="t" anchorCtr="0">
              <a:spAutoFit/>
            </a:bodyPr>
            <a:lstStyle/>
            <a:p>
              <a:pPr algn="l"/>
              <a:r>
                <a:rPr lang="zh-CN" sz="980" b="1" dirty="0">
                  <a:solidFill>
                    <a:schemeClr val="accent2"/>
                  </a:solidFill>
                  <a:latin typeface="+mn-lt"/>
                  <a:ea typeface="+mn-ea"/>
                  <a:cs typeface="+mn-cs"/>
                </a:rPr>
                <a:t>→ 实用建议</a:t>
              </a:r>
            </a:p>
          </p:txBody>
        </p:sp>
        <p:sp>
          <p:nvSpPr>
            <p:cNvPr id="56" name="TextBox 56"/>
            <p:cNvSpPr txBox="1"/>
            <p:nvPr/>
          </p:nvSpPr>
          <p:spPr>
            <a:xfrm>
              <a:off x="9367838" y="5740241"/>
              <a:ext cx="594584" cy="161925"/>
            </a:xfrm>
            <a:prstGeom prst="rect">
              <a:avLst/>
            </a:prstGeom>
            <a:noFill/>
            <a:ln>
              <a:noFill/>
            </a:ln>
          </p:spPr>
          <p:txBody>
            <a:bodyPr wrap="none" lIns="0" tIns="0" rIns="0" bIns="0" anchor="t" anchorCtr="0">
              <a:spAutoFit/>
            </a:bodyPr>
            <a:lstStyle/>
            <a:p>
              <a:pPr algn="l"/>
              <a:r>
                <a:rPr lang="zh-CN" sz="820" dirty="0">
                  <a:solidFill>
                    <a:srgbClr val="F5EFE0"/>
                  </a:solidFill>
                  <a:latin typeface="+mn-lt"/>
                  <a:ea typeface="+mn-ea"/>
                  <a:cs typeface="+mn-cs"/>
                </a:rPr>
                <a:t>两周连开 ＝</a:t>
              </a:r>
            </a:p>
          </p:txBody>
        </p:sp>
        <p:sp>
          <p:nvSpPr>
            <p:cNvPr id="57" name="TextBox 57"/>
            <p:cNvSpPr txBox="1"/>
            <p:nvPr/>
          </p:nvSpPr>
          <p:spPr>
            <a:xfrm>
              <a:off x="9367838" y="5873591"/>
              <a:ext cx="671855" cy="161925"/>
            </a:xfrm>
            <a:prstGeom prst="rect">
              <a:avLst/>
            </a:prstGeom>
            <a:noFill/>
            <a:ln>
              <a:noFill/>
            </a:ln>
          </p:spPr>
          <p:txBody>
            <a:bodyPr wrap="none" lIns="0" tIns="0" rIns="0" bIns="0" anchor="t" anchorCtr="0">
              <a:spAutoFit/>
            </a:bodyPr>
            <a:lstStyle/>
            <a:p>
              <a:pPr algn="l"/>
              <a:r>
                <a:rPr lang="zh-CN" sz="820" dirty="0">
                  <a:solidFill>
                    <a:srgbClr val="F5EFE0"/>
                  </a:solidFill>
                  <a:latin typeface="+mn-lt"/>
                  <a:ea typeface="+mn-ea"/>
                  <a:cs typeface="+mn-cs"/>
                </a:rPr>
                <a:t>上海双周朝圣</a:t>
              </a:r>
            </a:p>
          </p:txBody>
        </p:sp>
      </p:grpSp>
      <p:grpSp>
        <p:nvGrpSpPr>
          <p:cNvPr id="62" name="Group 62"/>
          <p:cNvGrpSpPr/>
          <p:nvPr/>
        </p:nvGrpSpPr>
        <p:grpSpPr>
          <a:xfrm>
            <a:off x="566738" y="6572250"/>
            <a:ext cx="11058525" cy="244316"/>
            <a:chOff x="566738" y="6572250"/>
            <a:chExt cx="11058525" cy="244316"/>
          </a:xfrm>
        </p:grpSpPr>
        <p:sp>
          <p:nvSpPr>
            <p:cNvPr id="59" name="Line 59"/>
            <p:cNvSpPr/>
            <p:nvPr/>
          </p:nvSpPr>
          <p:spPr>
            <a:xfrm>
              <a:off x="571500" y="6572250"/>
              <a:ext cx="11049000" cy="9525"/>
            </a:xfrm>
            <a:custGeom>
              <a:avLst/>
              <a:gdLst/>
              <a:ahLst/>
              <a:cxnLst/>
              <a:rect l="l" t="t" r="r" b="b"/>
              <a:pathLst>
                <a:path w="11049000" h="9525">
                  <a:moveTo>
                    <a:pt x="0" y="0"/>
                  </a:moveTo>
                  <a:lnTo>
                    <a:pt x="11049000" y="0"/>
                  </a:lnTo>
                </a:path>
              </a:pathLst>
            </a:custGeom>
            <a:noFill/>
            <a:ln w="9525">
              <a:solidFill>
                <a:schemeClr val="accent4"/>
              </a:solidFill>
            </a:ln>
          </p:spPr>
        </p:sp>
        <p:sp>
          <p:nvSpPr>
            <p:cNvPr id="60" name="TextBox 60"/>
            <p:cNvSpPr txBox="1"/>
            <p:nvPr/>
          </p:nvSpPr>
          <p:spPr>
            <a:xfrm>
              <a:off x="566738" y="6654641"/>
              <a:ext cx="2445812" cy="161925"/>
            </a:xfrm>
            <a:prstGeom prst="rect">
              <a:avLst/>
            </a:prstGeom>
            <a:noFill/>
            <a:ln>
              <a:noFill/>
            </a:ln>
          </p:spPr>
          <p:txBody>
            <a:bodyPr wrap="none" lIns="0" tIns="0" rIns="0" bIns="0" anchor="t" anchorCtr="0">
              <a:spAutoFit/>
            </a:bodyPr>
            <a:lstStyle/>
            <a:p>
              <a:pPr algn="l"/>
              <a:r>
                <a:rPr lang="zh-CN" sz="820" spc="150" dirty="0">
                  <a:solidFill>
                    <a:schemeClr val="dk2"/>
                  </a:solidFill>
                  <a:latin typeface="Consolas"/>
                  <a:ea typeface="Consolas"/>
                  <a:cs typeface="Consolas"/>
                </a:rPr>
                <a:t>P13 · CHINA ART BOOK FAIR TWINS</a:t>
              </a:r>
            </a:p>
          </p:txBody>
        </p:sp>
        <p:sp>
          <p:nvSpPr>
            <p:cNvPr id="61" name="TextBox 61"/>
            <p:cNvSpPr txBox="1"/>
            <p:nvPr/>
          </p:nvSpPr>
          <p:spPr>
            <a:xfrm>
              <a:off x="8972829" y="6654641"/>
              <a:ext cx="2652434" cy="161925"/>
            </a:xfrm>
            <a:prstGeom prst="rect">
              <a:avLst/>
            </a:prstGeom>
            <a:noFill/>
            <a:ln>
              <a:noFill/>
            </a:ln>
          </p:spPr>
          <p:txBody>
            <a:bodyPr wrap="none" lIns="0" tIns="0" rIns="0" bIns="0" anchor="t" anchorCtr="0">
              <a:spAutoFit/>
            </a:bodyPr>
            <a:lstStyle/>
            <a:p>
              <a:pPr algn="r"/>
              <a:r>
                <a:rPr lang="zh-CN" sz="820" spc="150" dirty="0">
                  <a:solidFill>
                    <a:schemeClr val="dk2"/>
                  </a:solidFill>
                  <a:latin typeface="Consolas"/>
                  <a:ea typeface="Microsoft YaHei"/>
                  <a:cs typeface="Consolas"/>
                </a:rPr>
                <a:t>abC FIRST · UNFOLD AFTER · 上海双周</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22" presetClass="entr" presetSubtype="4"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down)">
                                      <p:cBhvr>
                                        <p:cTn id="7" dur="500"/>
                                        <p:tgtEl>
                                          <p:spTgt spid="14"/>
                                        </p:tgtEl>
                                      </p:cBhvr>
                                    </p:animEffect>
                                  </p:childTnLst>
                                </p:cTn>
                              </p:par>
                            </p:childTnLst>
                          </p:cTn>
                        </p:par>
                        <p:par>
                          <p:cTn id="8" fill="hold">
                            <p:stCondLst>
                              <p:cond delay="500"/>
                            </p:stCondLst>
                            <p:childTnLst>
                              <p:par>
                                <p:cTn xmlns:p="http://schemas.openxmlformats.org/presentationml/2006/main" id="9" presetID="10" presetClass="entr" presetSubtype="0" fill="hold" grpId="0" nodeType="afterEffect">
                                  <p:stCondLst>
                                    <p:cond delay="200"/>
                                  </p:stCondLst>
                                  <p:childTnLst>
                                    <p:set>
                                      <p:cBhvr>
                                        <p:cTn id="10" dur="1" fill="hold">
                                          <p:stCondLst>
                                            <p:cond delay="0"/>
                                          </p:stCondLst>
                                        </p:cTn>
                                        <p:tgtEl>
                                          <p:spTgt spid="38"/>
                                        </p:tgtEl>
                                        <p:attrNameLst>
                                          <p:attrName>style.visibility</p:attrName>
                                        </p:attrNameLst>
                                      </p:cBhvr>
                                      <p:to>
                                        <p:strVal val="visible"/>
                                      </p:to>
                                    </p:set>
                                    <p:animEffect transition="in" filter="fade">
                                      <p:cBhvr>
                                        <p:cTn id="11" dur="400"/>
                                        <p:tgtEl>
                                          <p:spTgt spid="38"/>
                                        </p:tgtEl>
                                      </p:cBhvr>
                                    </p:animEffect>
                                  </p:childTnLst>
                                </p:cTn>
                              </p:par>
                            </p:childTnLst>
                          </p:cTn>
                        </p:par>
                        <p:par>
                          <p:cTn id="12" fill="hold">
                            <p:stCondLst>
                              <p:cond delay="1100"/>
                            </p:stCondLst>
                            <p:childTnLst>
                              <p:par>
                                <p:cTn xmlns:p="http://schemas.openxmlformats.org/presentationml/2006/main" id="13" presetID="10" presetClass="entr" presetSubtype="0" fill="hold" grpId="0" nodeType="afterEffect">
                                  <p:stCondLst>
                                    <p:cond delay="200"/>
                                  </p:stCondLst>
                                  <p:childTnLst>
                                    <p:set>
                                      <p:cBhvr>
                                        <p:cTn id="14" dur="1" fill="hold">
                                          <p:stCondLst>
                                            <p:cond delay="0"/>
                                          </p:stCondLst>
                                        </p:cTn>
                                        <p:tgtEl>
                                          <p:spTgt spid="58"/>
                                        </p:tgtEl>
                                        <p:attrNameLst>
                                          <p:attrName>style.visibility</p:attrName>
                                        </p:attrNameLst>
                                      </p:cBhvr>
                                      <p:to>
                                        <p:strVal val="visible"/>
                                      </p:to>
                                    </p:set>
                                    <p:animEffect transition="in" filter="fade">
                                      <p:cBhvr>
                                        <p:cTn id="15" dur="4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pattFill prst="ltUpDiag">
            <a:fgClr>
              <a:schemeClr val="dk1">
                <a:alpha val="10000"/>
              </a:schemeClr>
            </a:fgClr>
            <a:bgClr>
              <a:srgbClr val="FFFFFF"/>
            </a:bgClr>
          </a:pattFill>
          <a:ln>
            <a:noFill/>
          </a:ln>
        </p:spPr>
      </p:sp>
      <p:grpSp>
        <p:nvGrpSpPr>
          <p:cNvPr id="8" name="Group 8"/>
          <p:cNvGrpSpPr/>
          <p:nvPr/>
        </p:nvGrpSpPr>
        <p:grpSpPr>
          <a:xfrm>
            <a:off x="571500" y="533400"/>
            <a:ext cx="5824113" cy="771239"/>
            <a:chOff x="571500" y="533400"/>
            <a:chExt cx="5824113" cy="771239"/>
          </a:xfrm>
        </p:grpSpPr>
        <p:sp>
          <p:nvSpPr>
            <p:cNvPr id="3" name="Rectangle 3"/>
            <p:cNvSpPr/>
            <p:nvPr/>
          </p:nvSpPr>
          <p:spPr>
            <a:xfrm>
              <a:off x="571500" y="533400"/>
              <a:ext cx="133350" cy="647700"/>
            </a:xfrm>
            <a:prstGeom prst="rect">
              <a:avLst/>
            </a:prstGeom>
            <a:solidFill>
              <a:schemeClr val="accent1"/>
            </a:solidFill>
            <a:ln>
              <a:noFill/>
            </a:ln>
          </p:spPr>
        </p:sp>
        <p:sp>
          <p:nvSpPr>
            <p:cNvPr id="4" name="Rectangle 4"/>
            <p:cNvSpPr/>
            <p:nvPr/>
          </p:nvSpPr>
          <p:spPr>
            <a:xfrm>
              <a:off x="600075" y="561975"/>
              <a:ext cx="133350" cy="647700"/>
            </a:xfrm>
            <a:prstGeom prst="rect">
              <a:avLst/>
            </a:prstGeom>
            <a:solidFill>
              <a:schemeClr val="accent2">
                <a:alpha val="70000"/>
              </a:schemeClr>
            </a:solidFill>
            <a:ln>
              <a:noFill/>
            </a:ln>
          </p:spPr>
        </p:sp>
        <p:sp>
          <p:nvSpPr>
            <p:cNvPr id="5" name="Rectangle 5"/>
            <p:cNvSpPr/>
            <p:nvPr/>
          </p:nvSpPr>
          <p:spPr>
            <a:xfrm>
              <a:off x="571500" y="533400"/>
              <a:ext cx="133350" cy="647700"/>
            </a:xfrm>
            <a:prstGeom prst="rect">
              <a:avLst/>
            </a:prstGeom>
            <a:solidFill>
              <a:schemeClr val="accent1"/>
            </a:solidFill>
            <a:ln>
              <a:noFill/>
            </a:ln>
          </p:spPr>
        </p:sp>
        <p:sp>
          <p:nvSpPr>
            <p:cNvPr id="6" name="TextBox 6"/>
            <p:cNvSpPr txBox="1"/>
            <p:nvPr/>
          </p:nvSpPr>
          <p:spPr>
            <a:xfrm>
              <a:off x="858012" y="544830"/>
              <a:ext cx="2946387" cy="704088"/>
            </a:xfrm>
            <a:prstGeom prst="rect">
              <a:avLst/>
            </a:prstGeom>
            <a:noFill/>
            <a:ln>
              <a:noFill/>
            </a:ln>
          </p:spPr>
          <p:txBody>
            <a:bodyPr wrap="none" lIns="0" tIns="0" rIns="0" bIns="0" anchor="t" anchorCtr="0">
              <a:spAutoFit/>
            </a:bodyPr>
            <a:lstStyle/>
            <a:p>
              <a:pPr algn="l"/>
              <a:r>
                <a:rPr lang="zh-CN" sz="3600" spc="-75" dirty="0">
                  <a:solidFill>
                    <a:schemeClr val="dk1"/>
                  </a:solidFill>
                  <a:latin typeface="+mj-lt"/>
                  <a:ea typeface="+mj-ea"/>
                  <a:cs typeface="+mj-cs"/>
                </a:rPr>
                <a:t>进店前的 4 条</a:t>
              </a:r>
            </a:p>
          </p:txBody>
        </p:sp>
        <p:sp>
          <p:nvSpPr>
            <p:cNvPr id="7" name="TextBox 7"/>
            <p:cNvSpPr txBox="1"/>
            <p:nvPr/>
          </p:nvSpPr>
          <p:spPr>
            <a:xfrm>
              <a:off x="871347" y="1113949"/>
              <a:ext cx="5524266" cy="190690"/>
            </a:xfrm>
            <a:prstGeom prst="rect">
              <a:avLst/>
            </a:prstGeom>
            <a:noFill/>
            <a:ln>
              <a:noFill/>
            </a:ln>
          </p:spPr>
          <p:txBody>
            <a:bodyPr wrap="none" lIns="0" tIns="0" rIns="0" bIns="0" anchor="t" anchorCtr="0">
              <a:spAutoFit/>
            </a:bodyPr>
            <a:lstStyle/>
            <a:p>
              <a:pPr algn="l"/>
              <a:r>
                <a:rPr lang="zh-CN" sz="980" spc="225" dirty="0">
                  <a:solidFill>
                    <a:schemeClr val="dk2"/>
                  </a:solidFill>
                  <a:latin typeface="Consolas"/>
                  <a:ea typeface="Consolas"/>
                  <a:cs typeface="Consolas"/>
                </a:rPr>
                <a:t>HOW TO BROWSE INDIE BOOKSTORES · UNWRITTEN ETIQUETTE</a:t>
              </a:r>
            </a:p>
          </p:txBody>
        </p:sp>
      </p:grpSp>
      <p:sp>
        <p:nvSpPr>
          <p:cNvPr id="9" name="Line 9"/>
          <p:cNvSpPr/>
          <p:nvPr/>
        </p:nvSpPr>
        <p:spPr>
          <a:xfrm>
            <a:off x="571500" y="1447800"/>
            <a:ext cx="11049000" cy="9525"/>
          </a:xfrm>
          <a:custGeom>
            <a:avLst/>
            <a:gdLst/>
            <a:ahLst/>
            <a:cxnLst/>
            <a:rect l="l" t="t" r="r" b="b"/>
            <a:pathLst>
              <a:path w="11049000" h="9525">
                <a:moveTo>
                  <a:pt x="0" y="0"/>
                </a:moveTo>
                <a:lnTo>
                  <a:pt x="11049000" y="0"/>
                </a:lnTo>
              </a:path>
            </a:pathLst>
          </a:custGeom>
          <a:noFill/>
          <a:ln w="28575">
            <a:solidFill>
              <a:schemeClr val="accent4"/>
            </a:solidFill>
          </a:ln>
        </p:spPr>
      </p:sp>
      <p:sp>
        <p:nvSpPr>
          <p:cNvPr id="10" name="Rectangle 10"/>
          <p:cNvSpPr/>
          <p:nvPr/>
        </p:nvSpPr>
        <p:spPr>
          <a:xfrm>
            <a:off x="1143000" y="1905000"/>
            <a:ext cx="57150" cy="4095750"/>
          </a:xfrm>
          <a:prstGeom prst="rect">
            <a:avLst/>
          </a:prstGeom>
          <a:solidFill>
            <a:schemeClr val="accent1"/>
          </a:solidFill>
          <a:ln>
            <a:noFill/>
          </a:ln>
        </p:spPr>
      </p:sp>
      <p:sp>
        <p:nvSpPr>
          <p:cNvPr id="11" name="Rectangle 11"/>
          <p:cNvSpPr/>
          <p:nvPr/>
        </p:nvSpPr>
        <p:spPr>
          <a:xfrm>
            <a:off x="1171575" y="1933575"/>
            <a:ext cx="57150" cy="4095750"/>
          </a:xfrm>
          <a:prstGeom prst="rect">
            <a:avLst/>
          </a:prstGeom>
          <a:solidFill>
            <a:schemeClr val="accent2">
              <a:alpha val="60000"/>
            </a:schemeClr>
          </a:solidFill>
          <a:ln>
            <a:noFill/>
          </a:ln>
        </p:spPr>
      </p:sp>
      <p:sp>
        <p:nvSpPr>
          <p:cNvPr id="12" name="Rectangle 12"/>
          <p:cNvSpPr/>
          <p:nvPr/>
        </p:nvSpPr>
        <p:spPr>
          <a:xfrm>
            <a:off x="1143000" y="1905000"/>
            <a:ext cx="57150" cy="4095750"/>
          </a:xfrm>
          <a:prstGeom prst="rect">
            <a:avLst/>
          </a:prstGeom>
          <a:solidFill>
            <a:schemeClr val="accent1"/>
          </a:solidFill>
          <a:ln>
            <a:noFill/>
          </a:ln>
        </p:spPr>
      </p:sp>
      <p:sp>
        <p:nvSpPr>
          <p:cNvPr id="13" name="Polygon 13"/>
          <p:cNvSpPr/>
          <p:nvPr/>
        </p:nvSpPr>
        <p:spPr>
          <a:xfrm>
            <a:off x="1047750" y="5943600"/>
            <a:ext cx="247650" cy="152400"/>
          </a:xfrm>
          <a:custGeom>
            <a:avLst/>
            <a:gdLst/>
            <a:ahLst/>
            <a:cxnLst/>
            <a:rect l="l" t="t" r="r" b="b"/>
            <a:pathLst>
              <a:path w="247650" h="152400">
                <a:moveTo>
                  <a:pt x="123825" y="152400"/>
                </a:moveTo>
                <a:lnTo>
                  <a:pt x="0" y="0"/>
                </a:lnTo>
                <a:lnTo>
                  <a:pt x="247650" y="0"/>
                </a:lnTo>
                <a:close/>
              </a:path>
            </a:pathLst>
          </a:custGeom>
          <a:solidFill>
            <a:schemeClr val="accent1"/>
          </a:solidFill>
          <a:ln>
            <a:noFill/>
          </a:ln>
        </p:spPr>
      </p:sp>
      <p:grpSp>
        <p:nvGrpSpPr>
          <p:cNvPr id="25" name="Group 25"/>
          <p:cNvGrpSpPr/>
          <p:nvPr/>
        </p:nvGrpSpPr>
        <p:grpSpPr>
          <a:xfrm>
            <a:off x="762000" y="1905000"/>
            <a:ext cx="10858500" cy="892873"/>
            <a:chOff x="762000" y="1905000"/>
            <a:chExt cx="10858500" cy="892873"/>
          </a:xfrm>
        </p:grpSpPr>
        <p:sp>
          <p:nvSpPr>
            <p:cNvPr id="14" name="Rectangle 14"/>
            <p:cNvSpPr/>
            <p:nvPr/>
          </p:nvSpPr>
          <p:spPr>
            <a:xfrm>
              <a:off x="762000" y="1905000"/>
              <a:ext cx="819150" cy="819150"/>
            </a:xfrm>
            <a:prstGeom prst="rect">
              <a:avLst/>
            </a:prstGeom>
            <a:solidFill>
              <a:schemeClr val="accent1"/>
            </a:solidFill>
            <a:ln>
              <a:noFill/>
            </a:ln>
          </p:spPr>
        </p:sp>
        <p:sp>
          <p:nvSpPr>
            <p:cNvPr id="15" name="Rectangle 15"/>
            <p:cNvSpPr/>
            <p:nvPr/>
          </p:nvSpPr>
          <p:spPr>
            <a:xfrm>
              <a:off x="790575" y="1933575"/>
              <a:ext cx="819150" cy="819150"/>
            </a:xfrm>
            <a:prstGeom prst="rect">
              <a:avLst/>
            </a:prstGeom>
            <a:solidFill>
              <a:schemeClr val="accent2">
                <a:alpha val="60000"/>
              </a:schemeClr>
            </a:solidFill>
            <a:ln>
              <a:noFill/>
            </a:ln>
          </p:spPr>
        </p:sp>
        <p:sp>
          <p:nvSpPr>
            <p:cNvPr id="16" name="Rectangle 16"/>
            <p:cNvSpPr/>
            <p:nvPr/>
          </p:nvSpPr>
          <p:spPr>
            <a:xfrm>
              <a:off x="762000" y="1905000"/>
              <a:ext cx="819150" cy="819150"/>
            </a:xfrm>
            <a:prstGeom prst="rect">
              <a:avLst/>
            </a:prstGeom>
            <a:solidFill>
              <a:schemeClr val="accent1"/>
            </a:solidFill>
            <a:ln>
              <a:noFill/>
            </a:ln>
          </p:spPr>
        </p:sp>
        <p:sp>
          <p:nvSpPr>
            <p:cNvPr id="17" name="TextBox 17"/>
            <p:cNvSpPr txBox="1"/>
            <p:nvPr/>
          </p:nvSpPr>
          <p:spPr>
            <a:xfrm>
              <a:off x="898608" y="2123122"/>
              <a:ext cx="545935" cy="674751"/>
            </a:xfrm>
            <a:prstGeom prst="rect">
              <a:avLst/>
            </a:prstGeom>
            <a:noFill/>
            <a:ln>
              <a:noFill/>
            </a:ln>
          </p:spPr>
          <p:txBody>
            <a:bodyPr wrap="none" lIns="0" tIns="0" rIns="0" bIns="0" anchor="t" anchorCtr="0">
              <a:spAutoFit/>
            </a:bodyPr>
            <a:lstStyle/>
            <a:p>
              <a:pPr algn="ctr"/>
              <a:r>
                <a:rPr lang="zh-CN" sz="3450" dirty="0">
                  <a:solidFill>
                    <a:srgbClr val="F5EFE0"/>
                  </a:solidFill>
                  <a:latin typeface="+mj-lt"/>
                  <a:ea typeface="+mj-ea"/>
                  <a:cs typeface="+mj-cs"/>
                </a:rPr>
                <a:t>01</a:t>
              </a:r>
            </a:p>
          </p:txBody>
        </p:sp>
        <p:sp>
          <p:nvSpPr>
            <p:cNvPr id="18" name="Line 18"/>
            <p:cNvSpPr/>
            <p:nvPr/>
          </p:nvSpPr>
          <p:spPr>
            <a:xfrm>
              <a:off x="1581150" y="2314575"/>
              <a:ext cx="323850" cy="9525"/>
            </a:xfrm>
            <a:custGeom>
              <a:avLst/>
              <a:gdLst/>
              <a:ahLst/>
              <a:cxnLst/>
              <a:rect l="l" t="t" r="r" b="b"/>
              <a:pathLst>
                <a:path w="323850" h="9525">
                  <a:moveTo>
                    <a:pt x="0" y="0"/>
                  </a:moveTo>
                  <a:lnTo>
                    <a:pt x="323850" y="0"/>
                  </a:lnTo>
                </a:path>
              </a:pathLst>
            </a:custGeom>
            <a:noFill/>
            <a:ln w="23812">
              <a:solidFill>
                <a:schemeClr val="accent1"/>
              </a:solidFill>
              <a:custDash>
                <a:ds d="160000" sp="120000"/>
              </a:custDash>
            </a:ln>
          </p:spPr>
        </p:sp>
        <p:sp>
          <p:nvSpPr>
            <p:cNvPr id="19" name="Rectangle 19"/>
            <p:cNvSpPr/>
            <p:nvPr/>
          </p:nvSpPr>
          <p:spPr>
            <a:xfrm>
              <a:off x="1905000" y="1905000"/>
              <a:ext cx="9715500" cy="819150"/>
            </a:xfrm>
            <a:prstGeom prst="rect">
              <a:avLst/>
            </a:prstGeom>
            <a:solidFill>
              <a:schemeClr val="lt1"/>
            </a:solidFill>
            <a:ln>
              <a:noFill/>
            </a:ln>
          </p:spPr>
        </p:sp>
        <p:sp>
          <p:nvSpPr>
            <p:cNvPr id="20" name="Rectangle 20"/>
            <p:cNvSpPr/>
            <p:nvPr/>
          </p:nvSpPr>
          <p:spPr>
            <a:xfrm>
              <a:off x="1905000" y="1905000"/>
              <a:ext cx="9715500" cy="819150"/>
            </a:xfrm>
            <a:prstGeom prst="rect">
              <a:avLst/>
            </a:prstGeom>
            <a:noFill/>
            <a:ln w="19050">
              <a:solidFill>
                <a:schemeClr val="accent4"/>
              </a:solidFill>
            </a:ln>
          </p:spPr>
        </p:sp>
        <p:sp>
          <p:nvSpPr>
            <p:cNvPr id="21" name="Rectangle 21"/>
            <p:cNvSpPr/>
            <p:nvPr/>
          </p:nvSpPr>
          <p:spPr>
            <a:xfrm>
              <a:off x="1905000" y="1905000"/>
              <a:ext cx="76200" cy="819150"/>
            </a:xfrm>
            <a:prstGeom prst="rect">
              <a:avLst/>
            </a:prstGeom>
            <a:solidFill>
              <a:schemeClr val="accent1"/>
            </a:solidFill>
            <a:ln>
              <a:noFill/>
            </a:ln>
          </p:spPr>
        </p:sp>
        <p:sp>
          <p:nvSpPr>
            <p:cNvPr id="22" name="Freeform 22"/>
            <p:cNvSpPr/>
            <p:nvPr/>
          </p:nvSpPr>
          <p:spPr>
            <a:xfrm>
              <a:off x="2135958" y="2076450"/>
              <a:ext cx="452485" cy="430337"/>
            </a:xfrm>
            <a:custGeom>
              <a:avLst/>
              <a:gdLst/>
              <a:ahLst/>
              <a:cxnLst/>
              <a:rect l="l" t="t" r="r" b="b"/>
              <a:pathLst>
                <a:path w="452485" h="430337">
                  <a:moveTo>
                    <a:pt x="254817" y="0"/>
                  </a:moveTo>
                  <a:lnTo>
                    <a:pt x="197667" y="0"/>
                  </a:lnTo>
                  <a:lnTo>
                    <a:pt x="155174" y="130782"/>
                  </a:lnTo>
                  <a:lnTo>
                    <a:pt x="17660" y="130783"/>
                  </a:lnTo>
                  <a:lnTo>
                    <a:pt x="0" y="185135"/>
                  </a:lnTo>
                  <a:lnTo>
                    <a:pt x="111251" y="265964"/>
                  </a:lnTo>
                  <a:lnTo>
                    <a:pt x="68757" y="396744"/>
                  </a:lnTo>
                  <a:lnTo>
                    <a:pt x="114993" y="430337"/>
                  </a:lnTo>
                  <a:lnTo>
                    <a:pt x="226243" y="349509"/>
                  </a:lnTo>
                  <a:lnTo>
                    <a:pt x="337493" y="430337"/>
                  </a:lnTo>
                  <a:lnTo>
                    <a:pt x="383727" y="396744"/>
                  </a:lnTo>
                  <a:lnTo>
                    <a:pt x="341234" y="265963"/>
                  </a:lnTo>
                  <a:lnTo>
                    <a:pt x="452485" y="185135"/>
                  </a:lnTo>
                  <a:lnTo>
                    <a:pt x="434822" y="130782"/>
                  </a:lnTo>
                  <a:lnTo>
                    <a:pt x="297311" y="130782"/>
                  </a:lnTo>
                  <a:lnTo>
                    <a:pt x="254817" y="0"/>
                  </a:lnTo>
                  <a:close/>
                </a:path>
              </a:pathLst>
            </a:custGeom>
            <a:solidFill>
              <a:schemeClr val="accent1"/>
            </a:solidFill>
            <a:ln>
              <a:noFill/>
            </a:ln>
          </p:spPr>
        </p:sp>
        <p:sp>
          <p:nvSpPr>
            <p:cNvPr id="23" name="TextBox 23"/>
            <p:cNvSpPr txBox="1"/>
            <p:nvPr/>
          </p:nvSpPr>
          <p:spPr>
            <a:xfrm>
              <a:off x="2734818" y="2107882"/>
              <a:ext cx="1711562"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mn-lt"/>
                  <a:ea typeface="+mn-ea"/>
                  <a:cs typeface="+mn-cs"/>
                </a:rPr>
                <a:t>看选品 ＝ 看店主</a:t>
              </a:r>
            </a:p>
          </p:txBody>
        </p:sp>
        <p:sp>
          <p:nvSpPr>
            <p:cNvPr id="24" name="TextBox 24"/>
            <p:cNvSpPr txBox="1"/>
            <p:nvPr/>
          </p:nvSpPr>
          <p:spPr>
            <a:xfrm>
              <a:off x="2737485" y="2412206"/>
              <a:ext cx="5002063" cy="220028"/>
            </a:xfrm>
            <a:prstGeom prst="rect">
              <a:avLst/>
            </a:prstGeom>
            <a:noFill/>
            <a:ln>
              <a:noFill/>
            </a:ln>
          </p:spPr>
          <p:txBody>
            <a:bodyPr wrap="none" lIns="0" tIns="0" rIns="0" bIns="0" anchor="t" anchorCtr="0">
              <a:spAutoFit/>
            </a:bodyPr>
            <a:lstStyle/>
            <a:p>
              <a:pPr algn="l"/>
              <a:r>
                <a:rPr lang="zh-CN" sz="1120" dirty="0">
                  <a:solidFill>
                    <a:schemeClr val="dk2"/>
                  </a:solidFill>
                  <a:latin typeface="+mn-lt"/>
                  <a:ea typeface="+mn-ea"/>
                  <a:cs typeface="+mn-cs"/>
                </a:rPr>
                <a:t>独立书店的本质是"一个人 / 一群人的精神书架"· 选品就是店主在跟你对话</a:t>
              </a:r>
            </a:p>
          </p:txBody>
        </p:sp>
      </p:grpSp>
      <p:grpSp>
        <p:nvGrpSpPr>
          <p:cNvPr id="37" name="Group 37"/>
          <p:cNvGrpSpPr/>
          <p:nvPr/>
        </p:nvGrpSpPr>
        <p:grpSpPr>
          <a:xfrm>
            <a:off x="762000" y="2971800"/>
            <a:ext cx="10858500" cy="892873"/>
            <a:chOff x="762000" y="2971800"/>
            <a:chExt cx="10858500" cy="892873"/>
          </a:xfrm>
        </p:grpSpPr>
        <p:sp>
          <p:nvSpPr>
            <p:cNvPr id="26" name="Rectangle 26"/>
            <p:cNvSpPr/>
            <p:nvPr/>
          </p:nvSpPr>
          <p:spPr>
            <a:xfrm>
              <a:off x="762000" y="2971800"/>
              <a:ext cx="819150" cy="819150"/>
            </a:xfrm>
            <a:prstGeom prst="rect">
              <a:avLst/>
            </a:prstGeom>
            <a:solidFill>
              <a:schemeClr val="accent2"/>
            </a:solidFill>
            <a:ln>
              <a:noFill/>
            </a:ln>
          </p:spPr>
        </p:sp>
        <p:sp>
          <p:nvSpPr>
            <p:cNvPr id="27" name="Rectangle 27"/>
            <p:cNvSpPr/>
            <p:nvPr/>
          </p:nvSpPr>
          <p:spPr>
            <a:xfrm>
              <a:off x="790575" y="3000375"/>
              <a:ext cx="819150" cy="819150"/>
            </a:xfrm>
            <a:prstGeom prst="rect">
              <a:avLst/>
            </a:prstGeom>
            <a:solidFill>
              <a:schemeClr val="accent1">
                <a:alpha val="60000"/>
              </a:schemeClr>
            </a:solidFill>
            <a:ln>
              <a:noFill/>
            </a:ln>
          </p:spPr>
        </p:sp>
        <p:sp>
          <p:nvSpPr>
            <p:cNvPr id="28" name="Rectangle 28"/>
            <p:cNvSpPr/>
            <p:nvPr/>
          </p:nvSpPr>
          <p:spPr>
            <a:xfrm>
              <a:off x="762000" y="2971800"/>
              <a:ext cx="819150" cy="819150"/>
            </a:xfrm>
            <a:prstGeom prst="rect">
              <a:avLst/>
            </a:prstGeom>
            <a:solidFill>
              <a:schemeClr val="accent2"/>
            </a:solidFill>
            <a:ln>
              <a:noFill/>
            </a:ln>
          </p:spPr>
        </p:sp>
        <p:sp>
          <p:nvSpPr>
            <p:cNvPr id="29" name="TextBox 29"/>
            <p:cNvSpPr txBox="1"/>
            <p:nvPr/>
          </p:nvSpPr>
          <p:spPr>
            <a:xfrm>
              <a:off x="898608" y="3189922"/>
              <a:ext cx="545935" cy="674751"/>
            </a:xfrm>
            <a:prstGeom prst="rect">
              <a:avLst/>
            </a:prstGeom>
            <a:noFill/>
            <a:ln>
              <a:noFill/>
            </a:ln>
          </p:spPr>
          <p:txBody>
            <a:bodyPr wrap="none" lIns="0" tIns="0" rIns="0" bIns="0" anchor="t" anchorCtr="0">
              <a:spAutoFit/>
            </a:bodyPr>
            <a:lstStyle/>
            <a:p>
              <a:pPr algn="ctr"/>
              <a:r>
                <a:rPr lang="zh-CN" sz="3450" dirty="0">
                  <a:solidFill>
                    <a:srgbClr val="F5EFE0"/>
                  </a:solidFill>
                  <a:latin typeface="+mj-lt"/>
                  <a:ea typeface="+mj-ea"/>
                  <a:cs typeface="+mj-cs"/>
                </a:rPr>
                <a:t>02</a:t>
              </a:r>
            </a:p>
          </p:txBody>
        </p:sp>
        <p:sp>
          <p:nvSpPr>
            <p:cNvPr id="30" name="Line 30"/>
            <p:cNvSpPr/>
            <p:nvPr/>
          </p:nvSpPr>
          <p:spPr>
            <a:xfrm>
              <a:off x="1581150" y="3381375"/>
              <a:ext cx="323850" cy="9525"/>
            </a:xfrm>
            <a:custGeom>
              <a:avLst/>
              <a:gdLst/>
              <a:ahLst/>
              <a:cxnLst/>
              <a:rect l="l" t="t" r="r" b="b"/>
              <a:pathLst>
                <a:path w="323850" h="9525">
                  <a:moveTo>
                    <a:pt x="0" y="0"/>
                  </a:moveTo>
                  <a:lnTo>
                    <a:pt x="323850" y="0"/>
                  </a:lnTo>
                </a:path>
              </a:pathLst>
            </a:custGeom>
            <a:noFill/>
            <a:ln w="23812">
              <a:solidFill>
                <a:schemeClr val="accent2"/>
              </a:solidFill>
              <a:custDash>
                <a:ds d="160000" sp="120000"/>
              </a:custDash>
            </a:ln>
          </p:spPr>
        </p:sp>
        <p:sp>
          <p:nvSpPr>
            <p:cNvPr id="31" name="Rectangle 31"/>
            <p:cNvSpPr/>
            <p:nvPr/>
          </p:nvSpPr>
          <p:spPr>
            <a:xfrm>
              <a:off x="1905000" y="2971800"/>
              <a:ext cx="9715500" cy="819150"/>
            </a:xfrm>
            <a:prstGeom prst="rect">
              <a:avLst/>
            </a:prstGeom>
            <a:solidFill>
              <a:schemeClr val="lt1"/>
            </a:solidFill>
            <a:ln>
              <a:noFill/>
            </a:ln>
          </p:spPr>
        </p:sp>
        <p:sp>
          <p:nvSpPr>
            <p:cNvPr id="32" name="Rectangle 32"/>
            <p:cNvSpPr/>
            <p:nvPr/>
          </p:nvSpPr>
          <p:spPr>
            <a:xfrm>
              <a:off x="1905000" y="2971800"/>
              <a:ext cx="9715500" cy="819150"/>
            </a:xfrm>
            <a:prstGeom prst="rect">
              <a:avLst/>
            </a:prstGeom>
            <a:noFill/>
            <a:ln w="19050">
              <a:solidFill>
                <a:schemeClr val="accent4"/>
              </a:solidFill>
            </a:ln>
          </p:spPr>
        </p:sp>
        <p:sp>
          <p:nvSpPr>
            <p:cNvPr id="33" name="Rectangle 33"/>
            <p:cNvSpPr/>
            <p:nvPr/>
          </p:nvSpPr>
          <p:spPr>
            <a:xfrm>
              <a:off x="1905000" y="2971800"/>
              <a:ext cx="76200" cy="819150"/>
            </a:xfrm>
            <a:prstGeom prst="rect">
              <a:avLst/>
            </a:prstGeom>
            <a:solidFill>
              <a:schemeClr val="accent2"/>
            </a:solidFill>
            <a:ln>
              <a:noFill/>
            </a:ln>
          </p:spPr>
        </p:sp>
        <p:sp>
          <p:nvSpPr>
            <p:cNvPr id="34" name="Freeform 34"/>
            <p:cNvSpPr/>
            <p:nvPr/>
          </p:nvSpPr>
          <p:spPr>
            <a:xfrm>
              <a:off x="2133600" y="3143250"/>
              <a:ext cx="457200" cy="457200"/>
            </a:xfrm>
            <a:custGeom>
              <a:avLst/>
              <a:gdLst/>
              <a:ahLst/>
              <a:cxnLst/>
              <a:rect l="l" t="t" r="r" b="b"/>
              <a:pathLst>
                <a:path w="457200" h="457200">
                  <a:moveTo>
                    <a:pt x="228600" y="457200"/>
                  </a:moveTo>
                  <a:cubicBezTo>
                    <a:pt x="354853" y="457200"/>
                    <a:pt x="457200" y="354853"/>
                    <a:pt x="457200" y="228600"/>
                  </a:cubicBezTo>
                  <a:cubicBezTo>
                    <a:pt x="457200" y="102348"/>
                    <a:pt x="354853" y="0"/>
                    <a:pt x="228600" y="0"/>
                  </a:cubicBezTo>
                  <a:cubicBezTo>
                    <a:pt x="102348" y="0"/>
                    <a:pt x="0" y="102348"/>
                    <a:pt x="0" y="228600"/>
                  </a:cubicBezTo>
                  <a:cubicBezTo>
                    <a:pt x="0" y="354853"/>
                    <a:pt x="102348" y="457200"/>
                    <a:pt x="228600" y="457200"/>
                  </a:cubicBezTo>
                  <a:close/>
                  <a:moveTo>
                    <a:pt x="200025" y="85725"/>
                  </a:moveTo>
                  <a:lnTo>
                    <a:pt x="200025" y="240436"/>
                  </a:lnTo>
                  <a:lnTo>
                    <a:pt x="294120" y="334530"/>
                  </a:lnTo>
                  <a:lnTo>
                    <a:pt x="334530" y="294120"/>
                  </a:lnTo>
                  <a:lnTo>
                    <a:pt x="257175" y="216764"/>
                  </a:lnTo>
                  <a:lnTo>
                    <a:pt x="257175" y="85725"/>
                  </a:lnTo>
                  <a:lnTo>
                    <a:pt x="200025" y="85725"/>
                  </a:lnTo>
                  <a:close/>
                </a:path>
              </a:pathLst>
            </a:custGeom>
            <a:solidFill>
              <a:schemeClr val="accent2"/>
            </a:solidFill>
            <a:ln>
              <a:noFill/>
            </a:ln>
          </p:spPr>
        </p:sp>
        <p:sp>
          <p:nvSpPr>
            <p:cNvPr id="35" name="TextBox 35"/>
            <p:cNvSpPr txBox="1"/>
            <p:nvPr/>
          </p:nvSpPr>
          <p:spPr>
            <a:xfrm>
              <a:off x="2734818" y="3174682"/>
              <a:ext cx="1395593"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mn-lt"/>
                  <a:ea typeface="+mn-ea"/>
                  <a:cs typeface="+mn-cs"/>
                </a:rPr>
                <a:t>至少留 1 小时</a:t>
              </a:r>
            </a:p>
          </p:txBody>
        </p:sp>
        <p:sp>
          <p:nvSpPr>
            <p:cNvPr id="36" name="TextBox 36"/>
            <p:cNvSpPr txBox="1"/>
            <p:nvPr/>
          </p:nvSpPr>
          <p:spPr>
            <a:xfrm>
              <a:off x="2737485" y="3479006"/>
              <a:ext cx="4881443" cy="220028"/>
            </a:xfrm>
            <a:prstGeom prst="rect">
              <a:avLst/>
            </a:prstGeom>
            <a:noFill/>
            <a:ln>
              <a:noFill/>
            </a:ln>
          </p:spPr>
          <p:txBody>
            <a:bodyPr wrap="none" lIns="0" tIns="0" rIns="0" bIns="0" anchor="t" anchorCtr="0">
              <a:spAutoFit/>
            </a:bodyPr>
            <a:lstStyle/>
            <a:p>
              <a:pPr algn="l"/>
              <a:r>
                <a:rPr lang="zh-CN" sz="1120" dirty="0">
                  <a:solidFill>
                    <a:schemeClr val="dk2"/>
                  </a:solidFill>
                  <a:latin typeface="+mn-lt"/>
                  <a:ea typeface="+mn-ea"/>
                  <a:cs typeface="+mn-cs"/>
                </a:rPr>
                <a:t>独立书店不是便利店 · 浏览本身就是产品 · 在书架前发呆是一种合法消费</a:t>
              </a:r>
            </a:p>
          </p:txBody>
        </p:sp>
      </p:grpSp>
      <p:grpSp>
        <p:nvGrpSpPr>
          <p:cNvPr id="51" name="Group 51"/>
          <p:cNvGrpSpPr/>
          <p:nvPr/>
        </p:nvGrpSpPr>
        <p:grpSpPr>
          <a:xfrm>
            <a:off x="762000" y="4038600"/>
            <a:ext cx="10858500" cy="892873"/>
            <a:chOff x="762000" y="4038600"/>
            <a:chExt cx="10858500" cy="892873"/>
          </a:xfrm>
        </p:grpSpPr>
        <p:sp>
          <p:nvSpPr>
            <p:cNvPr id="38" name="Rectangle 38"/>
            <p:cNvSpPr/>
            <p:nvPr/>
          </p:nvSpPr>
          <p:spPr>
            <a:xfrm>
              <a:off x="762000" y="4038600"/>
              <a:ext cx="819150" cy="819150"/>
            </a:xfrm>
            <a:prstGeom prst="rect">
              <a:avLst/>
            </a:prstGeom>
            <a:solidFill>
              <a:schemeClr val="accent3"/>
            </a:solidFill>
            <a:ln>
              <a:noFill/>
            </a:ln>
          </p:spPr>
        </p:sp>
        <p:sp>
          <p:nvSpPr>
            <p:cNvPr id="39" name="Rectangle 39"/>
            <p:cNvSpPr/>
            <p:nvPr/>
          </p:nvSpPr>
          <p:spPr>
            <a:xfrm>
              <a:off x="790575" y="4067175"/>
              <a:ext cx="819150" cy="819150"/>
            </a:xfrm>
            <a:prstGeom prst="rect">
              <a:avLst/>
            </a:prstGeom>
            <a:solidFill>
              <a:schemeClr val="accent1">
                <a:alpha val="60000"/>
              </a:schemeClr>
            </a:solidFill>
            <a:ln>
              <a:noFill/>
            </a:ln>
          </p:spPr>
        </p:sp>
        <p:sp>
          <p:nvSpPr>
            <p:cNvPr id="40" name="Rectangle 40"/>
            <p:cNvSpPr/>
            <p:nvPr/>
          </p:nvSpPr>
          <p:spPr>
            <a:xfrm>
              <a:off x="762000" y="4038600"/>
              <a:ext cx="819150" cy="819150"/>
            </a:xfrm>
            <a:prstGeom prst="rect">
              <a:avLst/>
            </a:prstGeom>
            <a:solidFill>
              <a:schemeClr val="accent3"/>
            </a:solidFill>
            <a:ln>
              <a:noFill/>
            </a:ln>
          </p:spPr>
        </p:sp>
        <p:sp>
          <p:nvSpPr>
            <p:cNvPr id="41" name="TextBox 41"/>
            <p:cNvSpPr txBox="1"/>
            <p:nvPr/>
          </p:nvSpPr>
          <p:spPr>
            <a:xfrm>
              <a:off x="898608" y="4256722"/>
              <a:ext cx="545935" cy="674751"/>
            </a:xfrm>
            <a:prstGeom prst="rect">
              <a:avLst/>
            </a:prstGeom>
            <a:noFill/>
            <a:ln>
              <a:noFill/>
            </a:ln>
          </p:spPr>
          <p:txBody>
            <a:bodyPr wrap="none" lIns="0" tIns="0" rIns="0" bIns="0" anchor="t" anchorCtr="0">
              <a:spAutoFit/>
            </a:bodyPr>
            <a:lstStyle/>
            <a:p>
              <a:pPr algn="ctr"/>
              <a:r>
                <a:rPr lang="zh-CN" sz="3450" dirty="0">
                  <a:solidFill>
                    <a:srgbClr val="F5EFE0"/>
                  </a:solidFill>
                  <a:latin typeface="+mj-lt"/>
                  <a:ea typeface="+mj-ea"/>
                  <a:cs typeface="+mj-cs"/>
                </a:rPr>
                <a:t>03</a:t>
              </a:r>
            </a:p>
          </p:txBody>
        </p:sp>
        <p:sp>
          <p:nvSpPr>
            <p:cNvPr id="42" name="Line 42"/>
            <p:cNvSpPr/>
            <p:nvPr/>
          </p:nvSpPr>
          <p:spPr>
            <a:xfrm>
              <a:off x="1581150" y="4448175"/>
              <a:ext cx="323850" cy="9525"/>
            </a:xfrm>
            <a:custGeom>
              <a:avLst/>
              <a:gdLst/>
              <a:ahLst/>
              <a:cxnLst/>
              <a:rect l="l" t="t" r="r" b="b"/>
              <a:pathLst>
                <a:path w="323850" h="9525">
                  <a:moveTo>
                    <a:pt x="0" y="0"/>
                  </a:moveTo>
                  <a:lnTo>
                    <a:pt x="323850" y="0"/>
                  </a:lnTo>
                </a:path>
              </a:pathLst>
            </a:custGeom>
            <a:noFill/>
            <a:ln w="23812">
              <a:solidFill>
                <a:schemeClr val="accent3"/>
              </a:solidFill>
              <a:custDash>
                <a:ds d="160000" sp="120000"/>
              </a:custDash>
            </a:ln>
          </p:spPr>
        </p:sp>
        <p:sp>
          <p:nvSpPr>
            <p:cNvPr id="43" name="Rectangle 43"/>
            <p:cNvSpPr/>
            <p:nvPr/>
          </p:nvSpPr>
          <p:spPr>
            <a:xfrm>
              <a:off x="1905000" y="4038600"/>
              <a:ext cx="9715500" cy="819150"/>
            </a:xfrm>
            <a:prstGeom prst="rect">
              <a:avLst/>
            </a:prstGeom>
            <a:solidFill>
              <a:schemeClr val="lt1"/>
            </a:solidFill>
            <a:ln>
              <a:noFill/>
            </a:ln>
          </p:spPr>
        </p:sp>
        <p:sp>
          <p:nvSpPr>
            <p:cNvPr id="44" name="Rectangle 44"/>
            <p:cNvSpPr/>
            <p:nvPr/>
          </p:nvSpPr>
          <p:spPr>
            <a:xfrm>
              <a:off x="1905000" y="4038600"/>
              <a:ext cx="9715500" cy="819150"/>
            </a:xfrm>
            <a:prstGeom prst="rect">
              <a:avLst/>
            </a:prstGeom>
            <a:noFill/>
            <a:ln w="19050">
              <a:solidFill>
                <a:schemeClr val="accent4"/>
              </a:solidFill>
            </a:ln>
          </p:spPr>
        </p:sp>
        <p:sp>
          <p:nvSpPr>
            <p:cNvPr id="45" name="Rectangle 45"/>
            <p:cNvSpPr/>
            <p:nvPr/>
          </p:nvSpPr>
          <p:spPr>
            <a:xfrm>
              <a:off x="1905000" y="4038600"/>
              <a:ext cx="76200" cy="819150"/>
            </a:xfrm>
            <a:prstGeom prst="rect">
              <a:avLst/>
            </a:prstGeom>
            <a:solidFill>
              <a:schemeClr val="accent3"/>
            </a:solidFill>
            <a:ln>
              <a:noFill/>
            </a:ln>
          </p:spPr>
        </p:sp>
        <p:grpSp>
          <p:nvGrpSpPr>
            <p:cNvPr id="48" name="Group 48"/>
            <p:cNvGrpSpPr/>
            <p:nvPr/>
          </p:nvGrpSpPr>
          <p:grpSpPr>
            <a:xfrm>
              <a:off x="2162175" y="4210050"/>
              <a:ext cx="400050" cy="428625"/>
              <a:chOff x="2162175" y="4210050"/>
              <a:chExt cx="400050" cy="428625"/>
            </a:xfrm>
          </p:grpSpPr>
          <p:sp>
            <p:nvSpPr>
              <p:cNvPr id="46" name="Freeform 46"/>
              <p:cNvSpPr/>
              <p:nvPr/>
            </p:nvSpPr>
            <p:spPr>
              <a:xfrm>
                <a:off x="2253049" y="4210050"/>
                <a:ext cx="218302" cy="142875"/>
              </a:xfrm>
              <a:custGeom>
                <a:avLst/>
                <a:gdLst/>
                <a:ahLst/>
                <a:cxnLst/>
                <a:rect l="l" t="t" r="r" b="b"/>
                <a:pathLst>
                  <a:path w="218302" h="142875">
                    <a:moveTo>
                      <a:pt x="109151" y="57150"/>
                    </a:moveTo>
                    <a:cubicBezTo>
                      <a:pt x="89542" y="57150"/>
                      <a:pt x="72659" y="70991"/>
                      <a:pt x="68813" y="90219"/>
                    </a:cubicBezTo>
                    <a:lnTo>
                      <a:pt x="58282" y="142875"/>
                    </a:lnTo>
                    <a:lnTo>
                      <a:pt x="0" y="142875"/>
                    </a:lnTo>
                    <a:lnTo>
                      <a:pt x="12773" y="79011"/>
                    </a:lnTo>
                    <a:cubicBezTo>
                      <a:pt x="21961" y="33070"/>
                      <a:pt x="62299" y="0"/>
                      <a:pt x="109151" y="0"/>
                    </a:cubicBezTo>
                    <a:cubicBezTo>
                      <a:pt x="156002" y="0"/>
                      <a:pt x="196342" y="33070"/>
                      <a:pt x="205529" y="79011"/>
                    </a:cubicBezTo>
                    <a:lnTo>
                      <a:pt x="218302" y="142875"/>
                    </a:lnTo>
                    <a:lnTo>
                      <a:pt x="160020" y="142875"/>
                    </a:lnTo>
                    <a:lnTo>
                      <a:pt x="149489" y="90219"/>
                    </a:lnTo>
                    <a:cubicBezTo>
                      <a:pt x="145643" y="70991"/>
                      <a:pt x="128760" y="57150"/>
                      <a:pt x="109151" y="57150"/>
                    </a:cubicBezTo>
                    <a:close/>
                  </a:path>
                </a:pathLst>
              </a:custGeom>
              <a:solidFill>
                <a:schemeClr val="accent3"/>
              </a:solidFill>
              <a:ln>
                <a:noFill/>
              </a:ln>
            </p:spPr>
          </p:sp>
          <p:sp>
            <p:nvSpPr>
              <p:cNvPr id="47" name="Freeform 47"/>
              <p:cNvSpPr/>
              <p:nvPr/>
            </p:nvSpPr>
            <p:spPr>
              <a:xfrm>
                <a:off x="2162175" y="4410075"/>
                <a:ext cx="400050" cy="228600"/>
              </a:xfrm>
              <a:custGeom>
                <a:avLst/>
                <a:gdLst/>
                <a:ahLst/>
                <a:cxnLst/>
                <a:rect l="l" t="t" r="r" b="b"/>
                <a:pathLst>
                  <a:path w="400050" h="228600">
                    <a:moveTo>
                      <a:pt x="400050" y="228600"/>
                    </a:moveTo>
                    <a:lnTo>
                      <a:pt x="0" y="228600"/>
                    </a:lnTo>
                    <a:lnTo>
                      <a:pt x="0" y="171450"/>
                    </a:lnTo>
                    <a:lnTo>
                      <a:pt x="28575" y="0"/>
                    </a:lnTo>
                    <a:lnTo>
                      <a:pt x="371475" y="0"/>
                    </a:lnTo>
                    <a:lnTo>
                      <a:pt x="400050" y="171450"/>
                    </a:lnTo>
                    <a:lnTo>
                      <a:pt x="400050" y="228600"/>
                    </a:lnTo>
                    <a:close/>
                  </a:path>
                </a:pathLst>
              </a:custGeom>
              <a:solidFill>
                <a:schemeClr val="accent3"/>
              </a:solidFill>
              <a:ln>
                <a:noFill/>
              </a:ln>
            </p:spPr>
          </p:sp>
        </p:grpSp>
        <p:sp>
          <p:nvSpPr>
            <p:cNvPr id="49" name="TextBox 49"/>
            <p:cNvSpPr txBox="1"/>
            <p:nvPr/>
          </p:nvSpPr>
          <p:spPr>
            <a:xfrm>
              <a:off x="2734818" y="4241482"/>
              <a:ext cx="683133"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mn-lt"/>
                  <a:ea typeface="+mn-ea"/>
                  <a:cs typeface="+mn-cs"/>
                </a:rPr>
                <a:t>带现金</a:t>
              </a:r>
            </a:p>
          </p:txBody>
        </p:sp>
        <p:sp>
          <p:nvSpPr>
            <p:cNvPr id="50" name="TextBox 50"/>
            <p:cNvSpPr txBox="1"/>
            <p:nvPr/>
          </p:nvSpPr>
          <p:spPr>
            <a:xfrm>
              <a:off x="2737485" y="4545806"/>
              <a:ext cx="5182992" cy="220028"/>
            </a:xfrm>
            <a:prstGeom prst="rect">
              <a:avLst/>
            </a:prstGeom>
            <a:noFill/>
            <a:ln>
              <a:noFill/>
            </a:ln>
          </p:spPr>
          <p:txBody>
            <a:bodyPr wrap="none" lIns="0" tIns="0" rIns="0" bIns="0" anchor="t" anchorCtr="0">
              <a:spAutoFit/>
            </a:bodyPr>
            <a:lstStyle/>
            <a:p>
              <a:pPr algn="l"/>
              <a:r>
                <a:rPr lang="zh-CN" sz="1120" dirty="0">
                  <a:solidFill>
                    <a:schemeClr val="dk2"/>
                  </a:solidFill>
                  <a:latin typeface="+mn-lt"/>
                  <a:ea typeface="+mn-ea"/>
                  <a:cs typeface="+mn-cs"/>
                </a:rPr>
                <a:t>一些小店不接受电子支付 · 现金还能减少手续费 · 给店主多留一杯咖啡的利润</a:t>
              </a:r>
            </a:p>
          </p:txBody>
        </p:sp>
      </p:grpSp>
      <p:grpSp>
        <p:nvGrpSpPr>
          <p:cNvPr id="63" name="Group 63"/>
          <p:cNvGrpSpPr/>
          <p:nvPr/>
        </p:nvGrpSpPr>
        <p:grpSpPr>
          <a:xfrm>
            <a:off x="762000" y="5105400"/>
            <a:ext cx="10858500" cy="892873"/>
            <a:chOff x="762000" y="5105400"/>
            <a:chExt cx="10858500" cy="892873"/>
          </a:xfrm>
        </p:grpSpPr>
        <p:sp>
          <p:nvSpPr>
            <p:cNvPr id="52" name="Rectangle 52"/>
            <p:cNvSpPr/>
            <p:nvPr/>
          </p:nvSpPr>
          <p:spPr>
            <a:xfrm>
              <a:off x="762000" y="5105400"/>
              <a:ext cx="819150" cy="819150"/>
            </a:xfrm>
            <a:prstGeom prst="rect">
              <a:avLst/>
            </a:prstGeom>
            <a:solidFill>
              <a:schemeClr val="dk1"/>
            </a:solidFill>
            <a:ln>
              <a:noFill/>
            </a:ln>
          </p:spPr>
        </p:sp>
        <p:sp>
          <p:nvSpPr>
            <p:cNvPr id="53" name="Rectangle 53"/>
            <p:cNvSpPr/>
            <p:nvPr/>
          </p:nvSpPr>
          <p:spPr>
            <a:xfrm>
              <a:off x="790575" y="5133975"/>
              <a:ext cx="819150" cy="819150"/>
            </a:xfrm>
            <a:prstGeom prst="rect">
              <a:avLst/>
            </a:prstGeom>
            <a:solidFill>
              <a:schemeClr val="accent2">
                <a:alpha val="60000"/>
              </a:schemeClr>
            </a:solidFill>
            <a:ln>
              <a:noFill/>
            </a:ln>
          </p:spPr>
        </p:sp>
        <p:sp>
          <p:nvSpPr>
            <p:cNvPr id="54" name="Rectangle 54"/>
            <p:cNvSpPr/>
            <p:nvPr/>
          </p:nvSpPr>
          <p:spPr>
            <a:xfrm>
              <a:off x="762000" y="5105400"/>
              <a:ext cx="819150" cy="819150"/>
            </a:xfrm>
            <a:prstGeom prst="rect">
              <a:avLst/>
            </a:prstGeom>
            <a:solidFill>
              <a:schemeClr val="dk1"/>
            </a:solidFill>
            <a:ln>
              <a:noFill/>
            </a:ln>
          </p:spPr>
        </p:sp>
        <p:sp>
          <p:nvSpPr>
            <p:cNvPr id="55" name="TextBox 55"/>
            <p:cNvSpPr txBox="1"/>
            <p:nvPr/>
          </p:nvSpPr>
          <p:spPr>
            <a:xfrm>
              <a:off x="898608" y="5323522"/>
              <a:ext cx="545935" cy="674751"/>
            </a:xfrm>
            <a:prstGeom prst="rect">
              <a:avLst/>
            </a:prstGeom>
            <a:noFill/>
            <a:ln>
              <a:noFill/>
            </a:ln>
          </p:spPr>
          <p:txBody>
            <a:bodyPr wrap="none" lIns="0" tIns="0" rIns="0" bIns="0" anchor="t" anchorCtr="0">
              <a:spAutoFit/>
            </a:bodyPr>
            <a:lstStyle/>
            <a:p>
              <a:pPr algn="ctr"/>
              <a:r>
                <a:rPr lang="zh-CN" sz="3450" dirty="0">
                  <a:solidFill>
                    <a:schemeClr val="accent2"/>
                  </a:solidFill>
                  <a:latin typeface="+mj-lt"/>
                  <a:ea typeface="+mj-ea"/>
                  <a:cs typeface="+mj-cs"/>
                </a:rPr>
                <a:t>04</a:t>
              </a:r>
            </a:p>
          </p:txBody>
        </p:sp>
        <p:sp>
          <p:nvSpPr>
            <p:cNvPr id="56" name="Line 56"/>
            <p:cNvSpPr/>
            <p:nvPr/>
          </p:nvSpPr>
          <p:spPr>
            <a:xfrm>
              <a:off x="1581150" y="5514975"/>
              <a:ext cx="323850" cy="9525"/>
            </a:xfrm>
            <a:custGeom>
              <a:avLst/>
              <a:gdLst/>
              <a:ahLst/>
              <a:cxnLst/>
              <a:rect l="l" t="t" r="r" b="b"/>
              <a:pathLst>
                <a:path w="323850" h="9525">
                  <a:moveTo>
                    <a:pt x="0" y="0"/>
                  </a:moveTo>
                  <a:lnTo>
                    <a:pt x="323850" y="0"/>
                  </a:lnTo>
                </a:path>
              </a:pathLst>
            </a:custGeom>
            <a:noFill/>
            <a:ln w="23812">
              <a:solidFill>
                <a:schemeClr val="accent4"/>
              </a:solidFill>
              <a:custDash>
                <a:ds d="160000" sp="120000"/>
              </a:custDash>
            </a:ln>
          </p:spPr>
        </p:sp>
        <p:sp>
          <p:nvSpPr>
            <p:cNvPr id="57" name="Rectangle 57"/>
            <p:cNvSpPr/>
            <p:nvPr/>
          </p:nvSpPr>
          <p:spPr>
            <a:xfrm>
              <a:off x="1905000" y="5105400"/>
              <a:ext cx="9715500" cy="819150"/>
            </a:xfrm>
            <a:prstGeom prst="rect">
              <a:avLst/>
            </a:prstGeom>
            <a:solidFill>
              <a:schemeClr val="lt1"/>
            </a:solidFill>
            <a:ln>
              <a:noFill/>
            </a:ln>
          </p:spPr>
        </p:sp>
        <p:sp>
          <p:nvSpPr>
            <p:cNvPr id="58" name="Rectangle 58"/>
            <p:cNvSpPr/>
            <p:nvPr/>
          </p:nvSpPr>
          <p:spPr>
            <a:xfrm>
              <a:off x="1905000" y="5105400"/>
              <a:ext cx="9715500" cy="819150"/>
            </a:xfrm>
            <a:prstGeom prst="rect">
              <a:avLst/>
            </a:prstGeom>
            <a:noFill/>
            <a:ln w="19050">
              <a:solidFill>
                <a:schemeClr val="accent4"/>
              </a:solidFill>
            </a:ln>
          </p:spPr>
        </p:sp>
        <p:sp>
          <p:nvSpPr>
            <p:cNvPr id="59" name="Rectangle 59"/>
            <p:cNvSpPr/>
            <p:nvPr/>
          </p:nvSpPr>
          <p:spPr>
            <a:xfrm>
              <a:off x="1905000" y="5105400"/>
              <a:ext cx="76200" cy="819150"/>
            </a:xfrm>
            <a:prstGeom prst="rect">
              <a:avLst/>
            </a:prstGeom>
            <a:solidFill>
              <a:schemeClr val="dk1"/>
            </a:solidFill>
            <a:ln>
              <a:noFill/>
            </a:ln>
          </p:spPr>
        </p:sp>
        <p:sp>
          <p:nvSpPr>
            <p:cNvPr id="60" name="Freeform 60"/>
            <p:cNvSpPr/>
            <p:nvPr/>
          </p:nvSpPr>
          <p:spPr>
            <a:xfrm>
              <a:off x="2134723" y="5276850"/>
              <a:ext cx="427502" cy="457200"/>
            </a:xfrm>
            <a:custGeom>
              <a:avLst/>
              <a:gdLst/>
              <a:ahLst/>
              <a:cxnLst/>
              <a:rect l="l" t="t" r="r" b="b"/>
              <a:pathLst>
                <a:path w="427502" h="457200">
                  <a:moveTo>
                    <a:pt x="0" y="290342"/>
                  </a:moveTo>
                  <a:lnTo>
                    <a:pt x="112878" y="403219"/>
                  </a:lnTo>
                  <a:cubicBezTo>
                    <a:pt x="147441" y="437783"/>
                    <a:pt x="194319" y="457200"/>
                    <a:pt x="243199" y="457200"/>
                  </a:cubicBezTo>
                  <a:cubicBezTo>
                    <a:pt x="344986" y="457200"/>
                    <a:pt x="427502" y="374687"/>
                    <a:pt x="427502" y="272899"/>
                  </a:cubicBezTo>
                  <a:lnTo>
                    <a:pt x="427502" y="57150"/>
                  </a:lnTo>
                  <a:lnTo>
                    <a:pt x="370352" y="57150"/>
                  </a:lnTo>
                  <a:lnTo>
                    <a:pt x="370352" y="171450"/>
                  </a:lnTo>
                  <a:lnTo>
                    <a:pt x="313202" y="171450"/>
                  </a:lnTo>
                  <a:lnTo>
                    <a:pt x="313202" y="0"/>
                  </a:lnTo>
                  <a:lnTo>
                    <a:pt x="256052" y="0"/>
                  </a:lnTo>
                  <a:lnTo>
                    <a:pt x="256052" y="171450"/>
                  </a:lnTo>
                  <a:lnTo>
                    <a:pt x="198902" y="171450"/>
                  </a:lnTo>
                  <a:lnTo>
                    <a:pt x="198902" y="28575"/>
                  </a:lnTo>
                  <a:lnTo>
                    <a:pt x="141752" y="28575"/>
                  </a:lnTo>
                  <a:lnTo>
                    <a:pt x="141750" y="310859"/>
                  </a:lnTo>
                  <a:lnTo>
                    <a:pt x="60617" y="229724"/>
                  </a:lnTo>
                  <a:lnTo>
                    <a:pt x="0" y="290342"/>
                  </a:lnTo>
                  <a:close/>
                </a:path>
              </a:pathLst>
            </a:custGeom>
            <a:solidFill>
              <a:schemeClr val="dk1"/>
            </a:solidFill>
            <a:ln>
              <a:noFill/>
            </a:ln>
          </p:spPr>
        </p:sp>
        <p:sp>
          <p:nvSpPr>
            <p:cNvPr id="61" name="TextBox 61"/>
            <p:cNvSpPr txBox="1"/>
            <p:nvPr/>
          </p:nvSpPr>
          <p:spPr>
            <a:xfrm>
              <a:off x="2734818" y="5308282"/>
              <a:ext cx="1127379"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mn-lt"/>
                  <a:ea typeface="+mn-ea"/>
                  <a:cs typeface="+mn-cs"/>
                </a:rPr>
                <a:t>拍照前先问</a:t>
              </a:r>
            </a:p>
          </p:txBody>
        </p:sp>
        <p:sp>
          <p:nvSpPr>
            <p:cNvPr id="62" name="TextBox 62"/>
            <p:cNvSpPr txBox="1"/>
            <p:nvPr/>
          </p:nvSpPr>
          <p:spPr>
            <a:xfrm>
              <a:off x="2737485" y="5612606"/>
              <a:ext cx="4775901" cy="220028"/>
            </a:xfrm>
            <a:prstGeom prst="rect">
              <a:avLst/>
            </a:prstGeom>
            <a:noFill/>
            <a:ln>
              <a:noFill/>
            </a:ln>
          </p:spPr>
          <p:txBody>
            <a:bodyPr wrap="none" lIns="0" tIns="0" rIns="0" bIns="0" anchor="t" anchorCtr="0">
              <a:spAutoFit/>
            </a:bodyPr>
            <a:lstStyle/>
            <a:p>
              <a:pPr algn="l"/>
              <a:r>
                <a:rPr lang="zh-CN" sz="1120" dirty="0">
                  <a:solidFill>
                    <a:schemeClr val="dk2"/>
                  </a:solidFill>
                  <a:latin typeface="+mn-lt"/>
                  <a:ea typeface="+mn-ea"/>
                  <a:cs typeface="+mn-cs"/>
                </a:rPr>
                <a:t>多数独立书店对拍照敏感 · 选品是店主智识 · 尊重 + 一句招呼 = 通行证</a:t>
              </a:r>
            </a:p>
          </p:txBody>
        </p:sp>
      </p:grpSp>
      <p:grpSp>
        <p:nvGrpSpPr>
          <p:cNvPr id="68" name="Group 68"/>
          <p:cNvGrpSpPr/>
          <p:nvPr/>
        </p:nvGrpSpPr>
        <p:grpSpPr>
          <a:xfrm>
            <a:off x="571500" y="6229350"/>
            <a:ext cx="11077575" cy="352425"/>
            <a:chOff x="571500" y="6229350"/>
            <a:chExt cx="11077575" cy="352425"/>
          </a:xfrm>
        </p:grpSpPr>
        <p:sp>
          <p:nvSpPr>
            <p:cNvPr id="64" name="Rectangle 64"/>
            <p:cNvSpPr/>
            <p:nvPr/>
          </p:nvSpPr>
          <p:spPr>
            <a:xfrm>
              <a:off x="571500" y="6229350"/>
              <a:ext cx="11049000" cy="323850"/>
            </a:xfrm>
            <a:prstGeom prst="rect">
              <a:avLst/>
            </a:prstGeom>
            <a:solidFill>
              <a:schemeClr val="accent1"/>
            </a:solidFill>
            <a:ln>
              <a:noFill/>
            </a:ln>
          </p:spPr>
        </p:sp>
        <p:sp>
          <p:nvSpPr>
            <p:cNvPr id="65" name="Rectangle 65"/>
            <p:cNvSpPr/>
            <p:nvPr/>
          </p:nvSpPr>
          <p:spPr>
            <a:xfrm>
              <a:off x="600075" y="6257925"/>
              <a:ext cx="11049000" cy="323850"/>
            </a:xfrm>
            <a:prstGeom prst="rect">
              <a:avLst/>
            </a:prstGeom>
            <a:solidFill>
              <a:schemeClr val="accent2">
                <a:alpha val="60000"/>
              </a:schemeClr>
            </a:solidFill>
            <a:ln>
              <a:noFill/>
            </a:ln>
          </p:spPr>
        </p:sp>
        <p:sp>
          <p:nvSpPr>
            <p:cNvPr id="66" name="Rectangle 66"/>
            <p:cNvSpPr/>
            <p:nvPr/>
          </p:nvSpPr>
          <p:spPr>
            <a:xfrm>
              <a:off x="571500" y="6229350"/>
              <a:ext cx="11049000" cy="323850"/>
            </a:xfrm>
            <a:prstGeom prst="rect">
              <a:avLst/>
            </a:prstGeom>
            <a:solidFill>
              <a:schemeClr val="accent1"/>
            </a:solidFill>
            <a:ln>
              <a:noFill/>
            </a:ln>
          </p:spPr>
        </p:sp>
        <p:sp>
          <p:nvSpPr>
            <p:cNvPr id="67" name="TextBox 67"/>
            <p:cNvSpPr txBox="1"/>
            <p:nvPr/>
          </p:nvSpPr>
          <p:spPr>
            <a:xfrm>
              <a:off x="756285" y="6326981"/>
              <a:ext cx="7105366" cy="220028"/>
            </a:xfrm>
            <a:prstGeom prst="rect">
              <a:avLst/>
            </a:prstGeom>
            <a:noFill/>
            <a:ln>
              <a:noFill/>
            </a:ln>
          </p:spPr>
          <p:txBody>
            <a:bodyPr wrap="none" lIns="0" tIns="0" rIns="0" bIns="0" anchor="t" anchorCtr="0">
              <a:spAutoFit/>
            </a:bodyPr>
            <a:lstStyle/>
            <a:p>
              <a:pPr algn="l"/>
              <a:r>
                <a:rPr lang="zh-CN" sz="1120" dirty="0">
                  <a:solidFill>
                    <a:srgbClr val="F5EFE0"/>
                  </a:solidFill>
                  <a:latin typeface="+mn-lt"/>
                  <a:ea typeface="+mn-ea"/>
                  <a:cs typeface="+mn-cs"/>
                </a:rPr>
                <a:t>额外提醒 ＞ 主流出版社的书随便哪里买都行 · 在独立书店买独立出版物 / 艺术家自费书 · 那才是核心目标</a:t>
              </a:r>
            </a:p>
          </p:txBody>
        </p:sp>
      </p:grpSp>
      <p:grpSp>
        <p:nvGrpSpPr>
          <p:cNvPr id="71" name="Group 71"/>
          <p:cNvGrpSpPr/>
          <p:nvPr/>
        </p:nvGrpSpPr>
        <p:grpSpPr>
          <a:xfrm>
            <a:off x="566738" y="6673691"/>
            <a:ext cx="11058524" cy="161925"/>
            <a:chOff x="566738" y="6673691"/>
            <a:chExt cx="11058524" cy="161925"/>
          </a:xfrm>
        </p:grpSpPr>
        <p:sp>
          <p:nvSpPr>
            <p:cNvPr id="69" name="TextBox 69"/>
            <p:cNvSpPr txBox="1"/>
            <p:nvPr/>
          </p:nvSpPr>
          <p:spPr>
            <a:xfrm>
              <a:off x="566738" y="6673691"/>
              <a:ext cx="2424476" cy="161925"/>
            </a:xfrm>
            <a:prstGeom prst="rect">
              <a:avLst/>
            </a:prstGeom>
            <a:noFill/>
            <a:ln>
              <a:noFill/>
            </a:ln>
          </p:spPr>
          <p:txBody>
            <a:bodyPr wrap="none" lIns="0" tIns="0" rIns="0" bIns="0" anchor="t" anchorCtr="0">
              <a:spAutoFit/>
            </a:bodyPr>
            <a:lstStyle/>
            <a:p>
              <a:pPr algn="l"/>
              <a:r>
                <a:rPr lang="zh-CN" sz="820" spc="150" dirty="0">
                  <a:solidFill>
                    <a:schemeClr val="dk2"/>
                  </a:solidFill>
                  <a:latin typeface="Consolas"/>
                  <a:ea typeface="Consolas"/>
                  <a:cs typeface="Consolas"/>
                </a:rPr>
                <a:t>P14 · 4 RULES BEFORE YOU ENTER</a:t>
              </a:r>
            </a:p>
          </p:txBody>
        </p:sp>
        <p:sp>
          <p:nvSpPr>
            <p:cNvPr id="70" name="TextBox 70"/>
            <p:cNvSpPr txBox="1"/>
            <p:nvPr/>
          </p:nvSpPr>
          <p:spPr>
            <a:xfrm>
              <a:off x="10028702" y="6673691"/>
              <a:ext cx="1596560" cy="161925"/>
            </a:xfrm>
            <a:prstGeom prst="rect">
              <a:avLst/>
            </a:prstGeom>
            <a:noFill/>
            <a:ln>
              <a:noFill/>
            </a:ln>
          </p:spPr>
          <p:txBody>
            <a:bodyPr wrap="none" lIns="0" tIns="0" rIns="0" bIns="0" anchor="t" anchorCtr="0">
              <a:spAutoFit/>
            </a:bodyPr>
            <a:lstStyle/>
            <a:p>
              <a:pPr algn="r"/>
              <a:r>
                <a:rPr lang="zh-CN" sz="820" spc="150" dirty="0">
                  <a:solidFill>
                    <a:schemeClr val="dk2"/>
                  </a:solidFill>
                  <a:latin typeface="Consolas"/>
                  <a:ea typeface="Microsoft YaHei"/>
                  <a:cs typeface="Consolas"/>
                </a:rPr>
                <a:t>店主 / 时间 / 现金 / 招呼</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300"/>
                                        <p:tgtEl>
                                          <p:spTgt spid="25"/>
                                        </p:tgtEl>
                                      </p:cBhvr>
                                    </p:animEffect>
                                  </p:childTnLst>
                                </p:cTn>
                              </p:par>
                            </p:childTnLst>
                          </p:cTn>
                        </p:par>
                        <p:par>
                          <p:cTn id="8" fill="hold">
                            <p:stCondLst>
                              <p:cond delay="300"/>
                            </p:stCondLst>
                            <p:childTnLst>
                              <p:par>
                                <p:cTn xmlns:p="http://schemas.openxmlformats.org/presentationml/2006/main" id="9" presetID="10" presetClass="entr" presetSubtype="0" fill="hold" grpId="0" nodeType="afterEffect">
                                  <p:stCondLst>
                                    <p:cond delay="140"/>
                                  </p:stCondLst>
                                  <p:childTnLst>
                                    <p:set>
                                      <p:cBhvr>
                                        <p:cTn id="10" dur="1" fill="hold">
                                          <p:stCondLst>
                                            <p:cond delay="0"/>
                                          </p:stCondLst>
                                        </p:cTn>
                                        <p:tgtEl>
                                          <p:spTgt spid="37"/>
                                        </p:tgtEl>
                                        <p:attrNameLst>
                                          <p:attrName>style.visibility</p:attrName>
                                        </p:attrNameLst>
                                      </p:cBhvr>
                                      <p:to>
                                        <p:strVal val="visible"/>
                                      </p:to>
                                    </p:set>
                                    <p:animEffect transition="in" filter="fade">
                                      <p:cBhvr>
                                        <p:cTn id="11" dur="300"/>
                                        <p:tgtEl>
                                          <p:spTgt spid="37"/>
                                        </p:tgtEl>
                                      </p:cBhvr>
                                    </p:animEffect>
                                  </p:childTnLst>
                                </p:cTn>
                              </p:par>
                            </p:childTnLst>
                          </p:cTn>
                        </p:par>
                        <p:par>
                          <p:cTn id="12" fill="hold">
                            <p:stCondLst>
                              <p:cond delay="740"/>
                            </p:stCondLst>
                            <p:childTnLst>
                              <p:par>
                                <p:cTn xmlns:p="http://schemas.openxmlformats.org/presentationml/2006/main" id="13" presetID="10" presetClass="entr" presetSubtype="0" fill="hold" grpId="0" nodeType="afterEffect">
                                  <p:stCondLst>
                                    <p:cond delay="140"/>
                                  </p:stCondLst>
                                  <p:childTnLst>
                                    <p:set>
                                      <p:cBhvr>
                                        <p:cTn id="14" dur="1" fill="hold">
                                          <p:stCondLst>
                                            <p:cond delay="0"/>
                                          </p:stCondLst>
                                        </p:cTn>
                                        <p:tgtEl>
                                          <p:spTgt spid="51"/>
                                        </p:tgtEl>
                                        <p:attrNameLst>
                                          <p:attrName>style.visibility</p:attrName>
                                        </p:attrNameLst>
                                      </p:cBhvr>
                                      <p:to>
                                        <p:strVal val="visible"/>
                                      </p:to>
                                    </p:set>
                                    <p:animEffect transition="in" filter="fade">
                                      <p:cBhvr>
                                        <p:cTn id="15" dur="300"/>
                                        <p:tgtEl>
                                          <p:spTgt spid="51"/>
                                        </p:tgtEl>
                                      </p:cBhvr>
                                    </p:animEffect>
                                  </p:childTnLst>
                                </p:cTn>
                              </p:par>
                            </p:childTnLst>
                          </p:cTn>
                        </p:par>
                        <p:par>
                          <p:cTn id="16" fill="hold">
                            <p:stCondLst>
                              <p:cond delay="1180"/>
                            </p:stCondLst>
                            <p:childTnLst>
                              <p:par>
                                <p:cTn xmlns:p="http://schemas.openxmlformats.org/presentationml/2006/main" id="17" presetID="10" presetClass="entr" presetSubtype="0" fill="hold" grpId="0" nodeType="afterEffect">
                                  <p:stCondLst>
                                    <p:cond delay="140"/>
                                  </p:stCondLst>
                                  <p:childTnLst>
                                    <p:set>
                                      <p:cBhvr>
                                        <p:cTn id="18" dur="1" fill="hold">
                                          <p:stCondLst>
                                            <p:cond delay="0"/>
                                          </p:stCondLst>
                                        </p:cTn>
                                        <p:tgtEl>
                                          <p:spTgt spid="63"/>
                                        </p:tgtEl>
                                        <p:attrNameLst>
                                          <p:attrName>style.visibility</p:attrName>
                                        </p:attrNameLst>
                                      </p:cBhvr>
                                      <p:to>
                                        <p:strVal val="visible"/>
                                      </p:to>
                                    </p:set>
                                    <p:animEffect transition="in" filter="fade">
                                      <p:cBhvr>
                                        <p:cTn id="19" dur="300"/>
                                        <p:tgtEl>
                                          <p:spTgt spid="63"/>
                                        </p:tgtEl>
                                      </p:cBhvr>
                                    </p:animEffect>
                                  </p:childTnLst>
                                </p:cTn>
                              </p:par>
                            </p:childTnLst>
                          </p:cTn>
                        </p:par>
                        <p:par>
                          <p:cTn id="20" fill="hold">
                            <p:stCondLst>
                              <p:cond delay="1620"/>
                            </p:stCondLst>
                            <p:childTnLst>
                              <p:par>
                                <p:cTn xmlns:p="http://schemas.openxmlformats.org/presentationml/2006/main" id="21" presetID="22" presetClass="entr" presetSubtype="4" fill="hold" grpId="0" nodeType="afterEffect">
                                  <p:stCondLst>
                                    <p:cond delay="180"/>
                                  </p:stCondLst>
                                  <p:childTnLst>
                                    <p:set>
                                      <p:cBhvr>
                                        <p:cTn id="22" dur="1" fill="hold">
                                          <p:stCondLst>
                                            <p:cond delay="0"/>
                                          </p:stCondLst>
                                        </p:cTn>
                                        <p:tgtEl>
                                          <p:spTgt spid="68"/>
                                        </p:tgtEl>
                                        <p:attrNameLst>
                                          <p:attrName>style.visibility</p:attrName>
                                        </p:attrNameLst>
                                      </p:cBhvr>
                                      <p:to>
                                        <p:strVal val="visible"/>
                                      </p:to>
                                    </p:set>
                                    <p:animEffect transition="in" filter="wipe(down)">
                                      <p:cBhvr>
                                        <p:cTn id="23" dur="4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pattFill prst="ltUpDiag">
            <a:fgClr>
              <a:schemeClr val="dk1">
                <a:alpha val="10000"/>
              </a:schemeClr>
            </a:fgClr>
            <a:bgClr>
              <a:srgbClr val="FFFFFF"/>
            </a:bgClr>
          </a:pattFill>
          <a:ln>
            <a:noFill/>
          </a:ln>
        </p:spPr>
      </p:sp>
      <p:grpSp>
        <p:nvGrpSpPr>
          <p:cNvPr id="8" name="Group 8"/>
          <p:cNvGrpSpPr/>
          <p:nvPr/>
        </p:nvGrpSpPr>
        <p:grpSpPr>
          <a:xfrm>
            <a:off x="571500" y="533400"/>
            <a:ext cx="5169240" cy="771239"/>
            <a:chOff x="571500" y="533400"/>
            <a:chExt cx="5169240" cy="771239"/>
          </a:xfrm>
        </p:grpSpPr>
        <p:sp>
          <p:nvSpPr>
            <p:cNvPr id="3" name="Rectangle 3"/>
            <p:cNvSpPr/>
            <p:nvPr/>
          </p:nvSpPr>
          <p:spPr>
            <a:xfrm>
              <a:off x="571500" y="533400"/>
              <a:ext cx="133350" cy="647700"/>
            </a:xfrm>
            <a:prstGeom prst="rect">
              <a:avLst/>
            </a:prstGeom>
            <a:solidFill>
              <a:schemeClr val="accent2"/>
            </a:solidFill>
            <a:ln>
              <a:noFill/>
            </a:ln>
          </p:spPr>
        </p:sp>
        <p:sp>
          <p:nvSpPr>
            <p:cNvPr id="4" name="Rectangle 4"/>
            <p:cNvSpPr/>
            <p:nvPr/>
          </p:nvSpPr>
          <p:spPr>
            <a:xfrm>
              <a:off x="600075" y="561975"/>
              <a:ext cx="133350" cy="647700"/>
            </a:xfrm>
            <a:prstGeom prst="rect">
              <a:avLst/>
            </a:prstGeom>
            <a:solidFill>
              <a:schemeClr val="accent1">
                <a:alpha val="70000"/>
              </a:schemeClr>
            </a:solidFill>
            <a:ln>
              <a:noFill/>
            </a:ln>
          </p:spPr>
        </p:sp>
        <p:sp>
          <p:nvSpPr>
            <p:cNvPr id="5" name="Rectangle 5"/>
            <p:cNvSpPr/>
            <p:nvPr/>
          </p:nvSpPr>
          <p:spPr>
            <a:xfrm>
              <a:off x="571500" y="533400"/>
              <a:ext cx="133350" cy="647700"/>
            </a:xfrm>
            <a:prstGeom prst="rect">
              <a:avLst/>
            </a:prstGeom>
            <a:solidFill>
              <a:schemeClr val="accent2"/>
            </a:solidFill>
            <a:ln>
              <a:noFill/>
            </a:ln>
          </p:spPr>
        </p:sp>
        <p:sp>
          <p:nvSpPr>
            <p:cNvPr id="6" name="TextBox 6"/>
            <p:cNvSpPr txBox="1"/>
            <p:nvPr/>
          </p:nvSpPr>
          <p:spPr>
            <a:xfrm>
              <a:off x="858012" y="544830"/>
              <a:ext cx="3851453" cy="704088"/>
            </a:xfrm>
            <a:prstGeom prst="rect">
              <a:avLst/>
            </a:prstGeom>
            <a:noFill/>
            <a:ln>
              <a:noFill/>
            </a:ln>
          </p:spPr>
          <p:txBody>
            <a:bodyPr wrap="none" lIns="0" tIns="0" rIns="0" bIns="0" anchor="t" anchorCtr="0">
              <a:spAutoFit/>
            </a:bodyPr>
            <a:lstStyle/>
            <a:p>
              <a:pPr algn="l"/>
              <a:r>
                <a:rPr lang="zh-CN" sz="3600" spc="-75" dirty="0">
                  <a:solidFill>
                    <a:schemeClr val="dk1"/>
                  </a:solidFill>
                  <a:latin typeface="+mj-lt"/>
                  <a:ea typeface="+mj-ea"/>
                  <a:cs typeface="+mj-cs"/>
                </a:rPr>
                <a:t>收藏 ZINE 的 4 条</a:t>
              </a:r>
            </a:p>
          </p:txBody>
        </p:sp>
        <p:sp>
          <p:nvSpPr>
            <p:cNvPr id="7" name="TextBox 7"/>
            <p:cNvSpPr txBox="1"/>
            <p:nvPr/>
          </p:nvSpPr>
          <p:spPr>
            <a:xfrm>
              <a:off x="871347" y="1113949"/>
              <a:ext cx="4869393" cy="190690"/>
            </a:xfrm>
            <a:prstGeom prst="rect">
              <a:avLst/>
            </a:prstGeom>
            <a:noFill/>
            <a:ln>
              <a:noFill/>
            </a:ln>
          </p:spPr>
          <p:txBody>
            <a:bodyPr wrap="none" lIns="0" tIns="0" rIns="0" bIns="0" anchor="t" anchorCtr="0">
              <a:spAutoFit/>
            </a:bodyPr>
            <a:lstStyle/>
            <a:p>
              <a:pPr algn="l"/>
              <a:r>
                <a:rPr lang="zh-CN" sz="980" spc="225" dirty="0">
                  <a:solidFill>
                    <a:schemeClr val="dk2"/>
                  </a:solidFill>
                  <a:latin typeface="Consolas"/>
                  <a:ea typeface="Consolas"/>
                  <a:cs typeface="Consolas"/>
                </a:rPr>
                <a:t>HOW TO COLLECT ZINES · NO ARCHIVAL PHD REQUIRED</a:t>
              </a:r>
            </a:p>
          </p:txBody>
        </p:sp>
      </p:grpSp>
      <p:sp>
        <p:nvSpPr>
          <p:cNvPr id="9" name="Line 9"/>
          <p:cNvSpPr/>
          <p:nvPr/>
        </p:nvSpPr>
        <p:spPr>
          <a:xfrm>
            <a:off x="571500" y="1447800"/>
            <a:ext cx="11049000" cy="9525"/>
          </a:xfrm>
          <a:custGeom>
            <a:avLst/>
            <a:gdLst/>
            <a:ahLst/>
            <a:cxnLst/>
            <a:rect l="l" t="t" r="r" b="b"/>
            <a:pathLst>
              <a:path w="11049000" h="9525">
                <a:moveTo>
                  <a:pt x="0" y="0"/>
                </a:moveTo>
                <a:lnTo>
                  <a:pt x="11049000" y="0"/>
                </a:lnTo>
              </a:path>
            </a:pathLst>
          </a:custGeom>
          <a:noFill/>
          <a:ln w="28575">
            <a:solidFill>
              <a:schemeClr val="accent4"/>
            </a:solidFill>
          </a:ln>
        </p:spPr>
      </p:sp>
      <p:sp>
        <p:nvSpPr>
          <p:cNvPr id="10" name="Rectangle 10"/>
          <p:cNvSpPr/>
          <p:nvPr/>
        </p:nvSpPr>
        <p:spPr>
          <a:xfrm>
            <a:off x="1143000" y="1905000"/>
            <a:ext cx="57150" cy="4095750"/>
          </a:xfrm>
          <a:prstGeom prst="rect">
            <a:avLst/>
          </a:prstGeom>
          <a:solidFill>
            <a:schemeClr val="accent2"/>
          </a:solidFill>
          <a:ln>
            <a:noFill/>
          </a:ln>
        </p:spPr>
      </p:sp>
      <p:sp>
        <p:nvSpPr>
          <p:cNvPr id="11" name="Rectangle 11"/>
          <p:cNvSpPr/>
          <p:nvPr/>
        </p:nvSpPr>
        <p:spPr>
          <a:xfrm>
            <a:off x="1171575" y="1933575"/>
            <a:ext cx="57150" cy="4095750"/>
          </a:xfrm>
          <a:prstGeom prst="rect">
            <a:avLst/>
          </a:prstGeom>
          <a:solidFill>
            <a:schemeClr val="accent1">
              <a:alpha val="60000"/>
            </a:schemeClr>
          </a:solidFill>
          <a:ln>
            <a:noFill/>
          </a:ln>
        </p:spPr>
      </p:sp>
      <p:sp>
        <p:nvSpPr>
          <p:cNvPr id="12" name="Rectangle 12"/>
          <p:cNvSpPr/>
          <p:nvPr/>
        </p:nvSpPr>
        <p:spPr>
          <a:xfrm>
            <a:off x="1143000" y="1905000"/>
            <a:ext cx="57150" cy="4095750"/>
          </a:xfrm>
          <a:prstGeom prst="rect">
            <a:avLst/>
          </a:prstGeom>
          <a:solidFill>
            <a:schemeClr val="accent2"/>
          </a:solidFill>
          <a:ln>
            <a:noFill/>
          </a:ln>
        </p:spPr>
      </p:sp>
      <p:sp>
        <p:nvSpPr>
          <p:cNvPr id="13" name="Polygon 13"/>
          <p:cNvSpPr/>
          <p:nvPr/>
        </p:nvSpPr>
        <p:spPr>
          <a:xfrm>
            <a:off x="1047750" y="5943600"/>
            <a:ext cx="247650" cy="152400"/>
          </a:xfrm>
          <a:custGeom>
            <a:avLst/>
            <a:gdLst/>
            <a:ahLst/>
            <a:cxnLst/>
            <a:rect l="l" t="t" r="r" b="b"/>
            <a:pathLst>
              <a:path w="247650" h="152400">
                <a:moveTo>
                  <a:pt x="123825" y="152400"/>
                </a:moveTo>
                <a:lnTo>
                  <a:pt x="0" y="0"/>
                </a:lnTo>
                <a:lnTo>
                  <a:pt x="247650" y="0"/>
                </a:lnTo>
                <a:close/>
              </a:path>
            </a:pathLst>
          </a:custGeom>
          <a:solidFill>
            <a:schemeClr val="accent2"/>
          </a:solidFill>
          <a:ln>
            <a:noFill/>
          </a:ln>
        </p:spPr>
      </p:sp>
      <p:grpSp>
        <p:nvGrpSpPr>
          <p:cNvPr id="25" name="Group 25"/>
          <p:cNvGrpSpPr/>
          <p:nvPr/>
        </p:nvGrpSpPr>
        <p:grpSpPr>
          <a:xfrm>
            <a:off x="762000" y="1905000"/>
            <a:ext cx="10858500" cy="892873"/>
            <a:chOff x="762000" y="1905000"/>
            <a:chExt cx="10858500" cy="892873"/>
          </a:xfrm>
        </p:grpSpPr>
        <p:sp>
          <p:nvSpPr>
            <p:cNvPr id="14" name="Rectangle 14"/>
            <p:cNvSpPr/>
            <p:nvPr/>
          </p:nvSpPr>
          <p:spPr>
            <a:xfrm>
              <a:off x="762000" y="1905000"/>
              <a:ext cx="819150" cy="819150"/>
            </a:xfrm>
            <a:prstGeom prst="rect">
              <a:avLst/>
            </a:prstGeom>
            <a:solidFill>
              <a:schemeClr val="accent2"/>
            </a:solidFill>
            <a:ln>
              <a:noFill/>
            </a:ln>
          </p:spPr>
        </p:sp>
        <p:sp>
          <p:nvSpPr>
            <p:cNvPr id="15" name="Rectangle 15"/>
            <p:cNvSpPr/>
            <p:nvPr/>
          </p:nvSpPr>
          <p:spPr>
            <a:xfrm>
              <a:off x="790575" y="1933575"/>
              <a:ext cx="819150" cy="819150"/>
            </a:xfrm>
            <a:prstGeom prst="rect">
              <a:avLst/>
            </a:prstGeom>
            <a:solidFill>
              <a:schemeClr val="accent1">
                <a:alpha val="60000"/>
              </a:schemeClr>
            </a:solidFill>
            <a:ln>
              <a:noFill/>
            </a:ln>
          </p:spPr>
        </p:sp>
        <p:sp>
          <p:nvSpPr>
            <p:cNvPr id="16" name="Rectangle 16"/>
            <p:cNvSpPr/>
            <p:nvPr/>
          </p:nvSpPr>
          <p:spPr>
            <a:xfrm>
              <a:off x="762000" y="1905000"/>
              <a:ext cx="819150" cy="819150"/>
            </a:xfrm>
            <a:prstGeom prst="rect">
              <a:avLst/>
            </a:prstGeom>
            <a:solidFill>
              <a:schemeClr val="accent2"/>
            </a:solidFill>
            <a:ln>
              <a:noFill/>
            </a:ln>
          </p:spPr>
        </p:sp>
        <p:sp>
          <p:nvSpPr>
            <p:cNvPr id="17" name="TextBox 17"/>
            <p:cNvSpPr txBox="1"/>
            <p:nvPr/>
          </p:nvSpPr>
          <p:spPr>
            <a:xfrm>
              <a:off x="898608" y="2123122"/>
              <a:ext cx="545935" cy="674751"/>
            </a:xfrm>
            <a:prstGeom prst="rect">
              <a:avLst/>
            </a:prstGeom>
            <a:noFill/>
            <a:ln>
              <a:noFill/>
            </a:ln>
          </p:spPr>
          <p:txBody>
            <a:bodyPr wrap="none" lIns="0" tIns="0" rIns="0" bIns="0" anchor="t" anchorCtr="0">
              <a:spAutoFit/>
            </a:bodyPr>
            <a:lstStyle/>
            <a:p>
              <a:pPr algn="ctr"/>
              <a:r>
                <a:rPr lang="zh-CN" sz="3450" dirty="0">
                  <a:solidFill>
                    <a:srgbClr val="F5EFE0"/>
                  </a:solidFill>
                  <a:latin typeface="+mj-lt"/>
                  <a:ea typeface="+mj-ea"/>
                  <a:cs typeface="+mj-cs"/>
                </a:rPr>
                <a:t>01</a:t>
              </a:r>
            </a:p>
          </p:txBody>
        </p:sp>
        <p:sp>
          <p:nvSpPr>
            <p:cNvPr id="18" name="Line 18"/>
            <p:cNvSpPr/>
            <p:nvPr/>
          </p:nvSpPr>
          <p:spPr>
            <a:xfrm>
              <a:off x="1581150" y="2314575"/>
              <a:ext cx="323850" cy="9525"/>
            </a:xfrm>
            <a:custGeom>
              <a:avLst/>
              <a:gdLst/>
              <a:ahLst/>
              <a:cxnLst/>
              <a:rect l="l" t="t" r="r" b="b"/>
              <a:pathLst>
                <a:path w="323850" h="9525">
                  <a:moveTo>
                    <a:pt x="0" y="0"/>
                  </a:moveTo>
                  <a:lnTo>
                    <a:pt x="323850" y="0"/>
                  </a:lnTo>
                </a:path>
              </a:pathLst>
            </a:custGeom>
            <a:noFill/>
            <a:ln w="23812">
              <a:solidFill>
                <a:schemeClr val="accent2"/>
              </a:solidFill>
              <a:custDash>
                <a:ds d="160000" sp="120000"/>
              </a:custDash>
            </a:ln>
          </p:spPr>
        </p:sp>
        <p:sp>
          <p:nvSpPr>
            <p:cNvPr id="19" name="Rectangle 19"/>
            <p:cNvSpPr/>
            <p:nvPr/>
          </p:nvSpPr>
          <p:spPr>
            <a:xfrm>
              <a:off x="1905000" y="1905000"/>
              <a:ext cx="9715500" cy="819150"/>
            </a:xfrm>
            <a:prstGeom prst="rect">
              <a:avLst/>
            </a:prstGeom>
            <a:solidFill>
              <a:schemeClr val="lt1"/>
            </a:solidFill>
            <a:ln>
              <a:noFill/>
            </a:ln>
          </p:spPr>
        </p:sp>
        <p:sp>
          <p:nvSpPr>
            <p:cNvPr id="20" name="Rectangle 20"/>
            <p:cNvSpPr/>
            <p:nvPr/>
          </p:nvSpPr>
          <p:spPr>
            <a:xfrm>
              <a:off x="1905000" y="1905000"/>
              <a:ext cx="9715500" cy="819150"/>
            </a:xfrm>
            <a:prstGeom prst="rect">
              <a:avLst/>
            </a:prstGeom>
            <a:noFill/>
            <a:ln w="19050">
              <a:solidFill>
                <a:schemeClr val="accent4"/>
              </a:solidFill>
            </a:ln>
          </p:spPr>
        </p:sp>
        <p:sp>
          <p:nvSpPr>
            <p:cNvPr id="21" name="Rectangle 21"/>
            <p:cNvSpPr/>
            <p:nvPr/>
          </p:nvSpPr>
          <p:spPr>
            <a:xfrm>
              <a:off x="1905000" y="1905000"/>
              <a:ext cx="76200" cy="819150"/>
            </a:xfrm>
            <a:prstGeom prst="rect">
              <a:avLst/>
            </a:prstGeom>
            <a:solidFill>
              <a:schemeClr val="accent2"/>
            </a:solidFill>
            <a:ln>
              <a:noFill/>
            </a:ln>
          </p:spPr>
        </p:sp>
        <p:sp>
          <p:nvSpPr>
            <p:cNvPr id="22" name="Freeform 22"/>
            <p:cNvSpPr/>
            <p:nvPr/>
          </p:nvSpPr>
          <p:spPr>
            <a:xfrm>
              <a:off x="2133600" y="2105025"/>
              <a:ext cx="457200" cy="400050"/>
            </a:xfrm>
            <a:custGeom>
              <a:avLst/>
              <a:gdLst/>
              <a:ahLst/>
              <a:cxnLst/>
              <a:rect l="l" t="t" r="r" b="b"/>
              <a:pathLst>
                <a:path w="457200" h="400050">
                  <a:moveTo>
                    <a:pt x="35508" y="206958"/>
                  </a:moveTo>
                  <a:lnTo>
                    <a:pt x="228600" y="400050"/>
                  </a:lnTo>
                  <a:lnTo>
                    <a:pt x="421693" y="206958"/>
                  </a:lnTo>
                  <a:cubicBezTo>
                    <a:pt x="444427" y="184223"/>
                    <a:pt x="457200" y="153387"/>
                    <a:pt x="457200" y="121233"/>
                  </a:cubicBezTo>
                  <a:lnTo>
                    <a:pt x="457200" y="115796"/>
                  </a:lnTo>
                  <a:cubicBezTo>
                    <a:pt x="457200" y="51844"/>
                    <a:pt x="405356" y="0"/>
                    <a:pt x="341406" y="0"/>
                  </a:cubicBezTo>
                  <a:cubicBezTo>
                    <a:pt x="306227" y="0"/>
                    <a:pt x="272958" y="15990"/>
                    <a:pt x="250983" y="43459"/>
                  </a:cubicBezTo>
                  <a:lnTo>
                    <a:pt x="228600" y="71438"/>
                  </a:lnTo>
                  <a:lnTo>
                    <a:pt x="206217" y="43459"/>
                  </a:lnTo>
                  <a:cubicBezTo>
                    <a:pt x="184242" y="15990"/>
                    <a:pt x="150973" y="0"/>
                    <a:pt x="115796" y="0"/>
                  </a:cubicBezTo>
                  <a:cubicBezTo>
                    <a:pt x="51844" y="0"/>
                    <a:pt x="0" y="51844"/>
                    <a:pt x="0" y="115796"/>
                  </a:cubicBezTo>
                  <a:lnTo>
                    <a:pt x="0" y="121233"/>
                  </a:lnTo>
                  <a:cubicBezTo>
                    <a:pt x="0" y="153387"/>
                    <a:pt x="12773" y="184223"/>
                    <a:pt x="35508" y="206958"/>
                  </a:cubicBezTo>
                  <a:close/>
                </a:path>
              </a:pathLst>
            </a:custGeom>
            <a:solidFill>
              <a:schemeClr val="accent2"/>
            </a:solidFill>
            <a:ln>
              <a:noFill/>
            </a:ln>
          </p:spPr>
        </p:sp>
        <p:sp>
          <p:nvSpPr>
            <p:cNvPr id="23" name="TextBox 23"/>
            <p:cNvSpPr txBox="1"/>
            <p:nvPr/>
          </p:nvSpPr>
          <p:spPr>
            <a:xfrm>
              <a:off x="2734818" y="2107882"/>
              <a:ext cx="1127379"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mn-lt"/>
                  <a:ea typeface="+mn-ea"/>
                  <a:cs typeface="+mn-cs"/>
                </a:rPr>
                <a:t>从一本起步</a:t>
              </a:r>
            </a:p>
          </p:txBody>
        </p:sp>
        <p:sp>
          <p:nvSpPr>
            <p:cNvPr id="24" name="TextBox 24"/>
            <p:cNvSpPr txBox="1"/>
            <p:nvPr/>
          </p:nvSpPr>
          <p:spPr>
            <a:xfrm>
              <a:off x="2737485" y="2412206"/>
              <a:ext cx="4316039" cy="220028"/>
            </a:xfrm>
            <a:prstGeom prst="rect">
              <a:avLst/>
            </a:prstGeom>
            <a:noFill/>
            <a:ln>
              <a:noFill/>
            </a:ln>
          </p:spPr>
          <p:txBody>
            <a:bodyPr wrap="none" lIns="0" tIns="0" rIns="0" bIns="0" anchor="t" anchorCtr="0">
              <a:spAutoFit/>
            </a:bodyPr>
            <a:lstStyle/>
            <a:p>
              <a:pPr algn="l"/>
              <a:r>
                <a:rPr lang="zh-CN" sz="1120" dirty="0">
                  <a:solidFill>
                    <a:schemeClr val="dk2"/>
                  </a:solidFill>
                  <a:latin typeface="+mn-lt"/>
                  <a:ea typeface="+mn-ea"/>
                  <a:cs typeface="+mn-cs"/>
                </a:rPr>
                <a:t>不要一开始就 100 本目标 · 找你最关心的一个主题 · 滚雪球收藏</a:t>
              </a:r>
            </a:p>
          </p:txBody>
        </p:sp>
      </p:grpSp>
      <p:grpSp>
        <p:nvGrpSpPr>
          <p:cNvPr id="39" name="Group 39"/>
          <p:cNvGrpSpPr/>
          <p:nvPr/>
        </p:nvGrpSpPr>
        <p:grpSpPr>
          <a:xfrm>
            <a:off x="762000" y="2971800"/>
            <a:ext cx="10858500" cy="892873"/>
            <a:chOff x="762000" y="2971800"/>
            <a:chExt cx="10858500" cy="892873"/>
          </a:xfrm>
        </p:grpSpPr>
        <p:sp>
          <p:nvSpPr>
            <p:cNvPr id="26" name="Rectangle 26"/>
            <p:cNvSpPr/>
            <p:nvPr/>
          </p:nvSpPr>
          <p:spPr>
            <a:xfrm>
              <a:off x="762000" y="2971800"/>
              <a:ext cx="819150" cy="819150"/>
            </a:xfrm>
            <a:prstGeom prst="rect">
              <a:avLst/>
            </a:prstGeom>
            <a:solidFill>
              <a:schemeClr val="accent1"/>
            </a:solidFill>
            <a:ln>
              <a:noFill/>
            </a:ln>
          </p:spPr>
        </p:sp>
        <p:sp>
          <p:nvSpPr>
            <p:cNvPr id="27" name="Rectangle 27"/>
            <p:cNvSpPr/>
            <p:nvPr/>
          </p:nvSpPr>
          <p:spPr>
            <a:xfrm>
              <a:off x="790575" y="3000375"/>
              <a:ext cx="819150" cy="819150"/>
            </a:xfrm>
            <a:prstGeom prst="rect">
              <a:avLst/>
            </a:prstGeom>
            <a:solidFill>
              <a:schemeClr val="accent2">
                <a:alpha val="60000"/>
              </a:schemeClr>
            </a:solidFill>
            <a:ln>
              <a:noFill/>
            </a:ln>
          </p:spPr>
        </p:sp>
        <p:sp>
          <p:nvSpPr>
            <p:cNvPr id="28" name="Rectangle 28"/>
            <p:cNvSpPr/>
            <p:nvPr/>
          </p:nvSpPr>
          <p:spPr>
            <a:xfrm>
              <a:off x="762000" y="2971800"/>
              <a:ext cx="819150" cy="819150"/>
            </a:xfrm>
            <a:prstGeom prst="rect">
              <a:avLst/>
            </a:prstGeom>
            <a:solidFill>
              <a:schemeClr val="accent1"/>
            </a:solidFill>
            <a:ln>
              <a:noFill/>
            </a:ln>
          </p:spPr>
        </p:sp>
        <p:sp>
          <p:nvSpPr>
            <p:cNvPr id="29" name="TextBox 29"/>
            <p:cNvSpPr txBox="1"/>
            <p:nvPr/>
          </p:nvSpPr>
          <p:spPr>
            <a:xfrm>
              <a:off x="898608" y="3189922"/>
              <a:ext cx="545935" cy="674751"/>
            </a:xfrm>
            <a:prstGeom prst="rect">
              <a:avLst/>
            </a:prstGeom>
            <a:noFill/>
            <a:ln>
              <a:noFill/>
            </a:ln>
          </p:spPr>
          <p:txBody>
            <a:bodyPr wrap="none" lIns="0" tIns="0" rIns="0" bIns="0" anchor="t" anchorCtr="0">
              <a:spAutoFit/>
            </a:bodyPr>
            <a:lstStyle/>
            <a:p>
              <a:pPr algn="ctr"/>
              <a:r>
                <a:rPr lang="zh-CN" sz="3450" dirty="0">
                  <a:solidFill>
                    <a:srgbClr val="F5EFE0"/>
                  </a:solidFill>
                  <a:latin typeface="+mj-lt"/>
                  <a:ea typeface="+mj-ea"/>
                  <a:cs typeface="+mj-cs"/>
                </a:rPr>
                <a:t>02</a:t>
              </a:r>
            </a:p>
          </p:txBody>
        </p:sp>
        <p:sp>
          <p:nvSpPr>
            <p:cNvPr id="30" name="Line 30"/>
            <p:cNvSpPr/>
            <p:nvPr/>
          </p:nvSpPr>
          <p:spPr>
            <a:xfrm>
              <a:off x="1581150" y="3381375"/>
              <a:ext cx="323850" cy="9525"/>
            </a:xfrm>
            <a:custGeom>
              <a:avLst/>
              <a:gdLst/>
              <a:ahLst/>
              <a:cxnLst/>
              <a:rect l="l" t="t" r="r" b="b"/>
              <a:pathLst>
                <a:path w="323850" h="9525">
                  <a:moveTo>
                    <a:pt x="0" y="0"/>
                  </a:moveTo>
                  <a:lnTo>
                    <a:pt x="323850" y="0"/>
                  </a:lnTo>
                </a:path>
              </a:pathLst>
            </a:custGeom>
            <a:noFill/>
            <a:ln w="23812">
              <a:solidFill>
                <a:schemeClr val="accent1"/>
              </a:solidFill>
              <a:custDash>
                <a:ds d="160000" sp="120000"/>
              </a:custDash>
            </a:ln>
          </p:spPr>
        </p:sp>
        <p:sp>
          <p:nvSpPr>
            <p:cNvPr id="31" name="Rectangle 31"/>
            <p:cNvSpPr/>
            <p:nvPr/>
          </p:nvSpPr>
          <p:spPr>
            <a:xfrm>
              <a:off x="1905000" y="2971800"/>
              <a:ext cx="9715500" cy="819150"/>
            </a:xfrm>
            <a:prstGeom prst="rect">
              <a:avLst/>
            </a:prstGeom>
            <a:solidFill>
              <a:schemeClr val="lt1"/>
            </a:solidFill>
            <a:ln>
              <a:noFill/>
            </a:ln>
          </p:spPr>
        </p:sp>
        <p:sp>
          <p:nvSpPr>
            <p:cNvPr id="32" name="Rectangle 32"/>
            <p:cNvSpPr/>
            <p:nvPr/>
          </p:nvSpPr>
          <p:spPr>
            <a:xfrm>
              <a:off x="1905000" y="2971800"/>
              <a:ext cx="9715500" cy="819150"/>
            </a:xfrm>
            <a:prstGeom prst="rect">
              <a:avLst/>
            </a:prstGeom>
            <a:noFill/>
            <a:ln w="19050">
              <a:solidFill>
                <a:schemeClr val="accent4"/>
              </a:solidFill>
            </a:ln>
          </p:spPr>
        </p:sp>
        <p:sp>
          <p:nvSpPr>
            <p:cNvPr id="33" name="Rectangle 33"/>
            <p:cNvSpPr/>
            <p:nvPr/>
          </p:nvSpPr>
          <p:spPr>
            <a:xfrm>
              <a:off x="1905000" y="2971800"/>
              <a:ext cx="76200" cy="819150"/>
            </a:xfrm>
            <a:prstGeom prst="rect">
              <a:avLst/>
            </a:prstGeom>
            <a:solidFill>
              <a:schemeClr val="accent1"/>
            </a:solidFill>
            <a:ln>
              <a:noFill/>
            </a:ln>
          </p:spPr>
        </p:sp>
        <p:grpSp>
          <p:nvGrpSpPr>
            <p:cNvPr id="36" name="Group 36"/>
            <p:cNvGrpSpPr/>
            <p:nvPr/>
          </p:nvGrpSpPr>
          <p:grpSpPr>
            <a:xfrm>
              <a:off x="2133600" y="3171825"/>
              <a:ext cx="457200" cy="400050"/>
              <a:chOff x="2133600" y="3171825"/>
              <a:chExt cx="457200" cy="400050"/>
            </a:xfrm>
          </p:grpSpPr>
          <p:sp>
            <p:nvSpPr>
              <p:cNvPr id="34" name="Freeform 34"/>
              <p:cNvSpPr/>
              <p:nvPr/>
            </p:nvSpPr>
            <p:spPr>
              <a:xfrm>
                <a:off x="2247900" y="3171825"/>
                <a:ext cx="342900" cy="285750"/>
              </a:xfrm>
              <a:custGeom>
                <a:avLst/>
                <a:gdLst/>
                <a:ahLst/>
                <a:cxnLst/>
                <a:rect l="l" t="t" r="r" b="b"/>
                <a:pathLst>
                  <a:path w="342900" h="285750">
                    <a:moveTo>
                      <a:pt x="142875" y="0"/>
                    </a:moveTo>
                    <a:lnTo>
                      <a:pt x="0" y="0"/>
                    </a:lnTo>
                    <a:lnTo>
                      <a:pt x="0" y="285750"/>
                    </a:lnTo>
                    <a:lnTo>
                      <a:pt x="342900" y="285750"/>
                    </a:lnTo>
                    <a:lnTo>
                      <a:pt x="342900" y="57150"/>
                    </a:lnTo>
                    <a:lnTo>
                      <a:pt x="200025" y="57150"/>
                    </a:lnTo>
                    <a:lnTo>
                      <a:pt x="142875" y="0"/>
                    </a:lnTo>
                    <a:close/>
                  </a:path>
                </a:pathLst>
              </a:custGeom>
              <a:solidFill>
                <a:schemeClr val="accent1"/>
              </a:solidFill>
              <a:ln>
                <a:noFill/>
              </a:ln>
            </p:spPr>
          </p:sp>
          <p:sp>
            <p:nvSpPr>
              <p:cNvPr id="35" name="Freeform 35"/>
              <p:cNvSpPr/>
              <p:nvPr/>
            </p:nvSpPr>
            <p:spPr>
              <a:xfrm>
                <a:off x="2133600" y="3286125"/>
                <a:ext cx="342900" cy="285750"/>
              </a:xfrm>
              <a:custGeom>
                <a:avLst/>
                <a:gdLst/>
                <a:ahLst/>
                <a:cxnLst/>
                <a:rect l="l" t="t" r="r" b="b"/>
                <a:pathLst>
                  <a:path w="342900" h="285750">
                    <a:moveTo>
                      <a:pt x="0" y="0"/>
                    </a:moveTo>
                    <a:lnTo>
                      <a:pt x="0" y="285750"/>
                    </a:lnTo>
                    <a:lnTo>
                      <a:pt x="342900" y="285750"/>
                    </a:lnTo>
                    <a:lnTo>
                      <a:pt x="342900" y="228600"/>
                    </a:lnTo>
                    <a:lnTo>
                      <a:pt x="57150" y="228600"/>
                    </a:lnTo>
                    <a:lnTo>
                      <a:pt x="57150" y="0"/>
                    </a:lnTo>
                    <a:lnTo>
                      <a:pt x="0" y="0"/>
                    </a:lnTo>
                    <a:close/>
                  </a:path>
                </a:pathLst>
              </a:custGeom>
              <a:solidFill>
                <a:schemeClr val="accent1"/>
              </a:solidFill>
              <a:ln>
                <a:noFill/>
              </a:ln>
            </p:spPr>
          </p:sp>
        </p:grpSp>
        <p:sp>
          <p:nvSpPr>
            <p:cNvPr id="37" name="TextBox 37"/>
            <p:cNvSpPr txBox="1"/>
            <p:nvPr/>
          </p:nvSpPr>
          <p:spPr>
            <a:xfrm>
              <a:off x="2734818" y="3174682"/>
              <a:ext cx="1571625"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mn-lt"/>
                  <a:ea typeface="+mn-ea"/>
                  <a:cs typeface="+mn-cs"/>
                </a:rPr>
                <a:t>用塑料封套保护</a:t>
              </a:r>
            </a:p>
          </p:txBody>
        </p:sp>
        <p:sp>
          <p:nvSpPr>
            <p:cNvPr id="38" name="TextBox 38"/>
            <p:cNvSpPr txBox="1"/>
            <p:nvPr/>
          </p:nvSpPr>
          <p:spPr>
            <a:xfrm>
              <a:off x="2737485" y="3479006"/>
              <a:ext cx="3886332" cy="220028"/>
            </a:xfrm>
            <a:prstGeom prst="rect">
              <a:avLst/>
            </a:prstGeom>
            <a:noFill/>
            <a:ln>
              <a:noFill/>
            </a:ln>
          </p:spPr>
          <p:txBody>
            <a:bodyPr wrap="none" lIns="0" tIns="0" rIns="0" bIns="0" anchor="t" anchorCtr="0">
              <a:spAutoFit/>
            </a:bodyPr>
            <a:lstStyle/>
            <a:p>
              <a:pPr algn="l"/>
              <a:r>
                <a:rPr lang="zh-CN" sz="1120" dirty="0">
                  <a:solidFill>
                    <a:schemeClr val="dk2"/>
                  </a:solidFill>
                  <a:latin typeface="+mn-lt"/>
                  <a:ea typeface="+mn-ea"/>
                  <a:cs typeface="+mn-cs"/>
                </a:rPr>
                <a:t>zine 是一次性印刷 · 二次印刷罕见 · 一本破损 = 一本绝版</a:t>
              </a:r>
            </a:p>
          </p:txBody>
        </p:sp>
      </p:grpSp>
      <p:grpSp>
        <p:nvGrpSpPr>
          <p:cNvPr id="55" name="Group 55"/>
          <p:cNvGrpSpPr/>
          <p:nvPr/>
        </p:nvGrpSpPr>
        <p:grpSpPr>
          <a:xfrm>
            <a:off x="762000" y="4038600"/>
            <a:ext cx="10858500" cy="892873"/>
            <a:chOff x="762000" y="4038600"/>
            <a:chExt cx="10858500" cy="892873"/>
          </a:xfrm>
        </p:grpSpPr>
        <p:sp>
          <p:nvSpPr>
            <p:cNvPr id="40" name="Rectangle 40"/>
            <p:cNvSpPr/>
            <p:nvPr/>
          </p:nvSpPr>
          <p:spPr>
            <a:xfrm>
              <a:off x="762000" y="4038600"/>
              <a:ext cx="819150" cy="819150"/>
            </a:xfrm>
            <a:prstGeom prst="rect">
              <a:avLst/>
            </a:prstGeom>
            <a:solidFill>
              <a:schemeClr val="dk1"/>
            </a:solidFill>
            <a:ln>
              <a:noFill/>
            </a:ln>
          </p:spPr>
        </p:sp>
        <p:sp>
          <p:nvSpPr>
            <p:cNvPr id="41" name="Rectangle 41"/>
            <p:cNvSpPr/>
            <p:nvPr/>
          </p:nvSpPr>
          <p:spPr>
            <a:xfrm>
              <a:off x="790575" y="4067175"/>
              <a:ext cx="819150" cy="819150"/>
            </a:xfrm>
            <a:prstGeom prst="rect">
              <a:avLst/>
            </a:prstGeom>
            <a:solidFill>
              <a:schemeClr val="accent2">
                <a:alpha val="60000"/>
              </a:schemeClr>
            </a:solidFill>
            <a:ln>
              <a:noFill/>
            </a:ln>
          </p:spPr>
        </p:sp>
        <p:sp>
          <p:nvSpPr>
            <p:cNvPr id="42" name="Rectangle 42"/>
            <p:cNvSpPr/>
            <p:nvPr/>
          </p:nvSpPr>
          <p:spPr>
            <a:xfrm>
              <a:off x="762000" y="4038600"/>
              <a:ext cx="819150" cy="819150"/>
            </a:xfrm>
            <a:prstGeom prst="rect">
              <a:avLst/>
            </a:prstGeom>
            <a:solidFill>
              <a:schemeClr val="dk1"/>
            </a:solidFill>
            <a:ln>
              <a:noFill/>
            </a:ln>
          </p:spPr>
        </p:sp>
        <p:sp>
          <p:nvSpPr>
            <p:cNvPr id="43" name="TextBox 43"/>
            <p:cNvSpPr txBox="1"/>
            <p:nvPr/>
          </p:nvSpPr>
          <p:spPr>
            <a:xfrm>
              <a:off x="898608" y="4256722"/>
              <a:ext cx="545935" cy="674751"/>
            </a:xfrm>
            <a:prstGeom prst="rect">
              <a:avLst/>
            </a:prstGeom>
            <a:noFill/>
            <a:ln>
              <a:noFill/>
            </a:ln>
          </p:spPr>
          <p:txBody>
            <a:bodyPr wrap="none" lIns="0" tIns="0" rIns="0" bIns="0" anchor="t" anchorCtr="0">
              <a:spAutoFit/>
            </a:bodyPr>
            <a:lstStyle/>
            <a:p>
              <a:pPr algn="ctr"/>
              <a:r>
                <a:rPr lang="zh-CN" sz="3450" dirty="0">
                  <a:solidFill>
                    <a:schemeClr val="accent2"/>
                  </a:solidFill>
                  <a:latin typeface="+mj-lt"/>
                  <a:ea typeface="+mj-ea"/>
                  <a:cs typeface="+mj-cs"/>
                </a:rPr>
                <a:t>03</a:t>
              </a:r>
            </a:p>
          </p:txBody>
        </p:sp>
        <p:sp>
          <p:nvSpPr>
            <p:cNvPr id="44" name="Line 44"/>
            <p:cNvSpPr/>
            <p:nvPr/>
          </p:nvSpPr>
          <p:spPr>
            <a:xfrm>
              <a:off x="1581150" y="4448175"/>
              <a:ext cx="323850" cy="9525"/>
            </a:xfrm>
            <a:custGeom>
              <a:avLst/>
              <a:gdLst/>
              <a:ahLst/>
              <a:cxnLst/>
              <a:rect l="l" t="t" r="r" b="b"/>
              <a:pathLst>
                <a:path w="323850" h="9525">
                  <a:moveTo>
                    <a:pt x="0" y="0"/>
                  </a:moveTo>
                  <a:lnTo>
                    <a:pt x="323850" y="0"/>
                  </a:lnTo>
                </a:path>
              </a:pathLst>
            </a:custGeom>
            <a:noFill/>
            <a:ln w="23812">
              <a:solidFill>
                <a:schemeClr val="accent4"/>
              </a:solidFill>
              <a:custDash>
                <a:ds d="160000" sp="120000"/>
              </a:custDash>
            </a:ln>
          </p:spPr>
        </p:sp>
        <p:sp>
          <p:nvSpPr>
            <p:cNvPr id="45" name="Rectangle 45"/>
            <p:cNvSpPr/>
            <p:nvPr/>
          </p:nvSpPr>
          <p:spPr>
            <a:xfrm>
              <a:off x="1905000" y="4038600"/>
              <a:ext cx="9715500" cy="819150"/>
            </a:xfrm>
            <a:prstGeom prst="rect">
              <a:avLst/>
            </a:prstGeom>
            <a:solidFill>
              <a:schemeClr val="lt1"/>
            </a:solidFill>
            <a:ln>
              <a:noFill/>
            </a:ln>
          </p:spPr>
        </p:sp>
        <p:sp>
          <p:nvSpPr>
            <p:cNvPr id="46" name="Rectangle 46"/>
            <p:cNvSpPr/>
            <p:nvPr/>
          </p:nvSpPr>
          <p:spPr>
            <a:xfrm>
              <a:off x="1905000" y="4038600"/>
              <a:ext cx="9715500" cy="819150"/>
            </a:xfrm>
            <a:prstGeom prst="rect">
              <a:avLst/>
            </a:prstGeom>
            <a:noFill/>
            <a:ln w="19050">
              <a:solidFill>
                <a:schemeClr val="accent4"/>
              </a:solidFill>
            </a:ln>
          </p:spPr>
        </p:sp>
        <p:sp>
          <p:nvSpPr>
            <p:cNvPr id="47" name="Rectangle 47"/>
            <p:cNvSpPr/>
            <p:nvPr/>
          </p:nvSpPr>
          <p:spPr>
            <a:xfrm>
              <a:off x="1905000" y="4038600"/>
              <a:ext cx="76200" cy="819150"/>
            </a:xfrm>
            <a:prstGeom prst="rect">
              <a:avLst/>
            </a:prstGeom>
            <a:solidFill>
              <a:schemeClr val="dk1"/>
            </a:solidFill>
            <a:ln>
              <a:noFill/>
            </a:ln>
          </p:spPr>
        </p:sp>
        <p:grpSp>
          <p:nvGrpSpPr>
            <p:cNvPr id="52" name="Group 52"/>
            <p:cNvGrpSpPr/>
            <p:nvPr/>
          </p:nvGrpSpPr>
          <p:grpSpPr>
            <a:xfrm>
              <a:off x="2133600" y="4238625"/>
              <a:ext cx="457200" cy="400050"/>
              <a:chOff x="2133600" y="4238625"/>
              <a:chExt cx="457200" cy="400050"/>
            </a:xfrm>
          </p:grpSpPr>
          <p:sp>
            <p:nvSpPr>
              <p:cNvPr id="48" name="Freeform 48"/>
              <p:cNvSpPr/>
              <p:nvPr/>
            </p:nvSpPr>
            <p:spPr>
              <a:xfrm>
                <a:off x="2219325" y="4238625"/>
                <a:ext cx="142875" cy="142875"/>
              </a:xfrm>
              <a:custGeom>
                <a:avLst/>
                <a:gdLst/>
                <a:ahLst/>
                <a:cxnLst/>
                <a:rect l="l" t="t" r="r" b="b"/>
                <a:pathLst>
                  <a:path w="142875" h="142875">
                    <a:moveTo>
                      <a:pt x="142875" y="71438"/>
                    </a:moveTo>
                    <a:cubicBezTo>
                      <a:pt x="142875" y="110891"/>
                      <a:pt x="110891" y="142875"/>
                      <a:pt x="71438" y="142875"/>
                    </a:cubicBezTo>
                    <a:cubicBezTo>
                      <a:pt x="31984" y="142875"/>
                      <a:pt x="0" y="110891"/>
                      <a:pt x="0" y="71438"/>
                    </a:cubicBezTo>
                    <a:cubicBezTo>
                      <a:pt x="0" y="31984"/>
                      <a:pt x="31984" y="0"/>
                      <a:pt x="71438" y="0"/>
                    </a:cubicBezTo>
                    <a:cubicBezTo>
                      <a:pt x="110891" y="0"/>
                      <a:pt x="142875" y="31984"/>
                      <a:pt x="142875" y="71438"/>
                    </a:cubicBezTo>
                    <a:close/>
                  </a:path>
                </a:pathLst>
              </a:custGeom>
              <a:solidFill>
                <a:schemeClr val="dk1"/>
              </a:solidFill>
              <a:ln>
                <a:noFill/>
              </a:ln>
            </p:spPr>
          </p:sp>
          <p:sp>
            <p:nvSpPr>
              <p:cNvPr id="49" name="Freeform 49"/>
              <p:cNvSpPr/>
              <p:nvPr/>
            </p:nvSpPr>
            <p:spPr>
              <a:xfrm>
                <a:off x="2133600" y="4438650"/>
                <a:ext cx="228600" cy="200025"/>
              </a:xfrm>
              <a:custGeom>
                <a:avLst/>
                <a:gdLst/>
                <a:ahLst/>
                <a:cxnLst/>
                <a:rect l="l" t="t" r="r" b="b"/>
                <a:pathLst>
                  <a:path w="228600" h="200025">
                    <a:moveTo>
                      <a:pt x="85725" y="0"/>
                    </a:moveTo>
                    <a:cubicBezTo>
                      <a:pt x="38381" y="0"/>
                      <a:pt x="0" y="38381"/>
                      <a:pt x="0" y="85725"/>
                    </a:cubicBezTo>
                    <a:lnTo>
                      <a:pt x="0" y="200025"/>
                    </a:lnTo>
                    <a:lnTo>
                      <a:pt x="228600" y="200025"/>
                    </a:lnTo>
                    <a:lnTo>
                      <a:pt x="228600" y="0"/>
                    </a:lnTo>
                    <a:lnTo>
                      <a:pt x="85725" y="0"/>
                    </a:lnTo>
                    <a:close/>
                  </a:path>
                </a:pathLst>
              </a:custGeom>
              <a:solidFill>
                <a:schemeClr val="dk1"/>
              </a:solidFill>
              <a:ln>
                <a:noFill/>
              </a:ln>
            </p:spPr>
          </p:sp>
          <p:sp>
            <p:nvSpPr>
              <p:cNvPr id="50" name="Freeform 50"/>
              <p:cNvSpPr/>
              <p:nvPr/>
            </p:nvSpPr>
            <p:spPr>
              <a:xfrm>
                <a:off x="2419350" y="4438650"/>
                <a:ext cx="171450" cy="200025"/>
              </a:xfrm>
              <a:custGeom>
                <a:avLst/>
                <a:gdLst/>
                <a:ahLst/>
                <a:cxnLst/>
                <a:rect l="l" t="t" r="r" b="b"/>
                <a:pathLst>
                  <a:path w="171450" h="200025">
                    <a:moveTo>
                      <a:pt x="85725" y="0"/>
                    </a:moveTo>
                    <a:lnTo>
                      <a:pt x="0" y="0"/>
                    </a:lnTo>
                    <a:lnTo>
                      <a:pt x="0" y="200025"/>
                    </a:lnTo>
                    <a:lnTo>
                      <a:pt x="171450" y="200025"/>
                    </a:lnTo>
                    <a:lnTo>
                      <a:pt x="171450" y="85725"/>
                    </a:lnTo>
                    <a:cubicBezTo>
                      <a:pt x="171450" y="38381"/>
                      <a:pt x="133071" y="0"/>
                      <a:pt x="85725" y="0"/>
                    </a:cubicBezTo>
                    <a:close/>
                  </a:path>
                </a:pathLst>
              </a:custGeom>
              <a:solidFill>
                <a:schemeClr val="dk1"/>
              </a:solidFill>
              <a:ln>
                <a:noFill/>
              </a:ln>
            </p:spPr>
          </p:sp>
          <p:sp>
            <p:nvSpPr>
              <p:cNvPr id="51" name="Freeform 51"/>
              <p:cNvSpPr/>
              <p:nvPr/>
            </p:nvSpPr>
            <p:spPr>
              <a:xfrm>
                <a:off x="2419350" y="4267200"/>
                <a:ext cx="114300" cy="114300"/>
              </a:xfrm>
              <a:custGeom>
                <a:avLst/>
                <a:gdLst/>
                <a:ahLst/>
                <a:cxnLst/>
                <a:rect l="l" t="t" r="r" b="b"/>
                <a:pathLst>
                  <a:path w="114300" h="114300">
                    <a:moveTo>
                      <a:pt x="57150" y="114300"/>
                    </a:moveTo>
                    <a:cubicBezTo>
                      <a:pt x="88714" y="114300"/>
                      <a:pt x="114300" y="88713"/>
                      <a:pt x="114300" y="57150"/>
                    </a:cubicBezTo>
                    <a:cubicBezTo>
                      <a:pt x="114300" y="25587"/>
                      <a:pt x="88714" y="0"/>
                      <a:pt x="57150" y="0"/>
                    </a:cubicBezTo>
                    <a:cubicBezTo>
                      <a:pt x="25586" y="0"/>
                      <a:pt x="0" y="25587"/>
                      <a:pt x="0" y="57150"/>
                    </a:cubicBezTo>
                    <a:cubicBezTo>
                      <a:pt x="0" y="88713"/>
                      <a:pt x="25586" y="114300"/>
                      <a:pt x="57150" y="114300"/>
                    </a:cubicBezTo>
                    <a:close/>
                  </a:path>
                </a:pathLst>
              </a:custGeom>
              <a:solidFill>
                <a:schemeClr val="dk1"/>
              </a:solidFill>
              <a:ln>
                <a:noFill/>
              </a:ln>
            </p:spPr>
          </p:sp>
        </p:grpSp>
        <p:sp>
          <p:nvSpPr>
            <p:cNvPr id="53" name="TextBox 53"/>
            <p:cNvSpPr txBox="1"/>
            <p:nvPr/>
          </p:nvSpPr>
          <p:spPr>
            <a:xfrm>
              <a:off x="2734818" y="4241482"/>
              <a:ext cx="3071724"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mn-lt"/>
                  <a:ea typeface="+mn-ea"/>
                  <a:cs typeface="+mn-cs"/>
                </a:rPr>
                <a:t>跟踪作者 / 出版方 Instagram</a:t>
              </a:r>
            </a:p>
          </p:txBody>
        </p:sp>
        <p:sp>
          <p:nvSpPr>
            <p:cNvPr id="54" name="TextBox 54"/>
            <p:cNvSpPr txBox="1"/>
            <p:nvPr/>
          </p:nvSpPr>
          <p:spPr>
            <a:xfrm>
              <a:off x="2737485" y="4545806"/>
              <a:ext cx="4572356" cy="220028"/>
            </a:xfrm>
            <a:prstGeom prst="rect">
              <a:avLst/>
            </a:prstGeom>
            <a:noFill/>
            <a:ln>
              <a:noFill/>
            </a:ln>
          </p:spPr>
          <p:txBody>
            <a:bodyPr wrap="none" lIns="0" tIns="0" rIns="0" bIns="0" anchor="t" anchorCtr="0">
              <a:spAutoFit/>
            </a:bodyPr>
            <a:lstStyle/>
            <a:p>
              <a:pPr algn="l"/>
              <a:r>
                <a:rPr lang="zh-CN" sz="1120" dirty="0">
                  <a:solidFill>
                    <a:schemeClr val="dk2"/>
                  </a:solidFill>
                  <a:latin typeface="+mn-lt"/>
                  <a:ea typeface="+mn-ea"/>
                  <a:cs typeface="+mn-cs"/>
                </a:rPr>
                <a:t>新刊首发是赶圈机会 · 100 份卖完就没了 · 第二天朋友圈截图也没用</a:t>
              </a:r>
            </a:p>
          </p:txBody>
        </p:sp>
      </p:grpSp>
      <p:grpSp>
        <p:nvGrpSpPr>
          <p:cNvPr id="69" name="Group 69"/>
          <p:cNvGrpSpPr/>
          <p:nvPr/>
        </p:nvGrpSpPr>
        <p:grpSpPr>
          <a:xfrm>
            <a:off x="762000" y="5105400"/>
            <a:ext cx="10858500" cy="892873"/>
            <a:chOff x="762000" y="5105400"/>
            <a:chExt cx="10858500" cy="892873"/>
          </a:xfrm>
        </p:grpSpPr>
        <p:sp>
          <p:nvSpPr>
            <p:cNvPr id="56" name="Rectangle 56"/>
            <p:cNvSpPr/>
            <p:nvPr/>
          </p:nvSpPr>
          <p:spPr>
            <a:xfrm>
              <a:off x="762000" y="5105400"/>
              <a:ext cx="819150" cy="819150"/>
            </a:xfrm>
            <a:prstGeom prst="rect">
              <a:avLst/>
            </a:prstGeom>
            <a:solidFill>
              <a:schemeClr val="accent3"/>
            </a:solidFill>
            <a:ln>
              <a:noFill/>
            </a:ln>
          </p:spPr>
        </p:sp>
        <p:sp>
          <p:nvSpPr>
            <p:cNvPr id="57" name="Rectangle 57"/>
            <p:cNvSpPr/>
            <p:nvPr/>
          </p:nvSpPr>
          <p:spPr>
            <a:xfrm>
              <a:off x="790575" y="5133975"/>
              <a:ext cx="819150" cy="819150"/>
            </a:xfrm>
            <a:prstGeom prst="rect">
              <a:avLst/>
            </a:prstGeom>
            <a:solidFill>
              <a:schemeClr val="accent1">
                <a:alpha val="60000"/>
              </a:schemeClr>
            </a:solidFill>
            <a:ln>
              <a:noFill/>
            </a:ln>
          </p:spPr>
        </p:sp>
        <p:sp>
          <p:nvSpPr>
            <p:cNvPr id="58" name="Rectangle 58"/>
            <p:cNvSpPr/>
            <p:nvPr/>
          </p:nvSpPr>
          <p:spPr>
            <a:xfrm>
              <a:off x="762000" y="5105400"/>
              <a:ext cx="819150" cy="819150"/>
            </a:xfrm>
            <a:prstGeom prst="rect">
              <a:avLst/>
            </a:prstGeom>
            <a:solidFill>
              <a:schemeClr val="accent3"/>
            </a:solidFill>
            <a:ln>
              <a:noFill/>
            </a:ln>
          </p:spPr>
        </p:sp>
        <p:sp>
          <p:nvSpPr>
            <p:cNvPr id="59" name="TextBox 59"/>
            <p:cNvSpPr txBox="1"/>
            <p:nvPr/>
          </p:nvSpPr>
          <p:spPr>
            <a:xfrm>
              <a:off x="898608" y="5323522"/>
              <a:ext cx="545935" cy="674751"/>
            </a:xfrm>
            <a:prstGeom prst="rect">
              <a:avLst/>
            </a:prstGeom>
            <a:noFill/>
            <a:ln>
              <a:noFill/>
            </a:ln>
          </p:spPr>
          <p:txBody>
            <a:bodyPr wrap="none" lIns="0" tIns="0" rIns="0" bIns="0" anchor="t" anchorCtr="0">
              <a:spAutoFit/>
            </a:bodyPr>
            <a:lstStyle/>
            <a:p>
              <a:pPr algn="ctr"/>
              <a:r>
                <a:rPr lang="zh-CN" sz="3450" dirty="0">
                  <a:solidFill>
                    <a:srgbClr val="F5EFE0"/>
                  </a:solidFill>
                  <a:latin typeface="+mj-lt"/>
                  <a:ea typeface="+mj-ea"/>
                  <a:cs typeface="+mj-cs"/>
                </a:rPr>
                <a:t>04</a:t>
              </a:r>
            </a:p>
          </p:txBody>
        </p:sp>
        <p:sp>
          <p:nvSpPr>
            <p:cNvPr id="60" name="Line 60"/>
            <p:cNvSpPr/>
            <p:nvPr/>
          </p:nvSpPr>
          <p:spPr>
            <a:xfrm>
              <a:off x="1581150" y="5514975"/>
              <a:ext cx="323850" cy="9525"/>
            </a:xfrm>
            <a:custGeom>
              <a:avLst/>
              <a:gdLst/>
              <a:ahLst/>
              <a:cxnLst/>
              <a:rect l="l" t="t" r="r" b="b"/>
              <a:pathLst>
                <a:path w="323850" h="9525">
                  <a:moveTo>
                    <a:pt x="0" y="0"/>
                  </a:moveTo>
                  <a:lnTo>
                    <a:pt x="323850" y="0"/>
                  </a:lnTo>
                </a:path>
              </a:pathLst>
            </a:custGeom>
            <a:noFill/>
            <a:ln w="23812">
              <a:solidFill>
                <a:schemeClr val="accent3"/>
              </a:solidFill>
              <a:custDash>
                <a:ds d="160000" sp="120000"/>
              </a:custDash>
            </a:ln>
          </p:spPr>
        </p:sp>
        <p:sp>
          <p:nvSpPr>
            <p:cNvPr id="61" name="Rectangle 61"/>
            <p:cNvSpPr/>
            <p:nvPr/>
          </p:nvSpPr>
          <p:spPr>
            <a:xfrm>
              <a:off x="1905000" y="5105400"/>
              <a:ext cx="9715500" cy="819150"/>
            </a:xfrm>
            <a:prstGeom prst="rect">
              <a:avLst/>
            </a:prstGeom>
            <a:solidFill>
              <a:schemeClr val="lt1"/>
            </a:solidFill>
            <a:ln>
              <a:noFill/>
            </a:ln>
          </p:spPr>
        </p:sp>
        <p:sp>
          <p:nvSpPr>
            <p:cNvPr id="62" name="Rectangle 62"/>
            <p:cNvSpPr/>
            <p:nvPr/>
          </p:nvSpPr>
          <p:spPr>
            <a:xfrm>
              <a:off x="1905000" y="5105400"/>
              <a:ext cx="9715500" cy="819150"/>
            </a:xfrm>
            <a:prstGeom prst="rect">
              <a:avLst/>
            </a:prstGeom>
            <a:noFill/>
            <a:ln w="19050">
              <a:solidFill>
                <a:schemeClr val="accent4"/>
              </a:solidFill>
            </a:ln>
          </p:spPr>
        </p:sp>
        <p:sp>
          <p:nvSpPr>
            <p:cNvPr id="63" name="Rectangle 63"/>
            <p:cNvSpPr/>
            <p:nvPr/>
          </p:nvSpPr>
          <p:spPr>
            <a:xfrm>
              <a:off x="1905000" y="5105400"/>
              <a:ext cx="76200" cy="819150"/>
            </a:xfrm>
            <a:prstGeom prst="rect">
              <a:avLst/>
            </a:prstGeom>
            <a:solidFill>
              <a:schemeClr val="accent3"/>
            </a:solidFill>
            <a:ln>
              <a:noFill/>
            </a:ln>
          </p:spPr>
        </p:sp>
        <p:grpSp>
          <p:nvGrpSpPr>
            <p:cNvPr id="66" name="Group 66"/>
            <p:cNvGrpSpPr/>
            <p:nvPr/>
          </p:nvGrpSpPr>
          <p:grpSpPr>
            <a:xfrm>
              <a:off x="2162175" y="5276850"/>
              <a:ext cx="400050" cy="428625"/>
              <a:chOff x="2162175" y="5276850"/>
              <a:chExt cx="400050" cy="428625"/>
            </a:xfrm>
          </p:grpSpPr>
          <p:sp>
            <p:nvSpPr>
              <p:cNvPr id="64" name="Freeform 64"/>
              <p:cNvSpPr/>
              <p:nvPr/>
            </p:nvSpPr>
            <p:spPr>
              <a:xfrm>
                <a:off x="2162175" y="5276850"/>
                <a:ext cx="400050" cy="142875"/>
              </a:xfrm>
              <a:custGeom>
                <a:avLst/>
                <a:gdLst/>
                <a:ahLst/>
                <a:cxnLst/>
                <a:rect l="l" t="t" r="r" b="b"/>
                <a:pathLst>
                  <a:path w="400050" h="142875">
                    <a:moveTo>
                      <a:pt x="142875" y="0"/>
                    </a:moveTo>
                    <a:lnTo>
                      <a:pt x="57150" y="0"/>
                    </a:lnTo>
                    <a:lnTo>
                      <a:pt x="57150" y="57150"/>
                    </a:lnTo>
                    <a:lnTo>
                      <a:pt x="0" y="57150"/>
                    </a:lnTo>
                    <a:lnTo>
                      <a:pt x="0" y="142875"/>
                    </a:lnTo>
                    <a:lnTo>
                      <a:pt x="400050" y="142875"/>
                    </a:lnTo>
                    <a:lnTo>
                      <a:pt x="400050" y="57150"/>
                    </a:lnTo>
                    <a:lnTo>
                      <a:pt x="342900" y="57150"/>
                    </a:lnTo>
                    <a:lnTo>
                      <a:pt x="342900" y="0"/>
                    </a:lnTo>
                    <a:lnTo>
                      <a:pt x="257175" y="0"/>
                    </a:lnTo>
                    <a:lnTo>
                      <a:pt x="257175" y="57150"/>
                    </a:lnTo>
                    <a:lnTo>
                      <a:pt x="142875" y="57150"/>
                    </a:lnTo>
                    <a:lnTo>
                      <a:pt x="142875" y="0"/>
                    </a:lnTo>
                    <a:close/>
                  </a:path>
                </a:pathLst>
              </a:custGeom>
              <a:solidFill>
                <a:schemeClr val="accent3"/>
              </a:solidFill>
              <a:ln>
                <a:noFill/>
              </a:ln>
            </p:spPr>
          </p:sp>
          <p:sp>
            <p:nvSpPr>
              <p:cNvPr id="65" name="Freeform 65"/>
              <p:cNvSpPr/>
              <p:nvPr/>
            </p:nvSpPr>
            <p:spPr>
              <a:xfrm>
                <a:off x="2162175" y="5476875"/>
                <a:ext cx="400050" cy="228600"/>
              </a:xfrm>
              <a:custGeom>
                <a:avLst/>
                <a:gdLst/>
                <a:ahLst/>
                <a:cxnLst/>
                <a:rect l="l" t="t" r="r" b="b"/>
                <a:pathLst>
                  <a:path w="400050" h="228600">
                    <a:moveTo>
                      <a:pt x="400050" y="0"/>
                    </a:moveTo>
                    <a:lnTo>
                      <a:pt x="0" y="0"/>
                    </a:lnTo>
                    <a:lnTo>
                      <a:pt x="0" y="228600"/>
                    </a:lnTo>
                    <a:lnTo>
                      <a:pt x="400050" y="228600"/>
                    </a:lnTo>
                    <a:lnTo>
                      <a:pt x="400050" y="0"/>
                    </a:lnTo>
                    <a:close/>
                  </a:path>
                </a:pathLst>
              </a:custGeom>
              <a:solidFill>
                <a:schemeClr val="accent3"/>
              </a:solidFill>
              <a:ln>
                <a:noFill/>
              </a:ln>
            </p:spPr>
          </p:sp>
        </p:grpSp>
        <p:sp>
          <p:nvSpPr>
            <p:cNvPr id="67" name="TextBox 67"/>
            <p:cNvSpPr txBox="1"/>
            <p:nvPr/>
          </p:nvSpPr>
          <p:spPr>
            <a:xfrm>
              <a:off x="2734818" y="5308282"/>
              <a:ext cx="2087649"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mn-lt"/>
                  <a:ea typeface="+mn-ea"/>
                  <a:cs typeface="+mn-cs"/>
                </a:rPr>
                <a:t>参加 abC / UNFOLD</a:t>
              </a:r>
            </a:p>
          </p:txBody>
        </p:sp>
        <p:sp>
          <p:nvSpPr>
            <p:cNvPr id="68" name="TextBox 68"/>
            <p:cNvSpPr txBox="1"/>
            <p:nvPr/>
          </p:nvSpPr>
          <p:spPr>
            <a:xfrm>
              <a:off x="2737485" y="5612606"/>
              <a:ext cx="3697864" cy="220028"/>
            </a:xfrm>
            <a:prstGeom prst="rect">
              <a:avLst/>
            </a:prstGeom>
            <a:noFill/>
            <a:ln>
              <a:noFill/>
            </a:ln>
          </p:spPr>
          <p:txBody>
            <a:bodyPr wrap="none" lIns="0" tIns="0" rIns="0" bIns="0" anchor="t" anchorCtr="0">
              <a:spAutoFit/>
            </a:bodyPr>
            <a:lstStyle/>
            <a:p>
              <a:pPr algn="l"/>
              <a:r>
                <a:rPr lang="zh-CN" sz="1120" dirty="0">
                  <a:solidFill>
                    <a:schemeClr val="dk2"/>
                  </a:solidFill>
                  <a:latin typeface="+mn-lt"/>
                  <a:ea typeface="+mn-ea"/>
                  <a:cs typeface="+mn-cs"/>
                </a:rPr>
                <a:t>书展现场 = 新刊首发 + 作者签售 · 一年一次的物理朝圣</a:t>
              </a:r>
            </a:p>
          </p:txBody>
        </p:sp>
      </p:grpSp>
      <p:grpSp>
        <p:nvGrpSpPr>
          <p:cNvPr id="74" name="Group 74"/>
          <p:cNvGrpSpPr/>
          <p:nvPr/>
        </p:nvGrpSpPr>
        <p:grpSpPr>
          <a:xfrm>
            <a:off x="571500" y="6229350"/>
            <a:ext cx="11077575" cy="352425"/>
            <a:chOff x="571500" y="6229350"/>
            <a:chExt cx="11077575" cy="352425"/>
          </a:xfrm>
        </p:grpSpPr>
        <p:sp>
          <p:nvSpPr>
            <p:cNvPr id="70" name="Rectangle 70"/>
            <p:cNvSpPr/>
            <p:nvPr/>
          </p:nvSpPr>
          <p:spPr>
            <a:xfrm>
              <a:off x="571500" y="6229350"/>
              <a:ext cx="11049000" cy="323850"/>
            </a:xfrm>
            <a:prstGeom prst="rect">
              <a:avLst/>
            </a:prstGeom>
            <a:solidFill>
              <a:schemeClr val="accent2"/>
            </a:solidFill>
            <a:ln>
              <a:noFill/>
            </a:ln>
          </p:spPr>
        </p:sp>
        <p:sp>
          <p:nvSpPr>
            <p:cNvPr id="71" name="Rectangle 71"/>
            <p:cNvSpPr/>
            <p:nvPr/>
          </p:nvSpPr>
          <p:spPr>
            <a:xfrm>
              <a:off x="600075" y="6257925"/>
              <a:ext cx="11049000" cy="323850"/>
            </a:xfrm>
            <a:prstGeom prst="rect">
              <a:avLst/>
            </a:prstGeom>
            <a:solidFill>
              <a:schemeClr val="accent1">
                <a:alpha val="60000"/>
              </a:schemeClr>
            </a:solidFill>
            <a:ln>
              <a:noFill/>
            </a:ln>
          </p:spPr>
        </p:sp>
        <p:sp>
          <p:nvSpPr>
            <p:cNvPr id="72" name="Rectangle 72"/>
            <p:cNvSpPr/>
            <p:nvPr/>
          </p:nvSpPr>
          <p:spPr>
            <a:xfrm>
              <a:off x="571500" y="6229350"/>
              <a:ext cx="11049000" cy="323850"/>
            </a:xfrm>
            <a:prstGeom prst="rect">
              <a:avLst/>
            </a:prstGeom>
            <a:solidFill>
              <a:schemeClr val="accent2"/>
            </a:solidFill>
            <a:ln>
              <a:noFill/>
            </a:ln>
          </p:spPr>
        </p:sp>
        <p:sp>
          <p:nvSpPr>
            <p:cNvPr id="73" name="TextBox 73"/>
            <p:cNvSpPr txBox="1"/>
            <p:nvPr/>
          </p:nvSpPr>
          <p:spPr>
            <a:xfrm>
              <a:off x="756285" y="6326981"/>
              <a:ext cx="7239043" cy="220028"/>
            </a:xfrm>
            <a:prstGeom prst="rect">
              <a:avLst/>
            </a:prstGeom>
            <a:noFill/>
            <a:ln>
              <a:noFill/>
            </a:ln>
          </p:spPr>
          <p:txBody>
            <a:bodyPr wrap="none" lIns="0" tIns="0" rIns="0" bIns="0" anchor="t" anchorCtr="0">
              <a:spAutoFit/>
            </a:bodyPr>
            <a:lstStyle/>
            <a:p>
              <a:pPr algn="l"/>
              <a:r>
                <a:rPr lang="zh-CN" sz="1120" dirty="0">
                  <a:solidFill>
                    <a:srgbClr val="F5EFE0"/>
                  </a:solidFill>
                  <a:latin typeface="+mn-lt"/>
                  <a:ea typeface="+mn-ea"/>
                  <a:cs typeface="+mn-cs"/>
                </a:rPr>
                <a:t>长期玩家秘诀 ＞ 给自己定一个"我只收集 X 主题的 zine" 的窄锚点 · 5 年后你会拥有这个主题的小型博物馆</a:t>
              </a:r>
            </a:p>
          </p:txBody>
        </p:sp>
      </p:grpSp>
      <p:grpSp>
        <p:nvGrpSpPr>
          <p:cNvPr id="77" name="Group 77"/>
          <p:cNvGrpSpPr/>
          <p:nvPr/>
        </p:nvGrpSpPr>
        <p:grpSpPr>
          <a:xfrm>
            <a:off x="566738" y="6673691"/>
            <a:ext cx="11058524" cy="161925"/>
            <a:chOff x="566738" y="6673691"/>
            <a:chExt cx="11058524" cy="161925"/>
          </a:xfrm>
        </p:grpSpPr>
        <p:sp>
          <p:nvSpPr>
            <p:cNvPr id="75" name="TextBox 75"/>
            <p:cNvSpPr txBox="1"/>
            <p:nvPr/>
          </p:nvSpPr>
          <p:spPr>
            <a:xfrm>
              <a:off x="566738" y="6673691"/>
              <a:ext cx="2708102" cy="161925"/>
            </a:xfrm>
            <a:prstGeom prst="rect">
              <a:avLst/>
            </a:prstGeom>
            <a:noFill/>
            <a:ln>
              <a:noFill/>
            </a:ln>
          </p:spPr>
          <p:txBody>
            <a:bodyPr wrap="none" lIns="0" tIns="0" rIns="0" bIns="0" anchor="t" anchorCtr="0">
              <a:spAutoFit/>
            </a:bodyPr>
            <a:lstStyle/>
            <a:p>
              <a:pPr algn="l"/>
              <a:r>
                <a:rPr lang="zh-CN" sz="820" spc="150" dirty="0">
                  <a:solidFill>
                    <a:schemeClr val="dk2"/>
                  </a:solidFill>
                  <a:latin typeface="Consolas"/>
                  <a:ea typeface="Consolas"/>
                  <a:cs typeface="Consolas"/>
                </a:rPr>
                <a:t>P15 · 4 RULES FOR COLLECTING ZINES</a:t>
              </a:r>
            </a:p>
          </p:txBody>
        </p:sp>
        <p:sp>
          <p:nvSpPr>
            <p:cNvPr id="76" name="TextBox 76"/>
            <p:cNvSpPr txBox="1"/>
            <p:nvPr/>
          </p:nvSpPr>
          <p:spPr>
            <a:xfrm>
              <a:off x="8988991" y="6673691"/>
              <a:ext cx="2636271" cy="161925"/>
            </a:xfrm>
            <a:prstGeom prst="rect">
              <a:avLst/>
            </a:prstGeom>
            <a:noFill/>
            <a:ln>
              <a:noFill/>
            </a:ln>
          </p:spPr>
          <p:txBody>
            <a:bodyPr wrap="none" lIns="0" tIns="0" rIns="0" bIns="0" anchor="t" anchorCtr="0">
              <a:spAutoFit/>
            </a:bodyPr>
            <a:lstStyle/>
            <a:p>
              <a:pPr algn="r"/>
              <a:r>
                <a:rPr lang="zh-CN" sz="820" spc="150" dirty="0">
                  <a:solidFill>
                    <a:schemeClr val="dk2"/>
                  </a:solidFill>
                  <a:latin typeface="Consolas"/>
                  <a:ea typeface="Consolas"/>
                  <a:cs typeface="Consolas"/>
                </a:rPr>
                <a:t>START NARROW · GO DEEP · GO LONG</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300"/>
                                        <p:tgtEl>
                                          <p:spTgt spid="25"/>
                                        </p:tgtEl>
                                      </p:cBhvr>
                                    </p:animEffect>
                                  </p:childTnLst>
                                </p:cTn>
                              </p:par>
                            </p:childTnLst>
                          </p:cTn>
                        </p:par>
                        <p:par>
                          <p:cTn id="8" fill="hold">
                            <p:stCondLst>
                              <p:cond delay="300"/>
                            </p:stCondLst>
                            <p:childTnLst>
                              <p:par>
                                <p:cTn xmlns:p="http://schemas.openxmlformats.org/presentationml/2006/main" id="9" presetID="10" presetClass="entr" presetSubtype="0" fill="hold" grpId="0" nodeType="afterEffect">
                                  <p:stCondLst>
                                    <p:cond delay="140"/>
                                  </p:stCondLst>
                                  <p:childTnLst>
                                    <p:set>
                                      <p:cBhvr>
                                        <p:cTn id="10" dur="1" fill="hold">
                                          <p:stCondLst>
                                            <p:cond delay="0"/>
                                          </p:stCondLst>
                                        </p:cTn>
                                        <p:tgtEl>
                                          <p:spTgt spid="39"/>
                                        </p:tgtEl>
                                        <p:attrNameLst>
                                          <p:attrName>style.visibility</p:attrName>
                                        </p:attrNameLst>
                                      </p:cBhvr>
                                      <p:to>
                                        <p:strVal val="visible"/>
                                      </p:to>
                                    </p:set>
                                    <p:animEffect transition="in" filter="fade">
                                      <p:cBhvr>
                                        <p:cTn id="11" dur="300"/>
                                        <p:tgtEl>
                                          <p:spTgt spid="39"/>
                                        </p:tgtEl>
                                      </p:cBhvr>
                                    </p:animEffect>
                                  </p:childTnLst>
                                </p:cTn>
                              </p:par>
                            </p:childTnLst>
                          </p:cTn>
                        </p:par>
                        <p:par>
                          <p:cTn id="12" fill="hold">
                            <p:stCondLst>
                              <p:cond delay="740"/>
                            </p:stCondLst>
                            <p:childTnLst>
                              <p:par>
                                <p:cTn xmlns:p="http://schemas.openxmlformats.org/presentationml/2006/main" id="13" presetID="10" presetClass="entr" presetSubtype="0" fill="hold" grpId="0" nodeType="afterEffect">
                                  <p:stCondLst>
                                    <p:cond delay="140"/>
                                  </p:stCondLst>
                                  <p:childTnLst>
                                    <p:set>
                                      <p:cBhvr>
                                        <p:cTn id="14" dur="1" fill="hold">
                                          <p:stCondLst>
                                            <p:cond delay="0"/>
                                          </p:stCondLst>
                                        </p:cTn>
                                        <p:tgtEl>
                                          <p:spTgt spid="55"/>
                                        </p:tgtEl>
                                        <p:attrNameLst>
                                          <p:attrName>style.visibility</p:attrName>
                                        </p:attrNameLst>
                                      </p:cBhvr>
                                      <p:to>
                                        <p:strVal val="visible"/>
                                      </p:to>
                                    </p:set>
                                    <p:animEffect transition="in" filter="fade">
                                      <p:cBhvr>
                                        <p:cTn id="15" dur="300"/>
                                        <p:tgtEl>
                                          <p:spTgt spid="55"/>
                                        </p:tgtEl>
                                      </p:cBhvr>
                                    </p:animEffect>
                                  </p:childTnLst>
                                </p:cTn>
                              </p:par>
                            </p:childTnLst>
                          </p:cTn>
                        </p:par>
                        <p:par>
                          <p:cTn id="16" fill="hold">
                            <p:stCondLst>
                              <p:cond delay="1180"/>
                            </p:stCondLst>
                            <p:childTnLst>
                              <p:par>
                                <p:cTn xmlns:p="http://schemas.openxmlformats.org/presentationml/2006/main" id="17" presetID="10" presetClass="entr" presetSubtype="0" fill="hold" grpId="0" nodeType="afterEffect">
                                  <p:stCondLst>
                                    <p:cond delay="140"/>
                                  </p:stCondLst>
                                  <p:childTnLst>
                                    <p:set>
                                      <p:cBhvr>
                                        <p:cTn id="18" dur="1" fill="hold">
                                          <p:stCondLst>
                                            <p:cond delay="0"/>
                                          </p:stCondLst>
                                        </p:cTn>
                                        <p:tgtEl>
                                          <p:spTgt spid="69"/>
                                        </p:tgtEl>
                                        <p:attrNameLst>
                                          <p:attrName>style.visibility</p:attrName>
                                        </p:attrNameLst>
                                      </p:cBhvr>
                                      <p:to>
                                        <p:strVal val="visible"/>
                                      </p:to>
                                    </p:set>
                                    <p:animEffect transition="in" filter="fade">
                                      <p:cBhvr>
                                        <p:cTn id="19" dur="300"/>
                                        <p:tgtEl>
                                          <p:spTgt spid="69"/>
                                        </p:tgtEl>
                                      </p:cBhvr>
                                    </p:animEffect>
                                  </p:childTnLst>
                                </p:cTn>
                              </p:par>
                            </p:childTnLst>
                          </p:cTn>
                        </p:par>
                        <p:par>
                          <p:cTn id="20" fill="hold">
                            <p:stCondLst>
                              <p:cond delay="1620"/>
                            </p:stCondLst>
                            <p:childTnLst>
                              <p:par>
                                <p:cTn xmlns:p="http://schemas.openxmlformats.org/presentationml/2006/main" id="21" presetID="22" presetClass="entr" presetSubtype="4" fill="hold" grpId="0" nodeType="afterEffect">
                                  <p:stCondLst>
                                    <p:cond delay="180"/>
                                  </p:stCondLst>
                                  <p:childTnLst>
                                    <p:set>
                                      <p:cBhvr>
                                        <p:cTn id="22" dur="1" fill="hold">
                                          <p:stCondLst>
                                            <p:cond delay="0"/>
                                          </p:stCondLst>
                                        </p:cTn>
                                        <p:tgtEl>
                                          <p:spTgt spid="74"/>
                                        </p:tgtEl>
                                        <p:attrNameLst>
                                          <p:attrName>style.visibility</p:attrName>
                                        </p:attrNameLst>
                                      </p:cBhvr>
                                      <p:to>
                                        <p:strVal val="visible"/>
                                      </p:to>
                                    </p:set>
                                    <p:animEffect transition="in" filter="wipe(down)">
                                      <p:cBhvr>
                                        <p:cTn id="23" dur="4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pattFill prst="ltUpDiag">
            <a:fgClr>
              <a:schemeClr val="dk1">
                <a:alpha val="8000"/>
              </a:schemeClr>
            </a:fgClr>
            <a:bgClr>
              <a:srgbClr val="FFFFFF"/>
            </a:bgClr>
          </a:pattFill>
          <a:ln>
            <a:noFill/>
          </a:ln>
        </p:spPr>
      </p:sp>
      <p:grpSp>
        <p:nvGrpSpPr>
          <p:cNvPr id="6" name="Group 6"/>
          <p:cNvGrpSpPr/>
          <p:nvPr/>
        </p:nvGrpSpPr>
        <p:grpSpPr>
          <a:xfrm>
            <a:off x="3617290" y="415290"/>
            <a:ext cx="4957420" cy="991171"/>
            <a:chOff x="3617290" y="415290"/>
            <a:chExt cx="4957420" cy="991171"/>
          </a:xfrm>
        </p:grpSpPr>
        <p:sp>
          <p:nvSpPr>
            <p:cNvPr id="3" name="TextBox 3"/>
            <p:cNvSpPr txBox="1"/>
            <p:nvPr/>
          </p:nvSpPr>
          <p:spPr>
            <a:xfrm>
              <a:off x="3649980" y="434340"/>
              <a:ext cx="4892040" cy="933450"/>
            </a:xfrm>
            <a:prstGeom prst="rect">
              <a:avLst/>
            </a:prstGeom>
            <a:noFill/>
            <a:ln>
              <a:noFill/>
            </a:ln>
          </p:spPr>
          <p:txBody>
            <a:bodyPr wrap="none" lIns="0" tIns="0" rIns="0" bIns="0" anchor="t" anchorCtr="0">
              <a:spAutoFit/>
            </a:bodyPr>
            <a:lstStyle/>
            <a:p>
              <a:pPr algn="ctr"/>
              <a:r>
                <a:rPr lang="zh-CN" sz="4800" spc="-75" dirty="0">
                  <a:solidFill>
                    <a:schemeClr val="accent2"/>
                  </a:solidFill>
                  <a:latin typeface="+mj-lt"/>
                  <a:ea typeface="+mj-ea"/>
                  <a:cs typeface="+mj-cs"/>
                </a:rPr>
                <a:t>你的第一本 ZINE</a:t>
              </a:r>
            </a:p>
          </p:txBody>
        </p:sp>
        <p:sp>
          <p:nvSpPr>
            <p:cNvPr id="4" name="TextBox 4"/>
            <p:cNvSpPr txBox="1"/>
            <p:nvPr/>
          </p:nvSpPr>
          <p:spPr>
            <a:xfrm>
              <a:off x="3630930" y="415290"/>
              <a:ext cx="4892040" cy="933450"/>
            </a:xfrm>
            <a:prstGeom prst="rect">
              <a:avLst/>
            </a:prstGeom>
            <a:noFill/>
            <a:ln>
              <a:noFill/>
            </a:ln>
          </p:spPr>
          <p:txBody>
            <a:bodyPr wrap="none" lIns="0" tIns="0" rIns="0" bIns="0" anchor="t" anchorCtr="0">
              <a:spAutoFit/>
            </a:bodyPr>
            <a:lstStyle/>
            <a:p>
              <a:pPr algn="ctr"/>
              <a:r>
                <a:rPr lang="zh-CN" sz="4800" spc="-75" dirty="0">
                  <a:solidFill>
                    <a:schemeClr val="dk1"/>
                  </a:solidFill>
                  <a:latin typeface="+mj-lt"/>
                  <a:ea typeface="+mj-ea"/>
                  <a:cs typeface="+mj-cs"/>
                </a:rPr>
                <a:t>你的第一本 ZINE</a:t>
              </a:r>
            </a:p>
          </p:txBody>
        </p:sp>
        <p:sp>
          <p:nvSpPr>
            <p:cNvPr id="5" name="TextBox 5"/>
            <p:cNvSpPr txBox="1"/>
            <p:nvPr/>
          </p:nvSpPr>
          <p:spPr>
            <a:xfrm>
              <a:off x="3617290" y="1201102"/>
              <a:ext cx="4957420" cy="205359"/>
            </a:xfrm>
            <a:prstGeom prst="rect">
              <a:avLst/>
            </a:prstGeom>
            <a:noFill/>
            <a:ln>
              <a:noFill/>
            </a:ln>
          </p:spPr>
          <p:txBody>
            <a:bodyPr wrap="none" lIns="0" tIns="0" rIns="0" bIns="0" anchor="t" anchorCtr="0">
              <a:spAutoFit/>
            </a:bodyPr>
            <a:lstStyle/>
            <a:p>
              <a:pPr algn="ctr"/>
              <a:r>
                <a:rPr lang="zh-CN" sz="1050" spc="375" dirty="0">
                  <a:solidFill>
                    <a:schemeClr val="accent1"/>
                  </a:solidFill>
                  <a:latin typeface="Consolas"/>
                  <a:ea typeface="Consolas"/>
                  <a:cs typeface="Consolas"/>
                </a:rPr>
                <a:t>YOUR FIRST ZINE · 4 STEPS · ONE WEEKEND</a:t>
              </a:r>
            </a:p>
          </p:txBody>
        </p:sp>
      </p:grpSp>
      <p:sp>
        <p:nvSpPr>
          <p:cNvPr id="7" name="Line 7"/>
          <p:cNvSpPr/>
          <p:nvPr/>
        </p:nvSpPr>
        <p:spPr>
          <a:xfrm>
            <a:off x="2095500" y="1619250"/>
            <a:ext cx="8001000" cy="9525"/>
          </a:xfrm>
          <a:custGeom>
            <a:avLst/>
            <a:gdLst/>
            <a:ahLst/>
            <a:cxnLst/>
            <a:rect l="l" t="t" r="r" b="b"/>
            <a:pathLst>
              <a:path w="8001000" h="9525">
                <a:moveTo>
                  <a:pt x="0" y="0"/>
                </a:moveTo>
                <a:lnTo>
                  <a:pt x="8001000" y="0"/>
                </a:lnTo>
              </a:path>
            </a:pathLst>
          </a:custGeom>
          <a:noFill/>
          <a:ln w="28575">
            <a:solidFill>
              <a:schemeClr val="accent4"/>
            </a:solidFill>
          </a:ln>
        </p:spPr>
      </p:sp>
      <p:grpSp>
        <p:nvGrpSpPr>
          <p:cNvPr id="18" name="Group 18"/>
          <p:cNvGrpSpPr/>
          <p:nvPr/>
        </p:nvGrpSpPr>
        <p:grpSpPr>
          <a:xfrm>
            <a:off x="1143000" y="2438400"/>
            <a:ext cx="1524000" cy="2917507"/>
            <a:chOff x="1143000" y="2438400"/>
            <a:chExt cx="1524000" cy="2917507"/>
          </a:xfrm>
        </p:grpSpPr>
        <p:sp>
          <p:nvSpPr>
            <p:cNvPr id="8" name="Ellipse 8"/>
            <p:cNvSpPr/>
            <p:nvPr/>
          </p:nvSpPr>
          <p:spPr>
            <a:xfrm>
              <a:off x="1295400" y="2438400"/>
              <a:ext cx="1219200" cy="1219200"/>
            </a:xfrm>
            <a:prstGeom prst="ellipse">
              <a:avLst/>
            </a:prstGeom>
            <a:solidFill>
              <a:schemeClr val="accent1"/>
            </a:solidFill>
            <a:ln>
              <a:noFill/>
            </a:ln>
          </p:spPr>
        </p:sp>
        <p:sp>
          <p:nvSpPr>
            <p:cNvPr id="9" name="Ellipse 9"/>
            <p:cNvSpPr/>
            <p:nvPr/>
          </p:nvSpPr>
          <p:spPr>
            <a:xfrm>
              <a:off x="1323975" y="2466975"/>
              <a:ext cx="1219200" cy="1219200"/>
            </a:xfrm>
            <a:prstGeom prst="ellipse">
              <a:avLst/>
            </a:prstGeom>
            <a:solidFill>
              <a:schemeClr val="accent2">
                <a:alpha val="55000"/>
              </a:schemeClr>
            </a:solidFill>
            <a:ln>
              <a:noFill/>
            </a:ln>
          </p:spPr>
        </p:sp>
        <p:sp>
          <p:nvSpPr>
            <p:cNvPr id="10" name="Ellipse 10"/>
            <p:cNvSpPr/>
            <p:nvPr/>
          </p:nvSpPr>
          <p:spPr>
            <a:xfrm>
              <a:off x="1295400" y="2438400"/>
              <a:ext cx="1219200" cy="1219200"/>
            </a:xfrm>
            <a:prstGeom prst="ellipse">
              <a:avLst/>
            </a:prstGeom>
            <a:solidFill>
              <a:schemeClr val="accent1"/>
            </a:solidFill>
            <a:ln>
              <a:noFill/>
            </a:ln>
          </p:spPr>
        </p:sp>
        <p:sp>
          <p:nvSpPr>
            <p:cNvPr id="11" name="TextBox 11"/>
            <p:cNvSpPr txBox="1"/>
            <p:nvPr/>
          </p:nvSpPr>
          <p:spPr>
            <a:xfrm>
              <a:off x="1563872" y="2749868"/>
              <a:ext cx="682257" cy="847725"/>
            </a:xfrm>
            <a:prstGeom prst="rect">
              <a:avLst/>
            </a:prstGeom>
            <a:noFill/>
            <a:ln>
              <a:noFill/>
            </a:ln>
          </p:spPr>
          <p:txBody>
            <a:bodyPr wrap="none" lIns="0" tIns="0" rIns="0" bIns="0" anchor="t" anchorCtr="0">
              <a:spAutoFit/>
            </a:bodyPr>
            <a:lstStyle/>
            <a:p>
              <a:pPr algn="ctr"/>
              <a:r>
                <a:rPr lang="zh-CN" sz="4350" dirty="0">
                  <a:solidFill>
                    <a:srgbClr val="F5EFE0"/>
                  </a:solidFill>
                  <a:latin typeface="+mj-lt"/>
                  <a:ea typeface="+mj-ea"/>
                  <a:cs typeface="+mj-cs"/>
                </a:rPr>
                <a:t>01</a:t>
              </a:r>
            </a:p>
          </p:txBody>
        </p:sp>
        <p:sp>
          <p:nvSpPr>
            <p:cNvPr id="12" name="Rectangle 12"/>
            <p:cNvSpPr/>
            <p:nvPr/>
          </p:nvSpPr>
          <p:spPr>
            <a:xfrm>
              <a:off x="1143000" y="3867150"/>
              <a:ext cx="1524000" cy="342900"/>
            </a:xfrm>
            <a:prstGeom prst="rect">
              <a:avLst/>
            </a:prstGeom>
            <a:solidFill>
              <a:schemeClr val="dk1"/>
            </a:solidFill>
            <a:ln>
              <a:noFill/>
            </a:ln>
          </p:spPr>
        </p:sp>
        <p:sp>
          <p:nvSpPr>
            <p:cNvPr id="13" name="TextBox 13"/>
            <p:cNvSpPr txBox="1"/>
            <p:nvPr/>
          </p:nvSpPr>
          <p:spPr>
            <a:xfrm>
              <a:off x="1588826" y="3990499"/>
              <a:ext cx="632348" cy="190690"/>
            </a:xfrm>
            <a:prstGeom prst="rect">
              <a:avLst/>
            </a:prstGeom>
            <a:noFill/>
            <a:ln>
              <a:noFill/>
            </a:ln>
          </p:spPr>
          <p:txBody>
            <a:bodyPr wrap="none" lIns="0" tIns="0" rIns="0" bIns="0" anchor="t" anchorCtr="0">
              <a:spAutoFit/>
            </a:bodyPr>
            <a:lstStyle/>
            <a:p>
              <a:pPr algn="ctr"/>
              <a:r>
                <a:rPr lang="zh-CN" sz="980" spc="150" dirty="0">
                  <a:solidFill>
                    <a:schemeClr val="accent2"/>
                  </a:solidFill>
                  <a:latin typeface="Consolas"/>
                  <a:ea typeface="Consolas"/>
                  <a:cs typeface="Consolas"/>
                </a:rPr>
                <a:t>CHOOSE</a:t>
              </a:r>
            </a:p>
          </p:txBody>
        </p:sp>
        <p:sp>
          <p:nvSpPr>
            <p:cNvPr id="14" name="TextBox 14"/>
            <p:cNvSpPr txBox="1"/>
            <p:nvPr/>
          </p:nvSpPr>
          <p:spPr>
            <a:xfrm>
              <a:off x="1341310" y="4298632"/>
              <a:ext cx="1127379" cy="322707"/>
            </a:xfrm>
            <a:prstGeom prst="rect">
              <a:avLst/>
            </a:prstGeom>
            <a:noFill/>
            <a:ln>
              <a:noFill/>
            </a:ln>
          </p:spPr>
          <p:txBody>
            <a:bodyPr wrap="none" lIns="0" tIns="0" rIns="0" bIns="0" anchor="t" anchorCtr="0">
              <a:spAutoFit/>
            </a:bodyPr>
            <a:lstStyle/>
            <a:p>
              <a:pPr algn="ctr"/>
              <a:r>
                <a:rPr lang="zh-CN" sz="1650" b="1" dirty="0">
                  <a:solidFill>
                    <a:schemeClr val="dk1"/>
                  </a:solidFill>
                  <a:latin typeface="+mn-lt"/>
                  <a:ea typeface="+mn-ea"/>
                  <a:cs typeface="+mn-cs"/>
                </a:rPr>
                <a:t>选一个主题</a:t>
              </a:r>
            </a:p>
          </p:txBody>
        </p:sp>
        <p:sp>
          <p:nvSpPr>
            <p:cNvPr id="15" name="TextBox 15"/>
            <p:cNvSpPr txBox="1"/>
            <p:nvPr/>
          </p:nvSpPr>
          <p:spPr>
            <a:xfrm>
              <a:off x="1546288" y="4630102"/>
              <a:ext cx="717423" cy="205359"/>
            </a:xfrm>
            <a:prstGeom prst="rect">
              <a:avLst/>
            </a:prstGeom>
            <a:noFill/>
            <a:ln>
              <a:noFill/>
            </a:ln>
          </p:spPr>
          <p:txBody>
            <a:bodyPr wrap="none" lIns="0" tIns="0" rIns="0" bIns="0" anchor="t" anchorCtr="0">
              <a:spAutoFit/>
            </a:bodyPr>
            <a:lstStyle/>
            <a:p>
              <a:pPr algn="ctr"/>
              <a:r>
                <a:rPr lang="zh-CN" sz="1050" dirty="0">
                  <a:solidFill>
                    <a:schemeClr val="dk2"/>
                  </a:solidFill>
                  <a:latin typeface="+mn-lt"/>
                  <a:ea typeface="+mn-ea"/>
                  <a:cs typeface="+mn-cs"/>
                </a:rPr>
                <a:t>真心关心的</a:t>
              </a:r>
            </a:p>
          </p:txBody>
        </p:sp>
        <p:sp>
          <p:nvSpPr>
            <p:cNvPr id="16" name="TextBox 16"/>
            <p:cNvSpPr txBox="1"/>
            <p:nvPr/>
          </p:nvSpPr>
          <p:spPr>
            <a:xfrm>
              <a:off x="1616964" y="4820602"/>
              <a:ext cx="576072" cy="205359"/>
            </a:xfrm>
            <a:prstGeom prst="rect">
              <a:avLst/>
            </a:prstGeom>
            <a:noFill/>
            <a:ln>
              <a:noFill/>
            </a:ln>
          </p:spPr>
          <p:txBody>
            <a:bodyPr wrap="none" lIns="0" tIns="0" rIns="0" bIns="0" anchor="t" anchorCtr="0">
              <a:spAutoFit/>
            </a:bodyPr>
            <a:lstStyle/>
            <a:p>
              <a:pPr algn="ctr"/>
              <a:r>
                <a:rPr lang="zh-CN" sz="1050" dirty="0">
                  <a:solidFill>
                    <a:schemeClr val="dk2"/>
                  </a:solidFill>
                  <a:latin typeface="+mn-lt"/>
                  <a:ea typeface="+mn-ea"/>
                  <a:cs typeface="+mn-cs"/>
                </a:rPr>
                <a:t>不必宏大</a:t>
              </a:r>
            </a:p>
          </p:txBody>
        </p:sp>
        <p:sp>
          <p:nvSpPr>
            <p:cNvPr id="17" name="TextBox 17"/>
            <p:cNvSpPr txBox="1"/>
            <p:nvPr/>
          </p:nvSpPr>
          <p:spPr>
            <a:xfrm>
              <a:off x="1329886" y="5179695"/>
              <a:ext cx="1150228" cy="176212"/>
            </a:xfrm>
            <a:prstGeom prst="rect">
              <a:avLst/>
            </a:prstGeom>
            <a:noFill/>
            <a:ln>
              <a:noFill/>
            </a:ln>
          </p:spPr>
          <p:txBody>
            <a:bodyPr wrap="none" lIns="0" tIns="0" rIns="0" bIns="0" anchor="t" anchorCtr="0">
              <a:spAutoFit/>
            </a:bodyPr>
            <a:lstStyle/>
            <a:p>
              <a:pPr algn="ctr"/>
              <a:r>
                <a:rPr lang="zh-CN" sz="900" b="1" dirty="0">
                  <a:solidFill>
                    <a:schemeClr val="accent1"/>
                  </a:solidFill>
                  <a:latin typeface="+mn-lt"/>
                  <a:ea typeface="+mn-ea"/>
                  <a:cs typeface="+mn-cs"/>
                </a:rPr>
                <a:t>小猫 / 早餐 / 通勤路</a:t>
              </a:r>
            </a:p>
          </p:txBody>
        </p:sp>
      </p:grpSp>
      <p:sp>
        <p:nvSpPr>
          <p:cNvPr id="19" name="Line 19"/>
          <p:cNvSpPr/>
          <p:nvPr/>
        </p:nvSpPr>
        <p:spPr>
          <a:xfrm>
            <a:off x="2628900" y="3048000"/>
            <a:ext cx="838200" cy="1"/>
          </a:xfrm>
          <a:prstGeom prst="line">
            <a:avLst/>
          </a:prstGeom>
          <a:noFill/>
          <a:ln w="38100">
            <a:solidFill>
              <a:schemeClr val="accent4"/>
            </a:solidFill>
            <a:tailEnd type="triangle" w="lg" len="lg"/>
          </a:ln>
        </p:spPr>
      </p:sp>
      <p:grpSp>
        <p:nvGrpSpPr>
          <p:cNvPr id="30" name="Group 30"/>
          <p:cNvGrpSpPr/>
          <p:nvPr/>
        </p:nvGrpSpPr>
        <p:grpSpPr>
          <a:xfrm>
            <a:off x="3429000" y="2438400"/>
            <a:ext cx="1524000" cy="2917507"/>
            <a:chOff x="3429000" y="2438400"/>
            <a:chExt cx="1524000" cy="2917507"/>
          </a:xfrm>
        </p:grpSpPr>
        <p:sp>
          <p:nvSpPr>
            <p:cNvPr id="20" name="Ellipse 20"/>
            <p:cNvSpPr/>
            <p:nvPr/>
          </p:nvSpPr>
          <p:spPr>
            <a:xfrm>
              <a:off x="3581400" y="2438400"/>
              <a:ext cx="1219200" cy="1219200"/>
            </a:xfrm>
            <a:prstGeom prst="ellipse">
              <a:avLst/>
            </a:prstGeom>
            <a:solidFill>
              <a:schemeClr val="accent2"/>
            </a:solidFill>
            <a:ln>
              <a:noFill/>
            </a:ln>
          </p:spPr>
        </p:sp>
        <p:sp>
          <p:nvSpPr>
            <p:cNvPr id="21" name="Ellipse 21"/>
            <p:cNvSpPr/>
            <p:nvPr/>
          </p:nvSpPr>
          <p:spPr>
            <a:xfrm>
              <a:off x="3609975" y="2466975"/>
              <a:ext cx="1219200" cy="1219200"/>
            </a:xfrm>
            <a:prstGeom prst="ellipse">
              <a:avLst/>
            </a:prstGeom>
            <a:solidFill>
              <a:schemeClr val="accent1">
                <a:alpha val="55000"/>
              </a:schemeClr>
            </a:solidFill>
            <a:ln>
              <a:noFill/>
            </a:ln>
          </p:spPr>
        </p:sp>
        <p:sp>
          <p:nvSpPr>
            <p:cNvPr id="22" name="Ellipse 22"/>
            <p:cNvSpPr/>
            <p:nvPr/>
          </p:nvSpPr>
          <p:spPr>
            <a:xfrm>
              <a:off x="3581400" y="2438400"/>
              <a:ext cx="1219200" cy="1219200"/>
            </a:xfrm>
            <a:prstGeom prst="ellipse">
              <a:avLst/>
            </a:prstGeom>
            <a:solidFill>
              <a:schemeClr val="accent2"/>
            </a:solidFill>
            <a:ln>
              <a:noFill/>
            </a:ln>
          </p:spPr>
        </p:sp>
        <p:sp>
          <p:nvSpPr>
            <p:cNvPr id="23" name="TextBox 23"/>
            <p:cNvSpPr txBox="1"/>
            <p:nvPr/>
          </p:nvSpPr>
          <p:spPr>
            <a:xfrm>
              <a:off x="3849872" y="2749868"/>
              <a:ext cx="682257" cy="847725"/>
            </a:xfrm>
            <a:prstGeom prst="rect">
              <a:avLst/>
            </a:prstGeom>
            <a:noFill/>
            <a:ln>
              <a:noFill/>
            </a:ln>
          </p:spPr>
          <p:txBody>
            <a:bodyPr wrap="none" lIns="0" tIns="0" rIns="0" bIns="0" anchor="t" anchorCtr="0">
              <a:spAutoFit/>
            </a:bodyPr>
            <a:lstStyle/>
            <a:p>
              <a:pPr algn="ctr"/>
              <a:r>
                <a:rPr lang="zh-CN" sz="4350" dirty="0">
                  <a:solidFill>
                    <a:srgbClr val="F5EFE0"/>
                  </a:solidFill>
                  <a:latin typeface="+mj-lt"/>
                  <a:ea typeface="+mj-ea"/>
                  <a:cs typeface="+mj-cs"/>
                </a:rPr>
                <a:t>02</a:t>
              </a:r>
            </a:p>
          </p:txBody>
        </p:sp>
        <p:sp>
          <p:nvSpPr>
            <p:cNvPr id="24" name="Rectangle 24"/>
            <p:cNvSpPr/>
            <p:nvPr/>
          </p:nvSpPr>
          <p:spPr>
            <a:xfrm>
              <a:off x="3429000" y="3867150"/>
              <a:ext cx="1524000" cy="342900"/>
            </a:xfrm>
            <a:prstGeom prst="rect">
              <a:avLst/>
            </a:prstGeom>
            <a:solidFill>
              <a:schemeClr val="dk1"/>
            </a:solidFill>
            <a:ln>
              <a:noFill/>
            </a:ln>
          </p:spPr>
        </p:sp>
        <p:sp>
          <p:nvSpPr>
            <p:cNvPr id="25" name="TextBox 25"/>
            <p:cNvSpPr txBox="1"/>
            <p:nvPr/>
          </p:nvSpPr>
          <p:spPr>
            <a:xfrm>
              <a:off x="3986769" y="3990499"/>
              <a:ext cx="408462" cy="190690"/>
            </a:xfrm>
            <a:prstGeom prst="rect">
              <a:avLst/>
            </a:prstGeom>
            <a:noFill/>
            <a:ln>
              <a:noFill/>
            </a:ln>
          </p:spPr>
          <p:txBody>
            <a:bodyPr wrap="none" lIns="0" tIns="0" rIns="0" bIns="0" anchor="t" anchorCtr="0">
              <a:spAutoFit/>
            </a:bodyPr>
            <a:lstStyle/>
            <a:p>
              <a:pPr algn="ctr"/>
              <a:r>
                <a:rPr lang="zh-CN" sz="980" spc="150" dirty="0">
                  <a:solidFill>
                    <a:schemeClr val="accent2"/>
                  </a:solidFill>
                  <a:latin typeface="Consolas"/>
                  <a:ea typeface="Consolas"/>
                  <a:cs typeface="Consolas"/>
                </a:rPr>
                <a:t>FOLD</a:t>
              </a:r>
            </a:p>
          </p:txBody>
        </p:sp>
        <p:sp>
          <p:nvSpPr>
            <p:cNvPr id="26" name="TextBox 26"/>
            <p:cNvSpPr txBox="1"/>
            <p:nvPr/>
          </p:nvSpPr>
          <p:spPr>
            <a:xfrm>
              <a:off x="3658072" y="4298632"/>
              <a:ext cx="1065855" cy="322707"/>
            </a:xfrm>
            <a:prstGeom prst="rect">
              <a:avLst/>
            </a:prstGeom>
            <a:noFill/>
            <a:ln>
              <a:noFill/>
            </a:ln>
          </p:spPr>
          <p:txBody>
            <a:bodyPr wrap="none" lIns="0" tIns="0" rIns="0" bIns="0" anchor="t" anchorCtr="0">
              <a:spAutoFit/>
            </a:bodyPr>
            <a:lstStyle/>
            <a:p>
              <a:pPr algn="ctr"/>
              <a:r>
                <a:rPr lang="zh-CN" sz="1650" b="1" dirty="0">
                  <a:solidFill>
                    <a:schemeClr val="dk1"/>
                  </a:solidFill>
                  <a:latin typeface="+mn-lt"/>
                  <a:ea typeface="+mn-ea"/>
                  <a:cs typeface="+mn-cs"/>
                </a:rPr>
                <a:t>折一张 A4</a:t>
              </a:r>
            </a:p>
          </p:txBody>
        </p:sp>
        <p:sp>
          <p:nvSpPr>
            <p:cNvPr id="27" name="TextBox 27"/>
            <p:cNvSpPr txBox="1"/>
            <p:nvPr/>
          </p:nvSpPr>
          <p:spPr>
            <a:xfrm>
              <a:off x="3793617" y="4630102"/>
              <a:ext cx="794766" cy="205359"/>
            </a:xfrm>
            <a:prstGeom prst="rect">
              <a:avLst/>
            </a:prstGeom>
            <a:noFill/>
            <a:ln>
              <a:noFill/>
            </a:ln>
          </p:spPr>
          <p:txBody>
            <a:bodyPr wrap="none" lIns="0" tIns="0" rIns="0" bIns="0" anchor="t" anchorCtr="0">
              <a:spAutoFit/>
            </a:bodyPr>
            <a:lstStyle/>
            <a:p>
              <a:pPr algn="ctr"/>
              <a:r>
                <a:rPr lang="zh-CN" sz="1050" dirty="0">
                  <a:solidFill>
                    <a:schemeClr val="dk2"/>
                  </a:solidFill>
                  <a:latin typeface="+mn-lt"/>
                  <a:ea typeface="+mn-ea"/>
                  <a:cs typeface="+mn-cs"/>
                </a:rPr>
                <a:t>用 P07 方法</a:t>
              </a:r>
            </a:p>
          </p:txBody>
        </p:sp>
        <p:sp>
          <p:nvSpPr>
            <p:cNvPr id="28" name="TextBox 28"/>
            <p:cNvSpPr txBox="1"/>
            <p:nvPr/>
          </p:nvSpPr>
          <p:spPr>
            <a:xfrm>
              <a:off x="3701539" y="4820602"/>
              <a:ext cx="978922" cy="205359"/>
            </a:xfrm>
            <a:prstGeom prst="rect">
              <a:avLst/>
            </a:prstGeom>
            <a:noFill/>
            <a:ln>
              <a:noFill/>
            </a:ln>
          </p:spPr>
          <p:txBody>
            <a:bodyPr wrap="none" lIns="0" tIns="0" rIns="0" bIns="0" anchor="t" anchorCtr="0">
              <a:spAutoFit/>
            </a:bodyPr>
            <a:lstStyle/>
            <a:p>
              <a:pPr algn="ctr"/>
              <a:r>
                <a:rPr lang="zh-CN" sz="1050" dirty="0">
                  <a:solidFill>
                    <a:schemeClr val="dk2"/>
                  </a:solidFill>
                  <a:latin typeface="+mn-lt"/>
                  <a:ea typeface="+mn-ea"/>
                  <a:cs typeface="+mn-cs"/>
                </a:rPr>
                <a:t>8 页 + 1 个剪口</a:t>
              </a:r>
            </a:p>
          </p:txBody>
        </p:sp>
        <p:sp>
          <p:nvSpPr>
            <p:cNvPr id="29" name="TextBox 29"/>
            <p:cNvSpPr txBox="1"/>
            <p:nvPr/>
          </p:nvSpPr>
          <p:spPr>
            <a:xfrm>
              <a:off x="3861383" y="5179695"/>
              <a:ext cx="659235" cy="176212"/>
            </a:xfrm>
            <a:prstGeom prst="rect">
              <a:avLst/>
            </a:prstGeom>
            <a:noFill/>
            <a:ln>
              <a:noFill/>
            </a:ln>
          </p:spPr>
          <p:txBody>
            <a:bodyPr wrap="none" lIns="0" tIns="0" rIns="0" bIns="0" anchor="t" anchorCtr="0">
              <a:spAutoFit/>
            </a:bodyPr>
            <a:lstStyle/>
            <a:p>
              <a:pPr algn="ctr"/>
              <a:r>
                <a:rPr lang="zh-CN" sz="900" b="1" dirty="0">
                  <a:solidFill>
                    <a:schemeClr val="accent2"/>
                  </a:solidFill>
                  <a:latin typeface="+mn-lt"/>
                  <a:ea typeface="+mn-ea"/>
                  <a:cs typeface="+mn-cs"/>
                </a:rPr>
                <a:t>≈ 30 秒完成</a:t>
              </a:r>
            </a:p>
          </p:txBody>
        </p:sp>
      </p:grpSp>
      <p:sp>
        <p:nvSpPr>
          <p:cNvPr id="31" name="Line 31"/>
          <p:cNvSpPr/>
          <p:nvPr/>
        </p:nvSpPr>
        <p:spPr>
          <a:xfrm>
            <a:off x="4914900" y="3048000"/>
            <a:ext cx="838200" cy="1"/>
          </a:xfrm>
          <a:prstGeom prst="line">
            <a:avLst/>
          </a:prstGeom>
          <a:noFill/>
          <a:ln w="38100">
            <a:solidFill>
              <a:schemeClr val="accent4"/>
            </a:solidFill>
            <a:tailEnd type="triangle" w="lg" len="lg"/>
          </a:ln>
        </p:spPr>
      </p:sp>
      <p:grpSp>
        <p:nvGrpSpPr>
          <p:cNvPr id="42" name="Group 42"/>
          <p:cNvGrpSpPr/>
          <p:nvPr/>
        </p:nvGrpSpPr>
        <p:grpSpPr>
          <a:xfrm>
            <a:off x="5715000" y="2438400"/>
            <a:ext cx="1524000" cy="2917507"/>
            <a:chOff x="5715000" y="2438400"/>
            <a:chExt cx="1524000" cy="2917507"/>
          </a:xfrm>
        </p:grpSpPr>
        <p:sp>
          <p:nvSpPr>
            <p:cNvPr id="32" name="Ellipse 32"/>
            <p:cNvSpPr/>
            <p:nvPr/>
          </p:nvSpPr>
          <p:spPr>
            <a:xfrm>
              <a:off x="5867400" y="2438400"/>
              <a:ext cx="1219200" cy="1219200"/>
            </a:xfrm>
            <a:prstGeom prst="ellipse">
              <a:avLst/>
            </a:prstGeom>
            <a:solidFill>
              <a:schemeClr val="accent3"/>
            </a:solidFill>
            <a:ln>
              <a:noFill/>
            </a:ln>
          </p:spPr>
        </p:sp>
        <p:sp>
          <p:nvSpPr>
            <p:cNvPr id="33" name="Ellipse 33"/>
            <p:cNvSpPr/>
            <p:nvPr/>
          </p:nvSpPr>
          <p:spPr>
            <a:xfrm>
              <a:off x="5895975" y="2466975"/>
              <a:ext cx="1219200" cy="1219200"/>
            </a:xfrm>
            <a:prstGeom prst="ellipse">
              <a:avLst/>
            </a:prstGeom>
            <a:solidFill>
              <a:schemeClr val="accent1">
                <a:alpha val="55000"/>
              </a:schemeClr>
            </a:solidFill>
            <a:ln>
              <a:noFill/>
            </a:ln>
          </p:spPr>
        </p:sp>
        <p:sp>
          <p:nvSpPr>
            <p:cNvPr id="34" name="Ellipse 34"/>
            <p:cNvSpPr/>
            <p:nvPr/>
          </p:nvSpPr>
          <p:spPr>
            <a:xfrm>
              <a:off x="5867400" y="2438400"/>
              <a:ext cx="1219200" cy="1219200"/>
            </a:xfrm>
            <a:prstGeom prst="ellipse">
              <a:avLst/>
            </a:prstGeom>
            <a:solidFill>
              <a:schemeClr val="accent3"/>
            </a:solidFill>
            <a:ln>
              <a:noFill/>
            </a:ln>
          </p:spPr>
        </p:sp>
        <p:sp>
          <p:nvSpPr>
            <p:cNvPr id="35" name="TextBox 35"/>
            <p:cNvSpPr txBox="1"/>
            <p:nvPr/>
          </p:nvSpPr>
          <p:spPr>
            <a:xfrm>
              <a:off x="6135872" y="2749868"/>
              <a:ext cx="682257" cy="847725"/>
            </a:xfrm>
            <a:prstGeom prst="rect">
              <a:avLst/>
            </a:prstGeom>
            <a:noFill/>
            <a:ln>
              <a:noFill/>
            </a:ln>
          </p:spPr>
          <p:txBody>
            <a:bodyPr wrap="none" lIns="0" tIns="0" rIns="0" bIns="0" anchor="t" anchorCtr="0">
              <a:spAutoFit/>
            </a:bodyPr>
            <a:lstStyle/>
            <a:p>
              <a:pPr algn="ctr"/>
              <a:r>
                <a:rPr lang="zh-CN" sz="4350" dirty="0">
                  <a:solidFill>
                    <a:srgbClr val="F5EFE0"/>
                  </a:solidFill>
                  <a:latin typeface="+mj-lt"/>
                  <a:ea typeface="+mj-ea"/>
                  <a:cs typeface="+mj-cs"/>
                </a:rPr>
                <a:t>03</a:t>
              </a:r>
            </a:p>
          </p:txBody>
        </p:sp>
        <p:sp>
          <p:nvSpPr>
            <p:cNvPr id="36" name="Rectangle 36"/>
            <p:cNvSpPr/>
            <p:nvPr/>
          </p:nvSpPr>
          <p:spPr>
            <a:xfrm>
              <a:off x="5715000" y="3867150"/>
              <a:ext cx="1524000" cy="342900"/>
            </a:xfrm>
            <a:prstGeom prst="rect">
              <a:avLst/>
            </a:prstGeom>
            <a:solidFill>
              <a:schemeClr val="dk1"/>
            </a:solidFill>
            <a:ln>
              <a:noFill/>
            </a:ln>
          </p:spPr>
        </p:sp>
        <p:sp>
          <p:nvSpPr>
            <p:cNvPr id="37" name="TextBox 37"/>
            <p:cNvSpPr txBox="1"/>
            <p:nvPr/>
          </p:nvSpPr>
          <p:spPr>
            <a:xfrm>
              <a:off x="6304133" y="3990499"/>
              <a:ext cx="345735" cy="190690"/>
            </a:xfrm>
            <a:prstGeom prst="rect">
              <a:avLst/>
            </a:prstGeom>
            <a:noFill/>
            <a:ln>
              <a:noFill/>
            </a:ln>
          </p:spPr>
          <p:txBody>
            <a:bodyPr wrap="none" lIns="0" tIns="0" rIns="0" bIns="0" anchor="t" anchorCtr="0">
              <a:spAutoFit/>
            </a:bodyPr>
            <a:lstStyle/>
            <a:p>
              <a:pPr algn="ctr"/>
              <a:r>
                <a:rPr lang="zh-CN" sz="980" spc="150" dirty="0">
                  <a:solidFill>
                    <a:schemeClr val="accent3"/>
                  </a:solidFill>
                  <a:latin typeface="Consolas"/>
                  <a:ea typeface="Consolas"/>
                  <a:cs typeface="Consolas"/>
                </a:rPr>
                <a:t>FILL</a:t>
              </a:r>
            </a:p>
          </p:txBody>
        </p:sp>
        <p:sp>
          <p:nvSpPr>
            <p:cNvPr id="38" name="TextBox 38"/>
            <p:cNvSpPr txBox="1"/>
            <p:nvPr/>
          </p:nvSpPr>
          <p:spPr>
            <a:xfrm>
              <a:off x="6112388" y="4298632"/>
              <a:ext cx="729224" cy="322707"/>
            </a:xfrm>
            <a:prstGeom prst="rect">
              <a:avLst/>
            </a:prstGeom>
            <a:noFill/>
            <a:ln>
              <a:noFill/>
            </a:ln>
          </p:spPr>
          <p:txBody>
            <a:bodyPr wrap="none" lIns="0" tIns="0" rIns="0" bIns="0" anchor="t" anchorCtr="0">
              <a:spAutoFit/>
            </a:bodyPr>
            <a:lstStyle/>
            <a:p>
              <a:pPr algn="ctr"/>
              <a:r>
                <a:rPr lang="zh-CN" sz="1650" b="1" dirty="0">
                  <a:solidFill>
                    <a:schemeClr val="dk1"/>
                  </a:solidFill>
                  <a:latin typeface="+mn-lt"/>
                  <a:ea typeface="+mn-ea"/>
                  <a:cs typeface="+mn-cs"/>
                </a:rPr>
                <a:t>填 8 页</a:t>
              </a:r>
            </a:p>
          </p:txBody>
        </p:sp>
        <p:sp>
          <p:nvSpPr>
            <p:cNvPr id="39" name="TextBox 39"/>
            <p:cNvSpPr txBox="1"/>
            <p:nvPr/>
          </p:nvSpPr>
          <p:spPr>
            <a:xfrm>
              <a:off x="6107687" y="4630102"/>
              <a:ext cx="738626" cy="205359"/>
            </a:xfrm>
            <a:prstGeom prst="rect">
              <a:avLst/>
            </a:prstGeom>
            <a:noFill/>
            <a:ln>
              <a:noFill/>
            </a:ln>
          </p:spPr>
          <p:txBody>
            <a:bodyPr wrap="none" lIns="0" tIns="0" rIns="0" bIns="0" anchor="t" anchorCtr="0">
              <a:spAutoFit/>
            </a:bodyPr>
            <a:lstStyle/>
            <a:p>
              <a:pPr algn="ctr"/>
              <a:r>
                <a:rPr lang="zh-CN" sz="1050" dirty="0">
                  <a:solidFill>
                    <a:schemeClr val="dk2"/>
                  </a:solidFill>
                  <a:latin typeface="+mn-lt"/>
                  <a:ea typeface="+mn-ea"/>
                  <a:cs typeface="+mn-cs"/>
                </a:rPr>
                <a:t>手写 / 拼贴</a:t>
              </a:r>
            </a:p>
          </p:txBody>
        </p:sp>
        <p:sp>
          <p:nvSpPr>
            <p:cNvPr id="40" name="TextBox 40"/>
            <p:cNvSpPr txBox="1"/>
            <p:nvPr/>
          </p:nvSpPr>
          <p:spPr>
            <a:xfrm>
              <a:off x="6058214" y="4820602"/>
              <a:ext cx="837571" cy="205359"/>
            </a:xfrm>
            <a:prstGeom prst="rect">
              <a:avLst/>
            </a:prstGeom>
            <a:noFill/>
            <a:ln>
              <a:noFill/>
            </a:ln>
          </p:spPr>
          <p:txBody>
            <a:bodyPr wrap="none" lIns="0" tIns="0" rIns="0" bIns="0" anchor="t" anchorCtr="0">
              <a:spAutoFit/>
            </a:bodyPr>
            <a:lstStyle/>
            <a:p>
              <a:pPr algn="ctr"/>
              <a:r>
                <a:rPr lang="zh-CN" sz="1050" dirty="0">
                  <a:solidFill>
                    <a:schemeClr val="dk2"/>
                  </a:solidFill>
                  <a:latin typeface="+mn-lt"/>
                  <a:ea typeface="+mn-ea"/>
                  <a:cs typeface="+mn-cs"/>
                </a:rPr>
                <a:t>/ 复印旧照片</a:t>
              </a:r>
            </a:p>
          </p:txBody>
        </p:sp>
        <p:sp>
          <p:nvSpPr>
            <p:cNvPr id="41" name="TextBox 41"/>
            <p:cNvSpPr txBox="1"/>
            <p:nvPr/>
          </p:nvSpPr>
          <p:spPr>
            <a:xfrm>
              <a:off x="5888862" y="5179695"/>
              <a:ext cx="1176277" cy="176212"/>
            </a:xfrm>
            <a:prstGeom prst="rect">
              <a:avLst/>
            </a:prstGeom>
            <a:noFill/>
            <a:ln>
              <a:noFill/>
            </a:ln>
          </p:spPr>
          <p:txBody>
            <a:bodyPr wrap="none" lIns="0" tIns="0" rIns="0" bIns="0" anchor="t" anchorCtr="0">
              <a:spAutoFit/>
            </a:bodyPr>
            <a:lstStyle/>
            <a:p>
              <a:pPr algn="ctr"/>
              <a:r>
                <a:rPr lang="zh-CN" sz="900" b="1" dirty="0">
                  <a:solidFill>
                    <a:schemeClr val="accent3"/>
                  </a:solidFill>
                  <a:latin typeface="+mn-lt"/>
                  <a:ea typeface="+mn-ea"/>
                  <a:cs typeface="+mn-cs"/>
                </a:rPr>
                <a:t>第一本 ＝ 粗糙就对了</a:t>
              </a:r>
            </a:p>
          </p:txBody>
        </p:sp>
      </p:grpSp>
      <p:sp>
        <p:nvSpPr>
          <p:cNvPr id="43" name="Line 43"/>
          <p:cNvSpPr/>
          <p:nvPr/>
        </p:nvSpPr>
        <p:spPr>
          <a:xfrm>
            <a:off x="7200900" y="3048000"/>
            <a:ext cx="838200" cy="1"/>
          </a:xfrm>
          <a:prstGeom prst="line">
            <a:avLst/>
          </a:prstGeom>
          <a:noFill/>
          <a:ln w="38100">
            <a:solidFill>
              <a:schemeClr val="accent4"/>
            </a:solidFill>
            <a:tailEnd type="triangle" w="lg" len="lg"/>
          </a:ln>
        </p:spPr>
      </p:sp>
      <p:grpSp>
        <p:nvGrpSpPr>
          <p:cNvPr id="54" name="Group 54"/>
          <p:cNvGrpSpPr/>
          <p:nvPr/>
        </p:nvGrpSpPr>
        <p:grpSpPr>
          <a:xfrm>
            <a:off x="7990247" y="2438400"/>
            <a:ext cx="1545506" cy="2917507"/>
            <a:chOff x="7990247" y="2438400"/>
            <a:chExt cx="1545506" cy="2917507"/>
          </a:xfrm>
        </p:grpSpPr>
        <p:sp>
          <p:nvSpPr>
            <p:cNvPr id="44" name="Ellipse 44"/>
            <p:cNvSpPr/>
            <p:nvPr/>
          </p:nvSpPr>
          <p:spPr>
            <a:xfrm>
              <a:off x="8153400" y="2438400"/>
              <a:ext cx="1219200" cy="1219200"/>
            </a:xfrm>
            <a:prstGeom prst="ellipse">
              <a:avLst/>
            </a:prstGeom>
            <a:solidFill>
              <a:schemeClr val="dk1"/>
            </a:solidFill>
            <a:ln>
              <a:noFill/>
            </a:ln>
          </p:spPr>
        </p:sp>
        <p:sp>
          <p:nvSpPr>
            <p:cNvPr id="45" name="Ellipse 45"/>
            <p:cNvSpPr/>
            <p:nvPr/>
          </p:nvSpPr>
          <p:spPr>
            <a:xfrm>
              <a:off x="8181975" y="2466975"/>
              <a:ext cx="1219200" cy="1219200"/>
            </a:xfrm>
            <a:prstGeom prst="ellipse">
              <a:avLst/>
            </a:prstGeom>
            <a:solidFill>
              <a:schemeClr val="accent2">
                <a:alpha val="55000"/>
              </a:schemeClr>
            </a:solidFill>
            <a:ln>
              <a:noFill/>
            </a:ln>
          </p:spPr>
        </p:sp>
        <p:sp>
          <p:nvSpPr>
            <p:cNvPr id="46" name="Ellipse 46"/>
            <p:cNvSpPr/>
            <p:nvPr/>
          </p:nvSpPr>
          <p:spPr>
            <a:xfrm>
              <a:off x="8153400" y="2438400"/>
              <a:ext cx="1219200" cy="1219200"/>
            </a:xfrm>
            <a:prstGeom prst="ellipse">
              <a:avLst/>
            </a:prstGeom>
            <a:solidFill>
              <a:schemeClr val="dk1"/>
            </a:solidFill>
            <a:ln>
              <a:noFill/>
            </a:ln>
          </p:spPr>
        </p:sp>
        <p:sp>
          <p:nvSpPr>
            <p:cNvPr id="47" name="TextBox 47"/>
            <p:cNvSpPr txBox="1"/>
            <p:nvPr/>
          </p:nvSpPr>
          <p:spPr>
            <a:xfrm>
              <a:off x="8421872" y="2749868"/>
              <a:ext cx="682257" cy="847725"/>
            </a:xfrm>
            <a:prstGeom prst="rect">
              <a:avLst/>
            </a:prstGeom>
            <a:noFill/>
            <a:ln>
              <a:noFill/>
            </a:ln>
          </p:spPr>
          <p:txBody>
            <a:bodyPr wrap="none" lIns="0" tIns="0" rIns="0" bIns="0" anchor="t" anchorCtr="0">
              <a:spAutoFit/>
            </a:bodyPr>
            <a:lstStyle/>
            <a:p>
              <a:pPr algn="ctr"/>
              <a:r>
                <a:rPr lang="zh-CN" sz="4350" dirty="0">
                  <a:solidFill>
                    <a:schemeClr val="accent2"/>
                  </a:solidFill>
                  <a:latin typeface="+mj-lt"/>
                  <a:ea typeface="+mj-ea"/>
                  <a:cs typeface="+mj-cs"/>
                </a:rPr>
                <a:t>04</a:t>
              </a:r>
            </a:p>
          </p:txBody>
        </p:sp>
        <p:sp>
          <p:nvSpPr>
            <p:cNvPr id="48" name="Rectangle 48"/>
            <p:cNvSpPr/>
            <p:nvPr/>
          </p:nvSpPr>
          <p:spPr>
            <a:xfrm>
              <a:off x="8001000" y="3867150"/>
              <a:ext cx="1524000" cy="342900"/>
            </a:xfrm>
            <a:prstGeom prst="rect">
              <a:avLst/>
            </a:prstGeom>
            <a:solidFill>
              <a:schemeClr val="accent2"/>
            </a:solidFill>
            <a:ln>
              <a:noFill/>
            </a:ln>
          </p:spPr>
        </p:sp>
        <p:sp>
          <p:nvSpPr>
            <p:cNvPr id="49" name="TextBox 49"/>
            <p:cNvSpPr txBox="1"/>
            <p:nvPr/>
          </p:nvSpPr>
          <p:spPr>
            <a:xfrm>
              <a:off x="8523707" y="3990499"/>
              <a:ext cx="478587" cy="190690"/>
            </a:xfrm>
            <a:prstGeom prst="rect">
              <a:avLst/>
            </a:prstGeom>
            <a:noFill/>
            <a:ln>
              <a:noFill/>
            </a:ln>
          </p:spPr>
          <p:txBody>
            <a:bodyPr wrap="none" lIns="0" tIns="0" rIns="0" bIns="0" anchor="t" anchorCtr="0">
              <a:spAutoFit/>
            </a:bodyPr>
            <a:lstStyle/>
            <a:p>
              <a:pPr algn="ctr"/>
              <a:r>
                <a:rPr lang="zh-CN" sz="980" spc="150" dirty="0">
                  <a:solidFill>
                    <a:schemeClr val="dk1"/>
                  </a:solidFill>
                  <a:latin typeface="Consolas"/>
                  <a:ea typeface="Consolas"/>
                  <a:cs typeface="Consolas"/>
                </a:rPr>
                <a:t>SHARE</a:t>
              </a:r>
            </a:p>
          </p:txBody>
        </p:sp>
        <p:sp>
          <p:nvSpPr>
            <p:cNvPr id="50" name="TextBox 50"/>
            <p:cNvSpPr txBox="1"/>
            <p:nvPr/>
          </p:nvSpPr>
          <p:spPr>
            <a:xfrm>
              <a:off x="8001066" y="4298632"/>
              <a:ext cx="1523869" cy="322707"/>
            </a:xfrm>
            <a:prstGeom prst="rect">
              <a:avLst/>
            </a:prstGeom>
            <a:noFill/>
            <a:ln>
              <a:noFill/>
            </a:ln>
          </p:spPr>
          <p:txBody>
            <a:bodyPr wrap="none" lIns="0" tIns="0" rIns="0" bIns="0" anchor="t" anchorCtr="0">
              <a:spAutoFit/>
            </a:bodyPr>
            <a:lstStyle/>
            <a:p>
              <a:pPr algn="ctr"/>
              <a:r>
                <a:rPr lang="zh-CN" sz="1650" b="1" dirty="0">
                  <a:solidFill>
                    <a:schemeClr val="dk1"/>
                  </a:solidFill>
                  <a:latin typeface="+mn-lt"/>
                  <a:ea typeface="+mn-ea"/>
                  <a:cs typeface="+mn-cs"/>
                </a:rPr>
                <a:t>印 10 份送出去</a:t>
              </a:r>
            </a:p>
          </p:txBody>
        </p:sp>
        <p:sp>
          <p:nvSpPr>
            <p:cNvPr id="51" name="TextBox 51"/>
            <p:cNvSpPr txBox="1"/>
            <p:nvPr/>
          </p:nvSpPr>
          <p:spPr>
            <a:xfrm>
              <a:off x="8414890" y="4630102"/>
              <a:ext cx="696220" cy="205359"/>
            </a:xfrm>
            <a:prstGeom prst="rect">
              <a:avLst/>
            </a:prstGeom>
            <a:noFill/>
            <a:ln>
              <a:noFill/>
            </a:ln>
          </p:spPr>
          <p:txBody>
            <a:bodyPr wrap="none" lIns="0" tIns="0" rIns="0" bIns="0" anchor="t" anchorCtr="0">
              <a:spAutoFit/>
            </a:bodyPr>
            <a:lstStyle/>
            <a:p>
              <a:pPr algn="ctr"/>
              <a:r>
                <a:rPr lang="zh-CN" sz="1050" dirty="0">
                  <a:solidFill>
                    <a:schemeClr val="dk2"/>
                  </a:solidFill>
                  <a:latin typeface="+mn-lt"/>
                  <a:ea typeface="+mn-ea"/>
                  <a:cs typeface="+mn-cs"/>
                </a:rPr>
                <a:t>5 份给朋友</a:t>
              </a:r>
            </a:p>
          </p:txBody>
        </p:sp>
        <p:sp>
          <p:nvSpPr>
            <p:cNvPr id="52" name="TextBox 52"/>
            <p:cNvSpPr txBox="1"/>
            <p:nvPr/>
          </p:nvSpPr>
          <p:spPr>
            <a:xfrm>
              <a:off x="8273539" y="4820602"/>
              <a:ext cx="978922" cy="205359"/>
            </a:xfrm>
            <a:prstGeom prst="rect">
              <a:avLst/>
            </a:prstGeom>
            <a:noFill/>
            <a:ln>
              <a:noFill/>
            </a:ln>
          </p:spPr>
          <p:txBody>
            <a:bodyPr wrap="none" lIns="0" tIns="0" rIns="0" bIns="0" anchor="t" anchorCtr="0">
              <a:spAutoFit/>
            </a:bodyPr>
            <a:lstStyle/>
            <a:p>
              <a:pPr algn="ctr"/>
              <a:r>
                <a:rPr lang="zh-CN" sz="1050" dirty="0">
                  <a:solidFill>
                    <a:schemeClr val="dk2"/>
                  </a:solidFill>
                  <a:latin typeface="+mn-lt"/>
                  <a:ea typeface="+mn-ea"/>
                  <a:cs typeface="+mn-cs"/>
                </a:rPr>
                <a:t>5 份寄独立书店</a:t>
              </a:r>
            </a:p>
          </p:txBody>
        </p:sp>
        <p:sp>
          <p:nvSpPr>
            <p:cNvPr id="53" name="TextBox 53"/>
            <p:cNvSpPr txBox="1"/>
            <p:nvPr/>
          </p:nvSpPr>
          <p:spPr>
            <a:xfrm>
              <a:off x="7990247" y="5179695"/>
              <a:ext cx="1545506" cy="176212"/>
            </a:xfrm>
            <a:prstGeom prst="rect">
              <a:avLst/>
            </a:prstGeom>
            <a:noFill/>
            <a:ln>
              <a:noFill/>
            </a:ln>
          </p:spPr>
          <p:txBody>
            <a:bodyPr wrap="none" lIns="0" tIns="0" rIns="0" bIns="0" anchor="t" anchorCtr="0">
              <a:spAutoFit/>
            </a:bodyPr>
            <a:lstStyle/>
            <a:p>
              <a:pPr algn="ctr"/>
              <a:r>
                <a:rPr lang="zh-CN" sz="900" b="1" dirty="0">
                  <a:solidFill>
                    <a:schemeClr val="accent2"/>
                  </a:solidFill>
                  <a:latin typeface="+mn-lt"/>
                  <a:ea typeface="+mn-ea"/>
                  <a:cs typeface="+mn-cs"/>
                </a:rPr>
                <a:t>这一刻你就成 zine 出版者了</a:t>
              </a:r>
            </a:p>
          </p:txBody>
        </p:sp>
      </p:grpSp>
      <p:grpSp>
        <p:nvGrpSpPr>
          <p:cNvPr id="60" name="Group 60"/>
          <p:cNvGrpSpPr/>
          <p:nvPr/>
        </p:nvGrpSpPr>
        <p:grpSpPr>
          <a:xfrm>
            <a:off x="9617812" y="2782252"/>
            <a:ext cx="2462327" cy="1781366"/>
            <a:chOff x="9617812" y="2782252"/>
            <a:chExt cx="2462327" cy="1781366"/>
          </a:xfrm>
        </p:grpSpPr>
        <p:sp>
          <p:nvSpPr>
            <p:cNvPr id="55" name="TextBox 55"/>
            <p:cNvSpPr txBox="1"/>
            <p:nvPr/>
          </p:nvSpPr>
          <p:spPr>
            <a:xfrm>
              <a:off x="10711815" y="2782252"/>
              <a:ext cx="293370" cy="205359"/>
            </a:xfrm>
            <a:prstGeom prst="rect">
              <a:avLst/>
            </a:prstGeom>
            <a:noFill/>
            <a:ln>
              <a:noFill/>
            </a:ln>
          </p:spPr>
          <p:txBody>
            <a:bodyPr wrap="none" lIns="0" tIns="0" rIns="0" bIns="0" anchor="t" anchorCtr="0">
              <a:spAutoFit/>
            </a:bodyPr>
            <a:lstStyle/>
            <a:p>
              <a:pPr algn="ctr"/>
              <a:r>
                <a:rPr lang="zh-CN" sz="1050" dirty="0">
                  <a:solidFill>
                    <a:schemeClr val="dk2"/>
                  </a:solidFill>
                  <a:latin typeface="+mn-lt"/>
                  <a:ea typeface="+mn-ea"/>
                  <a:cs typeface="+mn-cs"/>
                </a:rPr>
                <a:t>结果</a:t>
              </a:r>
            </a:p>
          </p:txBody>
        </p:sp>
        <p:sp>
          <p:nvSpPr>
            <p:cNvPr id="56" name="TextBox 56"/>
            <p:cNvSpPr txBox="1"/>
            <p:nvPr/>
          </p:nvSpPr>
          <p:spPr>
            <a:xfrm>
              <a:off x="10366553" y="3021330"/>
              <a:ext cx="983894" cy="704088"/>
            </a:xfrm>
            <a:prstGeom prst="rect">
              <a:avLst/>
            </a:prstGeom>
            <a:noFill/>
            <a:ln>
              <a:noFill/>
            </a:ln>
          </p:spPr>
          <p:txBody>
            <a:bodyPr wrap="none" lIns="0" tIns="0" rIns="0" bIns="0" anchor="t" anchorCtr="0">
              <a:spAutoFit/>
            </a:bodyPr>
            <a:lstStyle/>
            <a:p>
              <a:pPr algn="ctr"/>
              <a:r>
                <a:rPr lang="zh-CN" sz="3600" dirty="0">
                  <a:solidFill>
                    <a:schemeClr val="accent2"/>
                  </a:solidFill>
                  <a:latin typeface="+mj-lt"/>
                  <a:ea typeface="+mj-ea"/>
                  <a:cs typeface="+mj-cs"/>
                </a:rPr>
                <a:t>YOU</a:t>
              </a:r>
            </a:p>
          </p:txBody>
        </p:sp>
        <p:sp>
          <p:nvSpPr>
            <p:cNvPr id="57" name="TextBox 57"/>
            <p:cNvSpPr txBox="1"/>
            <p:nvPr/>
          </p:nvSpPr>
          <p:spPr>
            <a:xfrm>
              <a:off x="10200132" y="3440430"/>
              <a:ext cx="1316736" cy="704088"/>
            </a:xfrm>
            <a:prstGeom prst="rect">
              <a:avLst/>
            </a:prstGeom>
            <a:noFill/>
            <a:ln>
              <a:noFill/>
            </a:ln>
          </p:spPr>
          <p:txBody>
            <a:bodyPr wrap="none" lIns="0" tIns="0" rIns="0" bIns="0" anchor="t" anchorCtr="0">
              <a:spAutoFit/>
            </a:bodyPr>
            <a:lstStyle/>
            <a:p>
              <a:pPr algn="ctr"/>
              <a:r>
                <a:rPr lang="zh-CN" sz="3600" dirty="0">
                  <a:solidFill>
                    <a:schemeClr val="accent2"/>
                  </a:solidFill>
                  <a:latin typeface="+mj-lt"/>
                  <a:ea typeface="+mj-ea"/>
                  <a:cs typeface="+mj-cs"/>
                </a:rPr>
                <a:t>ARE A</a:t>
              </a:r>
            </a:p>
          </p:txBody>
        </p:sp>
        <p:sp>
          <p:nvSpPr>
            <p:cNvPr id="58" name="TextBox 58"/>
            <p:cNvSpPr txBox="1"/>
            <p:nvPr/>
          </p:nvSpPr>
          <p:spPr>
            <a:xfrm>
              <a:off x="9636862" y="3859530"/>
              <a:ext cx="2443277" cy="704088"/>
            </a:xfrm>
            <a:prstGeom prst="rect">
              <a:avLst/>
            </a:prstGeom>
            <a:noFill/>
            <a:ln>
              <a:noFill/>
            </a:ln>
          </p:spPr>
          <p:txBody>
            <a:bodyPr wrap="none" lIns="0" tIns="0" rIns="0" bIns="0" anchor="t" anchorCtr="0">
              <a:spAutoFit/>
            </a:bodyPr>
            <a:lstStyle/>
            <a:p>
              <a:pPr algn="ctr"/>
              <a:r>
                <a:rPr lang="zh-CN" sz="3600" dirty="0">
                  <a:solidFill>
                    <a:schemeClr val="accent1"/>
                  </a:solidFill>
                  <a:latin typeface="+mj-lt"/>
                  <a:ea typeface="+mj-ea"/>
                  <a:cs typeface="+mj-cs"/>
                </a:rPr>
                <a:t>PUBLISHER</a:t>
              </a:r>
            </a:p>
          </p:txBody>
        </p:sp>
        <p:sp>
          <p:nvSpPr>
            <p:cNvPr id="59" name="TextBox 59"/>
            <p:cNvSpPr txBox="1"/>
            <p:nvPr/>
          </p:nvSpPr>
          <p:spPr>
            <a:xfrm>
              <a:off x="9617812" y="3840480"/>
              <a:ext cx="2443277" cy="704088"/>
            </a:xfrm>
            <a:prstGeom prst="rect">
              <a:avLst/>
            </a:prstGeom>
            <a:noFill/>
            <a:ln>
              <a:noFill/>
            </a:ln>
          </p:spPr>
          <p:txBody>
            <a:bodyPr wrap="none" lIns="0" tIns="0" rIns="0" bIns="0" anchor="t" anchorCtr="0">
              <a:spAutoFit/>
            </a:bodyPr>
            <a:lstStyle/>
            <a:p>
              <a:pPr algn="ctr"/>
              <a:r>
                <a:rPr lang="zh-CN" sz="3600" dirty="0">
                  <a:solidFill>
                    <a:schemeClr val="dk1"/>
                  </a:solidFill>
                  <a:latin typeface="+mj-lt"/>
                  <a:ea typeface="+mj-ea"/>
                  <a:cs typeface="+mj-cs"/>
                </a:rPr>
                <a:t>PUBLISHER</a:t>
              </a:r>
            </a:p>
          </p:txBody>
        </p:sp>
      </p:grpSp>
      <p:grpSp>
        <p:nvGrpSpPr>
          <p:cNvPr id="65" name="Group 65"/>
          <p:cNvGrpSpPr/>
          <p:nvPr/>
        </p:nvGrpSpPr>
        <p:grpSpPr>
          <a:xfrm>
            <a:off x="571500" y="5810250"/>
            <a:ext cx="11077575" cy="600075"/>
            <a:chOff x="571500" y="5810250"/>
            <a:chExt cx="11077575" cy="600075"/>
          </a:xfrm>
        </p:grpSpPr>
        <p:sp>
          <p:nvSpPr>
            <p:cNvPr id="61" name="Rectangle 61"/>
            <p:cNvSpPr/>
            <p:nvPr/>
          </p:nvSpPr>
          <p:spPr>
            <a:xfrm>
              <a:off x="571500" y="5810250"/>
              <a:ext cx="11049000" cy="571500"/>
            </a:xfrm>
            <a:prstGeom prst="rect">
              <a:avLst/>
            </a:prstGeom>
            <a:solidFill>
              <a:schemeClr val="dk1"/>
            </a:solidFill>
            <a:ln>
              <a:noFill/>
            </a:ln>
          </p:spPr>
        </p:sp>
        <p:sp>
          <p:nvSpPr>
            <p:cNvPr id="62" name="Rectangle 62"/>
            <p:cNvSpPr/>
            <p:nvPr/>
          </p:nvSpPr>
          <p:spPr>
            <a:xfrm>
              <a:off x="600075" y="5838825"/>
              <a:ext cx="11049000" cy="571500"/>
            </a:xfrm>
            <a:prstGeom prst="rect">
              <a:avLst/>
            </a:prstGeom>
            <a:solidFill>
              <a:schemeClr val="accent2">
                <a:alpha val="55000"/>
              </a:schemeClr>
            </a:solidFill>
            <a:ln>
              <a:noFill/>
            </a:ln>
          </p:spPr>
        </p:sp>
        <p:sp>
          <p:nvSpPr>
            <p:cNvPr id="63" name="Rectangle 63"/>
            <p:cNvSpPr/>
            <p:nvPr/>
          </p:nvSpPr>
          <p:spPr>
            <a:xfrm>
              <a:off x="571500" y="5810250"/>
              <a:ext cx="11049000" cy="571500"/>
            </a:xfrm>
            <a:prstGeom prst="rect">
              <a:avLst/>
            </a:prstGeom>
            <a:solidFill>
              <a:schemeClr val="dk1"/>
            </a:solidFill>
            <a:ln>
              <a:noFill/>
            </a:ln>
          </p:spPr>
        </p:sp>
        <p:sp>
          <p:nvSpPr>
            <p:cNvPr id="64" name="TextBox 64"/>
            <p:cNvSpPr txBox="1"/>
            <p:nvPr/>
          </p:nvSpPr>
          <p:spPr>
            <a:xfrm>
              <a:off x="1732705" y="6013132"/>
              <a:ext cx="8726589" cy="322707"/>
            </a:xfrm>
            <a:prstGeom prst="rect">
              <a:avLst/>
            </a:prstGeom>
            <a:noFill/>
            <a:ln>
              <a:noFill/>
            </a:ln>
          </p:spPr>
          <p:txBody>
            <a:bodyPr wrap="none" lIns="0" tIns="0" rIns="0" bIns="0" anchor="t" anchorCtr="0">
              <a:spAutoFit/>
            </a:bodyPr>
            <a:lstStyle/>
            <a:p>
              <a:pPr algn="ctr"/>
              <a:r>
                <a:rPr lang="zh-CN" sz="1650" b="1" dirty="0">
                  <a:solidFill>
                    <a:srgbClr val="F5EFE0"/>
                  </a:solidFill>
                  <a:latin typeface="+mn-lt"/>
                  <a:ea typeface="+mn-ea"/>
                  <a:cs typeface="+mn-cs"/>
                </a:rPr>
                <a:t>"zine 出版者"的门槛 ＝ 寄出第一本的那一秒 · 不是商业注册 · 不是 ISBN · 不是销量</a:t>
              </a:r>
            </a:p>
          </p:txBody>
        </p:sp>
      </p:grpSp>
      <p:grpSp>
        <p:nvGrpSpPr>
          <p:cNvPr id="68" name="Group 68"/>
          <p:cNvGrpSpPr/>
          <p:nvPr/>
        </p:nvGrpSpPr>
        <p:grpSpPr>
          <a:xfrm>
            <a:off x="566738" y="6616541"/>
            <a:ext cx="11058524" cy="161925"/>
            <a:chOff x="566738" y="6616541"/>
            <a:chExt cx="11058524" cy="161925"/>
          </a:xfrm>
        </p:grpSpPr>
        <p:sp>
          <p:nvSpPr>
            <p:cNvPr id="66" name="TextBox 66"/>
            <p:cNvSpPr txBox="1"/>
            <p:nvPr/>
          </p:nvSpPr>
          <p:spPr>
            <a:xfrm>
              <a:off x="566738" y="6616541"/>
              <a:ext cx="2455484" cy="161925"/>
            </a:xfrm>
            <a:prstGeom prst="rect">
              <a:avLst/>
            </a:prstGeom>
            <a:noFill/>
            <a:ln>
              <a:noFill/>
            </a:ln>
          </p:spPr>
          <p:txBody>
            <a:bodyPr wrap="none" lIns="0" tIns="0" rIns="0" bIns="0" anchor="t" anchorCtr="0">
              <a:spAutoFit/>
            </a:bodyPr>
            <a:lstStyle/>
            <a:p>
              <a:pPr algn="l"/>
              <a:r>
                <a:rPr lang="zh-CN" sz="820" spc="150" dirty="0">
                  <a:solidFill>
                    <a:schemeClr val="dk2"/>
                  </a:solidFill>
                  <a:latin typeface="Consolas"/>
                  <a:ea typeface="Consolas"/>
                  <a:cs typeface="Consolas"/>
                </a:rPr>
                <a:t>P16 · YOUR FIRST ZINE IN 4 STEPS</a:t>
              </a:r>
            </a:p>
          </p:txBody>
        </p:sp>
        <p:sp>
          <p:nvSpPr>
            <p:cNvPr id="67" name="TextBox 67"/>
            <p:cNvSpPr txBox="1"/>
            <p:nvPr/>
          </p:nvSpPr>
          <p:spPr>
            <a:xfrm>
              <a:off x="9377591" y="6616541"/>
              <a:ext cx="2247671" cy="161925"/>
            </a:xfrm>
            <a:prstGeom prst="rect">
              <a:avLst/>
            </a:prstGeom>
            <a:noFill/>
            <a:ln>
              <a:noFill/>
            </a:ln>
          </p:spPr>
          <p:txBody>
            <a:bodyPr wrap="none" lIns="0" tIns="0" rIns="0" bIns="0" anchor="t" anchorCtr="0">
              <a:spAutoFit/>
            </a:bodyPr>
            <a:lstStyle/>
            <a:p>
              <a:pPr algn="r"/>
              <a:r>
                <a:rPr lang="zh-CN" sz="820" spc="150" dirty="0">
                  <a:solidFill>
                    <a:schemeClr val="dk2"/>
                  </a:solidFill>
                  <a:latin typeface="Consolas"/>
                  <a:ea typeface="Consolas"/>
                  <a:cs typeface="Consolas"/>
                </a:rPr>
                <a:t>CHOOSE → FOLD → FILL → SHARE</a:t>
              </a:r>
            </a:p>
          </p:txBody>
        </p:sp>
      </p:grpSp>
    </p:spTree>
  </p:cSld>
  <p:clrMapOvr>
    <a:masterClrMapping/>
  </p:clrMapOvr>
  <p:transition xmlns:p14="http://schemas.microsoft.com/office/powerpoint/2010/main" p14:dur="450">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4" presetClass="entr" presetSubtype="16"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box(in)">
                                      <p:cBhvr>
                                        <p:cTn id="7" dur="450"/>
                                        <p:tgtEl>
                                          <p:spTgt spid="18"/>
                                        </p:tgtEl>
                                      </p:cBhvr>
                                    </p:animEffect>
                                  </p:childTnLst>
                                </p:cTn>
                              </p:par>
                            </p:childTnLst>
                          </p:cTn>
                        </p:par>
                        <p:par>
                          <p:cTn id="8" fill="hold">
                            <p:stCondLst>
                              <p:cond delay="450"/>
                            </p:stCondLst>
                            <p:childTnLst>
                              <p:par>
                                <p:cTn xmlns:p="http://schemas.openxmlformats.org/presentationml/2006/main" id="9" presetID="4" presetClass="entr" presetSubtype="16" fill="hold" grpId="0" nodeType="afterEffect">
                                  <p:stCondLst>
                                    <p:cond delay="220"/>
                                  </p:stCondLst>
                                  <p:childTnLst>
                                    <p:set>
                                      <p:cBhvr>
                                        <p:cTn id="10" dur="1" fill="hold">
                                          <p:stCondLst>
                                            <p:cond delay="0"/>
                                          </p:stCondLst>
                                        </p:cTn>
                                        <p:tgtEl>
                                          <p:spTgt spid="30"/>
                                        </p:tgtEl>
                                        <p:attrNameLst>
                                          <p:attrName>style.visibility</p:attrName>
                                        </p:attrNameLst>
                                      </p:cBhvr>
                                      <p:to>
                                        <p:strVal val="visible"/>
                                      </p:to>
                                    </p:set>
                                    <p:animEffect transition="in" filter="box(in)">
                                      <p:cBhvr>
                                        <p:cTn id="11" dur="450"/>
                                        <p:tgtEl>
                                          <p:spTgt spid="30"/>
                                        </p:tgtEl>
                                      </p:cBhvr>
                                    </p:animEffect>
                                  </p:childTnLst>
                                </p:cTn>
                              </p:par>
                            </p:childTnLst>
                          </p:cTn>
                        </p:par>
                        <p:par>
                          <p:cTn id="12" fill="hold">
                            <p:stCondLst>
                              <p:cond delay="1120"/>
                            </p:stCondLst>
                            <p:childTnLst>
                              <p:par>
                                <p:cTn xmlns:p="http://schemas.openxmlformats.org/presentationml/2006/main" id="13" presetID="4" presetClass="entr" presetSubtype="16" fill="hold" grpId="0" nodeType="afterEffect">
                                  <p:stCondLst>
                                    <p:cond delay="220"/>
                                  </p:stCondLst>
                                  <p:childTnLst>
                                    <p:set>
                                      <p:cBhvr>
                                        <p:cTn id="14" dur="1" fill="hold">
                                          <p:stCondLst>
                                            <p:cond delay="0"/>
                                          </p:stCondLst>
                                        </p:cTn>
                                        <p:tgtEl>
                                          <p:spTgt spid="42"/>
                                        </p:tgtEl>
                                        <p:attrNameLst>
                                          <p:attrName>style.visibility</p:attrName>
                                        </p:attrNameLst>
                                      </p:cBhvr>
                                      <p:to>
                                        <p:strVal val="visible"/>
                                      </p:to>
                                    </p:set>
                                    <p:animEffect transition="in" filter="box(in)">
                                      <p:cBhvr>
                                        <p:cTn id="15" dur="450"/>
                                        <p:tgtEl>
                                          <p:spTgt spid="42"/>
                                        </p:tgtEl>
                                      </p:cBhvr>
                                    </p:animEffect>
                                  </p:childTnLst>
                                </p:cTn>
                              </p:par>
                            </p:childTnLst>
                          </p:cTn>
                        </p:par>
                        <p:par>
                          <p:cTn id="16" fill="hold">
                            <p:stCondLst>
                              <p:cond delay="1790"/>
                            </p:stCondLst>
                            <p:childTnLst>
                              <p:par>
                                <p:cTn xmlns:p="http://schemas.openxmlformats.org/presentationml/2006/main" id="17" presetID="4" presetClass="entr" presetSubtype="16" fill="hold" grpId="0" nodeType="afterEffect">
                                  <p:stCondLst>
                                    <p:cond delay="220"/>
                                  </p:stCondLst>
                                  <p:childTnLst>
                                    <p:set>
                                      <p:cBhvr>
                                        <p:cTn id="18" dur="1" fill="hold">
                                          <p:stCondLst>
                                            <p:cond delay="0"/>
                                          </p:stCondLst>
                                        </p:cTn>
                                        <p:tgtEl>
                                          <p:spTgt spid="54"/>
                                        </p:tgtEl>
                                        <p:attrNameLst>
                                          <p:attrName>style.visibility</p:attrName>
                                        </p:attrNameLst>
                                      </p:cBhvr>
                                      <p:to>
                                        <p:strVal val="visible"/>
                                      </p:to>
                                    </p:set>
                                    <p:animEffect transition="in" filter="box(in)">
                                      <p:cBhvr>
                                        <p:cTn id="19" dur="450"/>
                                        <p:tgtEl>
                                          <p:spTgt spid="54"/>
                                        </p:tgtEl>
                                      </p:cBhvr>
                                    </p:animEffect>
                                  </p:childTnLst>
                                </p:cTn>
                              </p:par>
                            </p:childTnLst>
                          </p:cTn>
                        </p:par>
                        <p:par>
                          <p:cTn id="20" fill="hold">
                            <p:stCondLst>
                              <p:cond delay="2460"/>
                            </p:stCondLst>
                            <p:childTnLst>
                              <p:par>
                                <p:cTn xmlns:p="http://schemas.openxmlformats.org/presentationml/2006/main" id="21" presetID="1" presetClass="entr" presetSubtype="0" fill="hold" grpId="0" nodeType="afterEffect">
                                  <p:stCondLst>
                                    <p:cond delay="250"/>
                                  </p:stCondLst>
                                  <p:childTnLst>
                                    <p:set>
                                      <p:cBhvr>
                                        <p:cTn id="22" dur="1" fill="hold">
                                          <p:stCondLst>
                                            <p:cond delay="0"/>
                                          </p:stCondLst>
                                        </p:cTn>
                                        <p:tgtEl>
                                          <p:spTgt spid="60"/>
                                        </p:tgtEl>
                                        <p:attrNameLst>
                                          <p:attrName>style.visibility</p:attrName>
                                        </p:attrNameLst>
                                      </p:cBhvr>
                                      <p:to>
                                        <p:strVal val="visible"/>
                                      </p:to>
                                    </p:set>
                                  </p:childTnLst>
                                </p:cTn>
                              </p:par>
                            </p:childTnLst>
                          </p:cTn>
                        </p:par>
                        <p:par>
                          <p:cTn id="23" fill="hold">
                            <p:stCondLst>
                              <p:cond delay="3110"/>
                            </p:stCondLst>
                            <p:childTnLst>
                              <p:par>
                                <p:cTn xmlns:p="http://schemas.openxmlformats.org/presentationml/2006/main" id="24" presetID="22" presetClass="entr" presetSubtype="4" fill="hold" grpId="0" nodeType="afterEffect">
                                  <p:stCondLst>
                                    <p:cond delay="200"/>
                                  </p:stCondLst>
                                  <p:childTnLst>
                                    <p:set>
                                      <p:cBhvr>
                                        <p:cTn id="25" dur="1" fill="hold">
                                          <p:stCondLst>
                                            <p:cond delay="0"/>
                                          </p:stCondLst>
                                        </p:cTn>
                                        <p:tgtEl>
                                          <p:spTgt spid="65"/>
                                        </p:tgtEl>
                                        <p:attrNameLst>
                                          <p:attrName>style.visibility</p:attrName>
                                        </p:attrNameLst>
                                      </p:cBhvr>
                                      <p:to>
                                        <p:strVal val="visible"/>
                                      </p:to>
                                    </p:set>
                                    <p:animEffect transition="in" filter="wipe(down)">
                                      <p:cBhvr>
                                        <p:cTn id="26"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pattFill prst="ltUpDiag">
            <a:fgClr>
              <a:schemeClr val="dk1">
                <a:alpha val="8000"/>
              </a:schemeClr>
            </a:fgClr>
            <a:bgClr>
              <a:srgbClr val="FFFFFF"/>
            </a:bgClr>
          </a:pattFill>
          <a:ln>
            <a:noFill/>
          </a:ln>
        </p:spPr>
      </p:sp>
      <p:grpSp>
        <p:nvGrpSpPr>
          <p:cNvPr id="8" name="Group 8"/>
          <p:cNvGrpSpPr/>
          <p:nvPr/>
        </p:nvGrpSpPr>
        <p:grpSpPr>
          <a:xfrm>
            <a:off x="571500" y="533400"/>
            <a:ext cx="6974835" cy="771239"/>
            <a:chOff x="571500" y="533400"/>
            <a:chExt cx="6974835" cy="771239"/>
          </a:xfrm>
        </p:grpSpPr>
        <p:sp>
          <p:nvSpPr>
            <p:cNvPr id="3" name="Rectangle 3"/>
            <p:cNvSpPr/>
            <p:nvPr/>
          </p:nvSpPr>
          <p:spPr>
            <a:xfrm>
              <a:off x="571500" y="533400"/>
              <a:ext cx="133350" cy="647700"/>
            </a:xfrm>
            <a:prstGeom prst="rect">
              <a:avLst/>
            </a:prstGeom>
            <a:solidFill>
              <a:schemeClr val="accent1"/>
            </a:solidFill>
            <a:ln>
              <a:noFill/>
            </a:ln>
          </p:spPr>
        </p:sp>
        <p:sp>
          <p:nvSpPr>
            <p:cNvPr id="4" name="Rectangle 4"/>
            <p:cNvSpPr/>
            <p:nvPr/>
          </p:nvSpPr>
          <p:spPr>
            <a:xfrm>
              <a:off x="600075" y="561975"/>
              <a:ext cx="133350" cy="647700"/>
            </a:xfrm>
            <a:prstGeom prst="rect">
              <a:avLst/>
            </a:prstGeom>
            <a:solidFill>
              <a:schemeClr val="accent2">
                <a:alpha val="70000"/>
              </a:schemeClr>
            </a:solidFill>
            <a:ln>
              <a:noFill/>
            </a:ln>
          </p:spPr>
        </p:sp>
        <p:sp>
          <p:nvSpPr>
            <p:cNvPr id="5" name="Rectangle 5"/>
            <p:cNvSpPr/>
            <p:nvPr/>
          </p:nvSpPr>
          <p:spPr>
            <a:xfrm>
              <a:off x="571500" y="533400"/>
              <a:ext cx="133350" cy="647700"/>
            </a:xfrm>
            <a:prstGeom prst="rect">
              <a:avLst/>
            </a:prstGeom>
            <a:solidFill>
              <a:schemeClr val="accent1"/>
            </a:solidFill>
            <a:ln>
              <a:noFill/>
            </a:ln>
          </p:spPr>
        </p:sp>
        <p:sp>
          <p:nvSpPr>
            <p:cNvPr id="6" name="TextBox 6"/>
            <p:cNvSpPr txBox="1"/>
            <p:nvPr/>
          </p:nvSpPr>
          <p:spPr>
            <a:xfrm>
              <a:off x="858012" y="544830"/>
              <a:ext cx="4372051" cy="704088"/>
            </a:xfrm>
            <a:prstGeom prst="rect">
              <a:avLst/>
            </a:prstGeom>
            <a:noFill/>
            <a:ln>
              <a:noFill/>
            </a:ln>
          </p:spPr>
          <p:txBody>
            <a:bodyPr wrap="none" lIns="0" tIns="0" rIns="0" bIns="0" anchor="t" anchorCtr="0">
              <a:spAutoFit/>
            </a:bodyPr>
            <a:lstStyle/>
            <a:p>
              <a:pPr algn="l"/>
              <a:r>
                <a:rPr lang="zh-CN" sz="3600" spc="-75" dirty="0">
                  <a:solidFill>
                    <a:schemeClr val="dk1"/>
                  </a:solidFill>
                  <a:latin typeface="+mj-lt"/>
                  <a:ea typeface="+mj-ea"/>
                  <a:cs typeface="+mj-cs"/>
                </a:rPr>
                <a:t>SOURCES &amp; CREDITS</a:t>
              </a:r>
            </a:p>
          </p:txBody>
        </p:sp>
        <p:sp>
          <p:nvSpPr>
            <p:cNvPr id="7" name="TextBox 7"/>
            <p:cNvSpPr txBox="1"/>
            <p:nvPr/>
          </p:nvSpPr>
          <p:spPr>
            <a:xfrm>
              <a:off x="871347" y="1113949"/>
              <a:ext cx="6674988" cy="190690"/>
            </a:xfrm>
            <a:prstGeom prst="rect">
              <a:avLst/>
            </a:prstGeom>
            <a:noFill/>
            <a:ln>
              <a:noFill/>
            </a:ln>
          </p:spPr>
          <p:txBody>
            <a:bodyPr wrap="none" lIns="0" tIns="0" rIns="0" bIns="0" anchor="t" anchorCtr="0">
              <a:spAutoFit/>
            </a:bodyPr>
            <a:lstStyle/>
            <a:p>
              <a:pPr algn="l"/>
              <a:r>
                <a:rPr lang="zh-CN" sz="980" spc="225" dirty="0">
                  <a:solidFill>
                    <a:schemeClr val="dk2"/>
                  </a:solidFill>
                  <a:latin typeface="Consolas"/>
                  <a:ea typeface="Microsoft YaHei"/>
                  <a:cs typeface="Consolas"/>
                </a:rPr>
                <a:t>PRIMARY REFERENCES · 20 SOURCES · WIKIPEDIA + INDIE PRESS + 中文社区</a:t>
              </a:r>
            </a:p>
          </p:txBody>
        </p:sp>
      </p:grpSp>
      <p:sp>
        <p:nvSpPr>
          <p:cNvPr id="9" name="Line 9"/>
          <p:cNvSpPr/>
          <p:nvPr/>
        </p:nvSpPr>
        <p:spPr>
          <a:xfrm>
            <a:off x="571500" y="1447800"/>
            <a:ext cx="11049000" cy="9525"/>
          </a:xfrm>
          <a:custGeom>
            <a:avLst/>
            <a:gdLst/>
            <a:ahLst/>
            <a:cxnLst/>
            <a:rect l="l" t="t" r="r" b="b"/>
            <a:pathLst>
              <a:path w="11049000" h="9525">
                <a:moveTo>
                  <a:pt x="0" y="0"/>
                </a:moveTo>
                <a:lnTo>
                  <a:pt x="11049000" y="0"/>
                </a:lnTo>
              </a:path>
            </a:pathLst>
          </a:custGeom>
          <a:noFill/>
          <a:ln w="28575">
            <a:solidFill>
              <a:schemeClr val="accent4"/>
            </a:solidFill>
          </a:ln>
        </p:spPr>
      </p:sp>
      <p:grpSp>
        <p:nvGrpSpPr>
          <p:cNvPr id="30" name="Group 30"/>
          <p:cNvGrpSpPr/>
          <p:nvPr/>
        </p:nvGrpSpPr>
        <p:grpSpPr>
          <a:xfrm>
            <a:off x="571500" y="1714500"/>
            <a:ext cx="3619500" cy="3273266"/>
            <a:chOff x="571500" y="1714500"/>
            <a:chExt cx="3619500" cy="3273266"/>
          </a:xfrm>
        </p:grpSpPr>
        <p:sp>
          <p:nvSpPr>
            <p:cNvPr id="10" name="Rectangle 10"/>
            <p:cNvSpPr/>
            <p:nvPr/>
          </p:nvSpPr>
          <p:spPr>
            <a:xfrm>
              <a:off x="571500" y="1714500"/>
              <a:ext cx="3619500" cy="342900"/>
            </a:xfrm>
            <a:prstGeom prst="rect">
              <a:avLst/>
            </a:prstGeom>
            <a:solidFill>
              <a:schemeClr val="accent1"/>
            </a:solidFill>
            <a:ln>
              <a:noFill/>
            </a:ln>
          </p:spPr>
        </p:sp>
        <p:sp>
          <p:nvSpPr>
            <p:cNvPr id="11" name="TextBox 11"/>
            <p:cNvSpPr txBox="1"/>
            <p:nvPr/>
          </p:nvSpPr>
          <p:spPr>
            <a:xfrm>
              <a:off x="754380" y="1790700"/>
              <a:ext cx="1775460" cy="293370"/>
            </a:xfrm>
            <a:prstGeom prst="rect">
              <a:avLst/>
            </a:prstGeom>
            <a:noFill/>
            <a:ln>
              <a:noFill/>
            </a:ln>
          </p:spPr>
          <p:txBody>
            <a:bodyPr wrap="none" lIns="0" tIns="0" rIns="0" bIns="0" anchor="t" anchorCtr="0">
              <a:spAutoFit/>
            </a:bodyPr>
            <a:lstStyle/>
            <a:p>
              <a:pPr algn="l"/>
              <a:r>
                <a:rPr lang="zh-CN" sz="1500" dirty="0">
                  <a:solidFill>
                    <a:srgbClr val="F5EFE0"/>
                  </a:solidFill>
                  <a:latin typeface="+mj-lt"/>
                  <a:ea typeface="+mj-ea"/>
                  <a:cs typeface="+mj-cs"/>
                </a:rPr>
                <a:t>ZINE · 简史 · 制作</a:t>
              </a:r>
            </a:p>
          </p:txBody>
        </p:sp>
        <p:sp>
          <p:nvSpPr>
            <p:cNvPr id="12" name="TextBox 12"/>
            <p:cNvSpPr txBox="1"/>
            <p:nvPr/>
          </p:nvSpPr>
          <p:spPr>
            <a:xfrm>
              <a:off x="585788" y="2254091"/>
              <a:ext cx="151145" cy="161925"/>
            </a:xfrm>
            <a:prstGeom prst="rect">
              <a:avLst/>
            </a:prstGeom>
            <a:noFill/>
            <a:ln>
              <a:noFill/>
            </a:ln>
          </p:spPr>
          <p:txBody>
            <a:bodyPr wrap="none" lIns="0" tIns="0" rIns="0" bIns="0" anchor="t" anchorCtr="0">
              <a:spAutoFit/>
            </a:bodyPr>
            <a:lstStyle/>
            <a:p>
              <a:pPr algn="l"/>
              <a:r>
                <a:rPr lang="zh-CN" sz="820" spc="150" dirty="0">
                  <a:solidFill>
                    <a:schemeClr val="accent2"/>
                  </a:solidFill>
                  <a:latin typeface="Consolas"/>
                  <a:ea typeface="Consolas"/>
                  <a:cs typeface="Consolas"/>
                </a:rPr>
                <a:t>01</a:t>
              </a:r>
            </a:p>
          </p:txBody>
        </p:sp>
        <p:sp>
          <p:nvSpPr>
            <p:cNvPr id="13" name="TextBox 13"/>
            <p:cNvSpPr txBox="1"/>
            <p:nvPr/>
          </p:nvSpPr>
          <p:spPr>
            <a:xfrm>
              <a:off x="871347" y="2237899"/>
              <a:ext cx="1057883" cy="190690"/>
            </a:xfrm>
            <a:prstGeom prst="rect">
              <a:avLst/>
            </a:prstGeom>
            <a:noFill/>
            <a:ln>
              <a:noFill/>
            </a:ln>
          </p:spPr>
          <p:txBody>
            <a:bodyPr wrap="none" lIns="0" tIns="0" rIns="0" bIns="0" anchor="t" anchorCtr="0">
              <a:spAutoFit/>
            </a:bodyPr>
            <a:lstStyle/>
            <a:p>
              <a:pPr algn="l"/>
              <a:r>
                <a:rPr lang="zh-CN" sz="980" b="1" dirty="0">
                  <a:solidFill>
                    <a:schemeClr val="dk1"/>
                  </a:solidFill>
                  <a:latin typeface="+mn-lt"/>
                  <a:ea typeface="+mn-ea"/>
                  <a:cs typeface="+mn-cs"/>
                </a:rPr>
                <a:t>Wikipedia · Zine</a:t>
              </a:r>
            </a:p>
          </p:txBody>
        </p:sp>
        <p:sp>
          <p:nvSpPr>
            <p:cNvPr id="14" name="TextBox 14"/>
            <p:cNvSpPr txBox="1"/>
            <p:nvPr/>
          </p:nvSpPr>
          <p:spPr>
            <a:xfrm>
              <a:off x="585788" y="2444591"/>
              <a:ext cx="1470401" cy="161925"/>
            </a:xfrm>
            <a:prstGeom prst="rect">
              <a:avLst/>
            </a:prstGeom>
            <a:noFill/>
            <a:ln>
              <a:noFill/>
            </a:ln>
          </p:spPr>
          <p:txBody>
            <a:bodyPr wrap="none" lIns="0" tIns="0" rIns="0" bIns="0" anchor="t" anchorCtr="0">
              <a:spAutoFit/>
            </a:bodyPr>
            <a:lstStyle/>
            <a:p>
              <a:pPr algn="l"/>
              <a:r>
                <a:rPr lang="zh-CN" sz="820" dirty="0">
                  <a:solidFill>
                    <a:schemeClr val="dk2"/>
                  </a:solidFill>
                  <a:latin typeface="Consolas"/>
                  <a:ea typeface="Consolas"/>
                  <a:cs typeface="Consolas"/>
                </a:rPr>
                <a:t>en.wikipedia.org/wiki/Zine</a:t>
              </a:r>
            </a:p>
          </p:txBody>
        </p:sp>
        <p:sp>
          <p:nvSpPr>
            <p:cNvPr id="15" name="TextBox 15"/>
            <p:cNvSpPr txBox="1"/>
            <p:nvPr/>
          </p:nvSpPr>
          <p:spPr>
            <a:xfrm>
              <a:off x="585788" y="2730341"/>
              <a:ext cx="151145" cy="161925"/>
            </a:xfrm>
            <a:prstGeom prst="rect">
              <a:avLst/>
            </a:prstGeom>
            <a:noFill/>
            <a:ln>
              <a:noFill/>
            </a:ln>
          </p:spPr>
          <p:txBody>
            <a:bodyPr wrap="none" lIns="0" tIns="0" rIns="0" bIns="0" anchor="t" anchorCtr="0">
              <a:spAutoFit/>
            </a:bodyPr>
            <a:lstStyle/>
            <a:p>
              <a:pPr algn="l"/>
              <a:r>
                <a:rPr lang="zh-CN" sz="820" spc="150" dirty="0">
                  <a:solidFill>
                    <a:schemeClr val="accent2"/>
                  </a:solidFill>
                  <a:latin typeface="Consolas"/>
                  <a:ea typeface="Consolas"/>
                  <a:cs typeface="Consolas"/>
                </a:rPr>
                <a:t>02</a:t>
              </a:r>
            </a:p>
          </p:txBody>
        </p:sp>
        <p:sp>
          <p:nvSpPr>
            <p:cNvPr id="16" name="TextBox 16"/>
            <p:cNvSpPr txBox="1"/>
            <p:nvPr/>
          </p:nvSpPr>
          <p:spPr>
            <a:xfrm>
              <a:off x="871347" y="2714149"/>
              <a:ext cx="1445677" cy="190690"/>
            </a:xfrm>
            <a:prstGeom prst="rect">
              <a:avLst/>
            </a:prstGeom>
            <a:noFill/>
            <a:ln>
              <a:noFill/>
            </a:ln>
          </p:spPr>
          <p:txBody>
            <a:bodyPr wrap="none" lIns="0" tIns="0" rIns="0" bIns="0" anchor="t" anchorCtr="0">
              <a:spAutoFit/>
            </a:bodyPr>
            <a:lstStyle/>
            <a:p>
              <a:pPr algn="l"/>
              <a:r>
                <a:rPr lang="zh-CN" sz="980" b="1" dirty="0">
                  <a:solidFill>
                    <a:schemeClr val="dk1"/>
                  </a:solidFill>
                  <a:latin typeface="+mn-lt"/>
                  <a:ea typeface="+mn-ea"/>
                  <a:cs typeface="+mn-cs"/>
                </a:rPr>
                <a:t>Wikipedia · Riot grrrl</a:t>
              </a:r>
            </a:p>
          </p:txBody>
        </p:sp>
        <p:sp>
          <p:nvSpPr>
            <p:cNvPr id="17" name="TextBox 17"/>
            <p:cNvSpPr txBox="1"/>
            <p:nvPr/>
          </p:nvSpPr>
          <p:spPr>
            <a:xfrm>
              <a:off x="585788" y="2920841"/>
              <a:ext cx="1807097" cy="161925"/>
            </a:xfrm>
            <a:prstGeom prst="rect">
              <a:avLst/>
            </a:prstGeom>
            <a:noFill/>
            <a:ln>
              <a:noFill/>
            </a:ln>
          </p:spPr>
          <p:txBody>
            <a:bodyPr wrap="none" lIns="0" tIns="0" rIns="0" bIns="0" anchor="t" anchorCtr="0">
              <a:spAutoFit/>
            </a:bodyPr>
            <a:lstStyle/>
            <a:p>
              <a:pPr algn="l"/>
              <a:r>
                <a:rPr lang="zh-CN" sz="820" dirty="0">
                  <a:solidFill>
                    <a:schemeClr val="dk2"/>
                  </a:solidFill>
                  <a:latin typeface="Consolas"/>
                  <a:ea typeface="Consolas"/>
                  <a:cs typeface="Consolas"/>
                </a:rPr>
                <a:t>en.wikipedia.org/wiki/Riot_grrrl</a:t>
              </a:r>
            </a:p>
          </p:txBody>
        </p:sp>
        <p:sp>
          <p:nvSpPr>
            <p:cNvPr id="18" name="TextBox 18"/>
            <p:cNvSpPr txBox="1"/>
            <p:nvPr/>
          </p:nvSpPr>
          <p:spPr>
            <a:xfrm>
              <a:off x="585788" y="3206591"/>
              <a:ext cx="151145" cy="161925"/>
            </a:xfrm>
            <a:prstGeom prst="rect">
              <a:avLst/>
            </a:prstGeom>
            <a:noFill/>
            <a:ln>
              <a:noFill/>
            </a:ln>
          </p:spPr>
          <p:txBody>
            <a:bodyPr wrap="none" lIns="0" tIns="0" rIns="0" bIns="0" anchor="t" anchorCtr="0">
              <a:spAutoFit/>
            </a:bodyPr>
            <a:lstStyle/>
            <a:p>
              <a:pPr algn="l"/>
              <a:r>
                <a:rPr lang="zh-CN" sz="820" spc="150" dirty="0">
                  <a:solidFill>
                    <a:schemeClr val="accent2"/>
                  </a:solidFill>
                  <a:latin typeface="Consolas"/>
                  <a:ea typeface="Consolas"/>
                  <a:cs typeface="Consolas"/>
                </a:rPr>
                <a:t>03</a:t>
              </a:r>
            </a:p>
          </p:txBody>
        </p:sp>
        <p:sp>
          <p:nvSpPr>
            <p:cNvPr id="19" name="TextBox 19"/>
            <p:cNvSpPr txBox="1"/>
            <p:nvPr/>
          </p:nvSpPr>
          <p:spPr>
            <a:xfrm>
              <a:off x="871347" y="3190399"/>
              <a:ext cx="1780661" cy="190690"/>
            </a:xfrm>
            <a:prstGeom prst="rect">
              <a:avLst/>
            </a:prstGeom>
            <a:noFill/>
            <a:ln>
              <a:noFill/>
            </a:ln>
          </p:spPr>
          <p:txBody>
            <a:bodyPr wrap="none" lIns="0" tIns="0" rIns="0" bIns="0" anchor="t" anchorCtr="0">
              <a:spAutoFit/>
            </a:bodyPr>
            <a:lstStyle/>
            <a:p>
              <a:pPr algn="l"/>
              <a:r>
                <a:rPr lang="zh-CN" sz="980" b="1" dirty="0">
                  <a:solidFill>
                    <a:schemeClr val="dk1"/>
                  </a:solidFill>
                  <a:latin typeface="+mn-lt"/>
                  <a:ea typeface="+mn-ea"/>
                  <a:cs typeface="+mn-cs"/>
                </a:rPr>
                <a:t>JSTOR Daily — Start a Riot</a:t>
              </a:r>
            </a:p>
          </p:txBody>
        </p:sp>
        <p:sp>
          <p:nvSpPr>
            <p:cNvPr id="20" name="TextBox 20"/>
            <p:cNvSpPr txBox="1"/>
            <p:nvPr/>
          </p:nvSpPr>
          <p:spPr>
            <a:xfrm>
              <a:off x="585788" y="3397091"/>
              <a:ext cx="2576055" cy="161925"/>
            </a:xfrm>
            <a:prstGeom prst="rect">
              <a:avLst/>
            </a:prstGeom>
            <a:noFill/>
            <a:ln>
              <a:noFill/>
            </a:ln>
          </p:spPr>
          <p:txBody>
            <a:bodyPr wrap="none" lIns="0" tIns="0" rIns="0" bIns="0" anchor="t" anchorCtr="0">
              <a:spAutoFit/>
            </a:bodyPr>
            <a:lstStyle/>
            <a:p>
              <a:pPr algn="l"/>
              <a:r>
                <a:rPr lang="zh-CN" sz="820" dirty="0">
                  <a:solidFill>
                    <a:schemeClr val="dk2"/>
                  </a:solidFill>
                  <a:latin typeface="Consolas"/>
                  <a:ea typeface="Consolas"/>
                  <a:cs typeface="Consolas"/>
                </a:rPr>
                <a:t>daily.jstor.org/start-a-riot-and-a-zine-grrrl</a:t>
              </a:r>
            </a:p>
          </p:txBody>
        </p:sp>
        <p:sp>
          <p:nvSpPr>
            <p:cNvPr id="21" name="TextBox 21"/>
            <p:cNvSpPr txBox="1"/>
            <p:nvPr/>
          </p:nvSpPr>
          <p:spPr>
            <a:xfrm>
              <a:off x="585788" y="3682841"/>
              <a:ext cx="151145" cy="161925"/>
            </a:xfrm>
            <a:prstGeom prst="rect">
              <a:avLst/>
            </a:prstGeom>
            <a:noFill/>
            <a:ln>
              <a:noFill/>
            </a:ln>
          </p:spPr>
          <p:txBody>
            <a:bodyPr wrap="none" lIns="0" tIns="0" rIns="0" bIns="0" anchor="t" anchorCtr="0">
              <a:spAutoFit/>
            </a:bodyPr>
            <a:lstStyle/>
            <a:p>
              <a:pPr algn="l"/>
              <a:r>
                <a:rPr lang="zh-CN" sz="820" spc="150" dirty="0">
                  <a:solidFill>
                    <a:schemeClr val="accent2"/>
                  </a:solidFill>
                  <a:latin typeface="Consolas"/>
                  <a:ea typeface="Consolas"/>
                  <a:cs typeface="Consolas"/>
                </a:rPr>
                <a:t>04</a:t>
              </a:r>
            </a:p>
          </p:txBody>
        </p:sp>
        <p:sp>
          <p:nvSpPr>
            <p:cNvPr id="22" name="TextBox 22"/>
            <p:cNvSpPr txBox="1"/>
            <p:nvPr/>
          </p:nvSpPr>
          <p:spPr>
            <a:xfrm>
              <a:off x="871347" y="3666649"/>
              <a:ext cx="2022194" cy="190690"/>
            </a:xfrm>
            <a:prstGeom prst="rect">
              <a:avLst/>
            </a:prstGeom>
            <a:noFill/>
            <a:ln>
              <a:noFill/>
            </a:ln>
          </p:spPr>
          <p:txBody>
            <a:bodyPr wrap="none" lIns="0" tIns="0" rIns="0" bIns="0" anchor="t" anchorCtr="0">
              <a:spAutoFit/>
            </a:bodyPr>
            <a:lstStyle/>
            <a:p>
              <a:pPr algn="l"/>
              <a:r>
                <a:rPr lang="zh-CN" sz="980" b="1" dirty="0">
                  <a:solidFill>
                    <a:schemeClr val="dk1"/>
                  </a:solidFill>
                  <a:latin typeface="+mn-lt"/>
                  <a:ea typeface="+mn-ea"/>
                  <a:cs typeface="+mn-cs"/>
                </a:rPr>
                <a:t>UNC Chapel Hill · Brief History</a:t>
              </a:r>
            </a:p>
          </p:txBody>
        </p:sp>
        <p:sp>
          <p:nvSpPr>
            <p:cNvPr id="23" name="TextBox 23"/>
            <p:cNvSpPr txBox="1"/>
            <p:nvPr/>
          </p:nvSpPr>
          <p:spPr>
            <a:xfrm>
              <a:off x="585788" y="3873341"/>
              <a:ext cx="1869570" cy="161925"/>
            </a:xfrm>
            <a:prstGeom prst="rect">
              <a:avLst/>
            </a:prstGeom>
            <a:noFill/>
            <a:ln>
              <a:noFill/>
            </a:ln>
          </p:spPr>
          <p:txBody>
            <a:bodyPr wrap="none" lIns="0" tIns="0" rIns="0" bIns="0" anchor="t" anchorCtr="0">
              <a:spAutoFit/>
            </a:bodyPr>
            <a:lstStyle/>
            <a:p>
              <a:pPr algn="l"/>
              <a:r>
                <a:rPr lang="zh-CN" sz="820" dirty="0">
                  <a:solidFill>
                    <a:schemeClr val="dk2"/>
                  </a:solidFill>
                  <a:latin typeface="Consolas"/>
                  <a:ea typeface="Consolas"/>
                  <a:cs typeface="Consolas"/>
                </a:rPr>
                <a:t>blogs.lib.unc.edu/rbc/2017/10/25</a:t>
              </a:r>
            </a:p>
          </p:txBody>
        </p:sp>
        <p:sp>
          <p:nvSpPr>
            <p:cNvPr id="24" name="TextBox 24"/>
            <p:cNvSpPr txBox="1"/>
            <p:nvPr/>
          </p:nvSpPr>
          <p:spPr>
            <a:xfrm>
              <a:off x="585788" y="4159091"/>
              <a:ext cx="151145" cy="161925"/>
            </a:xfrm>
            <a:prstGeom prst="rect">
              <a:avLst/>
            </a:prstGeom>
            <a:noFill/>
            <a:ln>
              <a:noFill/>
            </a:ln>
          </p:spPr>
          <p:txBody>
            <a:bodyPr wrap="none" lIns="0" tIns="0" rIns="0" bIns="0" anchor="t" anchorCtr="0">
              <a:spAutoFit/>
            </a:bodyPr>
            <a:lstStyle/>
            <a:p>
              <a:pPr algn="l"/>
              <a:r>
                <a:rPr lang="zh-CN" sz="820" spc="150" dirty="0">
                  <a:solidFill>
                    <a:schemeClr val="accent2"/>
                  </a:solidFill>
                  <a:latin typeface="Consolas"/>
                  <a:ea typeface="Consolas"/>
                  <a:cs typeface="Consolas"/>
                </a:rPr>
                <a:t>05</a:t>
              </a:r>
            </a:p>
          </p:txBody>
        </p:sp>
        <p:sp>
          <p:nvSpPr>
            <p:cNvPr id="25" name="TextBox 25"/>
            <p:cNvSpPr txBox="1"/>
            <p:nvPr/>
          </p:nvSpPr>
          <p:spPr>
            <a:xfrm>
              <a:off x="871347" y="4142899"/>
              <a:ext cx="2702945" cy="190690"/>
            </a:xfrm>
            <a:prstGeom prst="rect">
              <a:avLst/>
            </a:prstGeom>
            <a:noFill/>
            <a:ln>
              <a:noFill/>
            </a:ln>
          </p:spPr>
          <p:txBody>
            <a:bodyPr wrap="none" lIns="0" tIns="0" rIns="0" bIns="0" anchor="t" anchorCtr="0">
              <a:spAutoFit/>
            </a:bodyPr>
            <a:lstStyle/>
            <a:p>
              <a:pPr algn="l"/>
              <a:r>
                <a:rPr lang="zh-CN" sz="980" b="1" dirty="0">
                  <a:solidFill>
                    <a:schemeClr val="dk1"/>
                  </a:solidFill>
                  <a:latin typeface="+mn-lt"/>
                  <a:ea typeface="+mn-ea"/>
                  <a:cs typeface="+mn-cs"/>
                </a:rPr>
                <a:t>The Creative Independent · How to make</a:t>
              </a:r>
            </a:p>
          </p:txBody>
        </p:sp>
        <p:sp>
          <p:nvSpPr>
            <p:cNvPr id="26" name="TextBox 26"/>
            <p:cNvSpPr txBox="1"/>
            <p:nvPr/>
          </p:nvSpPr>
          <p:spPr>
            <a:xfrm>
              <a:off x="585788" y="4349591"/>
              <a:ext cx="3122478" cy="161925"/>
            </a:xfrm>
            <a:prstGeom prst="rect">
              <a:avLst/>
            </a:prstGeom>
            <a:noFill/>
            <a:ln>
              <a:noFill/>
            </a:ln>
          </p:spPr>
          <p:txBody>
            <a:bodyPr wrap="none" lIns="0" tIns="0" rIns="0" bIns="0" anchor="t" anchorCtr="0">
              <a:spAutoFit/>
            </a:bodyPr>
            <a:lstStyle/>
            <a:p>
              <a:pPr algn="l"/>
              <a:r>
                <a:rPr lang="zh-CN" sz="820" dirty="0">
                  <a:solidFill>
                    <a:schemeClr val="dk2"/>
                  </a:solidFill>
                  <a:latin typeface="Consolas"/>
                  <a:ea typeface="Consolas"/>
                  <a:cs typeface="Consolas"/>
                </a:rPr>
                <a:t>thecreativeindependent.com/guides/how-to-make-a-zine</a:t>
              </a:r>
            </a:p>
          </p:txBody>
        </p:sp>
        <p:sp>
          <p:nvSpPr>
            <p:cNvPr id="27" name="TextBox 27"/>
            <p:cNvSpPr txBox="1"/>
            <p:nvPr/>
          </p:nvSpPr>
          <p:spPr>
            <a:xfrm>
              <a:off x="585788" y="4635341"/>
              <a:ext cx="151145" cy="161925"/>
            </a:xfrm>
            <a:prstGeom prst="rect">
              <a:avLst/>
            </a:prstGeom>
            <a:noFill/>
            <a:ln>
              <a:noFill/>
            </a:ln>
          </p:spPr>
          <p:txBody>
            <a:bodyPr wrap="none" lIns="0" tIns="0" rIns="0" bIns="0" anchor="t" anchorCtr="0">
              <a:spAutoFit/>
            </a:bodyPr>
            <a:lstStyle/>
            <a:p>
              <a:pPr algn="l"/>
              <a:r>
                <a:rPr lang="zh-CN" sz="820" spc="150" dirty="0">
                  <a:solidFill>
                    <a:schemeClr val="accent2"/>
                  </a:solidFill>
                  <a:latin typeface="Consolas"/>
                  <a:ea typeface="Consolas"/>
                  <a:cs typeface="Consolas"/>
                </a:rPr>
                <a:t>06</a:t>
              </a:r>
            </a:p>
          </p:txBody>
        </p:sp>
        <p:sp>
          <p:nvSpPr>
            <p:cNvPr id="28" name="TextBox 28"/>
            <p:cNvSpPr txBox="1"/>
            <p:nvPr/>
          </p:nvSpPr>
          <p:spPr>
            <a:xfrm>
              <a:off x="871347" y="4619149"/>
              <a:ext cx="1920218" cy="190690"/>
            </a:xfrm>
            <a:prstGeom prst="rect">
              <a:avLst/>
            </a:prstGeom>
            <a:noFill/>
            <a:ln>
              <a:noFill/>
            </a:ln>
          </p:spPr>
          <p:txBody>
            <a:bodyPr wrap="none" lIns="0" tIns="0" rIns="0" bIns="0" anchor="t" anchorCtr="0">
              <a:spAutoFit/>
            </a:bodyPr>
            <a:lstStyle/>
            <a:p>
              <a:pPr algn="l"/>
              <a:r>
                <a:rPr lang="zh-CN" sz="980" b="1" dirty="0">
                  <a:solidFill>
                    <a:schemeClr val="dk1"/>
                  </a:solidFill>
                  <a:latin typeface="+mn-lt"/>
                  <a:ea typeface="+mn-ea"/>
                  <a:cs typeface="+mn-cs"/>
                </a:rPr>
                <a:t>Book Riot · Beginner's Guide</a:t>
              </a:r>
            </a:p>
          </p:txBody>
        </p:sp>
        <p:sp>
          <p:nvSpPr>
            <p:cNvPr id="29" name="TextBox 29"/>
            <p:cNvSpPr txBox="1"/>
            <p:nvPr/>
          </p:nvSpPr>
          <p:spPr>
            <a:xfrm>
              <a:off x="585788" y="4825841"/>
              <a:ext cx="1902686" cy="161925"/>
            </a:xfrm>
            <a:prstGeom prst="rect">
              <a:avLst/>
            </a:prstGeom>
            <a:noFill/>
            <a:ln>
              <a:noFill/>
            </a:ln>
          </p:spPr>
          <p:txBody>
            <a:bodyPr wrap="none" lIns="0" tIns="0" rIns="0" bIns="0" anchor="t" anchorCtr="0">
              <a:spAutoFit/>
            </a:bodyPr>
            <a:lstStyle/>
            <a:p>
              <a:pPr algn="l"/>
              <a:r>
                <a:rPr lang="zh-CN" sz="820" dirty="0">
                  <a:solidFill>
                    <a:schemeClr val="dk2"/>
                  </a:solidFill>
                  <a:latin typeface="Consolas"/>
                  <a:ea typeface="Consolas"/>
                  <a:cs typeface="Consolas"/>
                </a:rPr>
                <a:t>bookriot.com/how-to-make-a-zine</a:t>
              </a:r>
            </a:p>
          </p:txBody>
        </p:sp>
      </p:grpSp>
      <p:grpSp>
        <p:nvGrpSpPr>
          <p:cNvPr id="54" name="Group 54"/>
          <p:cNvGrpSpPr/>
          <p:nvPr/>
        </p:nvGrpSpPr>
        <p:grpSpPr>
          <a:xfrm>
            <a:off x="4286250" y="1714500"/>
            <a:ext cx="3619500" cy="3749516"/>
            <a:chOff x="4286250" y="1714500"/>
            <a:chExt cx="3619500" cy="3749516"/>
          </a:xfrm>
        </p:grpSpPr>
        <p:sp>
          <p:nvSpPr>
            <p:cNvPr id="31" name="Rectangle 31"/>
            <p:cNvSpPr/>
            <p:nvPr/>
          </p:nvSpPr>
          <p:spPr>
            <a:xfrm>
              <a:off x="4286250" y="1714500"/>
              <a:ext cx="3619500" cy="342900"/>
            </a:xfrm>
            <a:prstGeom prst="rect">
              <a:avLst/>
            </a:prstGeom>
            <a:solidFill>
              <a:schemeClr val="accent2"/>
            </a:solidFill>
            <a:ln>
              <a:noFill/>
            </a:ln>
          </p:spPr>
        </p:sp>
        <p:sp>
          <p:nvSpPr>
            <p:cNvPr id="32" name="TextBox 32"/>
            <p:cNvSpPr txBox="1"/>
            <p:nvPr/>
          </p:nvSpPr>
          <p:spPr>
            <a:xfrm>
              <a:off x="4469130" y="1790700"/>
              <a:ext cx="1572768" cy="293370"/>
            </a:xfrm>
            <a:prstGeom prst="rect">
              <a:avLst/>
            </a:prstGeom>
            <a:noFill/>
            <a:ln>
              <a:noFill/>
            </a:ln>
          </p:spPr>
          <p:txBody>
            <a:bodyPr wrap="none" lIns="0" tIns="0" rIns="0" bIns="0" anchor="t" anchorCtr="0">
              <a:spAutoFit/>
            </a:bodyPr>
            <a:lstStyle/>
            <a:p>
              <a:pPr algn="l"/>
              <a:r>
                <a:rPr lang="zh-CN" sz="1500" dirty="0">
                  <a:solidFill>
                    <a:srgbClr val="F5EFE0"/>
                  </a:solidFill>
                  <a:latin typeface="+mj-lt"/>
                  <a:ea typeface="+mj-ea"/>
                  <a:cs typeface="+mj-cs"/>
                </a:rPr>
                <a:t>RISO · 全球书店</a:t>
              </a:r>
            </a:p>
          </p:txBody>
        </p:sp>
        <p:sp>
          <p:nvSpPr>
            <p:cNvPr id="33" name="TextBox 33"/>
            <p:cNvSpPr txBox="1"/>
            <p:nvPr/>
          </p:nvSpPr>
          <p:spPr>
            <a:xfrm>
              <a:off x="4300538" y="2254091"/>
              <a:ext cx="151145" cy="161925"/>
            </a:xfrm>
            <a:prstGeom prst="rect">
              <a:avLst/>
            </a:prstGeom>
            <a:noFill/>
            <a:ln>
              <a:noFill/>
            </a:ln>
          </p:spPr>
          <p:txBody>
            <a:bodyPr wrap="none" lIns="0" tIns="0" rIns="0" bIns="0" anchor="t" anchorCtr="0">
              <a:spAutoFit/>
            </a:bodyPr>
            <a:lstStyle/>
            <a:p>
              <a:pPr algn="l"/>
              <a:r>
                <a:rPr lang="zh-CN" sz="820" spc="150" dirty="0">
                  <a:solidFill>
                    <a:schemeClr val="accent1"/>
                  </a:solidFill>
                  <a:latin typeface="Consolas"/>
                  <a:ea typeface="Consolas"/>
                  <a:cs typeface="Consolas"/>
                </a:rPr>
                <a:t>07</a:t>
              </a:r>
            </a:p>
          </p:txBody>
        </p:sp>
        <p:sp>
          <p:nvSpPr>
            <p:cNvPr id="34" name="TextBox 34"/>
            <p:cNvSpPr txBox="1"/>
            <p:nvPr/>
          </p:nvSpPr>
          <p:spPr>
            <a:xfrm>
              <a:off x="4586097" y="2237899"/>
              <a:ext cx="2693848" cy="190690"/>
            </a:xfrm>
            <a:prstGeom prst="rect">
              <a:avLst/>
            </a:prstGeom>
            <a:noFill/>
            <a:ln>
              <a:noFill/>
            </a:ln>
          </p:spPr>
          <p:txBody>
            <a:bodyPr wrap="none" lIns="0" tIns="0" rIns="0" bIns="0" anchor="t" anchorCtr="0">
              <a:spAutoFit/>
            </a:bodyPr>
            <a:lstStyle/>
            <a:p>
              <a:pPr algn="l"/>
              <a:r>
                <a:rPr lang="zh-CN" sz="980" b="1" dirty="0">
                  <a:solidFill>
                    <a:schemeClr val="dk1"/>
                  </a:solidFill>
                  <a:latin typeface="+mn-lt"/>
                  <a:ea typeface="+mn-ea"/>
                  <a:cs typeface="+mn-cs"/>
                </a:rPr>
                <a:t>My Modern Met · Risograph Renaissance</a:t>
              </a:r>
            </a:p>
          </p:txBody>
        </p:sp>
        <p:sp>
          <p:nvSpPr>
            <p:cNvPr id="35" name="TextBox 35"/>
            <p:cNvSpPr txBox="1"/>
            <p:nvPr/>
          </p:nvSpPr>
          <p:spPr>
            <a:xfrm>
              <a:off x="4300538" y="2444591"/>
              <a:ext cx="2046191" cy="161925"/>
            </a:xfrm>
            <a:prstGeom prst="rect">
              <a:avLst/>
            </a:prstGeom>
            <a:noFill/>
            <a:ln>
              <a:noFill/>
            </a:ln>
          </p:spPr>
          <p:txBody>
            <a:bodyPr wrap="none" lIns="0" tIns="0" rIns="0" bIns="0" anchor="t" anchorCtr="0">
              <a:spAutoFit/>
            </a:bodyPr>
            <a:lstStyle/>
            <a:p>
              <a:pPr algn="l"/>
              <a:r>
                <a:rPr lang="zh-CN" sz="820" dirty="0">
                  <a:solidFill>
                    <a:schemeClr val="dk2"/>
                  </a:solidFill>
                  <a:latin typeface="Consolas"/>
                  <a:ea typeface="Consolas"/>
                  <a:cs typeface="Consolas"/>
                </a:rPr>
                <a:t>mymodernmet.com/risograph-printer</a:t>
              </a:r>
            </a:p>
          </p:txBody>
        </p:sp>
        <p:sp>
          <p:nvSpPr>
            <p:cNvPr id="36" name="TextBox 36"/>
            <p:cNvSpPr txBox="1"/>
            <p:nvPr/>
          </p:nvSpPr>
          <p:spPr>
            <a:xfrm>
              <a:off x="4300538" y="2730341"/>
              <a:ext cx="151145" cy="161925"/>
            </a:xfrm>
            <a:prstGeom prst="rect">
              <a:avLst/>
            </a:prstGeom>
            <a:noFill/>
            <a:ln>
              <a:noFill/>
            </a:ln>
          </p:spPr>
          <p:txBody>
            <a:bodyPr wrap="none" lIns="0" tIns="0" rIns="0" bIns="0" anchor="t" anchorCtr="0">
              <a:spAutoFit/>
            </a:bodyPr>
            <a:lstStyle/>
            <a:p>
              <a:pPr algn="l"/>
              <a:r>
                <a:rPr lang="zh-CN" sz="820" spc="150" dirty="0">
                  <a:solidFill>
                    <a:schemeClr val="accent1"/>
                  </a:solidFill>
                  <a:latin typeface="Consolas"/>
                  <a:ea typeface="Consolas"/>
                  <a:cs typeface="Consolas"/>
                </a:rPr>
                <a:t>08</a:t>
              </a:r>
            </a:p>
          </p:txBody>
        </p:sp>
        <p:sp>
          <p:nvSpPr>
            <p:cNvPr id="37" name="TextBox 37"/>
            <p:cNvSpPr txBox="1"/>
            <p:nvPr/>
          </p:nvSpPr>
          <p:spPr>
            <a:xfrm>
              <a:off x="4586097" y="2714149"/>
              <a:ext cx="2228526" cy="190690"/>
            </a:xfrm>
            <a:prstGeom prst="rect">
              <a:avLst/>
            </a:prstGeom>
            <a:noFill/>
            <a:ln>
              <a:noFill/>
            </a:ln>
          </p:spPr>
          <p:txBody>
            <a:bodyPr wrap="none" lIns="0" tIns="0" rIns="0" bIns="0" anchor="t" anchorCtr="0">
              <a:spAutoFit/>
            </a:bodyPr>
            <a:lstStyle/>
            <a:p>
              <a:pPr algn="l"/>
              <a:r>
                <a:rPr lang="zh-CN" sz="980" b="1" dirty="0">
                  <a:solidFill>
                    <a:schemeClr val="dk1"/>
                  </a:solidFill>
                  <a:latin typeface="+mn-lt"/>
                  <a:ea typeface="+mn-ea"/>
                  <a:cs typeface="+mn-cs"/>
                </a:rPr>
                <a:t>KPBS · Risograph revival podcast</a:t>
              </a:r>
            </a:p>
          </p:txBody>
        </p:sp>
        <p:sp>
          <p:nvSpPr>
            <p:cNvPr id="38" name="TextBox 38"/>
            <p:cNvSpPr txBox="1"/>
            <p:nvPr/>
          </p:nvSpPr>
          <p:spPr>
            <a:xfrm>
              <a:off x="4300538" y="2920841"/>
              <a:ext cx="2691963" cy="161925"/>
            </a:xfrm>
            <a:prstGeom prst="rect">
              <a:avLst/>
            </a:prstGeom>
            <a:noFill/>
            <a:ln>
              <a:noFill/>
            </a:ln>
          </p:spPr>
          <p:txBody>
            <a:bodyPr wrap="none" lIns="0" tIns="0" rIns="0" bIns="0" anchor="t" anchorCtr="0">
              <a:spAutoFit/>
            </a:bodyPr>
            <a:lstStyle/>
            <a:p>
              <a:pPr algn="l"/>
              <a:r>
                <a:rPr lang="zh-CN" sz="820" dirty="0">
                  <a:solidFill>
                    <a:schemeClr val="dk2"/>
                  </a:solidFill>
                  <a:latin typeface="Consolas"/>
                  <a:ea typeface="Consolas"/>
                  <a:cs typeface="Consolas"/>
                </a:rPr>
                <a:t>kpbs.org/podcasts/the-finest/risograph-revival</a:t>
              </a:r>
            </a:p>
          </p:txBody>
        </p:sp>
        <p:sp>
          <p:nvSpPr>
            <p:cNvPr id="39" name="TextBox 39"/>
            <p:cNvSpPr txBox="1"/>
            <p:nvPr/>
          </p:nvSpPr>
          <p:spPr>
            <a:xfrm>
              <a:off x="4300538" y="3206591"/>
              <a:ext cx="151145" cy="161925"/>
            </a:xfrm>
            <a:prstGeom prst="rect">
              <a:avLst/>
            </a:prstGeom>
            <a:noFill/>
            <a:ln>
              <a:noFill/>
            </a:ln>
          </p:spPr>
          <p:txBody>
            <a:bodyPr wrap="none" lIns="0" tIns="0" rIns="0" bIns="0" anchor="t" anchorCtr="0">
              <a:spAutoFit/>
            </a:bodyPr>
            <a:lstStyle/>
            <a:p>
              <a:pPr algn="l"/>
              <a:r>
                <a:rPr lang="zh-CN" sz="820" spc="150" dirty="0">
                  <a:solidFill>
                    <a:schemeClr val="accent1"/>
                  </a:solidFill>
                  <a:latin typeface="Consolas"/>
                  <a:ea typeface="Consolas"/>
                  <a:cs typeface="Consolas"/>
                </a:rPr>
                <a:t>09</a:t>
              </a:r>
            </a:p>
          </p:txBody>
        </p:sp>
        <p:sp>
          <p:nvSpPr>
            <p:cNvPr id="40" name="TextBox 40"/>
            <p:cNvSpPr txBox="1"/>
            <p:nvPr/>
          </p:nvSpPr>
          <p:spPr>
            <a:xfrm>
              <a:off x="4586097" y="3190399"/>
              <a:ext cx="2195344" cy="190690"/>
            </a:xfrm>
            <a:prstGeom prst="rect">
              <a:avLst/>
            </a:prstGeom>
            <a:noFill/>
            <a:ln>
              <a:noFill/>
            </a:ln>
          </p:spPr>
          <p:txBody>
            <a:bodyPr wrap="none" lIns="0" tIns="0" rIns="0" bIns="0" anchor="t" anchorCtr="0">
              <a:spAutoFit/>
            </a:bodyPr>
            <a:lstStyle/>
            <a:p>
              <a:pPr algn="l"/>
              <a:r>
                <a:rPr lang="zh-CN" sz="980" b="1" dirty="0">
                  <a:solidFill>
                    <a:schemeClr val="dk1"/>
                  </a:solidFill>
                  <a:latin typeface="+mn-lt"/>
                  <a:ea typeface="+mn-ea"/>
                  <a:cs typeface="+mn-cs"/>
                </a:rPr>
                <a:t>It's Nice That · Tokyo Risograph</a:t>
              </a:r>
            </a:p>
          </p:txBody>
        </p:sp>
        <p:sp>
          <p:nvSpPr>
            <p:cNvPr id="41" name="TextBox 41"/>
            <p:cNvSpPr txBox="1"/>
            <p:nvPr/>
          </p:nvSpPr>
          <p:spPr>
            <a:xfrm>
              <a:off x="4300538" y="3397091"/>
              <a:ext cx="3188711" cy="161925"/>
            </a:xfrm>
            <a:prstGeom prst="rect">
              <a:avLst/>
            </a:prstGeom>
            <a:noFill/>
            <a:ln>
              <a:noFill/>
            </a:ln>
          </p:spPr>
          <p:txBody>
            <a:bodyPr wrap="none" lIns="0" tIns="0" rIns="0" bIns="0" anchor="t" anchorCtr="0">
              <a:spAutoFit/>
            </a:bodyPr>
            <a:lstStyle/>
            <a:p>
              <a:pPr algn="l"/>
              <a:r>
                <a:rPr lang="zh-CN" sz="820" dirty="0">
                  <a:solidFill>
                    <a:schemeClr val="dk2"/>
                  </a:solidFill>
                  <a:latin typeface="Consolas"/>
                  <a:ea typeface="Consolas"/>
                  <a:cs typeface="Consolas"/>
                </a:rPr>
                <a:t>itsnicethat.com/articles/the-view-from-tokyo-risograph</a:t>
              </a:r>
            </a:p>
          </p:txBody>
        </p:sp>
        <p:sp>
          <p:nvSpPr>
            <p:cNvPr id="42" name="TextBox 42"/>
            <p:cNvSpPr txBox="1"/>
            <p:nvPr/>
          </p:nvSpPr>
          <p:spPr>
            <a:xfrm>
              <a:off x="4300538" y="3682841"/>
              <a:ext cx="151145" cy="161925"/>
            </a:xfrm>
            <a:prstGeom prst="rect">
              <a:avLst/>
            </a:prstGeom>
            <a:noFill/>
            <a:ln>
              <a:noFill/>
            </a:ln>
          </p:spPr>
          <p:txBody>
            <a:bodyPr wrap="none" lIns="0" tIns="0" rIns="0" bIns="0" anchor="t" anchorCtr="0">
              <a:spAutoFit/>
            </a:bodyPr>
            <a:lstStyle/>
            <a:p>
              <a:pPr algn="l"/>
              <a:r>
                <a:rPr lang="zh-CN" sz="820" spc="150" dirty="0">
                  <a:solidFill>
                    <a:schemeClr val="accent1"/>
                  </a:solidFill>
                  <a:latin typeface="Consolas"/>
                  <a:ea typeface="Consolas"/>
                  <a:cs typeface="Consolas"/>
                </a:rPr>
                <a:t>10</a:t>
              </a:r>
            </a:p>
          </p:txBody>
        </p:sp>
        <p:sp>
          <p:nvSpPr>
            <p:cNvPr id="43" name="TextBox 43"/>
            <p:cNvSpPr txBox="1"/>
            <p:nvPr/>
          </p:nvSpPr>
          <p:spPr>
            <a:xfrm>
              <a:off x="4586097" y="3666649"/>
              <a:ext cx="2305541" cy="190690"/>
            </a:xfrm>
            <a:prstGeom prst="rect">
              <a:avLst/>
            </a:prstGeom>
            <a:noFill/>
            <a:ln>
              <a:noFill/>
            </a:ln>
          </p:spPr>
          <p:txBody>
            <a:bodyPr wrap="none" lIns="0" tIns="0" rIns="0" bIns="0" anchor="t" anchorCtr="0">
              <a:spAutoFit/>
            </a:bodyPr>
            <a:lstStyle/>
            <a:p>
              <a:pPr algn="l"/>
              <a:r>
                <a:rPr lang="zh-CN" sz="980" b="1" dirty="0">
                  <a:solidFill>
                    <a:schemeClr val="dk1"/>
                  </a:solidFill>
                  <a:latin typeface="+mn-lt"/>
                  <a:ea typeface="+mn-ea"/>
                  <a:cs typeface="+mn-cs"/>
                </a:rPr>
                <a:t>AFAR · 17 Independent Bookstores</a:t>
              </a:r>
            </a:p>
          </p:txBody>
        </p:sp>
        <p:sp>
          <p:nvSpPr>
            <p:cNvPr id="44" name="TextBox 44"/>
            <p:cNvSpPr txBox="1"/>
            <p:nvPr/>
          </p:nvSpPr>
          <p:spPr>
            <a:xfrm>
              <a:off x="4300538" y="3873341"/>
              <a:ext cx="2973454" cy="161925"/>
            </a:xfrm>
            <a:prstGeom prst="rect">
              <a:avLst/>
            </a:prstGeom>
            <a:noFill/>
            <a:ln>
              <a:noFill/>
            </a:ln>
          </p:spPr>
          <p:txBody>
            <a:bodyPr wrap="none" lIns="0" tIns="0" rIns="0" bIns="0" anchor="t" anchorCtr="0">
              <a:spAutoFit/>
            </a:bodyPr>
            <a:lstStyle/>
            <a:p>
              <a:pPr algn="l"/>
              <a:r>
                <a:rPr lang="zh-CN" sz="820" dirty="0">
                  <a:solidFill>
                    <a:schemeClr val="dk2"/>
                  </a:solidFill>
                  <a:latin typeface="Consolas"/>
                  <a:ea typeface="Consolas"/>
                  <a:cs typeface="Consolas"/>
                </a:rPr>
                <a:t>afar.com/magazine/the-best-independent-bookstores</a:t>
              </a:r>
            </a:p>
          </p:txBody>
        </p:sp>
        <p:sp>
          <p:nvSpPr>
            <p:cNvPr id="45" name="TextBox 45"/>
            <p:cNvSpPr txBox="1"/>
            <p:nvPr/>
          </p:nvSpPr>
          <p:spPr>
            <a:xfrm>
              <a:off x="4300538" y="4159091"/>
              <a:ext cx="151145" cy="161925"/>
            </a:xfrm>
            <a:prstGeom prst="rect">
              <a:avLst/>
            </a:prstGeom>
            <a:noFill/>
            <a:ln>
              <a:noFill/>
            </a:ln>
          </p:spPr>
          <p:txBody>
            <a:bodyPr wrap="none" lIns="0" tIns="0" rIns="0" bIns="0" anchor="t" anchorCtr="0">
              <a:spAutoFit/>
            </a:bodyPr>
            <a:lstStyle/>
            <a:p>
              <a:pPr algn="l"/>
              <a:r>
                <a:rPr lang="zh-CN" sz="820" spc="150" dirty="0">
                  <a:solidFill>
                    <a:schemeClr val="accent1"/>
                  </a:solidFill>
                  <a:latin typeface="Consolas"/>
                  <a:ea typeface="Consolas"/>
                  <a:cs typeface="Consolas"/>
                </a:rPr>
                <a:t>11</a:t>
              </a:r>
            </a:p>
          </p:txBody>
        </p:sp>
        <p:sp>
          <p:nvSpPr>
            <p:cNvPr id="46" name="TextBox 46"/>
            <p:cNvSpPr txBox="1"/>
            <p:nvPr/>
          </p:nvSpPr>
          <p:spPr>
            <a:xfrm>
              <a:off x="4586097" y="4142899"/>
              <a:ext cx="2120562" cy="190690"/>
            </a:xfrm>
            <a:prstGeom prst="rect">
              <a:avLst/>
            </a:prstGeom>
            <a:noFill/>
            <a:ln>
              <a:noFill/>
            </a:ln>
          </p:spPr>
          <p:txBody>
            <a:bodyPr wrap="none" lIns="0" tIns="0" rIns="0" bIns="0" anchor="t" anchorCtr="0">
              <a:spAutoFit/>
            </a:bodyPr>
            <a:lstStyle/>
            <a:p>
              <a:pPr algn="l"/>
              <a:r>
                <a:rPr lang="zh-CN" sz="980" b="1" dirty="0">
                  <a:solidFill>
                    <a:schemeClr val="dk1"/>
                  </a:solidFill>
                  <a:latin typeface="+mn-lt"/>
                  <a:ea typeface="+mn-ea"/>
                  <a:cs typeface="+mn-cs"/>
                </a:rPr>
                <a:t>Wikipedia · Jimbōchō Book Town</a:t>
              </a:r>
            </a:p>
          </p:txBody>
        </p:sp>
        <p:sp>
          <p:nvSpPr>
            <p:cNvPr id="47" name="TextBox 47"/>
            <p:cNvSpPr txBox="1"/>
            <p:nvPr/>
          </p:nvSpPr>
          <p:spPr>
            <a:xfrm>
              <a:off x="4300538" y="4349591"/>
              <a:ext cx="2372541" cy="161925"/>
            </a:xfrm>
            <a:prstGeom prst="rect">
              <a:avLst/>
            </a:prstGeom>
            <a:noFill/>
            <a:ln>
              <a:noFill/>
            </a:ln>
          </p:spPr>
          <p:txBody>
            <a:bodyPr wrap="none" lIns="0" tIns="0" rIns="0" bIns="0" anchor="t" anchorCtr="0">
              <a:spAutoFit/>
            </a:bodyPr>
            <a:lstStyle/>
            <a:p>
              <a:pPr algn="l"/>
              <a:r>
                <a:rPr lang="zh-CN" sz="820" dirty="0">
                  <a:solidFill>
                    <a:schemeClr val="dk2"/>
                  </a:solidFill>
                  <a:latin typeface="Consolas"/>
                  <a:ea typeface="Consolas"/>
                  <a:cs typeface="Consolas"/>
                </a:rPr>
                <a:t>en.wikipedia.org/wiki/Jimbōchō_Book_Town</a:t>
              </a:r>
            </a:p>
          </p:txBody>
        </p:sp>
        <p:sp>
          <p:nvSpPr>
            <p:cNvPr id="48" name="TextBox 48"/>
            <p:cNvSpPr txBox="1"/>
            <p:nvPr/>
          </p:nvSpPr>
          <p:spPr>
            <a:xfrm>
              <a:off x="4300538" y="4635341"/>
              <a:ext cx="151145" cy="161925"/>
            </a:xfrm>
            <a:prstGeom prst="rect">
              <a:avLst/>
            </a:prstGeom>
            <a:noFill/>
            <a:ln>
              <a:noFill/>
            </a:ln>
          </p:spPr>
          <p:txBody>
            <a:bodyPr wrap="none" lIns="0" tIns="0" rIns="0" bIns="0" anchor="t" anchorCtr="0">
              <a:spAutoFit/>
            </a:bodyPr>
            <a:lstStyle/>
            <a:p>
              <a:pPr algn="l"/>
              <a:r>
                <a:rPr lang="zh-CN" sz="820" spc="150" dirty="0">
                  <a:solidFill>
                    <a:schemeClr val="accent1"/>
                  </a:solidFill>
                  <a:latin typeface="Consolas"/>
                  <a:ea typeface="Consolas"/>
                  <a:cs typeface="Consolas"/>
                </a:rPr>
                <a:t>12</a:t>
              </a:r>
            </a:p>
          </p:txBody>
        </p:sp>
        <p:sp>
          <p:nvSpPr>
            <p:cNvPr id="49" name="TextBox 49"/>
            <p:cNvSpPr txBox="1"/>
            <p:nvPr/>
          </p:nvSpPr>
          <p:spPr>
            <a:xfrm>
              <a:off x="4586097" y="4619149"/>
              <a:ext cx="2503521" cy="190690"/>
            </a:xfrm>
            <a:prstGeom prst="rect">
              <a:avLst/>
            </a:prstGeom>
            <a:noFill/>
            <a:ln>
              <a:noFill/>
            </a:ln>
          </p:spPr>
          <p:txBody>
            <a:bodyPr wrap="none" lIns="0" tIns="0" rIns="0" bIns="0" anchor="t" anchorCtr="0">
              <a:spAutoFit/>
            </a:bodyPr>
            <a:lstStyle/>
            <a:p>
              <a:pPr algn="l"/>
              <a:r>
                <a:rPr lang="zh-CN" sz="980" b="1" dirty="0">
                  <a:solidFill>
                    <a:schemeClr val="dk1"/>
                  </a:solidFill>
                  <a:latin typeface="+mn-lt"/>
                  <a:ea typeface="+mn-ea"/>
                  <a:cs typeface="+mn-cs"/>
                </a:rPr>
                <a:t>Wikipedia · Shakespeare and Company</a:t>
              </a:r>
            </a:p>
          </p:txBody>
        </p:sp>
        <p:sp>
          <p:nvSpPr>
            <p:cNvPr id="50" name="TextBox 50"/>
            <p:cNvSpPr txBox="1"/>
            <p:nvPr/>
          </p:nvSpPr>
          <p:spPr>
            <a:xfrm>
              <a:off x="4300538" y="4825841"/>
              <a:ext cx="2677608" cy="161925"/>
            </a:xfrm>
            <a:prstGeom prst="rect">
              <a:avLst/>
            </a:prstGeom>
            <a:noFill/>
            <a:ln>
              <a:noFill/>
            </a:ln>
          </p:spPr>
          <p:txBody>
            <a:bodyPr wrap="none" lIns="0" tIns="0" rIns="0" bIns="0" anchor="t" anchorCtr="0">
              <a:spAutoFit/>
            </a:bodyPr>
            <a:lstStyle/>
            <a:p>
              <a:pPr algn="l"/>
              <a:r>
                <a:rPr lang="zh-CN" sz="820" dirty="0">
                  <a:solidFill>
                    <a:schemeClr val="dk2"/>
                  </a:solidFill>
                  <a:latin typeface="Consolas"/>
                  <a:ea typeface="Consolas"/>
                  <a:cs typeface="Consolas"/>
                </a:rPr>
                <a:t>en.wikipedia.org/wiki/Shakespeare_and_Company</a:t>
              </a:r>
            </a:p>
          </p:txBody>
        </p:sp>
        <p:sp>
          <p:nvSpPr>
            <p:cNvPr id="51" name="TextBox 51"/>
            <p:cNvSpPr txBox="1"/>
            <p:nvPr/>
          </p:nvSpPr>
          <p:spPr>
            <a:xfrm>
              <a:off x="4300538" y="5111591"/>
              <a:ext cx="151145" cy="161925"/>
            </a:xfrm>
            <a:prstGeom prst="rect">
              <a:avLst/>
            </a:prstGeom>
            <a:noFill/>
            <a:ln>
              <a:noFill/>
            </a:ln>
          </p:spPr>
          <p:txBody>
            <a:bodyPr wrap="none" lIns="0" tIns="0" rIns="0" bIns="0" anchor="t" anchorCtr="0">
              <a:spAutoFit/>
            </a:bodyPr>
            <a:lstStyle/>
            <a:p>
              <a:pPr algn="l"/>
              <a:r>
                <a:rPr lang="zh-CN" sz="820" spc="150" dirty="0">
                  <a:solidFill>
                    <a:schemeClr val="accent1"/>
                  </a:solidFill>
                  <a:latin typeface="Consolas"/>
                  <a:ea typeface="Consolas"/>
                  <a:cs typeface="Consolas"/>
                </a:rPr>
                <a:t>13</a:t>
              </a:r>
            </a:p>
          </p:txBody>
        </p:sp>
        <p:sp>
          <p:nvSpPr>
            <p:cNvPr id="52" name="TextBox 52"/>
            <p:cNvSpPr txBox="1"/>
            <p:nvPr/>
          </p:nvSpPr>
          <p:spPr>
            <a:xfrm>
              <a:off x="4586097" y="5095399"/>
              <a:ext cx="2315456" cy="190690"/>
            </a:xfrm>
            <a:prstGeom prst="rect">
              <a:avLst/>
            </a:prstGeom>
            <a:noFill/>
            <a:ln>
              <a:noFill/>
            </a:ln>
          </p:spPr>
          <p:txBody>
            <a:bodyPr wrap="none" lIns="0" tIns="0" rIns="0" bIns="0" anchor="t" anchorCtr="0">
              <a:spAutoFit/>
            </a:bodyPr>
            <a:lstStyle/>
            <a:p>
              <a:pPr algn="l"/>
              <a:r>
                <a:rPr lang="zh-CN" sz="980" b="1" dirty="0">
                  <a:solidFill>
                    <a:schemeClr val="dk1"/>
                  </a:solidFill>
                  <a:latin typeface="+mn-lt"/>
                  <a:ea typeface="+mn-ea"/>
                  <a:cs typeface="+mn-cs"/>
                </a:rPr>
                <a:t>Time Out Tokyo · Best bookstores</a:t>
              </a:r>
            </a:p>
          </p:txBody>
        </p:sp>
        <p:sp>
          <p:nvSpPr>
            <p:cNvPr id="53" name="TextBox 53"/>
            <p:cNvSpPr txBox="1"/>
            <p:nvPr/>
          </p:nvSpPr>
          <p:spPr>
            <a:xfrm>
              <a:off x="4300538" y="5302091"/>
              <a:ext cx="2791313" cy="161925"/>
            </a:xfrm>
            <a:prstGeom prst="rect">
              <a:avLst/>
            </a:prstGeom>
            <a:noFill/>
            <a:ln>
              <a:noFill/>
            </a:ln>
          </p:spPr>
          <p:txBody>
            <a:bodyPr wrap="none" lIns="0" tIns="0" rIns="0" bIns="0" anchor="t" anchorCtr="0">
              <a:spAutoFit/>
            </a:bodyPr>
            <a:lstStyle/>
            <a:p>
              <a:pPr algn="l"/>
              <a:r>
                <a:rPr lang="zh-CN" sz="820" dirty="0">
                  <a:solidFill>
                    <a:schemeClr val="dk2"/>
                  </a:solidFill>
                  <a:latin typeface="Consolas"/>
                  <a:ea typeface="Consolas"/>
                  <a:cs typeface="Consolas"/>
                </a:rPr>
                <a:t>timeout.com/tokyo/shopping/the-best-bookstores</a:t>
              </a:r>
            </a:p>
          </p:txBody>
        </p:sp>
      </p:grpSp>
      <p:grpSp>
        <p:nvGrpSpPr>
          <p:cNvPr id="78" name="Group 78"/>
          <p:cNvGrpSpPr/>
          <p:nvPr/>
        </p:nvGrpSpPr>
        <p:grpSpPr>
          <a:xfrm>
            <a:off x="8001000" y="1714500"/>
            <a:ext cx="3619500" cy="3749516"/>
            <a:chOff x="8001000" y="1714500"/>
            <a:chExt cx="3619500" cy="3749516"/>
          </a:xfrm>
        </p:grpSpPr>
        <p:sp>
          <p:nvSpPr>
            <p:cNvPr id="55" name="Rectangle 55"/>
            <p:cNvSpPr/>
            <p:nvPr/>
          </p:nvSpPr>
          <p:spPr>
            <a:xfrm>
              <a:off x="8001000" y="1714500"/>
              <a:ext cx="3619500" cy="342900"/>
            </a:xfrm>
            <a:prstGeom prst="rect">
              <a:avLst/>
            </a:prstGeom>
            <a:solidFill>
              <a:schemeClr val="accent3"/>
            </a:solidFill>
            <a:ln>
              <a:noFill/>
            </a:ln>
          </p:spPr>
        </p:sp>
        <p:sp>
          <p:nvSpPr>
            <p:cNvPr id="56" name="TextBox 56"/>
            <p:cNvSpPr txBox="1"/>
            <p:nvPr/>
          </p:nvSpPr>
          <p:spPr>
            <a:xfrm>
              <a:off x="8183880" y="1790700"/>
              <a:ext cx="1691259"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j-lt"/>
                  <a:ea typeface="+mj-ea"/>
                  <a:cs typeface="+mj-cs"/>
                </a:rPr>
                <a:t>中文 · 书店 · 书展</a:t>
              </a:r>
            </a:p>
          </p:txBody>
        </p:sp>
        <p:sp>
          <p:nvSpPr>
            <p:cNvPr id="57" name="TextBox 57"/>
            <p:cNvSpPr txBox="1"/>
            <p:nvPr/>
          </p:nvSpPr>
          <p:spPr>
            <a:xfrm>
              <a:off x="8015288" y="2254091"/>
              <a:ext cx="151145" cy="161925"/>
            </a:xfrm>
            <a:prstGeom prst="rect">
              <a:avLst/>
            </a:prstGeom>
            <a:noFill/>
            <a:ln>
              <a:noFill/>
            </a:ln>
          </p:spPr>
          <p:txBody>
            <a:bodyPr wrap="none" lIns="0" tIns="0" rIns="0" bIns="0" anchor="t" anchorCtr="0">
              <a:spAutoFit/>
            </a:bodyPr>
            <a:lstStyle/>
            <a:p>
              <a:pPr algn="l"/>
              <a:r>
                <a:rPr lang="zh-CN" sz="820" spc="150" dirty="0">
                  <a:solidFill>
                    <a:schemeClr val="dk1"/>
                  </a:solidFill>
                  <a:latin typeface="Consolas"/>
                  <a:ea typeface="Consolas"/>
                  <a:cs typeface="Consolas"/>
                </a:rPr>
                <a:t>14</a:t>
              </a:r>
            </a:p>
          </p:txBody>
        </p:sp>
        <p:sp>
          <p:nvSpPr>
            <p:cNvPr id="58" name="TextBox 58"/>
            <p:cNvSpPr txBox="1"/>
            <p:nvPr/>
          </p:nvSpPr>
          <p:spPr>
            <a:xfrm>
              <a:off x="8300847" y="2237899"/>
              <a:ext cx="2119758" cy="190690"/>
            </a:xfrm>
            <a:prstGeom prst="rect">
              <a:avLst/>
            </a:prstGeom>
            <a:noFill/>
            <a:ln>
              <a:noFill/>
            </a:ln>
          </p:spPr>
          <p:txBody>
            <a:bodyPr wrap="none" lIns="0" tIns="0" rIns="0" bIns="0" anchor="t" anchorCtr="0">
              <a:spAutoFit/>
            </a:bodyPr>
            <a:lstStyle/>
            <a:p>
              <a:pPr algn="l"/>
              <a:r>
                <a:rPr lang="zh-CN" sz="980" b="1" dirty="0">
                  <a:solidFill>
                    <a:schemeClr val="dk1"/>
                  </a:solidFill>
                  <a:latin typeface="+mn-lt"/>
                  <a:ea typeface="+mn-ea"/>
                  <a:cs typeface="+mn-cs"/>
                </a:rPr>
                <a:t>数英 · 国内 13 家独立书店漫游指南</a:t>
              </a:r>
            </a:p>
          </p:txBody>
        </p:sp>
        <p:sp>
          <p:nvSpPr>
            <p:cNvPr id="59" name="TextBox 59"/>
            <p:cNvSpPr txBox="1"/>
            <p:nvPr/>
          </p:nvSpPr>
          <p:spPr>
            <a:xfrm>
              <a:off x="8015288" y="2444591"/>
              <a:ext cx="1687429" cy="161925"/>
            </a:xfrm>
            <a:prstGeom prst="rect">
              <a:avLst/>
            </a:prstGeom>
            <a:noFill/>
            <a:ln>
              <a:noFill/>
            </a:ln>
          </p:spPr>
          <p:txBody>
            <a:bodyPr wrap="none" lIns="0" tIns="0" rIns="0" bIns="0" anchor="t" anchorCtr="0">
              <a:spAutoFit/>
            </a:bodyPr>
            <a:lstStyle/>
            <a:p>
              <a:pPr algn="l"/>
              <a:r>
                <a:rPr lang="zh-CN" sz="820" dirty="0">
                  <a:solidFill>
                    <a:schemeClr val="dk2"/>
                  </a:solidFill>
                  <a:latin typeface="Consolas"/>
                  <a:ea typeface="Consolas"/>
                  <a:cs typeface="Consolas"/>
                </a:rPr>
                <a:t>digitaling.com/articles/701483</a:t>
              </a:r>
            </a:p>
          </p:txBody>
        </p:sp>
        <p:sp>
          <p:nvSpPr>
            <p:cNvPr id="60" name="TextBox 60"/>
            <p:cNvSpPr txBox="1"/>
            <p:nvPr/>
          </p:nvSpPr>
          <p:spPr>
            <a:xfrm>
              <a:off x="8015288" y="2730341"/>
              <a:ext cx="151145" cy="161925"/>
            </a:xfrm>
            <a:prstGeom prst="rect">
              <a:avLst/>
            </a:prstGeom>
            <a:noFill/>
            <a:ln>
              <a:noFill/>
            </a:ln>
          </p:spPr>
          <p:txBody>
            <a:bodyPr wrap="none" lIns="0" tIns="0" rIns="0" bIns="0" anchor="t" anchorCtr="0">
              <a:spAutoFit/>
            </a:bodyPr>
            <a:lstStyle/>
            <a:p>
              <a:pPr algn="l"/>
              <a:r>
                <a:rPr lang="zh-CN" sz="820" spc="150" dirty="0">
                  <a:solidFill>
                    <a:schemeClr val="dk1"/>
                  </a:solidFill>
                  <a:latin typeface="Consolas"/>
                  <a:ea typeface="Consolas"/>
                  <a:cs typeface="Consolas"/>
                </a:rPr>
                <a:t>15</a:t>
              </a:r>
            </a:p>
          </p:txBody>
        </p:sp>
        <p:sp>
          <p:nvSpPr>
            <p:cNvPr id="61" name="TextBox 61"/>
            <p:cNvSpPr txBox="1"/>
            <p:nvPr/>
          </p:nvSpPr>
          <p:spPr>
            <a:xfrm>
              <a:off x="8300847" y="2714149"/>
              <a:ext cx="1488485" cy="190690"/>
            </a:xfrm>
            <a:prstGeom prst="rect">
              <a:avLst/>
            </a:prstGeom>
            <a:noFill/>
            <a:ln>
              <a:noFill/>
            </a:ln>
          </p:spPr>
          <p:txBody>
            <a:bodyPr wrap="none" lIns="0" tIns="0" rIns="0" bIns="0" anchor="t" anchorCtr="0">
              <a:spAutoFit/>
            </a:bodyPr>
            <a:lstStyle/>
            <a:p>
              <a:pPr algn="l"/>
              <a:r>
                <a:rPr lang="zh-CN" sz="980" b="1" dirty="0">
                  <a:solidFill>
                    <a:schemeClr val="dk1"/>
                  </a:solidFill>
                  <a:latin typeface="+mn-lt"/>
                  <a:ea typeface="+mn-ea"/>
                  <a:cs typeface="+mn-cs"/>
                </a:rPr>
                <a:t>搜狐 · 北京最棒独立书店</a:t>
              </a:r>
            </a:p>
          </p:txBody>
        </p:sp>
        <p:sp>
          <p:nvSpPr>
            <p:cNvPr id="62" name="TextBox 62"/>
            <p:cNvSpPr txBox="1"/>
            <p:nvPr/>
          </p:nvSpPr>
          <p:spPr>
            <a:xfrm>
              <a:off x="8015288" y="2920841"/>
              <a:ext cx="1670870" cy="161925"/>
            </a:xfrm>
            <a:prstGeom prst="rect">
              <a:avLst/>
            </a:prstGeom>
            <a:noFill/>
            <a:ln>
              <a:noFill/>
            </a:ln>
          </p:spPr>
          <p:txBody>
            <a:bodyPr wrap="none" lIns="0" tIns="0" rIns="0" bIns="0" anchor="t" anchorCtr="0">
              <a:spAutoFit/>
            </a:bodyPr>
            <a:lstStyle/>
            <a:p>
              <a:pPr algn="l"/>
              <a:r>
                <a:rPr lang="zh-CN" sz="820" dirty="0">
                  <a:solidFill>
                    <a:schemeClr val="dk2"/>
                  </a:solidFill>
                  <a:latin typeface="Consolas"/>
                  <a:ea typeface="Consolas"/>
                  <a:cs typeface="Consolas"/>
                </a:rPr>
                <a:t>sohu.com/a/234189890_554564</a:t>
              </a:r>
            </a:p>
          </p:txBody>
        </p:sp>
        <p:sp>
          <p:nvSpPr>
            <p:cNvPr id="63" name="TextBox 63"/>
            <p:cNvSpPr txBox="1"/>
            <p:nvPr/>
          </p:nvSpPr>
          <p:spPr>
            <a:xfrm>
              <a:off x="8015288" y="3206591"/>
              <a:ext cx="151145" cy="161925"/>
            </a:xfrm>
            <a:prstGeom prst="rect">
              <a:avLst/>
            </a:prstGeom>
            <a:noFill/>
            <a:ln>
              <a:noFill/>
            </a:ln>
          </p:spPr>
          <p:txBody>
            <a:bodyPr wrap="none" lIns="0" tIns="0" rIns="0" bIns="0" anchor="t" anchorCtr="0">
              <a:spAutoFit/>
            </a:bodyPr>
            <a:lstStyle/>
            <a:p>
              <a:pPr algn="l"/>
              <a:r>
                <a:rPr lang="zh-CN" sz="820" spc="150" dirty="0">
                  <a:solidFill>
                    <a:schemeClr val="dk1"/>
                  </a:solidFill>
                  <a:latin typeface="Consolas"/>
                  <a:ea typeface="Consolas"/>
                  <a:cs typeface="Consolas"/>
                </a:rPr>
                <a:t>16</a:t>
              </a:r>
            </a:p>
          </p:txBody>
        </p:sp>
        <p:sp>
          <p:nvSpPr>
            <p:cNvPr id="64" name="TextBox 64"/>
            <p:cNvSpPr txBox="1"/>
            <p:nvPr/>
          </p:nvSpPr>
          <p:spPr>
            <a:xfrm>
              <a:off x="8300847" y="3190399"/>
              <a:ext cx="1840715" cy="190690"/>
            </a:xfrm>
            <a:prstGeom prst="rect">
              <a:avLst/>
            </a:prstGeom>
            <a:noFill/>
            <a:ln>
              <a:noFill/>
            </a:ln>
          </p:spPr>
          <p:txBody>
            <a:bodyPr wrap="none" lIns="0" tIns="0" rIns="0" bIns="0" anchor="t" anchorCtr="0">
              <a:spAutoFit/>
            </a:bodyPr>
            <a:lstStyle/>
            <a:p>
              <a:pPr algn="l"/>
              <a:r>
                <a:rPr lang="zh-CN" sz="980" b="1" dirty="0">
                  <a:solidFill>
                    <a:schemeClr val="dk1"/>
                  </a:solidFill>
                  <a:latin typeface="+mn-lt"/>
                  <a:ea typeface="+mn-ea"/>
                  <a:cs typeface="+mn-cs"/>
                </a:rPr>
                <a:t>UNFOLD Shanghai · Official</a:t>
              </a:r>
            </a:p>
          </p:txBody>
        </p:sp>
        <p:sp>
          <p:nvSpPr>
            <p:cNvPr id="65" name="TextBox 65"/>
            <p:cNvSpPr txBox="1"/>
            <p:nvPr/>
          </p:nvSpPr>
          <p:spPr>
            <a:xfrm>
              <a:off x="8015288" y="3397091"/>
              <a:ext cx="1372822" cy="161925"/>
            </a:xfrm>
            <a:prstGeom prst="rect">
              <a:avLst/>
            </a:prstGeom>
            <a:noFill/>
            <a:ln>
              <a:noFill/>
            </a:ln>
          </p:spPr>
          <p:txBody>
            <a:bodyPr wrap="none" lIns="0" tIns="0" rIns="0" bIns="0" anchor="t" anchorCtr="0">
              <a:spAutoFit/>
            </a:bodyPr>
            <a:lstStyle/>
            <a:p>
              <a:pPr algn="l"/>
              <a:r>
                <a:rPr lang="zh-CN" sz="820" dirty="0">
                  <a:solidFill>
                    <a:schemeClr val="dk2"/>
                  </a:solidFill>
                  <a:latin typeface="Consolas"/>
                  <a:ea typeface="Consolas"/>
                  <a:cs typeface="Consolas"/>
                </a:rPr>
                <a:t>shanghaiartbookfair.com</a:t>
              </a:r>
            </a:p>
          </p:txBody>
        </p:sp>
        <p:sp>
          <p:nvSpPr>
            <p:cNvPr id="66" name="TextBox 66"/>
            <p:cNvSpPr txBox="1"/>
            <p:nvPr/>
          </p:nvSpPr>
          <p:spPr>
            <a:xfrm>
              <a:off x="8015288" y="3682841"/>
              <a:ext cx="151145" cy="161925"/>
            </a:xfrm>
            <a:prstGeom prst="rect">
              <a:avLst/>
            </a:prstGeom>
            <a:noFill/>
            <a:ln>
              <a:noFill/>
            </a:ln>
          </p:spPr>
          <p:txBody>
            <a:bodyPr wrap="none" lIns="0" tIns="0" rIns="0" bIns="0" anchor="t" anchorCtr="0">
              <a:spAutoFit/>
            </a:bodyPr>
            <a:lstStyle/>
            <a:p>
              <a:pPr algn="l"/>
              <a:r>
                <a:rPr lang="zh-CN" sz="820" spc="150" dirty="0">
                  <a:solidFill>
                    <a:schemeClr val="dk1"/>
                  </a:solidFill>
                  <a:latin typeface="Consolas"/>
                  <a:ea typeface="Consolas"/>
                  <a:cs typeface="Consolas"/>
                </a:rPr>
                <a:t>17</a:t>
              </a:r>
            </a:p>
          </p:txBody>
        </p:sp>
        <p:sp>
          <p:nvSpPr>
            <p:cNvPr id="67" name="TextBox 67"/>
            <p:cNvSpPr txBox="1"/>
            <p:nvPr/>
          </p:nvSpPr>
          <p:spPr>
            <a:xfrm>
              <a:off x="8300847" y="3666649"/>
              <a:ext cx="2086867" cy="190690"/>
            </a:xfrm>
            <a:prstGeom prst="rect">
              <a:avLst/>
            </a:prstGeom>
            <a:noFill/>
            <a:ln>
              <a:noFill/>
            </a:ln>
          </p:spPr>
          <p:txBody>
            <a:bodyPr wrap="none" lIns="0" tIns="0" rIns="0" bIns="0" anchor="t" anchorCtr="0">
              <a:spAutoFit/>
            </a:bodyPr>
            <a:lstStyle/>
            <a:p>
              <a:pPr algn="l"/>
              <a:r>
                <a:rPr lang="zh-CN" sz="980" b="1" dirty="0">
                  <a:solidFill>
                    <a:schemeClr val="dk1"/>
                  </a:solidFill>
                  <a:latin typeface="+mn-lt"/>
                  <a:ea typeface="+mn-ea"/>
                  <a:cs typeface="+mn-cs"/>
                </a:rPr>
                <a:t>abC Art Book Fair · Official EN</a:t>
              </a:r>
            </a:p>
          </p:txBody>
        </p:sp>
        <p:sp>
          <p:nvSpPr>
            <p:cNvPr id="68" name="TextBox 68"/>
            <p:cNvSpPr txBox="1"/>
            <p:nvPr/>
          </p:nvSpPr>
          <p:spPr>
            <a:xfrm>
              <a:off x="8015288" y="3873341"/>
              <a:ext cx="1251394" cy="161925"/>
            </a:xfrm>
            <a:prstGeom prst="rect">
              <a:avLst/>
            </a:prstGeom>
            <a:noFill/>
            <a:ln>
              <a:noFill/>
            </a:ln>
          </p:spPr>
          <p:txBody>
            <a:bodyPr wrap="none" lIns="0" tIns="0" rIns="0" bIns="0" anchor="t" anchorCtr="0">
              <a:spAutoFit/>
            </a:bodyPr>
            <a:lstStyle/>
            <a:p>
              <a:pPr algn="l"/>
              <a:r>
                <a:rPr lang="zh-CN" sz="820" dirty="0">
                  <a:solidFill>
                    <a:schemeClr val="dk2"/>
                  </a:solidFill>
                  <a:latin typeface="Consolas"/>
                  <a:ea typeface="Consolas"/>
                  <a:cs typeface="Consolas"/>
                </a:rPr>
                <a:t>artbookinchina.com/en</a:t>
              </a:r>
            </a:p>
          </p:txBody>
        </p:sp>
        <p:sp>
          <p:nvSpPr>
            <p:cNvPr id="69" name="TextBox 69"/>
            <p:cNvSpPr txBox="1"/>
            <p:nvPr/>
          </p:nvSpPr>
          <p:spPr>
            <a:xfrm>
              <a:off x="8015288" y="4159091"/>
              <a:ext cx="151145" cy="161925"/>
            </a:xfrm>
            <a:prstGeom prst="rect">
              <a:avLst/>
            </a:prstGeom>
            <a:noFill/>
            <a:ln>
              <a:noFill/>
            </a:ln>
          </p:spPr>
          <p:txBody>
            <a:bodyPr wrap="none" lIns="0" tIns="0" rIns="0" bIns="0" anchor="t" anchorCtr="0">
              <a:spAutoFit/>
            </a:bodyPr>
            <a:lstStyle/>
            <a:p>
              <a:pPr algn="l"/>
              <a:r>
                <a:rPr lang="zh-CN" sz="820" spc="150" dirty="0">
                  <a:solidFill>
                    <a:schemeClr val="dk1"/>
                  </a:solidFill>
                  <a:latin typeface="Consolas"/>
                  <a:ea typeface="Consolas"/>
                  <a:cs typeface="Consolas"/>
                </a:rPr>
                <a:t>18</a:t>
              </a:r>
            </a:p>
          </p:txBody>
        </p:sp>
        <p:sp>
          <p:nvSpPr>
            <p:cNvPr id="70" name="TextBox 70"/>
            <p:cNvSpPr txBox="1"/>
            <p:nvPr/>
          </p:nvSpPr>
          <p:spPr>
            <a:xfrm>
              <a:off x="8300847" y="4142899"/>
              <a:ext cx="2241208" cy="190690"/>
            </a:xfrm>
            <a:prstGeom prst="rect">
              <a:avLst/>
            </a:prstGeom>
            <a:noFill/>
            <a:ln>
              <a:noFill/>
            </a:ln>
          </p:spPr>
          <p:txBody>
            <a:bodyPr wrap="none" lIns="0" tIns="0" rIns="0" bIns="0" anchor="t" anchorCtr="0">
              <a:spAutoFit/>
            </a:bodyPr>
            <a:lstStyle/>
            <a:p>
              <a:pPr algn="l"/>
              <a:r>
                <a:rPr lang="zh-CN" sz="980" b="1" dirty="0">
                  <a:solidFill>
                    <a:schemeClr val="dk1"/>
                  </a:solidFill>
                  <a:latin typeface="+mn-lt"/>
                  <a:ea typeface="+mn-ea"/>
                  <a:cs typeface="+mn-cs"/>
                </a:rPr>
                <a:t>Sixth Tone · Art Book Fair Bubble</a:t>
              </a:r>
            </a:p>
          </p:txBody>
        </p:sp>
        <p:sp>
          <p:nvSpPr>
            <p:cNvPr id="71" name="TextBox 71"/>
            <p:cNvSpPr txBox="1"/>
            <p:nvPr/>
          </p:nvSpPr>
          <p:spPr>
            <a:xfrm>
              <a:off x="8015288" y="4349591"/>
              <a:ext cx="1604637" cy="161925"/>
            </a:xfrm>
            <a:prstGeom prst="rect">
              <a:avLst/>
            </a:prstGeom>
            <a:noFill/>
            <a:ln>
              <a:noFill/>
            </a:ln>
          </p:spPr>
          <p:txBody>
            <a:bodyPr wrap="none" lIns="0" tIns="0" rIns="0" bIns="0" anchor="t" anchorCtr="0">
              <a:spAutoFit/>
            </a:bodyPr>
            <a:lstStyle/>
            <a:p>
              <a:pPr algn="l"/>
              <a:r>
                <a:rPr lang="zh-CN" sz="820" dirty="0">
                  <a:solidFill>
                    <a:schemeClr val="dk2"/>
                  </a:solidFill>
                  <a:latin typeface="Consolas"/>
                  <a:ea typeface="Consolas"/>
                  <a:cs typeface="Consolas"/>
                </a:rPr>
                <a:t>sixthtone.com/news/1008799</a:t>
              </a:r>
            </a:p>
          </p:txBody>
        </p:sp>
        <p:sp>
          <p:nvSpPr>
            <p:cNvPr id="72" name="TextBox 72"/>
            <p:cNvSpPr txBox="1"/>
            <p:nvPr/>
          </p:nvSpPr>
          <p:spPr>
            <a:xfrm>
              <a:off x="8015288" y="4635341"/>
              <a:ext cx="151145" cy="161925"/>
            </a:xfrm>
            <a:prstGeom prst="rect">
              <a:avLst/>
            </a:prstGeom>
            <a:noFill/>
            <a:ln>
              <a:noFill/>
            </a:ln>
          </p:spPr>
          <p:txBody>
            <a:bodyPr wrap="none" lIns="0" tIns="0" rIns="0" bIns="0" anchor="t" anchorCtr="0">
              <a:spAutoFit/>
            </a:bodyPr>
            <a:lstStyle/>
            <a:p>
              <a:pPr algn="l"/>
              <a:r>
                <a:rPr lang="zh-CN" sz="820" spc="150" dirty="0">
                  <a:solidFill>
                    <a:schemeClr val="dk1"/>
                  </a:solidFill>
                  <a:latin typeface="Consolas"/>
                  <a:ea typeface="Consolas"/>
                  <a:cs typeface="Consolas"/>
                </a:rPr>
                <a:t>19</a:t>
              </a:r>
            </a:p>
          </p:txBody>
        </p:sp>
        <p:sp>
          <p:nvSpPr>
            <p:cNvPr id="73" name="TextBox 73"/>
            <p:cNvSpPr txBox="1"/>
            <p:nvPr/>
          </p:nvSpPr>
          <p:spPr>
            <a:xfrm>
              <a:off x="8300847" y="4619149"/>
              <a:ext cx="1949208" cy="190690"/>
            </a:xfrm>
            <a:prstGeom prst="rect">
              <a:avLst/>
            </a:prstGeom>
            <a:noFill/>
            <a:ln>
              <a:noFill/>
            </a:ln>
          </p:spPr>
          <p:txBody>
            <a:bodyPr wrap="none" lIns="0" tIns="0" rIns="0" bIns="0" anchor="t" anchorCtr="0">
              <a:spAutoFit/>
            </a:bodyPr>
            <a:lstStyle/>
            <a:p>
              <a:pPr algn="l"/>
              <a:r>
                <a:rPr lang="zh-CN" sz="980" b="1" dirty="0">
                  <a:solidFill>
                    <a:schemeClr val="dk1"/>
                  </a:solidFill>
                  <a:latin typeface="+mn-lt"/>
                  <a:ea typeface="+mn-ea"/>
                  <a:cs typeface="+mn-cs"/>
                </a:rPr>
                <a:t>Nippon.com · 神保町 Jinbōchō</a:t>
              </a:r>
            </a:p>
          </p:txBody>
        </p:sp>
        <p:sp>
          <p:nvSpPr>
            <p:cNvPr id="74" name="TextBox 74"/>
            <p:cNvSpPr txBox="1"/>
            <p:nvPr/>
          </p:nvSpPr>
          <p:spPr>
            <a:xfrm>
              <a:off x="8015288" y="4825841"/>
              <a:ext cx="1952361" cy="161925"/>
            </a:xfrm>
            <a:prstGeom prst="rect">
              <a:avLst/>
            </a:prstGeom>
            <a:noFill/>
            <a:ln>
              <a:noFill/>
            </a:ln>
          </p:spPr>
          <p:txBody>
            <a:bodyPr wrap="none" lIns="0" tIns="0" rIns="0" bIns="0" anchor="t" anchorCtr="0">
              <a:spAutoFit/>
            </a:bodyPr>
            <a:lstStyle/>
            <a:p>
              <a:pPr algn="l"/>
              <a:r>
                <a:rPr lang="zh-CN" sz="820" dirty="0">
                  <a:solidFill>
                    <a:schemeClr val="dk2"/>
                  </a:solidFill>
                  <a:latin typeface="Consolas"/>
                  <a:ea typeface="Consolas"/>
                  <a:cs typeface="Consolas"/>
                </a:rPr>
                <a:t>nippon.com/en/japan-topics/b11003</a:t>
              </a:r>
            </a:p>
          </p:txBody>
        </p:sp>
        <p:sp>
          <p:nvSpPr>
            <p:cNvPr id="75" name="TextBox 75"/>
            <p:cNvSpPr txBox="1"/>
            <p:nvPr/>
          </p:nvSpPr>
          <p:spPr>
            <a:xfrm>
              <a:off x="8015288" y="5111591"/>
              <a:ext cx="151145" cy="161925"/>
            </a:xfrm>
            <a:prstGeom prst="rect">
              <a:avLst/>
            </a:prstGeom>
            <a:noFill/>
            <a:ln>
              <a:noFill/>
            </a:ln>
          </p:spPr>
          <p:txBody>
            <a:bodyPr wrap="none" lIns="0" tIns="0" rIns="0" bIns="0" anchor="t" anchorCtr="0">
              <a:spAutoFit/>
            </a:bodyPr>
            <a:lstStyle/>
            <a:p>
              <a:pPr algn="l"/>
              <a:r>
                <a:rPr lang="zh-CN" sz="820" spc="150" dirty="0">
                  <a:solidFill>
                    <a:schemeClr val="dk1"/>
                  </a:solidFill>
                  <a:latin typeface="Consolas"/>
                  <a:ea typeface="Consolas"/>
                  <a:cs typeface="Consolas"/>
                </a:rPr>
                <a:t>20</a:t>
              </a:r>
            </a:p>
          </p:txBody>
        </p:sp>
        <p:sp>
          <p:nvSpPr>
            <p:cNvPr id="76" name="TextBox 76"/>
            <p:cNvSpPr txBox="1"/>
            <p:nvPr/>
          </p:nvSpPr>
          <p:spPr>
            <a:xfrm>
              <a:off x="8300847" y="5095399"/>
              <a:ext cx="1978242" cy="190690"/>
            </a:xfrm>
            <a:prstGeom prst="rect">
              <a:avLst/>
            </a:prstGeom>
            <a:noFill/>
            <a:ln>
              <a:noFill/>
            </a:ln>
          </p:spPr>
          <p:txBody>
            <a:bodyPr wrap="none" lIns="0" tIns="0" rIns="0" bIns="0" anchor="t" anchorCtr="0">
              <a:spAutoFit/>
            </a:bodyPr>
            <a:lstStyle/>
            <a:p>
              <a:pPr algn="l"/>
              <a:r>
                <a:rPr lang="zh-CN" sz="980" b="1" dirty="0">
                  <a:solidFill>
                    <a:schemeClr val="dk1"/>
                  </a:solidFill>
                  <a:latin typeface="+mn-lt"/>
                  <a:ea typeface="+mn-ea"/>
                  <a:cs typeface="+mn-cs"/>
                </a:rPr>
                <a:t>Wikimedia Commons · 图片素材</a:t>
              </a:r>
            </a:p>
          </p:txBody>
        </p:sp>
        <p:sp>
          <p:nvSpPr>
            <p:cNvPr id="77" name="TextBox 77"/>
            <p:cNvSpPr txBox="1"/>
            <p:nvPr/>
          </p:nvSpPr>
          <p:spPr>
            <a:xfrm>
              <a:off x="8015288" y="5302091"/>
              <a:ext cx="1926896" cy="161925"/>
            </a:xfrm>
            <a:prstGeom prst="rect">
              <a:avLst/>
            </a:prstGeom>
            <a:noFill/>
            <a:ln>
              <a:noFill/>
            </a:ln>
          </p:spPr>
          <p:txBody>
            <a:bodyPr wrap="none" lIns="0" tIns="0" rIns="0" bIns="0" anchor="t" anchorCtr="0">
              <a:spAutoFit/>
            </a:bodyPr>
            <a:lstStyle/>
            <a:p>
              <a:pPr algn="l"/>
              <a:r>
                <a:rPr lang="zh-CN" sz="820" dirty="0">
                  <a:solidFill>
                    <a:schemeClr val="dk2"/>
                  </a:solidFill>
                  <a:latin typeface="Consolas"/>
                  <a:ea typeface="Consolas"/>
                  <a:cs typeface="Consolas"/>
                </a:rPr>
                <a:t>commons.wikimedia.org · CC BY 2.0</a:t>
              </a:r>
            </a:p>
          </p:txBody>
        </p:sp>
      </p:grpSp>
      <p:grpSp>
        <p:nvGrpSpPr>
          <p:cNvPr id="85" name="Group 85"/>
          <p:cNvGrpSpPr/>
          <p:nvPr/>
        </p:nvGrpSpPr>
        <p:grpSpPr>
          <a:xfrm>
            <a:off x="571500" y="5715000"/>
            <a:ext cx="11077575" cy="695325"/>
            <a:chOff x="571500" y="5715000"/>
            <a:chExt cx="11077575" cy="695325"/>
          </a:xfrm>
        </p:grpSpPr>
        <p:sp>
          <p:nvSpPr>
            <p:cNvPr id="79" name="Rectangle 79"/>
            <p:cNvSpPr/>
            <p:nvPr/>
          </p:nvSpPr>
          <p:spPr>
            <a:xfrm>
              <a:off x="571500" y="5715000"/>
              <a:ext cx="11049000" cy="666750"/>
            </a:xfrm>
            <a:prstGeom prst="rect">
              <a:avLst/>
            </a:prstGeom>
            <a:solidFill>
              <a:schemeClr val="dk1"/>
            </a:solidFill>
            <a:ln>
              <a:noFill/>
            </a:ln>
          </p:spPr>
        </p:sp>
        <p:sp>
          <p:nvSpPr>
            <p:cNvPr id="80" name="Rectangle 80"/>
            <p:cNvSpPr/>
            <p:nvPr/>
          </p:nvSpPr>
          <p:spPr>
            <a:xfrm>
              <a:off x="600075" y="5743575"/>
              <a:ext cx="11049000" cy="666750"/>
            </a:xfrm>
            <a:prstGeom prst="rect">
              <a:avLst/>
            </a:prstGeom>
            <a:solidFill>
              <a:schemeClr val="accent2">
                <a:alpha val="55000"/>
              </a:schemeClr>
            </a:solidFill>
            <a:ln>
              <a:noFill/>
            </a:ln>
          </p:spPr>
        </p:sp>
        <p:sp>
          <p:nvSpPr>
            <p:cNvPr id="81" name="Rectangle 81"/>
            <p:cNvSpPr/>
            <p:nvPr/>
          </p:nvSpPr>
          <p:spPr>
            <a:xfrm>
              <a:off x="571500" y="5715000"/>
              <a:ext cx="11049000" cy="666750"/>
            </a:xfrm>
            <a:prstGeom prst="rect">
              <a:avLst/>
            </a:prstGeom>
            <a:solidFill>
              <a:schemeClr val="dk1"/>
            </a:solidFill>
            <a:ln>
              <a:noFill/>
            </a:ln>
          </p:spPr>
        </p:sp>
        <p:sp>
          <p:nvSpPr>
            <p:cNvPr id="82" name="TextBox 82"/>
            <p:cNvSpPr txBox="1"/>
            <p:nvPr/>
          </p:nvSpPr>
          <p:spPr>
            <a:xfrm>
              <a:off x="756666" y="5887402"/>
              <a:ext cx="479247" cy="205359"/>
            </a:xfrm>
            <a:prstGeom prst="rect">
              <a:avLst/>
            </a:prstGeom>
            <a:noFill/>
            <a:ln>
              <a:noFill/>
            </a:ln>
          </p:spPr>
          <p:txBody>
            <a:bodyPr wrap="none" lIns="0" tIns="0" rIns="0" bIns="0" anchor="t" anchorCtr="0">
              <a:spAutoFit/>
            </a:bodyPr>
            <a:lstStyle/>
            <a:p>
              <a:pPr algn="l"/>
              <a:r>
                <a:rPr lang="zh-CN" sz="1050" b="1" dirty="0">
                  <a:solidFill>
                    <a:schemeClr val="accent2"/>
                  </a:solidFill>
                  <a:latin typeface="+mn-lt"/>
                  <a:ea typeface="+mn-ea"/>
                  <a:cs typeface="+mn-cs"/>
                </a:rPr>
                <a:t>致谢 ＞</a:t>
              </a:r>
            </a:p>
          </p:txBody>
        </p:sp>
        <p:sp>
          <p:nvSpPr>
            <p:cNvPr id="83" name="TextBox 83"/>
            <p:cNvSpPr txBox="1"/>
            <p:nvPr/>
          </p:nvSpPr>
          <p:spPr>
            <a:xfrm>
              <a:off x="1423416" y="5887402"/>
              <a:ext cx="6294554" cy="205359"/>
            </a:xfrm>
            <a:prstGeom prst="rect">
              <a:avLst/>
            </a:prstGeom>
            <a:noFill/>
            <a:ln>
              <a:noFill/>
            </a:ln>
          </p:spPr>
          <p:txBody>
            <a:bodyPr wrap="none" lIns="0" tIns="0" rIns="0" bIns="0" anchor="t" anchorCtr="0">
              <a:spAutoFit/>
            </a:bodyPr>
            <a:lstStyle/>
            <a:p>
              <a:pPr algn="l"/>
              <a:r>
                <a:rPr lang="zh-CN" sz="1050" dirty="0">
                  <a:solidFill>
                    <a:srgbClr val="F5EFE0"/>
                  </a:solidFill>
                  <a:latin typeface="+mn-lt"/>
                  <a:ea typeface="+mn-ea"/>
                  <a:cs typeface="+mn-cs"/>
                </a:rPr>
                <a:t>研究 / 排版 / 视觉 由 PPT Master + Gemini 3.1 Flash Image + screen-print × duotone 风格生成</a:t>
              </a:r>
            </a:p>
          </p:txBody>
        </p:sp>
        <p:sp>
          <p:nvSpPr>
            <p:cNvPr id="84" name="TextBox 84"/>
            <p:cNvSpPr txBox="1"/>
            <p:nvPr/>
          </p:nvSpPr>
          <p:spPr>
            <a:xfrm>
              <a:off x="756666" y="6125528"/>
              <a:ext cx="6827397" cy="205359"/>
            </a:xfrm>
            <a:prstGeom prst="rect">
              <a:avLst/>
            </a:prstGeom>
            <a:noFill/>
            <a:ln>
              <a:noFill/>
            </a:ln>
          </p:spPr>
          <p:txBody>
            <a:bodyPr wrap="none" lIns="0" tIns="0" rIns="0" bIns="0" anchor="t" anchorCtr="0">
              <a:spAutoFit/>
            </a:bodyPr>
            <a:lstStyle/>
            <a:p>
              <a:pPr algn="l"/>
              <a:r>
                <a:rPr lang="zh-CN" sz="1050" dirty="0">
                  <a:solidFill>
                    <a:srgbClr val="F5EFE0"/>
                  </a:solidFill>
                  <a:latin typeface="+mn-lt"/>
                  <a:ea typeface="+mn-ea"/>
                  <a:cs typeface="+mn-cs"/>
                </a:rPr>
                <a:t>参考图像取自 Wikimedia Commons (CC BY 2.0)；AI 图像为本 deck 专属合成，不构成任何品牌 / 商标关联</a:t>
              </a:r>
            </a:p>
          </p:txBody>
        </p:sp>
      </p:grpSp>
      <p:grpSp>
        <p:nvGrpSpPr>
          <p:cNvPr id="88" name="Group 88"/>
          <p:cNvGrpSpPr/>
          <p:nvPr/>
        </p:nvGrpSpPr>
        <p:grpSpPr>
          <a:xfrm>
            <a:off x="566738" y="6654641"/>
            <a:ext cx="11058525" cy="161925"/>
            <a:chOff x="566738" y="6654641"/>
            <a:chExt cx="11058525" cy="161925"/>
          </a:xfrm>
        </p:grpSpPr>
        <p:sp>
          <p:nvSpPr>
            <p:cNvPr id="86" name="TextBox 86"/>
            <p:cNvSpPr txBox="1"/>
            <p:nvPr/>
          </p:nvSpPr>
          <p:spPr>
            <a:xfrm>
              <a:off x="566738" y="6654641"/>
              <a:ext cx="1831904" cy="161925"/>
            </a:xfrm>
            <a:prstGeom prst="rect">
              <a:avLst/>
            </a:prstGeom>
            <a:noFill/>
            <a:ln>
              <a:noFill/>
            </a:ln>
          </p:spPr>
          <p:txBody>
            <a:bodyPr wrap="none" lIns="0" tIns="0" rIns="0" bIns="0" anchor="t" anchorCtr="0">
              <a:spAutoFit/>
            </a:bodyPr>
            <a:lstStyle/>
            <a:p>
              <a:pPr algn="l"/>
              <a:r>
                <a:rPr lang="zh-CN" sz="820" spc="150" dirty="0">
                  <a:solidFill>
                    <a:schemeClr val="dk2"/>
                  </a:solidFill>
                  <a:latin typeface="Consolas"/>
                  <a:ea typeface="Consolas"/>
                  <a:cs typeface="Consolas"/>
                </a:rPr>
                <a:t>P17 · SOURCES &amp; CREDITS</a:t>
              </a:r>
            </a:p>
          </p:txBody>
        </p:sp>
        <p:sp>
          <p:nvSpPr>
            <p:cNvPr id="87" name="TextBox 87"/>
            <p:cNvSpPr txBox="1"/>
            <p:nvPr/>
          </p:nvSpPr>
          <p:spPr>
            <a:xfrm>
              <a:off x="8705365" y="6654641"/>
              <a:ext cx="2919898" cy="161925"/>
            </a:xfrm>
            <a:prstGeom prst="rect">
              <a:avLst/>
            </a:prstGeom>
            <a:noFill/>
            <a:ln>
              <a:noFill/>
            </a:ln>
          </p:spPr>
          <p:txBody>
            <a:bodyPr wrap="none" lIns="0" tIns="0" rIns="0" bIns="0" anchor="t" anchorCtr="0">
              <a:spAutoFit/>
            </a:bodyPr>
            <a:lstStyle/>
            <a:p>
              <a:pPr algn="r"/>
              <a:r>
                <a:rPr lang="zh-CN" sz="820" spc="150" dirty="0">
                  <a:solidFill>
                    <a:schemeClr val="dk2"/>
                  </a:solidFill>
                  <a:latin typeface="Consolas"/>
                  <a:ea typeface="Consolas"/>
                  <a:cs typeface="Consolas"/>
                </a:rPr>
                <a:t>RESEARCHED 2026-05-17 · CHECKED LIVE</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350"/>
                                        <p:tgtEl>
                                          <p:spTgt spid="30"/>
                                        </p:tgtEl>
                                      </p:cBhvr>
                                    </p:animEffect>
                                  </p:childTnLst>
                                </p:cTn>
                              </p:par>
                            </p:childTnLst>
                          </p:cTn>
                        </p:par>
                        <p:par>
                          <p:cTn id="8" fill="hold">
                            <p:stCondLst>
                              <p:cond delay="350"/>
                            </p:stCondLst>
                            <p:childTnLst>
                              <p:par>
                                <p:cTn xmlns:p="http://schemas.openxmlformats.org/presentationml/2006/main" id="9" presetID="10" presetClass="entr" presetSubtype="0" fill="hold" grpId="0" nodeType="afterEffect">
                                  <p:stCondLst>
                                    <p:cond delay="180"/>
                                  </p:stCondLst>
                                  <p:childTnLst>
                                    <p:set>
                                      <p:cBhvr>
                                        <p:cTn id="10" dur="1" fill="hold">
                                          <p:stCondLst>
                                            <p:cond delay="0"/>
                                          </p:stCondLst>
                                        </p:cTn>
                                        <p:tgtEl>
                                          <p:spTgt spid="54"/>
                                        </p:tgtEl>
                                        <p:attrNameLst>
                                          <p:attrName>style.visibility</p:attrName>
                                        </p:attrNameLst>
                                      </p:cBhvr>
                                      <p:to>
                                        <p:strVal val="visible"/>
                                      </p:to>
                                    </p:set>
                                    <p:animEffect transition="in" filter="fade">
                                      <p:cBhvr>
                                        <p:cTn id="11" dur="350"/>
                                        <p:tgtEl>
                                          <p:spTgt spid="54"/>
                                        </p:tgtEl>
                                      </p:cBhvr>
                                    </p:animEffect>
                                  </p:childTnLst>
                                </p:cTn>
                              </p:par>
                            </p:childTnLst>
                          </p:cTn>
                        </p:par>
                        <p:par>
                          <p:cTn id="12" fill="hold">
                            <p:stCondLst>
                              <p:cond delay="880"/>
                            </p:stCondLst>
                            <p:childTnLst>
                              <p:par>
                                <p:cTn xmlns:p="http://schemas.openxmlformats.org/presentationml/2006/main" id="13" presetID="10" presetClass="entr" presetSubtype="0" fill="hold" grpId="0" nodeType="afterEffect">
                                  <p:stCondLst>
                                    <p:cond delay="180"/>
                                  </p:stCondLst>
                                  <p:childTnLst>
                                    <p:set>
                                      <p:cBhvr>
                                        <p:cTn id="14" dur="1" fill="hold">
                                          <p:stCondLst>
                                            <p:cond delay="0"/>
                                          </p:stCondLst>
                                        </p:cTn>
                                        <p:tgtEl>
                                          <p:spTgt spid="78"/>
                                        </p:tgtEl>
                                        <p:attrNameLst>
                                          <p:attrName>style.visibility</p:attrName>
                                        </p:attrNameLst>
                                      </p:cBhvr>
                                      <p:to>
                                        <p:strVal val="visible"/>
                                      </p:to>
                                    </p:set>
                                    <p:animEffect transition="in" filter="fade">
                                      <p:cBhvr>
                                        <p:cTn id="15" dur="350"/>
                                        <p:tgtEl>
                                          <p:spTgt spid="78"/>
                                        </p:tgtEl>
                                      </p:cBhvr>
                                    </p:animEffect>
                                  </p:childTnLst>
                                </p:cTn>
                              </p:par>
                            </p:childTnLst>
                          </p:cTn>
                        </p:par>
                        <p:par>
                          <p:cTn id="16" fill="hold">
                            <p:stCondLst>
                              <p:cond delay="1410"/>
                            </p:stCondLst>
                            <p:childTnLst>
                              <p:par>
                                <p:cTn xmlns:p="http://schemas.openxmlformats.org/presentationml/2006/main" id="17" presetID="22" presetClass="entr" presetSubtype="4" fill="hold" grpId="0" nodeType="afterEffect">
                                  <p:stCondLst>
                                    <p:cond delay="200"/>
                                  </p:stCondLst>
                                  <p:childTnLst>
                                    <p:set>
                                      <p:cBhvr>
                                        <p:cTn id="18" dur="1" fill="hold">
                                          <p:stCondLst>
                                            <p:cond delay="0"/>
                                          </p:stCondLst>
                                        </p:cTn>
                                        <p:tgtEl>
                                          <p:spTgt spid="85"/>
                                        </p:tgtEl>
                                        <p:attrNameLst>
                                          <p:attrName>style.visibility</p:attrName>
                                        </p:attrNameLst>
                                      </p:cBhvr>
                                      <p:to>
                                        <p:strVal val="visible"/>
                                      </p:to>
                                    </p:set>
                                    <p:animEffect transition="in" filter="wipe(down)">
                                      <p:cBhvr>
                                        <p:cTn id="19" dur="450"/>
                                        <p:tgtEl>
                                          <p:spTgt spid="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Group 3"/>
          <p:cNvGrpSpPr/>
          <p:nvPr/>
        </p:nvGrpSpPr>
        <p:grpSpPr>
          <a:xfrm>
            <a:off x="0" y="0"/>
            <a:ext cx="12192000" cy="6858000"/>
            <a:chOff x="0" y="0"/>
            <a:chExt cx="12192000" cy="6858000"/>
          </a:xfrm>
        </p:grpSpPr>
        <p:pic>
          <p:nvPicPr>
            <p:cNvPr id="2" name="Image 2"/>
            <p:cNvPicPr>
              <a:picLocks noChangeAspect="1"/>
            </p:cNvPicPr>
            <p:nvPr/>
          </p:nvPicPr>
          <p:blipFill>
            <a:blip r:embed="rId2"/>
            <a:stretch>
              <a:fillRect/>
            </a:stretch>
          </p:blipFill>
          <p:spPr>
            <a:xfrm>
              <a:off x="0" y="0"/>
              <a:ext cx="12192000" cy="6858000"/>
            </a:xfrm>
            <a:prstGeom prst="rect">
              <a:avLst/>
            </a:prstGeom>
          </p:spPr>
        </p:pic>
      </p:grpSp>
      <p:sp>
        <p:nvSpPr>
          <p:cNvPr id="4" name="Rectangle 4"/>
          <p:cNvSpPr/>
          <p:nvPr/>
        </p:nvSpPr>
        <p:spPr>
          <a:xfrm>
            <a:off x="0" y="0"/>
            <a:ext cx="8572500" cy="6858000"/>
          </a:xfrm>
          <a:prstGeom prst="rect">
            <a:avLst/>
          </a:prstGeom>
          <a:gradFill>
            <a:gsLst>
              <a:gs pos="0">
                <a:schemeClr val="lt1">
                  <a:alpha val="94000"/>
                </a:schemeClr>
              </a:gs>
              <a:gs pos="55000">
                <a:schemeClr val="lt1">
                  <a:alpha val="20000"/>
                </a:schemeClr>
              </a:gs>
              <a:gs pos="100000">
                <a:schemeClr val="lt1">
                  <a:alpha val="0"/>
                </a:schemeClr>
              </a:gs>
            </a:gsLst>
            <a:lin ang="0" scaled="1"/>
          </a:gradFill>
          <a:ln>
            <a:noFill/>
          </a:ln>
        </p:spPr>
      </p:sp>
      <p:sp>
        <p:nvSpPr>
          <p:cNvPr id="5" name="Rectangle 5"/>
          <p:cNvSpPr/>
          <p:nvPr/>
        </p:nvSpPr>
        <p:spPr>
          <a:xfrm>
            <a:off x="0" y="0"/>
            <a:ext cx="12192000" cy="6858000"/>
          </a:xfrm>
          <a:prstGeom prst="rect">
            <a:avLst/>
          </a:prstGeom>
          <a:pattFill prst="ltUpDiag">
            <a:fgClr>
              <a:schemeClr val="dk1">
                <a:alpha val="8000"/>
              </a:schemeClr>
            </a:fgClr>
            <a:bgClr>
              <a:srgbClr val="FFFFFF"/>
            </a:bgClr>
          </a:pattFill>
          <a:ln>
            <a:noFill/>
          </a:ln>
        </p:spPr>
      </p:sp>
      <p:grpSp>
        <p:nvGrpSpPr>
          <p:cNvPr id="10" name="Group 10"/>
          <p:cNvGrpSpPr/>
          <p:nvPr/>
        </p:nvGrpSpPr>
        <p:grpSpPr>
          <a:xfrm>
            <a:off x="518160" y="476250"/>
            <a:ext cx="2202180" cy="371475"/>
            <a:chOff x="518160" y="476250"/>
            <a:chExt cx="2202180" cy="371475"/>
          </a:xfrm>
        </p:grpSpPr>
        <p:sp>
          <p:nvSpPr>
            <p:cNvPr id="6" name="Rectangle 6"/>
            <p:cNvSpPr/>
            <p:nvPr/>
          </p:nvSpPr>
          <p:spPr>
            <a:xfrm>
              <a:off x="571500" y="476250"/>
              <a:ext cx="2095500" cy="342900"/>
            </a:xfrm>
            <a:prstGeom prst="rect">
              <a:avLst/>
            </a:prstGeom>
            <a:solidFill>
              <a:schemeClr val="accent1"/>
            </a:solidFill>
            <a:ln>
              <a:noFill/>
            </a:ln>
          </p:spPr>
        </p:sp>
        <p:sp>
          <p:nvSpPr>
            <p:cNvPr id="7" name="Rectangle 7"/>
            <p:cNvSpPr/>
            <p:nvPr/>
          </p:nvSpPr>
          <p:spPr>
            <a:xfrm>
              <a:off x="600075" y="504825"/>
              <a:ext cx="2095500" cy="342900"/>
            </a:xfrm>
            <a:prstGeom prst="rect">
              <a:avLst/>
            </a:prstGeom>
            <a:solidFill>
              <a:schemeClr val="accent2">
                <a:alpha val="85000"/>
              </a:schemeClr>
            </a:solidFill>
            <a:ln>
              <a:noFill/>
            </a:ln>
          </p:spPr>
        </p:sp>
        <p:sp>
          <p:nvSpPr>
            <p:cNvPr id="8" name="Rectangle 8"/>
            <p:cNvSpPr/>
            <p:nvPr/>
          </p:nvSpPr>
          <p:spPr>
            <a:xfrm>
              <a:off x="571500" y="476250"/>
              <a:ext cx="2095500" cy="342900"/>
            </a:xfrm>
            <a:prstGeom prst="rect">
              <a:avLst/>
            </a:prstGeom>
            <a:solidFill>
              <a:schemeClr val="accent1"/>
            </a:solidFill>
            <a:ln>
              <a:noFill/>
            </a:ln>
          </p:spPr>
        </p:sp>
        <p:sp>
          <p:nvSpPr>
            <p:cNvPr id="9" name="TextBox 9"/>
            <p:cNvSpPr txBox="1"/>
            <p:nvPr/>
          </p:nvSpPr>
          <p:spPr>
            <a:xfrm>
              <a:off x="518160" y="552450"/>
              <a:ext cx="2202180" cy="293370"/>
            </a:xfrm>
            <a:prstGeom prst="rect">
              <a:avLst/>
            </a:prstGeom>
            <a:noFill/>
            <a:ln>
              <a:noFill/>
            </a:ln>
          </p:spPr>
          <p:txBody>
            <a:bodyPr wrap="none" lIns="0" tIns="0" rIns="0" bIns="0" anchor="t" anchorCtr="0">
              <a:spAutoFit/>
            </a:bodyPr>
            <a:lstStyle/>
            <a:p>
              <a:pPr algn="ctr"/>
              <a:r>
                <a:rPr lang="zh-CN" sz="1500" spc="225" dirty="0">
                  <a:solidFill>
                    <a:srgbClr val="F5EFE0"/>
                  </a:solidFill>
                  <a:latin typeface="+mj-lt"/>
                  <a:ea typeface="+mj-ea"/>
                  <a:cs typeface="+mj-cs"/>
                </a:rPr>
                <a:t>END OF ISSUE №01</a:t>
              </a:r>
            </a:p>
          </p:txBody>
        </p:sp>
      </p:grpSp>
      <p:grpSp>
        <p:nvGrpSpPr>
          <p:cNvPr id="17" name="Group 17"/>
          <p:cNvGrpSpPr/>
          <p:nvPr/>
        </p:nvGrpSpPr>
        <p:grpSpPr>
          <a:xfrm>
            <a:off x="533400" y="1933575"/>
            <a:ext cx="4035171" cy="3562350"/>
            <a:chOff x="533400" y="1933575"/>
            <a:chExt cx="4035171" cy="3562350"/>
          </a:xfrm>
        </p:grpSpPr>
        <p:sp>
          <p:nvSpPr>
            <p:cNvPr id="11" name="TextBox 11"/>
            <p:cNvSpPr txBox="1"/>
            <p:nvPr/>
          </p:nvSpPr>
          <p:spPr>
            <a:xfrm>
              <a:off x="552450" y="1952625"/>
              <a:ext cx="4016121" cy="1447800"/>
            </a:xfrm>
            <a:prstGeom prst="rect">
              <a:avLst/>
            </a:prstGeom>
            <a:noFill/>
            <a:ln>
              <a:noFill/>
            </a:ln>
          </p:spPr>
          <p:txBody>
            <a:bodyPr wrap="none" lIns="0" tIns="0" rIns="0" bIns="0" anchor="t" anchorCtr="0">
              <a:spAutoFit/>
            </a:bodyPr>
            <a:lstStyle/>
            <a:p>
              <a:pPr algn="l"/>
              <a:r>
                <a:rPr lang="zh-CN" sz="7500" spc="-150" dirty="0">
                  <a:solidFill>
                    <a:schemeClr val="accent2"/>
                  </a:solidFill>
                  <a:latin typeface="+mj-lt"/>
                  <a:ea typeface="+mj-ea"/>
                  <a:cs typeface="+mj-cs"/>
                </a:rPr>
                <a:t>印一份。</a:t>
              </a:r>
            </a:p>
          </p:txBody>
        </p:sp>
        <p:sp>
          <p:nvSpPr>
            <p:cNvPr id="12" name="TextBox 12"/>
            <p:cNvSpPr txBox="1"/>
            <p:nvPr/>
          </p:nvSpPr>
          <p:spPr>
            <a:xfrm>
              <a:off x="533400" y="1933575"/>
              <a:ext cx="4016121" cy="1447800"/>
            </a:xfrm>
            <a:prstGeom prst="rect">
              <a:avLst/>
            </a:prstGeom>
            <a:noFill/>
            <a:ln>
              <a:noFill/>
            </a:ln>
          </p:spPr>
          <p:txBody>
            <a:bodyPr wrap="none" lIns="0" tIns="0" rIns="0" bIns="0" anchor="t" anchorCtr="0">
              <a:spAutoFit/>
            </a:bodyPr>
            <a:lstStyle/>
            <a:p>
              <a:pPr algn="l"/>
              <a:r>
                <a:rPr lang="zh-CN" sz="7500" spc="-150" dirty="0">
                  <a:solidFill>
                    <a:schemeClr val="dk1"/>
                  </a:solidFill>
                  <a:latin typeface="+mj-lt"/>
                  <a:ea typeface="+mj-ea"/>
                  <a:cs typeface="+mj-cs"/>
                </a:rPr>
                <a:t>印一份。</a:t>
              </a:r>
            </a:p>
          </p:txBody>
        </p:sp>
        <p:sp>
          <p:nvSpPr>
            <p:cNvPr id="13" name="TextBox 13"/>
            <p:cNvSpPr txBox="1"/>
            <p:nvPr/>
          </p:nvSpPr>
          <p:spPr>
            <a:xfrm>
              <a:off x="552450" y="3000375"/>
              <a:ext cx="4016121" cy="1447800"/>
            </a:xfrm>
            <a:prstGeom prst="rect">
              <a:avLst/>
            </a:prstGeom>
            <a:noFill/>
            <a:ln>
              <a:noFill/>
            </a:ln>
          </p:spPr>
          <p:txBody>
            <a:bodyPr wrap="none" lIns="0" tIns="0" rIns="0" bIns="0" anchor="t" anchorCtr="0">
              <a:spAutoFit/>
            </a:bodyPr>
            <a:lstStyle/>
            <a:p>
              <a:pPr algn="l"/>
              <a:r>
                <a:rPr lang="zh-CN" sz="7500" spc="-150" dirty="0">
                  <a:solidFill>
                    <a:schemeClr val="accent2"/>
                  </a:solidFill>
                  <a:latin typeface="+mj-lt"/>
                  <a:ea typeface="+mj-ea"/>
                  <a:cs typeface="+mj-cs"/>
                </a:rPr>
                <a:t>送一份。</a:t>
              </a:r>
            </a:p>
          </p:txBody>
        </p:sp>
        <p:sp>
          <p:nvSpPr>
            <p:cNvPr id="14" name="TextBox 14"/>
            <p:cNvSpPr txBox="1"/>
            <p:nvPr/>
          </p:nvSpPr>
          <p:spPr>
            <a:xfrm>
              <a:off x="533400" y="2981325"/>
              <a:ext cx="4016121" cy="1447800"/>
            </a:xfrm>
            <a:prstGeom prst="rect">
              <a:avLst/>
            </a:prstGeom>
            <a:noFill/>
            <a:ln>
              <a:noFill/>
            </a:ln>
          </p:spPr>
          <p:txBody>
            <a:bodyPr wrap="none" lIns="0" tIns="0" rIns="0" bIns="0" anchor="t" anchorCtr="0">
              <a:spAutoFit/>
            </a:bodyPr>
            <a:lstStyle/>
            <a:p>
              <a:pPr algn="l"/>
              <a:r>
                <a:rPr lang="zh-CN" sz="7500" spc="-150" dirty="0">
                  <a:solidFill>
                    <a:schemeClr val="accent1"/>
                  </a:solidFill>
                  <a:latin typeface="+mj-lt"/>
                  <a:ea typeface="+mj-ea"/>
                  <a:cs typeface="+mj-cs"/>
                </a:rPr>
                <a:t>送一份。</a:t>
              </a:r>
            </a:p>
          </p:txBody>
        </p:sp>
        <p:sp>
          <p:nvSpPr>
            <p:cNvPr id="15" name="TextBox 15"/>
            <p:cNvSpPr txBox="1"/>
            <p:nvPr/>
          </p:nvSpPr>
          <p:spPr>
            <a:xfrm>
              <a:off x="552450" y="4048125"/>
              <a:ext cx="4016121" cy="1447800"/>
            </a:xfrm>
            <a:prstGeom prst="rect">
              <a:avLst/>
            </a:prstGeom>
            <a:noFill/>
            <a:ln>
              <a:noFill/>
            </a:ln>
          </p:spPr>
          <p:txBody>
            <a:bodyPr wrap="none" lIns="0" tIns="0" rIns="0" bIns="0" anchor="t" anchorCtr="0">
              <a:spAutoFit/>
            </a:bodyPr>
            <a:lstStyle/>
            <a:p>
              <a:pPr algn="l"/>
              <a:r>
                <a:rPr lang="zh-CN" sz="7500" spc="-150" dirty="0">
                  <a:solidFill>
                    <a:schemeClr val="accent1"/>
                  </a:solidFill>
                  <a:latin typeface="+mj-lt"/>
                  <a:ea typeface="+mj-ea"/>
                  <a:cs typeface="+mj-cs"/>
                </a:rPr>
                <a:t>换一份。</a:t>
              </a:r>
            </a:p>
          </p:txBody>
        </p:sp>
        <p:sp>
          <p:nvSpPr>
            <p:cNvPr id="16" name="TextBox 16"/>
            <p:cNvSpPr txBox="1"/>
            <p:nvPr/>
          </p:nvSpPr>
          <p:spPr>
            <a:xfrm>
              <a:off x="533400" y="4029075"/>
              <a:ext cx="4016121" cy="1447800"/>
            </a:xfrm>
            <a:prstGeom prst="rect">
              <a:avLst/>
            </a:prstGeom>
            <a:noFill/>
            <a:ln>
              <a:noFill/>
            </a:ln>
          </p:spPr>
          <p:txBody>
            <a:bodyPr wrap="none" lIns="0" tIns="0" rIns="0" bIns="0" anchor="t" anchorCtr="0">
              <a:spAutoFit/>
            </a:bodyPr>
            <a:lstStyle/>
            <a:p>
              <a:pPr algn="l"/>
              <a:r>
                <a:rPr lang="zh-CN" sz="7500" spc="-150" dirty="0">
                  <a:solidFill>
                    <a:schemeClr val="dk1"/>
                  </a:solidFill>
                  <a:latin typeface="+mj-lt"/>
                  <a:ea typeface="+mj-ea"/>
                  <a:cs typeface="+mj-cs"/>
                </a:rPr>
                <a:t>换一份。</a:t>
              </a:r>
            </a:p>
          </p:txBody>
        </p:sp>
      </p:grpSp>
      <p:grpSp>
        <p:nvGrpSpPr>
          <p:cNvPr id="24" name="Group 24"/>
          <p:cNvGrpSpPr/>
          <p:nvPr/>
        </p:nvGrpSpPr>
        <p:grpSpPr>
          <a:xfrm>
            <a:off x="571500" y="5314950"/>
            <a:ext cx="6315075" cy="828675"/>
            <a:chOff x="571500" y="5314950"/>
            <a:chExt cx="6315075" cy="828675"/>
          </a:xfrm>
        </p:grpSpPr>
        <p:sp>
          <p:nvSpPr>
            <p:cNvPr id="18" name="Rectangle 18"/>
            <p:cNvSpPr/>
            <p:nvPr/>
          </p:nvSpPr>
          <p:spPr>
            <a:xfrm>
              <a:off x="571500" y="5314950"/>
              <a:ext cx="6286500" cy="800100"/>
            </a:xfrm>
            <a:prstGeom prst="rect">
              <a:avLst/>
            </a:prstGeom>
            <a:solidFill>
              <a:schemeClr val="dk1"/>
            </a:solidFill>
            <a:ln>
              <a:noFill/>
            </a:ln>
          </p:spPr>
        </p:sp>
        <p:sp>
          <p:nvSpPr>
            <p:cNvPr id="19" name="Rectangle 19"/>
            <p:cNvSpPr/>
            <p:nvPr/>
          </p:nvSpPr>
          <p:spPr>
            <a:xfrm>
              <a:off x="600075" y="5343525"/>
              <a:ext cx="6286500" cy="800100"/>
            </a:xfrm>
            <a:prstGeom prst="rect">
              <a:avLst/>
            </a:prstGeom>
            <a:solidFill>
              <a:schemeClr val="accent2">
                <a:alpha val="55000"/>
              </a:schemeClr>
            </a:solidFill>
            <a:ln>
              <a:noFill/>
            </a:ln>
          </p:spPr>
        </p:sp>
        <p:sp>
          <p:nvSpPr>
            <p:cNvPr id="20" name="Rectangle 20"/>
            <p:cNvSpPr/>
            <p:nvPr/>
          </p:nvSpPr>
          <p:spPr>
            <a:xfrm>
              <a:off x="571500" y="5314950"/>
              <a:ext cx="6286500" cy="800100"/>
            </a:xfrm>
            <a:prstGeom prst="rect">
              <a:avLst/>
            </a:prstGeom>
            <a:solidFill>
              <a:schemeClr val="dk1"/>
            </a:solidFill>
            <a:ln>
              <a:noFill/>
            </a:ln>
          </p:spPr>
        </p:sp>
        <p:sp>
          <p:nvSpPr>
            <p:cNvPr id="21" name="TextBox 21"/>
            <p:cNvSpPr txBox="1"/>
            <p:nvPr/>
          </p:nvSpPr>
          <p:spPr>
            <a:xfrm>
              <a:off x="751332" y="5412105"/>
              <a:ext cx="3034690" cy="410718"/>
            </a:xfrm>
            <a:prstGeom prst="rect">
              <a:avLst/>
            </a:prstGeom>
            <a:noFill/>
            <a:ln>
              <a:noFill/>
            </a:ln>
          </p:spPr>
          <p:txBody>
            <a:bodyPr wrap="none" lIns="0" tIns="0" rIns="0" bIns="0" anchor="t" anchorCtr="0">
              <a:spAutoFit/>
            </a:bodyPr>
            <a:lstStyle/>
            <a:p>
              <a:pPr algn="l"/>
              <a:r>
                <a:rPr lang="zh-CN" sz="2100" spc="-38" dirty="0">
                  <a:solidFill>
                    <a:schemeClr val="accent2"/>
                  </a:solidFill>
                  <a:latin typeface="+mj-lt"/>
                  <a:ea typeface="+mj-ea"/>
                  <a:cs typeface="+mj-cs"/>
                </a:rPr>
                <a:t>A ZINE IS THE WORLD'S</a:t>
              </a:r>
            </a:p>
          </p:txBody>
        </p:sp>
        <p:sp>
          <p:nvSpPr>
            <p:cNvPr id="22" name="TextBox 22"/>
            <p:cNvSpPr txBox="1"/>
            <p:nvPr/>
          </p:nvSpPr>
          <p:spPr>
            <a:xfrm>
              <a:off x="751332" y="5716905"/>
              <a:ext cx="3978453" cy="410718"/>
            </a:xfrm>
            <a:prstGeom prst="rect">
              <a:avLst/>
            </a:prstGeom>
            <a:noFill/>
            <a:ln>
              <a:noFill/>
            </a:ln>
          </p:spPr>
          <p:txBody>
            <a:bodyPr wrap="none" lIns="0" tIns="0" rIns="0" bIns="0" anchor="t" anchorCtr="0">
              <a:spAutoFit/>
            </a:bodyPr>
            <a:lstStyle/>
            <a:p>
              <a:pPr algn="l"/>
              <a:r>
                <a:rPr lang="zh-CN" sz="2100" spc="-38" dirty="0">
                  <a:solidFill>
                    <a:srgbClr val="F5EFE0"/>
                  </a:solidFill>
                  <a:latin typeface="+mj-lt"/>
                  <a:ea typeface="+mj-ea"/>
                  <a:cs typeface="+mj-cs"/>
                </a:rPr>
                <a:t>SMALLEST PUBLISHING HOUSE.</a:t>
              </a:r>
            </a:p>
          </p:txBody>
        </p:sp>
        <p:sp>
          <p:nvSpPr>
            <p:cNvPr id="23" name="Rectangle 23"/>
            <p:cNvSpPr/>
            <p:nvPr/>
          </p:nvSpPr>
          <p:spPr>
            <a:xfrm>
              <a:off x="571500" y="5314950"/>
              <a:ext cx="57150" cy="800100"/>
            </a:xfrm>
            <a:prstGeom prst="rect">
              <a:avLst/>
            </a:prstGeom>
            <a:solidFill>
              <a:schemeClr val="accent2"/>
            </a:solidFill>
            <a:ln>
              <a:noFill/>
            </a:ln>
          </p:spPr>
        </p:sp>
      </p:grpSp>
      <p:grpSp>
        <p:nvGrpSpPr>
          <p:cNvPr id="27" name="Group 27"/>
          <p:cNvGrpSpPr/>
          <p:nvPr/>
        </p:nvGrpSpPr>
        <p:grpSpPr>
          <a:xfrm>
            <a:off x="571500" y="6286500"/>
            <a:ext cx="6286500" cy="311087"/>
            <a:chOff x="571500" y="6286500"/>
            <a:chExt cx="6286500" cy="311087"/>
          </a:xfrm>
        </p:grpSpPr>
        <p:sp>
          <p:nvSpPr>
            <p:cNvPr id="25" name="Rectangle 25"/>
            <p:cNvSpPr/>
            <p:nvPr/>
          </p:nvSpPr>
          <p:spPr>
            <a:xfrm>
              <a:off x="571500" y="6286500"/>
              <a:ext cx="6286500" cy="304800"/>
            </a:xfrm>
            <a:prstGeom prst="rect">
              <a:avLst/>
            </a:prstGeom>
            <a:solidFill>
              <a:schemeClr val="accent2"/>
            </a:solidFill>
            <a:ln>
              <a:noFill/>
            </a:ln>
          </p:spPr>
        </p:sp>
        <p:sp>
          <p:nvSpPr>
            <p:cNvPr id="26" name="TextBox 26"/>
            <p:cNvSpPr txBox="1"/>
            <p:nvPr/>
          </p:nvSpPr>
          <p:spPr>
            <a:xfrm>
              <a:off x="756666" y="6392228"/>
              <a:ext cx="2248814" cy="205359"/>
            </a:xfrm>
            <a:prstGeom prst="rect">
              <a:avLst/>
            </a:prstGeom>
            <a:noFill/>
            <a:ln>
              <a:noFill/>
            </a:ln>
          </p:spPr>
          <p:txBody>
            <a:bodyPr wrap="none" lIns="0" tIns="0" rIns="0" bIns="0" anchor="t" anchorCtr="0">
              <a:spAutoFit/>
            </a:bodyPr>
            <a:lstStyle/>
            <a:p>
              <a:pPr algn="l"/>
              <a:r>
                <a:rPr lang="zh-CN" sz="1050" spc="225" dirty="0">
                  <a:solidFill>
                    <a:schemeClr val="dk1"/>
                  </a:solidFill>
                  <a:latin typeface="Consolas"/>
                  <a:ea typeface="Consolas"/>
                  <a:cs typeface="Consolas"/>
                </a:rPr>
                <a:t>IT CAN ALSO BE YOURS.</a:t>
              </a:r>
            </a:p>
          </p:txBody>
        </p:sp>
      </p:grpSp>
      <p:grpSp>
        <p:nvGrpSpPr>
          <p:cNvPr id="35" name="Group 35"/>
          <p:cNvGrpSpPr/>
          <p:nvPr/>
        </p:nvGrpSpPr>
        <p:grpSpPr>
          <a:xfrm>
            <a:off x="9334500" y="5715000"/>
            <a:ext cx="2314575" cy="904876"/>
            <a:chOff x="9334500" y="5715000"/>
            <a:chExt cx="2314575" cy="904876"/>
          </a:xfrm>
        </p:grpSpPr>
        <p:sp>
          <p:nvSpPr>
            <p:cNvPr id="28" name="Rectangle 28"/>
            <p:cNvSpPr/>
            <p:nvPr/>
          </p:nvSpPr>
          <p:spPr>
            <a:xfrm>
              <a:off x="9334500" y="5715000"/>
              <a:ext cx="2286000" cy="876300"/>
            </a:xfrm>
            <a:prstGeom prst="rect">
              <a:avLst/>
            </a:prstGeom>
            <a:solidFill>
              <a:schemeClr val="dk1"/>
            </a:solidFill>
            <a:ln>
              <a:noFill/>
            </a:ln>
          </p:spPr>
        </p:sp>
        <p:sp>
          <p:nvSpPr>
            <p:cNvPr id="29" name="Rectangle 29"/>
            <p:cNvSpPr/>
            <p:nvPr/>
          </p:nvSpPr>
          <p:spPr>
            <a:xfrm>
              <a:off x="9363075" y="5743575"/>
              <a:ext cx="2286000" cy="876300"/>
            </a:xfrm>
            <a:prstGeom prst="rect">
              <a:avLst/>
            </a:prstGeom>
            <a:solidFill>
              <a:schemeClr val="accent1">
                <a:alpha val="55000"/>
              </a:schemeClr>
            </a:solidFill>
            <a:ln>
              <a:noFill/>
            </a:ln>
          </p:spPr>
        </p:sp>
        <p:sp>
          <p:nvSpPr>
            <p:cNvPr id="30" name="Rectangle 30"/>
            <p:cNvSpPr/>
            <p:nvPr/>
          </p:nvSpPr>
          <p:spPr>
            <a:xfrm>
              <a:off x="9334500" y="5715000"/>
              <a:ext cx="2286000" cy="876300"/>
            </a:xfrm>
            <a:prstGeom prst="rect">
              <a:avLst/>
            </a:prstGeom>
            <a:solidFill>
              <a:schemeClr val="dk1"/>
            </a:solidFill>
            <a:ln>
              <a:noFill/>
            </a:ln>
          </p:spPr>
        </p:sp>
        <p:sp>
          <p:nvSpPr>
            <p:cNvPr id="31" name="TextBox 31"/>
            <p:cNvSpPr txBox="1"/>
            <p:nvPr/>
          </p:nvSpPr>
          <p:spPr>
            <a:xfrm>
              <a:off x="10106470" y="5892641"/>
              <a:ext cx="742061" cy="161925"/>
            </a:xfrm>
            <a:prstGeom prst="rect">
              <a:avLst/>
            </a:prstGeom>
            <a:noFill/>
            <a:ln>
              <a:noFill/>
            </a:ln>
          </p:spPr>
          <p:txBody>
            <a:bodyPr wrap="none" lIns="0" tIns="0" rIns="0" bIns="0" anchor="t" anchorCtr="0">
              <a:spAutoFit/>
            </a:bodyPr>
            <a:lstStyle/>
            <a:p>
              <a:pPr algn="ctr"/>
              <a:r>
                <a:rPr lang="zh-CN" sz="820" spc="150" dirty="0">
                  <a:solidFill>
                    <a:schemeClr val="accent2"/>
                  </a:solidFill>
                  <a:latin typeface="Consolas"/>
                  <a:ea typeface="Consolas"/>
                  <a:cs typeface="Consolas"/>
                </a:rPr>
                <a:t>COLOPHON</a:t>
              </a:r>
            </a:p>
          </p:txBody>
        </p:sp>
        <p:sp>
          <p:nvSpPr>
            <p:cNvPr id="32" name="TextBox 32"/>
            <p:cNvSpPr txBox="1"/>
            <p:nvPr/>
          </p:nvSpPr>
          <p:spPr>
            <a:xfrm>
              <a:off x="9733425" y="6105049"/>
              <a:ext cx="1488151" cy="190690"/>
            </a:xfrm>
            <a:prstGeom prst="rect">
              <a:avLst/>
            </a:prstGeom>
            <a:noFill/>
            <a:ln>
              <a:noFill/>
            </a:ln>
          </p:spPr>
          <p:txBody>
            <a:bodyPr wrap="none" lIns="0" tIns="0" rIns="0" bIns="0" anchor="t" anchorCtr="0">
              <a:spAutoFit/>
            </a:bodyPr>
            <a:lstStyle/>
            <a:p>
              <a:pPr algn="ctr"/>
              <a:r>
                <a:rPr lang="zh-CN" sz="980" b="1" dirty="0">
                  <a:solidFill>
                    <a:srgbClr val="F5EFE0"/>
                  </a:solidFill>
                  <a:latin typeface="+mn-lt"/>
                  <a:ea typeface="+mn-ea"/>
                  <a:cs typeface="+mn-cs"/>
                </a:rPr>
                <a:t>PPT Master · 风格演示</a:t>
              </a:r>
            </a:p>
          </p:txBody>
        </p:sp>
        <p:sp>
          <p:nvSpPr>
            <p:cNvPr id="33" name="TextBox 33"/>
            <p:cNvSpPr txBox="1"/>
            <p:nvPr/>
          </p:nvSpPr>
          <p:spPr>
            <a:xfrm>
              <a:off x="9732521" y="6311741"/>
              <a:ext cx="1489959" cy="161925"/>
            </a:xfrm>
            <a:prstGeom prst="rect">
              <a:avLst/>
            </a:prstGeom>
            <a:noFill/>
            <a:ln>
              <a:noFill/>
            </a:ln>
          </p:spPr>
          <p:txBody>
            <a:bodyPr wrap="none" lIns="0" tIns="0" rIns="0" bIns="0" anchor="t" anchorCtr="0">
              <a:spAutoFit/>
            </a:bodyPr>
            <a:lstStyle/>
            <a:p>
              <a:pPr algn="ctr"/>
              <a:r>
                <a:rPr lang="zh-CN" sz="820" spc="150" dirty="0">
                  <a:solidFill>
                    <a:srgbClr val="F5EFE0"/>
                  </a:solidFill>
                  <a:latin typeface="Consolas"/>
                  <a:ea typeface="Consolas"/>
                  <a:cs typeface="Consolas"/>
                </a:rPr>
                <a:t>RISO ZINE · 2026-05</a:t>
              </a:r>
            </a:p>
          </p:txBody>
        </p:sp>
        <p:sp>
          <p:nvSpPr>
            <p:cNvPr id="34" name="TextBox 34"/>
            <p:cNvSpPr txBox="1"/>
            <p:nvPr/>
          </p:nvSpPr>
          <p:spPr>
            <a:xfrm>
              <a:off x="9621964" y="6472238"/>
              <a:ext cx="1711071" cy="147638"/>
            </a:xfrm>
            <a:prstGeom prst="rect">
              <a:avLst/>
            </a:prstGeom>
            <a:noFill/>
            <a:ln>
              <a:noFill/>
            </a:ln>
          </p:spPr>
          <p:txBody>
            <a:bodyPr wrap="none" lIns="0" tIns="0" rIns="0" bIns="0" anchor="t" anchorCtr="0">
              <a:spAutoFit/>
            </a:bodyPr>
            <a:lstStyle/>
            <a:p>
              <a:pPr algn="ctr"/>
              <a:r>
                <a:rPr lang="zh-CN" sz="750" spc="150" dirty="0">
                  <a:solidFill>
                    <a:schemeClr val="accent2"/>
                  </a:solidFill>
                  <a:latin typeface="Consolas"/>
                  <a:ea typeface="Consolas"/>
                  <a:cs typeface="Consolas"/>
                </a:rPr>
                <a:t>SCREEN-PRINT × DUOTONE</a:t>
              </a:r>
            </a:p>
          </p:txBody>
        </p:sp>
      </p:grpSp>
    </p:spTree>
  </p:cSld>
  <p:clrMapOvr>
    <a:masterClrMapping/>
  </p:clrMapOvr>
  <p:transition xmlns:p14="http://schemas.microsoft.com/office/powerpoint/2010/main" p14:dur="550">
    <p:push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50"/>
                                        <p:tgtEl>
                                          <p:spTgt spid="3"/>
                                        </p:tgtEl>
                                      </p:cBhvr>
                                    </p:animEffect>
                                  </p:childTnLst>
                                </p:cTn>
                              </p:par>
                            </p:childTnLst>
                          </p:cTn>
                        </p:par>
                        <p:par>
                          <p:cTn id="8" fill="hold">
                            <p:stCondLst>
                              <p:cond delay="550"/>
                            </p:stCondLst>
                            <p:childTnLst>
                              <p:par>
                                <p:cTn xmlns:p="http://schemas.openxmlformats.org/presentationml/2006/main" id="9" presetID="1" presetClass="entr" presetSubtype="0" fill="hold" grpId="0" nodeType="afterEffect">
                                  <p:stCondLst>
                                    <p:cond delay="100"/>
                                  </p:stCondLst>
                                  <p:childTnLst>
                                    <p:set>
                                      <p:cBhvr>
                                        <p:cTn id="10" dur="1" fill="hold">
                                          <p:stCondLst>
                                            <p:cond delay="0"/>
                                          </p:stCondLst>
                                        </p:cTn>
                                        <p:tgtEl>
                                          <p:spTgt spid="10"/>
                                        </p:tgtEl>
                                        <p:attrNameLst>
                                          <p:attrName>style.visibility</p:attrName>
                                        </p:attrNameLst>
                                      </p:cBhvr>
                                      <p:to>
                                        <p:strVal val="visible"/>
                                      </p:to>
                                    </p:set>
                                  </p:childTnLst>
                                </p:cTn>
                              </p:par>
                            </p:childTnLst>
                          </p:cTn>
                        </p:par>
                        <p:par>
                          <p:cTn id="11" fill="hold">
                            <p:stCondLst>
                              <p:cond delay="1050"/>
                            </p:stCondLst>
                            <p:childTnLst>
                              <p:par>
                                <p:cTn xmlns:p="http://schemas.openxmlformats.org/presentationml/2006/main" id="12" presetID="1" presetClass="entr" presetSubtype="0" fill="hold" grpId="0" nodeType="afterEffect">
                                  <p:stCondLst>
                                    <p:cond delay="200"/>
                                  </p:stCondLst>
                                  <p:childTnLst>
                                    <p:set>
                                      <p:cBhvr>
                                        <p:cTn id="13" dur="1" fill="hold">
                                          <p:stCondLst>
                                            <p:cond delay="0"/>
                                          </p:stCondLst>
                                        </p:cTn>
                                        <p:tgtEl>
                                          <p:spTgt spid="17"/>
                                        </p:tgtEl>
                                        <p:attrNameLst>
                                          <p:attrName>style.visibility</p:attrName>
                                        </p:attrNameLst>
                                      </p:cBhvr>
                                      <p:to>
                                        <p:strVal val="visible"/>
                                      </p:to>
                                    </p:set>
                                  </p:childTnLst>
                                </p:cTn>
                              </p:par>
                            </p:childTnLst>
                          </p:cTn>
                        </p:par>
                        <p:par>
                          <p:cTn id="14" fill="hold">
                            <p:stCondLst>
                              <p:cond delay="1650"/>
                            </p:stCondLst>
                            <p:childTnLst>
                              <p:par>
                                <p:cTn xmlns:p="http://schemas.openxmlformats.org/presentationml/2006/main" id="15" presetID="22" presetClass="entr" presetSubtype="4" fill="hold" grpId="0" nodeType="afterEffect">
                                  <p:stCondLst>
                                    <p:cond delay="350"/>
                                  </p:stCondLst>
                                  <p:childTnLst>
                                    <p:set>
                                      <p:cBhvr>
                                        <p:cTn id="16" dur="1" fill="hold">
                                          <p:stCondLst>
                                            <p:cond delay="0"/>
                                          </p:stCondLst>
                                        </p:cTn>
                                        <p:tgtEl>
                                          <p:spTgt spid="24"/>
                                        </p:tgtEl>
                                        <p:attrNameLst>
                                          <p:attrName>style.visibility</p:attrName>
                                        </p:attrNameLst>
                                      </p:cBhvr>
                                      <p:to>
                                        <p:strVal val="visible"/>
                                      </p:to>
                                    </p:set>
                                    <p:animEffect transition="in" filter="wipe(down)">
                                      <p:cBhvr>
                                        <p:cTn id="17" dur="550"/>
                                        <p:tgtEl>
                                          <p:spTgt spid="24"/>
                                        </p:tgtEl>
                                      </p:cBhvr>
                                    </p:animEffect>
                                  </p:childTnLst>
                                </p:cTn>
                              </p:par>
                            </p:childTnLst>
                          </p:cTn>
                        </p:par>
                        <p:par>
                          <p:cTn id="18" fill="hold">
                            <p:stCondLst>
                              <p:cond delay="2550"/>
                            </p:stCondLst>
                            <p:childTnLst>
                              <p:par>
                                <p:cTn xmlns:p="http://schemas.openxmlformats.org/presentationml/2006/main" id="19" presetID="1" presetClass="entr" presetSubtype="0" fill="hold" grpId="0" nodeType="afterEffect">
                                  <p:stCondLst>
                                    <p:cond delay="200"/>
                                  </p:stCondLst>
                                  <p:childTnLst>
                                    <p:set>
                                      <p:cBhvr>
                                        <p:cTn id="20" dur="1" fill="hold">
                                          <p:stCondLst>
                                            <p:cond delay="0"/>
                                          </p:stCondLst>
                                        </p:cTn>
                                        <p:tgtEl>
                                          <p:spTgt spid="27"/>
                                        </p:tgtEl>
                                        <p:attrNameLst>
                                          <p:attrName>style.visibility</p:attrName>
                                        </p:attrNameLst>
                                      </p:cBhvr>
                                      <p:to>
                                        <p:strVal val="visible"/>
                                      </p:to>
                                    </p:set>
                                  </p:childTnLst>
                                </p:cTn>
                              </p:par>
                            </p:childTnLst>
                          </p:cTn>
                        </p:par>
                        <p:par>
                          <p:cTn id="21" fill="hold">
                            <p:stCondLst>
                              <p:cond delay="3150"/>
                            </p:stCondLst>
                            <p:childTnLst>
                              <p:par>
                                <p:cTn xmlns:p="http://schemas.openxmlformats.org/presentationml/2006/main" id="22" presetID="4" presetClass="entr" presetSubtype="16" fill="hold" grpId="0" nodeType="afterEffect">
                                  <p:stCondLst>
                                    <p:cond delay="150"/>
                                  </p:stCondLst>
                                  <p:childTnLst>
                                    <p:set>
                                      <p:cBhvr>
                                        <p:cTn id="23" dur="1" fill="hold">
                                          <p:stCondLst>
                                            <p:cond delay="0"/>
                                          </p:stCondLst>
                                        </p:cTn>
                                        <p:tgtEl>
                                          <p:spTgt spid="35"/>
                                        </p:tgtEl>
                                        <p:attrNameLst>
                                          <p:attrName>style.visibility</p:attrName>
                                        </p:attrNameLst>
                                      </p:cBhvr>
                                      <p:to>
                                        <p:strVal val="visible"/>
                                      </p:to>
                                    </p:set>
                                    <p:animEffect transition="in" filter="box(in)">
                                      <p:cBhvr>
                                        <p:cTn id="2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pt169_indie_bookstore_zine_guide">
  <a:themeElements>
    <a:clrScheme name="ppt169_indie_bookstore_zine_guide">
      <a:dk1>
        <a:srgbClr val="1A1A1A"/>
      </a:dk1>
      <a:lt1>
        <a:srgbClr val="F5EFE0"/>
      </a:lt1>
      <a:dk2>
        <a:srgbClr val="5A5A5A"/>
      </a:dk2>
      <a:lt2>
        <a:srgbClr val="EAE2CC"/>
      </a:lt2>
      <a:accent1>
        <a:srgbClr val="1E4DBC"/>
      </a:accent1>
      <a:accent2>
        <a:srgbClr val="FF5C8A"/>
      </a:accent2>
      <a:accent3>
        <a:srgbClr val="E8A02E"/>
      </a:accent3>
      <a:accent4>
        <a:srgbClr val="1A1A1A"/>
      </a:accent4>
      <a:accent5>
        <a:srgbClr val="8C8275"/>
      </a:accent5>
      <a:accent6>
        <a:srgbClr val="F79646"/>
      </a:accent6>
      <a:hlink>
        <a:srgbClr val="FF5C8A"/>
      </a:hlink>
      <a:folHlink>
        <a:srgbClr val="E8A02E"/>
      </a:folHlink>
    </a:clrScheme>
    <a:fontScheme name="ppt169_indie_bookstore_zine_guide">
      <a:majorFont>
        <a:latin typeface="Impact"/>
        <a:ea typeface="Microsoft YaHei"/>
        <a:cs typeface="Impact"/>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169_indie_bookstore_zine_guid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ppt169_indie_bookstore_zine_guide">
  <a:themeElements>
    <a:clrScheme name="ppt169_indie_bookstore_zine_guide">
      <a:dk1>
        <a:srgbClr val="1A1A1A"/>
      </a:dk1>
      <a:lt1>
        <a:srgbClr val="F5EFE0"/>
      </a:lt1>
      <a:dk2>
        <a:srgbClr val="5A5A5A"/>
      </a:dk2>
      <a:lt2>
        <a:srgbClr val="EAE2CC"/>
      </a:lt2>
      <a:accent1>
        <a:srgbClr val="1E4DBC"/>
      </a:accent1>
      <a:accent2>
        <a:srgbClr val="FF5C8A"/>
      </a:accent2>
      <a:accent3>
        <a:srgbClr val="E8A02E"/>
      </a:accent3>
      <a:accent4>
        <a:srgbClr val="1A1A1A"/>
      </a:accent4>
      <a:accent5>
        <a:srgbClr val="8C8275"/>
      </a:accent5>
      <a:accent6>
        <a:srgbClr val="F79646"/>
      </a:accent6>
      <a:hlink>
        <a:srgbClr val="FF5C8A"/>
      </a:hlink>
      <a:folHlink>
        <a:srgbClr val="E8A02E"/>
      </a:folHlink>
    </a:clrScheme>
    <a:fontScheme name="ppt169_indie_bookstore_zine_guide">
      <a:majorFont>
        <a:latin typeface="Impact"/>
        <a:ea typeface="Microsoft YaHei"/>
        <a:cs typeface="Impact"/>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169_indie_bookstore_zine_guid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18</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zh-CN</dc:language>
  <cp:lastModifiedBy/>
  <cp:revision>1</cp:revision>
  <dcterms:created xsi:type="dcterms:W3CDTF">2026-09-04T13:43:49Z</dcterms:created>
  <dcterms:modified xsi:type="dcterms:W3CDTF">2026-09-04T13:43:49Z</dcterms:modified>
  <cp:category/>
  <cp:contentStatus/>
</cp:coreProperties>
</file>